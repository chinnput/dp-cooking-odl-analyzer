
<file path=[Content_Types].xml><?xml version="1.0" encoding="utf-8"?>
<Types xmlns="http://schemas.openxmlformats.org/package/2006/content-types">
  <Default Extension="png" ContentType="image/png"/>
  <Default Extension="bin" ContentType="image/unknown"/>
  <Default Extension="emf" ContentType="image/x-emf"/>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ppt/embeddings/oleObject1.bin" ContentType="application/vnd.openxmlformats-officedocument.oleObject"/>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tags/tag1.xml" ContentType="application/vnd.openxmlformats-officedocument.presentationml.tags+xml"/>
  <Override PartName="/ppt/notesSlides/notesSlide50.xml" ContentType="application/vnd.openxmlformats-officedocument.presentationml.notesSlide+xml"/>
  <Override PartName="/ppt/tags/tag2.xml" ContentType="application/vnd.openxmlformats-officedocument.presentationml.tags+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embeddings/oleObject2.bin" ContentType="application/vnd.openxmlformats-officedocument.oleObject"/>
  <Override PartName="/ppt/embeddings/oleObject3.bin" ContentType="application/vnd.openxmlformats-officedocument.oleObject"/>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embeddings/oleObject10.bin" ContentType="application/vnd.openxmlformats-officedocument.oleObject"/>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204"/>
  </p:notesMasterIdLst>
  <p:sldIdLst>
    <p:sldId id="258" r:id="rId3"/>
    <p:sldId id="259" r:id="rId4"/>
    <p:sldId id="354" r:id="rId5"/>
    <p:sldId id="391" r:id="rId6"/>
    <p:sldId id="260" r:id="rId7"/>
    <p:sldId id="283" r:id="rId8"/>
    <p:sldId id="404" r:id="rId9"/>
    <p:sldId id="284" r:id="rId10"/>
    <p:sldId id="405" r:id="rId11"/>
    <p:sldId id="392" r:id="rId12"/>
    <p:sldId id="285" r:id="rId13"/>
    <p:sldId id="270" r:id="rId14"/>
    <p:sldId id="287" r:id="rId15"/>
    <p:sldId id="353" r:id="rId16"/>
    <p:sldId id="393" r:id="rId17"/>
    <p:sldId id="261" r:id="rId18"/>
    <p:sldId id="394" r:id="rId19"/>
    <p:sldId id="269" r:id="rId20"/>
    <p:sldId id="311" r:id="rId21"/>
    <p:sldId id="312" r:id="rId22"/>
    <p:sldId id="314" r:id="rId23"/>
    <p:sldId id="352" r:id="rId24"/>
    <p:sldId id="333" r:id="rId25"/>
    <p:sldId id="318" r:id="rId26"/>
    <p:sldId id="789" r:id="rId27"/>
    <p:sldId id="790" r:id="rId28"/>
    <p:sldId id="791" r:id="rId29"/>
    <p:sldId id="792" r:id="rId30"/>
    <p:sldId id="793" r:id="rId31"/>
    <p:sldId id="794" r:id="rId32"/>
    <p:sldId id="795" r:id="rId33"/>
    <p:sldId id="796" r:id="rId34"/>
    <p:sldId id="797" r:id="rId35"/>
    <p:sldId id="798" r:id="rId36"/>
    <p:sldId id="799" r:id="rId37"/>
    <p:sldId id="800" r:id="rId38"/>
    <p:sldId id="801" r:id="rId39"/>
    <p:sldId id="802" r:id="rId40"/>
    <p:sldId id="803" r:id="rId41"/>
    <p:sldId id="804" r:id="rId42"/>
    <p:sldId id="805" r:id="rId43"/>
    <p:sldId id="806" r:id="rId44"/>
    <p:sldId id="807" r:id="rId45"/>
    <p:sldId id="808" r:id="rId46"/>
    <p:sldId id="809" r:id="rId47"/>
    <p:sldId id="810" r:id="rId48"/>
    <p:sldId id="811" r:id="rId49"/>
    <p:sldId id="812" r:id="rId50"/>
    <p:sldId id="813" r:id="rId51"/>
    <p:sldId id="814" r:id="rId52"/>
    <p:sldId id="815" r:id="rId53"/>
    <p:sldId id="816" r:id="rId54"/>
    <p:sldId id="817" r:id="rId55"/>
    <p:sldId id="818" r:id="rId56"/>
    <p:sldId id="819" r:id="rId57"/>
    <p:sldId id="820" r:id="rId58"/>
    <p:sldId id="821" r:id="rId59"/>
    <p:sldId id="822" r:id="rId60"/>
    <p:sldId id="823" r:id="rId61"/>
    <p:sldId id="824" r:id="rId62"/>
    <p:sldId id="825" r:id="rId63"/>
    <p:sldId id="826" r:id="rId64"/>
    <p:sldId id="827" r:id="rId65"/>
    <p:sldId id="828" r:id="rId66"/>
    <p:sldId id="829" r:id="rId67"/>
    <p:sldId id="830" r:id="rId68"/>
    <p:sldId id="831" r:id="rId69"/>
    <p:sldId id="351" r:id="rId70"/>
    <p:sldId id="396" r:id="rId71"/>
    <p:sldId id="263" r:id="rId72"/>
    <p:sldId id="324" r:id="rId73"/>
    <p:sldId id="395" r:id="rId74"/>
    <p:sldId id="271" r:id="rId75"/>
    <p:sldId id="290" r:id="rId76"/>
    <p:sldId id="291" r:id="rId77"/>
    <p:sldId id="397" r:id="rId78"/>
    <p:sldId id="272" r:id="rId79"/>
    <p:sldId id="293" r:id="rId80"/>
    <p:sldId id="294" r:id="rId81"/>
    <p:sldId id="439" r:id="rId82"/>
    <p:sldId id="412" r:id="rId83"/>
    <p:sldId id="413" r:id="rId84"/>
    <p:sldId id="414" r:id="rId85"/>
    <p:sldId id="415" r:id="rId86"/>
    <p:sldId id="416" r:id="rId87"/>
    <p:sldId id="417" r:id="rId88"/>
    <p:sldId id="418" r:id="rId89"/>
    <p:sldId id="419" r:id="rId90"/>
    <p:sldId id="420" r:id="rId91"/>
    <p:sldId id="421" r:id="rId92"/>
    <p:sldId id="422" r:id="rId93"/>
    <p:sldId id="423" r:id="rId94"/>
    <p:sldId id="424" r:id="rId95"/>
    <p:sldId id="438" r:id="rId96"/>
    <p:sldId id="426" r:id="rId97"/>
    <p:sldId id="427" r:id="rId98"/>
    <p:sldId id="428" r:id="rId99"/>
    <p:sldId id="429" r:id="rId100"/>
    <p:sldId id="430" r:id="rId101"/>
    <p:sldId id="431" r:id="rId102"/>
    <p:sldId id="432" r:id="rId103"/>
    <p:sldId id="433" r:id="rId104"/>
    <p:sldId id="434" r:id="rId105"/>
    <p:sldId id="435" r:id="rId106"/>
    <p:sldId id="436" r:id="rId107"/>
    <p:sldId id="437" r:id="rId108"/>
    <p:sldId id="398" r:id="rId109"/>
    <p:sldId id="273" r:id="rId110"/>
    <p:sldId id="325" r:id="rId111"/>
    <p:sldId id="297" r:id="rId112"/>
    <p:sldId id="399" r:id="rId113"/>
    <p:sldId id="274" r:id="rId114"/>
    <p:sldId id="298" r:id="rId115"/>
    <p:sldId id="299" r:id="rId116"/>
    <p:sldId id="400" r:id="rId117"/>
    <p:sldId id="275" r:id="rId118"/>
    <p:sldId id="300" r:id="rId119"/>
    <p:sldId id="401" r:id="rId120"/>
    <p:sldId id="276" r:id="rId121"/>
    <p:sldId id="301" r:id="rId122"/>
    <p:sldId id="402" r:id="rId123"/>
    <p:sldId id="277" r:id="rId124"/>
    <p:sldId id="303" r:id="rId125"/>
    <p:sldId id="440" r:id="rId126"/>
    <p:sldId id="296" r:id="rId127"/>
    <p:sldId id="326" r:id="rId128"/>
    <p:sldId id="482" r:id="rId129"/>
    <p:sldId id="483" r:id="rId130"/>
    <p:sldId id="484" r:id="rId131"/>
    <p:sldId id="485" r:id="rId132"/>
    <p:sldId id="486" r:id="rId133"/>
    <p:sldId id="487" r:id="rId134"/>
    <p:sldId id="488" r:id="rId135"/>
    <p:sldId id="489" r:id="rId136"/>
    <p:sldId id="490" r:id="rId137"/>
    <p:sldId id="491" r:id="rId138"/>
    <p:sldId id="492" r:id="rId139"/>
    <p:sldId id="493" r:id="rId140"/>
    <p:sldId id="494" r:id="rId141"/>
    <p:sldId id="495" r:id="rId142"/>
    <p:sldId id="496" r:id="rId143"/>
    <p:sldId id="497" r:id="rId144"/>
    <p:sldId id="498" r:id="rId145"/>
    <p:sldId id="499" r:id="rId146"/>
    <p:sldId id="500" r:id="rId147"/>
    <p:sldId id="501" r:id="rId148"/>
    <p:sldId id="502" r:id="rId149"/>
    <p:sldId id="503" r:id="rId150"/>
    <p:sldId id="504" r:id="rId151"/>
    <p:sldId id="505" r:id="rId152"/>
    <p:sldId id="506" r:id="rId153"/>
    <p:sldId id="507" r:id="rId154"/>
    <p:sldId id="508" r:id="rId155"/>
    <p:sldId id="509" r:id="rId156"/>
    <p:sldId id="510" r:id="rId157"/>
    <p:sldId id="511" r:id="rId158"/>
    <p:sldId id="512" r:id="rId159"/>
    <p:sldId id="513" r:id="rId160"/>
    <p:sldId id="514" r:id="rId161"/>
    <p:sldId id="515" r:id="rId162"/>
    <p:sldId id="516" r:id="rId163"/>
    <p:sldId id="517" r:id="rId164"/>
    <p:sldId id="518" r:id="rId165"/>
    <p:sldId id="519" r:id="rId166"/>
    <p:sldId id="520" r:id="rId167"/>
    <p:sldId id="521" r:id="rId168"/>
    <p:sldId id="522" r:id="rId169"/>
    <p:sldId id="523" r:id="rId170"/>
    <p:sldId id="524" r:id="rId171"/>
    <p:sldId id="525" r:id="rId172"/>
    <p:sldId id="526" r:id="rId173"/>
    <p:sldId id="528" r:id="rId174"/>
    <p:sldId id="527" r:id="rId175"/>
    <p:sldId id="529" r:id="rId176"/>
    <p:sldId id="530" r:id="rId177"/>
    <p:sldId id="531" r:id="rId178"/>
    <p:sldId id="532" r:id="rId179"/>
    <p:sldId id="533" r:id="rId180"/>
    <p:sldId id="534" r:id="rId181"/>
    <p:sldId id="535" r:id="rId182"/>
    <p:sldId id="604" r:id="rId183"/>
    <p:sldId id="605" r:id="rId184"/>
    <p:sldId id="606" r:id="rId185"/>
    <p:sldId id="607" r:id="rId186"/>
    <p:sldId id="608" r:id="rId187"/>
    <p:sldId id="609" r:id="rId188"/>
    <p:sldId id="610" r:id="rId189"/>
    <p:sldId id="611" r:id="rId190"/>
    <p:sldId id="612" r:id="rId191"/>
    <p:sldId id="613" r:id="rId192"/>
    <p:sldId id="614" r:id="rId193"/>
    <p:sldId id="615" r:id="rId194"/>
    <p:sldId id="616" r:id="rId195"/>
    <p:sldId id="568" r:id="rId196"/>
    <p:sldId id="569" r:id="rId197"/>
    <p:sldId id="571" r:id="rId198"/>
    <p:sldId id="572" r:id="rId199"/>
    <p:sldId id="573" r:id="rId200"/>
    <p:sldId id="574" r:id="rId201"/>
    <p:sldId id="575" r:id="rId202"/>
    <p:sldId id="576" r:id="rId203"/>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00B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7253" autoAdjust="0"/>
  </p:normalViewPr>
  <p:slideViewPr>
    <p:cSldViewPr snapToGrid="0">
      <p:cViewPr varScale="1">
        <p:scale>
          <a:sx n="65" d="100"/>
          <a:sy n="65" d="100"/>
        </p:scale>
        <p:origin x="-1536" y="-10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59" Type="http://schemas.openxmlformats.org/officeDocument/2006/relationships/slide" Target="slides/slide157.xml"/><Relationship Id="rId170" Type="http://schemas.openxmlformats.org/officeDocument/2006/relationships/slide" Target="slides/slide168.xml"/><Relationship Id="rId191" Type="http://schemas.openxmlformats.org/officeDocument/2006/relationships/slide" Target="slides/slide189.xml"/><Relationship Id="rId205" Type="http://schemas.openxmlformats.org/officeDocument/2006/relationships/presProps" Target="presProps.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28" Type="http://schemas.openxmlformats.org/officeDocument/2006/relationships/slide" Target="slides/slide126.xml"/><Relationship Id="rId144" Type="http://schemas.openxmlformats.org/officeDocument/2006/relationships/slide" Target="slides/slide142.xml"/><Relationship Id="rId149" Type="http://schemas.openxmlformats.org/officeDocument/2006/relationships/slide" Target="slides/slide147.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160" Type="http://schemas.openxmlformats.org/officeDocument/2006/relationships/slide" Target="slides/slide158.xml"/><Relationship Id="rId165" Type="http://schemas.openxmlformats.org/officeDocument/2006/relationships/slide" Target="slides/slide163.xml"/><Relationship Id="rId181" Type="http://schemas.openxmlformats.org/officeDocument/2006/relationships/slide" Target="slides/slide179.xml"/><Relationship Id="rId186" Type="http://schemas.openxmlformats.org/officeDocument/2006/relationships/slide" Target="slides/slide184.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slide" Target="slides/slide132.xml"/><Relationship Id="rId139" Type="http://schemas.openxmlformats.org/officeDocument/2006/relationships/slide" Target="slides/slide137.xml"/><Relationship Id="rId80" Type="http://schemas.openxmlformats.org/officeDocument/2006/relationships/slide" Target="slides/slide78.xml"/><Relationship Id="rId85" Type="http://schemas.openxmlformats.org/officeDocument/2006/relationships/slide" Target="slides/slide83.xml"/><Relationship Id="rId150" Type="http://schemas.openxmlformats.org/officeDocument/2006/relationships/slide" Target="slides/slide148.xml"/><Relationship Id="rId155" Type="http://schemas.openxmlformats.org/officeDocument/2006/relationships/slide" Target="slides/slide153.xml"/><Relationship Id="rId171" Type="http://schemas.openxmlformats.org/officeDocument/2006/relationships/slide" Target="slides/slide169.xml"/><Relationship Id="rId176" Type="http://schemas.openxmlformats.org/officeDocument/2006/relationships/slide" Target="slides/slide174.xml"/><Relationship Id="rId192" Type="http://schemas.openxmlformats.org/officeDocument/2006/relationships/slide" Target="slides/slide190.xml"/><Relationship Id="rId197" Type="http://schemas.openxmlformats.org/officeDocument/2006/relationships/slide" Target="slides/slide195.xml"/><Relationship Id="rId206" Type="http://schemas.openxmlformats.org/officeDocument/2006/relationships/viewProps" Target="viewProps.xml"/><Relationship Id="rId201" Type="http://schemas.openxmlformats.org/officeDocument/2006/relationships/slide" Target="slides/slide199.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slide" Target="slides/slide138.xml"/><Relationship Id="rId145" Type="http://schemas.openxmlformats.org/officeDocument/2006/relationships/slide" Target="slides/slide143.xml"/><Relationship Id="rId161" Type="http://schemas.openxmlformats.org/officeDocument/2006/relationships/slide" Target="slides/slide159.xml"/><Relationship Id="rId166" Type="http://schemas.openxmlformats.org/officeDocument/2006/relationships/slide" Target="slides/slide164.xml"/><Relationship Id="rId182" Type="http://schemas.openxmlformats.org/officeDocument/2006/relationships/slide" Target="slides/slide180.xml"/><Relationship Id="rId187" Type="http://schemas.openxmlformats.org/officeDocument/2006/relationships/slide" Target="slides/slide185.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51" Type="http://schemas.openxmlformats.org/officeDocument/2006/relationships/slide" Target="slides/slide149.xml"/><Relationship Id="rId156" Type="http://schemas.openxmlformats.org/officeDocument/2006/relationships/slide" Target="slides/slide154.xml"/><Relationship Id="rId177" Type="http://schemas.openxmlformats.org/officeDocument/2006/relationships/slide" Target="slides/slide175.xml"/><Relationship Id="rId198" Type="http://schemas.openxmlformats.org/officeDocument/2006/relationships/slide" Target="slides/slide196.xml"/><Relationship Id="rId172" Type="http://schemas.openxmlformats.org/officeDocument/2006/relationships/slide" Target="slides/slide170.xml"/><Relationship Id="rId193" Type="http://schemas.openxmlformats.org/officeDocument/2006/relationships/slide" Target="slides/slide191.xml"/><Relationship Id="rId202" Type="http://schemas.openxmlformats.org/officeDocument/2006/relationships/slide" Target="slides/slide200.xml"/><Relationship Id="rId207" Type="http://schemas.openxmlformats.org/officeDocument/2006/relationships/theme" Target="theme/theme1.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167" Type="http://schemas.openxmlformats.org/officeDocument/2006/relationships/slide" Target="slides/slide165.xml"/><Relationship Id="rId188" Type="http://schemas.openxmlformats.org/officeDocument/2006/relationships/slide" Target="slides/slide186.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162" Type="http://schemas.openxmlformats.org/officeDocument/2006/relationships/slide" Target="slides/slide160.xml"/><Relationship Id="rId183" Type="http://schemas.openxmlformats.org/officeDocument/2006/relationships/slide" Target="slides/slide181.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157" Type="http://schemas.openxmlformats.org/officeDocument/2006/relationships/slide" Target="slides/slide155.xml"/><Relationship Id="rId178" Type="http://schemas.openxmlformats.org/officeDocument/2006/relationships/slide" Target="slides/slide176.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slide" Target="slides/slide150.xml"/><Relationship Id="rId173" Type="http://schemas.openxmlformats.org/officeDocument/2006/relationships/slide" Target="slides/slide171.xml"/><Relationship Id="rId194" Type="http://schemas.openxmlformats.org/officeDocument/2006/relationships/slide" Target="slides/slide192.xml"/><Relationship Id="rId199" Type="http://schemas.openxmlformats.org/officeDocument/2006/relationships/slide" Target="slides/slide197.xml"/><Relationship Id="rId203" Type="http://schemas.openxmlformats.org/officeDocument/2006/relationships/slide" Target="slides/slide201.xml"/><Relationship Id="rId208" Type="http://schemas.openxmlformats.org/officeDocument/2006/relationships/tableStyles" Target="tableStyles.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168" Type="http://schemas.openxmlformats.org/officeDocument/2006/relationships/slide" Target="slides/slide166.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slide" Target="slides/slide161.xml"/><Relationship Id="rId184" Type="http://schemas.openxmlformats.org/officeDocument/2006/relationships/slide" Target="slides/slide182.xml"/><Relationship Id="rId189" Type="http://schemas.openxmlformats.org/officeDocument/2006/relationships/slide" Target="slides/slide187.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74" Type="http://schemas.openxmlformats.org/officeDocument/2006/relationships/slide" Target="slides/slide172.xml"/><Relationship Id="rId179" Type="http://schemas.openxmlformats.org/officeDocument/2006/relationships/slide" Target="slides/slide177.xml"/><Relationship Id="rId195" Type="http://schemas.openxmlformats.org/officeDocument/2006/relationships/slide" Target="slides/slide193.xml"/><Relationship Id="rId190" Type="http://schemas.openxmlformats.org/officeDocument/2006/relationships/slide" Target="slides/slide188.xml"/><Relationship Id="rId204" Type="http://schemas.openxmlformats.org/officeDocument/2006/relationships/notesMaster" Target="notesMasters/notesMaster1.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164" Type="http://schemas.openxmlformats.org/officeDocument/2006/relationships/slide" Target="slides/slide162.xml"/><Relationship Id="rId169" Type="http://schemas.openxmlformats.org/officeDocument/2006/relationships/slide" Target="slides/slide167.xml"/><Relationship Id="rId185" Type="http://schemas.openxmlformats.org/officeDocument/2006/relationships/slide" Target="slides/slide183.xml"/><Relationship Id="rId4" Type="http://schemas.openxmlformats.org/officeDocument/2006/relationships/slide" Target="slides/slide2.xml"/><Relationship Id="rId9" Type="http://schemas.openxmlformats.org/officeDocument/2006/relationships/slide" Target="slides/slide7.xml"/><Relationship Id="rId180" Type="http://schemas.openxmlformats.org/officeDocument/2006/relationships/slide" Target="slides/slide178.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slide" Target="slides/slide152.xml"/><Relationship Id="rId175" Type="http://schemas.openxmlformats.org/officeDocument/2006/relationships/slide" Target="slides/slide173.xml"/><Relationship Id="rId196" Type="http://schemas.openxmlformats.org/officeDocument/2006/relationships/slide" Target="slides/slide194.xml"/><Relationship Id="rId200" Type="http://schemas.openxmlformats.org/officeDocument/2006/relationships/slide" Target="slides/slide198.xml"/></Relationships>
</file>

<file path=ppt/charts/_rels/chart1.xml.rels><?xml version="1.0" encoding="UTF-8" standalone="yes"?>
<Relationships xmlns="http://schemas.openxmlformats.org/package/2006/relationships"><Relationship Id="rId2" Type="http://schemas.openxmlformats.org/officeDocument/2006/relationships/oleObject" Target="../embeddings/oleObject1.bin"/><Relationship Id="rId1" Type="http://schemas.openxmlformats.org/officeDocument/2006/relationships/themeOverride" Target="../theme/themeOverride1.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th-TH"/>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manualLayout>
          <c:layoutTarget val="inner"/>
          <c:xMode val="edge"/>
          <c:yMode val="edge"/>
          <c:x val="0.14538847764904084"/>
          <c:y val="0.12872990259694436"/>
          <c:w val="0.85092266495672531"/>
          <c:h val="0.76557974426775821"/>
        </c:manualLayout>
      </c:layout>
      <c:barChart>
        <c:barDir val="col"/>
        <c:grouping val="clustered"/>
        <c:varyColors val="0"/>
        <c:ser>
          <c:idx val="1"/>
          <c:order val="0"/>
          <c:tx>
            <c:strRef>
              <c:f>'[Chip Classification ส่ง SCG วันที่ 12 ก(1).พ.56.xls]12 ก.พ.56   '!$C$10</c:f>
              <c:strCache>
                <c:ptCount val="1"/>
              </c:strCache>
            </c:strRef>
          </c:tx>
          <c:spPr>
            <a:solidFill>
              <a:srgbClr val="802060"/>
            </a:solidFill>
            <a:ln w="12700">
              <a:solidFill>
                <a:srgbClr val="000000"/>
              </a:solidFill>
              <a:prstDash val="solid"/>
            </a:ln>
          </c:spPr>
          <c:invertIfNegative val="0"/>
          <c:cat>
            <c:strRef>
              <c:f>'[Chip Classification ส่ง SCG วันที่ 12 ก(1).พ.56.xls]12 ก.พ.56   '!$B$11:$B$18</c:f>
              <c:strCache>
                <c:ptCount val="8"/>
                <c:pt idx="0">
                  <c:v>HOLE 45 mm.</c:v>
                </c:pt>
                <c:pt idx="1">
                  <c:v>SLOT 8 mm.</c:v>
                </c:pt>
                <c:pt idx="2">
                  <c:v>SLOT 6 mm.</c:v>
                </c:pt>
                <c:pt idx="3">
                  <c:v>SLOT 4 mm.</c:v>
                </c:pt>
                <c:pt idx="4">
                  <c:v>HOLE 7 mm.</c:v>
                </c:pt>
                <c:pt idx="5">
                  <c:v>HOLE 3 mm.</c:v>
                </c:pt>
                <c:pt idx="6">
                  <c:v>DUST</c:v>
                </c:pt>
                <c:pt idx="7">
                  <c:v>BARK</c:v>
                </c:pt>
              </c:strCache>
            </c:strRef>
          </c:cat>
          <c:val>
            <c:numRef>
              <c:f>'[Chip Classification ส่ง SCG วันที่ 12 ก(1).พ.56.xls]12 ก.พ.56   '!$C$11:$C$18</c:f>
              <c:numCache>
                <c:formatCode>General</c:formatCode>
                <c:ptCount val="8"/>
              </c:numCache>
            </c:numRef>
          </c:val>
        </c:ser>
        <c:dLbls>
          <c:showLegendKey val="0"/>
          <c:showVal val="0"/>
          <c:showCatName val="0"/>
          <c:showSerName val="0"/>
          <c:showPercent val="0"/>
          <c:showBubbleSize val="0"/>
        </c:dLbls>
        <c:gapWidth val="150"/>
        <c:axId val="149709952"/>
        <c:axId val="149711488"/>
      </c:barChart>
      <c:lineChart>
        <c:grouping val="standard"/>
        <c:varyColors val="0"/>
        <c:ser>
          <c:idx val="0"/>
          <c:order val="1"/>
          <c:tx>
            <c:strRef>
              <c:f>'[Chip Classification ส่ง SCG วันที่ 12 ก(1).พ.56.xls]12 ก.พ.56   '!$G$10</c:f>
              <c:strCache>
                <c:ptCount val="1"/>
              </c:strCache>
            </c:strRef>
          </c:tx>
          <c:spPr>
            <a:ln w="12700">
              <a:solidFill>
                <a:srgbClr val="000080"/>
              </a:solidFill>
              <a:prstDash val="solid"/>
            </a:ln>
          </c:spPr>
          <c:marker>
            <c:symbol val="circle"/>
            <c:size val="5"/>
            <c:spPr>
              <a:solidFill>
                <a:srgbClr val="FF0000"/>
              </a:solidFill>
              <a:ln>
                <a:solidFill>
                  <a:srgbClr val="FF0000"/>
                </a:solidFill>
                <a:prstDash val="solid"/>
              </a:ln>
            </c:spPr>
          </c:marker>
          <c:dLbls>
            <c:dLbl>
              <c:idx val="0"/>
              <c:layout>
                <c:manualLayout>
                  <c:x val="-3.4426230619150337E-2"/>
                  <c:y val="-6.4014634988887403E-2"/>
                </c:manualLayout>
              </c:layout>
              <c:showLegendKey val="0"/>
              <c:showVal val="1"/>
              <c:showCatName val="0"/>
              <c:showSerName val="0"/>
              <c:showPercent val="0"/>
              <c:showBubbleSize val="0"/>
              <c:extLst>
                <c:ext xmlns:c15="http://schemas.microsoft.com/office/drawing/2012/chart" uri="{CE6537A1-D6FC-4f65-9D91-7224C49458BB}">
                  <c15:layout/>
                </c:ext>
              </c:extLst>
            </c:dLbl>
            <c:dLbl>
              <c:idx val="1"/>
              <c:layout>
                <c:manualLayout>
                  <c:x val="-6.8852461238300702E-2"/>
                  <c:y val="-6.8282277321479901E-2"/>
                </c:manualLayout>
              </c:layout>
              <c:showLegendKey val="0"/>
              <c:showVal val="1"/>
              <c:showCatName val="0"/>
              <c:showSerName val="0"/>
              <c:showPercent val="0"/>
              <c:showBubbleSize val="0"/>
              <c:extLst>
                <c:ext xmlns:c15="http://schemas.microsoft.com/office/drawing/2012/chart" uri="{CE6537A1-D6FC-4f65-9D91-7224C49458BB}">
                  <c15:layout/>
                </c:ext>
              </c:extLst>
            </c:dLbl>
            <c:dLbl>
              <c:idx val="2"/>
              <c:layout>
                <c:manualLayout>
                  <c:x val="-7.7459018893088261E-2"/>
                  <c:y val="-6.8282277321479817E-2"/>
                </c:manualLayout>
              </c:layout>
              <c:showLegendKey val="0"/>
              <c:showVal val="1"/>
              <c:showCatName val="0"/>
              <c:showSerName val="0"/>
              <c:showPercent val="0"/>
              <c:showBubbleSize val="0"/>
              <c:extLst>
                <c:ext xmlns:c15="http://schemas.microsoft.com/office/drawing/2012/chart" uri="{CE6537A1-D6FC-4f65-9D91-7224C49458BB}">
                  <c15:layout/>
                </c:ext>
              </c:extLst>
            </c:dLbl>
            <c:dLbl>
              <c:idx val="3"/>
              <c:layout>
                <c:manualLayout>
                  <c:x val="-7.1721313789896532E-2"/>
                  <c:y val="-5.1211707991109939E-2"/>
                </c:manualLayout>
              </c:layout>
              <c:showLegendKey val="0"/>
              <c:showVal val="1"/>
              <c:showCatName val="0"/>
              <c:showSerName val="0"/>
              <c:showPercent val="0"/>
              <c:showBubbleSize val="0"/>
              <c:extLst>
                <c:ext xmlns:c15="http://schemas.microsoft.com/office/drawing/2012/chart" uri="{CE6537A1-D6FC-4f65-9D91-7224C49458BB}">
                  <c15:layout/>
                </c:ext>
              </c:extLst>
            </c:dLbl>
            <c:dLbl>
              <c:idx val="4"/>
              <c:layout>
                <c:manualLayout>
                  <c:x val="-5.1639345928725607E-2"/>
                  <c:y val="-5.1211707991109863E-2"/>
                </c:manualLayout>
              </c:layout>
              <c:showLegendKey val="0"/>
              <c:showVal val="1"/>
              <c:showCatName val="0"/>
              <c:showSerName val="0"/>
              <c:showPercent val="0"/>
              <c:showBubbleSize val="0"/>
              <c:extLst>
                <c:ext xmlns:c15="http://schemas.microsoft.com/office/drawing/2012/chart" uri="{CE6537A1-D6FC-4f65-9D91-7224C49458BB}">
                  <c15:layout/>
                </c:ext>
              </c:extLst>
            </c:dLbl>
            <c:dLbl>
              <c:idx val="5"/>
              <c:layout>
                <c:manualLayout>
                  <c:x val="-4.8770493377129645E-2"/>
                  <c:y val="-5.5479350323702353E-2"/>
                </c:manualLayout>
              </c:layout>
              <c:showLegendKey val="0"/>
              <c:showVal val="1"/>
              <c:showCatName val="0"/>
              <c:showSerName val="0"/>
              <c:showPercent val="0"/>
              <c:showBubbleSize val="0"/>
              <c:extLst>
                <c:ext xmlns:c15="http://schemas.microsoft.com/office/drawing/2012/chart" uri="{CE6537A1-D6FC-4f65-9D91-7224C49458BB}">
                  <c15:layout/>
                </c:ext>
              </c:extLst>
            </c:dLbl>
            <c:dLbl>
              <c:idx val="6"/>
              <c:layout>
                <c:manualLayout>
                  <c:x val="-4.5901640825533885E-2"/>
                  <c:y val="-7.2549919654072301E-2"/>
                </c:manualLayout>
              </c:layout>
              <c:showLegendKey val="0"/>
              <c:showVal val="1"/>
              <c:showCatName val="0"/>
              <c:showSerName val="0"/>
              <c:showPercent val="0"/>
              <c:showBubbleSize val="0"/>
              <c:extLst>
                <c:ext xmlns:c15="http://schemas.microsoft.com/office/drawing/2012/chart" uri="{CE6537A1-D6FC-4f65-9D91-7224C49458BB}">
                  <c15:layout/>
                </c:ext>
              </c:extLst>
            </c:dLbl>
            <c:dLbl>
              <c:idx val="7"/>
              <c:layout>
                <c:manualLayout>
                  <c:x val="-4.8770493377129749E-2"/>
                  <c:y val="-5.1211707991109939E-2"/>
                </c:manualLayout>
              </c:layout>
              <c:showLegendKey val="0"/>
              <c:showVal val="1"/>
              <c:showCatName val="0"/>
              <c:showSerName val="0"/>
              <c:showPercent val="0"/>
              <c:showBubbleSize val="0"/>
              <c:extLst>
                <c:ext xmlns:c15="http://schemas.microsoft.com/office/drawing/2012/chart" uri="{CE6537A1-D6FC-4f65-9D91-7224C49458BB}">
                  <c15:layout/>
                </c:ext>
              </c:extLst>
            </c:dLbl>
            <c:spPr>
              <a:noFill/>
              <a:ln w="25400">
                <a:noFill/>
              </a:ln>
            </c:spPr>
            <c:txPr>
              <a:bodyPr/>
              <a:lstStyle/>
              <a:p>
                <a:pPr>
                  <a:defRPr sz="1400" b="0" i="0" u="none" strike="noStrike" baseline="0">
                    <a:solidFill>
                      <a:srgbClr val="000000"/>
                    </a:solidFill>
                    <a:latin typeface="+mj-lt"/>
                    <a:ea typeface="AngsanaUPC"/>
                    <a:cs typeface="AngsanaUPC"/>
                  </a:defRPr>
                </a:pPr>
                <a:endParaRPr lang="th-TH"/>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'[Chip Classification ส่ง SCG วันที่ 12 ก(1).พ.56.xls]12 ก.พ.56   '!$B$11:$B$18</c:f>
              <c:strCache>
                <c:ptCount val="8"/>
                <c:pt idx="0">
                  <c:v>HOLE 45 mm.</c:v>
                </c:pt>
                <c:pt idx="1">
                  <c:v>SLOT 8 mm.</c:v>
                </c:pt>
                <c:pt idx="2">
                  <c:v>SLOT 6 mm.</c:v>
                </c:pt>
                <c:pt idx="3">
                  <c:v>SLOT 4 mm.</c:v>
                </c:pt>
                <c:pt idx="4">
                  <c:v>HOLE 7 mm.</c:v>
                </c:pt>
                <c:pt idx="5">
                  <c:v>HOLE 3 mm.</c:v>
                </c:pt>
                <c:pt idx="6">
                  <c:v>DUST</c:v>
                </c:pt>
                <c:pt idx="7">
                  <c:v>BARK</c:v>
                </c:pt>
              </c:strCache>
            </c:strRef>
          </c:cat>
          <c:val>
            <c:numRef>
              <c:f>'[Chip Classification ส่ง SCG วันที่ 12 ก(1).พ.56.xls]12 ก.พ.56   '!$G$11:$G$18</c:f>
              <c:numCache>
                <c:formatCode>0.00</c:formatCode>
                <c:ptCount val="8"/>
                <c:pt idx="0">
                  <c:v>1.5068435023267435</c:v>
                </c:pt>
                <c:pt idx="1">
                  <c:v>10.10094342736175</c:v>
                </c:pt>
                <c:pt idx="2">
                  <c:v>16.371600054691438</c:v>
                </c:pt>
                <c:pt idx="3">
                  <c:v>31.25050094531327</c:v>
                </c:pt>
                <c:pt idx="4">
                  <c:v>37.701262146450475</c:v>
                </c:pt>
                <c:pt idx="5">
                  <c:v>2.4861031876623652</c:v>
                </c:pt>
                <c:pt idx="6">
                  <c:v>0.27487164013031645</c:v>
                </c:pt>
                <c:pt idx="7">
                  <c:v>0.30787509606363062</c:v>
                </c:pt>
              </c:numCache>
            </c:numRef>
          </c:val>
          <c:smooth val="0"/>
        </c:ser>
        <c:dLbls>
          <c:showLegendKey val="0"/>
          <c:showVal val="0"/>
          <c:showCatName val="0"/>
          <c:showSerName val="0"/>
          <c:showPercent val="0"/>
          <c:showBubbleSize val="0"/>
        </c:dLbls>
        <c:marker val="1"/>
        <c:smooth val="0"/>
        <c:axId val="149729664"/>
        <c:axId val="149731200"/>
      </c:lineChart>
      <c:catAx>
        <c:axId val="149709952"/>
        <c:scaling>
          <c:orientation val="minMax"/>
        </c:scaling>
        <c:delete val="0"/>
        <c:axPos val="b"/>
        <c:numFmt formatCode="General" sourceLinked="1"/>
        <c:majorTickMark val="cross"/>
        <c:minorTickMark val="none"/>
        <c:tickLblPos val="nextTo"/>
        <c:spPr>
          <a:ln w="3175">
            <a:solidFill>
              <a:srgbClr val="000000"/>
            </a:solidFill>
            <a:prstDash val="solid"/>
          </a:ln>
        </c:spPr>
        <c:txPr>
          <a:bodyPr rot="0" vert="horz"/>
          <a:lstStyle/>
          <a:p>
            <a:pPr>
              <a:defRPr sz="1200" b="0" i="0" u="none" strike="noStrike" baseline="0">
                <a:solidFill>
                  <a:srgbClr val="000000"/>
                </a:solidFill>
                <a:latin typeface="+mn-lt"/>
                <a:ea typeface="AngsanaUPC"/>
                <a:cs typeface="AngsanaUPC"/>
              </a:defRPr>
            </a:pPr>
            <a:endParaRPr lang="th-TH"/>
          </a:p>
        </c:txPr>
        <c:crossAx val="149711488"/>
        <c:crosses val="autoZero"/>
        <c:auto val="0"/>
        <c:lblAlgn val="ctr"/>
        <c:lblOffset val="100"/>
        <c:tickLblSkip val="1"/>
        <c:tickMarkSkip val="1"/>
        <c:noMultiLvlLbl val="0"/>
      </c:catAx>
      <c:valAx>
        <c:axId val="149711488"/>
        <c:scaling>
          <c:orientation val="minMax"/>
          <c:max val="100"/>
        </c:scaling>
        <c:delete val="0"/>
        <c:axPos val="l"/>
        <c:numFmt formatCode="General" sourceLinked="1"/>
        <c:majorTickMark val="cross"/>
        <c:minorTickMark val="none"/>
        <c:tickLblPos val="nextTo"/>
        <c:spPr>
          <a:ln w="3175">
            <a:solidFill>
              <a:srgbClr val="000000"/>
            </a:solidFill>
            <a:prstDash val="solid"/>
          </a:ln>
        </c:spPr>
        <c:txPr>
          <a:bodyPr rot="0" vert="horz"/>
          <a:lstStyle/>
          <a:p>
            <a:pPr>
              <a:defRPr sz="1400" b="0" i="0" u="none" strike="noStrike" baseline="0">
                <a:solidFill>
                  <a:srgbClr val="000000"/>
                </a:solidFill>
                <a:latin typeface="+mj-lt"/>
                <a:ea typeface="AngsanaUPC"/>
                <a:cs typeface="AngsanaUPC"/>
              </a:defRPr>
            </a:pPr>
            <a:endParaRPr lang="th-TH"/>
          </a:p>
        </c:txPr>
        <c:crossAx val="149709952"/>
        <c:crosses val="autoZero"/>
        <c:crossBetween val="between"/>
        <c:majorUnit val="10"/>
      </c:valAx>
      <c:catAx>
        <c:axId val="149729664"/>
        <c:scaling>
          <c:orientation val="minMax"/>
        </c:scaling>
        <c:delete val="1"/>
        <c:axPos val="b"/>
        <c:numFmt formatCode="General" sourceLinked="1"/>
        <c:majorTickMark val="out"/>
        <c:minorTickMark val="none"/>
        <c:tickLblPos val="nextTo"/>
        <c:crossAx val="149731200"/>
        <c:crosses val="autoZero"/>
        <c:auto val="0"/>
        <c:lblAlgn val="ctr"/>
        <c:lblOffset val="100"/>
        <c:noMultiLvlLbl val="0"/>
      </c:catAx>
      <c:valAx>
        <c:axId val="149731200"/>
        <c:scaling>
          <c:orientation val="minMax"/>
        </c:scaling>
        <c:delete val="1"/>
        <c:axPos val="r"/>
        <c:numFmt formatCode="0.00" sourceLinked="1"/>
        <c:majorTickMark val="out"/>
        <c:minorTickMark val="none"/>
        <c:tickLblPos val="nextTo"/>
        <c:crossAx val="149729664"/>
        <c:crosses val="max"/>
        <c:crossBetween val="between"/>
      </c:valAx>
      <c:spPr>
        <a:solidFill>
          <a:srgbClr val="C0C0C0"/>
        </a:solidFill>
        <a:ln w="12700">
          <a:solidFill>
            <a:srgbClr val="808080"/>
          </a:solidFill>
          <a:prstDash val="solid"/>
        </a:ln>
      </c:spPr>
    </c:plotArea>
    <c:plotVisOnly val="1"/>
    <c:dispBlanksAs val="gap"/>
    <c:showDLblsOverMax val="0"/>
  </c:chart>
  <c:spPr>
    <a:noFill/>
    <a:ln w="9525">
      <a:noFill/>
    </a:ln>
  </c:spPr>
  <c:txPr>
    <a:bodyPr/>
    <a:lstStyle/>
    <a:p>
      <a:pPr>
        <a:defRPr sz="1400" b="0" i="0" u="none" strike="noStrike" baseline="0">
          <a:solidFill>
            <a:srgbClr val="000000"/>
          </a:solidFill>
          <a:latin typeface="AngsanaUPC"/>
          <a:ea typeface="AngsanaUPC"/>
          <a:cs typeface="AngsanaUPC"/>
        </a:defRPr>
      </a:pPr>
      <a:endParaRPr lang="th-TH"/>
    </a:p>
  </c:txPr>
  <c:externalData r:id="rId2">
    <c:autoUpdate val="0"/>
  </c:externalData>
</c:chartSpace>
</file>

<file path=ppt/drawings/_rels/vmlDrawing1.vml.rels><?xml version="1.0" encoding="UTF-8" standalone="yes"?>
<Relationships xmlns="http://schemas.openxmlformats.org/package/2006/relationships"><Relationship Id="rId2" Type="http://schemas.openxmlformats.org/officeDocument/2006/relationships/image" Target="../media/image142.png"/><Relationship Id="rId1" Type="http://schemas.openxmlformats.org/officeDocument/2006/relationships/image" Target="../media/image14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00.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239.emf"/><Relationship Id="rId2" Type="http://schemas.openxmlformats.org/officeDocument/2006/relationships/image" Target="../media/image238.emf"/><Relationship Id="rId1" Type="http://schemas.openxmlformats.org/officeDocument/2006/relationships/image" Target="../media/image237.e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39.emf"/><Relationship Id="rId2" Type="http://schemas.openxmlformats.org/officeDocument/2006/relationships/image" Target="../media/image238.emf"/><Relationship Id="rId1" Type="http://schemas.openxmlformats.org/officeDocument/2006/relationships/image" Target="../media/image237.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CDFEA357-5F7F-478A-80D3-B1F3CA60E833}" type="datetimeFigureOut">
              <a:rPr lang="en-US"/>
              <a:pPr>
                <a:defRPr/>
              </a:pPr>
              <a:t>6/7/2016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88EA5212-6E05-4C4B-8CF3-02102B543BCB}" type="slidenum">
              <a:rPr lang="en-US"/>
              <a:pPr>
                <a:defRPr/>
              </a:pPr>
              <a:t>‹#›</a:t>
            </a:fld>
            <a:endParaRPr lang="en-US"/>
          </a:p>
        </p:txBody>
      </p:sp>
    </p:spTree>
    <p:extLst>
      <p:ext uri="{BB962C8B-B14F-4D97-AF65-F5344CB8AC3E}">
        <p14:creationId xmlns:p14="http://schemas.microsoft.com/office/powerpoint/2010/main" val="200904230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2560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865DE2D9-C758-48B8-A639-FCF6CD11D403}" type="slidenum">
              <a:rPr lang="en-US" altLang="en-US" smtClean="0">
                <a:solidFill>
                  <a:srgbClr val="000000"/>
                </a:solidFill>
              </a:rPr>
              <a:pPr fontAlgn="base">
                <a:spcBef>
                  <a:spcPct val="0"/>
                </a:spcBef>
                <a:spcAft>
                  <a:spcPct val="0"/>
                </a:spcAft>
              </a:pPr>
              <a:t>1</a:t>
            </a:fld>
            <a:endParaRPr lang="en-US" altLang="en-US" smtClean="0">
              <a:solidFill>
                <a:srgbClr val="000000"/>
              </a:solidFill>
            </a:endParaRPr>
          </a:p>
        </p:txBody>
      </p:sp>
    </p:spTree>
    <p:extLst>
      <p:ext uri="{BB962C8B-B14F-4D97-AF65-F5344CB8AC3E}">
        <p14:creationId xmlns:p14="http://schemas.microsoft.com/office/powerpoint/2010/main" val="4342236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Slide Number Placeholder 3"/>
          <p:cNvSpPr>
            <a:spLocks noGrp="1"/>
          </p:cNvSpPr>
          <p:nvPr>
            <p:ph type="sldNum" sz="quarter" idx="5"/>
          </p:nvPr>
        </p:nvSpPr>
        <p:spPr/>
        <p:txBody>
          <a:bodyPr/>
          <a:lstStyle/>
          <a:p>
            <a:pPr>
              <a:defRPr/>
            </a:pPr>
            <a:fld id="{541C02E6-3F3B-473D-8EE0-2C07C69A3F16}" type="slidenum">
              <a:rPr lang="en-US" smtClean="0"/>
              <a:pPr>
                <a:defRPr/>
              </a:pPr>
              <a:t>3</a:t>
            </a:fld>
            <a:endParaRPr lang="en-US"/>
          </a:p>
        </p:txBody>
      </p:sp>
    </p:spTree>
    <p:extLst>
      <p:ext uri="{BB962C8B-B14F-4D97-AF65-F5344CB8AC3E}">
        <p14:creationId xmlns:p14="http://schemas.microsoft.com/office/powerpoint/2010/main" val="14832418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smtClean="0"/>
              <a:t> </a:t>
            </a:r>
          </a:p>
        </p:txBody>
      </p:sp>
      <p:sp>
        <p:nvSpPr>
          <p:cNvPr id="4" name="Slide Number Placeholder 3"/>
          <p:cNvSpPr>
            <a:spLocks noGrp="1"/>
          </p:cNvSpPr>
          <p:nvPr>
            <p:ph type="sldNum" sz="quarter" idx="5"/>
          </p:nvPr>
        </p:nvSpPr>
        <p:spPr/>
        <p:txBody>
          <a:bodyPr/>
          <a:lstStyle/>
          <a:p>
            <a:pPr>
              <a:defRPr/>
            </a:pPr>
            <a:fld id="{9C064607-7779-4A03-BF22-C29829C24E27}" type="slidenum">
              <a:rPr lang="en-US" smtClean="0"/>
              <a:pPr>
                <a:defRPr/>
              </a:pPr>
              <a:t>4</a:t>
            </a:fld>
            <a:endParaRPr lang="en-US"/>
          </a:p>
        </p:txBody>
      </p:sp>
    </p:spTree>
    <p:extLst>
      <p:ext uri="{BB962C8B-B14F-4D97-AF65-F5344CB8AC3E}">
        <p14:creationId xmlns:p14="http://schemas.microsoft.com/office/powerpoint/2010/main" val="6864081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smtClean="0"/>
              <a:t> </a:t>
            </a:r>
          </a:p>
        </p:txBody>
      </p:sp>
      <p:sp>
        <p:nvSpPr>
          <p:cNvPr id="4" name="Slide Number Placeholder 3"/>
          <p:cNvSpPr>
            <a:spLocks noGrp="1"/>
          </p:cNvSpPr>
          <p:nvPr>
            <p:ph type="sldNum" sz="quarter" idx="5"/>
          </p:nvPr>
        </p:nvSpPr>
        <p:spPr/>
        <p:txBody>
          <a:bodyPr/>
          <a:lstStyle/>
          <a:p>
            <a:pPr>
              <a:defRPr/>
            </a:pPr>
            <a:fld id="{00129817-36E2-422D-9FFA-14D10A6F2261}" type="slidenum">
              <a:rPr lang="en-US" smtClean="0"/>
              <a:pPr>
                <a:defRPr/>
              </a:pPr>
              <a:t>5</a:t>
            </a:fld>
            <a:endParaRPr lang="en-US"/>
          </a:p>
        </p:txBody>
      </p:sp>
    </p:spTree>
    <p:extLst>
      <p:ext uri="{BB962C8B-B14F-4D97-AF65-F5344CB8AC3E}">
        <p14:creationId xmlns:p14="http://schemas.microsoft.com/office/powerpoint/2010/main" val="34130546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4" name="Slide Number Placeholder 3"/>
          <p:cNvSpPr>
            <a:spLocks noGrp="1"/>
          </p:cNvSpPr>
          <p:nvPr>
            <p:ph type="sldNum" sz="quarter" idx="5"/>
          </p:nvPr>
        </p:nvSpPr>
        <p:spPr/>
        <p:txBody>
          <a:bodyPr/>
          <a:lstStyle/>
          <a:p>
            <a:pPr>
              <a:defRPr/>
            </a:pPr>
            <a:fld id="{E2A2B46C-CB57-42A1-B195-3B55DB5377D8}" type="slidenum">
              <a:rPr lang="en-US" smtClean="0"/>
              <a:pPr>
                <a:defRPr/>
              </a:pPr>
              <a:t>6</a:t>
            </a:fld>
            <a:endParaRPr lang="en-US"/>
          </a:p>
        </p:txBody>
      </p:sp>
    </p:spTree>
    <p:extLst>
      <p:ext uri="{BB962C8B-B14F-4D97-AF65-F5344CB8AC3E}">
        <p14:creationId xmlns:p14="http://schemas.microsoft.com/office/powerpoint/2010/main" val="25834408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4" name="Slide Number Placeholder 3"/>
          <p:cNvSpPr>
            <a:spLocks noGrp="1"/>
          </p:cNvSpPr>
          <p:nvPr>
            <p:ph type="sldNum" sz="quarter" idx="5"/>
          </p:nvPr>
        </p:nvSpPr>
        <p:spPr/>
        <p:txBody>
          <a:bodyPr/>
          <a:lstStyle/>
          <a:p>
            <a:pPr>
              <a:defRPr/>
            </a:pPr>
            <a:fld id="{6EE0FE60-1E9C-471A-9C9F-7B91090E05EC}" type="slidenum">
              <a:rPr lang="en-US" smtClean="0"/>
              <a:pPr>
                <a:defRPr/>
              </a:pPr>
              <a:t>7</a:t>
            </a:fld>
            <a:endParaRPr lang="en-US"/>
          </a:p>
        </p:txBody>
      </p:sp>
    </p:spTree>
    <p:extLst>
      <p:ext uri="{BB962C8B-B14F-4D97-AF65-F5344CB8AC3E}">
        <p14:creationId xmlns:p14="http://schemas.microsoft.com/office/powerpoint/2010/main" val="30390061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4" name="Slide Number Placeholder 3"/>
          <p:cNvSpPr>
            <a:spLocks noGrp="1"/>
          </p:cNvSpPr>
          <p:nvPr>
            <p:ph type="sldNum" sz="quarter" idx="5"/>
          </p:nvPr>
        </p:nvSpPr>
        <p:spPr/>
        <p:txBody>
          <a:bodyPr/>
          <a:lstStyle/>
          <a:p>
            <a:pPr>
              <a:defRPr/>
            </a:pPr>
            <a:fld id="{E7E8DB66-4B0E-415B-B769-4B176DA6CDE4}" type="slidenum">
              <a:rPr lang="en-US" smtClean="0"/>
              <a:pPr>
                <a:defRPr/>
              </a:pPr>
              <a:t>8</a:t>
            </a:fld>
            <a:endParaRPr lang="en-US"/>
          </a:p>
        </p:txBody>
      </p:sp>
    </p:spTree>
    <p:extLst>
      <p:ext uri="{BB962C8B-B14F-4D97-AF65-F5344CB8AC3E}">
        <p14:creationId xmlns:p14="http://schemas.microsoft.com/office/powerpoint/2010/main" val="9767712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4" name="Slide Number Placeholder 3"/>
          <p:cNvSpPr>
            <a:spLocks noGrp="1"/>
          </p:cNvSpPr>
          <p:nvPr>
            <p:ph type="sldNum" sz="quarter" idx="5"/>
          </p:nvPr>
        </p:nvSpPr>
        <p:spPr/>
        <p:txBody>
          <a:bodyPr/>
          <a:lstStyle/>
          <a:p>
            <a:pPr>
              <a:defRPr/>
            </a:pPr>
            <a:fld id="{15A80A95-65BA-4227-A348-4D12037B921B}" type="slidenum">
              <a:rPr lang="en-US" smtClean="0"/>
              <a:pPr>
                <a:defRPr/>
              </a:pPr>
              <a:t>9</a:t>
            </a:fld>
            <a:endParaRPr lang="en-US"/>
          </a:p>
        </p:txBody>
      </p:sp>
    </p:spTree>
    <p:extLst>
      <p:ext uri="{BB962C8B-B14F-4D97-AF65-F5344CB8AC3E}">
        <p14:creationId xmlns:p14="http://schemas.microsoft.com/office/powerpoint/2010/main" val="18982974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4" name="Slide Number Placeholder 3"/>
          <p:cNvSpPr>
            <a:spLocks noGrp="1"/>
          </p:cNvSpPr>
          <p:nvPr>
            <p:ph type="sldNum" sz="quarter" idx="5"/>
          </p:nvPr>
        </p:nvSpPr>
        <p:spPr/>
        <p:txBody>
          <a:bodyPr/>
          <a:lstStyle/>
          <a:p>
            <a:pPr>
              <a:defRPr/>
            </a:pPr>
            <a:fld id="{7F659047-9827-4315-8EA8-730794BFF2E8}" type="slidenum">
              <a:rPr lang="en-US" smtClean="0"/>
              <a:pPr>
                <a:defRPr/>
              </a:pPr>
              <a:t>10</a:t>
            </a:fld>
            <a:endParaRPr lang="en-US"/>
          </a:p>
        </p:txBody>
      </p:sp>
    </p:spTree>
    <p:extLst>
      <p:ext uri="{BB962C8B-B14F-4D97-AF65-F5344CB8AC3E}">
        <p14:creationId xmlns:p14="http://schemas.microsoft.com/office/powerpoint/2010/main" val="1624110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4" name="Slide Number Placeholder 3"/>
          <p:cNvSpPr>
            <a:spLocks noGrp="1"/>
          </p:cNvSpPr>
          <p:nvPr>
            <p:ph type="sldNum" sz="quarter" idx="5"/>
          </p:nvPr>
        </p:nvSpPr>
        <p:spPr/>
        <p:txBody>
          <a:bodyPr/>
          <a:lstStyle/>
          <a:p>
            <a:pPr>
              <a:defRPr/>
            </a:pPr>
            <a:fld id="{DCA2D847-7F7C-458B-A503-3E43978A6477}" type="slidenum">
              <a:rPr lang="en-US" smtClean="0"/>
              <a:pPr>
                <a:defRPr/>
              </a:pPr>
              <a:t>11</a:t>
            </a:fld>
            <a:endParaRPr lang="en-US"/>
          </a:p>
        </p:txBody>
      </p:sp>
    </p:spTree>
    <p:extLst>
      <p:ext uri="{BB962C8B-B14F-4D97-AF65-F5344CB8AC3E}">
        <p14:creationId xmlns:p14="http://schemas.microsoft.com/office/powerpoint/2010/main" val="24381701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4" name="Slide Number Placeholder 3"/>
          <p:cNvSpPr>
            <a:spLocks noGrp="1"/>
          </p:cNvSpPr>
          <p:nvPr>
            <p:ph type="sldNum" sz="quarter" idx="5"/>
          </p:nvPr>
        </p:nvSpPr>
        <p:spPr/>
        <p:txBody>
          <a:bodyPr/>
          <a:lstStyle/>
          <a:p>
            <a:pPr>
              <a:defRPr/>
            </a:pPr>
            <a:fld id="{66E7B2BF-0EBD-4889-B9DF-09A83B87B9DE}" type="slidenum">
              <a:rPr lang="en-US" smtClean="0"/>
              <a:pPr>
                <a:defRPr/>
              </a:pPr>
              <a:t>12</a:t>
            </a:fld>
            <a:endParaRPr lang="en-US"/>
          </a:p>
        </p:txBody>
      </p:sp>
    </p:spTree>
    <p:extLst>
      <p:ext uri="{BB962C8B-B14F-4D97-AF65-F5344CB8AC3E}">
        <p14:creationId xmlns:p14="http://schemas.microsoft.com/office/powerpoint/2010/main" val="2507974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4" name="Slide Number Placeholder 3"/>
          <p:cNvSpPr>
            <a:spLocks noGrp="1"/>
          </p:cNvSpPr>
          <p:nvPr>
            <p:ph type="sldNum" sz="quarter" idx="5"/>
          </p:nvPr>
        </p:nvSpPr>
        <p:spPr/>
        <p:txBody>
          <a:bodyPr/>
          <a:lstStyle/>
          <a:p>
            <a:pPr>
              <a:defRPr/>
            </a:pPr>
            <a:fld id="{492AEA71-6323-489D-8529-9BBCA06748C5}" type="slidenum">
              <a:rPr lang="en-US" smtClean="0"/>
              <a:pPr>
                <a:defRPr/>
              </a:pPr>
              <a:t>13</a:t>
            </a:fld>
            <a:endParaRPr lang="en-US"/>
          </a:p>
        </p:txBody>
      </p:sp>
    </p:spTree>
    <p:extLst>
      <p:ext uri="{BB962C8B-B14F-4D97-AF65-F5344CB8AC3E}">
        <p14:creationId xmlns:p14="http://schemas.microsoft.com/office/powerpoint/2010/main" val="6671802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Slide Number Placeholder 3"/>
          <p:cNvSpPr>
            <a:spLocks noGrp="1"/>
          </p:cNvSpPr>
          <p:nvPr>
            <p:ph type="sldNum" sz="quarter" idx="5"/>
          </p:nvPr>
        </p:nvSpPr>
        <p:spPr/>
        <p:txBody>
          <a:bodyPr/>
          <a:lstStyle/>
          <a:p>
            <a:pPr>
              <a:defRPr/>
            </a:pPr>
            <a:fld id="{9B908803-C3C8-4E85-96FC-9A0FF4140AC8}" type="slidenum">
              <a:rPr lang="en-US" smtClean="0"/>
              <a:pPr>
                <a:defRPr/>
              </a:pPr>
              <a:t>14</a:t>
            </a:fld>
            <a:endParaRPr lang="en-US"/>
          </a:p>
        </p:txBody>
      </p:sp>
    </p:spTree>
    <p:extLst>
      <p:ext uri="{BB962C8B-B14F-4D97-AF65-F5344CB8AC3E}">
        <p14:creationId xmlns:p14="http://schemas.microsoft.com/office/powerpoint/2010/main" val="10606795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4" name="Slide Number Placeholder 3"/>
          <p:cNvSpPr>
            <a:spLocks noGrp="1"/>
          </p:cNvSpPr>
          <p:nvPr>
            <p:ph type="sldNum" sz="quarter" idx="5"/>
          </p:nvPr>
        </p:nvSpPr>
        <p:spPr/>
        <p:txBody>
          <a:bodyPr/>
          <a:lstStyle/>
          <a:p>
            <a:pPr>
              <a:defRPr/>
            </a:pPr>
            <a:fld id="{25D8341B-37B8-44E6-8EB5-A854426F6684}" type="slidenum">
              <a:rPr lang="en-US" smtClean="0"/>
              <a:pPr>
                <a:defRPr/>
              </a:pPr>
              <a:t>15</a:t>
            </a:fld>
            <a:endParaRPr lang="en-US"/>
          </a:p>
        </p:txBody>
      </p:sp>
    </p:spTree>
    <p:extLst>
      <p:ext uri="{BB962C8B-B14F-4D97-AF65-F5344CB8AC3E}">
        <p14:creationId xmlns:p14="http://schemas.microsoft.com/office/powerpoint/2010/main" val="25462170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2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4" name="Slide Number Placeholder 3"/>
          <p:cNvSpPr>
            <a:spLocks noGrp="1"/>
          </p:cNvSpPr>
          <p:nvPr>
            <p:ph type="sldNum" sz="quarter" idx="5"/>
          </p:nvPr>
        </p:nvSpPr>
        <p:spPr/>
        <p:txBody>
          <a:bodyPr/>
          <a:lstStyle/>
          <a:p>
            <a:pPr>
              <a:defRPr/>
            </a:pPr>
            <a:fld id="{34ADA1EA-665A-407B-90EC-EFECD5BC24FF}" type="slidenum">
              <a:rPr lang="en-US" smtClean="0"/>
              <a:pPr>
                <a:defRPr/>
              </a:pPr>
              <a:t>16</a:t>
            </a:fld>
            <a:endParaRPr lang="en-US"/>
          </a:p>
        </p:txBody>
      </p:sp>
    </p:spTree>
    <p:extLst>
      <p:ext uri="{BB962C8B-B14F-4D97-AF65-F5344CB8AC3E}">
        <p14:creationId xmlns:p14="http://schemas.microsoft.com/office/powerpoint/2010/main" val="1144187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4" name="Slide Number Placeholder 3"/>
          <p:cNvSpPr>
            <a:spLocks noGrp="1"/>
          </p:cNvSpPr>
          <p:nvPr>
            <p:ph type="sldNum" sz="quarter" idx="5"/>
          </p:nvPr>
        </p:nvSpPr>
        <p:spPr/>
        <p:txBody>
          <a:bodyPr/>
          <a:lstStyle/>
          <a:p>
            <a:pPr>
              <a:defRPr/>
            </a:pPr>
            <a:fld id="{FB1DAC54-D5DA-4F85-AFE8-F344A6B12716}" type="slidenum">
              <a:rPr lang="en-US" smtClean="0"/>
              <a:pPr>
                <a:defRPr/>
              </a:pPr>
              <a:t>17</a:t>
            </a:fld>
            <a:endParaRPr lang="en-US"/>
          </a:p>
        </p:txBody>
      </p:sp>
    </p:spTree>
    <p:extLst>
      <p:ext uri="{BB962C8B-B14F-4D97-AF65-F5344CB8AC3E}">
        <p14:creationId xmlns:p14="http://schemas.microsoft.com/office/powerpoint/2010/main" val="19731611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4" name="Slide Number Placeholder 3"/>
          <p:cNvSpPr>
            <a:spLocks noGrp="1"/>
          </p:cNvSpPr>
          <p:nvPr>
            <p:ph type="sldNum" sz="quarter" idx="5"/>
          </p:nvPr>
        </p:nvSpPr>
        <p:spPr/>
        <p:txBody>
          <a:bodyPr/>
          <a:lstStyle/>
          <a:p>
            <a:pPr>
              <a:defRPr/>
            </a:pPr>
            <a:fld id="{9F206D87-27C2-418A-9014-AF1B2201411F}" type="slidenum">
              <a:rPr lang="en-US" smtClean="0"/>
              <a:pPr>
                <a:defRPr/>
              </a:pPr>
              <a:t>18</a:t>
            </a:fld>
            <a:endParaRPr lang="en-US"/>
          </a:p>
        </p:txBody>
      </p:sp>
    </p:spTree>
    <p:extLst>
      <p:ext uri="{BB962C8B-B14F-4D97-AF65-F5344CB8AC3E}">
        <p14:creationId xmlns:p14="http://schemas.microsoft.com/office/powerpoint/2010/main" val="3622202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4" name="Slide Number Placeholder 3"/>
          <p:cNvSpPr>
            <a:spLocks noGrp="1"/>
          </p:cNvSpPr>
          <p:nvPr>
            <p:ph type="sldNum" sz="quarter" idx="5"/>
          </p:nvPr>
        </p:nvSpPr>
        <p:spPr/>
        <p:txBody>
          <a:bodyPr/>
          <a:lstStyle/>
          <a:p>
            <a:pPr>
              <a:defRPr/>
            </a:pPr>
            <a:fld id="{C3F30721-E8C4-485E-B8BE-5AF88926C819}" type="slidenum">
              <a:rPr lang="en-US" smtClean="0"/>
              <a:pPr>
                <a:defRPr/>
              </a:pPr>
              <a:t>19</a:t>
            </a:fld>
            <a:endParaRPr lang="en-US"/>
          </a:p>
        </p:txBody>
      </p:sp>
    </p:spTree>
    <p:extLst>
      <p:ext uri="{BB962C8B-B14F-4D97-AF65-F5344CB8AC3E}">
        <p14:creationId xmlns:p14="http://schemas.microsoft.com/office/powerpoint/2010/main" val="38683150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34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4" name="Slide Number Placeholder 3"/>
          <p:cNvSpPr>
            <a:spLocks noGrp="1"/>
          </p:cNvSpPr>
          <p:nvPr>
            <p:ph type="sldNum" sz="quarter" idx="5"/>
          </p:nvPr>
        </p:nvSpPr>
        <p:spPr/>
        <p:txBody>
          <a:bodyPr/>
          <a:lstStyle/>
          <a:p>
            <a:pPr>
              <a:defRPr/>
            </a:pPr>
            <a:fld id="{C0A9179C-334C-4A72-8080-7B75CEBDB372}" type="slidenum">
              <a:rPr lang="en-US" smtClean="0"/>
              <a:pPr>
                <a:defRPr/>
              </a:pPr>
              <a:t>20</a:t>
            </a:fld>
            <a:endParaRPr lang="en-US"/>
          </a:p>
        </p:txBody>
      </p:sp>
    </p:spTree>
    <p:extLst>
      <p:ext uri="{BB962C8B-B14F-4D97-AF65-F5344CB8AC3E}">
        <p14:creationId xmlns:p14="http://schemas.microsoft.com/office/powerpoint/2010/main" val="23788686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4" name="Slide Number Placeholder 3"/>
          <p:cNvSpPr>
            <a:spLocks noGrp="1"/>
          </p:cNvSpPr>
          <p:nvPr>
            <p:ph type="sldNum" sz="quarter" idx="5"/>
          </p:nvPr>
        </p:nvSpPr>
        <p:spPr/>
        <p:txBody>
          <a:bodyPr/>
          <a:lstStyle/>
          <a:p>
            <a:pPr>
              <a:defRPr/>
            </a:pPr>
            <a:fld id="{64DE9A6F-5F4B-48CA-BE6F-6AE77A67089A}" type="slidenum">
              <a:rPr lang="en-US" smtClean="0"/>
              <a:pPr>
                <a:defRPr/>
              </a:pPr>
              <a:t>21</a:t>
            </a:fld>
            <a:endParaRPr lang="en-US"/>
          </a:p>
        </p:txBody>
      </p:sp>
    </p:spTree>
    <p:extLst>
      <p:ext uri="{BB962C8B-B14F-4D97-AF65-F5344CB8AC3E}">
        <p14:creationId xmlns:p14="http://schemas.microsoft.com/office/powerpoint/2010/main" val="10343155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5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Slide Number Placeholder 3"/>
          <p:cNvSpPr>
            <a:spLocks noGrp="1"/>
          </p:cNvSpPr>
          <p:nvPr>
            <p:ph type="sldNum" sz="quarter" idx="5"/>
          </p:nvPr>
        </p:nvSpPr>
        <p:spPr/>
        <p:txBody>
          <a:bodyPr/>
          <a:lstStyle/>
          <a:p>
            <a:pPr>
              <a:defRPr/>
            </a:pPr>
            <a:fld id="{AADA6C85-9EEE-45B5-B50F-1BE9796E45DE}" type="slidenum">
              <a:rPr lang="en-US" smtClean="0"/>
              <a:pPr>
                <a:defRPr/>
              </a:pPr>
              <a:t>22</a:t>
            </a:fld>
            <a:endParaRPr lang="en-US"/>
          </a:p>
        </p:txBody>
      </p:sp>
    </p:spTree>
    <p:extLst>
      <p:ext uri="{BB962C8B-B14F-4D97-AF65-F5344CB8AC3E}">
        <p14:creationId xmlns:p14="http://schemas.microsoft.com/office/powerpoint/2010/main" val="40077181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Slide Number Placeholder 3"/>
          <p:cNvSpPr>
            <a:spLocks noGrp="1"/>
          </p:cNvSpPr>
          <p:nvPr>
            <p:ph type="sldNum" sz="quarter" idx="5"/>
          </p:nvPr>
        </p:nvSpPr>
        <p:spPr/>
        <p:txBody>
          <a:bodyPr/>
          <a:lstStyle/>
          <a:p>
            <a:pPr>
              <a:defRPr/>
            </a:pPr>
            <a:fld id="{6D1C759F-7796-481C-8562-F7ABD9CE1189}" type="slidenum">
              <a:rPr lang="en-US" smtClean="0"/>
              <a:pPr>
                <a:defRPr/>
              </a:pPr>
              <a:t>23</a:t>
            </a:fld>
            <a:endParaRPr lang="en-US"/>
          </a:p>
        </p:txBody>
      </p:sp>
    </p:spTree>
    <p:extLst>
      <p:ext uri="{BB962C8B-B14F-4D97-AF65-F5344CB8AC3E}">
        <p14:creationId xmlns:p14="http://schemas.microsoft.com/office/powerpoint/2010/main" val="4814424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6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Slide Number Placeholder 3"/>
          <p:cNvSpPr>
            <a:spLocks noGrp="1"/>
          </p:cNvSpPr>
          <p:nvPr>
            <p:ph type="sldNum" sz="quarter" idx="5"/>
          </p:nvPr>
        </p:nvSpPr>
        <p:spPr/>
        <p:txBody>
          <a:bodyPr/>
          <a:lstStyle/>
          <a:p>
            <a:pPr>
              <a:defRPr/>
            </a:pPr>
            <a:fld id="{6B23D6C2-D906-4298-95A9-6636ECF06A49}" type="slidenum">
              <a:rPr lang="en-US" smtClean="0"/>
              <a:pPr>
                <a:defRPr/>
              </a:pPr>
              <a:t>24</a:t>
            </a:fld>
            <a:endParaRPr lang="en-US"/>
          </a:p>
        </p:txBody>
      </p:sp>
    </p:spTree>
    <p:extLst>
      <p:ext uri="{BB962C8B-B14F-4D97-AF65-F5344CB8AC3E}">
        <p14:creationId xmlns:p14="http://schemas.microsoft.com/office/powerpoint/2010/main" val="512375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08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th-TH" altLang="th-TH" smtClean="0"/>
          </a:p>
        </p:txBody>
      </p:sp>
      <p:sp>
        <p:nvSpPr>
          <p:cNvPr id="4" name="Slide Number Placeholder 3"/>
          <p:cNvSpPr>
            <a:spLocks noGrp="1"/>
          </p:cNvSpPr>
          <p:nvPr>
            <p:ph type="sldNum" sz="quarter" idx="5"/>
          </p:nvPr>
        </p:nvSpPr>
        <p:spPr/>
        <p:txBody>
          <a:bodyPr/>
          <a:lstStyle/>
          <a:p>
            <a:pPr>
              <a:defRPr/>
            </a:pPr>
            <a:fld id="{3218B513-24B7-494A-819A-E984C4197D9A}" type="slidenum">
              <a:rPr lang="th-TH" smtClean="0"/>
              <a:pPr>
                <a:defRPr/>
              </a:pPr>
              <a:t>32</a:t>
            </a:fld>
            <a:endParaRPr lang="th-TH"/>
          </a:p>
        </p:txBody>
      </p:sp>
    </p:spTree>
    <p:extLst>
      <p:ext uri="{BB962C8B-B14F-4D97-AF65-F5344CB8AC3E}">
        <p14:creationId xmlns:p14="http://schemas.microsoft.com/office/powerpoint/2010/main" val="180493771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29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Slide Number Placeholder 3"/>
          <p:cNvSpPr>
            <a:spLocks noGrp="1"/>
          </p:cNvSpPr>
          <p:nvPr>
            <p:ph type="sldNum" sz="quarter" idx="5"/>
          </p:nvPr>
        </p:nvSpPr>
        <p:spPr/>
        <p:txBody>
          <a:bodyPr/>
          <a:lstStyle/>
          <a:p>
            <a:pPr>
              <a:defRPr/>
            </a:pPr>
            <a:fld id="{FF9027B8-8F6A-426F-98BB-FE0541A56E79}" type="slidenum">
              <a:rPr lang="en-US" smtClean="0"/>
              <a:pPr>
                <a:defRPr/>
              </a:pPr>
              <a:t>33</a:t>
            </a:fld>
            <a:endParaRPr lang="en-US"/>
          </a:p>
        </p:txBody>
      </p:sp>
    </p:spTree>
    <p:extLst>
      <p:ext uri="{BB962C8B-B14F-4D97-AF65-F5344CB8AC3E}">
        <p14:creationId xmlns:p14="http://schemas.microsoft.com/office/powerpoint/2010/main" val="386279366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52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Slide Number Placeholder 3"/>
          <p:cNvSpPr>
            <a:spLocks noGrp="1"/>
          </p:cNvSpPr>
          <p:nvPr>
            <p:ph type="sldNum" sz="quarter" idx="5"/>
          </p:nvPr>
        </p:nvSpPr>
        <p:spPr/>
        <p:txBody>
          <a:bodyPr/>
          <a:lstStyle/>
          <a:p>
            <a:pPr>
              <a:defRPr/>
            </a:pPr>
            <a:fld id="{5A4C1FDE-1C38-407F-BC2D-43BAFC4624F8}" type="slidenum">
              <a:rPr lang="en-US" smtClean="0"/>
              <a:pPr>
                <a:defRPr/>
              </a:pPr>
              <a:t>44</a:t>
            </a:fld>
            <a:endParaRPr lang="en-US"/>
          </a:p>
        </p:txBody>
      </p:sp>
    </p:spTree>
    <p:extLst>
      <p:ext uri="{BB962C8B-B14F-4D97-AF65-F5344CB8AC3E}">
        <p14:creationId xmlns:p14="http://schemas.microsoft.com/office/powerpoint/2010/main" val="220127175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72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Slide Number Placeholder 3"/>
          <p:cNvSpPr>
            <a:spLocks noGrp="1"/>
          </p:cNvSpPr>
          <p:nvPr>
            <p:ph type="sldNum" sz="quarter" idx="5"/>
          </p:nvPr>
        </p:nvSpPr>
        <p:spPr/>
        <p:txBody>
          <a:bodyPr/>
          <a:lstStyle/>
          <a:p>
            <a:pPr>
              <a:defRPr/>
            </a:pPr>
            <a:fld id="{2C6154DC-0B65-499A-8049-1D2CBBEE1AF2}" type="slidenum">
              <a:rPr lang="en-US" smtClean="0"/>
              <a:pPr>
                <a:defRPr/>
              </a:pPr>
              <a:t>45</a:t>
            </a:fld>
            <a:endParaRPr lang="en-US"/>
          </a:p>
        </p:txBody>
      </p:sp>
    </p:spTree>
    <p:extLst>
      <p:ext uri="{BB962C8B-B14F-4D97-AF65-F5344CB8AC3E}">
        <p14:creationId xmlns:p14="http://schemas.microsoft.com/office/powerpoint/2010/main" val="219625728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03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Slide Number Placeholder 3"/>
          <p:cNvSpPr>
            <a:spLocks noGrp="1"/>
          </p:cNvSpPr>
          <p:nvPr>
            <p:ph type="sldNum" sz="quarter" idx="5"/>
          </p:nvPr>
        </p:nvSpPr>
        <p:spPr/>
        <p:txBody>
          <a:bodyPr/>
          <a:lstStyle/>
          <a:p>
            <a:pPr>
              <a:defRPr/>
            </a:pPr>
            <a:fld id="{6DF26F11-CB2C-461F-9BAF-205EC5167626}" type="slidenum">
              <a:rPr lang="en-US" smtClean="0"/>
              <a:pPr>
                <a:defRPr/>
              </a:pPr>
              <a:t>47</a:t>
            </a:fld>
            <a:endParaRPr lang="en-US"/>
          </a:p>
        </p:txBody>
      </p:sp>
    </p:spTree>
    <p:extLst>
      <p:ext uri="{BB962C8B-B14F-4D97-AF65-F5344CB8AC3E}">
        <p14:creationId xmlns:p14="http://schemas.microsoft.com/office/powerpoint/2010/main" val="21160888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Slide Number Placeholder 3"/>
          <p:cNvSpPr>
            <a:spLocks noGrp="1"/>
          </p:cNvSpPr>
          <p:nvPr>
            <p:ph type="sldNum" sz="quarter" idx="5"/>
          </p:nvPr>
        </p:nvSpPr>
        <p:spPr/>
        <p:txBody>
          <a:bodyPr/>
          <a:lstStyle/>
          <a:p>
            <a:pPr>
              <a:defRPr/>
            </a:pPr>
            <a:fld id="{A028764E-CC6D-49DD-84A1-1AEA0E0DB450}" type="slidenum">
              <a:rPr lang="en-US" smtClean="0"/>
              <a:pPr>
                <a:defRPr/>
              </a:pPr>
              <a:t>53</a:t>
            </a:fld>
            <a:endParaRPr lang="en-US"/>
          </a:p>
        </p:txBody>
      </p:sp>
    </p:spTree>
    <p:extLst>
      <p:ext uri="{BB962C8B-B14F-4D97-AF65-F5344CB8AC3E}">
        <p14:creationId xmlns:p14="http://schemas.microsoft.com/office/powerpoint/2010/main" val="416410645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05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Slide Number Placeholder 3"/>
          <p:cNvSpPr>
            <a:spLocks noGrp="1"/>
          </p:cNvSpPr>
          <p:nvPr>
            <p:ph type="sldNum" sz="quarter" idx="5"/>
          </p:nvPr>
        </p:nvSpPr>
        <p:spPr/>
        <p:txBody>
          <a:bodyPr/>
          <a:lstStyle/>
          <a:p>
            <a:pPr>
              <a:defRPr/>
            </a:pPr>
            <a:fld id="{0F721AF1-C1BE-43BD-A784-8D624CD3BB44}" type="slidenum">
              <a:rPr lang="en-US" smtClean="0"/>
              <a:pPr>
                <a:defRPr/>
              </a:pPr>
              <a:t>55</a:t>
            </a:fld>
            <a:endParaRPr lang="en-US"/>
          </a:p>
        </p:txBody>
      </p:sp>
    </p:spTree>
    <p:extLst>
      <p:ext uri="{BB962C8B-B14F-4D97-AF65-F5344CB8AC3E}">
        <p14:creationId xmlns:p14="http://schemas.microsoft.com/office/powerpoint/2010/main" val="185130546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36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th-TH" altLang="th-TH" smtClean="0"/>
          </a:p>
        </p:txBody>
      </p:sp>
      <p:sp>
        <p:nvSpPr>
          <p:cNvPr id="4" name="Slide Number Placeholder 3"/>
          <p:cNvSpPr>
            <a:spLocks noGrp="1"/>
          </p:cNvSpPr>
          <p:nvPr>
            <p:ph type="sldNum" sz="quarter" idx="5"/>
          </p:nvPr>
        </p:nvSpPr>
        <p:spPr/>
        <p:txBody>
          <a:bodyPr/>
          <a:lstStyle/>
          <a:p>
            <a:pPr>
              <a:defRPr/>
            </a:pPr>
            <a:fld id="{8B690FA2-CD17-49C6-AD8B-BD01C8846E51}" type="slidenum">
              <a:rPr lang="en-US" smtClean="0"/>
              <a:pPr>
                <a:defRPr/>
              </a:pPr>
              <a:t>57</a:t>
            </a:fld>
            <a:endParaRPr lang="en-US"/>
          </a:p>
        </p:txBody>
      </p:sp>
    </p:spTree>
    <p:extLst>
      <p:ext uri="{BB962C8B-B14F-4D97-AF65-F5344CB8AC3E}">
        <p14:creationId xmlns:p14="http://schemas.microsoft.com/office/powerpoint/2010/main" val="428512853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87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th-TH" altLang="th-TH" smtClean="0"/>
          </a:p>
        </p:txBody>
      </p:sp>
      <p:sp>
        <p:nvSpPr>
          <p:cNvPr id="4" name="Slide Number Placeholder 3"/>
          <p:cNvSpPr>
            <a:spLocks noGrp="1"/>
          </p:cNvSpPr>
          <p:nvPr>
            <p:ph type="sldNum" sz="quarter" idx="5"/>
          </p:nvPr>
        </p:nvSpPr>
        <p:spPr/>
        <p:txBody>
          <a:bodyPr/>
          <a:lstStyle/>
          <a:p>
            <a:pPr>
              <a:defRPr/>
            </a:pPr>
            <a:fld id="{A64F94E7-66B3-4646-9A21-86772D6D6929}" type="slidenum">
              <a:rPr lang="th-TH" smtClean="0"/>
              <a:pPr>
                <a:defRPr/>
              </a:pPr>
              <a:t>61</a:t>
            </a:fld>
            <a:endParaRPr lang="th-TH"/>
          </a:p>
        </p:txBody>
      </p:sp>
    </p:spTree>
    <p:extLst>
      <p:ext uri="{BB962C8B-B14F-4D97-AF65-F5344CB8AC3E}">
        <p14:creationId xmlns:p14="http://schemas.microsoft.com/office/powerpoint/2010/main" val="192202821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08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th-TH" altLang="th-TH" smtClean="0"/>
          </a:p>
        </p:txBody>
      </p:sp>
      <p:sp>
        <p:nvSpPr>
          <p:cNvPr id="4" name="Slide Number Placeholder 3"/>
          <p:cNvSpPr>
            <a:spLocks noGrp="1"/>
          </p:cNvSpPr>
          <p:nvPr>
            <p:ph type="sldNum" sz="quarter" idx="5"/>
          </p:nvPr>
        </p:nvSpPr>
        <p:spPr/>
        <p:txBody>
          <a:bodyPr/>
          <a:lstStyle/>
          <a:p>
            <a:pPr>
              <a:defRPr/>
            </a:pPr>
            <a:fld id="{2753208F-7FE6-4587-AF16-8ACF682DC94A}" type="slidenum">
              <a:rPr lang="th-TH" smtClean="0"/>
              <a:pPr>
                <a:defRPr/>
              </a:pPr>
              <a:t>62</a:t>
            </a:fld>
            <a:endParaRPr lang="th-TH"/>
          </a:p>
        </p:txBody>
      </p:sp>
    </p:spTree>
    <p:extLst>
      <p:ext uri="{BB962C8B-B14F-4D97-AF65-F5344CB8AC3E}">
        <p14:creationId xmlns:p14="http://schemas.microsoft.com/office/powerpoint/2010/main" val="83921963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697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Slide Number Placeholder 3"/>
          <p:cNvSpPr>
            <a:spLocks noGrp="1"/>
          </p:cNvSpPr>
          <p:nvPr>
            <p:ph type="sldNum" sz="quarter" idx="5"/>
          </p:nvPr>
        </p:nvSpPr>
        <p:spPr/>
        <p:txBody>
          <a:bodyPr/>
          <a:lstStyle/>
          <a:p>
            <a:pPr>
              <a:defRPr/>
            </a:pPr>
            <a:fld id="{DDBC8988-853D-4360-87B9-7D57DEAF04F5}" type="slidenum">
              <a:rPr lang="en-US" smtClean="0"/>
              <a:pPr>
                <a:defRPr/>
              </a:pPr>
              <a:t>67</a:t>
            </a:fld>
            <a:endParaRPr lang="en-US"/>
          </a:p>
        </p:txBody>
      </p:sp>
    </p:spTree>
    <p:extLst>
      <p:ext uri="{BB962C8B-B14F-4D97-AF65-F5344CB8AC3E}">
        <p14:creationId xmlns:p14="http://schemas.microsoft.com/office/powerpoint/2010/main" val="354707448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90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Slide Number Placeholder 3"/>
          <p:cNvSpPr>
            <a:spLocks noGrp="1"/>
          </p:cNvSpPr>
          <p:nvPr>
            <p:ph type="sldNum" sz="quarter" idx="5"/>
          </p:nvPr>
        </p:nvSpPr>
        <p:spPr/>
        <p:txBody>
          <a:bodyPr/>
          <a:lstStyle/>
          <a:p>
            <a:pPr>
              <a:defRPr/>
            </a:pPr>
            <a:fld id="{D970853F-23C1-450B-911E-775E0D8F3C23}" type="slidenum">
              <a:rPr lang="en-US" smtClean="0"/>
              <a:pPr>
                <a:defRPr/>
              </a:pPr>
              <a:t>68</a:t>
            </a:fld>
            <a:endParaRPr lang="en-US"/>
          </a:p>
        </p:txBody>
      </p:sp>
    </p:spTree>
    <p:extLst>
      <p:ext uri="{BB962C8B-B14F-4D97-AF65-F5344CB8AC3E}">
        <p14:creationId xmlns:p14="http://schemas.microsoft.com/office/powerpoint/2010/main" val="100968294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107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4" name="Slide Number Placeholder 3"/>
          <p:cNvSpPr>
            <a:spLocks noGrp="1"/>
          </p:cNvSpPr>
          <p:nvPr>
            <p:ph type="sldNum" sz="quarter" idx="5"/>
          </p:nvPr>
        </p:nvSpPr>
        <p:spPr/>
        <p:txBody>
          <a:bodyPr/>
          <a:lstStyle/>
          <a:p>
            <a:pPr>
              <a:defRPr/>
            </a:pPr>
            <a:fld id="{F2A10DB2-6EC2-41BB-B27E-3AEAF274F296}" type="slidenum">
              <a:rPr lang="en-US" smtClean="0"/>
              <a:pPr>
                <a:defRPr/>
              </a:pPr>
              <a:t>69</a:t>
            </a:fld>
            <a:endParaRPr lang="en-US"/>
          </a:p>
        </p:txBody>
      </p:sp>
    </p:spTree>
    <p:extLst>
      <p:ext uri="{BB962C8B-B14F-4D97-AF65-F5344CB8AC3E}">
        <p14:creationId xmlns:p14="http://schemas.microsoft.com/office/powerpoint/2010/main" val="397679342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4" name="Slide Number Placeholder 3"/>
          <p:cNvSpPr>
            <a:spLocks noGrp="1"/>
          </p:cNvSpPr>
          <p:nvPr>
            <p:ph type="sldNum" sz="quarter" idx="5"/>
          </p:nvPr>
        </p:nvSpPr>
        <p:spPr/>
        <p:txBody>
          <a:bodyPr/>
          <a:lstStyle/>
          <a:p>
            <a:pPr>
              <a:defRPr/>
            </a:pPr>
            <a:fld id="{46A3279D-B495-49B4-AEFB-CA33A12B9C09}" type="slidenum">
              <a:rPr lang="en-US" smtClean="0"/>
              <a:pPr>
                <a:defRPr/>
              </a:pPr>
              <a:t>70</a:t>
            </a:fld>
            <a:endParaRPr lang="en-US"/>
          </a:p>
        </p:txBody>
      </p:sp>
    </p:spTree>
    <p:extLst>
      <p:ext uri="{BB962C8B-B14F-4D97-AF65-F5344CB8AC3E}">
        <p14:creationId xmlns:p14="http://schemas.microsoft.com/office/powerpoint/2010/main" val="163542211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51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4" name="Slide Number Placeholder 3"/>
          <p:cNvSpPr>
            <a:spLocks noGrp="1"/>
          </p:cNvSpPr>
          <p:nvPr>
            <p:ph type="sldNum" sz="quarter" idx="5"/>
          </p:nvPr>
        </p:nvSpPr>
        <p:spPr/>
        <p:txBody>
          <a:bodyPr/>
          <a:lstStyle/>
          <a:p>
            <a:pPr>
              <a:defRPr/>
            </a:pPr>
            <a:fld id="{50E32F10-271D-4ED4-A93B-EE66B787BEB5}" type="slidenum">
              <a:rPr lang="en-US" smtClean="0"/>
              <a:pPr>
                <a:defRPr/>
              </a:pPr>
              <a:t>71</a:t>
            </a:fld>
            <a:endParaRPr lang="en-US"/>
          </a:p>
        </p:txBody>
      </p:sp>
    </p:spTree>
    <p:extLst>
      <p:ext uri="{BB962C8B-B14F-4D97-AF65-F5344CB8AC3E}">
        <p14:creationId xmlns:p14="http://schemas.microsoft.com/office/powerpoint/2010/main" val="246629930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72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4" name="Slide Number Placeholder 3"/>
          <p:cNvSpPr>
            <a:spLocks noGrp="1"/>
          </p:cNvSpPr>
          <p:nvPr>
            <p:ph type="sldNum" sz="quarter" idx="5"/>
          </p:nvPr>
        </p:nvSpPr>
        <p:spPr/>
        <p:txBody>
          <a:bodyPr/>
          <a:lstStyle/>
          <a:p>
            <a:pPr>
              <a:defRPr/>
            </a:pPr>
            <a:fld id="{35840597-13A0-48B0-AA4A-F80B90ECE2FC}" type="slidenum">
              <a:rPr lang="en-US" smtClean="0"/>
              <a:pPr>
                <a:defRPr/>
              </a:pPr>
              <a:t>72</a:t>
            </a:fld>
            <a:endParaRPr lang="en-US"/>
          </a:p>
        </p:txBody>
      </p:sp>
    </p:spTree>
    <p:extLst>
      <p:ext uri="{BB962C8B-B14F-4D97-AF65-F5344CB8AC3E}">
        <p14:creationId xmlns:p14="http://schemas.microsoft.com/office/powerpoint/2010/main" val="43683168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92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4" name="Slide Number Placeholder 3"/>
          <p:cNvSpPr>
            <a:spLocks noGrp="1"/>
          </p:cNvSpPr>
          <p:nvPr>
            <p:ph type="sldNum" sz="quarter" idx="5"/>
          </p:nvPr>
        </p:nvSpPr>
        <p:spPr/>
        <p:txBody>
          <a:bodyPr/>
          <a:lstStyle/>
          <a:p>
            <a:pPr>
              <a:defRPr/>
            </a:pPr>
            <a:fld id="{78992A9F-3A06-454B-B95A-07583F83E75C}" type="slidenum">
              <a:rPr lang="en-US" smtClean="0"/>
              <a:pPr>
                <a:defRPr/>
              </a:pPr>
              <a:t>73</a:t>
            </a:fld>
            <a:endParaRPr lang="en-US"/>
          </a:p>
        </p:txBody>
      </p:sp>
    </p:spTree>
    <p:extLst>
      <p:ext uri="{BB962C8B-B14F-4D97-AF65-F5344CB8AC3E}">
        <p14:creationId xmlns:p14="http://schemas.microsoft.com/office/powerpoint/2010/main" val="330740902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13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4" name="Slide Number Placeholder 3"/>
          <p:cNvSpPr>
            <a:spLocks noGrp="1"/>
          </p:cNvSpPr>
          <p:nvPr>
            <p:ph type="sldNum" sz="quarter" idx="5"/>
          </p:nvPr>
        </p:nvSpPr>
        <p:spPr/>
        <p:txBody>
          <a:bodyPr/>
          <a:lstStyle/>
          <a:p>
            <a:pPr>
              <a:defRPr/>
            </a:pPr>
            <a:fld id="{4FCD9C8E-5EC6-44EE-92B4-BB8394162A55}" type="slidenum">
              <a:rPr lang="en-US" smtClean="0"/>
              <a:pPr>
                <a:defRPr/>
              </a:pPr>
              <a:t>74</a:t>
            </a:fld>
            <a:endParaRPr lang="en-US"/>
          </a:p>
        </p:txBody>
      </p:sp>
    </p:spTree>
    <p:extLst>
      <p:ext uri="{BB962C8B-B14F-4D97-AF65-F5344CB8AC3E}">
        <p14:creationId xmlns:p14="http://schemas.microsoft.com/office/powerpoint/2010/main" val="391063474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4" name="Slide Number Placeholder 3"/>
          <p:cNvSpPr>
            <a:spLocks noGrp="1"/>
          </p:cNvSpPr>
          <p:nvPr>
            <p:ph type="sldNum" sz="quarter" idx="5"/>
          </p:nvPr>
        </p:nvSpPr>
        <p:spPr/>
        <p:txBody>
          <a:bodyPr/>
          <a:lstStyle/>
          <a:p>
            <a:pPr>
              <a:defRPr/>
            </a:pPr>
            <a:fld id="{CF1BCCDC-F863-487B-B3BC-61EC0DC4D1C4}" type="slidenum">
              <a:rPr lang="en-US" smtClean="0"/>
              <a:pPr>
                <a:defRPr/>
              </a:pPr>
              <a:t>75</a:t>
            </a:fld>
            <a:endParaRPr lang="en-US"/>
          </a:p>
        </p:txBody>
      </p:sp>
    </p:spTree>
    <p:extLst>
      <p:ext uri="{BB962C8B-B14F-4D97-AF65-F5344CB8AC3E}">
        <p14:creationId xmlns:p14="http://schemas.microsoft.com/office/powerpoint/2010/main" val="287231294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54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4" name="Slide Number Placeholder 3"/>
          <p:cNvSpPr>
            <a:spLocks noGrp="1"/>
          </p:cNvSpPr>
          <p:nvPr>
            <p:ph type="sldNum" sz="quarter" idx="5"/>
          </p:nvPr>
        </p:nvSpPr>
        <p:spPr/>
        <p:txBody>
          <a:bodyPr/>
          <a:lstStyle/>
          <a:p>
            <a:pPr>
              <a:defRPr/>
            </a:pPr>
            <a:fld id="{44CBF5EE-7E01-493B-A0C7-4BBC5E6AAAEB}" type="slidenum">
              <a:rPr lang="en-US" smtClean="0"/>
              <a:pPr>
                <a:defRPr/>
              </a:pPr>
              <a:t>76</a:t>
            </a:fld>
            <a:endParaRPr lang="en-US"/>
          </a:p>
        </p:txBody>
      </p:sp>
    </p:spTree>
    <p:extLst>
      <p:ext uri="{BB962C8B-B14F-4D97-AF65-F5344CB8AC3E}">
        <p14:creationId xmlns:p14="http://schemas.microsoft.com/office/powerpoint/2010/main" val="149933659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74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4" name="Slide Number Placeholder 3"/>
          <p:cNvSpPr>
            <a:spLocks noGrp="1"/>
          </p:cNvSpPr>
          <p:nvPr>
            <p:ph type="sldNum" sz="quarter" idx="5"/>
          </p:nvPr>
        </p:nvSpPr>
        <p:spPr/>
        <p:txBody>
          <a:bodyPr/>
          <a:lstStyle/>
          <a:p>
            <a:pPr>
              <a:defRPr/>
            </a:pPr>
            <a:fld id="{7C336E38-37F5-40ED-ADF5-59DFF5995995}" type="slidenum">
              <a:rPr lang="en-US" smtClean="0"/>
              <a:pPr>
                <a:defRPr/>
              </a:pPr>
              <a:t>77</a:t>
            </a:fld>
            <a:endParaRPr lang="en-US"/>
          </a:p>
        </p:txBody>
      </p:sp>
    </p:spTree>
    <p:extLst>
      <p:ext uri="{BB962C8B-B14F-4D97-AF65-F5344CB8AC3E}">
        <p14:creationId xmlns:p14="http://schemas.microsoft.com/office/powerpoint/2010/main" val="229304755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95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4" name="Slide Number Placeholder 3"/>
          <p:cNvSpPr>
            <a:spLocks noGrp="1"/>
          </p:cNvSpPr>
          <p:nvPr>
            <p:ph type="sldNum" sz="quarter" idx="5"/>
          </p:nvPr>
        </p:nvSpPr>
        <p:spPr/>
        <p:txBody>
          <a:bodyPr/>
          <a:lstStyle/>
          <a:p>
            <a:pPr>
              <a:defRPr/>
            </a:pPr>
            <a:fld id="{AAB56A4B-C8EC-414C-B39F-4512708D949F}" type="slidenum">
              <a:rPr lang="en-US" smtClean="0"/>
              <a:pPr>
                <a:defRPr/>
              </a:pPr>
              <a:t>78</a:t>
            </a:fld>
            <a:endParaRPr lang="en-US"/>
          </a:p>
        </p:txBody>
      </p:sp>
    </p:spTree>
    <p:extLst>
      <p:ext uri="{BB962C8B-B14F-4D97-AF65-F5344CB8AC3E}">
        <p14:creationId xmlns:p14="http://schemas.microsoft.com/office/powerpoint/2010/main" val="352980136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15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4" name="Slide Number Placeholder 3"/>
          <p:cNvSpPr>
            <a:spLocks noGrp="1"/>
          </p:cNvSpPr>
          <p:nvPr>
            <p:ph type="sldNum" sz="quarter" idx="5"/>
          </p:nvPr>
        </p:nvSpPr>
        <p:spPr/>
        <p:txBody>
          <a:bodyPr/>
          <a:lstStyle/>
          <a:p>
            <a:pPr>
              <a:defRPr/>
            </a:pPr>
            <a:fld id="{29AA9881-CD0A-4E01-9C4A-D24C6FAC2AFE}" type="slidenum">
              <a:rPr lang="en-US" smtClean="0"/>
              <a:pPr>
                <a:defRPr/>
              </a:pPr>
              <a:t>79</a:t>
            </a:fld>
            <a:endParaRPr lang="en-US"/>
          </a:p>
        </p:txBody>
      </p:sp>
    </p:spTree>
    <p:extLst>
      <p:ext uri="{BB962C8B-B14F-4D97-AF65-F5344CB8AC3E}">
        <p14:creationId xmlns:p14="http://schemas.microsoft.com/office/powerpoint/2010/main" val="426258416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fontAlgn="base">
              <a:spcBef>
                <a:spcPct val="0"/>
              </a:spcBef>
              <a:spcAft>
                <a:spcPct val="0"/>
              </a:spcAft>
            </a:pPr>
            <a:fld id="{9E57E6CD-E3B5-4042-8C7D-FE85849ED308}" type="slidenum">
              <a:rPr lang="en-US" altLang="en-US" smtClean="0">
                <a:latin typeface="Arial" panose="020B0604020202020204" pitchFamily="34" charset="0"/>
                <a:cs typeface="Angsana New" panose="02020603050405020304" pitchFamily="18" charset="-34"/>
              </a:rPr>
              <a:pPr fontAlgn="base">
                <a:spcBef>
                  <a:spcPct val="0"/>
                </a:spcBef>
                <a:spcAft>
                  <a:spcPct val="0"/>
                </a:spcAft>
              </a:pPr>
              <a:t>80</a:t>
            </a:fld>
            <a:endParaRPr lang="th-TH" altLang="en-US" smtClean="0">
              <a:latin typeface="Arial" panose="020B0604020202020204" pitchFamily="34" charset="0"/>
              <a:cs typeface="Angsana New" panose="02020603050405020304" pitchFamily="18" charset="-34"/>
            </a:endParaRPr>
          </a:p>
        </p:txBody>
      </p:sp>
      <p:sp>
        <p:nvSpPr>
          <p:cNvPr id="15360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04" name="Rectangle 3"/>
          <p:cNvSpPr>
            <a:spLocks noGrp="1" noChangeArrowheads="1"/>
          </p:cNvSpPr>
          <p:nvPr>
            <p:ph type="body" idx="1"/>
          </p:nvPr>
        </p:nvSpPr>
        <p:spPr bwMode="auto">
          <a:xfrm>
            <a:off x="685800" y="4341813"/>
            <a:ext cx="5486400" cy="41163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latin typeface="Arial" panose="020B0604020202020204" pitchFamily="34" charset="0"/>
            </a:endParaRPr>
          </a:p>
          <a:p>
            <a:pPr eaLnBrk="1" hangingPunct="1"/>
            <a:endParaRPr lang="th-TH" altLang="en-US" smtClean="0">
              <a:latin typeface="Arial" panose="020B0604020202020204" pitchFamily="34" charset="0"/>
            </a:endParaRPr>
          </a:p>
        </p:txBody>
      </p:sp>
    </p:spTree>
    <p:extLst>
      <p:ext uri="{BB962C8B-B14F-4D97-AF65-F5344CB8AC3E}">
        <p14:creationId xmlns:p14="http://schemas.microsoft.com/office/powerpoint/2010/main" val="76633195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fontAlgn="base">
              <a:spcBef>
                <a:spcPct val="0"/>
              </a:spcBef>
              <a:spcAft>
                <a:spcPct val="0"/>
              </a:spcAft>
            </a:pPr>
            <a:fld id="{FA38C273-EB87-4FFF-82C0-C7898B4B82BB}" type="slidenum">
              <a:rPr lang="en-US" altLang="en-US" smtClean="0">
                <a:latin typeface="Arial" panose="020B0604020202020204" pitchFamily="34" charset="0"/>
                <a:cs typeface="Angsana New" panose="02020603050405020304" pitchFamily="18" charset="-34"/>
              </a:rPr>
              <a:pPr fontAlgn="base">
                <a:spcBef>
                  <a:spcPct val="0"/>
                </a:spcBef>
                <a:spcAft>
                  <a:spcPct val="0"/>
                </a:spcAft>
              </a:pPr>
              <a:t>81</a:t>
            </a:fld>
            <a:endParaRPr lang="th-TH" altLang="en-US" smtClean="0">
              <a:latin typeface="Arial" panose="020B0604020202020204" pitchFamily="34" charset="0"/>
              <a:cs typeface="Angsana New" panose="02020603050405020304" pitchFamily="18" charset="-34"/>
            </a:endParaRPr>
          </a:p>
        </p:txBody>
      </p:sp>
      <p:sp>
        <p:nvSpPr>
          <p:cNvPr id="15565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5652" name="Rectangle 3"/>
          <p:cNvSpPr>
            <a:spLocks noGrp="1" noChangeArrowheads="1"/>
          </p:cNvSpPr>
          <p:nvPr>
            <p:ph type="body" idx="1"/>
          </p:nvPr>
        </p:nvSpPr>
        <p:spPr bwMode="auto">
          <a:xfrm>
            <a:off x="685800" y="4341813"/>
            <a:ext cx="5486400" cy="41163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sv-SE" altLang="en-US" smtClean="0">
              <a:latin typeface="Arial" panose="020B0604020202020204" pitchFamily="34" charset="0"/>
            </a:endParaRPr>
          </a:p>
        </p:txBody>
      </p:sp>
    </p:spTree>
    <p:extLst>
      <p:ext uri="{BB962C8B-B14F-4D97-AF65-F5344CB8AC3E}">
        <p14:creationId xmlns:p14="http://schemas.microsoft.com/office/powerpoint/2010/main" val="127628743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fontAlgn="base">
              <a:spcBef>
                <a:spcPct val="0"/>
              </a:spcBef>
              <a:spcAft>
                <a:spcPct val="0"/>
              </a:spcAft>
            </a:pPr>
            <a:fld id="{C2BF0693-853A-4344-A796-F0DA8DAFE295}" type="slidenum">
              <a:rPr lang="en-US" altLang="en-US" smtClean="0">
                <a:latin typeface="Arial" panose="020B0604020202020204" pitchFamily="34" charset="0"/>
                <a:cs typeface="Angsana New" panose="02020603050405020304" pitchFamily="18" charset="-34"/>
              </a:rPr>
              <a:pPr fontAlgn="base">
                <a:spcBef>
                  <a:spcPct val="0"/>
                </a:spcBef>
                <a:spcAft>
                  <a:spcPct val="0"/>
                </a:spcAft>
              </a:pPr>
              <a:t>82</a:t>
            </a:fld>
            <a:endParaRPr lang="th-TH" altLang="en-US" smtClean="0">
              <a:latin typeface="Arial" panose="020B0604020202020204" pitchFamily="34" charset="0"/>
              <a:cs typeface="Angsana New" panose="02020603050405020304" pitchFamily="18" charset="-34"/>
            </a:endParaRPr>
          </a:p>
        </p:txBody>
      </p:sp>
      <p:sp>
        <p:nvSpPr>
          <p:cNvPr id="157699" name="Rectangle 2"/>
          <p:cNvSpPr>
            <a:spLocks noGrp="1" noRot="1" noChangeAspect="1" noChangeArrowheads="1" noTextEdit="1"/>
          </p:cNvSpPr>
          <p:nvPr>
            <p:ph type="sldImg"/>
          </p:nvPr>
        </p:nvSpPr>
        <p:spPr bwMode="auto">
          <a:xfrm>
            <a:off x="1143000" y="685800"/>
            <a:ext cx="4573588" cy="34305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770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sv-SE" altLang="en-US" smtClean="0">
              <a:latin typeface="Arial" panose="020B0604020202020204" pitchFamily="34" charset="0"/>
            </a:endParaRPr>
          </a:p>
        </p:txBody>
      </p:sp>
    </p:spTree>
    <p:extLst>
      <p:ext uri="{BB962C8B-B14F-4D97-AF65-F5344CB8AC3E}">
        <p14:creationId xmlns:p14="http://schemas.microsoft.com/office/powerpoint/2010/main" val="258019973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fontAlgn="base">
              <a:spcBef>
                <a:spcPct val="0"/>
              </a:spcBef>
              <a:spcAft>
                <a:spcPct val="0"/>
              </a:spcAft>
            </a:pPr>
            <a:fld id="{344EAAE9-2344-4338-AE9C-9AFF39A2ADDD}" type="slidenum">
              <a:rPr lang="en-US" altLang="en-US" smtClean="0">
                <a:latin typeface="Arial" panose="020B0604020202020204" pitchFamily="34" charset="0"/>
                <a:cs typeface="Angsana New" panose="02020603050405020304" pitchFamily="18" charset="-34"/>
              </a:rPr>
              <a:pPr fontAlgn="base">
                <a:spcBef>
                  <a:spcPct val="0"/>
                </a:spcBef>
                <a:spcAft>
                  <a:spcPct val="0"/>
                </a:spcAft>
              </a:pPr>
              <a:t>83</a:t>
            </a:fld>
            <a:endParaRPr lang="th-TH" altLang="en-US" smtClean="0">
              <a:latin typeface="Arial" panose="020B0604020202020204" pitchFamily="34" charset="0"/>
              <a:cs typeface="Angsana New" panose="02020603050405020304" pitchFamily="18" charset="-34"/>
            </a:endParaRPr>
          </a:p>
        </p:txBody>
      </p:sp>
      <p:sp>
        <p:nvSpPr>
          <p:cNvPr id="15974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9748" name="Rectangle 3"/>
          <p:cNvSpPr>
            <a:spLocks noGrp="1" noChangeArrowheads="1"/>
          </p:cNvSpPr>
          <p:nvPr>
            <p:ph type="body" idx="1"/>
          </p:nvPr>
        </p:nvSpPr>
        <p:spPr bwMode="auto">
          <a:xfrm>
            <a:off x="685800" y="4341813"/>
            <a:ext cx="5486400" cy="41163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sv-SE" altLang="en-US" smtClean="0">
              <a:latin typeface="Arial" panose="020B0604020202020204" pitchFamily="34" charset="0"/>
            </a:endParaRPr>
          </a:p>
        </p:txBody>
      </p:sp>
    </p:spTree>
    <p:extLst>
      <p:ext uri="{BB962C8B-B14F-4D97-AF65-F5344CB8AC3E}">
        <p14:creationId xmlns:p14="http://schemas.microsoft.com/office/powerpoint/2010/main" val="217348681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fontAlgn="base">
              <a:spcBef>
                <a:spcPct val="0"/>
              </a:spcBef>
              <a:spcAft>
                <a:spcPct val="0"/>
              </a:spcAft>
            </a:pPr>
            <a:fld id="{1F073A2E-8223-4C4E-93EF-C9762AB284AE}" type="slidenum">
              <a:rPr lang="en-US" altLang="en-US" smtClean="0">
                <a:latin typeface="Arial" panose="020B0604020202020204" pitchFamily="34" charset="0"/>
                <a:cs typeface="Angsana New" panose="02020603050405020304" pitchFamily="18" charset="-34"/>
              </a:rPr>
              <a:pPr fontAlgn="base">
                <a:spcBef>
                  <a:spcPct val="0"/>
                </a:spcBef>
                <a:spcAft>
                  <a:spcPct val="0"/>
                </a:spcAft>
              </a:pPr>
              <a:t>84</a:t>
            </a:fld>
            <a:endParaRPr lang="th-TH" altLang="en-US" smtClean="0">
              <a:latin typeface="Arial" panose="020B0604020202020204" pitchFamily="34" charset="0"/>
              <a:cs typeface="Angsana New" panose="02020603050405020304" pitchFamily="18" charset="-34"/>
            </a:endParaRPr>
          </a:p>
        </p:txBody>
      </p:sp>
      <p:sp>
        <p:nvSpPr>
          <p:cNvPr id="16179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1796" name="Rectangle 3"/>
          <p:cNvSpPr>
            <a:spLocks noGrp="1" noChangeArrowheads="1"/>
          </p:cNvSpPr>
          <p:nvPr>
            <p:ph type="body" idx="1"/>
          </p:nvPr>
        </p:nvSpPr>
        <p:spPr bwMode="auto">
          <a:xfrm>
            <a:off x="685800" y="4341813"/>
            <a:ext cx="5486400" cy="41163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sv-SE" altLang="en-US" smtClean="0">
              <a:latin typeface="Arial" panose="020B0604020202020204" pitchFamily="34" charset="0"/>
            </a:endParaRPr>
          </a:p>
        </p:txBody>
      </p:sp>
    </p:spTree>
    <p:extLst>
      <p:ext uri="{BB962C8B-B14F-4D97-AF65-F5344CB8AC3E}">
        <p14:creationId xmlns:p14="http://schemas.microsoft.com/office/powerpoint/2010/main" val="251785608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fontAlgn="base">
              <a:spcBef>
                <a:spcPct val="0"/>
              </a:spcBef>
              <a:spcAft>
                <a:spcPct val="0"/>
              </a:spcAft>
            </a:pPr>
            <a:fld id="{7BA7FA89-F3E2-4031-8E42-D79D61A08426}" type="slidenum">
              <a:rPr lang="en-US" altLang="en-US" smtClean="0">
                <a:latin typeface="Arial" panose="020B0604020202020204" pitchFamily="34" charset="0"/>
                <a:cs typeface="Angsana New" panose="02020603050405020304" pitchFamily="18" charset="-34"/>
              </a:rPr>
              <a:pPr fontAlgn="base">
                <a:spcBef>
                  <a:spcPct val="0"/>
                </a:spcBef>
                <a:spcAft>
                  <a:spcPct val="0"/>
                </a:spcAft>
              </a:pPr>
              <a:t>85</a:t>
            </a:fld>
            <a:endParaRPr lang="th-TH" altLang="en-US" smtClean="0">
              <a:latin typeface="Arial" panose="020B0604020202020204" pitchFamily="34" charset="0"/>
              <a:cs typeface="Angsana New" panose="02020603050405020304" pitchFamily="18" charset="-34"/>
            </a:endParaRPr>
          </a:p>
        </p:txBody>
      </p:sp>
      <p:sp>
        <p:nvSpPr>
          <p:cNvPr id="16384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4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sv-SE" altLang="en-US" smtClean="0">
              <a:latin typeface="Arial" panose="020B0604020202020204" pitchFamily="34" charset="0"/>
            </a:endParaRPr>
          </a:p>
        </p:txBody>
      </p:sp>
    </p:spTree>
    <p:extLst>
      <p:ext uri="{BB962C8B-B14F-4D97-AF65-F5344CB8AC3E}">
        <p14:creationId xmlns:p14="http://schemas.microsoft.com/office/powerpoint/2010/main" val="37890772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fontAlgn="base">
              <a:spcBef>
                <a:spcPct val="0"/>
              </a:spcBef>
              <a:spcAft>
                <a:spcPct val="0"/>
              </a:spcAft>
            </a:pPr>
            <a:fld id="{AA86A89E-EBE2-4235-B7DF-FB3FE40E99DB}" type="slidenum">
              <a:rPr lang="en-US" altLang="en-US" smtClean="0">
                <a:latin typeface="Arial" panose="020B0604020202020204" pitchFamily="34" charset="0"/>
                <a:cs typeface="Angsana New" panose="02020603050405020304" pitchFamily="18" charset="-34"/>
              </a:rPr>
              <a:pPr fontAlgn="base">
                <a:spcBef>
                  <a:spcPct val="0"/>
                </a:spcBef>
                <a:spcAft>
                  <a:spcPct val="0"/>
                </a:spcAft>
              </a:pPr>
              <a:t>86</a:t>
            </a:fld>
            <a:endParaRPr lang="th-TH" altLang="en-US" smtClean="0">
              <a:latin typeface="Arial" panose="020B0604020202020204" pitchFamily="34" charset="0"/>
              <a:cs typeface="Angsana New" panose="02020603050405020304" pitchFamily="18" charset="-34"/>
            </a:endParaRPr>
          </a:p>
        </p:txBody>
      </p:sp>
      <p:sp>
        <p:nvSpPr>
          <p:cNvPr id="16589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589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sv-SE" altLang="en-US" smtClean="0">
              <a:latin typeface="Arial" panose="020B0604020202020204" pitchFamily="34" charset="0"/>
            </a:endParaRPr>
          </a:p>
        </p:txBody>
      </p:sp>
    </p:spTree>
    <p:extLst>
      <p:ext uri="{BB962C8B-B14F-4D97-AF65-F5344CB8AC3E}">
        <p14:creationId xmlns:p14="http://schemas.microsoft.com/office/powerpoint/2010/main" val="406904681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fontAlgn="base">
              <a:spcBef>
                <a:spcPct val="0"/>
              </a:spcBef>
              <a:spcAft>
                <a:spcPct val="0"/>
              </a:spcAft>
            </a:pPr>
            <a:fld id="{CD22A026-F531-433E-AC7E-AAE0449BA1E7}" type="slidenum">
              <a:rPr lang="en-US" altLang="en-US" smtClean="0">
                <a:latin typeface="Arial" panose="020B0604020202020204" pitchFamily="34" charset="0"/>
                <a:cs typeface="Angsana New" panose="02020603050405020304" pitchFamily="18" charset="-34"/>
              </a:rPr>
              <a:pPr fontAlgn="base">
                <a:spcBef>
                  <a:spcPct val="0"/>
                </a:spcBef>
                <a:spcAft>
                  <a:spcPct val="0"/>
                </a:spcAft>
              </a:pPr>
              <a:t>87</a:t>
            </a:fld>
            <a:endParaRPr lang="th-TH" altLang="en-US" smtClean="0">
              <a:latin typeface="Arial" panose="020B0604020202020204" pitchFamily="34" charset="0"/>
              <a:cs typeface="Angsana New" panose="02020603050405020304" pitchFamily="18" charset="-34"/>
            </a:endParaRPr>
          </a:p>
        </p:txBody>
      </p:sp>
      <p:sp>
        <p:nvSpPr>
          <p:cNvPr id="16793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794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sv-SE" altLang="en-US" smtClean="0">
              <a:latin typeface="Arial" panose="020B0604020202020204" pitchFamily="34" charset="0"/>
            </a:endParaRPr>
          </a:p>
        </p:txBody>
      </p:sp>
    </p:spTree>
    <p:extLst>
      <p:ext uri="{BB962C8B-B14F-4D97-AF65-F5344CB8AC3E}">
        <p14:creationId xmlns:p14="http://schemas.microsoft.com/office/powerpoint/2010/main" val="229068385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fontAlgn="base">
              <a:spcBef>
                <a:spcPct val="0"/>
              </a:spcBef>
              <a:spcAft>
                <a:spcPct val="0"/>
              </a:spcAft>
            </a:pPr>
            <a:fld id="{1C9B6F3C-6BC6-4E59-AD99-E93D3C281ECB}" type="slidenum">
              <a:rPr lang="en-US" altLang="en-US" smtClean="0">
                <a:latin typeface="Arial" panose="020B0604020202020204" pitchFamily="34" charset="0"/>
                <a:cs typeface="Angsana New" panose="02020603050405020304" pitchFamily="18" charset="-34"/>
              </a:rPr>
              <a:pPr fontAlgn="base">
                <a:spcBef>
                  <a:spcPct val="0"/>
                </a:spcBef>
                <a:spcAft>
                  <a:spcPct val="0"/>
                </a:spcAft>
              </a:pPr>
              <a:t>88</a:t>
            </a:fld>
            <a:endParaRPr lang="th-TH" altLang="en-US" smtClean="0">
              <a:latin typeface="Arial" panose="020B0604020202020204" pitchFamily="34" charset="0"/>
              <a:cs typeface="Angsana New" panose="02020603050405020304" pitchFamily="18" charset="-34"/>
            </a:endParaRPr>
          </a:p>
        </p:txBody>
      </p:sp>
      <p:sp>
        <p:nvSpPr>
          <p:cNvPr id="16998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998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sv-SE" altLang="en-US" smtClean="0">
              <a:latin typeface="Arial" panose="020B0604020202020204" pitchFamily="34" charset="0"/>
            </a:endParaRPr>
          </a:p>
        </p:txBody>
      </p:sp>
    </p:spTree>
    <p:extLst>
      <p:ext uri="{BB962C8B-B14F-4D97-AF65-F5344CB8AC3E}">
        <p14:creationId xmlns:p14="http://schemas.microsoft.com/office/powerpoint/2010/main" val="390960781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fontAlgn="base">
              <a:spcBef>
                <a:spcPct val="0"/>
              </a:spcBef>
              <a:spcAft>
                <a:spcPct val="0"/>
              </a:spcAft>
            </a:pPr>
            <a:fld id="{9E20A02D-FC65-4D50-BF5E-649E22C53621}" type="slidenum">
              <a:rPr lang="en-US" altLang="en-US" smtClean="0">
                <a:latin typeface="Arial" panose="020B0604020202020204" pitchFamily="34" charset="0"/>
                <a:cs typeface="Angsana New" panose="02020603050405020304" pitchFamily="18" charset="-34"/>
              </a:rPr>
              <a:pPr fontAlgn="base">
                <a:spcBef>
                  <a:spcPct val="0"/>
                </a:spcBef>
                <a:spcAft>
                  <a:spcPct val="0"/>
                </a:spcAft>
              </a:pPr>
              <a:t>89</a:t>
            </a:fld>
            <a:endParaRPr lang="th-TH" altLang="en-US" smtClean="0">
              <a:latin typeface="Arial" panose="020B0604020202020204" pitchFamily="34" charset="0"/>
              <a:cs typeface="Angsana New" panose="02020603050405020304" pitchFamily="18" charset="-34"/>
            </a:endParaRPr>
          </a:p>
        </p:txBody>
      </p:sp>
      <p:sp>
        <p:nvSpPr>
          <p:cNvPr id="17203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2036" name="Rectangle 3"/>
          <p:cNvSpPr>
            <a:spLocks noGrp="1" noChangeArrowheads="1"/>
          </p:cNvSpPr>
          <p:nvPr>
            <p:ph type="body" idx="1"/>
          </p:nvPr>
        </p:nvSpPr>
        <p:spPr bwMode="auto">
          <a:xfrm>
            <a:off x="685800" y="4341813"/>
            <a:ext cx="5486400" cy="41163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sv-SE" altLang="en-US" smtClean="0">
              <a:latin typeface="Arial" panose="020B0604020202020204" pitchFamily="34" charset="0"/>
            </a:endParaRPr>
          </a:p>
        </p:txBody>
      </p:sp>
    </p:spTree>
    <p:extLst>
      <p:ext uri="{BB962C8B-B14F-4D97-AF65-F5344CB8AC3E}">
        <p14:creationId xmlns:p14="http://schemas.microsoft.com/office/powerpoint/2010/main" val="174719325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fontAlgn="base">
              <a:spcBef>
                <a:spcPct val="0"/>
              </a:spcBef>
              <a:spcAft>
                <a:spcPct val="0"/>
              </a:spcAft>
            </a:pPr>
            <a:fld id="{88BFAE52-F8AD-4ED1-9DCB-ED5A1D777606}" type="slidenum">
              <a:rPr lang="en-US" altLang="en-US" smtClean="0">
                <a:latin typeface="Arial" panose="020B0604020202020204" pitchFamily="34" charset="0"/>
                <a:cs typeface="Angsana New" panose="02020603050405020304" pitchFamily="18" charset="-34"/>
              </a:rPr>
              <a:pPr fontAlgn="base">
                <a:spcBef>
                  <a:spcPct val="0"/>
                </a:spcBef>
                <a:spcAft>
                  <a:spcPct val="0"/>
                </a:spcAft>
              </a:pPr>
              <a:t>90</a:t>
            </a:fld>
            <a:endParaRPr lang="th-TH" altLang="en-US" smtClean="0">
              <a:latin typeface="Arial" panose="020B0604020202020204" pitchFamily="34" charset="0"/>
              <a:cs typeface="Angsana New" panose="02020603050405020304" pitchFamily="18" charset="-34"/>
            </a:endParaRPr>
          </a:p>
        </p:txBody>
      </p:sp>
      <p:sp>
        <p:nvSpPr>
          <p:cNvPr id="17408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084" name="Rectangle 3"/>
          <p:cNvSpPr>
            <a:spLocks noGrp="1" noChangeArrowheads="1"/>
          </p:cNvSpPr>
          <p:nvPr>
            <p:ph type="body" idx="1"/>
          </p:nvPr>
        </p:nvSpPr>
        <p:spPr bwMode="auto">
          <a:xfrm>
            <a:off x="685800" y="4341813"/>
            <a:ext cx="5486400" cy="41163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sv-SE" altLang="en-US" smtClean="0">
              <a:latin typeface="Arial" panose="020B0604020202020204" pitchFamily="34" charset="0"/>
            </a:endParaRPr>
          </a:p>
        </p:txBody>
      </p:sp>
    </p:spTree>
    <p:extLst>
      <p:ext uri="{BB962C8B-B14F-4D97-AF65-F5344CB8AC3E}">
        <p14:creationId xmlns:p14="http://schemas.microsoft.com/office/powerpoint/2010/main" val="19970327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fontAlgn="base">
              <a:spcBef>
                <a:spcPct val="0"/>
              </a:spcBef>
              <a:spcAft>
                <a:spcPct val="0"/>
              </a:spcAft>
            </a:pPr>
            <a:fld id="{84D28A9F-11D8-4413-92B8-F1B821850540}" type="slidenum">
              <a:rPr lang="en-US" altLang="en-US" smtClean="0">
                <a:latin typeface="Arial" panose="020B0604020202020204" pitchFamily="34" charset="0"/>
                <a:cs typeface="Angsana New" panose="02020603050405020304" pitchFamily="18" charset="-34"/>
              </a:rPr>
              <a:pPr fontAlgn="base">
                <a:spcBef>
                  <a:spcPct val="0"/>
                </a:spcBef>
                <a:spcAft>
                  <a:spcPct val="0"/>
                </a:spcAft>
              </a:pPr>
              <a:t>91</a:t>
            </a:fld>
            <a:endParaRPr lang="th-TH" altLang="en-US" smtClean="0">
              <a:latin typeface="Arial" panose="020B0604020202020204" pitchFamily="34" charset="0"/>
              <a:cs typeface="Angsana New" panose="02020603050405020304" pitchFamily="18" charset="-34"/>
            </a:endParaRPr>
          </a:p>
        </p:txBody>
      </p:sp>
      <p:sp>
        <p:nvSpPr>
          <p:cNvPr id="17613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6132" name="Rectangle 3"/>
          <p:cNvSpPr>
            <a:spLocks noGrp="1" noChangeArrowheads="1"/>
          </p:cNvSpPr>
          <p:nvPr>
            <p:ph type="body" idx="1"/>
          </p:nvPr>
        </p:nvSpPr>
        <p:spPr bwMode="auto">
          <a:xfrm>
            <a:off x="685800" y="4341813"/>
            <a:ext cx="5486400" cy="41163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sv-SE" altLang="en-US" smtClean="0">
              <a:latin typeface="Arial" panose="020B0604020202020204" pitchFamily="34" charset="0"/>
            </a:endParaRPr>
          </a:p>
        </p:txBody>
      </p:sp>
    </p:spTree>
    <p:extLst>
      <p:ext uri="{BB962C8B-B14F-4D97-AF65-F5344CB8AC3E}">
        <p14:creationId xmlns:p14="http://schemas.microsoft.com/office/powerpoint/2010/main" val="272563279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fontAlgn="base">
              <a:spcBef>
                <a:spcPct val="0"/>
              </a:spcBef>
              <a:spcAft>
                <a:spcPct val="0"/>
              </a:spcAft>
            </a:pPr>
            <a:fld id="{60409863-571F-4178-95B9-94645CCB58B9}" type="slidenum">
              <a:rPr lang="en-US" altLang="en-US" smtClean="0">
                <a:latin typeface="Arial" panose="020B0604020202020204" pitchFamily="34" charset="0"/>
                <a:cs typeface="Angsana New" panose="02020603050405020304" pitchFamily="18" charset="-34"/>
              </a:rPr>
              <a:pPr fontAlgn="base">
                <a:spcBef>
                  <a:spcPct val="0"/>
                </a:spcBef>
                <a:spcAft>
                  <a:spcPct val="0"/>
                </a:spcAft>
              </a:pPr>
              <a:t>92</a:t>
            </a:fld>
            <a:endParaRPr lang="th-TH" altLang="en-US" smtClean="0">
              <a:latin typeface="Arial" panose="020B0604020202020204" pitchFamily="34" charset="0"/>
              <a:cs typeface="Angsana New" panose="02020603050405020304" pitchFamily="18" charset="-34"/>
            </a:endParaRPr>
          </a:p>
        </p:txBody>
      </p:sp>
      <p:sp>
        <p:nvSpPr>
          <p:cNvPr id="17817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8180" name="Rectangle 3"/>
          <p:cNvSpPr>
            <a:spLocks noGrp="1" noChangeArrowheads="1"/>
          </p:cNvSpPr>
          <p:nvPr>
            <p:ph type="body" idx="1"/>
          </p:nvPr>
        </p:nvSpPr>
        <p:spPr bwMode="auto">
          <a:xfrm>
            <a:off x="685800" y="4341813"/>
            <a:ext cx="5486400" cy="41163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sv-SE" altLang="en-US" smtClean="0">
              <a:latin typeface="Arial" panose="020B0604020202020204" pitchFamily="34" charset="0"/>
            </a:endParaRPr>
          </a:p>
        </p:txBody>
      </p:sp>
    </p:spTree>
    <p:extLst>
      <p:ext uri="{BB962C8B-B14F-4D97-AF65-F5344CB8AC3E}">
        <p14:creationId xmlns:p14="http://schemas.microsoft.com/office/powerpoint/2010/main" val="321459239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fontAlgn="base">
              <a:spcBef>
                <a:spcPct val="0"/>
              </a:spcBef>
              <a:spcAft>
                <a:spcPct val="0"/>
              </a:spcAft>
            </a:pPr>
            <a:fld id="{7BC7166E-CF1F-45E4-B8E5-8CA018E30444}" type="slidenum">
              <a:rPr lang="en-US" altLang="en-US" smtClean="0">
                <a:latin typeface="Arial" panose="020B0604020202020204" pitchFamily="34" charset="0"/>
                <a:cs typeface="Angsana New" panose="02020603050405020304" pitchFamily="18" charset="-34"/>
              </a:rPr>
              <a:pPr fontAlgn="base">
                <a:spcBef>
                  <a:spcPct val="0"/>
                </a:spcBef>
                <a:spcAft>
                  <a:spcPct val="0"/>
                </a:spcAft>
              </a:pPr>
              <a:t>93</a:t>
            </a:fld>
            <a:endParaRPr lang="th-TH" altLang="en-US" smtClean="0">
              <a:latin typeface="Arial" panose="020B0604020202020204" pitchFamily="34" charset="0"/>
              <a:cs typeface="Angsana New" panose="02020603050405020304" pitchFamily="18" charset="-34"/>
            </a:endParaRPr>
          </a:p>
        </p:txBody>
      </p:sp>
      <p:sp>
        <p:nvSpPr>
          <p:cNvPr id="18022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0228" name="Rectangle 3"/>
          <p:cNvSpPr>
            <a:spLocks noGrp="1" noChangeArrowheads="1"/>
          </p:cNvSpPr>
          <p:nvPr>
            <p:ph type="body" idx="1"/>
          </p:nvPr>
        </p:nvSpPr>
        <p:spPr bwMode="auto">
          <a:xfrm>
            <a:off x="685800" y="4341813"/>
            <a:ext cx="5486400" cy="41163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sv-SE" altLang="en-US" smtClean="0">
              <a:latin typeface="Arial" panose="020B0604020202020204" pitchFamily="34" charset="0"/>
            </a:endParaRPr>
          </a:p>
        </p:txBody>
      </p:sp>
    </p:spTree>
    <p:extLst>
      <p:ext uri="{BB962C8B-B14F-4D97-AF65-F5344CB8AC3E}">
        <p14:creationId xmlns:p14="http://schemas.microsoft.com/office/powerpoint/2010/main" val="305059383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fontAlgn="base">
              <a:spcBef>
                <a:spcPct val="0"/>
              </a:spcBef>
              <a:spcAft>
                <a:spcPct val="0"/>
              </a:spcAft>
            </a:pPr>
            <a:fld id="{01B94E47-0EF5-42E6-9ADE-C509952FA330}" type="slidenum">
              <a:rPr lang="en-US" altLang="en-US" smtClean="0">
                <a:latin typeface="Arial" panose="020B0604020202020204" pitchFamily="34" charset="0"/>
                <a:cs typeface="Angsana New" panose="02020603050405020304" pitchFamily="18" charset="-34"/>
              </a:rPr>
              <a:pPr fontAlgn="base">
                <a:spcBef>
                  <a:spcPct val="0"/>
                </a:spcBef>
                <a:spcAft>
                  <a:spcPct val="0"/>
                </a:spcAft>
              </a:pPr>
              <a:t>94</a:t>
            </a:fld>
            <a:endParaRPr lang="th-TH" altLang="en-US" smtClean="0">
              <a:latin typeface="Arial" panose="020B0604020202020204" pitchFamily="34" charset="0"/>
              <a:cs typeface="Angsana New" panose="02020603050405020304" pitchFamily="18" charset="-34"/>
            </a:endParaRPr>
          </a:p>
        </p:txBody>
      </p:sp>
      <p:sp>
        <p:nvSpPr>
          <p:cNvPr id="18227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2276" name="Rectangle 3"/>
          <p:cNvSpPr>
            <a:spLocks noGrp="1" noChangeArrowheads="1"/>
          </p:cNvSpPr>
          <p:nvPr>
            <p:ph type="body" idx="1"/>
          </p:nvPr>
        </p:nvSpPr>
        <p:spPr bwMode="auto">
          <a:xfrm>
            <a:off x="685800" y="4341813"/>
            <a:ext cx="5486400" cy="41163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sv-SE" altLang="en-US" smtClean="0">
              <a:latin typeface="Arial" panose="020B0604020202020204" pitchFamily="34" charset="0"/>
            </a:endParaRPr>
          </a:p>
        </p:txBody>
      </p:sp>
    </p:spTree>
    <p:extLst>
      <p:ext uri="{BB962C8B-B14F-4D97-AF65-F5344CB8AC3E}">
        <p14:creationId xmlns:p14="http://schemas.microsoft.com/office/powerpoint/2010/main" val="217863267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fontAlgn="base">
              <a:spcBef>
                <a:spcPct val="0"/>
              </a:spcBef>
              <a:spcAft>
                <a:spcPct val="0"/>
              </a:spcAft>
            </a:pPr>
            <a:fld id="{FB06FDB8-DE63-4DAC-A002-F2F3923071FD}" type="slidenum">
              <a:rPr lang="en-US" altLang="en-US" smtClean="0">
                <a:latin typeface="Arial" panose="020B0604020202020204" pitchFamily="34" charset="0"/>
                <a:cs typeface="Angsana New" panose="02020603050405020304" pitchFamily="18" charset="-34"/>
              </a:rPr>
              <a:pPr fontAlgn="base">
                <a:spcBef>
                  <a:spcPct val="0"/>
                </a:spcBef>
                <a:spcAft>
                  <a:spcPct val="0"/>
                </a:spcAft>
              </a:pPr>
              <a:t>95</a:t>
            </a:fld>
            <a:endParaRPr lang="th-TH" altLang="en-US" smtClean="0">
              <a:latin typeface="Arial" panose="020B0604020202020204" pitchFamily="34" charset="0"/>
              <a:cs typeface="Angsana New" panose="02020603050405020304" pitchFamily="18" charset="-34"/>
            </a:endParaRPr>
          </a:p>
        </p:txBody>
      </p:sp>
      <p:sp>
        <p:nvSpPr>
          <p:cNvPr id="18432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24" name="Rectangle 3"/>
          <p:cNvSpPr>
            <a:spLocks noGrp="1" noChangeArrowheads="1"/>
          </p:cNvSpPr>
          <p:nvPr>
            <p:ph type="body" idx="1"/>
          </p:nvPr>
        </p:nvSpPr>
        <p:spPr bwMode="auto">
          <a:xfrm>
            <a:off x="685800" y="4341813"/>
            <a:ext cx="5486400" cy="41163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sv-SE" altLang="en-US" smtClean="0">
              <a:latin typeface="Arial" panose="020B0604020202020204" pitchFamily="34" charset="0"/>
            </a:endParaRPr>
          </a:p>
        </p:txBody>
      </p:sp>
    </p:spTree>
    <p:extLst>
      <p:ext uri="{BB962C8B-B14F-4D97-AF65-F5344CB8AC3E}">
        <p14:creationId xmlns:p14="http://schemas.microsoft.com/office/powerpoint/2010/main" val="405837729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fontAlgn="base">
              <a:spcBef>
                <a:spcPct val="0"/>
              </a:spcBef>
              <a:spcAft>
                <a:spcPct val="0"/>
              </a:spcAft>
            </a:pPr>
            <a:fld id="{D625646C-0379-4E0B-97DA-4F9A63719291}" type="slidenum">
              <a:rPr lang="en-US" altLang="en-US" smtClean="0">
                <a:latin typeface="Arial" panose="020B0604020202020204" pitchFamily="34" charset="0"/>
                <a:cs typeface="Angsana New" panose="02020603050405020304" pitchFamily="18" charset="-34"/>
              </a:rPr>
              <a:pPr fontAlgn="base">
                <a:spcBef>
                  <a:spcPct val="0"/>
                </a:spcBef>
                <a:spcAft>
                  <a:spcPct val="0"/>
                </a:spcAft>
              </a:pPr>
              <a:t>96</a:t>
            </a:fld>
            <a:endParaRPr lang="th-TH" altLang="en-US" smtClean="0">
              <a:latin typeface="Arial" panose="020B0604020202020204" pitchFamily="34" charset="0"/>
              <a:cs typeface="Angsana New" panose="02020603050405020304" pitchFamily="18" charset="-34"/>
            </a:endParaRPr>
          </a:p>
        </p:txBody>
      </p:sp>
      <p:sp>
        <p:nvSpPr>
          <p:cNvPr id="18637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6372" name="Rectangle 3"/>
          <p:cNvSpPr>
            <a:spLocks noGrp="1" noChangeArrowheads="1"/>
          </p:cNvSpPr>
          <p:nvPr>
            <p:ph type="body" idx="1"/>
          </p:nvPr>
        </p:nvSpPr>
        <p:spPr bwMode="auto">
          <a:xfrm>
            <a:off x="685800" y="4341813"/>
            <a:ext cx="5486400" cy="41163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sv-SE" altLang="en-US" smtClean="0">
              <a:latin typeface="Arial" panose="020B0604020202020204" pitchFamily="34" charset="0"/>
            </a:endParaRPr>
          </a:p>
        </p:txBody>
      </p:sp>
    </p:spTree>
    <p:extLst>
      <p:ext uri="{BB962C8B-B14F-4D97-AF65-F5344CB8AC3E}">
        <p14:creationId xmlns:p14="http://schemas.microsoft.com/office/powerpoint/2010/main" val="302114031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fontAlgn="base">
              <a:spcBef>
                <a:spcPct val="0"/>
              </a:spcBef>
              <a:spcAft>
                <a:spcPct val="0"/>
              </a:spcAft>
            </a:pPr>
            <a:fld id="{20F43C48-1F15-414A-B583-C841B2BB71D9}" type="slidenum">
              <a:rPr lang="en-US" altLang="en-US" smtClean="0">
                <a:latin typeface="Arial" panose="020B0604020202020204" pitchFamily="34" charset="0"/>
                <a:cs typeface="Angsana New" panose="02020603050405020304" pitchFamily="18" charset="-34"/>
              </a:rPr>
              <a:pPr fontAlgn="base">
                <a:spcBef>
                  <a:spcPct val="0"/>
                </a:spcBef>
                <a:spcAft>
                  <a:spcPct val="0"/>
                </a:spcAft>
              </a:pPr>
              <a:t>97</a:t>
            </a:fld>
            <a:endParaRPr lang="th-TH" altLang="en-US" smtClean="0">
              <a:latin typeface="Arial" panose="020B0604020202020204" pitchFamily="34" charset="0"/>
              <a:cs typeface="Angsana New" panose="02020603050405020304" pitchFamily="18" charset="-34"/>
            </a:endParaRPr>
          </a:p>
        </p:txBody>
      </p:sp>
      <p:sp>
        <p:nvSpPr>
          <p:cNvPr id="18841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8420" name="Rectangle 3"/>
          <p:cNvSpPr>
            <a:spLocks noGrp="1" noChangeArrowheads="1"/>
          </p:cNvSpPr>
          <p:nvPr>
            <p:ph type="body" idx="1"/>
          </p:nvPr>
        </p:nvSpPr>
        <p:spPr bwMode="auto">
          <a:xfrm>
            <a:off x="685800" y="4341813"/>
            <a:ext cx="5486400" cy="41163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sv-SE" altLang="en-US" smtClean="0">
              <a:latin typeface="Arial" panose="020B0604020202020204" pitchFamily="34" charset="0"/>
            </a:endParaRPr>
          </a:p>
        </p:txBody>
      </p:sp>
    </p:spTree>
    <p:extLst>
      <p:ext uri="{BB962C8B-B14F-4D97-AF65-F5344CB8AC3E}">
        <p14:creationId xmlns:p14="http://schemas.microsoft.com/office/powerpoint/2010/main" val="249962856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fontAlgn="base">
              <a:spcBef>
                <a:spcPct val="0"/>
              </a:spcBef>
              <a:spcAft>
                <a:spcPct val="0"/>
              </a:spcAft>
            </a:pPr>
            <a:fld id="{7422DE48-0BB9-4BD2-83B0-FF0719282F8D}" type="slidenum">
              <a:rPr lang="en-US" altLang="en-US" smtClean="0">
                <a:latin typeface="Arial" panose="020B0604020202020204" pitchFamily="34" charset="0"/>
                <a:cs typeface="Angsana New" panose="02020603050405020304" pitchFamily="18" charset="-34"/>
              </a:rPr>
              <a:pPr fontAlgn="base">
                <a:spcBef>
                  <a:spcPct val="0"/>
                </a:spcBef>
                <a:spcAft>
                  <a:spcPct val="0"/>
                </a:spcAft>
              </a:pPr>
              <a:t>98</a:t>
            </a:fld>
            <a:endParaRPr lang="th-TH" altLang="en-US" smtClean="0">
              <a:latin typeface="Arial" panose="020B0604020202020204" pitchFamily="34" charset="0"/>
              <a:cs typeface="Angsana New" panose="02020603050405020304" pitchFamily="18" charset="-34"/>
            </a:endParaRPr>
          </a:p>
        </p:txBody>
      </p:sp>
      <p:sp>
        <p:nvSpPr>
          <p:cNvPr id="19046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0468" name="Rectangle 3"/>
          <p:cNvSpPr>
            <a:spLocks noGrp="1" noChangeArrowheads="1"/>
          </p:cNvSpPr>
          <p:nvPr>
            <p:ph type="body" idx="1"/>
          </p:nvPr>
        </p:nvSpPr>
        <p:spPr bwMode="auto">
          <a:xfrm>
            <a:off x="685800" y="4341813"/>
            <a:ext cx="5486400" cy="41163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sv-SE" altLang="en-US" smtClean="0">
              <a:latin typeface="Arial" panose="020B0604020202020204" pitchFamily="34" charset="0"/>
            </a:endParaRPr>
          </a:p>
        </p:txBody>
      </p:sp>
    </p:spTree>
    <p:extLst>
      <p:ext uri="{BB962C8B-B14F-4D97-AF65-F5344CB8AC3E}">
        <p14:creationId xmlns:p14="http://schemas.microsoft.com/office/powerpoint/2010/main" val="54515941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fontAlgn="base">
              <a:spcBef>
                <a:spcPct val="0"/>
              </a:spcBef>
              <a:spcAft>
                <a:spcPct val="0"/>
              </a:spcAft>
            </a:pPr>
            <a:fld id="{CCA16B94-2A96-401C-B431-E4861ABB8465}" type="slidenum">
              <a:rPr lang="en-US" altLang="en-US" smtClean="0">
                <a:latin typeface="Arial" panose="020B0604020202020204" pitchFamily="34" charset="0"/>
                <a:cs typeface="Angsana New" panose="02020603050405020304" pitchFamily="18" charset="-34"/>
              </a:rPr>
              <a:pPr fontAlgn="base">
                <a:spcBef>
                  <a:spcPct val="0"/>
                </a:spcBef>
                <a:spcAft>
                  <a:spcPct val="0"/>
                </a:spcAft>
              </a:pPr>
              <a:t>106</a:t>
            </a:fld>
            <a:endParaRPr lang="th-TH" altLang="en-US" smtClean="0">
              <a:latin typeface="Arial" panose="020B0604020202020204" pitchFamily="34" charset="0"/>
              <a:cs typeface="Angsana New" panose="02020603050405020304" pitchFamily="18" charset="-34"/>
            </a:endParaRPr>
          </a:p>
        </p:txBody>
      </p:sp>
      <p:sp>
        <p:nvSpPr>
          <p:cNvPr id="19968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9684" name="Rectangle 3"/>
          <p:cNvSpPr>
            <a:spLocks noGrp="1" noChangeArrowheads="1"/>
          </p:cNvSpPr>
          <p:nvPr>
            <p:ph type="body" idx="1"/>
          </p:nvPr>
        </p:nvSpPr>
        <p:spPr bwMode="auto">
          <a:xfrm>
            <a:off x="685800" y="4341813"/>
            <a:ext cx="5486400" cy="41163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latin typeface="Arial" panose="020B0604020202020204" pitchFamily="34" charset="0"/>
            </a:endParaRPr>
          </a:p>
          <a:p>
            <a:pPr eaLnBrk="1" hangingPunct="1"/>
            <a:endParaRPr lang="th-TH" altLang="en-US" smtClean="0">
              <a:latin typeface="Arial" panose="020B0604020202020204" pitchFamily="34" charset="0"/>
            </a:endParaRPr>
          </a:p>
        </p:txBody>
      </p:sp>
    </p:spTree>
    <p:extLst>
      <p:ext uri="{BB962C8B-B14F-4D97-AF65-F5344CB8AC3E}">
        <p14:creationId xmlns:p14="http://schemas.microsoft.com/office/powerpoint/2010/main" val="11715317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17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4" name="Slide Number Placeholder 3"/>
          <p:cNvSpPr>
            <a:spLocks noGrp="1"/>
          </p:cNvSpPr>
          <p:nvPr>
            <p:ph type="sldNum" sz="quarter" idx="5"/>
          </p:nvPr>
        </p:nvSpPr>
        <p:spPr/>
        <p:txBody>
          <a:bodyPr/>
          <a:lstStyle/>
          <a:p>
            <a:pPr>
              <a:defRPr/>
            </a:pPr>
            <a:fld id="{5F227AF5-E65E-4D91-B85F-255E58A3ECCC}" type="slidenum">
              <a:rPr lang="en-US" smtClean="0"/>
              <a:pPr>
                <a:defRPr/>
              </a:pPr>
              <a:t>107</a:t>
            </a:fld>
            <a:endParaRPr lang="en-US"/>
          </a:p>
        </p:txBody>
      </p:sp>
    </p:spTree>
    <p:extLst>
      <p:ext uri="{BB962C8B-B14F-4D97-AF65-F5344CB8AC3E}">
        <p14:creationId xmlns:p14="http://schemas.microsoft.com/office/powerpoint/2010/main" val="21918538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377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4" name="Slide Number Placeholder 3"/>
          <p:cNvSpPr>
            <a:spLocks noGrp="1"/>
          </p:cNvSpPr>
          <p:nvPr>
            <p:ph type="sldNum" sz="quarter" idx="5"/>
          </p:nvPr>
        </p:nvSpPr>
        <p:spPr/>
        <p:txBody>
          <a:bodyPr/>
          <a:lstStyle/>
          <a:p>
            <a:pPr>
              <a:defRPr/>
            </a:pPr>
            <a:fld id="{98841734-75C2-4F55-93B5-764BB24F2994}" type="slidenum">
              <a:rPr lang="en-US" smtClean="0"/>
              <a:pPr>
                <a:defRPr/>
              </a:pPr>
              <a:t>108</a:t>
            </a:fld>
            <a:endParaRPr lang="en-US"/>
          </a:p>
        </p:txBody>
      </p:sp>
    </p:spTree>
    <p:extLst>
      <p:ext uri="{BB962C8B-B14F-4D97-AF65-F5344CB8AC3E}">
        <p14:creationId xmlns:p14="http://schemas.microsoft.com/office/powerpoint/2010/main" val="313107293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58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4" name="Slide Number Placeholder 3"/>
          <p:cNvSpPr>
            <a:spLocks noGrp="1"/>
          </p:cNvSpPr>
          <p:nvPr>
            <p:ph type="sldNum" sz="quarter" idx="5"/>
          </p:nvPr>
        </p:nvSpPr>
        <p:spPr/>
        <p:txBody>
          <a:bodyPr/>
          <a:lstStyle/>
          <a:p>
            <a:pPr>
              <a:defRPr/>
            </a:pPr>
            <a:fld id="{C62A1B1E-889A-4358-A8CA-0BF423102100}" type="slidenum">
              <a:rPr lang="en-US" smtClean="0"/>
              <a:pPr>
                <a:defRPr/>
              </a:pPr>
              <a:t>109</a:t>
            </a:fld>
            <a:endParaRPr lang="en-US"/>
          </a:p>
        </p:txBody>
      </p:sp>
    </p:spTree>
    <p:extLst>
      <p:ext uri="{BB962C8B-B14F-4D97-AF65-F5344CB8AC3E}">
        <p14:creationId xmlns:p14="http://schemas.microsoft.com/office/powerpoint/2010/main" val="185634369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787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4" name="Slide Number Placeholder 3"/>
          <p:cNvSpPr>
            <a:spLocks noGrp="1"/>
          </p:cNvSpPr>
          <p:nvPr>
            <p:ph type="sldNum" sz="quarter" idx="5"/>
          </p:nvPr>
        </p:nvSpPr>
        <p:spPr/>
        <p:txBody>
          <a:bodyPr/>
          <a:lstStyle/>
          <a:p>
            <a:pPr>
              <a:defRPr/>
            </a:pPr>
            <a:fld id="{DDBB864A-DF11-4425-8AD3-F00DBF98F4AE}" type="slidenum">
              <a:rPr lang="en-US" smtClean="0"/>
              <a:pPr>
                <a:defRPr/>
              </a:pPr>
              <a:t>110</a:t>
            </a:fld>
            <a:endParaRPr lang="en-US"/>
          </a:p>
        </p:txBody>
      </p:sp>
    </p:spTree>
    <p:extLst>
      <p:ext uri="{BB962C8B-B14F-4D97-AF65-F5344CB8AC3E}">
        <p14:creationId xmlns:p14="http://schemas.microsoft.com/office/powerpoint/2010/main" val="380595437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99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4" name="Slide Number Placeholder 3"/>
          <p:cNvSpPr>
            <a:spLocks noGrp="1"/>
          </p:cNvSpPr>
          <p:nvPr>
            <p:ph type="sldNum" sz="quarter" idx="5"/>
          </p:nvPr>
        </p:nvSpPr>
        <p:spPr/>
        <p:txBody>
          <a:bodyPr/>
          <a:lstStyle/>
          <a:p>
            <a:pPr>
              <a:defRPr/>
            </a:pPr>
            <a:fld id="{0AA40E8E-08BD-4F90-8D22-29CD15E1DA1C}" type="slidenum">
              <a:rPr lang="en-US" smtClean="0"/>
              <a:pPr>
                <a:defRPr/>
              </a:pPr>
              <a:t>111</a:t>
            </a:fld>
            <a:endParaRPr lang="en-US"/>
          </a:p>
        </p:txBody>
      </p:sp>
    </p:spTree>
    <p:extLst>
      <p:ext uri="{BB962C8B-B14F-4D97-AF65-F5344CB8AC3E}">
        <p14:creationId xmlns:p14="http://schemas.microsoft.com/office/powerpoint/2010/main" val="178162778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19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4" name="Slide Number Placeholder 3"/>
          <p:cNvSpPr>
            <a:spLocks noGrp="1"/>
          </p:cNvSpPr>
          <p:nvPr>
            <p:ph type="sldNum" sz="quarter" idx="5"/>
          </p:nvPr>
        </p:nvSpPr>
        <p:spPr/>
        <p:txBody>
          <a:bodyPr/>
          <a:lstStyle/>
          <a:p>
            <a:pPr>
              <a:defRPr/>
            </a:pPr>
            <a:fld id="{A20723B4-CD50-4203-94EA-C98202D7DD4E}" type="slidenum">
              <a:rPr lang="en-US" smtClean="0"/>
              <a:pPr>
                <a:defRPr/>
              </a:pPr>
              <a:t>112</a:t>
            </a:fld>
            <a:endParaRPr lang="en-US"/>
          </a:p>
        </p:txBody>
      </p:sp>
    </p:spTree>
    <p:extLst>
      <p:ext uri="{BB962C8B-B14F-4D97-AF65-F5344CB8AC3E}">
        <p14:creationId xmlns:p14="http://schemas.microsoft.com/office/powerpoint/2010/main" val="329192553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40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4" name="Slide Number Placeholder 3"/>
          <p:cNvSpPr>
            <a:spLocks noGrp="1"/>
          </p:cNvSpPr>
          <p:nvPr>
            <p:ph type="sldNum" sz="quarter" idx="5"/>
          </p:nvPr>
        </p:nvSpPr>
        <p:spPr/>
        <p:txBody>
          <a:bodyPr/>
          <a:lstStyle/>
          <a:p>
            <a:pPr>
              <a:defRPr/>
            </a:pPr>
            <a:fld id="{2A4FBF51-2231-45A6-8336-87B4EB18A109}" type="slidenum">
              <a:rPr lang="en-US" smtClean="0"/>
              <a:pPr>
                <a:defRPr/>
              </a:pPr>
              <a:t>113</a:t>
            </a:fld>
            <a:endParaRPr lang="en-US"/>
          </a:p>
        </p:txBody>
      </p:sp>
    </p:spTree>
    <p:extLst>
      <p:ext uri="{BB962C8B-B14F-4D97-AF65-F5344CB8AC3E}">
        <p14:creationId xmlns:p14="http://schemas.microsoft.com/office/powerpoint/2010/main" val="305165147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60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4" name="Slide Number Placeholder 3"/>
          <p:cNvSpPr>
            <a:spLocks noGrp="1"/>
          </p:cNvSpPr>
          <p:nvPr>
            <p:ph type="sldNum" sz="quarter" idx="5"/>
          </p:nvPr>
        </p:nvSpPr>
        <p:spPr/>
        <p:txBody>
          <a:bodyPr/>
          <a:lstStyle/>
          <a:p>
            <a:pPr>
              <a:defRPr/>
            </a:pPr>
            <a:fld id="{BFF86F66-5666-4C96-964A-C6A1C5D300BC}" type="slidenum">
              <a:rPr lang="en-US" smtClean="0"/>
              <a:pPr>
                <a:defRPr/>
              </a:pPr>
              <a:t>114</a:t>
            </a:fld>
            <a:endParaRPr lang="en-US"/>
          </a:p>
        </p:txBody>
      </p:sp>
    </p:spTree>
    <p:extLst>
      <p:ext uri="{BB962C8B-B14F-4D97-AF65-F5344CB8AC3E}">
        <p14:creationId xmlns:p14="http://schemas.microsoft.com/office/powerpoint/2010/main" val="1276418504"/>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81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4" name="Slide Number Placeholder 3"/>
          <p:cNvSpPr>
            <a:spLocks noGrp="1"/>
          </p:cNvSpPr>
          <p:nvPr>
            <p:ph type="sldNum" sz="quarter" idx="5"/>
          </p:nvPr>
        </p:nvSpPr>
        <p:spPr/>
        <p:txBody>
          <a:bodyPr/>
          <a:lstStyle/>
          <a:p>
            <a:pPr>
              <a:defRPr/>
            </a:pPr>
            <a:fld id="{38D01D2F-9A0A-4FD5-B4FC-2163DB95DDCE}" type="slidenum">
              <a:rPr lang="en-US" smtClean="0"/>
              <a:pPr>
                <a:defRPr/>
              </a:pPr>
              <a:t>115</a:t>
            </a:fld>
            <a:endParaRPr lang="en-US"/>
          </a:p>
        </p:txBody>
      </p:sp>
    </p:spTree>
    <p:extLst>
      <p:ext uri="{BB962C8B-B14F-4D97-AF65-F5344CB8AC3E}">
        <p14:creationId xmlns:p14="http://schemas.microsoft.com/office/powerpoint/2010/main" val="3208793953"/>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01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4" name="Slide Number Placeholder 3"/>
          <p:cNvSpPr>
            <a:spLocks noGrp="1"/>
          </p:cNvSpPr>
          <p:nvPr>
            <p:ph type="sldNum" sz="quarter" idx="5"/>
          </p:nvPr>
        </p:nvSpPr>
        <p:spPr/>
        <p:txBody>
          <a:bodyPr/>
          <a:lstStyle/>
          <a:p>
            <a:pPr>
              <a:defRPr/>
            </a:pPr>
            <a:fld id="{0A50DDD4-32B0-4EC8-9755-95D13EFC17D1}" type="slidenum">
              <a:rPr lang="en-US" smtClean="0"/>
              <a:pPr>
                <a:defRPr/>
              </a:pPr>
              <a:t>116</a:t>
            </a:fld>
            <a:endParaRPr lang="en-US"/>
          </a:p>
        </p:txBody>
      </p:sp>
    </p:spTree>
    <p:extLst>
      <p:ext uri="{BB962C8B-B14F-4D97-AF65-F5344CB8AC3E}">
        <p14:creationId xmlns:p14="http://schemas.microsoft.com/office/powerpoint/2010/main" val="2228106485"/>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22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4" name="Slide Number Placeholder 3"/>
          <p:cNvSpPr>
            <a:spLocks noGrp="1"/>
          </p:cNvSpPr>
          <p:nvPr>
            <p:ph type="sldNum" sz="quarter" idx="5"/>
          </p:nvPr>
        </p:nvSpPr>
        <p:spPr/>
        <p:txBody>
          <a:bodyPr/>
          <a:lstStyle/>
          <a:p>
            <a:pPr>
              <a:defRPr/>
            </a:pPr>
            <a:fld id="{07F1F859-27AF-492F-A55A-1F4E51A5FD6A}" type="slidenum">
              <a:rPr lang="en-US" smtClean="0"/>
              <a:pPr>
                <a:defRPr/>
              </a:pPr>
              <a:t>117</a:t>
            </a:fld>
            <a:endParaRPr lang="en-US"/>
          </a:p>
        </p:txBody>
      </p:sp>
    </p:spTree>
    <p:extLst>
      <p:ext uri="{BB962C8B-B14F-4D97-AF65-F5344CB8AC3E}">
        <p14:creationId xmlns:p14="http://schemas.microsoft.com/office/powerpoint/2010/main" val="248692406"/>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42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4" name="Slide Number Placeholder 3"/>
          <p:cNvSpPr>
            <a:spLocks noGrp="1"/>
          </p:cNvSpPr>
          <p:nvPr>
            <p:ph type="sldNum" sz="quarter" idx="5"/>
          </p:nvPr>
        </p:nvSpPr>
        <p:spPr/>
        <p:txBody>
          <a:bodyPr/>
          <a:lstStyle/>
          <a:p>
            <a:pPr>
              <a:defRPr/>
            </a:pPr>
            <a:fld id="{02422A35-4B60-445B-9C66-91A0172BF93C}" type="slidenum">
              <a:rPr lang="en-US" smtClean="0"/>
              <a:pPr>
                <a:defRPr/>
              </a:pPr>
              <a:t>118</a:t>
            </a:fld>
            <a:endParaRPr lang="en-US"/>
          </a:p>
        </p:txBody>
      </p:sp>
    </p:spTree>
    <p:extLst>
      <p:ext uri="{BB962C8B-B14F-4D97-AF65-F5344CB8AC3E}">
        <p14:creationId xmlns:p14="http://schemas.microsoft.com/office/powerpoint/2010/main" val="861444836"/>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63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4" name="Slide Number Placeholder 3"/>
          <p:cNvSpPr>
            <a:spLocks noGrp="1"/>
          </p:cNvSpPr>
          <p:nvPr>
            <p:ph type="sldNum" sz="quarter" idx="5"/>
          </p:nvPr>
        </p:nvSpPr>
        <p:spPr/>
        <p:txBody>
          <a:bodyPr/>
          <a:lstStyle/>
          <a:p>
            <a:pPr>
              <a:defRPr/>
            </a:pPr>
            <a:fld id="{2E32679D-EED3-4DDF-8AAB-239CA66E0321}" type="slidenum">
              <a:rPr lang="en-US" smtClean="0"/>
              <a:pPr>
                <a:defRPr/>
              </a:pPr>
              <a:t>119</a:t>
            </a:fld>
            <a:endParaRPr lang="en-US"/>
          </a:p>
        </p:txBody>
      </p:sp>
    </p:spTree>
    <p:extLst>
      <p:ext uri="{BB962C8B-B14F-4D97-AF65-F5344CB8AC3E}">
        <p14:creationId xmlns:p14="http://schemas.microsoft.com/office/powerpoint/2010/main" val="277998397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83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4" name="Slide Number Placeholder 3"/>
          <p:cNvSpPr>
            <a:spLocks noGrp="1"/>
          </p:cNvSpPr>
          <p:nvPr>
            <p:ph type="sldNum" sz="quarter" idx="5"/>
          </p:nvPr>
        </p:nvSpPr>
        <p:spPr/>
        <p:txBody>
          <a:bodyPr/>
          <a:lstStyle/>
          <a:p>
            <a:pPr>
              <a:defRPr/>
            </a:pPr>
            <a:fld id="{B3000F21-D1D9-4EB6-AC23-4012588E1F60}" type="slidenum">
              <a:rPr lang="en-US" smtClean="0"/>
              <a:pPr>
                <a:defRPr/>
              </a:pPr>
              <a:t>120</a:t>
            </a:fld>
            <a:endParaRPr lang="en-US"/>
          </a:p>
        </p:txBody>
      </p:sp>
    </p:spTree>
    <p:extLst>
      <p:ext uri="{BB962C8B-B14F-4D97-AF65-F5344CB8AC3E}">
        <p14:creationId xmlns:p14="http://schemas.microsoft.com/office/powerpoint/2010/main" val="1342419257"/>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04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4" name="Slide Number Placeholder 3"/>
          <p:cNvSpPr>
            <a:spLocks noGrp="1"/>
          </p:cNvSpPr>
          <p:nvPr>
            <p:ph type="sldNum" sz="quarter" idx="5"/>
          </p:nvPr>
        </p:nvSpPr>
        <p:spPr/>
        <p:txBody>
          <a:bodyPr/>
          <a:lstStyle/>
          <a:p>
            <a:pPr>
              <a:defRPr/>
            </a:pPr>
            <a:fld id="{648EA4D3-BE50-46F4-AEBD-2DB839F6089D}" type="slidenum">
              <a:rPr lang="en-US" smtClean="0"/>
              <a:pPr>
                <a:defRPr/>
              </a:pPr>
              <a:t>121</a:t>
            </a:fld>
            <a:endParaRPr lang="en-US"/>
          </a:p>
        </p:txBody>
      </p:sp>
    </p:spTree>
    <p:extLst>
      <p:ext uri="{BB962C8B-B14F-4D97-AF65-F5344CB8AC3E}">
        <p14:creationId xmlns:p14="http://schemas.microsoft.com/office/powerpoint/2010/main" val="477963877"/>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24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4" name="Slide Number Placeholder 3"/>
          <p:cNvSpPr>
            <a:spLocks noGrp="1"/>
          </p:cNvSpPr>
          <p:nvPr>
            <p:ph type="sldNum" sz="quarter" idx="5"/>
          </p:nvPr>
        </p:nvSpPr>
        <p:spPr/>
        <p:txBody>
          <a:bodyPr/>
          <a:lstStyle/>
          <a:p>
            <a:pPr>
              <a:defRPr/>
            </a:pPr>
            <a:fld id="{07AF9D9F-806A-44E9-B3C3-396B92AA613F}" type="slidenum">
              <a:rPr lang="en-US" smtClean="0"/>
              <a:pPr>
                <a:defRPr/>
              </a:pPr>
              <a:t>122</a:t>
            </a:fld>
            <a:endParaRPr lang="en-US"/>
          </a:p>
        </p:txBody>
      </p:sp>
    </p:spTree>
    <p:extLst>
      <p:ext uri="{BB962C8B-B14F-4D97-AF65-F5344CB8AC3E}">
        <p14:creationId xmlns:p14="http://schemas.microsoft.com/office/powerpoint/2010/main" val="420861877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44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4" name="Slide Number Placeholder 3"/>
          <p:cNvSpPr>
            <a:spLocks noGrp="1"/>
          </p:cNvSpPr>
          <p:nvPr>
            <p:ph type="sldNum" sz="quarter" idx="5"/>
          </p:nvPr>
        </p:nvSpPr>
        <p:spPr/>
        <p:txBody>
          <a:bodyPr/>
          <a:lstStyle/>
          <a:p>
            <a:pPr>
              <a:defRPr/>
            </a:pPr>
            <a:fld id="{F28310D2-40C4-43D5-9CF1-24F414E56475}" type="slidenum">
              <a:rPr lang="en-US" smtClean="0"/>
              <a:pPr>
                <a:defRPr/>
              </a:pPr>
              <a:t>123</a:t>
            </a:fld>
            <a:endParaRPr lang="en-US"/>
          </a:p>
        </p:txBody>
      </p:sp>
    </p:spTree>
    <p:extLst>
      <p:ext uri="{BB962C8B-B14F-4D97-AF65-F5344CB8AC3E}">
        <p14:creationId xmlns:p14="http://schemas.microsoft.com/office/powerpoint/2010/main" val="1146363316"/>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fontAlgn="base">
              <a:spcBef>
                <a:spcPct val="0"/>
              </a:spcBef>
              <a:spcAft>
                <a:spcPct val="0"/>
              </a:spcAft>
            </a:pPr>
            <a:fld id="{A6CDE685-E8AD-4D95-AE0B-3DF11A641F1B}" type="slidenum">
              <a:rPr lang="en-US" altLang="en-US" smtClean="0">
                <a:latin typeface="Arial" panose="020B0604020202020204" pitchFamily="34" charset="0"/>
                <a:cs typeface="Angsana New" panose="02020603050405020304" pitchFamily="18" charset="-34"/>
              </a:rPr>
              <a:pPr fontAlgn="base">
                <a:spcBef>
                  <a:spcPct val="0"/>
                </a:spcBef>
                <a:spcAft>
                  <a:spcPct val="0"/>
                </a:spcAft>
              </a:pPr>
              <a:t>124</a:t>
            </a:fld>
            <a:endParaRPr lang="th-TH" altLang="en-US" smtClean="0">
              <a:latin typeface="Arial" panose="020B0604020202020204" pitchFamily="34" charset="0"/>
              <a:cs typeface="Angsana New" panose="02020603050405020304" pitchFamily="18" charset="-34"/>
            </a:endParaRPr>
          </a:p>
        </p:txBody>
      </p:sp>
      <p:sp>
        <p:nvSpPr>
          <p:cNvPr id="23654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6548" name="Rectangle 3"/>
          <p:cNvSpPr>
            <a:spLocks noGrp="1" noChangeArrowheads="1"/>
          </p:cNvSpPr>
          <p:nvPr>
            <p:ph type="body" idx="1"/>
          </p:nvPr>
        </p:nvSpPr>
        <p:spPr bwMode="auto">
          <a:xfrm>
            <a:off x="685800" y="4341813"/>
            <a:ext cx="5486400" cy="41163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latin typeface="Arial" panose="020B0604020202020204" pitchFamily="34" charset="0"/>
            </a:endParaRPr>
          </a:p>
          <a:p>
            <a:pPr eaLnBrk="1" hangingPunct="1"/>
            <a:endParaRPr lang="th-TH" altLang="en-US" smtClean="0">
              <a:latin typeface="Arial" panose="020B0604020202020204" pitchFamily="34" charset="0"/>
            </a:endParaRPr>
          </a:p>
        </p:txBody>
      </p:sp>
    </p:spTree>
    <p:extLst>
      <p:ext uri="{BB962C8B-B14F-4D97-AF65-F5344CB8AC3E}">
        <p14:creationId xmlns:p14="http://schemas.microsoft.com/office/powerpoint/2010/main" val="302503191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85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4" name="Slide Number Placeholder 3"/>
          <p:cNvSpPr>
            <a:spLocks noGrp="1"/>
          </p:cNvSpPr>
          <p:nvPr>
            <p:ph type="sldNum" sz="quarter" idx="5"/>
          </p:nvPr>
        </p:nvSpPr>
        <p:spPr/>
        <p:txBody>
          <a:bodyPr/>
          <a:lstStyle/>
          <a:p>
            <a:pPr>
              <a:defRPr/>
            </a:pPr>
            <a:fld id="{28A70CCB-E6A3-4D9F-8EB2-418326FC300E}" type="slidenum">
              <a:rPr lang="en-US" smtClean="0"/>
              <a:pPr>
                <a:defRPr/>
              </a:pPr>
              <a:t>125</a:t>
            </a:fld>
            <a:endParaRPr lang="en-US"/>
          </a:p>
        </p:txBody>
      </p:sp>
    </p:spTree>
    <p:extLst>
      <p:ext uri="{BB962C8B-B14F-4D97-AF65-F5344CB8AC3E}">
        <p14:creationId xmlns:p14="http://schemas.microsoft.com/office/powerpoint/2010/main" val="2306204162"/>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06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4" name="Slide Number Placeholder 3"/>
          <p:cNvSpPr>
            <a:spLocks noGrp="1"/>
          </p:cNvSpPr>
          <p:nvPr>
            <p:ph type="sldNum" sz="quarter" idx="5"/>
          </p:nvPr>
        </p:nvSpPr>
        <p:spPr/>
        <p:txBody>
          <a:bodyPr/>
          <a:lstStyle/>
          <a:p>
            <a:pPr>
              <a:defRPr/>
            </a:pPr>
            <a:fld id="{1B0B2F88-75E2-4EAB-BED3-24F559CF1676}" type="slidenum">
              <a:rPr lang="en-US" smtClean="0"/>
              <a:pPr>
                <a:defRPr/>
              </a:pPr>
              <a:t>126</a:t>
            </a:fld>
            <a:endParaRPr lang="en-US"/>
          </a:p>
        </p:txBody>
      </p:sp>
    </p:spTree>
    <p:extLst>
      <p:ext uri="{BB962C8B-B14F-4D97-AF65-F5344CB8AC3E}">
        <p14:creationId xmlns:p14="http://schemas.microsoft.com/office/powerpoint/2010/main" val="18279820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defTabSz="457200" eaLnBrk="1" fontAlgn="auto" hangingPunct="1">
              <a:spcBef>
                <a:spcPts val="0"/>
              </a:spcBef>
              <a:spcAft>
                <a:spcPts val="0"/>
              </a:spcAft>
              <a:defRPr>
                <a:solidFill>
                  <a:prstClr val="black"/>
                </a:solidFill>
                <a:latin typeface="+mn-lt"/>
              </a:defRPr>
            </a:lvl1pPr>
          </a:lstStyle>
          <a:p>
            <a:pPr>
              <a:defRPr/>
            </a:pPr>
            <a:fld id="{933DCF87-12AF-44CB-BAE7-C87B4360A6FF}" type="datetimeFigureOut">
              <a:rPr lang="en-US"/>
              <a:pPr>
                <a:defRPr/>
              </a:pPr>
              <a:t>6/7/2016</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defTabSz="457200" eaLnBrk="1" fontAlgn="auto" hangingPunct="1">
              <a:spcBef>
                <a:spcPts val="0"/>
              </a:spcBef>
              <a:spcAft>
                <a:spcPts val="0"/>
              </a:spcAft>
              <a:defRPr>
                <a:solidFill>
                  <a:prstClr val="black"/>
                </a:solidFill>
                <a:latin typeface="+mn-lt"/>
              </a:defRPr>
            </a:lvl1pPr>
          </a:lstStyle>
          <a:p>
            <a:pPr>
              <a:defRPr/>
            </a:pPr>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defTabSz="457200" eaLnBrk="1" fontAlgn="auto" hangingPunct="1">
              <a:spcBef>
                <a:spcPts val="0"/>
              </a:spcBef>
              <a:spcAft>
                <a:spcPts val="0"/>
              </a:spcAft>
              <a:defRPr>
                <a:solidFill>
                  <a:prstClr val="black"/>
                </a:solidFill>
                <a:latin typeface="+mn-lt"/>
              </a:defRPr>
            </a:lvl1pPr>
          </a:lstStyle>
          <a:p>
            <a:pPr>
              <a:defRPr/>
            </a:pPr>
            <a:fld id="{997C9871-8C8F-4D39-B020-8F7C694C89B2}" type="slidenum">
              <a:rPr lang="en-US"/>
              <a:pPr>
                <a:defRPr/>
              </a:pPr>
              <a:t>‹#›</a:t>
            </a:fld>
            <a:endParaRPr lang="en-US"/>
          </a:p>
        </p:txBody>
      </p:sp>
    </p:spTree>
    <p:extLst>
      <p:ext uri="{BB962C8B-B14F-4D97-AF65-F5344CB8AC3E}">
        <p14:creationId xmlns:p14="http://schemas.microsoft.com/office/powerpoint/2010/main" val="27436312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defTabSz="457200" eaLnBrk="1" fontAlgn="auto" hangingPunct="1">
              <a:spcBef>
                <a:spcPts val="0"/>
              </a:spcBef>
              <a:spcAft>
                <a:spcPts val="0"/>
              </a:spcAft>
              <a:defRPr>
                <a:solidFill>
                  <a:prstClr val="black"/>
                </a:solidFill>
                <a:latin typeface="+mn-lt"/>
              </a:defRPr>
            </a:lvl1pPr>
          </a:lstStyle>
          <a:p>
            <a:pPr>
              <a:defRPr/>
            </a:pPr>
            <a:fld id="{933DCF87-12AF-44CB-BAE7-C87B4360A6FF}" type="datetimeFigureOut">
              <a:rPr lang="en-US"/>
              <a:pPr>
                <a:defRPr/>
              </a:pPr>
              <a:t>6/7/2016</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defTabSz="457200" eaLnBrk="1" fontAlgn="auto" hangingPunct="1">
              <a:spcBef>
                <a:spcPts val="0"/>
              </a:spcBef>
              <a:spcAft>
                <a:spcPts val="0"/>
              </a:spcAft>
              <a:defRPr>
                <a:solidFill>
                  <a:prstClr val="black"/>
                </a:solidFill>
                <a:latin typeface="+mn-lt"/>
              </a:defRPr>
            </a:lvl1pPr>
          </a:lstStyle>
          <a:p>
            <a:pPr>
              <a:defRPr/>
            </a:pPr>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defTabSz="457200" eaLnBrk="1" fontAlgn="auto" hangingPunct="1">
              <a:spcBef>
                <a:spcPts val="0"/>
              </a:spcBef>
              <a:spcAft>
                <a:spcPts val="0"/>
              </a:spcAft>
              <a:defRPr>
                <a:solidFill>
                  <a:prstClr val="black"/>
                </a:solidFill>
                <a:latin typeface="+mn-lt"/>
              </a:defRPr>
            </a:lvl1pPr>
          </a:lstStyle>
          <a:p>
            <a:pPr>
              <a:defRPr/>
            </a:pPr>
            <a:fld id="{8B34E001-A7A2-42C7-B9D0-B33F87C89612}" type="slidenum">
              <a:rPr lang="en-US"/>
              <a:pPr>
                <a:defRPr/>
              </a:pPr>
              <a:t>‹#›</a:t>
            </a:fld>
            <a:endParaRPr lang="en-US"/>
          </a:p>
        </p:txBody>
      </p:sp>
    </p:spTree>
    <p:extLst>
      <p:ext uri="{BB962C8B-B14F-4D97-AF65-F5344CB8AC3E}">
        <p14:creationId xmlns:p14="http://schemas.microsoft.com/office/powerpoint/2010/main" val="37288458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defTabSz="457200" eaLnBrk="1" fontAlgn="auto" hangingPunct="1">
              <a:spcBef>
                <a:spcPts val="0"/>
              </a:spcBef>
              <a:spcAft>
                <a:spcPts val="0"/>
              </a:spcAft>
              <a:defRPr>
                <a:solidFill>
                  <a:prstClr val="black"/>
                </a:solidFill>
                <a:latin typeface="+mn-lt"/>
              </a:defRPr>
            </a:lvl1pPr>
          </a:lstStyle>
          <a:p>
            <a:pPr>
              <a:defRPr/>
            </a:pPr>
            <a:fld id="{933DCF87-12AF-44CB-BAE7-C87B4360A6FF}" type="datetimeFigureOut">
              <a:rPr lang="en-US"/>
              <a:pPr>
                <a:defRPr/>
              </a:pPr>
              <a:t>6/7/2016</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defTabSz="457200" eaLnBrk="1" fontAlgn="auto" hangingPunct="1">
              <a:spcBef>
                <a:spcPts val="0"/>
              </a:spcBef>
              <a:spcAft>
                <a:spcPts val="0"/>
              </a:spcAft>
              <a:defRPr>
                <a:solidFill>
                  <a:prstClr val="black"/>
                </a:solidFill>
                <a:latin typeface="+mn-lt"/>
              </a:defRPr>
            </a:lvl1pPr>
          </a:lstStyle>
          <a:p>
            <a:pPr>
              <a:defRPr/>
            </a:pPr>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defTabSz="457200" eaLnBrk="1" fontAlgn="auto" hangingPunct="1">
              <a:spcBef>
                <a:spcPts val="0"/>
              </a:spcBef>
              <a:spcAft>
                <a:spcPts val="0"/>
              </a:spcAft>
              <a:defRPr>
                <a:solidFill>
                  <a:prstClr val="black"/>
                </a:solidFill>
                <a:latin typeface="+mn-lt"/>
              </a:defRPr>
            </a:lvl1pPr>
          </a:lstStyle>
          <a:p>
            <a:pPr>
              <a:defRPr/>
            </a:pPr>
            <a:fld id="{D9B38AC2-D64E-4B55-8C28-9187B8172E59}" type="slidenum">
              <a:rPr lang="en-US"/>
              <a:pPr>
                <a:defRPr/>
              </a:pPr>
              <a:t>‹#›</a:t>
            </a:fld>
            <a:endParaRPr lang="en-US"/>
          </a:p>
        </p:txBody>
      </p:sp>
    </p:spTree>
    <p:extLst>
      <p:ext uri="{BB962C8B-B14F-4D97-AF65-F5344CB8AC3E}">
        <p14:creationId xmlns:p14="http://schemas.microsoft.com/office/powerpoint/2010/main" val="3063888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defTabSz="457200" eaLnBrk="1" fontAlgn="auto" hangingPunct="1">
              <a:spcBef>
                <a:spcPts val="0"/>
              </a:spcBef>
              <a:spcAft>
                <a:spcPts val="0"/>
              </a:spcAft>
              <a:defRPr>
                <a:solidFill>
                  <a:prstClr val="black"/>
                </a:solidFill>
                <a:latin typeface="+mn-lt"/>
              </a:defRPr>
            </a:lvl1pPr>
          </a:lstStyle>
          <a:p>
            <a:pPr>
              <a:defRPr/>
            </a:pPr>
            <a:fld id="{933DCF87-12AF-44CB-BAE7-C87B4360A6FF}" type="datetimeFigureOut">
              <a:rPr lang="en-US"/>
              <a:pPr>
                <a:defRPr/>
              </a:pPr>
              <a:t>6/7/2016</a:t>
            </a:fld>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defTabSz="457200" eaLnBrk="1" fontAlgn="auto" hangingPunct="1">
              <a:spcBef>
                <a:spcPts val="0"/>
              </a:spcBef>
              <a:spcAft>
                <a:spcPts val="0"/>
              </a:spcAft>
              <a:defRPr>
                <a:solidFill>
                  <a:prstClr val="black"/>
                </a:solidFill>
                <a:latin typeface="+mn-lt"/>
              </a:defRPr>
            </a:lvl1pPr>
          </a:lstStyle>
          <a:p>
            <a:pPr>
              <a:defRPr/>
            </a:pPr>
            <a:endParaRPr lang="en-US"/>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defTabSz="457200" eaLnBrk="1" fontAlgn="auto" hangingPunct="1">
              <a:spcBef>
                <a:spcPts val="0"/>
              </a:spcBef>
              <a:spcAft>
                <a:spcPts val="0"/>
              </a:spcAft>
              <a:defRPr>
                <a:solidFill>
                  <a:prstClr val="black"/>
                </a:solidFill>
                <a:latin typeface="+mn-lt"/>
              </a:defRPr>
            </a:lvl1pPr>
          </a:lstStyle>
          <a:p>
            <a:pPr>
              <a:defRPr/>
            </a:pPr>
            <a:fld id="{E0094F88-5315-4400-A0A0-B06531E711D5}" type="slidenum">
              <a:rPr lang="en-US"/>
              <a:pPr>
                <a:defRPr/>
              </a:pPr>
              <a:t>‹#›</a:t>
            </a:fld>
            <a:endParaRPr lang="en-US"/>
          </a:p>
        </p:txBody>
      </p:sp>
    </p:spTree>
    <p:extLst>
      <p:ext uri="{BB962C8B-B14F-4D97-AF65-F5344CB8AC3E}">
        <p14:creationId xmlns:p14="http://schemas.microsoft.com/office/powerpoint/2010/main" val="3815467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457200" y="6356350"/>
            <a:ext cx="2133600" cy="365125"/>
          </a:xfrm>
          <a:prstGeom prst="rect">
            <a:avLst/>
          </a:prstGeom>
        </p:spPr>
        <p:txBody>
          <a:bodyPr/>
          <a:lstStyle>
            <a:lvl1pPr defTabSz="457200" eaLnBrk="1" fontAlgn="auto" hangingPunct="1">
              <a:spcBef>
                <a:spcPts val="0"/>
              </a:spcBef>
              <a:spcAft>
                <a:spcPts val="0"/>
              </a:spcAft>
              <a:defRPr>
                <a:solidFill>
                  <a:prstClr val="black"/>
                </a:solidFill>
                <a:latin typeface="+mn-lt"/>
              </a:defRPr>
            </a:lvl1pPr>
          </a:lstStyle>
          <a:p>
            <a:pPr>
              <a:defRPr/>
            </a:pPr>
            <a:fld id="{933DCF87-12AF-44CB-BAE7-C87B4360A6FF}" type="datetimeFigureOut">
              <a:rPr lang="en-US"/>
              <a:pPr>
                <a:defRPr/>
              </a:pPr>
              <a:t>6/7/2016</a:t>
            </a:fld>
            <a:endParaRPr lang="en-US"/>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lvl1pPr defTabSz="457200" eaLnBrk="1" fontAlgn="auto" hangingPunct="1">
              <a:spcBef>
                <a:spcPts val="0"/>
              </a:spcBef>
              <a:spcAft>
                <a:spcPts val="0"/>
              </a:spcAft>
              <a:defRPr>
                <a:solidFill>
                  <a:prstClr val="black"/>
                </a:solidFill>
                <a:latin typeface="+mn-lt"/>
              </a:defRPr>
            </a:lvl1pPr>
          </a:lstStyle>
          <a:p>
            <a:pPr>
              <a:defRPr/>
            </a:pPr>
            <a:endParaRPr lang="en-US"/>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lvl1pPr defTabSz="457200" eaLnBrk="1" fontAlgn="auto" hangingPunct="1">
              <a:spcBef>
                <a:spcPts val="0"/>
              </a:spcBef>
              <a:spcAft>
                <a:spcPts val="0"/>
              </a:spcAft>
              <a:defRPr>
                <a:solidFill>
                  <a:prstClr val="black"/>
                </a:solidFill>
                <a:latin typeface="+mn-lt"/>
              </a:defRPr>
            </a:lvl1pPr>
          </a:lstStyle>
          <a:p>
            <a:pPr>
              <a:defRPr/>
            </a:pPr>
            <a:fld id="{9B921949-0F77-4E29-9D7E-C4F74E708F3F}" type="slidenum">
              <a:rPr lang="en-US"/>
              <a:pPr>
                <a:defRPr/>
              </a:pPr>
              <a:t>‹#›</a:t>
            </a:fld>
            <a:endParaRPr lang="en-US"/>
          </a:p>
        </p:txBody>
      </p:sp>
    </p:spTree>
    <p:extLst>
      <p:ext uri="{BB962C8B-B14F-4D97-AF65-F5344CB8AC3E}">
        <p14:creationId xmlns:p14="http://schemas.microsoft.com/office/powerpoint/2010/main" val="24941872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457200" y="6356350"/>
            <a:ext cx="2133600" cy="365125"/>
          </a:xfrm>
          <a:prstGeom prst="rect">
            <a:avLst/>
          </a:prstGeom>
        </p:spPr>
        <p:txBody>
          <a:bodyPr/>
          <a:lstStyle>
            <a:lvl1pPr defTabSz="457200" eaLnBrk="1" fontAlgn="auto" hangingPunct="1">
              <a:spcBef>
                <a:spcPts val="0"/>
              </a:spcBef>
              <a:spcAft>
                <a:spcPts val="0"/>
              </a:spcAft>
              <a:defRPr>
                <a:solidFill>
                  <a:prstClr val="black"/>
                </a:solidFill>
                <a:latin typeface="+mn-lt"/>
              </a:defRPr>
            </a:lvl1pPr>
          </a:lstStyle>
          <a:p>
            <a:pPr>
              <a:defRPr/>
            </a:pPr>
            <a:fld id="{933DCF87-12AF-44CB-BAE7-C87B4360A6FF}" type="datetimeFigureOut">
              <a:rPr lang="en-US"/>
              <a:pPr>
                <a:defRPr/>
              </a:pPr>
              <a:t>6/7/2016</a:t>
            </a:fld>
            <a:endParaRPr lang="en-US"/>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lvl1pPr defTabSz="457200" eaLnBrk="1" fontAlgn="auto" hangingPunct="1">
              <a:spcBef>
                <a:spcPts val="0"/>
              </a:spcBef>
              <a:spcAft>
                <a:spcPts val="0"/>
              </a:spcAft>
              <a:defRPr>
                <a:solidFill>
                  <a:prstClr val="black"/>
                </a:solidFill>
                <a:latin typeface="+mn-lt"/>
              </a:defRPr>
            </a:lvl1pPr>
          </a:lstStyle>
          <a:p>
            <a:pPr>
              <a:defRPr/>
            </a:pPr>
            <a:endParaRPr lang="en-US"/>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lvl1pPr defTabSz="457200" eaLnBrk="1" fontAlgn="auto" hangingPunct="1">
              <a:spcBef>
                <a:spcPts val="0"/>
              </a:spcBef>
              <a:spcAft>
                <a:spcPts val="0"/>
              </a:spcAft>
              <a:defRPr>
                <a:solidFill>
                  <a:prstClr val="black"/>
                </a:solidFill>
                <a:latin typeface="+mn-lt"/>
              </a:defRPr>
            </a:lvl1pPr>
          </a:lstStyle>
          <a:p>
            <a:pPr>
              <a:defRPr/>
            </a:pPr>
            <a:fld id="{4C6B7E2B-1479-4ECF-828E-CE8BFDA1234C}" type="slidenum">
              <a:rPr lang="en-US"/>
              <a:pPr>
                <a:defRPr/>
              </a:pPr>
              <a:t>‹#›</a:t>
            </a:fld>
            <a:endParaRPr lang="en-US"/>
          </a:p>
        </p:txBody>
      </p:sp>
    </p:spTree>
    <p:extLst>
      <p:ext uri="{BB962C8B-B14F-4D97-AF65-F5344CB8AC3E}">
        <p14:creationId xmlns:p14="http://schemas.microsoft.com/office/powerpoint/2010/main" val="370165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lvl1pPr defTabSz="457200" eaLnBrk="1" fontAlgn="auto" hangingPunct="1">
              <a:spcBef>
                <a:spcPts val="0"/>
              </a:spcBef>
              <a:spcAft>
                <a:spcPts val="0"/>
              </a:spcAft>
              <a:defRPr>
                <a:solidFill>
                  <a:prstClr val="black"/>
                </a:solidFill>
                <a:latin typeface="+mn-lt"/>
              </a:defRPr>
            </a:lvl1pPr>
          </a:lstStyle>
          <a:p>
            <a:pPr>
              <a:defRPr/>
            </a:pPr>
            <a:fld id="{933DCF87-12AF-44CB-BAE7-C87B4360A6FF}" type="datetimeFigureOut">
              <a:rPr lang="en-US"/>
              <a:pPr>
                <a:defRPr/>
              </a:pPr>
              <a:t>6/7/2016</a:t>
            </a:fld>
            <a:endParaRPr lang="en-US"/>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lvl1pPr defTabSz="457200" eaLnBrk="1" fontAlgn="auto" hangingPunct="1">
              <a:spcBef>
                <a:spcPts val="0"/>
              </a:spcBef>
              <a:spcAft>
                <a:spcPts val="0"/>
              </a:spcAft>
              <a:defRPr>
                <a:solidFill>
                  <a:prstClr val="black"/>
                </a:solidFill>
                <a:latin typeface="+mn-lt"/>
              </a:defRPr>
            </a:lvl1pPr>
          </a:lstStyle>
          <a:p>
            <a:pPr>
              <a:defRPr/>
            </a:pPr>
            <a:endParaRPr lang="en-US"/>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lvl1pPr defTabSz="457200" eaLnBrk="1" fontAlgn="auto" hangingPunct="1">
              <a:spcBef>
                <a:spcPts val="0"/>
              </a:spcBef>
              <a:spcAft>
                <a:spcPts val="0"/>
              </a:spcAft>
              <a:defRPr>
                <a:solidFill>
                  <a:prstClr val="black"/>
                </a:solidFill>
                <a:latin typeface="+mn-lt"/>
              </a:defRPr>
            </a:lvl1pPr>
          </a:lstStyle>
          <a:p>
            <a:pPr>
              <a:defRPr/>
            </a:pPr>
            <a:fld id="{0F0678BE-D7AD-47FA-930C-A1DAFB46E77A}" type="slidenum">
              <a:rPr lang="en-US"/>
              <a:pPr>
                <a:defRPr/>
              </a:pPr>
              <a:t>‹#›</a:t>
            </a:fld>
            <a:endParaRPr lang="en-US"/>
          </a:p>
        </p:txBody>
      </p:sp>
    </p:spTree>
    <p:extLst>
      <p:ext uri="{BB962C8B-B14F-4D97-AF65-F5344CB8AC3E}">
        <p14:creationId xmlns:p14="http://schemas.microsoft.com/office/powerpoint/2010/main" val="30817511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defTabSz="457200" eaLnBrk="1" fontAlgn="auto" hangingPunct="1">
              <a:spcBef>
                <a:spcPts val="0"/>
              </a:spcBef>
              <a:spcAft>
                <a:spcPts val="0"/>
              </a:spcAft>
              <a:defRPr>
                <a:solidFill>
                  <a:prstClr val="black"/>
                </a:solidFill>
                <a:latin typeface="+mn-lt"/>
              </a:defRPr>
            </a:lvl1pPr>
          </a:lstStyle>
          <a:p>
            <a:pPr>
              <a:defRPr/>
            </a:pPr>
            <a:fld id="{933DCF87-12AF-44CB-BAE7-C87B4360A6FF}" type="datetimeFigureOut">
              <a:rPr lang="en-US"/>
              <a:pPr>
                <a:defRPr/>
              </a:pPr>
              <a:t>6/7/2016</a:t>
            </a:fld>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defTabSz="457200" eaLnBrk="1" fontAlgn="auto" hangingPunct="1">
              <a:spcBef>
                <a:spcPts val="0"/>
              </a:spcBef>
              <a:spcAft>
                <a:spcPts val="0"/>
              </a:spcAft>
              <a:defRPr>
                <a:solidFill>
                  <a:prstClr val="black"/>
                </a:solidFill>
                <a:latin typeface="+mn-lt"/>
              </a:defRPr>
            </a:lvl1pPr>
          </a:lstStyle>
          <a:p>
            <a:pPr>
              <a:defRPr/>
            </a:pPr>
            <a:endParaRPr lang="en-US"/>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defTabSz="457200" eaLnBrk="1" fontAlgn="auto" hangingPunct="1">
              <a:spcBef>
                <a:spcPts val="0"/>
              </a:spcBef>
              <a:spcAft>
                <a:spcPts val="0"/>
              </a:spcAft>
              <a:defRPr>
                <a:solidFill>
                  <a:prstClr val="black"/>
                </a:solidFill>
                <a:latin typeface="+mn-lt"/>
              </a:defRPr>
            </a:lvl1pPr>
          </a:lstStyle>
          <a:p>
            <a:pPr>
              <a:defRPr/>
            </a:pPr>
            <a:fld id="{49348E79-184F-4CA8-BEA6-DA94D3C7205F}" type="slidenum">
              <a:rPr lang="en-US"/>
              <a:pPr>
                <a:defRPr/>
              </a:pPr>
              <a:t>‹#›</a:t>
            </a:fld>
            <a:endParaRPr lang="en-US"/>
          </a:p>
        </p:txBody>
      </p:sp>
    </p:spTree>
    <p:extLst>
      <p:ext uri="{BB962C8B-B14F-4D97-AF65-F5344CB8AC3E}">
        <p14:creationId xmlns:p14="http://schemas.microsoft.com/office/powerpoint/2010/main" val="84150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defTabSz="457200" eaLnBrk="1" fontAlgn="auto" hangingPunct="1">
              <a:spcBef>
                <a:spcPts val="0"/>
              </a:spcBef>
              <a:spcAft>
                <a:spcPts val="0"/>
              </a:spcAft>
              <a:defRPr>
                <a:solidFill>
                  <a:prstClr val="black"/>
                </a:solidFill>
                <a:latin typeface="+mn-lt"/>
              </a:defRPr>
            </a:lvl1pPr>
          </a:lstStyle>
          <a:p>
            <a:pPr>
              <a:defRPr/>
            </a:pPr>
            <a:fld id="{933DCF87-12AF-44CB-BAE7-C87B4360A6FF}" type="datetimeFigureOut">
              <a:rPr lang="en-US"/>
              <a:pPr>
                <a:defRPr/>
              </a:pPr>
              <a:t>6/7/2016</a:t>
            </a:fld>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defTabSz="457200" eaLnBrk="1" fontAlgn="auto" hangingPunct="1">
              <a:spcBef>
                <a:spcPts val="0"/>
              </a:spcBef>
              <a:spcAft>
                <a:spcPts val="0"/>
              </a:spcAft>
              <a:defRPr>
                <a:solidFill>
                  <a:prstClr val="black"/>
                </a:solidFill>
                <a:latin typeface="+mn-lt"/>
              </a:defRPr>
            </a:lvl1pPr>
          </a:lstStyle>
          <a:p>
            <a:pPr>
              <a:defRPr/>
            </a:pPr>
            <a:endParaRPr lang="en-US"/>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defTabSz="457200" eaLnBrk="1" fontAlgn="auto" hangingPunct="1">
              <a:spcBef>
                <a:spcPts val="0"/>
              </a:spcBef>
              <a:spcAft>
                <a:spcPts val="0"/>
              </a:spcAft>
              <a:defRPr>
                <a:solidFill>
                  <a:prstClr val="black"/>
                </a:solidFill>
                <a:latin typeface="+mn-lt"/>
              </a:defRPr>
            </a:lvl1pPr>
          </a:lstStyle>
          <a:p>
            <a:pPr>
              <a:defRPr/>
            </a:pPr>
            <a:fld id="{A6C8D5A5-BDEA-4860-ABFA-323DC7C31CB7}" type="slidenum">
              <a:rPr lang="en-US"/>
              <a:pPr>
                <a:defRPr/>
              </a:pPr>
              <a:t>‹#›</a:t>
            </a:fld>
            <a:endParaRPr lang="en-US"/>
          </a:p>
        </p:txBody>
      </p:sp>
    </p:spTree>
    <p:extLst>
      <p:ext uri="{BB962C8B-B14F-4D97-AF65-F5344CB8AC3E}">
        <p14:creationId xmlns:p14="http://schemas.microsoft.com/office/powerpoint/2010/main" val="29771522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defTabSz="457200" eaLnBrk="1" fontAlgn="auto" hangingPunct="1">
              <a:spcBef>
                <a:spcPts val="0"/>
              </a:spcBef>
              <a:spcAft>
                <a:spcPts val="0"/>
              </a:spcAft>
              <a:defRPr>
                <a:solidFill>
                  <a:prstClr val="black"/>
                </a:solidFill>
                <a:latin typeface="+mn-lt"/>
              </a:defRPr>
            </a:lvl1pPr>
          </a:lstStyle>
          <a:p>
            <a:pPr>
              <a:defRPr/>
            </a:pPr>
            <a:fld id="{933DCF87-12AF-44CB-BAE7-C87B4360A6FF}" type="datetimeFigureOut">
              <a:rPr lang="en-US"/>
              <a:pPr>
                <a:defRPr/>
              </a:pPr>
              <a:t>6/7/2016</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defTabSz="457200" eaLnBrk="1" fontAlgn="auto" hangingPunct="1">
              <a:spcBef>
                <a:spcPts val="0"/>
              </a:spcBef>
              <a:spcAft>
                <a:spcPts val="0"/>
              </a:spcAft>
              <a:defRPr>
                <a:solidFill>
                  <a:prstClr val="black"/>
                </a:solidFill>
                <a:latin typeface="+mn-lt"/>
              </a:defRPr>
            </a:lvl1pPr>
          </a:lstStyle>
          <a:p>
            <a:pPr>
              <a:defRPr/>
            </a:pPr>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defTabSz="457200" eaLnBrk="1" fontAlgn="auto" hangingPunct="1">
              <a:spcBef>
                <a:spcPts val="0"/>
              </a:spcBef>
              <a:spcAft>
                <a:spcPts val="0"/>
              </a:spcAft>
              <a:defRPr>
                <a:solidFill>
                  <a:prstClr val="black"/>
                </a:solidFill>
                <a:latin typeface="+mn-lt"/>
              </a:defRPr>
            </a:lvl1pPr>
          </a:lstStyle>
          <a:p>
            <a:pPr>
              <a:defRPr/>
            </a:pPr>
            <a:fld id="{75254677-200E-4279-A4FD-93FFE6E499A8}" type="slidenum">
              <a:rPr lang="en-US"/>
              <a:pPr>
                <a:defRPr/>
              </a:pPr>
              <a:t>‹#›</a:t>
            </a:fld>
            <a:endParaRPr lang="en-US"/>
          </a:p>
        </p:txBody>
      </p:sp>
    </p:spTree>
    <p:extLst>
      <p:ext uri="{BB962C8B-B14F-4D97-AF65-F5344CB8AC3E}">
        <p14:creationId xmlns:p14="http://schemas.microsoft.com/office/powerpoint/2010/main" val="4480584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defTabSz="457200" eaLnBrk="1" fontAlgn="auto" hangingPunct="1">
              <a:spcBef>
                <a:spcPts val="0"/>
              </a:spcBef>
              <a:spcAft>
                <a:spcPts val="0"/>
              </a:spcAft>
              <a:defRPr>
                <a:solidFill>
                  <a:prstClr val="black"/>
                </a:solidFill>
                <a:latin typeface="+mn-lt"/>
              </a:defRPr>
            </a:lvl1pPr>
          </a:lstStyle>
          <a:p>
            <a:pPr>
              <a:defRPr/>
            </a:pPr>
            <a:fld id="{933DCF87-12AF-44CB-BAE7-C87B4360A6FF}" type="datetimeFigureOut">
              <a:rPr lang="en-US"/>
              <a:pPr>
                <a:defRPr/>
              </a:pPr>
              <a:t>6/7/2016</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defTabSz="457200" eaLnBrk="1" fontAlgn="auto" hangingPunct="1">
              <a:spcBef>
                <a:spcPts val="0"/>
              </a:spcBef>
              <a:spcAft>
                <a:spcPts val="0"/>
              </a:spcAft>
              <a:defRPr>
                <a:solidFill>
                  <a:prstClr val="black"/>
                </a:solidFill>
                <a:latin typeface="+mn-lt"/>
              </a:defRPr>
            </a:lvl1pPr>
          </a:lstStyle>
          <a:p>
            <a:pPr>
              <a:defRPr/>
            </a:pPr>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defTabSz="457200" eaLnBrk="1" fontAlgn="auto" hangingPunct="1">
              <a:spcBef>
                <a:spcPts val="0"/>
              </a:spcBef>
              <a:spcAft>
                <a:spcPts val="0"/>
              </a:spcAft>
              <a:defRPr>
                <a:solidFill>
                  <a:prstClr val="black"/>
                </a:solidFill>
                <a:latin typeface="+mn-lt"/>
              </a:defRPr>
            </a:lvl1pPr>
          </a:lstStyle>
          <a:p>
            <a:pPr>
              <a:defRPr/>
            </a:pPr>
            <a:fld id="{49E8477C-04F9-4E9E-9913-1495AFEB02BE}" type="slidenum">
              <a:rPr lang="en-US"/>
              <a:pPr>
                <a:defRPr/>
              </a:pPr>
              <a:t>‹#›</a:t>
            </a:fld>
            <a:endParaRPr lang="en-US"/>
          </a:p>
        </p:txBody>
      </p:sp>
    </p:spTree>
    <p:extLst>
      <p:ext uri="{BB962C8B-B14F-4D97-AF65-F5344CB8AC3E}">
        <p14:creationId xmlns:p14="http://schemas.microsoft.com/office/powerpoint/2010/main" val="32513205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274638"/>
            <a:ext cx="8229600" cy="58515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3" name="Rectangle 4"/>
          <p:cNvSpPr>
            <a:spLocks noGrp="1" noChangeArrowheads="1"/>
          </p:cNvSpPr>
          <p:nvPr>
            <p:ph type="dt" sz="half" idx="10"/>
          </p:nvPr>
        </p:nvSpPr>
        <p:spPr>
          <a:xfrm>
            <a:off x="457200" y="6245225"/>
            <a:ext cx="2133600" cy="476250"/>
          </a:xfrm>
          <a:prstGeom prst="rect">
            <a:avLst/>
          </a:prstGeom>
        </p:spPr>
        <p:txBody>
          <a:bodyPr/>
          <a:lstStyle>
            <a:lvl1pPr>
              <a:defRPr/>
            </a:lvl1pPr>
          </a:lstStyle>
          <a:p>
            <a:pPr>
              <a:defRPr/>
            </a:pPr>
            <a:endParaRPr lang="th-TH"/>
          </a:p>
        </p:txBody>
      </p:sp>
      <p:sp>
        <p:nvSpPr>
          <p:cNvPr id="4" name="Rectangle 5"/>
          <p:cNvSpPr>
            <a:spLocks noGrp="1" noChangeArrowheads="1"/>
          </p:cNvSpPr>
          <p:nvPr>
            <p:ph type="ftr" sz="quarter" idx="11"/>
          </p:nvPr>
        </p:nvSpPr>
        <p:spPr>
          <a:xfrm>
            <a:off x="3124200" y="6245225"/>
            <a:ext cx="2895600" cy="476250"/>
          </a:xfrm>
          <a:prstGeom prst="rect">
            <a:avLst/>
          </a:prstGeom>
        </p:spPr>
        <p:txBody>
          <a:bodyPr/>
          <a:lstStyle>
            <a:lvl1pPr>
              <a:defRPr/>
            </a:lvl1pPr>
          </a:lstStyle>
          <a:p>
            <a:pPr>
              <a:defRPr/>
            </a:pPr>
            <a:endParaRPr lang="th-TH"/>
          </a:p>
        </p:txBody>
      </p:sp>
      <p:sp>
        <p:nvSpPr>
          <p:cNvPr id="5" name="Rectangle 6"/>
          <p:cNvSpPr>
            <a:spLocks noGrp="1" noChangeArrowheads="1"/>
          </p:cNvSpPr>
          <p:nvPr>
            <p:ph type="sldNum" sz="quarter" idx="12"/>
          </p:nvPr>
        </p:nvSpPr>
        <p:spPr>
          <a:xfrm>
            <a:off x="6553200" y="6245225"/>
            <a:ext cx="2133600" cy="476250"/>
          </a:xfrm>
          <a:prstGeom prst="rect">
            <a:avLst/>
          </a:prstGeom>
        </p:spPr>
        <p:txBody>
          <a:bodyPr/>
          <a:lstStyle>
            <a:lvl1pPr>
              <a:defRPr/>
            </a:lvl1pPr>
          </a:lstStyle>
          <a:p>
            <a:pPr>
              <a:defRPr/>
            </a:pPr>
            <a:fld id="{ADA8B649-75B8-4AF3-8DFD-68B2D9CAC8E4}" type="slidenum">
              <a:rPr lang="en-US" altLang="en-US"/>
              <a:pPr>
                <a:defRPr/>
              </a:pPr>
              <a:t>‹#›</a:t>
            </a:fld>
            <a:endParaRPr lang="th-TH" altLang="en-US"/>
          </a:p>
        </p:txBody>
      </p:sp>
    </p:spTree>
    <p:extLst>
      <p:ext uri="{BB962C8B-B14F-4D97-AF65-F5344CB8AC3E}">
        <p14:creationId xmlns:p14="http://schemas.microsoft.com/office/powerpoint/2010/main" val="1806372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noChangeArrowheads="1"/>
          </p:cNvSpPr>
          <p:nvPr>
            <p:ph type="dt" sz="half" idx="10"/>
          </p:nvPr>
        </p:nvSpPr>
        <p:spPr>
          <a:xfrm>
            <a:off x="457200" y="6245225"/>
            <a:ext cx="2133600" cy="476250"/>
          </a:xfrm>
          <a:prstGeom prst="rect">
            <a:avLst/>
          </a:prstGeom>
        </p:spPr>
        <p:txBody>
          <a:bodyPr/>
          <a:lstStyle>
            <a:lvl1pPr>
              <a:defRPr/>
            </a:lvl1pPr>
          </a:lstStyle>
          <a:p>
            <a:pPr>
              <a:defRPr/>
            </a:pPr>
            <a:endParaRPr lang="th-TH"/>
          </a:p>
        </p:txBody>
      </p:sp>
      <p:sp>
        <p:nvSpPr>
          <p:cNvPr id="6" name="Footer Placeholder 5"/>
          <p:cNvSpPr>
            <a:spLocks noGrp="1" noChangeArrowheads="1"/>
          </p:cNvSpPr>
          <p:nvPr>
            <p:ph type="ftr" sz="quarter" idx="11"/>
          </p:nvPr>
        </p:nvSpPr>
        <p:spPr>
          <a:xfrm>
            <a:off x="3124200" y="6245225"/>
            <a:ext cx="2895600" cy="476250"/>
          </a:xfrm>
          <a:prstGeom prst="rect">
            <a:avLst/>
          </a:prstGeom>
        </p:spPr>
        <p:txBody>
          <a:bodyPr/>
          <a:lstStyle>
            <a:lvl1pPr>
              <a:defRPr/>
            </a:lvl1pPr>
          </a:lstStyle>
          <a:p>
            <a:pPr>
              <a:defRPr/>
            </a:pPr>
            <a:endParaRPr lang="th-TH"/>
          </a:p>
        </p:txBody>
      </p:sp>
      <p:sp>
        <p:nvSpPr>
          <p:cNvPr id="7" name="Slide Number Placeholder 6"/>
          <p:cNvSpPr>
            <a:spLocks noGrp="1" noChangeArrowheads="1"/>
          </p:cNvSpPr>
          <p:nvPr>
            <p:ph type="sldNum" sz="quarter" idx="12"/>
          </p:nvPr>
        </p:nvSpPr>
        <p:spPr>
          <a:xfrm>
            <a:off x="6553200" y="6245225"/>
            <a:ext cx="2133600" cy="476250"/>
          </a:xfrm>
          <a:prstGeom prst="rect">
            <a:avLst/>
          </a:prstGeom>
        </p:spPr>
        <p:txBody>
          <a:bodyPr/>
          <a:lstStyle>
            <a:lvl1pPr>
              <a:defRPr/>
            </a:lvl1pPr>
          </a:lstStyle>
          <a:p>
            <a:pPr>
              <a:defRPr/>
            </a:pPr>
            <a:fld id="{EE56E6A1-FA31-4A9B-A80F-A2585AE86F64}" type="slidenum">
              <a:rPr lang="en-US" altLang="en-US"/>
              <a:pPr>
                <a:defRPr/>
              </a:pPr>
              <a:t>‹#›</a:t>
            </a:fld>
            <a:endParaRPr lang="th-TH" altLang="en-US"/>
          </a:p>
        </p:txBody>
      </p:sp>
    </p:spTree>
    <p:extLst>
      <p:ext uri="{BB962C8B-B14F-4D97-AF65-F5344CB8AC3E}">
        <p14:creationId xmlns:p14="http://schemas.microsoft.com/office/powerpoint/2010/main" val="32282550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600200"/>
            <a:ext cx="4038600" cy="21717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48200" y="3924300"/>
            <a:ext cx="4038600" cy="21717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Date Placeholder 5"/>
          <p:cNvSpPr>
            <a:spLocks noGrp="1"/>
          </p:cNvSpPr>
          <p:nvPr>
            <p:ph type="dt" sz="half" idx="10"/>
          </p:nvPr>
        </p:nvSpPr>
        <p:spPr>
          <a:xfrm>
            <a:off x="457200" y="6248400"/>
            <a:ext cx="2133600" cy="457200"/>
          </a:xfrm>
          <a:prstGeom prst="rect">
            <a:avLst/>
          </a:prstGeom>
        </p:spPr>
        <p:txBody>
          <a:bodyPr/>
          <a:lstStyle>
            <a:lvl1pPr>
              <a:defRPr/>
            </a:lvl1pPr>
          </a:lstStyle>
          <a:p>
            <a:pPr>
              <a:defRPr/>
            </a:pPr>
            <a:endParaRPr lang="th-TH" altLang="en-US"/>
          </a:p>
        </p:txBody>
      </p:sp>
      <p:sp>
        <p:nvSpPr>
          <p:cNvPr id="7" name="Footer Placeholder 6"/>
          <p:cNvSpPr>
            <a:spLocks noGrp="1"/>
          </p:cNvSpPr>
          <p:nvPr>
            <p:ph type="ftr" sz="quarter" idx="11"/>
          </p:nvPr>
        </p:nvSpPr>
        <p:spPr>
          <a:xfrm>
            <a:off x="3124200" y="6248400"/>
            <a:ext cx="2895600" cy="457200"/>
          </a:xfrm>
          <a:prstGeom prst="rect">
            <a:avLst/>
          </a:prstGeom>
        </p:spPr>
        <p:txBody>
          <a:bodyPr/>
          <a:lstStyle>
            <a:lvl1pPr>
              <a:defRPr/>
            </a:lvl1pPr>
          </a:lstStyle>
          <a:p>
            <a:pPr>
              <a:defRPr/>
            </a:pPr>
            <a:endParaRPr lang="th-TH" altLang="en-US"/>
          </a:p>
        </p:txBody>
      </p:sp>
      <p:sp>
        <p:nvSpPr>
          <p:cNvPr id="8" name="Slide Number Placeholder 7"/>
          <p:cNvSpPr>
            <a:spLocks noGrp="1"/>
          </p:cNvSpPr>
          <p:nvPr>
            <p:ph type="sldNum" sz="quarter" idx="12"/>
          </p:nvPr>
        </p:nvSpPr>
        <p:spPr>
          <a:xfrm>
            <a:off x="6553200" y="6248400"/>
            <a:ext cx="2133600" cy="457200"/>
          </a:xfrm>
          <a:prstGeom prst="rect">
            <a:avLst/>
          </a:prstGeom>
        </p:spPr>
        <p:txBody>
          <a:bodyPr/>
          <a:lstStyle>
            <a:lvl1pPr>
              <a:defRPr/>
            </a:lvl1pPr>
          </a:lstStyle>
          <a:p>
            <a:pPr>
              <a:defRPr/>
            </a:pPr>
            <a:fld id="{D0F1D54A-F006-4F5E-A353-7F4D6DD4270A}" type="slidenum">
              <a:rPr lang="en-US" altLang="en-US"/>
              <a:pPr>
                <a:defRPr/>
              </a:pPr>
              <a:t>‹#›</a:t>
            </a:fld>
            <a:endParaRPr lang="th-TH" altLang="en-US"/>
          </a:p>
        </p:txBody>
      </p:sp>
    </p:spTree>
    <p:extLst>
      <p:ext uri="{BB962C8B-B14F-4D97-AF65-F5344CB8AC3E}">
        <p14:creationId xmlns:p14="http://schemas.microsoft.com/office/powerpoint/2010/main" val="13166852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defTabSz="914400">
              <a:defRPr/>
            </a:lvl1pPr>
          </a:lstStyle>
          <a:p>
            <a:pPr>
              <a:defRPr/>
            </a:pPr>
            <a:fld id="{94E51262-9787-4A77-8B83-A6C77299587A}" type="datetime1">
              <a:rPr lang="en-US"/>
              <a:pPr>
                <a:defRPr/>
              </a:pPr>
              <a:t>6/7/2016</a:t>
            </a:fld>
            <a:endParaRPr lang="en-US"/>
          </a:p>
        </p:txBody>
      </p:sp>
      <p:sp>
        <p:nvSpPr>
          <p:cNvPr id="5" name="Footer Placeholder 4"/>
          <p:cNvSpPr>
            <a:spLocks noGrp="1"/>
          </p:cNvSpPr>
          <p:nvPr>
            <p:ph type="ftr" sz="quarter" idx="11"/>
          </p:nvPr>
        </p:nvSpPr>
        <p:spPr>
          <a:xfrm>
            <a:off x="5907088" y="6381750"/>
            <a:ext cx="2895600" cy="365125"/>
          </a:xfrm>
        </p:spPr>
        <p:txBody>
          <a:bodyPr/>
          <a:lstStyle>
            <a:lvl1pPr defTabSz="914400">
              <a:defRPr/>
            </a:lvl1pPr>
          </a:lstStyle>
          <a:p>
            <a:pPr>
              <a:defRPr/>
            </a:pPr>
            <a:endParaRPr lang="en-US"/>
          </a:p>
        </p:txBody>
      </p:sp>
      <p:sp>
        <p:nvSpPr>
          <p:cNvPr id="6" name="Slide Number Placeholder 5"/>
          <p:cNvSpPr>
            <a:spLocks noGrp="1"/>
          </p:cNvSpPr>
          <p:nvPr>
            <p:ph type="sldNum" sz="quarter" idx="12"/>
          </p:nvPr>
        </p:nvSpPr>
        <p:spPr>
          <a:xfrm>
            <a:off x="3487738" y="6488113"/>
            <a:ext cx="2133600" cy="365125"/>
          </a:xfrm>
        </p:spPr>
        <p:txBody>
          <a:bodyPr/>
          <a:lstStyle>
            <a:lvl1pPr algn="ctr" defTabSz="914400">
              <a:defRPr sz="1800">
                <a:solidFill>
                  <a:prstClr val="white"/>
                </a:solidFill>
              </a:defRPr>
            </a:lvl1pPr>
          </a:lstStyle>
          <a:p>
            <a:pPr>
              <a:defRPr/>
            </a:pPr>
            <a:fld id="{449DF61F-607E-4A0D-A5F5-F67090275808}" type="slidenum">
              <a:rPr lang="en-US"/>
              <a:pPr>
                <a:defRPr/>
              </a:pPr>
              <a:t>‹#›</a:t>
            </a:fld>
            <a:endParaRPr lang="en-US"/>
          </a:p>
        </p:txBody>
      </p:sp>
    </p:spTree>
    <p:extLst>
      <p:ext uri="{BB962C8B-B14F-4D97-AF65-F5344CB8AC3E}">
        <p14:creationId xmlns:p14="http://schemas.microsoft.com/office/powerpoint/2010/main" val="20875828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Footer Placeholder 4"/>
          <p:cNvSpPr>
            <a:spLocks noGrp="1"/>
          </p:cNvSpPr>
          <p:nvPr>
            <p:ph type="ftr" sz="quarter" idx="10"/>
          </p:nvPr>
        </p:nvSpPr>
        <p:spPr>
          <a:xfrm>
            <a:off x="6113463" y="6373813"/>
            <a:ext cx="2895600" cy="365125"/>
          </a:xfrm>
        </p:spPr>
        <p:txBody>
          <a:bodyPr/>
          <a:lstStyle>
            <a:lvl1pPr defTabSz="914400">
              <a:defRPr/>
            </a:lvl1pPr>
          </a:lstStyle>
          <a:p>
            <a:pPr>
              <a:defRPr/>
            </a:pPr>
            <a:endParaRPr lang="en-US"/>
          </a:p>
        </p:txBody>
      </p:sp>
      <p:sp>
        <p:nvSpPr>
          <p:cNvPr id="5" name="Slide Number Placeholder 5"/>
          <p:cNvSpPr>
            <a:spLocks noGrp="1"/>
          </p:cNvSpPr>
          <p:nvPr>
            <p:ph type="sldNum" sz="quarter" idx="11"/>
          </p:nvPr>
        </p:nvSpPr>
        <p:spPr>
          <a:xfrm>
            <a:off x="3527425" y="6502400"/>
            <a:ext cx="2133600" cy="365125"/>
          </a:xfrm>
        </p:spPr>
        <p:txBody>
          <a:bodyPr/>
          <a:lstStyle>
            <a:lvl1pPr algn="ctr" defTabSz="914400">
              <a:defRPr sz="1600" b="1">
                <a:solidFill>
                  <a:prstClr val="white"/>
                </a:solidFill>
              </a:defRPr>
            </a:lvl1pPr>
          </a:lstStyle>
          <a:p>
            <a:pPr>
              <a:defRPr/>
            </a:pPr>
            <a:fld id="{4E04B306-22EF-4346-B9CC-8A2E286D4A6F}" type="slidenum">
              <a:rPr lang="en-US"/>
              <a:pPr>
                <a:defRPr/>
              </a:pPr>
              <a:t>‹#›</a:t>
            </a:fld>
            <a:endParaRPr lang="en-US"/>
          </a:p>
        </p:txBody>
      </p:sp>
    </p:spTree>
    <p:extLst>
      <p:ext uri="{BB962C8B-B14F-4D97-AF65-F5344CB8AC3E}">
        <p14:creationId xmlns:p14="http://schemas.microsoft.com/office/powerpoint/2010/main" val="26939405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6"/>
          <p:cNvPicPr>
            <a:picLocks noChangeAspect="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0" y="5675313"/>
            <a:ext cx="9144000"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8"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71" name="Rectangle 70"/>
          <p:cNvSpPr/>
          <p:nvPr userDrawn="1"/>
        </p:nvSpPr>
        <p:spPr>
          <a:xfrm>
            <a:off x="0" y="6565900"/>
            <a:ext cx="3794125" cy="277813"/>
          </a:xfrm>
          <a:prstGeom prst="rect">
            <a:avLst/>
          </a:prstGeom>
          <a:solidFill>
            <a:srgbClr val="FF0000"/>
          </a:solidFill>
        </p:spPr>
        <p:txBody>
          <a:bodyPr>
            <a:spAutoFit/>
          </a:bodyPr>
          <a:lstStyle/>
          <a:p>
            <a:pPr defTabSz="457200" eaLnBrk="1" fontAlgn="auto" hangingPunct="1">
              <a:spcBef>
                <a:spcPts val="0"/>
              </a:spcBef>
              <a:spcAft>
                <a:spcPts val="0"/>
              </a:spcAft>
              <a:buFont typeface="Arial" pitchFamily="34" charset="0"/>
              <a:buNone/>
              <a:defRPr/>
            </a:pPr>
            <a:r>
              <a:rPr lang="en-US" sz="1200" b="1" dirty="0">
                <a:solidFill>
                  <a:prstClr val="white"/>
                </a:solidFill>
                <a:latin typeface="+mn-lt"/>
              </a:rPr>
              <a:t>© SPEC (SCGP Excellence Training Center Co., Ltd.), 2014</a:t>
            </a:r>
            <a:endParaRPr lang="en-US" sz="1050" b="1" dirty="0">
              <a:solidFill>
                <a:prstClr val="white"/>
              </a:solidFill>
              <a:latin typeface="+mn-lt"/>
            </a:endParaRPr>
          </a:p>
        </p:txBody>
      </p:sp>
      <p:sp>
        <p:nvSpPr>
          <p:cNvPr id="72" name="Slide Number Placeholder 5"/>
          <p:cNvSpPr txBox="1">
            <a:spLocks/>
          </p:cNvSpPr>
          <p:nvPr userDrawn="1"/>
        </p:nvSpPr>
        <p:spPr>
          <a:xfrm>
            <a:off x="3527425" y="6502400"/>
            <a:ext cx="2133600" cy="365125"/>
          </a:xfrm>
          <a:prstGeom prst="rect">
            <a:avLst/>
          </a:prstGeom>
        </p:spPr>
        <p:txBody>
          <a:bodyPr/>
          <a:lstStyle>
            <a:defPPr>
              <a:defRPr lang="en-US"/>
            </a:defPPr>
            <a:lvl1pPr marL="0" algn="ctr" defTabSz="457200" rtl="0" eaLnBrk="1" latinLnBrk="0" hangingPunct="1">
              <a:defRPr sz="1600" b="1"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fld id="{23F20A0D-3C01-4317-9561-ED3914768846}" type="slidenum">
              <a:rPr lang="en-US" smtClean="0">
                <a:solidFill>
                  <a:prstClr val="white"/>
                </a:solidFill>
              </a:rPr>
              <a:pPr fontAlgn="auto">
                <a:spcBef>
                  <a:spcPts val="0"/>
                </a:spcBef>
                <a:spcAft>
                  <a:spcPts val="0"/>
                </a:spcAft>
                <a:defRPr/>
              </a:pPr>
              <a:t>‹#›</a:t>
            </a:fld>
            <a:endParaRPr lang="en-US">
              <a:solidFill>
                <a:prstClr val="white"/>
              </a:solidFill>
            </a:endParaRPr>
          </a:p>
        </p:txBody>
      </p:sp>
    </p:spTree>
  </p:cSld>
  <p:clrMap bg1="lt1" tx1="dk1" bg2="lt2" tx2="dk2" accent1="accent1" accent2="accent2" accent3="accent3" accent4="accent4" accent5="accent5" accent6="accent6" hlink="hlink" folHlink="folHlink"/>
  <p:sldLayoutIdLst>
    <p:sldLayoutId id="2147484390" r:id="rId1"/>
    <p:sldLayoutId id="2147484391" r:id="rId2"/>
    <p:sldLayoutId id="2147484392" r:id="rId3"/>
    <p:sldLayoutId id="2147484393" r:id="rId4"/>
    <p:sldLayoutId id="2147484394" r:id="rId5"/>
    <p:sldLayoutId id="2147484395" r:id="rId6"/>
    <p:sldLayoutId id="2147484396" r:id="rId7"/>
    <p:sldLayoutId id="2147484397" r:id="rId8"/>
    <p:sldLayoutId id="2147484398" r:id="rId9"/>
    <p:sldLayoutId id="2147484399" r:id="rId10"/>
    <p:sldLayoutId id="2147484400" r:id="rId11"/>
    <p:sldLayoutId id="2147484401" r:id="rId12"/>
    <p:sldLayoutId id="2147484402" r:id="rId13"/>
    <p:sldLayoutId id="2147484403" r:id="rId14"/>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2051"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defTabSz="457200" eaLnBrk="1" fontAlgn="auto" hangingPunct="1">
              <a:spcBef>
                <a:spcPts val="0"/>
              </a:spcBef>
              <a:spcAft>
                <a:spcPts val="0"/>
              </a:spcAft>
              <a:defRPr sz="1200">
                <a:solidFill>
                  <a:prstClr val="black">
                    <a:tint val="75000"/>
                  </a:prstClr>
                </a:solidFill>
                <a:latin typeface="+mn-lt"/>
              </a:defRPr>
            </a:lvl1pPr>
          </a:lstStyle>
          <a:p>
            <a:pPr>
              <a:defRPr/>
            </a:pPr>
            <a:fld id="{CD217EBF-019C-41DF-A6ED-3A6A0C5C7B83}" type="datetime1">
              <a:rPr lang="en-US"/>
              <a:pPr>
                <a:defRPr/>
              </a:pPr>
              <a:t>6/7/2016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defTabSz="457200" eaLnBrk="1" fontAlgn="auto" hangingPunct="1">
              <a:spcBef>
                <a:spcPts val="0"/>
              </a:spcBef>
              <a:spcAft>
                <a:spcPts val="0"/>
              </a:spcAft>
              <a:defRPr sz="1200">
                <a:solidFill>
                  <a:prstClr val="black">
                    <a:tint val="75000"/>
                  </a:prstClr>
                </a:solidFill>
                <a:latin typeface="+mn-lt"/>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defTabSz="457200" eaLnBrk="1" fontAlgn="auto" hangingPunct="1">
              <a:spcBef>
                <a:spcPts val="0"/>
              </a:spcBef>
              <a:spcAft>
                <a:spcPts val="0"/>
              </a:spcAft>
              <a:defRPr sz="1200">
                <a:solidFill>
                  <a:prstClr val="black">
                    <a:tint val="75000"/>
                  </a:prstClr>
                </a:solidFill>
                <a:latin typeface="+mn-lt"/>
              </a:defRPr>
            </a:lvl1pPr>
          </a:lstStyle>
          <a:p>
            <a:pPr>
              <a:defRPr/>
            </a:pPr>
            <a:fld id="{1681CF6D-8A2D-474B-A4EC-C293C40519E0}" type="slidenum">
              <a:rPr lang="en-US"/>
              <a:pPr>
                <a:defRPr/>
              </a:pPr>
              <a:t>‹#›</a:t>
            </a:fld>
            <a:endParaRPr lang="en-US"/>
          </a:p>
        </p:txBody>
      </p:sp>
      <p:pic>
        <p:nvPicPr>
          <p:cNvPr id="2055" name="Picture 7"/>
          <p:cNvPicPr>
            <a:picLocks noChangeAspect="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5675313"/>
            <a:ext cx="9144000"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408" r:id="rId1"/>
    <p:sldLayoutId id="2147484409" r:id="rId2"/>
  </p:sldLayoutIdLst>
  <p:hf hdr="0" ftr="0" dt="0"/>
  <p:txStyles>
    <p:titleStyle>
      <a:lvl1pPr algn="ctr" defTabSz="457200" rtl="0" eaLnBrk="0" fontAlgn="base" hangingPunct="0">
        <a:spcBef>
          <a:spcPct val="0"/>
        </a:spcBef>
        <a:spcAft>
          <a:spcPct val="0"/>
        </a:spcAft>
        <a:defRPr sz="4400" kern="1200">
          <a:solidFill>
            <a:schemeClr val="tx1"/>
          </a:solidFill>
          <a:latin typeface="+mj-lt"/>
          <a:ea typeface="+mj-ea"/>
          <a:cs typeface="+mj-cs"/>
        </a:defRPr>
      </a:lvl1pPr>
      <a:lvl2pPr algn="ctr" defTabSz="457200" rtl="0" eaLnBrk="0" fontAlgn="base" hangingPunct="0">
        <a:spcBef>
          <a:spcPct val="0"/>
        </a:spcBef>
        <a:spcAft>
          <a:spcPct val="0"/>
        </a:spcAft>
        <a:defRPr sz="4400">
          <a:solidFill>
            <a:schemeClr val="tx1"/>
          </a:solidFill>
          <a:latin typeface="Calibri" panose="020F0502020204030204" pitchFamily="34" charset="0"/>
        </a:defRPr>
      </a:lvl2pPr>
      <a:lvl3pPr algn="ctr" defTabSz="457200" rtl="0" eaLnBrk="0" fontAlgn="base" hangingPunct="0">
        <a:spcBef>
          <a:spcPct val="0"/>
        </a:spcBef>
        <a:spcAft>
          <a:spcPct val="0"/>
        </a:spcAft>
        <a:defRPr sz="4400">
          <a:solidFill>
            <a:schemeClr val="tx1"/>
          </a:solidFill>
          <a:latin typeface="Calibri" panose="020F0502020204030204" pitchFamily="34" charset="0"/>
        </a:defRPr>
      </a:lvl3pPr>
      <a:lvl4pPr algn="ctr" defTabSz="457200" rtl="0" eaLnBrk="0" fontAlgn="base" hangingPunct="0">
        <a:spcBef>
          <a:spcPct val="0"/>
        </a:spcBef>
        <a:spcAft>
          <a:spcPct val="0"/>
        </a:spcAft>
        <a:defRPr sz="4400">
          <a:solidFill>
            <a:schemeClr val="tx1"/>
          </a:solidFill>
          <a:latin typeface="Calibri" panose="020F0502020204030204" pitchFamily="34" charset="0"/>
        </a:defRPr>
      </a:lvl4pPr>
      <a:lvl5pPr algn="ctr" defTabSz="457200" rtl="0" eaLnBrk="0" fontAlgn="base" hangingPunct="0">
        <a:spcBef>
          <a:spcPct val="0"/>
        </a:spcBef>
        <a:spcAft>
          <a:spcPct val="0"/>
        </a:spcAft>
        <a:defRPr sz="4400">
          <a:solidFill>
            <a:schemeClr val="tx1"/>
          </a:solidFill>
          <a:latin typeface="Calibri" panose="020F0502020204030204" pitchFamily="34" charset="0"/>
        </a:defRPr>
      </a:lvl5pPr>
      <a:lvl6pPr marL="457200" algn="ctr" defTabSz="457200" rtl="0" fontAlgn="base">
        <a:spcBef>
          <a:spcPct val="0"/>
        </a:spcBef>
        <a:spcAft>
          <a:spcPct val="0"/>
        </a:spcAft>
        <a:defRPr sz="4400">
          <a:solidFill>
            <a:schemeClr val="tx1"/>
          </a:solidFill>
          <a:latin typeface="Calibri" panose="020F0502020204030204" pitchFamily="34" charset="0"/>
        </a:defRPr>
      </a:lvl6pPr>
      <a:lvl7pPr marL="914400" algn="ctr" defTabSz="457200" rtl="0" fontAlgn="base">
        <a:spcBef>
          <a:spcPct val="0"/>
        </a:spcBef>
        <a:spcAft>
          <a:spcPct val="0"/>
        </a:spcAft>
        <a:defRPr sz="4400">
          <a:solidFill>
            <a:schemeClr val="tx1"/>
          </a:solidFill>
          <a:latin typeface="Calibri" panose="020F0502020204030204" pitchFamily="34" charset="0"/>
        </a:defRPr>
      </a:lvl7pPr>
      <a:lvl8pPr marL="1371600" algn="ctr" defTabSz="457200" rtl="0" fontAlgn="base">
        <a:spcBef>
          <a:spcPct val="0"/>
        </a:spcBef>
        <a:spcAft>
          <a:spcPct val="0"/>
        </a:spcAft>
        <a:defRPr sz="4400">
          <a:solidFill>
            <a:schemeClr val="tx1"/>
          </a:solidFill>
          <a:latin typeface="Calibri" panose="020F0502020204030204" pitchFamily="34" charset="0"/>
        </a:defRPr>
      </a:lvl8pPr>
      <a:lvl9pPr marL="1828800" algn="ctr" defTabSz="457200"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defTabSz="457200"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file:///C:\Users\SPEC-7\Desktop\PP407\Convergence%20VDO\01%20-%20Pulp%20History%20Part1.mp4" TargetMode="External"/><Relationship Id="rId1" Type="http://schemas.microsoft.com/office/2007/relationships/media" Target="file:///C:\Users\SPEC-7\Desktop\PP407\Convergence%20VDO\01%20-%20Pulp%20History%20Part1.mp4" TargetMode="External"/><Relationship Id="rId5" Type="http://schemas.openxmlformats.org/officeDocument/2006/relationships/image" Target="../media/image3.png"/><Relationship Id="rId4"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file:///C:\Users\SPEC-7\Desktop\PP407\Convergence%20VDO\Cai%20Lun.mp4" TargetMode="External"/><Relationship Id="rId1" Type="http://schemas.microsoft.com/office/2007/relationships/media" Target="file:///C:\Users\SPEC-7\Desktop\PP407\Convergence%20VDO\Cai%20Lun.mp4" TargetMode="External"/><Relationship Id="rId5" Type="http://schemas.openxmlformats.org/officeDocument/2006/relationships/image" Target="../media/image8.png"/><Relationship Id="rId4"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file:///C:\Users\SPEC-7\Desktop\PP407\Convergence%20VDO\cotton%20paper.mp4" TargetMode="External"/><Relationship Id="rId1" Type="http://schemas.microsoft.com/office/2007/relationships/media" Target="file:///C:\Users\SPEC-7\Desktop\PP407\Convergence%20VDO\cotton%20paper.mp4" TargetMode="External"/><Relationship Id="rId5" Type="http://schemas.openxmlformats.org/officeDocument/2006/relationships/image" Target="../media/image11.png"/><Relationship Id="rId4"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file:///C:\Users\SPEC-7\Desktop\PP407\Convergence%20VDO\02%20-%20Pulp%20History%20Part2.mp4" TargetMode="External"/><Relationship Id="rId1" Type="http://schemas.microsoft.com/office/2007/relationships/media" Target="file:///C:\Users\SPEC-7\Desktop\PP407\Convergence%20VDO\02%20-%20Pulp%20History%20Part2.mp4" TargetMode="External"/><Relationship Id="rId5" Type="http://schemas.openxmlformats.org/officeDocument/2006/relationships/image" Target="../media/image12.png"/><Relationship Id="rId4"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file:///C:\Users\SPEC-7\Desktop\PP407\Convergence%20VDO\03%20-%20Type%20of%20Fiber.mp4" TargetMode="External"/><Relationship Id="rId1" Type="http://schemas.microsoft.com/office/2007/relationships/media" Target="file:///C:\Users\SPEC-7\Desktop\PP407\Convergence%20VDO\03%20-%20Type%20of%20Fiber.mp4" TargetMode="External"/><Relationship Id="rId5" Type="http://schemas.openxmlformats.org/officeDocument/2006/relationships/image" Target="../media/image21.png"/><Relationship Id="rId4"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file:///C:\Users\SPEC-7\Desktop\PP407\Convergence%20VDO\04%20-%20Use%20of%20Fiber.mp4" TargetMode="External"/><Relationship Id="rId1" Type="http://schemas.microsoft.com/office/2007/relationships/media" Target="file:///C:\Users\SPEC-7\Desktop\PP407\Convergence%20VDO\04%20-%20Use%20of%20Fiber.mp4" TargetMode="External"/><Relationship Id="rId5" Type="http://schemas.openxmlformats.org/officeDocument/2006/relationships/image" Target="../media/image24.png"/><Relationship Id="rId4"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Layout" Target="../slideLayouts/slideLayout2.xml"/><Relationship Id="rId5" Type="http://schemas.openxmlformats.org/officeDocument/2006/relationships/image" Target="../media/image33.jpeg"/><Relationship Id="rId4" Type="http://schemas.openxmlformats.org/officeDocument/2006/relationships/image" Target="../media/image32.jpe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file:///C:\Users\SPEC-7\Desktop\PP101%20-%202015\Log%20recieve.1.mp4" TargetMode="External"/><Relationship Id="rId1" Type="http://schemas.microsoft.com/office/2007/relationships/media" Target="file:///C:\Users\SPEC-7\Desktop\PP101%20-%202015\Log%20recieve.1.mp4" TargetMode="External"/><Relationship Id="rId4" Type="http://schemas.openxmlformats.org/officeDocument/2006/relationships/image" Target="../media/image34.png"/></Relationships>
</file>

<file path=ppt/slides/_rels/slide29.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jpeg"/><Relationship Id="rId1" Type="http://schemas.openxmlformats.org/officeDocument/2006/relationships/slideLayout" Target="../slideLayouts/slideLayout2.xml"/><Relationship Id="rId4" Type="http://schemas.openxmlformats.org/officeDocument/2006/relationships/image" Target="../media/image37.jpe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file:///C:\Users\SPEC-7\Desktop\PP101%20-%202015\6.MPG" TargetMode="External"/><Relationship Id="rId1" Type="http://schemas.microsoft.com/office/2007/relationships/media" Target="file:///C:\Users\SPEC-7\Desktop\PP101%20-%202015\6.MPG" TargetMode="External"/><Relationship Id="rId4" Type="http://schemas.openxmlformats.org/officeDocument/2006/relationships/image" Target="../media/image38.png"/></Relationships>
</file>

<file path=ppt/slides/_rels/slide31.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43.jpeg"/><Relationship Id="rId5" Type="http://schemas.openxmlformats.org/officeDocument/2006/relationships/image" Target="../media/image42.jpeg"/><Relationship Id="rId4" Type="http://schemas.openxmlformats.org/officeDocument/2006/relationships/image" Target="../media/image41.jpeg"/></Relationships>
</file>

<file path=ppt/slides/_rels/slide3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image" Target="../media/image46.jpe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file:///C:\Users\SPEC-7\Desktop\PP101%20-%202015\MVI_1458.MOV" TargetMode="External"/><Relationship Id="rId1" Type="http://schemas.microsoft.com/office/2007/relationships/media" Target="file:///C:\Users\SPEC-7\Desktop\PP101%20-%202015\MVI_1458.MOV" TargetMode="External"/><Relationship Id="rId4" Type="http://schemas.openxmlformats.org/officeDocument/2006/relationships/image" Target="../media/image50.png"/></Relationships>
</file>

<file path=ppt/slides/_rels/slide39.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image" Target="../media/image51.bin"/><Relationship Id="rId1" Type="http://schemas.openxmlformats.org/officeDocument/2006/relationships/slideLayout" Target="../slideLayouts/slideLayout7.xml"/><Relationship Id="rId4" Type="http://schemas.openxmlformats.org/officeDocument/2006/relationships/image" Target="../media/image53.jpeg"/></Relationships>
</file>

<file path=ppt/slides/_rels/slide40.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image" Target="../media/image54.jpe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file:///C:\Users\SPEC-7\Desktop\PP101%20-%202015\00035.MTS" TargetMode="External"/><Relationship Id="rId1" Type="http://schemas.microsoft.com/office/2007/relationships/media" Target="file:///C:\Users\SPEC-7\Desktop\PP101%20-%202015\00035.MTS" TargetMode="External"/><Relationship Id="rId4" Type="http://schemas.openxmlformats.org/officeDocument/2006/relationships/image" Target="../media/image55.png"/></Relationships>
</file>

<file path=ppt/slides/_rels/slide42.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8.jpeg"/><Relationship Id="rId7" Type="http://schemas.openxmlformats.org/officeDocument/2006/relationships/image" Target="../media/image62.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jpeg"/></Relationships>
</file>

<file path=ppt/slides/_rels/slide46.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file:///C:\Users\SPEC-7\Desktop\PP101%20-%202015\Bark%20Shredder.mp4" TargetMode="External"/><Relationship Id="rId1" Type="http://schemas.microsoft.com/office/2007/relationships/media" Target="file:///C:\Users\SPEC-7\Desktop\PP101%20-%202015\Bark%20Shredder.mp4" TargetMode="External"/><Relationship Id="rId5" Type="http://schemas.openxmlformats.org/officeDocument/2006/relationships/image" Target="../media/image64.png"/><Relationship Id="rId4" Type="http://schemas.openxmlformats.org/officeDocument/2006/relationships/notesSlide" Target="../notesSlides/notesSlide28.xml"/></Relationships>
</file>

<file path=ppt/slides/_rels/slide48.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image" Target="../media/image65.jpe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66.jpe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file:///C:\Users\SPEC-7\Desktop\PP101%20-%202015\23.MTS" TargetMode="External"/><Relationship Id="rId1" Type="http://schemas.microsoft.com/office/2007/relationships/media" Target="file:///C:\Users\SPEC-7\Desktop\PP101%20-%202015\23.MTS" TargetMode="External"/><Relationship Id="rId4" Type="http://schemas.openxmlformats.org/officeDocument/2006/relationships/image" Target="../media/image67.png"/></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file:///C:\Users\SPEC-7\Desktop\PP101%20-%202015\00040.MTS" TargetMode="External"/><Relationship Id="rId1" Type="http://schemas.microsoft.com/office/2007/relationships/media" Target="file:///C:\Users\SPEC-7\Desktop\PP101%20-%202015\00040.MTS" TargetMode="External"/><Relationship Id="rId4" Type="http://schemas.openxmlformats.org/officeDocument/2006/relationships/image" Target="../media/image68.png"/></Relationships>
</file>

<file path=ppt/slides/_rels/slide52.xml.rels><?xml version="1.0" encoding="UTF-8" standalone="yes"?>
<Relationships xmlns="http://schemas.openxmlformats.org/package/2006/relationships"><Relationship Id="rId2" Type="http://schemas.openxmlformats.org/officeDocument/2006/relationships/image" Target="../media/image69.jpe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image" Target="../media/image70.jpeg"/><Relationship Id="rId1" Type="http://schemas.openxmlformats.org/officeDocument/2006/relationships/slideLayout" Target="../slideLayouts/slideLayout7.xml"/><Relationship Id="rId4" Type="http://schemas.openxmlformats.org/officeDocument/2006/relationships/image" Target="../media/image72.jpeg"/></Relationships>
</file>

<file path=ppt/slides/_rels/slide55.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74.jpeg"/></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file:///C:\Users\SPEC-7\Desktop\PP101%20-%202015\26.MPG" TargetMode="External"/><Relationship Id="rId1" Type="http://schemas.microsoft.com/office/2007/relationships/media" Target="file:///C:\Users\SPEC-7\Desktop\PP101%20-%202015\26.MPG" TargetMode="External"/><Relationship Id="rId4" Type="http://schemas.openxmlformats.org/officeDocument/2006/relationships/image" Target="../media/image75.png"/></Relationships>
</file>

<file path=ppt/slides/_rels/slide57.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77.jpe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78.jpe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79.jpe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image" Target="../media/image81.jpeg"/></Relationships>
</file>

<file path=ppt/slides/_rels/slide6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82.jpe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83.jpe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file:///C:\Users\SPEC-7\Desktop\PP101%20-%202015\MOV04068.MPG" TargetMode="External"/><Relationship Id="rId1" Type="http://schemas.microsoft.com/office/2007/relationships/media" Target="file:///C:\Users\SPEC-7\Desktop\PP101%20-%202015\MOV04068.MPG" TargetMode="External"/><Relationship Id="rId4" Type="http://schemas.openxmlformats.org/officeDocument/2006/relationships/image" Target="../media/image84.png"/></Relationships>
</file>

<file path=ppt/slides/_rels/slide66.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image" Target="../media/image85.jpeg"/><Relationship Id="rId1" Type="http://schemas.openxmlformats.org/officeDocument/2006/relationships/slideLayout" Target="../slideLayouts/slideLayout7.xml"/><Relationship Id="rId4" Type="http://schemas.openxmlformats.org/officeDocument/2006/relationships/image" Target="../media/image87.jpeg"/></Relationships>
</file>

<file path=ppt/slides/_rels/slide67.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89.jpe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file:///C:\Users\SPEC-7\Desktop\PP407\Convergence%20VDO\05%20-%20Pulping.mp4" TargetMode="External"/><Relationship Id="rId1" Type="http://schemas.microsoft.com/office/2007/relationships/media" Target="file:///C:\Users\SPEC-7\Desktop\PP407\Convergence%20VDO\05%20-%20Pulping.mp4" TargetMode="External"/><Relationship Id="rId5" Type="http://schemas.openxmlformats.org/officeDocument/2006/relationships/image" Target="../media/image90.png"/><Relationship Id="rId4" Type="http://schemas.openxmlformats.org/officeDocument/2006/relationships/notesSlide" Target="../notesSlides/notesSlide36.xml"/></Relationships>
</file>

<file path=ppt/slides/_rels/slide70.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93.png"/><Relationship Id="rId4" Type="http://schemas.openxmlformats.org/officeDocument/2006/relationships/image" Target="../media/image92.png"/></Relationships>
</file>

<file path=ppt/slides/_rels/slide71.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file:///C:\Users\SPEC-7\Desktop\PP407\Convergence%20VDO\06%20-%20Mechanical%20Pulping.mp4" TargetMode="External"/><Relationship Id="rId1" Type="http://schemas.microsoft.com/office/2007/relationships/media" Target="file:///C:\Users\SPEC-7\Desktop\PP407\Convergence%20VDO\06%20-%20Mechanical%20Pulping.mp4" TargetMode="External"/><Relationship Id="rId5" Type="http://schemas.openxmlformats.org/officeDocument/2006/relationships/image" Target="../media/image94.png"/><Relationship Id="rId4" Type="http://schemas.openxmlformats.org/officeDocument/2006/relationships/notesSlide" Target="../notesSlides/notesSlide39.xml"/></Relationships>
</file>

<file path=ppt/slides/_rels/slide73.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96.png"/></Relationships>
</file>

<file path=ppt/slides/_rels/slide74.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41.xml"/><Relationship Id="rId1" Type="http://schemas.openxmlformats.org/officeDocument/2006/relationships/slideLayout" Target="../slideLayouts/slideLayout2.xml"/><Relationship Id="rId5" Type="http://schemas.openxmlformats.org/officeDocument/2006/relationships/image" Target="../media/image99.png"/><Relationship Id="rId4" Type="http://schemas.openxmlformats.org/officeDocument/2006/relationships/image" Target="../media/image98.png"/></Relationships>
</file>

<file path=ppt/slides/_rels/slide75.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42.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01.png"/></Relationships>
</file>

<file path=ppt/slides/_rels/slide7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file:///C:\Users\SPEC-7\Desktop\PP407\Convergence%20VDO\07%20-%20%20Semi%20Chemical%20Pulping.mp4" TargetMode="External"/><Relationship Id="rId1" Type="http://schemas.microsoft.com/office/2007/relationships/media" Target="file:///C:\Users\SPEC-7\Desktop\PP407\Convergence%20VDO\07%20-%20%20Semi%20Chemical%20Pulping.mp4" TargetMode="External"/><Relationship Id="rId5" Type="http://schemas.openxmlformats.org/officeDocument/2006/relationships/image" Target="../media/image102.png"/><Relationship Id="rId4" Type="http://schemas.openxmlformats.org/officeDocument/2006/relationships/notesSlide" Target="../notesSlides/notesSlide43.xml"/></Relationships>
</file>

<file path=ppt/slides/_rels/slide77.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104.png"/></Relationships>
</file>

<file path=ppt/slides/_rels/slide78.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106.png"/></Relationships>
</file>

<file path=ppt/slides/_rels/slide79.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108.png"/></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3" Type="http://schemas.openxmlformats.org/officeDocument/2006/relationships/image" Target="../media/image109.jpeg"/><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3" Type="http://schemas.openxmlformats.org/officeDocument/2006/relationships/image" Target="../media/image110.jpeg"/><Relationship Id="rId2" Type="http://schemas.openxmlformats.org/officeDocument/2006/relationships/notesSlide" Target="../notesSlides/notesSlide49.xml"/><Relationship Id="rId1" Type="http://schemas.openxmlformats.org/officeDocument/2006/relationships/slideLayout" Target="../slideLayouts/slideLayout12.xml"/><Relationship Id="rId5" Type="http://schemas.openxmlformats.org/officeDocument/2006/relationships/image" Target="../media/image112.jpeg"/><Relationship Id="rId4" Type="http://schemas.openxmlformats.org/officeDocument/2006/relationships/image" Target="../media/image111.jpeg"/></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84.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113.png"/></Relationships>
</file>

<file path=ppt/slides/_rels/slide85.xml.rels><?xml version="1.0" encoding="UTF-8" standalone="yes"?>
<Relationships xmlns="http://schemas.openxmlformats.org/package/2006/relationships"><Relationship Id="rId3" Type="http://schemas.openxmlformats.org/officeDocument/2006/relationships/image" Target="../media/image114.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115.jpeg"/><Relationship Id="rId2" Type="http://schemas.openxmlformats.org/officeDocument/2006/relationships/notesSlide" Target="../notesSlides/notesSlide53.xml"/><Relationship Id="rId1" Type="http://schemas.openxmlformats.org/officeDocument/2006/relationships/slideLayout" Target="../slideLayouts/slideLayout2.xml"/><Relationship Id="rId6" Type="http://schemas.openxmlformats.org/officeDocument/2006/relationships/image" Target="../media/image118.jpeg"/><Relationship Id="rId5" Type="http://schemas.openxmlformats.org/officeDocument/2006/relationships/image" Target="../media/image117.jpeg"/><Relationship Id="rId4" Type="http://schemas.openxmlformats.org/officeDocument/2006/relationships/image" Target="../media/image116.jpeg"/></Relationships>
</file>

<file path=ppt/slides/_rels/slide87.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image" Target="../media/image120.jpeg"/></Relationships>
</file>

<file path=ppt/slides/_rels/slide88.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6.xml"/></Relationships>
</file>

<file path=ppt/slides/_rels/slide90.xml.rels><?xml version="1.0" encoding="UTF-8" standalone="yes"?>
<Relationships xmlns="http://schemas.openxmlformats.org/package/2006/relationships"><Relationship Id="rId3" Type="http://schemas.openxmlformats.org/officeDocument/2006/relationships/image" Target="../media/image121.jpeg"/><Relationship Id="rId2" Type="http://schemas.openxmlformats.org/officeDocument/2006/relationships/notesSlide" Target="../notesSlides/notesSlide57.xml"/><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3" Type="http://schemas.openxmlformats.org/officeDocument/2006/relationships/image" Target="../media/image122.jpeg"/><Relationship Id="rId2" Type="http://schemas.openxmlformats.org/officeDocument/2006/relationships/notesSlide" Target="../notesSlides/notesSlide58.xml"/><Relationship Id="rId1" Type="http://schemas.openxmlformats.org/officeDocument/2006/relationships/slideLayout" Target="../slideLayouts/slideLayout13.xml"/><Relationship Id="rId6" Type="http://schemas.openxmlformats.org/officeDocument/2006/relationships/image" Target="../media/image125.jpeg"/><Relationship Id="rId5" Type="http://schemas.openxmlformats.org/officeDocument/2006/relationships/image" Target="../media/image124.jpeg"/><Relationship Id="rId4" Type="http://schemas.openxmlformats.org/officeDocument/2006/relationships/image" Target="../media/image123.jpeg"/></Relationships>
</file>

<file path=ppt/slides/_rels/slide92.xml.rels><?xml version="1.0" encoding="UTF-8" standalone="yes"?>
<Relationships xmlns="http://schemas.openxmlformats.org/package/2006/relationships"><Relationship Id="rId3" Type="http://schemas.openxmlformats.org/officeDocument/2006/relationships/image" Target="../media/image126.jpeg"/><Relationship Id="rId2" Type="http://schemas.openxmlformats.org/officeDocument/2006/relationships/notesSlide" Target="../notesSlides/notesSlide59.xml"/><Relationship Id="rId1" Type="http://schemas.openxmlformats.org/officeDocument/2006/relationships/slideLayout" Target="../slideLayouts/slideLayout13.xml"/><Relationship Id="rId4" Type="http://schemas.openxmlformats.org/officeDocument/2006/relationships/image" Target="../media/image127.jpeg"/></Relationships>
</file>

<file path=ppt/slides/_rels/slide93.xml.rels><?xml version="1.0" encoding="UTF-8" standalone="yes"?>
<Relationships xmlns="http://schemas.openxmlformats.org/package/2006/relationships"><Relationship Id="rId3" Type="http://schemas.openxmlformats.org/officeDocument/2006/relationships/image" Target="../media/image128.jpeg"/><Relationship Id="rId2" Type="http://schemas.openxmlformats.org/officeDocument/2006/relationships/notesSlide" Target="../notesSlides/notesSlide60.xml"/><Relationship Id="rId1" Type="http://schemas.openxmlformats.org/officeDocument/2006/relationships/slideLayout" Target="../slideLayouts/slideLayout13.xml"/><Relationship Id="rId5" Type="http://schemas.openxmlformats.org/officeDocument/2006/relationships/image" Target="../media/image130.jpeg"/><Relationship Id="rId4" Type="http://schemas.openxmlformats.org/officeDocument/2006/relationships/image" Target="../media/image129.jpeg"/></Relationships>
</file>

<file path=ppt/slides/_rels/slide94.xml.rels><?xml version="1.0" encoding="UTF-8" standalone="yes"?>
<Relationships xmlns="http://schemas.openxmlformats.org/package/2006/relationships"><Relationship Id="rId3" Type="http://schemas.openxmlformats.org/officeDocument/2006/relationships/image" Target="../media/image128.jpeg"/><Relationship Id="rId2" Type="http://schemas.openxmlformats.org/officeDocument/2006/relationships/notesSlide" Target="../notesSlides/notesSlide61.xml"/><Relationship Id="rId1" Type="http://schemas.openxmlformats.org/officeDocument/2006/relationships/slideLayout" Target="../slideLayouts/slideLayout13.xml"/><Relationship Id="rId5" Type="http://schemas.openxmlformats.org/officeDocument/2006/relationships/image" Target="../media/image130.jpeg"/><Relationship Id="rId4" Type="http://schemas.openxmlformats.org/officeDocument/2006/relationships/image" Target="../media/image129.jpeg"/></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2.xml"/></Relationships>
</file>

<file path=ppt/slides/_rels/slide96.xml.rels><?xml version="1.0" encoding="UTF-8" standalone="yes"?>
<Relationships xmlns="http://schemas.openxmlformats.org/package/2006/relationships"><Relationship Id="rId3" Type="http://schemas.openxmlformats.org/officeDocument/2006/relationships/image" Target="../media/image131.jpeg"/><Relationship Id="rId2" Type="http://schemas.openxmlformats.org/officeDocument/2006/relationships/notesSlide" Target="../notesSlides/notesSlide63.xml"/><Relationship Id="rId1" Type="http://schemas.openxmlformats.org/officeDocument/2006/relationships/slideLayout" Target="../slideLayouts/slideLayout13.xml"/><Relationship Id="rId4" Type="http://schemas.openxmlformats.org/officeDocument/2006/relationships/image" Target="../media/image132.jpeg"/></Relationships>
</file>

<file path=ppt/slides/_rels/slide97.xml.rels><?xml version="1.0" encoding="UTF-8" standalone="yes"?>
<Relationships xmlns="http://schemas.openxmlformats.org/package/2006/relationships"><Relationship Id="rId3" Type="http://schemas.openxmlformats.org/officeDocument/2006/relationships/image" Target="../media/image133.jpeg"/><Relationship Id="rId2" Type="http://schemas.openxmlformats.org/officeDocument/2006/relationships/notesSlide" Target="../notesSlides/notesSlide64.xml"/><Relationship Id="rId1" Type="http://schemas.openxmlformats.org/officeDocument/2006/relationships/slideLayout" Target="../slideLayouts/slideLayout13.xml"/><Relationship Id="rId5" Type="http://schemas.openxmlformats.org/officeDocument/2006/relationships/image" Target="../media/image135.png"/><Relationship Id="rId4" Type="http://schemas.openxmlformats.org/officeDocument/2006/relationships/image" Target="../media/image134.jpeg"/></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6.xml"/></Relationships>
</file>

<file path=ppt/slides/_rels/slide99.xml.rels><?xml version="1.0" encoding="UTF-8" standalone="yes"?>
<Relationships xmlns="http://schemas.openxmlformats.org/package/2006/relationships"><Relationship Id="rId2" Type="http://schemas.openxmlformats.org/officeDocument/2006/relationships/image" Target="../media/image136.jpe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137.jpe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138.jpe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139.jpe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140.emf"/><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8" Type="http://schemas.openxmlformats.org/officeDocument/2006/relationships/image" Target="../media/image142.png"/><Relationship Id="rId3" Type="http://schemas.openxmlformats.org/officeDocument/2006/relationships/oleObject" Target="../embeddings/oleObject2.bin"/><Relationship Id="rId7"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144.jpeg"/><Relationship Id="rId5" Type="http://schemas.openxmlformats.org/officeDocument/2006/relationships/image" Target="../media/image143.jpeg"/><Relationship Id="rId10" Type="http://schemas.openxmlformats.org/officeDocument/2006/relationships/image" Target="../media/image146.jpeg"/><Relationship Id="rId4" Type="http://schemas.openxmlformats.org/officeDocument/2006/relationships/image" Target="../media/image141.wmf"/><Relationship Id="rId9" Type="http://schemas.openxmlformats.org/officeDocument/2006/relationships/image" Target="../media/image145.jpe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147.jpeg"/><Relationship Id="rId7" Type="http://schemas.openxmlformats.org/officeDocument/2006/relationships/slide" Target="slide12.xml"/><Relationship Id="rId2" Type="http://schemas.openxmlformats.org/officeDocument/2006/relationships/notesSlide" Target="../notesSlides/notesSlide66.xml"/><Relationship Id="rId1" Type="http://schemas.openxmlformats.org/officeDocument/2006/relationships/slideLayout" Target="../slideLayouts/slideLayout6.xml"/><Relationship Id="rId6" Type="http://schemas.openxmlformats.org/officeDocument/2006/relationships/image" Target="../media/image150.jpeg"/><Relationship Id="rId5" Type="http://schemas.openxmlformats.org/officeDocument/2006/relationships/image" Target="../media/image149.jpeg"/><Relationship Id="rId4" Type="http://schemas.openxmlformats.org/officeDocument/2006/relationships/image" Target="../media/image148.jpeg"/></Relationships>
</file>

<file path=ppt/slides/_rels/slide10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file:///C:\Users\SPEC-7\Desktop\PP407\Convergence%20VDO\08%20-%20Chemical%20Pulping.mp4" TargetMode="External"/><Relationship Id="rId1" Type="http://schemas.microsoft.com/office/2007/relationships/media" Target="file:///C:\Users\SPEC-7\Desktop\PP407\Convergence%20VDO\08%20-%20Chemical%20Pulping.mp4" TargetMode="External"/><Relationship Id="rId5" Type="http://schemas.openxmlformats.org/officeDocument/2006/relationships/image" Target="../media/image151.png"/><Relationship Id="rId4" Type="http://schemas.openxmlformats.org/officeDocument/2006/relationships/notesSlide" Target="../notesSlides/notesSlide67.xml"/></Relationships>
</file>

<file path=ppt/slides/_rels/slide108.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notesSlide" Target="../notesSlides/notesSlide68.xml"/><Relationship Id="rId1" Type="http://schemas.openxmlformats.org/officeDocument/2006/relationships/slideLayout" Target="../slideLayouts/slideLayout2.xml"/><Relationship Id="rId4" Type="http://schemas.openxmlformats.org/officeDocument/2006/relationships/image" Target="../media/image153.png"/></Relationships>
</file>

<file path=ppt/slides/_rels/slide109.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notesSlide" Target="../notesSlides/notesSlide69.xml"/><Relationship Id="rId1" Type="http://schemas.openxmlformats.org/officeDocument/2006/relationships/slideLayout" Target="../slideLayouts/slideLayout2.xml"/><Relationship Id="rId4" Type="http://schemas.openxmlformats.org/officeDocument/2006/relationships/image" Target="../media/image155.png"/></Relationships>
</file>

<file path=ppt/slides/_rels/slide110.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file:///C:\Users\SPEC-7\Desktop\PP407\Convergence%20VDO\09%20-%20Cooking.mp4" TargetMode="External"/><Relationship Id="rId1" Type="http://schemas.microsoft.com/office/2007/relationships/media" Target="file:///C:\Users\SPEC-7\Desktop\PP407\Convergence%20VDO\09%20-%20Cooking.mp4" TargetMode="External"/><Relationship Id="rId5" Type="http://schemas.openxmlformats.org/officeDocument/2006/relationships/image" Target="../media/image157.png"/><Relationship Id="rId4" Type="http://schemas.openxmlformats.org/officeDocument/2006/relationships/notesSlide" Target="../notesSlides/notesSlide71.xml"/></Relationships>
</file>

<file path=ppt/slides/_rels/slide112.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72.xml"/><Relationship Id="rId1" Type="http://schemas.openxmlformats.org/officeDocument/2006/relationships/slideLayout" Target="../slideLayouts/slideLayout2.xml"/><Relationship Id="rId4" Type="http://schemas.openxmlformats.org/officeDocument/2006/relationships/image" Target="../media/image159.png"/></Relationships>
</file>

<file path=ppt/slides/_rels/slide113.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73.xml"/><Relationship Id="rId1" Type="http://schemas.openxmlformats.org/officeDocument/2006/relationships/slideLayout" Target="../slideLayouts/slideLayout2.xml"/><Relationship Id="rId4" Type="http://schemas.openxmlformats.org/officeDocument/2006/relationships/image" Target="../media/image161.png"/></Relationships>
</file>

<file path=ppt/slides/_rels/slide114.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notesSlide" Target="../notesSlides/notesSlide74.xml"/><Relationship Id="rId1" Type="http://schemas.openxmlformats.org/officeDocument/2006/relationships/slideLayout" Target="../slideLayouts/slideLayout2.xml"/><Relationship Id="rId4" Type="http://schemas.openxmlformats.org/officeDocument/2006/relationships/image" Target="../media/image163.png"/></Relationships>
</file>

<file path=ppt/slides/_rels/slide1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file:///C:\Users\SPEC-7\Desktop\PP407\Convergence%20VDO\10%20-%20Sulfite%20Pulping%20Process.mp4" TargetMode="External"/><Relationship Id="rId1" Type="http://schemas.microsoft.com/office/2007/relationships/media" Target="file:///C:\Users\SPEC-7\Desktop\PP407\Convergence%20VDO\10%20-%20Sulfite%20Pulping%20Process.mp4" TargetMode="External"/><Relationship Id="rId5" Type="http://schemas.openxmlformats.org/officeDocument/2006/relationships/image" Target="../media/image164.png"/><Relationship Id="rId4" Type="http://schemas.openxmlformats.org/officeDocument/2006/relationships/notesSlide" Target="../notesSlides/notesSlide75.xml"/></Relationships>
</file>

<file path=ppt/slides/_rels/slide116.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notesSlide" Target="../notesSlides/notesSlide76.xml"/><Relationship Id="rId1" Type="http://schemas.openxmlformats.org/officeDocument/2006/relationships/slideLayout" Target="../slideLayouts/slideLayout2.xml"/><Relationship Id="rId4" Type="http://schemas.openxmlformats.org/officeDocument/2006/relationships/image" Target="../media/image166.png"/></Relationships>
</file>

<file path=ppt/slides/_rels/slide117.xml.rels><?xml version="1.0" encoding="UTF-8" standalone="yes"?>
<Relationships xmlns="http://schemas.openxmlformats.org/package/2006/relationships"><Relationship Id="rId3" Type="http://schemas.openxmlformats.org/officeDocument/2006/relationships/image" Target="../media/image167.png"/><Relationship Id="rId2" Type="http://schemas.openxmlformats.org/officeDocument/2006/relationships/notesSlide" Target="../notesSlides/notesSlide77.xml"/><Relationship Id="rId1" Type="http://schemas.openxmlformats.org/officeDocument/2006/relationships/slideLayout" Target="../slideLayouts/slideLayout2.xml"/><Relationship Id="rId4" Type="http://schemas.openxmlformats.org/officeDocument/2006/relationships/image" Target="../media/image168.png"/></Relationships>
</file>

<file path=ppt/slides/_rels/slide1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file:///C:\Users\SPEC-7\Desktop\PP407\Convergence%20VDO\11%20-%20Kraft%20Pulping%20Process.mp4" TargetMode="External"/><Relationship Id="rId1" Type="http://schemas.microsoft.com/office/2007/relationships/media" Target="file:///C:\Users\SPEC-7\Desktop\PP407\Convergence%20VDO\11%20-%20Kraft%20Pulping%20Process.mp4" TargetMode="External"/><Relationship Id="rId5" Type="http://schemas.openxmlformats.org/officeDocument/2006/relationships/image" Target="../media/image169.png"/><Relationship Id="rId4" Type="http://schemas.openxmlformats.org/officeDocument/2006/relationships/notesSlide" Target="../notesSlides/notesSlide78.xml"/></Relationships>
</file>

<file path=ppt/slides/_rels/slide119.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79.xml"/><Relationship Id="rId1" Type="http://schemas.openxmlformats.org/officeDocument/2006/relationships/slideLayout" Target="../slideLayouts/slideLayout2.xml"/><Relationship Id="rId4" Type="http://schemas.openxmlformats.org/officeDocument/2006/relationships/image" Target="../media/image171.png"/></Relationships>
</file>

<file path=ppt/slides/_rels/slide120.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notesSlide" Target="../notesSlides/notesSlide80.xml"/><Relationship Id="rId1" Type="http://schemas.openxmlformats.org/officeDocument/2006/relationships/slideLayout" Target="../slideLayouts/slideLayout2.xml"/><Relationship Id="rId4" Type="http://schemas.openxmlformats.org/officeDocument/2006/relationships/image" Target="../media/image173.png"/></Relationships>
</file>

<file path=ppt/slides/_rels/slide1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file:///C:\Users\SPEC-7\Desktop\PP407\Convergence%20VDO\13%20-%20Pulp%20Handling.mp4" TargetMode="External"/><Relationship Id="rId1" Type="http://schemas.microsoft.com/office/2007/relationships/media" Target="file:///C:\Users\SPEC-7\Desktop\PP407\Convergence%20VDO\13%20-%20Pulp%20Handling.mp4" TargetMode="External"/><Relationship Id="rId5" Type="http://schemas.openxmlformats.org/officeDocument/2006/relationships/image" Target="../media/image174.png"/><Relationship Id="rId4" Type="http://schemas.openxmlformats.org/officeDocument/2006/relationships/notesSlide" Target="../notesSlides/notesSlide81.xml"/></Relationships>
</file>

<file path=ppt/slides/_rels/slide122.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notesSlide" Target="../notesSlides/notesSlide82.xml"/><Relationship Id="rId1" Type="http://schemas.openxmlformats.org/officeDocument/2006/relationships/slideLayout" Target="../slideLayouts/slideLayout2.xml"/><Relationship Id="rId4" Type="http://schemas.openxmlformats.org/officeDocument/2006/relationships/image" Target="../media/image176.png"/></Relationships>
</file>

<file path=ppt/slides/_rels/slide123.xml.rels><?xml version="1.0" encoding="UTF-8" standalone="yes"?>
<Relationships xmlns="http://schemas.openxmlformats.org/package/2006/relationships"><Relationship Id="rId3" Type="http://schemas.openxmlformats.org/officeDocument/2006/relationships/image" Target="../media/image177.png"/><Relationship Id="rId2" Type="http://schemas.openxmlformats.org/officeDocument/2006/relationships/notesSlide" Target="../notesSlides/notesSlide83.xml"/><Relationship Id="rId1" Type="http://schemas.openxmlformats.org/officeDocument/2006/relationships/slideLayout" Target="../slideLayouts/slideLayout2.xml"/><Relationship Id="rId4" Type="http://schemas.openxmlformats.org/officeDocument/2006/relationships/image" Target="../media/image178.png"/></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6.xml"/></Relationships>
</file>

<file path=ppt/slides/_rels/slide125.xml.rels><?xml version="1.0" encoding="UTF-8" standalone="yes"?>
<Relationships xmlns="http://schemas.openxmlformats.org/package/2006/relationships"><Relationship Id="rId8" Type="http://schemas.openxmlformats.org/officeDocument/2006/relationships/image" Target="../media/image184.png"/><Relationship Id="rId13" Type="http://schemas.openxmlformats.org/officeDocument/2006/relationships/image" Target="../media/image189.png"/><Relationship Id="rId3" Type="http://schemas.openxmlformats.org/officeDocument/2006/relationships/image" Target="../media/image179.emf"/><Relationship Id="rId7" Type="http://schemas.openxmlformats.org/officeDocument/2006/relationships/image" Target="../media/image183.png"/><Relationship Id="rId12" Type="http://schemas.openxmlformats.org/officeDocument/2006/relationships/image" Target="../media/image188.png"/><Relationship Id="rId2" Type="http://schemas.openxmlformats.org/officeDocument/2006/relationships/notesSlide" Target="../notesSlides/notesSlide85.xml"/><Relationship Id="rId16" Type="http://schemas.openxmlformats.org/officeDocument/2006/relationships/image" Target="../media/image192.emf"/><Relationship Id="rId1" Type="http://schemas.openxmlformats.org/officeDocument/2006/relationships/slideLayout" Target="../slideLayouts/slideLayout2.xml"/><Relationship Id="rId6" Type="http://schemas.openxmlformats.org/officeDocument/2006/relationships/image" Target="../media/image182.png"/><Relationship Id="rId11" Type="http://schemas.openxmlformats.org/officeDocument/2006/relationships/image" Target="../media/image187.png"/><Relationship Id="rId5" Type="http://schemas.openxmlformats.org/officeDocument/2006/relationships/image" Target="../media/image181.emf"/><Relationship Id="rId15" Type="http://schemas.openxmlformats.org/officeDocument/2006/relationships/image" Target="../media/image191.emf"/><Relationship Id="rId10" Type="http://schemas.openxmlformats.org/officeDocument/2006/relationships/image" Target="../media/image186.png"/><Relationship Id="rId4" Type="http://schemas.openxmlformats.org/officeDocument/2006/relationships/image" Target="../media/image180.emf"/><Relationship Id="rId9" Type="http://schemas.openxmlformats.org/officeDocument/2006/relationships/image" Target="../media/image185.png"/><Relationship Id="rId14" Type="http://schemas.openxmlformats.org/officeDocument/2006/relationships/image" Target="../media/image190.emf"/></Relationships>
</file>

<file path=ppt/slides/_rels/slide126.xml.rels><?xml version="1.0" encoding="UTF-8" standalone="yes"?>
<Relationships xmlns="http://schemas.openxmlformats.org/package/2006/relationships"><Relationship Id="rId3" Type="http://schemas.openxmlformats.org/officeDocument/2006/relationships/image" Target="../media/image193.pn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195.png"/><Relationship Id="rId2" Type="http://schemas.openxmlformats.org/officeDocument/2006/relationships/image" Target="../media/image194.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196.jpeg"/><Relationship Id="rId1" Type="http://schemas.openxmlformats.org/officeDocument/2006/relationships/slideLayout" Target="../slideLayouts/slideLayout13.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197.jpe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image" Target="../media/image198.jpeg"/><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199.jpe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13.xml"/><Relationship Id="rId1" Type="http://schemas.openxmlformats.org/officeDocument/2006/relationships/vmlDrawing" Target="../drawings/vmlDrawing2.vml"/><Relationship Id="rId4" Type="http://schemas.openxmlformats.org/officeDocument/2006/relationships/image" Target="../media/image200.wmf"/></Relationships>
</file>

<file path=ppt/slides/_rels/slide139.xml.rels><?xml version="1.0" encoding="UTF-8" standalone="yes"?>
<Relationships xmlns="http://schemas.openxmlformats.org/package/2006/relationships"><Relationship Id="rId3" Type="http://schemas.openxmlformats.org/officeDocument/2006/relationships/image" Target="../media/image202.jpeg"/><Relationship Id="rId2" Type="http://schemas.openxmlformats.org/officeDocument/2006/relationships/image" Target="../media/image201.emf"/><Relationship Id="rId1" Type="http://schemas.openxmlformats.org/officeDocument/2006/relationships/slideLayout" Target="../slideLayouts/slideLayout2.xml"/><Relationship Id="rId4" Type="http://schemas.openxmlformats.org/officeDocument/2006/relationships/image" Target="../media/image203.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2.xml.rels><?xml version="1.0" encoding="UTF-8" standalone="yes"?>
<Relationships xmlns="http://schemas.openxmlformats.org/package/2006/relationships"><Relationship Id="rId2" Type="http://schemas.openxmlformats.org/officeDocument/2006/relationships/image" Target="../media/image204.png"/><Relationship Id="rId1" Type="http://schemas.openxmlformats.org/officeDocument/2006/relationships/slideLayout" Target="../slideLayouts/slideLayout12.xml"/></Relationships>
</file>

<file path=ppt/slides/_rels/slide143.xml.rels><?xml version="1.0" encoding="UTF-8" standalone="yes"?>
<Relationships xmlns="http://schemas.openxmlformats.org/package/2006/relationships"><Relationship Id="rId2" Type="http://schemas.openxmlformats.org/officeDocument/2006/relationships/image" Target="../media/image205.jpeg"/><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2" Type="http://schemas.openxmlformats.org/officeDocument/2006/relationships/image" Target="../media/image206.jpeg"/><Relationship Id="rId1" Type="http://schemas.openxmlformats.org/officeDocument/2006/relationships/slideLayout" Target="../slideLayouts/slideLayout14.xml"/></Relationships>
</file>

<file path=ppt/slides/_rels/slide145.xml.rels><?xml version="1.0" encoding="UTF-8" standalone="yes"?>
<Relationships xmlns="http://schemas.openxmlformats.org/package/2006/relationships"><Relationship Id="rId3" Type="http://schemas.openxmlformats.org/officeDocument/2006/relationships/hyperlink" Target="file:///I:\for%20course%202%20(17-19%20may%202004)\Chip%20meter.MPG" TargetMode="External"/><Relationship Id="rId2" Type="http://schemas.openxmlformats.org/officeDocument/2006/relationships/image" Target="../media/image207.jpeg"/><Relationship Id="rId1" Type="http://schemas.openxmlformats.org/officeDocument/2006/relationships/slideLayout" Target="../slideLayouts/slideLayout12.xml"/><Relationship Id="rId4" Type="http://schemas.openxmlformats.org/officeDocument/2006/relationships/image" Target="../media/image208.jpe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7.xml.rels><?xml version="1.0" encoding="UTF-8" standalone="yes"?>
<Relationships xmlns="http://schemas.openxmlformats.org/package/2006/relationships"><Relationship Id="rId2" Type="http://schemas.openxmlformats.org/officeDocument/2006/relationships/image" Target="../media/image209.jpeg"/><Relationship Id="rId1" Type="http://schemas.openxmlformats.org/officeDocument/2006/relationships/slideLayout" Target="../slideLayouts/slideLayout12.xml"/></Relationships>
</file>

<file path=ppt/slides/_rels/slide148.xml.rels><?xml version="1.0" encoding="UTF-8" standalone="yes"?>
<Relationships xmlns="http://schemas.openxmlformats.org/package/2006/relationships"><Relationship Id="rId2" Type="http://schemas.openxmlformats.org/officeDocument/2006/relationships/image" Target="../media/image210.jpeg"/><Relationship Id="rId1" Type="http://schemas.openxmlformats.org/officeDocument/2006/relationships/slideLayout" Target="../slideLayouts/slideLayout12.xml"/></Relationships>
</file>

<file path=ppt/slides/_rels/slide149.xml.rels><?xml version="1.0" encoding="UTF-8" standalone="yes"?>
<Relationships xmlns="http://schemas.openxmlformats.org/package/2006/relationships"><Relationship Id="rId2" Type="http://schemas.openxmlformats.org/officeDocument/2006/relationships/image" Target="../media/image211.jpeg"/><Relationship Id="rId1" Type="http://schemas.openxmlformats.org/officeDocument/2006/relationships/slideLayout" Target="../slideLayouts/slideLayout12.xml"/></Relationships>
</file>

<file path=ppt/slides/_rels/slide150.xml.rels><?xml version="1.0" encoding="UTF-8" standalone="yes"?>
<Relationships xmlns="http://schemas.openxmlformats.org/package/2006/relationships"><Relationship Id="rId2" Type="http://schemas.openxmlformats.org/officeDocument/2006/relationships/image" Target="../media/image211.jpeg"/><Relationship Id="rId1" Type="http://schemas.openxmlformats.org/officeDocument/2006/relationships/slideLayout" Target="../slideLayouts/slideLayout12.xml"/></Relationships>
</file>

<file path=ppt/slides/_rels/slide151.xml.rels><?xml version="1.0" encoding="UTF-8" standalone="yes"?>
<Relationships xmlns="http://schemas.openxmlformats.org/package/2006/relationships"><Relationship Id="rId2" Type="http://schemas.openxmlformats.org/officeDocument/2006/relationships/image" Target="../media/image212.jpeg"/><Relationship Id="rId1" Type="http://schemas.openxmlformats.org/officeDocument/2006/relationships/slideLayout" Target="../slideLayouts/slideLayout12.xml"/></Relationships>
</file>

<file path=ppt/slides/_rels/slide152.xml.rels><?xml version="1.0" encoding="UTF-8" standalone="yes"?>
<Relationships xmlns="http://schemas.openxmlformats.org/package/2006/relationships"><Relationship Id="rId2" Type="http://schemas.openxmlformats.org/officeDocument/2006/relationships/image" Target="../media/image213.jpeg"/><Relationship Id="rId1" Type="http://schemas.openxmlformats.org/officeDocument/2006/relationships/slideLayout" Target="../slideLayouts/slideLayout12.xml"/></Relationships>
</file>

<file path=ppt/slides/_rels/slide153.xml.rels><?xml version="1.0" encoding="UTF-8" standalone="yes"?>
<Relationships xmlns="http://schemas.openxmlformats.org/package/2006/relationships"><Relationship Id="rId2" Type="http://schemas.openxmlformats.org/officeDocument/2006/relationships/image" Target="../media/image214.png"/><Relationship Id="rId1" Type="http://schemas.openxmlformats.org/officeDocument/2006/relationships/slideLayout" Target="../slideLayouts/slideLayout12.xml"/></Relationships>
</file>

<file path=ppt/slides/_rels/slide154.xml.rels><?xml version="1.0" encoding="UTF-8" standalone="yes"?>
<Relationships xmlns="http://schemas.openxmlformats.org/package/2006/relationships"><Relationship Id="rId2" Type="http://schemas.openxmlformats.org/officeDocument/2006/relationships/image" Target="../media/image215.png"/><Relationship Id="rId1" Type="http://schemas.openxmlformats.org/officeDocument/2006/relationships/slideLayout" Target="../slideLayouts/slideLayout4.xml"/></Relationships>
</file>

<file path=ppt/slides/_rels/slide155.xml.rels><?xml version="1.0" encoding="UTF-8" standalone="yes"?>
<Relationships xmlns="http://schemas.openxmlformats.org/package/2006/relationships"><Relationship Id="rId2" Type="http://schemas.openxmlformats.org/officeDocument/2006/relationships/image" Target="../media/image216.jpeg"/><Relationship Id="rId1" Type="http://schemas.openxmlformats.org/officeDocument/2006/relationships/slideLayout" Target="../slideLayouts/slideLayout12.xml"/></Relationships>
</file>

<file path=ppt/slides/_rels/slide156.xml.rels><?xml version="1.0" encoding="UTF-8" standalone="yes"?>
<Relationships xmlns="http://schemas.openxmlformats.org/package/2006/relationships"><Relationship Id="rId2" Type="http://schemas.openxmlformats.org/officeDocument/2006/relationships/image" Target="../media/image217.png"/><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image" Target="../media/image218.bin"/><Relationship Id="rId1" Type="http://schemas.openxmlformats.org/officeDocument/2006/relationships/slideLayout" Target="../slideLayouts/slideLayout4.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9.xml.rels><?xml version="1.0" encoding="UTF-8" standalone="yes"?>
<Relationships xmlns="http://schemas.openxmlformats.org/package/2006/relationships"><Relationship Id="rId2" Type="http://schemas.openxmlformats.org/officeDocument/2006/relationships/image" Target="../media/image219.jpeg"/><Relationship Id="rId1" Type="http://schemas.openxmlformats.org/officeDocument/2006/relationships/slideLayout" Target="../slideLayouts/slideLayout4.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1.xml.rels><?xml version="1.0" encoding="UTF-8" standalone="yes"?>
<Relationships xmlns="http://schemas.openxmlformats.org/package/2006/relationships"><Relationship Id="rId2" Type="http://schemas.openxmlformats.org/officeDocument/2006/relationships/image" Target="../media/image220.png"/><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image" Target="../media/image221.jpeg"/><Relationship Id="rId1" Type="http://schemas.openxmlformats.org/officeDocument/2006/relationships/slideLayout" Target="../slideLayouts/slideLayout12.xml"/></Relationships>
</file>

<file path=ppt/slides/_rels/slide165.xml.rels><?xml version="1.0" encoding="UTF-8" standalone="yes"?>
<Relationships xmlns="http://schemas.openxmlformats.org/package/2006/relationships"><Relationship Id="rId2" Type="http://schemas.openxmlformats.org/officeDocument/2006/relationships/image" Target="../media/image222.jpeg"/><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image" Target="../media/image223.jpeg"/><Relationship Id="rId1" Type="http://schemas.openxmlformats.org/officeDocument/2006/relationships/slideLayout" Target="../slideLayouts/slideLayout12.xml"/></Relationships>
</file>

<file path=ppt/slides/_rels/slide167.xml.rels><?xml version="1.0" encoding="UTF-8" standalone="yes"?>
<Relationships xmlns="http://schemas.openxmlformats.org/package/2006/relationships"><Relationship Id="rId2" Type="http://schemas.openxmlformats.org/officeDocument/2006/relationships/image" Target="../media/image224.jpeg"/><Relationship Id="rId1" Type="http://schemas.openxmlformats.org/officeDocument/2006/relationships/slideLayout" Target="../slideLayouts/slideLayout12.xml"/></Relationships>
</file>

<file path=ppt/slides/_rels/slide168.xml.rels><?xml version="1.0" encoding="UTF-8" standalone="yes"?>
<Relationships xmlns="http://schemas.openxmlformats.org/package/2006/relationships"><Relationship Id="rId3" Type="http://schemas.openxmlformats.org/officeDocument/2006/relationships/image" Target="../media/image225.jpeg"/><Relationship Id="rId2" Type="http://schemas.openxmlformats.org/officeDocument/2006/relationships/image" Target="../media/image224.jpeg"/><Relationship Id="rId1" Type="http://schemas.openxmlformats.org/officeDocument/2006/relationships/slideLayout" Target="../slideLayouts/slideLayout4.xml"/></Relationships>
</file>

<file path=ppt/slides/_rels/slide169.xml.rels><?xml version="1.0" encoding="UTF-8" standalone="yes"?>
<Relationships xmlns="http://schemas.openxmlformats.org/package/2006/relationships"><Relationship Id="rId3" Type="http://schemas.openxmlformats.org/officeDocument/2006/relationships/image" Target="../media/image226.jpeg"/><Relationship Id="rId2" Type="http://schemas.openxmlformats.org/officeDocument/2006/relationships/image" Target="../media/image224.jpeg"/><Relationship Id="rId1" Type="http://schemas.openxmlformats.org/officeDocument/2006/relationships/slideLayout" Target="../slideLayouts/slideLayout4.xml"/></Relationships>
</file>

<file path=ppt/slides/_rels/slide170.xml.rels><?xml version="1.0" encoding="UTF-8" standalone="yes"?>
<Relationships xmlns="http://schemas.openxmlformats.org/package/2006/relationships"><Relationship Id="rId3" Type="http://schemas.openxmlformats.org/officeDocument/2006/relationships/image" Target="../media/image227.jpeg"/><Relationship Id="rId2" Type="http://schemas.openxmlformats.org/officeDocument/2006/relationships/image" Target="../media/image224.jpeg"/><Relationship Id="rId1" Type="http://schemas.openxmlformats.org/officeDocument/2006/relationships/slideLayout" Target="../slideLayouts/slideLayout4.xml"/></Relationships>
</file>

<file path=ppt/slides/_rels/slide171.xml.rels><?xml version="1.0" encoding="UTF-8" standalone="yes"?>
<Relationships xmlns="http://schemas.openxmlformats.org/package/2006/relationships"><Relationship Id="rId2" Type="http://schemas.openxmlformats.org/officeDocument/2006/relationships/image" Target="../media/image228.jpeg"/><Relationship Id="rId1" Type="http://schemas.openxmlformats.org/officeDocument/2006/relationships/slideLayout" Target="../slideLayouts/slideLayout4.xml"/></Relationships>
</file>

<file path=ppt/slides/_rels/slide172.xml.rels><?xml version="1.0" encoding="UTF-8" standalone="yes"?>
<Relationships xmlns="http://schemas.openxmlformats.org/package/2006/relationships"><Relationship Id="rId3" Type="http://schemas.openxmlformats.org/officeDocument/2006/relationships/image" Target="../media/image229.jpeg"/><Relationship Id="rId2" Type="http://schemas.openxmlformats.org/officeDocument/2006/relationships/image" Target="../media/image224.jpeg"/><Relationship Id="rId1" Type="http://schemas.openxmlformats.org/officeDocument/2006/relationships/slideLayout" Target="../slideLayouts/slideLayout4.xml"/></Relationships>
</file>

<file path=ppt/slides/_rels/slide173.xml.rels><?xml version="1.0" encoding="UTF-8" standalone="yes"?>
<Relationships xmlns="http://schemas.openxmlformats.org/package/2006/relationships"><Relationship Id="rId3" Type="http://schemas.openxmlformats.org/officeDocument/2006/relationships/image" Target="../media/image229.jpeg"/><Relationship Id="rId2" Type="http://schemas.openxmlformats.org/officeDocument/2006/relationships/image" Target="../media/image224.jpeg"/><Relationship Id="rId1" Type="http://schemas.openxmlformats.org/officeDocument/2006/relationships/slideLayout" Target="../slideLayouts/slideLayout4.xml"/></Relationships>
</file>

<file path=ppt/slides/_rels/slide174.xml.rels><?xml version="1.0" encoding="UTF-8" standalone="yes"?>
<Relationships xmlns="http://schemas.openxmlformats.org/package/2006/relationships"><Relationship Id="rId2" Type="http://schemas.openxmlformats.org/officeDocument/2006/relationships/image" Target="../media/image230.jpeg"/><Relationship Id="rId1" Type="http://schemas.openxmlformats.org/officeDocument/2006/relationships/slideLayout" Target="../slideLayouts/slideLayout4.xml"/></Relationships>
</file>

<file path=ppt/slides/_rels/slide175.xml.rels><?xml version="1.0" encoding="UTF-8" standalone="yes"?>
<Relationships xmlns="http://schemas.openxmlformats.org/package/2006/relationships"><Relationship Id="rId2" Type="http://schemas.openxmlformats.org/officeDocument/2006/relationships/image" Target="../media/image231.jpeg"/><Relationship Id="rId1" Type="http://schemas.openxmlformats.org/officeDocument/2006/relationships/slideLayout" Target="../slideLayouts/slideLayout4.xml"/></Relationships>
</file>

<file path=ppt/slides/_rels/slide176.xml.rels><?xml version="1.0" encoding="UTF-8" standalone="yes"?>
<Relationships xmlns="http://schemas.openxmlformats.org/package/2006/relationships"><Relationship Id="rId3" Type="http://schemas.openxmlformats.org/officeDocument/2006/relationships/image" Target="../media/image232.jpeg"/><Relationship Id="rId2" Type="http://schemas.openxmlformats.org/officeDocument/2006/relationships/image" Target="../media/image224.jpeg"/><Relationship Id="rId1" Type="http://schemas.openxmlformats.org/officeDocument/2006/relationships/slideLayout" Target="../slideLayouts/slideLayout4.xml"/></Relationships>
</file>

<file path=ppt/slides/_rels/slide177.xml.rels><?xml version="1.0" encoding="UTF-8" standalone="yes"?>
<Relationships xmlns="http://schemas.openxmlformats.org/package/2006/relationships"><Relationship Id="rId2" Type="http://schemas.openxmlformats.org/officeDocument/2006/relationships/image" Target="../media/image224.jpeg"/><Relationship Id="rId1" Type="http://schemas.openxmlformats.org/officeDocument/2006/relationships/slideLayout" Target="../slideLayouts/slideLayout4.xml"/></Relationships>
</file>

<file path=ppt/slides/_rels/slide178.xml.rels><?xml version="1.0" encoding="UTF-8" standalone="yes"?>
<Relationships xmlns="http://schemas.openxmlformats.org/package/2006/relationships"><Relationship Id="rId3" Type="http://schemas.openxmlformats.org/officeDocument/2006/relationships/image" Target="../media/image229.jpeg"/><Relationship Id="rId2" Type="http://schemas.openxmlformats.org/officeDocument/2006/relationships/image" Target="../media/image224.jpeg"/><Relationship Id="rId1" Type="http://schemas.openxmlformats.org/officeDocument/2006/relationships/slideLayout" Target="../slideLayouts/slideLayout4.xml"/></Relationships>
</file>

<file path=ppt/slides/_rels/slide179.xml.rels><?xml version="1.0" encoding="UTF-8" standalone="yes"?>
<Relationships xmlns="http://schemas.openxmlformats.org/package/2006/relationships"><Relationship Id="rId3" Type="http://schemas.openxmlformats.org/officeDocument/2006/relationships/image" Target="../media/image233.jpeg"/><Relationship Id="rId2" Type="http://schemas.openxmlformats.org/officeDocument/2006/relationships/image" Target="../media/image224.jpeg"/><Relationship Id="rId1" Type="http://schemas.openxmlformats.org/officeDocument/2006/relationships/slideLayout" Target="../slideLayouts/slideLayout4.xml"/><Relationship Id="rId4" Type="http://schemas.openxmlformats.org/officeDocument/2006/relationships/image" Target="../media/image234.jpeg"/></Relationships>
</file>

<file path=ppt/slides/_rels/slide180.xml.rels><?xml version="1.0" encoding="UTF-8" standalone="yes"?>
<Relationships xmlns="http://schemas.openxmlformats.org/package/2006/relationships"><Relationship Id="rId3" Type="http://schemas.openxmlformats.org/officeDocument/2006/relationships/image" Target="../media/image224.jpeg"/><Relationship Id="rId2" Type="http://schemas.openxmlformats.org/officeDocument/2006/relationships/image" Target="../media/image235.jpeg"/><Relationship Id="rId1" Type="http://schemas.openxmlformats.org/officeDocument/2006/relationships/slideLayout" Target="../slideLayouts/slideLayout12.xml"/></Relationships>
</file>

<file path=ppt/slides/_rels/slide181.xml.rels><?xml version="1.0" encoding="UTF-8" standalone="yes"?>
<Relationships xmlns="http://schemas.openxmlformats.org/package/2006/relationships"><Relationship Id="rId2" Type="http://schemas.openxmlformats.org/officeDocument/2006/relationships/image" Target="../media/image236.jpeg"/><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8" Type="http://schemas.openxmlformats.org/officeDocument/2006/relationships/image" Target="../media/image239.emf"/><Relationship Id="rId3" Type="http://schemas.openxmlformats.org/officeDocument/2006/relationships/oleObject" Target="../embeddings/oleObject5.bin"/><Relationship Id="rId7" Type="http://schemas.openxmlformats.org/officeDocument/2006/relationships/oleObject" Target="../embeddings/oleObject7.bin"/><Relationship Id="rId2" Type="http://schemas.openxmlformats.org/officeDocument/2006/relationships/slideLayout" Target="../slideLayouts/slideLayout13.xml"/><Relationship Id="rId1" Type="http://schemas.openxmlformats.org/officeDocument/2006/relationships/vmlDrawing" Target="../drawings/vmlDrawing3.vml"/><Relationship Id="rId6" Type="http://schemas.openxmlformats.org/officeDocument/2006/relationships/image" Target="../media/image238.emf"/><Relationship Id="rId5" Type="http://schemas.openxmlformats.org/officeDocument/2006/relationships/oleObject" Target="../embeddings/oleObject6.bin"/><Relationship Id="rId4" Type="http://schemas.openxmlformats.org/officeDocument/2006/relationships/image" Target="../media/image237.emf"/></Relationships>
</file>

<file path=ppt/slides/_rels/slide183.xml.rels><?xml version="1.0" encoding="UTF-8" standalone="yes"?>
<Relationships xmlns="http://schemas.openxmlformats.org/package/2006/relationships"><Relationship Id="rId2" Type="http://schemas.openxmlformats.org/officeDocument/2006/relationships/image" Target="../media/image240.jpeg"/><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2" Type="http://schemas.openxmlformats.org/officeDocument/2006/relationships/image" Target="../media/image241.jpeg"/><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3" Type="http://schemas.openxmlformats.org/officeDocument/2006/relationships/image" Target="../media/image243.jpeg"/><Relationship Id="rId2" Type="http://schemas.openxmlformats.org/officeDocument/2006/relationships/image" Target="../media/image242.jpeg"/><Relationship Id="rId1" Type="http://schemas.openxmlformats.org/officeDocument/2006/relationships/slideLayout" Target="../slideLayouts/slideLayout4.xml"/></Relationships>
</file>

<file path=ppt/slides/_rels/slide187.xml.rels><?xml version="1.0" encoding="UTF-8" standalone="yes"?>
<Relationships xmlns="http://schemas.openxmlformats.org/package/2006/relationships"><Relationship Id="rId3" Type="http://schemas.openxmlformats.org/officeDocument/2006/relationships/image" Target="../media/image245.jpeg"/><Relationship Id="rId2" Type="http://schemas.openxmlformats.org/officeDocument/2006/relationships/image" Target="../media/image244.jpeg"/><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3" Type="http://schemas.openxmlformats.org/officeDocument/2006/relationships/image" Target="../media/image247.jpeg"/><Relationship Id="rId2" Type="http://schemas.openxmlformats.org/officeDocument/2006/relationships/image" Target="../media/image246.jpeg"/><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3" Type="http://schemas.openxmlformats.org/officeDocument/2006/relationships/image" Target="../media/image249.jpeg"/><Relationship Id="rId2" Type="http://schemas.openxmlformats.org/officeDocument/2006/relationships/image" Target="../media/image248.jpeg"/><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2" Type="http://schemas.openxmlformats.org/officeDocument/2006/relationships/image" Target="../media/image250.bin"/><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2" Type="http://schemas.openxmlformats.org/officeDocument/2006/relationships/image" Target="../media/image251.bin"/><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2" Type="http://schemas.openxmlformats.org/officeDocument/2006/relationships/image" Target="../media/image252.bin"/><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2" Type="http://schemas.openxmlformats.org/officeDocument/2006/relationships/image" Target="../media/image253.bin"/><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2" Type="http://schemas.openxmlformats.org/officeDocument/2006/relationships/image" Target="../media/image254.jpeg"/><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8" Type="http://schemas.openxmlformats.org/officeDocument/2006/relationships/image" Target="../media/image239.emf"/><Relationship Id="rId3" Type="http://schemas.openxmlformats.org/officeDocument/2006/relationships/oleObject" Target="../embeddings/oleObject8.bin"/><Relationship Id="rId7" Type="http://schemas.openxmlformats.org/officeDocument/2006/relationships/oleObject" Target="../embeddings/oleObject10.bin"/><Relationship Id="rId2" Type="http://schemas.openxmlformats.org/officeDocument/2006/relationships/slideLayout" Target="../slideLayouts/slideLayout13.xml"/><Relationship Id="rId1" Type="http://schemas.openxmlformats.org/officeDocument/2006/relationships/vmlDrawing" Target="../drawings/vmlDrawing4.vml"/><Relationship Id="rId6" Type="http://schemas.openxmlformats.org/officeDocument/2006/relationships/image" Target="../media/image238.emf"/><Relationship Id="rId5" Type="http://schemas.openxmlformats.org/officeDocument/2006/relationships/oleObject" Target="../embeddings/oleObject9.bin"/><Relationship Id="rId4" Type="http://schemas.openxmlformats.org/officeDocument/2006/relationships/image" Target="../media/image237.emf"/></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2" Type="http://schemas.openxmlformats.org/officeDocument/2006/relationships/image" Target="../media/image255.jpeg"/><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2" Type="http://schemas.openxmlformats.org/officeDocument/2006/relationships/image" Target="../media/image256.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p:cNvGrpSpPr/>
        <p:nvPr/>
      </p:nvGrpSpPr>
      <p:grpSpPr>
        <a:xfrm>
          <a:off x="0" y="0"/>
          <a:ext cx="0" cy="0"/>
          <a:chOff x="0" y="0"/>
          <a:chExt cx="0" cy="0"/>
        </a:xfrm>
      </p:grpSpPr>
      <p:sp>
        <p:nvSpPr>
          <p:cNvPr id="24578" name="TextBox 1"/>
          <p:cNvSpPr txBox="1">
            <a:spLocks noChangeArrowheads="1"/>
          </p:cNvSpPr>
          <p:nvPr/>
        </p:nvSpPr>
        <p:spPr bwMode="auto">
          <a:xfrm>
            <a:off x="1933575" y="2309813"/>
            <a:ext cx="5270500" cy="1138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4572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45720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4572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4572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4572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4000" b="1">
                <a:solidFill>
                  <a:srgbClr val="FFFFFF"/>
                </a:solidFill>
                <a:latin typeface="Tahoma" panose="020B0604030504040204" pitchFamily="34" charset="0"/>
                <a:cs typeface="Tahoma" panose="020B0604030504040204" pitchFamily="34" charset="0"/>
              </a:rPr>
              <a:t>PP101</a:t>
            </a:r>
            <a:r>
              <a:rPr lang="en-US" altLang="en-US" sz="2800" b="1">
                <a:solidFill>
                  <a:srgbClr val="FFFFFF"/>
                </a:solidFill>
                <a:latin typeface="Tahoma" panose="020B0604030504040204" pitchFamily="34" charset="0"/>
                <a:cs typeface="Tahoma" panose="020B0604030504040204" pitchFamily="34" charset="0"/>
              </a:rPr>
              <a:t> </a:t>
            </a:r>
          </a:p>
          <a:p>
            <a:pPr algn="ctr" eaLnBrk="1" hangingPunct="1">
              <a:spcBef>
                <a:spcPct val="0"/>
              </a:spcBef>
              <a:buFontTx/>
              <a:buNone/>
            </a:pPr>
            <a:r>
              <a:rPr lang="en-US" altLang="en-US" sz="2800" b="1">
                <a:solidFill>
                  <a:srgbClr val="FFFFFF"/>
                </a:solidFill>
                <a:latin typeface="Tahoma" panose="020B0604030504040204" pitchFamily="34" charset="0"/>
                <a:cs typeface="Tahoma" panose="020B0604030504040204" pitchFamily="34" charset="0"/>
              </a:rPr>
              <a:t>Introduction to Pulp Making</a:t>
            </a:r>
            <a:endParaRPr lang="en-US" altLang="en-US" sz="2800" b="1">
              <a:solidFill>
                <a:srgbClr val="F2F2F2"/>
              </a:solidFill>
              <a:latin typeface="Tahoma" panose="020B0604030504040204" pitchFamily="34" charset="0"/>
              <a:cs typeface="Tahoma" panose="020B0604030504040204" pitchFamily="34" charset="0"/>
            </a:endParaRPr>
          </a:p>
        </p:txBody>
      </p:sp>
      <p:sp>
        <p:nvSpPr>
          <p:cNvPr id="24579" name="TextBox 2"/>
          <p:cNvSpPr txBox="1">
            <a:spLocks noChangeArrowheads="1"/>
          </p:cNvSpPr>
          <p:nvPr/>
        </p:nvSpPr>
        <p:spPr bwMode="auto">
          <a:xfrm>
            <a:off x="6045892" y="4130211"/>
            <a:ext cx="2856808"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4572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45720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4572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4572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4572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r>
              <a:rPr lang="en-US" altLang="en-US" sz="1600" dirty="0">
                <a:solidFill>
                  <a:srgbClr val="FFFFFF"/>
                </a:solidFill>
                <a:latin typeface="Tahoma" panose="020B0604030504040204" pitchFamily="34" charset="0"/>
                <a:cs typeface="Tahoma" panose="020B0604030504040204" pitchFamily="34" charset="0"/>
              </a:rPr>
              <a:t>Made By</a:t>
            </a:r>
          </a:p>
          <a:p>
            <a:pPr algn="r" eaLnBrk="1" hangingPunct="1">
              <a:spcBef>
                <a:spcPct val="0"/>
              </a:spcBef>
              <a:buFontTx/>
              <a:buNone/>
            </a:pPr>
            <a:r>
              <a:rPr lang="en-US" altLang="en-US" sz="1600" dirty="0" err="1">
                <a:solidFill>
                  <a:srgbClr val="FFFFFF"/>
                </a:solidFill>
                <a:latin typeface="Tahoma" panose="020B0604030504040204" pitchFamily="34" charset="0"/>
                <a:cs typeface="Tahoma" panose="020B0604030504040204" pitchFamily="34" charset="0"/>
              </a:rPr>
              <a:t>Pisan</a:t>
            </a:r>
            <a:r>
              <a:rPr lang="en-US" altLang="en-US" sz="1600" dirty="0">
                <a:solidFill>
                  <a:srgbClr val="FFFFFF"/>
                </a:solidFill>
                <a:latin typeface="Tahoma" panose="020B0604030504040204" pitchFamily="34" charset="0"/>
                <a:cs typeface="Tahoma" panose="020B0604030504040204" pitchFamily="34" charset="0"/>
              </a:rPr>
              <a:t> </a:t>
            </a:r>
            <a:r>
              <a:rPr lang="en-US" altLang="en-US" sz="1600" dirty="0" err="1">
                <a:solidFill>
                  <a:srgbClr val="FFFFFF"/>
                </a:solidFill>
                <a:latin typeface="Tahoma" panose="020B0604030504040204" pitchFamily="34" charset="0"/>
                <a:cs typeface="Tahoma" panose="020B0604030504040204" pitchFamily="34" charset="0"/>
              </a:rPr>
              <a:t>Chitphanthanakorn</a:t>
            </a:r>
            <a:endParaRPr lang="en-US" altLang="en-US" sz="1600" dirty="0">
              <a:solidFill>
                <a:srgbClr val="FFFFFF"/>
              </a:solidFill>
              <a:latin typeface="Tahoma" panose="020B0604030504040204" pitchFamily="34" charset="0"/>
              <a:cs typeface="Tahoma" panose="020B0604030504040204" pitchFamily="34" charset="0"/>
            </a:endParaRPr>
          </a:p>
          <a:p>
            <a:pPr algn="r" eaLnBrk="1" hangingPunct="1">
              <a:spcBef>
                <a:spcPct val="0"/>
              </a:spcBef>
              <a:buFontTx/>
              <a:buNone/>
            </a:pPr>
            <a:r>
              <a:rPr lang="en-US" altLang="en-US" sz="1600" dirty="0">
                <a:solidFill>
                  <a:srgbClr val="FFFFFF"/>
                </a:solidFill>
                <a:latin typeface="Tahoma" panose="020B0604030504040204" pitchFamily="34" charset="0"/>
                <a:cs typeface="Tahoma" panose="020B0604030504040204" pitchFamily="34" charset="0"/>
              </a:rPr>
              <a:t>Technical Development, </a:t>
            </a:r>
            <a:r>
              <a:rPr lang="en-US" altLang="en-US" sz="1600" dirty="0" smtClean="0">
                <a:solidFill>
                  <a:srgbClr val="FFFFFF"/>
                </a:solidFill>
                <a:latin typeface="Tahoma" panose="020B0604030504040204" pitchFamily="34" charset="0"/>
                <a:cs typeface="Tahoma" panose="020B0604030504040204" pitchFamily="34" charset="0"/>
              </a:rPr>
              <a:t>SPEC</a:t>
            </a:r>
          </a:p>
          <a:p>
            <a:pPr algn="r" eaLnBrk="1" hangingPunct="1">
              <a:spcBef>
                <a:spcPct val="0"/>
              </a:spcBef>
              <a:buFontTx/>
              <a:buNone/>
            </a:pPr>
            <a:r>
              <a:rPr lang="en-US" altLang="en-US" sz="1600" dirty="0">
                <a:solidFill>
                  <a:srgbClr val="FFFFFF"/>
                </a:solidFill>
                <a:latin typeface="Tahoma" panose="020B0604030504040204" pitchFamily="34" charset="0"/>
                <a:cs typeface="Tahoma" panose="020B0604030504040204" pitchFamily="34" charset="0"/>
              </a:rPr>
              <a:t>Werawit </a:t>
            </a:r>
            <a:r>
              <a:rPr lang="en-US" altLang="en-US" sz="1600" dirty="0" smtClean="0">
                <a:solidFill>
                  <a:srgbClr val="FFFFFF"/>
                </a:solidFill>
                <a:latin typeface="Tahoma" panose="020B0604030504040204" pitchFamily="34" charset="0"/>
                <a:cs typeface="Tahoma" panose="020B0604030504040204" pitchFamily="34" charset="0"/>
              </a:rPr>
              <a:t>Klangboonserm</a:t>
            </a:r>
          </a:p>
          <a:p>
            <a:pPr algn="r" eaLnBrk="1" hangingPunct="1">
              <a:spcBef>
                <a:spcPct val="0"/>
              </a:spcBef>
              <a:buFontTx/>
              <a:buNone/>
            </a:pPr>
            <a:r>
              <a:rPr lang="en-US" altLang="en-US" sz="1600" dirty="0" smtClean="0">
                <a:solidFill>
                  <a:srgbClr val="FFFFFF"/>
                </a:solidFill>
                <a:latin typeface="Tahoma" panose="020B0604030504040204" pitchFamily="34" charset="0"/>
                <a:cs typeface="Tahoma" panose="020B0604030504040204" pitchFamily="34" charset="0"/>
              </a:rPr>
              <a:t>Engineering </a:t>
            </a:r>
            <a:r>
              <a:rPr lang="en-US" altLang="en-US" sz="1600" dirty="0" err="1" smtClean="0">
                <a:solidFill>
                  <a:srgbClr val="FFFFFF"/>
                </a:solidFill>
                <a:latin typeface="Tahoma" panose="020B0604030504040204" pitchFamily="34" charset="0"/>
                <a:cs typeface="Tahoma" panose="020B0604030504040204" pitchFamily="34" charset="0"/>
              </a:rPr>
              <a:t>Dep</a:t>
            </a:r>
            <a:r>
              <a:rPr lang="en-US" altLang="en-US" sz="1600" dirty="0" smtClean="0">
                <a:solidFill>
                  <a:srgbClr val="FFFFFF"/>
                </a:solidFill>
                <a:latin typeface="Tahoma" panose="020B0604030504040204" pitchFamily="34" charset="0"/>
                <a:cs typeface="Tahoma" panose="020B0604030504040204" pitchFamily="34" charset="0"/>
              </a:rPr>
              <a:t>, SCG Paper</a:t>
            </a:r>
            <a:endParaRPr lang="th-TH" altLang="en-US" sz="1600" dirty="0">
              <a:solidFill>
                <a:srgbClr val="FFFFFF"/>
              </a:solidFill>
              <a:latin typeface="Tahoma" panose="020B0604030504040204" pitchFamily="34" charset="0"/>
              <a:cs typeface="Tahoma" panose="020B0604030504040204" pitchFamily="34" charset="0"/>
            </a:endParaRPr>
          </a:p>
          <a:p>
            <a:pPr algn="r" eaLnBrk="1" hangingPunct="1">
              <a:spcBef>
                <a:spcPct val="0"/>
              </a:spcBef>
              <a:buFontTx/>
              <a:buNone/>
            </a:pPr>
            <a:r>
              <a:rPr lang="en-US" altLang="en-US" sz="1600" dirty="0">
                <a:solidFill>
                  <a:srgbClr val="FFFFFF"/>
                </a:solidFill>
                <a:latin typeface="Tahoma" panose="020B0604030504040204" pitchFamily="34" charset="0"/>
                <a:cs typeface="Tahoma" panose="020B0604030504040204" pitchFamily="34" charset="0"/>
              </a:rPr>
              <a:t>22</a:t>
            </a:r>
            <a:r>
              <a:rPr lang="en-US" altLang="en-US" sz="1600" baseline="30000" dirty="0">
                <a:solidFill>
                  <a:srgbClr val="FFFFFF"/>
                </a:solidFill>
                <a:latin typeface="Tahoma" panose="020B0604030504040204" pitchFamily="34" charset="0"/>
                <a:cs typeface="Tahoma" panose="020B0604030504040204" pitchFamily="34" charset="0"/>
              </a:rPr>
              <a:t>nd</a:t>
            </a:r>
            <a:r>
              <a:rPr lang="en-US" altLang="en-US" sz="1600" dirty="0">
                <a:solidFill>
                  <a:srgbClr val="FFFFFF"/>
                </a:solidFill>
                <a:latin typeface="Tahoma" panose="020B0604030504040204" pitchFamily="34" charset="0"/>
                <a:cs typeface="Tahoma" panose="020B0604030504040204" pitchFamily="34" charset="0"/>
              </a:rPr>
              <a:t> – 23</a:t>
            </a:r>
            <a:r>
              <a:rPr lang="en-US" altLang="en-US" sz="1600" baseline="30000" dirty="0">
                <a:solidFill>
                  <a:srgbClr val="FFFFFF"/>
                </a:solidFill>
                <a:latin typeface="Tahoma" panose="020B0604030504040204" pitchFamily="34" charset="0"/>
                <a:cs typeface="Tahoma" panose="020B0604030504040204" pitchFamily="34" charset="0"/>
              </a:rPr>
              <a:t>rd</a:t>
            </a:r>
            <a:r>
              <a:rPr lang="en-US" altLang="en-US" sz="1600" dirty="0">
                <a:solidFill>
                  <a:srgbClr val="FFFFFF"/>
                </a:solidFill>
                <a:latin typeface="Tahoma" panose="020B0604030504040204" pitchFamily="34" charset="0"/>
                <a:cs typeface="Tahoma" panose="020B0604030504040204" pitchFamily="34" charset="0"/>
              </a:rPr>
              <a:t> JAN 2015</a:t>
            </a:r>
          </a:p>
        </p:txBody>
      </p:sp>
      <p:pic>
        <p:nvPicPr>
          <p:cNvPr id="24580"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5676900"/>
            <a:ext cx="9144000"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1" name="TextBox 6"/>
          <p:cNvSpPr txBox="1">
            <a:spLocks noChangeArrowheads="1"/>
          </p:cNvSpPr>
          <p:nvPr/>
        </p:nvSpPr>
        <p:spPr bwMode="auto">
          <a:xfrm>
            <a:off x="-6350" y="6564313"/>
            <a:ext cx="4362450" cy="3079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th-TH" altLang="en-US" sz="1400"/>
              <a:t>© </a:t>
            </a:r>
            <a:r>
              <a:rPr lang="en-US" altLang="en-US" sz="1400"/>
              <a:t>SPEC (SCGP Excellence Training Center Co.,Ltd.), 2014  </a:t>
            </a:r>
          </a:p>
        </p:txBody>
      </p:sp>
      <p:sp>
        <p:nvSpPr>
          <p:cNvPr id="24582" name="TextBox 7"/>
          <p:cNvSpPr txBox="1">
            <a:spLocks noChangeArrowheads="1"/>
          </p:cNvSpPr>
          <p:nvPr/>
        </p:nvSpPr>
        <p:spPr bwMode="auto">
          <a:xfrm>
            <a:off x="4746625" y="6550025"/>
            <a:ext cx="30654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400"/>
              <a:t>Internal use only – Do not distribute</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a:xfrm>
            <a:off x="457200" y="322263"/>
            <a:ext cx="8229600" cy="849312"/>
          </a:xfrm>
        </p:spPr>
        <p:txBody>
          <a:bodyPr/>
          <a:lstStyle/>
          <a:p>
            <a:pPr eaLnBrk="1" hangingPunct="1"/>
            <a:r>
              <a:rPr lang="en-US" altLang="en-US" sz="3200" b="1" u="sng" smtClean="0">
                <a:solidFill>
                  <a:srgbClr val="FF0000"/>
                </a:solidFill>
                <a:latin typeface="Tahoma" panose="020B0604030504040204" pitchFamily="34" charset="0"/>
                <a:cs typeface="Tahoma" panose="020B0604030504040204" pitchFamily="34" charset="0"/>
              </a:rPr>
              <a:t>Topics</a:t>
            </a:r>
          </a:p>
        </p:txBody>
      </p:sp>
      <p:sp>
        <p:nvSpPr>
          <p:cNvPr id="26627" name="Rectangle 9"/>
          <p:cNvSpPr>
            <a:spLocks noChangeArrowheads="1"/>
          </p:cNvSpPr>
          <p:nvPr/>
        </p:nvSpPr>
        <p:spPr bwMode="auto">
          <a:xfrm>
            <a:off x="971550" y="1460500"/>
            <a:ext cx="7272338" cy="357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Tx/>
              <a:buNone/>
            </a:pPr>
            <a:r>
              <a:rPr lang="en-US" altLang="en-US" sz="2200">
                <a:solidFill>
                  <a:schemeClr val="tx2"/>
                </a:solidFill>
                <a:latin typeface="Tahoma" panose="020B0604030504040204" pitchFamily="34" charset="0"/>
                <a:cs typeface="Tahoma" panose="020B0604030504040204" pitchFamily="34" charset="0"/>
              </a:rPr>
              <a:t>1. Introduction to Pulp industry </a:t>
            </a:r>
          </a:p>
          <a:p>
            <a:pPr eaLnBrk="1" hangingPunct="1">
              <a:lnSpc>
                <a:spcPct val="150000"/>
              </a:lnSpc>
              <a:spcBef>
                <a:spcPct val="0"/>
              </a:spcBef>
              <a:buFontTx/>
              <a:buNone/>
            </a:pPr>
            <a:r>
              <a:rPr lang="en-US" altLang="en-US" sz="2200">
                <a:solidFill>
                  <a:schemeClr val="tx2"/>
                </a:solidFill>
                <a:latin typeface="Tahoma" panose="020B0604030504040204" pitchFamily="34" charset="0"/>
                <a:cs typeface="Tahoma" panose="020B0604030504040204" pitchFamily="34" charset="0"/>
              </a:rPr>
              <a:t>2. Characteristic of wood and wood pulp </a:t>
            </a:r>
          </a:p>
          <a:p>
            <a:pPr eaLnBrk="1" hangingPunct="1">
              <a:lnSpc>
                <a:spcPct val="150000"/>
              </a:lnSpc>
              <a:spcBef>
                <a:spcPct val="0"/>
              </a:spcBef>
              <a:buFontTx/>
              <a:buNone/>
            </a:pPr>
            <a:r>
              <a:rPr lang="en-US" altLang="en-US" sz="2200">
                <a:solidFill>
                  <a:schemeClr val="tx2"/>
                </a:solidFill>
                <a:latin typeface="Tahoma" panose="020B0604030504040204" pitchFamily="34" charset="0"/>
                <a:cs typeface="Tahoma" panose="020B0604030504040204" pitchFamily="34" charset="0"/>
              </a:rPr>
              <a:t>3. Wood and chip handling </a:t>
            </a:r>
          </a:p>
          <a:p>
            <a:pPr eaLnBrk="1" hangingPunct="1">
              <a:lnSpc>
                <a:spcPct val="150000"/>
              </a:lnSpc>
              <a:spcBef>
                <a:spcPct val="0"/>
              </a:spcBef>
              <a:buFontTx/>
              <a:buNone/>
            </a:pPr>
            <a:r>
              <a:rPr lang="en-US" altLang="en-US" sz="2200">
                <a:solidFill>
                  <a:schemeClr val="tx2"/>
                </a:solidFill>
                <a:latin typeface="Tahoma" panose="020B0604030504040204" pitchFamily="34" charset="0"/>
                <a:cs typeface="Tahoma" panose="020B0604030504040204" pitchFamily="34" charset="0"/>
              </a:rPr>
              <a:t>4. Overview of Pulping methodology </a:t>
            </a:r>
          </a:p>
          <a:p>
            <a:pPr eaLnBrk="1" hangingPunct="1">
              <a:lnSpc>
                <a:spcPct val="150000"/>
              </a:lnSpc>
              <a:spcBef>
                <a:spcPct val="0"/>
              </a:spcBef>
              <a:buFontTx/>
              <a:buNone/>
            </a:pPr>
            <a:r>
              <a:rPr lang="en-US" altLang="en-US" sz="2200">
                <a:solidFill>
                  <a:schemeClr val="tx2"/>
                </a:solidFill>
                <a:latin typeface="Tahoma" panose="020B0604030504040204" pitchFamily="34" charset="0"/>
                <a:cs typeface="Tahoma" panose="020B0604030504040204" pitchFamily="34" charset="0"/>
              </a:rPr>
              <a:t>5. Bleaching sequences </a:t>
            </a:r>
          </a:p>
          <a:p>
            <a:pPr eaLnBrk="1" hangingPunct="1">
              <a:lnSpc>
                <a:spcPct val="150000"/>
              </a:lnSpc>
              <a:spcBef>
                <a:spcPct val="0"/>
              </a:spcBef>
              <a:buFontTx/>
              <a:buNone/>
            </a:pPr>
            <a:r>
              <a:rPr lang="en-US" altLang="en-US" sz="2200">
                <a:solidFill>
                  <a:schemeClr val="tx2"/>
                </a:solidFill>
                <a:latin typeface="Tahoma" panose="020B0604030504040204" pitchFamily="34" charset="0"/>
                <a:cs typeface="Tahoma" panose="020B0604030504040204" pitchFamily="34" charset="0"/>
              </a:rPr>
              <a:t>6. Principle  of  chemical recovery </a:t>
            </a:r>
          </a:p>
          <a:p>
            <a:pPr eaLnBrk="1" hangingPunct="1">
              <a:lnSpc>
                <a:spcPct val="150000"/>
              </a:lnSpc>
              <a:spcBef>
                <a:spcPct val="0"/>
              </a:spcBef>
              <a:buFontTx/>
              <a:buNone/>
            </a:pPr>
            <a:r>
              <a:rPr lang="en-US" altLang="en-US" sz="2200">
                <a:solidFill>
                  <a:schemeClr val="tx2"/>
                </a:solidFill>
                <a:latin typeface="Tahoma" panose="020B0604030504040204" pitchFamily="34" charset="0"/>
                <a:cs typeface="Tahoma" panose="020B0604030504040204" pitchFamily="34" charset="0"/>
              </a:rPr>
              <a:t>7. Properties and Testing of pulp</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441325" y="2660650"/>
            <a:ext cx="8229600" cy="1143000"/>
          </a:xfrm>
        </p:spPr>
        <p:txBody>
          <a:bodyPr/>
          <a:lstStyle/>
          <a:p>
            <a:pPr eaLnBrk="1" hangingPunct="1"/>
            <a:r>
              <a:rPr lang="en-US" altLang="en-US" sz="3200" b="1" smtClean="0">
                <a:latin typeface="Tahoma" panose="020B0604030504040204" pitchFamily="34" charset="0"/>
                <a:cs typeface="Tahoma" panose="020B0604030504040204" pitchFamily="34" charset="0"/>
              </a:rPr>
              <a:t>1. Introduction to Pulp industry </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a:xfrm>
            <a:off x="457200" y="-17463"/>
            <a:ext cx="8229600" cy="1143001"/>
          </a:xfrm>
        </p:spPr>
        <p:txBody>
          <a:bodyPr/>
          <a:lstStyle/>
          <a:p>
            <a:pPr eaLnBrk="1" hangingPunct="1"/>
            <a:r>
              <a:rPr lang="en-US" altLang="en-US" sz="3200" smtClean="0">
                <a:latin typeface="Tahoma" panose="020B0604030504040204" pitchFamily="34" charset="0"/>
                <a:cs typeface="Tahoma" panose="020B0604030504040204" pitchFamily="34" charset="0"/>
              </a:rPr>
              <a:t>1. Introduction to Pulp industry </a:t>
            </a:r>
          </a:p>
        </p:txBody>
      </p:sp>
      <p:pic>
        <p:nvPicPr>
          <p:cNvPr id="2" name="01 - Pulp History Part1.mp4">
            <a:hlinkClick r:id="" action="ppaction://media"/>
          </p:cNvPr>
          <p:cNvPicPr>
            <a:picLocks noChangeAspect="1"/>
          </p:cNvPicPr>
          <p:nvPr>
            <a:videoFile r:link="rId2"/>
            <p:extLst>
              <p:ext uri="{DAA4B4D4-6D71-4841-9C94-3DE7FCFB9230}">
                <p14:media xmlns:p14="http://schemas.microsoft.com/office/powerpoint/2010/main" r:link="rId1"/>
              </p:ext>
            </p:extLst>
          </p:nvPr>
        </p:nvPicPr>
        <p:blipFill>
          <a:blip r:embed="rId5">
            <a:extLst>
              <a:ext uri="{28A0092B-C50C-407E-A947-70E740481C1C}">
                <a14:useLocalDpi xmlns:a14="http://schemas.microsoft.com/office/drawing/2010/main" val="0"/>
              </a:ext>
            </a:extLst>
          </a:blip>
          <a:srcRect/>
          <a:stretch>
            <a:fillRect/>
          </a:stretch>
        </p:blipFill>
        <p:spPr bwMode="auto">
          <a:xfrm>
            <a:off x="857250" y="873125"/>
            <a:ext cx="7429500" cy="569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nodeType="clickPar">
                      <p:stCondLst>
                        <p:cond delay="0"/>
                      </p:stCondLst>
                      <p:childTnLst>
                        <p:par>
                          <p:cTn id="4" fill="hold" nodeType="withGroup">
                            <p:stCondLst>
                              <p:cond delay="0"/>
                            </p:stCondLst>
                            <p:childTnLst>
                              <p:par>
                                <p:cTn id="5" presetID="2" presetClass="mediacall" presetSubtype="0" fill="hold" nodeType="clickEffect">
                                  <p:stCondLst>
                                    <p:cond delay="0"/>
                                  </p:stCondLst>
                                  <p:childTnLst>
                                    <p:cmd type="call" cmd="togglePause">
                                      <p:cBhvr>
                                        <p:cTn id="6" dur="1" fill="hold"/>
                                        <p:tgtEl>
                                          <p:spTgt spid="2"/>
                                        </p:tgtEl>
                                      </p:cBhvr>
                                    </p:cmd>
                                  </p:childTnLst>
                                </p:cTn>
                              </p:par>
                            </p:childTnLst>
                          </p:cTn>
                        </p:par>
                      </p:childTnLst>
                    </p:cTn>
                  </p:par>
                </p:childTnLst>
              </p:cTn>
              <p:nextCondLst>
                <p:cond evt="onClick" delay="0">
                  <p:tgtEl>
                    <p:spTgt spid="2"/>
                  </p:tgtEl>
                </p:cond>
              </p:nextCondLst>
            </p:seq>
            <p:video fullScrn="1">
              <p:cMediaNode vol="80000">
                <p:cTn id="7" fill="hold" display="0">
                  <p:stCondLst>
                    <p:cond delay="indefinite"/>
                  </p:stCondLst>
                </p:cTn>
                <p:tgtEl>
                  <p:spTgt spid="2"/>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a:xfrm>
            <a:off x="457200" y="-17463"/>
            <a:ext cx="8229600" cy="1143001"/>
          </a:xfrm>
        </p:spPr>
        <p:txBody>
          <a:bodyPr/>
          <a:lstStyle/>
          <a:p>
            <a:pPr eaLnBrk="1" hangingPunct="1"/>
            <a:r>
              <a:rPr lang="en-US" altLang="en-US" sz="3200" smtClean="0">
                <a:latin typeface="Tahoma" panose="020B0604030504040204" pitchFamily="34" charset="0"/>
                <a:cs typeface="Tahoma" panose="020B0604030504040204" pitchFamily="34" charset="0"/>
              </a:rPr>
              <a:t>1. Introduction to Pulp industry </a:t>
            </a:r>
          </a:p>
        </p:txBody>
      </p:sp>
      <p:pic>
        <p:nvPicPr>
          <p:cNvPr id="31747"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9700" y="981075"/>
            <a:ext cx="5870575" cy="440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48" name="Picture 5"/>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037263" y="3111500"/>
            <a:ext cx="3052762" cy="227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9" name="TextBox 2"/>
          <p:cNvSpPr txBox="1">
            <a:spLocks noChangeArrowheads="1"/>
          </p:cNvSpPr>
          <p:nvPr/>
        </p:nvSpPr>
        <p:spPr bwMode="auto">
          <a:xfrm>
            <a:off x="6037263" y="908050"/>
            <a:ext cx="2736850" cy="175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a:t>The papermaking process was first documented in China over 1900 years ago, and for many centuries, paper was used primarily as a writing surface. </a:t>
            </a:r>
          </a:p>
        </p:txBody>
      </p:sp>
      <p:sp>
        <p:nvSpPr>
          <p:cNvPr id="31750" name="TextBox 10"/>
          <p:cNvSpPr txBox="1">
            <a:spLocks noChangeArrowheads="1"/>
          </p:cNvSpPr>
          <p:nvPr/>
        </p:nvSpPr>
        <p:spPr bwMode="auto">
          <a:xfrm>
            <a:off x="157163" y="5384800"/>
            <a:ext cx="8529637"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a:t>Today, thousands of different products are made partially or entirely from paper. From the fuel, oil, and air filters in your car, to the paper money in your wallet, to the roofing paper under the shingles on your home, paper is everywhere.</a:t>
            </a:r>
          </a:p>
        </p:txBody>
      </p:sp>
      <p:sp>
        <p:nvSpPr>
          <p:cNvPr id="31751" name="TextBox 6"/>
          <p:cNvSpPr txBox="1">
            <a:spLocks noChangeArrowheads="1"/>
          </p:cNvSpPr>
          <p:nvPr/>
        </p:nvSpPr>
        <p:spPr bwMode="auto">
          <a:xfrm>
            <a:off x="112713" y="5045075"/>
            <a:ext cx="2570162"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a:solidFill>
                  <a:schemeClr val="bg1"/>
                </a:solidFill>
              </a:rPr>
              <a:t>Credit: Convergence Training</a:t>
            </a:r>
          </a:p>
        </p:txBody>
      </p:sp>
    </p:spTree>
  </p:cSld>
  <p:clrMapOvr>
    <a:masterClrMapping/>
  </p:clrMapOvr>
  <p:transition spd="slow"/>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a:xfrm>
            <a:off x="457200" y="-17463"/>
            <a:ext cx="8229600" cy="1143001"/>
          </a:xfrm>
        </p:spPr>
        <p:txBody>
          <a:bodyPr/>
          <a:lstStyle/>
          <a:p>
            <a:pPr eaLnBrk="1" hangingPunct="1"/>
            <a:r>
              <a:rPr lang="en-US" altLang="en-US" sz="3200" smtClean="0">
                <a:latin typeface="Tahoma" panose="020B0604030504040204" pitchFamily="34" charset="0"/>
                <a:cs typeface="Tahoma" panose="020B0604030504040204" pitchFamily="34" charset="0"/>
              </a:rPr>
              <a:t>1. Introduction to Pulp industry </a:t>
            </a:r>
          </a:p>
        </p:txBody>
      </p:sp>
      <p:pic>
        <p:nvPicPr>
          <p:cNvPr id="33795" name="Picture 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3663" y="1117600"/>
            <a:ext cx="4397375" cy="328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796" name="Picture 7"/>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637088" y="1127125"/>
            <a:ext cx="4398962" cy="327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7" name="TextBox 8"/>
          <p:cNvSpPr txBox="1">
            <a:spLocks noChangeArrowheads="1"/>
          </p:cNvSpPr>
          <p:nvPr/>
        </p:nvSpPr>
        <p:spPr bwMode="auto">
          <a:xfrm>
            <a:off x="66675" y="4416425"/>
            <a:ext cx="4289425"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a:t>Paper is made mostly from cellulose fibers, but the source of those fibers has changed over time. </a:t>
            </a:r>
          </a:p>
        </p:txBody>
      </p:sp>
      <p:sp>
        <p:nvSpPr>
          <p:cNvPr id="33798" name="TextBox 9"/>
          <p:cNvSpPr txBox="1">
            <a:spLocks noChangeArrowheads="1"/>
          </p:cNvSpPr>
          <p:nvPr/>
        </p:nvSpPr>
        <p:spPr bwMode="auto">
          <a:xfrm>
            <a:off x="4637088" y="4406900"/>
            <a:ext cx="429101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a:t>The first paper made in China was made by hand from bamboo or mulberry bark fibers. </a:t>
            </a:r>
          </a:p>
        </p:txBody>
      </p:sp>
      <p:sp>
        <p:nvSpPr>
          <p:cNvPr id="33799" name="TextBox 6"/>
          <p:cNvSpPr txBox="1">
            <a:spLocks noChangeArrowheads="1"/>
          </p:cNvSpPr>
          <p:nvPr/>
        </p:nvSpPr>
        <p:spPr bwMode="auto">
          <a:xfrm>
            <a:off x="-14288" y="6092825"/>
            <a:ext cx="25701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a:t>Credit: Convergence Training</a:t>
            </a:r>
          </a:p>
        </p:txBody>
      </p:sp>
    </p:spTree>
  </p:cSld>
  <p:clrMapOvr>
    <a:masterClrMapping/>
  </p:clrMapOvr>
  <p:transition spd="slow"/>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457200" y="-17463"/>
            <a:ext cx="8229600" cy="1143001"/>
          </a:xfrm>
        </p:spPr>
        <p:txBody>
          <a:bodyPr/>
          <a:lstStyle/>
          <a:p>
            <a:pPr eaLnBrk="1" hangingPunct="1"/>
            <a:r>
              <a:rPr lang="en-US" altLang="en-US" sz="3200" smtClean="0">
                <a:latin typeface="Tahoma" panose="020B0604030504040204" pitchFamily="34" charset="0"/>
                <a:cs typeface="Tahoma" panose="020B0604030504040204" pitchFamily="34" charset="0"/>
              </a:rPr>
              <a:t>1. Introduction to Pulp industry </a:t>
            </a:r>
          </a:p>
        </p:txBody>
      </p:sp>
      <p:pic>
        <p:nvPicPr>
          <p:cNvPr id="2" name="Cai Lun.mp4">
            <a:hlinkClick r:id="" action="ppaction://media"/>
          </p:cNvPr>
          <p:cNvPicPr>
            <a:picLocks noChangeAspect="1"/>
          </p:cNvPicPr>
          <p:nvPr>
            <a:videoFile r:link="rId2"/>
            <p:extLst>
              <p:ext uri="{DAA4B4D4-6D71-4841-9C94-3DE7FCFB9230}">
                <p14:media xmlns:p14="http://schemas.microsoft.com/office/powerpoint/2010/main" r:link="rId1"/>
              </p:ext>
            </p:extLst>
          </p:nvPr>
        </p:nvPicPr>
        <p:blipFill>
          <a:blip r:embed="rId5">
            <a:extLst>
              <a:ext uri="{28A0092B-C50C-407E-A947-70E740481C1C}">
                <a14:useLocalDpi xmlns:a14="http://schemas.microsoft.com/office/drawing/2010/main" val="0"/>
              </a:ext>
            </a:extLst>
          </a:blip>
          <a:srcRect/>
          <a:stretch>
            <a:fillRect/>
          </a:stretch>
        </p:blipFill>
        <p:spPr bwMode="auto">
          <a:xfrm>
            <a:off x="731838" y="1125538"/>
            <a:ext cx="7680325"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nodeType="clickPar">
                      <p:stCondLst>
                        <p:cond delay="0"/>
                      </p:stCondLst>
                      <p:childTnLst>
                        <p:par>
                          <p:cTn id="4" fill="hold" nodeType="withGroup">
                            <p:stCondLst>
                              <p:cond delay="0"/>
                            </p:stCondLst>
                            <p:childTnLst>
                              <p:par>
                                <p:cTn id="5" presetID="2" presetClass="mediacall" presetSubtype="0" fill="hold" nodeType="clickEffect">
                                  <p:stCondLst>
                                    <p:cond delay="0"/>
                                  </p:stCondLst>
                                  <p:childTnLst>
                                    <p:cmd type="call" cmd="togglePause">
                                      <p:cBhvr>
                                        <p:cTn id="6" dur="1" fill="hold"/>
                                        <p:tgtEl>
                                          <p:spTgt spid="2"/>
                                        </p:tgtEl>
                                      </p:cBhvr>
                                    </p:cmd>
                                  </p:childTnLst>
                                </p:cTn>
                              </p:par>
                            </p:childTnLst>
                          </p:cTn>
                        </p:par>
                      </p:childTnLst>
                    </p:cTn>
                  </p:par>
                </p:childTnLst>
              </p:cTn>
              <p:nextCondLst>
                <p:cond evt="onClick" delay="0">
                  <p:tgtEl>
                    <p:spTgt spid="2"/>
                  </p:tgtEl>
                </p:cond>
              </p:nextCondLst>
            </p:seq>
            <p:video>
              <p:cMediaNode vol="80000">
                <p:cTn id="7" fill="hold" display="0">
                  <p:stCondLst>
                    <p:cond delay="indefinite"/>
                  </p:stCondLst>
                </p:cTn>
                <p:tgtEl>
                  <p:spTgt spid="2"/>
                </p:tgtEl>
              </p:cMediaNode>
            </p:vide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a:xfrm>
            <a:off x="457200" y="-17463"/>
            <a:ext cx="8229600" cy="1143001"/>
          </a:xfrm>
        </p:spPr>
        <p:txBody>
          <a:bodyPr/>
          <a:lstStyle/>
          <a:p>
            <a:pPr eaLnBrk="1" hangingPunct="1"/>
            <a:r>
              <a:rPr lang="en-US" altLang="en-US" sz="3200" smtClean="0">
                <a:latin typeface="Tahoma" panose="020B0604030504040204" pitchFamily="34" charset="0"/>
                <a:cs typeface="Tahoma" panose="020B0604030504040204" pitchFamily="34" charset="0"/>
              </a:rPr>
              <a:t>1. Introduction to Pulp industry </a:t>
            </a:r>
          </a:p>
        </p:txBody>
      </p:sp>
      <p:pic>
        <p:nvPicPr>
          <p:cNvPr id="37891" name="Picture 8"/>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7950" y="1125538"/>
            <a:ext cx="4403725" cy="3275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2" name="Picture 9"/>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629150" y="1125538"/>
            <a:ext cx="4391025" cy="3275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3" name="TextBox 6"/>
          <p:cNvSpPr txBox="1">
            <a:spLocks noChangeArrowheads="1"/>
          </p:cNvSpPr>
          <p:nvPr/>
        </p:nvSpPr>
        <p:spPr bwMode="auto">
          <a:xfrm>
            <a:off x="66675" y="4416425"/>
            <a:ext cx="428942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a:t>When the first continuous paper machines were developed in Europe 300 years ago, cotton rags were the main fiber source, though they were soon in short supply. </a:t>
            </a:r>
          </a:p>
        </p:txBody>
      </p:sp>
      <p:sp>
        <p:nvSpPr>
          <p:cNvPr id="37894" name="TextBox 7"/>
          <p:cNvSpPr txBox="1">
            <a:spLocks noChangeArrowheads="1"/>
          </p:cNvSpPr>
          <p:nvPr/>
        </p:nvSpPr>
        <p:spPr bwMode="auto">
          <a:xfrm>
            <a:off x="4637088" y="4406900"/>
            <a:ext cx="429101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t>This led to the search for a new source of papermaking fibers. </a:t>
            </a:r>
          </a:p>
        </p:txBody>
      </p:sp>
      <p:sp>
        <p:nvSpPr>
          <p:cNvPr id="37895" name="TextBox 6"/>
          <p:cNvSpPr txBox="1">
            <a:spLocks noChangeArrowheads="1"/>
          </p:cNvSpPr>
          <p:nvPr/>
        </p:nvSpPr>
        <p:spPr bwMode="auto">
          <a:xfrm>
            <a:off x="-14288" y="6092825"/>
            <a:ext cx="25701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a:t>Credit: Convergence Training</a:t>
            </a:r>
          </a:p>
        </p:txBody>
      </p:sp>
    </p:spTree>
  </p:cSld>
  <p:clrMapOvr>
    <a:masterClrMapping/>
  </p:clrMapOvr>
  <p:transition spd="slow"/>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a:xfrm>
            <a:off x="457200" y="-17463"/>
            <a:ext cx="8229600" cy="1143001"/>
          </a:xfrm>
        </p:spPr>
        <p:txBody>
          <a:bodyPr/>
          <a:lstStyle/>
          <a:p>
            <a:pPr eaLnBrk="1" hangingPunct="1"/>
            <a:r>
              <a:rPr lang="en-US" altLang="en-US" sz="3200" smtClean="0">
                <a:latin typeface="Tahoma" panose="020B0604030504040204" pitchFamily="34" charset="0"/>
                <a:cs typeface="Tahoma" panose="020B0604030504040204" pitchFamily="34" charset="0"/>
              </a:rPr>
              <a:t>1. Introduction to Pulp industry </a:t>
            </a:r>
          </a:p>
        </p:txBody>
      </p:sp>
      <p:pic>
        <p:nvPicPr>
          <p:cNvPr id="2" name="cotton paper.mp4">
            <a:hlinkClick r:id="" action="ppaction://media"/>
          </p:cNvPr>
          <p:cNvPicPr>
            <a:picLocks noChangeAspect="1"/>
          </p:cNvPicPr>
          <p:nvPr>
            <a:videoFile r:link="rId2"/>
            <p:extLst>
              <p:ext uri="{DAA4B4D4-6D71-4841-9C94-3DE7FCFB9230}">
                <p14:media xmlns:p14="http://schemas.microsoft.com/office/powerpoint/2010/main" r:link="rId1"/>
              </p:ext>
            </p:extLst>
          </p:nvPr>
        </p:nvPicPr>
        <p:blipFill>
          <a:blip r:embed="rId5">
            <a:extLst>
              <a:ext uri="{28A0092B-C50C-407E-A947-70E740481C1C}">
                <a14:useLocalDpi xmlns:a14="http://schemas.microsoft.com/office/drawing/2010/main" val="0"/>
              </a:ext>
            </a:extLst>
          </a:blip>
          <a:srcRect/>
          <a:stretch>
            <a:fillRect/>
          </a:stretch>
        </p:blipFill>
        <p:spPr bwMode="auto">
          <a:xfrm>
            <a:off x="763588" y="1228725"/>
            <a:ext cx="7616825" cy="452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nodeType="clickPar">
                      <p:stCondLst>
                        <p:cond delay="0"/>
                      </p:stCondLst>
                      <p:childTnLst>
                        <p:par>
                          <p:cTn id="4" fill="hold" nodeType="withGroup">
                            <p:stCondLst>
                              <p:cond delay="0"/>
                            </p:stCondLst>
                            <p:childTnLst>
                              <p:par>
                                <p:cTn id="5" presetID="2" presetClass="mediacall" presetSubtype="0" fill="hold" nodeType="clickEffect">
                                  <p:stCondLst>
                                    <p:cond delay="0"/>
                                  </p:stCondLst>
                                  <p:childTnLst>
                                    <p:cmd type="call" cmd="togglePause">
                                      <p:cBhvr>
                                        <p:cTn id="6" dur="1" fill="hold"/>
                                        <p:tgtEl>
                                          <p:spTgt spid="2"/>
                                        </p:tgtEl>
                                      </p:cBhvr>
                                    </p:cmd>
                                  </p:childTnLst>
                                </p:cTn>
                              </p:par>
                            </p:childTnLst>
                          </p:cTn>
                        </p:par>
                      </p:childTnLst>
                    </p:cTn>
                  </p:par>
                </p:childTnLst>
              </p:cTn>
              <p:nextCondLst>
                <p:cond evt="onClick" delay="0">
                  <p:tgtEl>
                    <p:spTgt spid="2"/>
                  </p:tgtEl>
                </p:cond>
              </p:nextCondLst>
            </p:seq>
            <p:video>
              <p:cMediaNode vol="80000">
                <p:cTn id="7" fill="hold" display="0">
                  <p:stCondLst>
                    <p:cond delay="indefinite"/>
                  </p:stCondLst>
                </p:cTn>
                <p:tgtEl>
                  <p:spTgt spid="2"/>
                </p:tgtEl>
              </p:cMediaNode>
            </p:vide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a:xfrm>
            <a:off x="457200" y="-17463"/>
            <a:ext cx="8229600" cy="1143001"/>
          </a:xfrm>
        </p:spPr>
        <p:txBody>
          <a:bodyPr/>
          <a:lstStyle/>
          <a:p>
            <a:pPr eaLnBrk="1" hangingPunct="1"/>
            <a:r>
              <a:rPr lang="en-US" altLang="en-US" sz="3200" smtClean="0">
                <a:latin typeface="Tahoma" panose="020B0604030504040204" pitchFamily="34" charset="0"/>
                <a:cs typeface="Tahoma" panose="020B0604030504040204" pitchFamily="34" charset="0"/>
              </a:rPr>
              <a:t>1. Introduction to Pulp industry </a:t>
            </a:r>
          </a:p>
        </p:txBody>
      </p:sp>
      <p:pic>
        <p:nvPicPr>
          <p:cNvPr id="2" name="02 - Pulp History Part2.mp4">
            <a:hlinkClick r:id="" action="ppaction://media"/>
          </p:cNvPr>
          <p:cNvPicPr>
            <a:picLocks noChangeAspect="1"/>
          </p:cNvPicPr>
          <p:nvPr>
            <a:videoFile r:link="rId2"/>
            <p:extLst>
              <p:ext uri="{DAA4B4D4-6D71-4841-9C94-3DE7FCFB9230}">
                <p14:media xmlns:p14="http://schemas.microsoft.com/office/powerpoint/2010/main" r:link="rId1"/>
              </p:ext>
            </p:extLst>
          </p:nvPr>
        </p:nvPicPr>
        <p:blipFill>
          <a:blip r:embed="rId5">
            <a:extLst>
              <a:ext uri="{28A0092B-C50C-407E-A947-70E740481C1C}">
                <a14:useLocalDpi xmlns:a14="http://schemas.microsoft.com/office/drawing/2010/main" val="0"/>
              </a:ext>
            </a:extLst>
          </a:blip>
          <a:srcRect/>
          <a:stretch>
            <a:fillRect/>
          </a:stretch>
        </p:blipFill>
        <p:spPr bwMode="auto">
          <a:xfrm>
            <a:off x="877888" y="844550"/>
            <a:ext cx="7388225" cy="566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nodeType="clickPar">
                      <p:stCondLst>
                        <p:cond delay="0"/>
                      </p:stCondLst>
                      <p:childTnLst>
                        <p:par>
                          <p:cTn id="4" fill="hold" nodeType="withGroup">
                            <p:stCondLst>
                              <p:cond delay="0"/>
                            </p:stCondLst>
                            <p:childTnLst>
                              <p:par>
                                <p:cTn id="5" presetID="2" presetClass="mediacall" presetSubtype="0" fill="hold" nodeType="clickEffect">
                                  <p:stCondLst>
                                    <p:cond delay="0"/>
                                  </p:stCondLst>
                                  <p:childTnLst>
                                    <p:cmd type="call" cmd="togglePause">
                                      <p:cBhvr>
                                        <p:cTn id="6" dur="1" fill="hold"/>
                                        <p:tgtEl>
                                          <p:spTgt spid="2"/>
                                        </p:tgtEl>
                                      </p:cBhvr>
                                    </p:cmd>
                                  </p:childTnLst>
                                </p:cTn>
                              </p:par>
                            </p:childTnLst>
                          </p:cTn>
                        </p:par>
                      </p:childTnLst>
                    </p:cTn>
                  </p:par>
                </p:childTnLst>
              </p:cTn>
              <p:nextCondLst>
                <p:cond evt="onClick" delay="0">
                  <p:tgtEl>
                    <p:spTgt spid="2"/>
                  </p:tgtEl>
                </p:cond>
              </p:nextCondLst>
            </p:seq>
            <p:video>
              <p:cMediaNode vol="80000">
                <p:cTn id="7" fill="hold" display="0">
                  <p:stCondLst>
                    <p:cond delay="indefinite"/>
                  </p:stCondLst>
                </p:cTn>
                <p:tgtEl>
                  <p:spTgt spid="2"/>
                </p:tgtEl>
              </p:cMediaNode>
            </p:vide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a:xfrm>
            <a:off x="457200" y="-17463"/>
            <a:ext cx="8229600" cy="1143001"/>
          </a:xfrm>
        </p:spPr>
        <p:txBody>
          <a:bodyPr/>
          <a:lstStyle/>
          <a:p>
            <a:pPr eaLnBrk="1" hangingPunct="1"/>
            <a:r>
              <a:rPr lang="en-US" altLang="en-US" sz="3200" smtClean="0">
                <a:latin typeface="Tahoma" panose="020B0604030504040204" pitchFamily="34" charset="0"/>
                <a:cs typeface="Tahoma" panose="020B0604030504040204" pitchFamily="34" charset="0"/>
              </a:rPr>
              <a:t>1. Introduction to Pulp industry </a:t>
            </a:r>
          </a:p>
        </p:txBody>
      </p:sp>
      <p:pic>
        <p:nvPicPr>
          <p:cNvPr id="44035"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0825" y="1162050"/>
            <a:ext cx="2792413" cy="208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36" name="Picture 3"/>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203575" y="1162050"/>
            <a:ext cx="2792413" cy="208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37" name="TextBox 12"/>
          <p:cNvSpPr txBox="1">
            <a:spLocks noChangeArrowheads="1"/>
          </p:cNvSpPr>
          <p:nvPr/>
        </p:nvSpPr>
        <p:spPr bwMode="auto">
          <a:xfrm>
            <a:off x="4564063" y="3446463"/>
            <a:ext cx="4289425" cy="98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b="1"/>
              <a:t>Wood</a:t>
            </a:r>
            <a:r>
              <a:rPr lang="en-US" altLang="en-US" sz="1800"/>
              <a:t> is made up of </a:t>
            </a:r>
            <a:r>
              <a:rPr lang="en-US" altLang="en-US" sz="1800" b="1"/>
              <a:t>cellulose fibers</a:t>
            </a:r>
            <a:r>
              <a:rPr lang="en-US" altLang="en-US" sz="1800"/>
              <a:t> held together by a naturally-occurring, chemical compound called </a:t>
            </a:r>
            <a:r>
              <a:rPr lang="en-US" altLang="en-US" sz="2000" b="1"/>
              <a:t>lignin</a:t>
            </a:r>
            <a:r>
              <a:rPr lang="en-US" altLang="en-US" sz="1800"/>
              <a:t>. </a:t>
            </a:r>
          </a:p>
        </p:txBody>
      </p:sp>
      <p:pic>
        <p:nvPicPr>
          <p:cNvPr id="44038" name="Picture 10"/>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149975" y="1150938"/>
            <a:ext cx="2814638" cy="209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39" name="Picture 11"/>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250825" y="3429000"/>
            <a:ext cx="4068763" cy="303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40" name="TextBox 7"/>
          <p:cNvSpPr txBox="1">
            <a:spLocks noChangeArrowheads="1"/>
          </p:cNvSpPr>
          <p:nvPr/>
        </p:nvSpPr>
        <p:spPr bwMode="auto">
          <a:xfrm>
            <a:off x="273050" y="6165850"/>
            <a:ext cx="257016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a:solidFill>
                  <a:schemeClr val="bg1"/>
                </a:solidFill>
              </a:rPr>
              <a:t>Credit: Convergence Training</a:t>
            </a:r>
          </a:p>
        </p:txBody>
      </p:sp>
    </p:spTree>
  </p:cSld>
  <p:clrMapOvr>
    <a:masterClrMapping/>
  </p:clrMapOvr>
  <p:transition spd="slow"/>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a:xfrm>
            <a:off x="457200" y="-17463"/>
            <a:ext cx="8229600" cy="1143001"/>
          </a:xfrm>
        </p:spPr>
        <p:txBody>
          <a:bodyPr/>
          <a:lstStyle/>
          <a:p>
            <a:pPr eaLnBrk="1" hangingPunct="1"/>
            <a:r>
              <a:rPr lang="en-US" altLang="en-US" sz="3200" smtClean="0">
                <a:latin typeface="Tahoma" panose="020B0604030504040204" pitchFamily="34" charset="0"/>
                <a:cs typeface="Tahoma" panose="020B0604030504040204" pitchFamily="34" charset="0"/>
              </a:rPr>
              <a:t>1. Introduction to Pulp industry </a:t>
            </a:r>
          </a:p>
        </p:txBody>
      </p:sp>
      <p:pic>
        <p:nvPicPr>
          <p:cNvPr id="46083" name="Picture 1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7950" y="1058863"/>
            <a:ext cx="4441825" cy="332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084" name="Picture 14"/>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614863" y="1052513"/>
            <a:ext cx="4441825" cy="332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5" name="TextBox 11"/>
          <p:cNvSpPr txBox="1">
            <a:spLocks noChangeArrowheads="1"/>
          </p:cNvSpPr>
          <p:nvPr/>
        </p:nvSpPr>
        <p:spPr bwMode="auto">
          <a:xfrm>
            <a:off x="80963" y="4387850"/>
            <a:ext cx="4289425"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a:t>In the mid-1800's, several wood pulping processes were invented and a seemingly endless supply of cellulose fibers became available for papermaking. </a:t>
            </a:r>
            <a:endParaRPr lang="en-US" altLang="en-US" sz="1800"/>
          </a:p>
        </p:txBody>
      </p:sp>
      <p:sp>
        <p:nvSpPr>
          <p:cNvPr id="46086" name="TextBox 12"/>
          <p:cNvSpPr txBox="1">
            <a:spLocks noChangeArrowheads="1"/>
          </p:cNvSpPr>
          <p:nvPr/>
        </p:nvSpPr>
        <p:spPr bwMode="auto">
          <a:xfrm>
            <a:off x="4572000" y="4387850"/>
            <a:ext cx="428942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a:t>Wood fibers were first separated from each other mechanically in the stone groundwood process in 1840, </a:t>
            </a:r>
            <a:endParaRPr lang="en-US" altLang="en-US" sz="1800"/>
          </a:p>
        </p:txBody>
      </p:sp>
      <p:sp>
        <p:nvSpPr>
          <p:cNvPr id="46087" name="TextBox 6"/>
          <p:cNvSpPr txBox="1">
            <a:spLocks noChangeArrowheads="1"/>
          </p:cNvSpPr>
          <p:nvPr/>
        </p:nvSpPr>
        <p:spPr bwMode="auto">
          <a:xfrm>
            <a:off x="-14288" y="6115050"/>
            <a:ext cx="257016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a:t>Credit: Convergence Training</a:t>
            </a:r>
          </a:p>
        </p:txBody>
      </p:sp>
    </p:spTree>
  </p:cSld>
  <p:clrMapOvr>
    <a:masterClrMapping/>
  </p:clrMapOvr>
  <p:transition spd="slow"/>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a:xfrm>
            <a:off x="457200" y="-17463"/>
            <a:ext cx="8229600" cy="1143001"/>
          </a:xfrm>
        </p:spPr>
        <p:txBody>
          <a:bodyPr/>
          <a:lstStyle/>
          <a:p>
            <a:pPr eaLnBrk="1" hangingPunct="1"/>
            <a:r>
              <a:rPr lang="en-US" altLang="en-US" sz="3200" smtClean="0">
                <a:latin typeface="Tahoma" panose="020B0604030504040204" pitchFamily="34" charset="0"/>
                <a:cs typeface="Tahoma" panose="020B0604030504040204" pitchFamily="34" charset="0"/>
              </a:rPr>
              <a:t>1. Introduction to Pulp industry </a:t>
            </a:r>
          </a:p>
        </p:txBody>
      </p:sp>
      <p:pic>
        <p:nvPicPr>
          <p:cNvPr id="48131" name="Picture 1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3663" y="1054100"/>
            <a:ext cx="4437062" cy="330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32" name="Picture 17"/>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643438" y="1054100"/>
            <a:ext cx="4437062" cy="330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3" name="TextBox 8"/>
          <p:cNvSpPr txBox="1">
            <a:spLocks noChangeArrowheads="1"/>
          </p:cNvSpPr>
          <p:nvPr/>
        </p:nvSpPr>
        <p:spPr bwMode="auto">
          <a:xfrm>
            <a:off x="80963" y="4387850"/>
            <a:ext cx="4289425"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a:t>the first chemical pulping process, the soda process, was invented in 1851. The kraft chemical process, currently the most popular pulping process, was invented in 1884. </a:t>
            </a:r>
          </a:p>
        </p:txBody>
      </p:sp>
      <p:sp>
        <p:nvSpPr>
          <p:cNvPr id="48134" name="TextBox 9"/>
          <p:cNvSpPr txBox="1">
            <a:spLocks noChangeArrowheads="1"/>
          </p:cNvSpPr>
          <p:nvPr/>
        </p:nvSpPr>
        <p:spPr bwMode="auto">
          <a:xfrm>
            <a:off x="4572000" y="4351338"/>
            <a:ext cx="4289425"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t>More recently, as wood has become increasingly scarce, paper producers have incorporated recycled fibers into their products. Also, nonwovens made from extruded polymer fibers have taken over some of paper's market share.</a:t>
            </a:r>
          </a:p>
        </p:txBody>
      </p:sp>
      <p:sp>
        <p:nvSpPr>
          <p:cNvPr id="48135" name="TextBox 6"/>
          <p:cNvSpPr txBox="1">
            <a:spLocks noChangeArrowheads="1"/>
          </p:cNvSpPr>
          <p:nvPr/>
        </p:nvSpPr>
        <p:spPr bwMode="auto">
          <a:xfrm>
            <a:off x="-14288" y="6115050"/>
            <a:ext cx="257016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a:t>Credit: Convergence Training</a:t>
            </a:r>
          </a:p>
        </p:txBody>
      </p:sp>
    </p:spTree>
  </p:cSld>
  <p:clrMapOvr>
    <a:masterClrMapping/>
  </p:clrMapOvr>
  <p:transition spd="slow"/>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a:xfrm>
            <a:off x="441325" y="2660650"/>
            <a:ext cx="8229600" cy="1143000"/>
          </a:xfrm>
        </p:spPr>
        <p:txBody>
          <a:bodyPr/>
          <a:lstStyle/>
          <a:p>
            <a:pPr eaLnBrk="1" hangingPunct="1"/>
            <a:r>
              <a:rPr lang="en-US" altLang="en-US" sz="2900" b="1" smtClean="0">
                <a:latin typeface="Tahoma" panose="020B0604030504040204" pitchFamily="34" charset="0"/>
                <a:cs typeface="Tahoma" panose="020B0604030504040204" pitchFamily="34" charset="0"/>
              </a:rPr>
              <a:t>2. Characteristic of wood and wood pulp </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p:cNvSpPr>
          <p:nvPr>
            <p:ph type="title"/>
          </p:nvPr>
        </p:nvSpPr>
        <p:spPr>
          <a:xfrm>
            <a:off x="457200" y="-17463"/>
            <a:ext cx="8229600" cy="1143001"/>
          </a:xfrm>
        </p:spPr>
        <p:txBody>
          <a:bodyPr/>
          <a:lstStyle/>
          <a:p>
            <a:pPr eaLnBrk="1" hangingPunct="1"/>
            <a:r>
              <a:rPr lang="en-US" altLang="en-US" sz="3200" smtClean="0">
                <a:latin typeface="Tahoma" panose="020B0604030504040204" pitchFamily="34" charset="0"/>
                <a:cs typeface="Tahoma" panose="020B0604030504040204" pitchFamily="34" charset="0"/>
              </a:rPr>
              <a:t>2. Characteristic of wood and wood pulp </a:t>
            </a:r>
          </a:p>
        </p:txBody>
      </p:sp>
      <p:pic>
        <p:nvPicPr>
          <p:cNvPr id="2" name="03 - Type of Fiber.mp4">
            <a:hlinkClick r:id="" action="ppaction://media"/>
          </p:cNvPr>
          <p:cNvPicPr>
            <a:picLocks noChangeAspect="1"/>
          </p:cNvPicPr>
          <p:nvPr>
            <a:videoFile r:link="rId2"/>
            <p:extLst>
              <p:ext uri="{DAA4B4D4-6D71-4841-9C94-3DE7FCFB9230}">
                <p14:media xmlns:p14="http://schemas.microsoft.com/office/powerpoint/2010/main" r:link="rId1"/>
              </p:ext>
            </p:extLst>
          </p:nvPr>
        </p:nvPicPr>
        <p:blipFill>
          <a:blip r:embed="rId5">
            <a:extLst>
              <a:ext uri="{28A0092B-C50C-407E-A947-70E740481C1C}">
                <a14:useLocalDpi xmlns:a14="http://schemas.microsoft.com/office/drawing/2010/main" val="0"/>
              </a:ext>
            </a:extLst>
          </a:blip>
          <a:srcRect/>
          <a:stretch>
            <a:fillRect/>
          </a:stretch>
        </p:blipFill>
        <p:spPr bwMode="auto">
          <a:xfrm>
            <a:off x="938213" y="887413"/>
            <a:ext cx="7267575" cy="557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nodeType="clickPar">
                      <p:stCondLst>
                        <p:cond delay="0"/>
                      </p:stCondLst>
                      <p:childTnLst>
                        <p:par>
                          <p:cTn id="4" fill="hold" nodeType="withGroup">
                            <p:stCondLst>
                              <p:cond delay="0"/>
                            </p:stCondLst>
                            <p:childTnLst>
                              <p:par>
                                <p:cTn id="5" presetID="2" presetClass="mediacall" presetSubtype="0" fill="hold" nodeType="clickEffect">
                                  <p:stCondLst>
                                    <p:cond delay="0"/>
                                  </p:stCondLst>
                                  <p:childTnLst>
                                    <p:cmd type="call" cmd="togglePause">
                                      <p:cBhvr>
                                        <p:cTn id="6" dur="1" fill="hold"/>
                                        <p:tgtEl>
                                          <p:spTgt spid="2"/>
                                        </p:tgtEl>
                                      </p:cBhvr>
                                    </p:cmd>
                                  </p:childTnLst>
                                </p:cTn>
                              </p:par>
                            </p:childTnLst>
                          </p:cTn>
                        </p:par>
                      </p:childTnLst>
                    </p:cTn>
                  </p:par>
                </p:childTnLst>
              </p:cTn>
              <p:nextCondLst>
                <p:cond evt="onClick" delay="0">
                  <p:tgtEl>
                    <p:spTgt spid="2"/>
                  </p:tgtEl>
                </p:cond>
              </p:nextCondLst>
            </p:seq>
            <p:video>
              <p:cMediaNode vol="80000">
                <p:cTn id="7" fill="hold" display="0">
                  <p:stCondLst>
                    <p:cond delay="indefinite"/>
                  </p:stCondLst>
                </p:cTn>
                <p:tgtEl>
                  <p:spTgt spid="2"/>
                </p:tgtEl>
              </p:cMediaNode>
            </p:vide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p:cNvSpPr>
            <a:spLocks noGrp="1"/>
          </p:cNvSpPr>
          <p:nvPr>
            <p:ph type="title"/>
          </p:nvPr>
        </p:nvSpPr>
        <p:spPr>
          <a:xfrm>
            <a:off x="457200" y="-17463"/>
            <a:ext cx="8229600" cy="1143001"/>
          </a:xfrm>
        </p:spPr>
        <p:txBody>
          <a:bodyPr/>
          <a:lstStyle/>
          <a:p>
            <a:pPr eaLnBrk="1" hangingPunct="1"/>
            <a:r>
              <a:rPr lang="en-US" altLang="en-US" sz="3200" smtClean="0">
                <a:latin typeface="Tahoma" panose="020B0604030504040204" pitchFamily="34" charset="0"/>
                <a:cs typeface="Tahoma" panose="020B0604030504040204" pitchFamily="34" charset="0"/>
              </a:rPr>
              <a:t>2. Characteristic of wood and wood pulp </a:t>
            </a:r>
          </a:p>
        </p:txBody>
      </p:sp>
      <p:pic>
        <p:nvPicPr>
          <p:cNvPr id="54275"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613275" y="1052513"/>
            <a:ext cx="4422775" cy="331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76" name="Picture 4"/>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07950" y="1052513"/>
            <a:ext cx="4397375" cy="3294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7" name="TextBox 4"/>
          <p:cNvSpPr txBox="1">
            <a:spLocks noChangeArrowheads="1"/>
          </p:cNvSpPr>
          <p:nvPr/>
        </p:nvSpPr>
        <p:spPr bwMode="auto">
          <a:xfrm>
            <a:off x="80963" y="4387850"/>
            <a:ext cx="4289425"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a:t>The two main classifications of trees - softwoods and hardwoods - contain fibers that are physically quite different from each other. </a:t>
            </a:r>
          </a:p>
        </p:txBody>
      </p:sp>
      <p:sp>
        <p:nvSpPr>
          <p:cNvPr id="54278" name="TextBox 5"/>
          <p:cNvSpPr txBox="1">
            <a:spLocks noChangeArrowheads="1"/>
          </p:cNvSpPr>
          <p:nvPr/>
        </p:nvSpPr>
        <p:spPr bwMode="auto">
          <a:xfrm>
            <a:off x="4572000" y="4387850"/>
            <a:ext cx="4289425" cy="200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500"/>
              <a:t>In general, hardwood fibers tend to be short and stiff, which contribute to the bulk, smoothness, and opacity of paper. Therefore, they are often used in printing and writing grades. Softwood fibers tend to be long and flexible, which contribute to the strength characteristics of paper. They are used in paperboard, bag, and tissue grades. </a:t>
            </a:r>
          </a:p>
          <a:p>
            <a:pPr eaLnBrk="1" hangingPunct="1">
              <a:spcBef>
                <a:spcPct val="0"/>
              </a:spcBef>
              <a:buFontTx/>
              <a:buNone/>
            </a:pPr>
            <a:endParaRPr lang="en-US" altLang="en-US" sz="1800"/>
          </a:p>
        </p:txBody>
      </p:sp>
      <p:sp>
        <p:nvSpPr>
          <p:cNvPr id="54279" name="TextBox 6"/>
          <p:cNvSpPr txBox="1">
            <a:spLocks noChangeArrowheads="1"/>
          </p:cNvSpPr>
          <p:nvPr/>
        </p:nvSpPr>
        <p:spPr bwMode="auto">
          <a:xfrm>
            <a:off x="-14288" y="6092825"/>
            <a:ext cx="25701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a:t>Credit: Convergence Training</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p:cNvSpPr>
            <a:spLocks noGrp="1"/>
          </p:cNvSpPr>
          <p:nvPr>
            <p:ph type="title"/>
          </p:nvPr>
        </p:nvSpPr>
        <p:spPr>
          <a:xfrm>
            <a:off x="457200" y="-17463"/>
            <a:ext cx="8229600" cy="1143001"/>
          </a:xfrm>
        </p:spPr>
        <p:txBody>
          <a:bodyPr/>
          <a:lstStyle/>
          <a:p>
            <a:pPr eaLnBrk="1" hangingPunct="1"/>
            <a:r>
              <a:rPr lang="en-US" altLang="en-US" sz="3200" smtClean="0">
                <a:latin typeface="Tahoma" panose="020B0604030504040204" pitchFamily="34" charset="0"/>
                <a:cs typeface="Tahoma" panose="020B0604030504040204" pitchFamily="34" charset="0"/>
              </a:rPr>
              <a:t>2. Characteristic of wood and wood pulp </a:t>
            </a:r>
          </a:p>
        </p:txBody>
      </p:sp>
      <p:pic>
        <p:nvPicPr>
          <p:cNvPr id="2" name="04 - Use of Fiber.mp4">
            <a:hlinkClick r:id="" action="ppaction://media"/>
          </p:cNvPr>
          <p:cNvPicPr>
            <a:picLocks noChangeAspect="1"/>
          </p:cNvPicPr>
          <p:nvPr>
            <a:videoFile r:link="rId2"/>
            <p:extLst>
              <p:ext uri="{DAA4B4D4-6D71-4841-9C94-3DE7FCFB9230}">
                <p14:media xmlns:p14="http://schemas.microsoft.com/office/powerpoint/2010/main" r:link="rId1"/>
              </p:ext>
            </p:extLst>
          </p:nvPr>
        </p:nvPicPr>
        <p:blipFill>
          <a:blip r:embed="rId5">
            <a:extLst>
              <a:ext uri="{28A0092B-C50C-407E-A947-70E740481C1C}">
                <a14:useLocalDpi xmlns:a14="http://schemas.microsoft.com/office/drawing/2010/main" val="0"/>
              </a:ext>
            </a:extLst>
          </a:blip>
          <a:srcRect/>
          <a:stretch>
            <a:fillRect/>
          </a:stretch>
        </p:blipFill>
        <p:spPr bwMode="auto">
          <a:xfrm>
            <a:off x="923925" y="858838"/>
            <a:ext cx="7296150" cy="559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nodeType="clickPar">
                      <p:stCondLst>
                        <p:cond delay="0"/>
                      </p:stCondLst>
                      <p:childTnLst>
                        <p:par>
                          <p:cTn id="4" fill="hold" nodeType="withGroup">
                            <p:stCondLst>
                              <p:cond delay="0"/>
                            </p:stCondLst>
                            <p:childTnLst>
                              <p:par>
                                <p:cTn id="5" presetID="2" presetClass="mediacall" presetSubtype="0" fill="hold" nodeType="clickEffect">
                                  <p:stCondLst>
                                    <p:cond delay="0"/>
                                  </p:stCondLst>
                                  <p:childTnLst>
                                    <p:cmd type="call" cmd="togglePause">
                                      <p:cBhvr>
                                        <p:cTn id="6" dur="1" fill="hold"/>
                                        <p:tgtEl>
                                          <p:spTgt spid="2"/>
                                        </p:tgtEl>
                                      </p:cBhvr>
                                    </p:cmd>
                                  </p:childTnLst>
                                </p:cTn>
                              </p:par>
                            </p:childTnLst>
                          </p:cTn>
                        </p:par>
                      </p:childTnLst>
                    </p:cTn>
                  </p:par>
                </p:childTnLst>
              </p:cTn>
              <p:nextCondLst>
                <p:cond evt="onClick" delay="0">
                  <p:tgtEl>
                    <p:spTgt spid="2"/>
                  </p:tgtEl>
                </p:cond>
              </p:nextCondLst>
            </p:seq>
            <p:video>
              <p:cMediaNode vol="80000">
                <p:cTn id="7" fill="hold" display="0">
                  <p:stCondLst>
                    <p:cond delay="indefinite"/>
                  </p:stCondLst>
                </p:cTn>
                <p:tgtEl>
                  <p:spTgt spid="2"/>
                </p:tgtEl>
              </p:cMediaNode>
            </p:vide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a:xfrm>
            <a:off x="457200" y="-17463"/>
            <a:ext cx="8229600" cy="1143001"/>
          </a:xfrm>
        </p:spPr>
        <p:txBody>
          <a:bodyPr/>
          <a:lstStyle/>
          <a:p>
            <a:pPr eaLnBrk="1" hangingPunct="1"/>
            <a:r>
              <a:rPr lang="en-US" altLang="en-US" sz="3200" smtClean="0">
                <a:latin typeface="Tahoma" panose="020B0604030504040204" pitchFamily="34" charset="0"/>
                <a:cs typeface="Tahoma" panose="020B0604030504040204" pitchFamily="34" charset="0"/>
              </a:rPr>
              <a:t>2. Characteristic of wood and wood pulp </a:t>
            </a:r>
          </a:p>
        </p:txBody>
      </p:sp>
      <p:pic>
        <p:nvPicPr>
          <p:cNvPr id="58371"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7950" y="1052513"/>
            <a:ext cx="4430713" cy="333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72" name="Picture 5"/>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627563" y="1052513"/>
            <a:ext cx="4421187" cy="3313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3" name="TextBox 4"/>
          <p:cNvSpPr txBox="1">
            <a:spLocks noChangeArrowheads="1"/>
          </p:cNvSpPr>
          <p:nvPr/>
        </p:nvSpPr>
        <p:spPr bwMode="auto">
          <a:xfrm>
            <a:off x="80963" y="4387850"/>
            <a:ext cx="4289425"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t>It should be noted that fiber characteristics vary widely even within the softwood and hardwood classifications, and there is some overlap. Each fiber type has its advantages and disadvantages. In the end, </a:t>
            </a:r>
          </a:p>
        </p:txBody>
      </p:sp>
      <p:sp>
        <p:nvSpPr>
          <p:cNvPr id="58374" name="TextBox 5"/>
          <p:cNvSpPr txBox="1">
            <a:spLocks noChangeArrowheads="1"/>
          </p:cNvSpPr>
          <p:nvPr/>
        </p:nvSpPr>
        <p:spPr bwMode="auto">
          <a:xfrm>
            <a:off x="4572000" y="4387850"/>
            <a:ext cx="4289425"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a:t>the choice of which wood fibers, or which blend of fibers, to use in the papermaking process depends on the grade of paper being produced and its end-use requirements. Fortunately, all wood fibers are structurally and chemically similar, so they can be pulped and made into paper by the same basic processes.</a:t>
            </a:r>
          </a:p>
        </p:txBody>
      </p:sp>
      <p:sp>
        <p:nvSpPr>
          <p:cNvPr id="58375" name="TextBox 6"/>
          <p:cNvSpPr txBox="1">
            <a:spLocks noChangeArrowheads="1"/>
          </p:cNvSpPr>
          <p:nvPr/>
        </p:nvSpPr>
        <p:spPr bwMode="auto">
          <a:xfrm>
            <a:off x="-14288" y="6092825"/>
            <a:ext cx="25701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a:t>Credit: Convergence Training</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p:cNvSpPr>
            <a:spLocks noGrp="1"/>
          </p:cNvSpPr>
          <p:nvPr>
            <p:ph type="title"/>
          </p:nvPr>
        </p:nvSpPr>
        <p:spPr>
          <a:xfrm>
            <a:off x="457200" y="-17463"/>
            <a:ext cx="8229600" cy="1143001"/>
          </a:xfrm>
        </p:spPr>
        <p:txBody>
          <a:bodyPr/>
          <a:lstStyle/>
          <a:p>
            <a:pPr eaLnBrk="1" hangingPunct="1"/>
            <a:r>
              <a:rPr lang="en-US" altLang="en-US" sz="3200" smtClean="0">
                <a:latin typeface="Tahoma" panose="020B0604030504040204" pitchFamily="34" charset="0"/>
                <a:cs typeface="Tahoma" panose="020B0604030504040204" pitchFamily="34" charset="0"/>
              </a:rPr>
              <a:t>2. Characteristic of wood and wood pulp </a:t>
            </a:r>
          </a:p>
        </p:txBody>
      </p:sp>
      <p:sp>
        <p:nvSpPr>
          <p:cNvPr id="60419" name="Rectangle 2"/>
          <p:cNvSpPr txBox="1">
            <a:spLocks noChangeArrowheads="1"/>
          </p:cNvSpPr>
          <p:nvPr/>
        </p:nvSpPr>
        <p:spPr bwMode="auto">
          <a:xfrm>
            <a:off x="425450" y="9382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b="1">
                <a:latin typeface="Tahoma" panose="020B0604030504040204" pitchFamily="34" charset="0"/>
                <a:cs typeface="Tahoma" panose="020B0604030504040204" pitchFamily="34" charset="0"/>
              </a:rPr>
              <a:t>Chemical  components  of  wood</a:t>
            </a:r>
          </a:p>
        </p:txBody>
      </p:sp>
      <p:sp>
        <p:nvSpPr>
          <p:cNvPr id="60420" name="Text Box 5"/>
          <p:cNvSpPr txBox="1">
            <a:spLocks noChangeArrowheads="1"/>
          </p:cNvSpPr>
          <p:nvPr/>
        </p:nvSpPr>
        <p:spPr bwMode="auto">
          <a:xfrm>
            <a:off x="3635375" y="2057400"/>
            <a:ext cx="1828800" cy="338138"/>
          </a:xfrm>
          <a:prstGeom prst="rect">
            <a:avLst/>
          </a:prstGeom>
          <a:noFill/>
          <a:ln w="57150" cmpd="thinThick">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en-US" altLang="en-US" sz="1600" b="1">
                <a:latin typeface="Tahoma" panose="020B0604030504040204" pitchFamily="34" charset="0"/>
                <a:cs typeface="Tahoma" panose="020B0604030504040204" pitchFamily="34" charset="0"/>
              </a:rPr>
              <a:t>WOOD</a:t>
            </a:r>
            <a:endParaRPr lang="en-US" altLang="en-US" sz="1600">
              <a:latin typeface="Tahoma" panose="020B0604030504040204" pitchFamily="34" charset="0"/>
              <a:cs typeface="Tahoma" panose="020B0604030504040204" pitchFamily="34" charset="0"/>
            </a:endParaRPr>
          </a:p>
        </p:txBody>
      </p:sp>
      <p:sp>
        <p:nvSpPr>
          <p:cNvPr id="60421" name="Text Box 6"/>
          <p:cNvSpPr txBox="1">
            <a:spLocks noChangeArrowheads="1"/>
          </p:cNvSpPr>
          <p:nvPr/>
        </p:nvSpPr>
        <p:spPr bwMode="auto">
          <a:xfrm>
            <a:off x="1349375" y="2889250"/>
            <a:ext cx="1295400" cy="338138"/>
          </a:xfrm>
          <a:prstGeom prst="rect">
            <a:avLst/>
          </a:prstGeom>
          <a:noFill/>
          <a:ln w="349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en-US" altLang="en-US" sz="1600" b="1">
                <a:latin typeface="Tahoma" panose="020B0604030504040204" pitchFamily="34" charset="0"/>
                <a:cs typeface="Tahoma" panose="020B0604030504040204" pitchFamily="34" charset="0"/>
              </a:rPr>
              <a:t>LIGNIN</a:t>
            </a:r>
            <a:endParaRPr lang="en-US" altLang="en-US" sz="1600">
              <a:latin typeface="Tahoma" panose="020B0604030504040204" pitchFamily="34" charset="0"/>
              <a:cs typeface="Tahoma" panose="020B0604030504040204" pitchFamily="34" charset="0"/>
            </a:endParaRPr>
          </a:p>
        </p:txBody>
      </p:sp>
      <p:sp>
        <p:nvSpPr>
          <p:cNvPr id="60422" name="Text Box 7"/>
          <p:cNvSpPr txBox="1">
            <a:spLocks noChangeArrowheads="1"/>
          </p:cNvSpPr>
          <p:nvPr/>
        </p:nvSpPr>
        <p:spPr bwMode="auto">
          <a:xfrm>
            <a:off x="6073775" y="2889250"/>
            <a:ext cx="1981200" cy="338138"/>
          </a:xfrm>
          <a:prstGeom prst="rect">
            <a:avLst/>
          </a:prstGeom>
          <a:noFill/>
          <a:ln w="349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en-US" altLang="en-US" sz="1600" b="1">
                <a:latin typeface="Tahoma" panose="020B0604030504040204" pitchFamily="34" charset="0"/>
                <a:cs typeface="Tahoma" panose="020B0604030504040204" pitchFamily="34" charset="0"/>
              </a:rPr>
              <a:t>EXTRACTIVES</a:t>
            </a:r>
            <a:endParaRPr lang="en-US" altLang="en-US" sz="1600">
              <a:latin typeface="Tahoma" panose="020B0604030504040204" pitchFamily="34" charset="0"/>
              <a:cs typeface="Tahoma" panose="020B0604030504040204" pitchFamily="34" charset="0"/>
            </a:endParaRPr>
          </a:p>
        </p:txBody>
      </p:sp>
      <p:sp>
        <p:nvSpPr>
          <p:cNvPr id="60423" name="Text Box 8"/>
          <p:cNvSpPr txBox="1">
            <a:spLocks noChangeArrowheads="1"/>
          </p:cNvSpPr>
          <p:nvPr/>
        </p:nvSpPr>
        <p:spPr bwMode="auto">
          <a:xfrm>
            <a:off x="3308350" y="3279775"/>
            <a:ext cx="2438400" cy="339725"/>
          </a:xfrm>
          <a:prstGeom prst="rect">
            <a:avLst/>
          </a:prstGeom>
          <a:noFill/>
          <a:ln w="349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en-US" altLang="en-US" sz="1600" b="1">
                <a:latin typeface="Tahoma" panose="020B0604030504040204" pitchFamily="34" charset="0"/>
                <a:cs typeface="Tahoma" panose="020B0604030504040204" pitchFamily="34" charset="0"/>
              </a:rPr>
              <a:t>CARBOHYDRATES</a:t>
            </a:r>
            <a:endParaRPr lang="en-US" altLang="en-US" sz="1600">
              <a:latin typeface="Tahoma" panose="020B0604030504040204" pitchFamily="34" charset="0"/>
              <a:cs typeface="Tahoma" panose="020B0604030504040204" pitchFamily="34" charset="0"/>
            </a:endParaRPr>
          </a:p>
        </p:txBody>
      </p:sp>
      <p:sp>
        <p:nvSpPr>
          <p:cNvPr id="60424" name="Text Box 9"/>
          <p:cNvSpPr txBox="1">
            <a:spLocks noChangeArrowheads="1"/>
          </p:cNvSpPr>
          <p:nvPr/>
        </p:nvSpPr>
        <p:spPr bwMode="auto">
          <a:xfrm>
            <a:off x="1611313" y="4811713"/>
            <a:ext cx="1905000" cy="338137"/>
          </a:xfrm>
          <a:prstGeom prst="rect">
            <a:avLst/>
          </a:prstGeom>
          <a:noFill/>
          <a:ln w="38100">
            <a:solidFill>
              <a:srgbClr val="FF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en-US" altLang="en-US" sz="1600" b="1">
                <a:latin typeface="Tahoma" panose="020B0604030504040204" pitchFamily="34" charset="0"/>
                <a:cs typeface="Tahoma" panose="020B0604030504040204" pitchFamily="34" charset="0"/>
              </a:rPr>
              <a:t>CELLULOSE</a:t>
            </a:r>
            <a:endParaRPr lang="en-US" altLang="en-US" sz="1600">
              <a:latin typeface="Tahoma" panose="020B0604030504040204" pitchFamily="34" charset="0"/>
              <a:cs typeface="Tahoma" panose="020B0604030504040204" pitchFamily="34" charset="0"/>
            </a:endParaRPr>
          </a:p>
        </p:txBody>
      </p:sp>
      <p:sp>
        <p:nvSpPr>
          <p:cNvPr id="60425" name="Text Box 10"/>
          <p:cNvSpPr txBox="1">
            <a:spLocks noChangeArrowheads="1"/>
          </p:cNvSpPr>
          <p:nvPr/>
        </p:nvSpPr>
        <p:spPr bwMode="auto">
          <a:xfrm>
            <a:off x="5178425" y="4811713"/>
            <a:ext cx="2438400" cy="338137"/>
          </a:xfrm>
          <a:prstGeom prst="rect">
            <a:avLst/>
          </a:prstGeom>
          <a:noFill/>
          <a:ln w="38100">
            <a:solidFill>
              <a:srgbClr val="FF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en-US" altLang="en-US" sz="1600" b="1">
                <a:latin typeface="Tahoma" panose="020B0604030504040204" pitchFamily="34" charset="0"/>
                <a:cs typeface="Tahoma" panose="020B0604030504040204" pitchFamily="34" charset="0"/>
              </a:rPr>
              <a:t>HEMICELLULOSE</a:t>
            </a:r>
            <a:endParaRPr lang="en-US" altLang="en-US" sz="1600">
              <a:latin typeface="Tahoma" panose="020B0604030504040204" pitchFamily="34" charset="0"/>
              <a:cs typeface="Tahoma" panose="020B0604030504040204" pitchFamily="34" charset="0"/>
            </a:endParaRPr>
          </a:p>
        </p:txBody>
      </p:sp>
      <p:sp>
        <p:nvSpPr>
          <p:cNvPr id="60426" name="Line 21"/>
          <p:cNvSpPr>
            <a:spLocks noChangeShapeType="1"/>
          </p:cNvSpPr>
          <p:nvPr/>
        </p:nvSpPr>
        <p:spPr bwMode="auto">
          <a:xfrm>
            <a:off x="7064375" y="3227388"/>
            <a:ext cx="0" cy="1219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427" name="Line 22"/>
          <p:cNvSpPr>
            <a:spLocks noChangeShapeType="1"/>
          </p:cNvSpPr>
          <p:nvPr/>
        </p:nvSpPr>
        <p:spPr bwMode="auto">
          <a:xfrm>
            <a:off x="2563813" y="5149850"/>
            <a:ext cx="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428" name="Line 23"/>
          <p:cNvSpPr>
            <a:spLocks noChangeShapeType="1"/>
          </p:cNvSpPr>
          <p:nvPr/>
        </p:nvSpPr>
        <p:spPr bwMode="auto">
          <a:xfrm>
            <a:off x="6397625" y="5149850"/>
            <a:ext cx="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429" name="Text Box 24"/>
          <p:cNvSpPr txBox="1">
            <a:spLocks noChangeArrowheads="1"/>
          </p:cNvSpPr>
          <p:nvPr/>
        </p:nvSpPr>
        <p:spPr bwMode="auto">
          <a:xfrm>
            <a:off x="490538" y="2108200"/>
            <a:ext cx="1182687"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b="1">
                <a:latin typeface="Tahoma" panose="020B0604030504040204" pitchFamily="34" charset="0"/>
                <a:cs typeface="Tahoma" panose="020B0604030504040204" pitchFamily="34" charset="0"/>
              </a:rPr>
              <a:t>21 % HW</a:t>
            </a:r>
          </a:p>
          <a:p>
            <a:pPr>
              <a:spcBef>
                <a:spcPct val="0"/>
              </a:spcBef>
              <a:buFontTx/>
              <a:buNone/>
            </a:pPr>
            <a:r>
              <a:rPr lang="en-US" altLang="en-US" sz="1600" b="1">
                <a:latin typeface="Tahoma" panose="020B0604030504040204" pitchFamily="34" charset="0"/>
                <a:cs typeface="Tahoma" panose="020B0604030504040204" pitchFamily="34" charset="0"/>
              </a:rPr>
              <a:t>25 % SW</a:t>
            </a:r>
            <a:endParaRPr lang="en-US" altLang="en-US" sz="1600">
              <a:latin typeface="Tahoma" panose="020B0604030504040204" pitchFamily="34" charset="0"/>
              <a:cs typeface="Tahoma" panose="020B0604030504040204" pitchFamily="34" charset="0"/>
            </a:endParaRPr>
          </a:p>
        </p:txBody>
      </p:sp>
      <p:sp>
        <p:nvSpPr>
          <p:cNvPr id="60430" name="Text Box 25"/>
          <p:cNvSpPr txBox="1">
            <a:spLocks noChangeArrowheads="1"/>
          </p:cNvSpPr>
          <p:nvPr/>
        </p:nvSpPr>
        <p:spPr bwMode="auto">
          <a:xfrm>
            <a:off x="7064375" y="2279650"/>
            <a:ext cx="841375"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b="1">
                <a:latin typeface="Tahoma" panose="020B0604030504040204" pitchFamily="34" charset="0"/>
                <a:cs typeface="Tahoma" panose="020B0604030504040204" pitchFamily="34" charset="0"/>
              </a:rPr>
              <a:t>2-8 %</a:t>
            </a:r>
            <a:endParaRPr lang="en-US" altLang="en-US" sz="1600">
              <a:latin typeface="Tahoma" panose="020B0604030504040204" pitchFamily="34" charset="0"/>
              <a:cs typeface="Tahoma" panose="020B0604030504040204" pitchFamily="34" charset="0"/>
            </a:endParaRPr>
          </a:p>
        </p:txBody>
      </p:sp>
      <p:sp>
        <p:nvSpPr>
          <p:cNvPr id="60431" name="Text Box 26"/>
          <p:cNvSpPr txBox="1">
            <a:spLocks noChangeArrowheads="1"/>
          </p:cNvSpPr>
          <p:nvPr/>
        </p:nvSpPr>
        <p:spPr bwMode="auto">
          <a:xfrm>
            <a:off x="2492375" y="4413250"/>
            <a:ext cx="754063"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b="1">
                <a:latin typeface="Tahoma" panose="020B0604030504040204" pitchFamily="34" charset="0"/>
                <a:cs typeface="Tahoma" panose="020B0604030504040204" pitchFamily="34" charset="0"/>
              </a:rPr>
              <a:t>45 %</a:t>
            </a:r>
            <a:endParaRPr lang="en-US" altLang="en-US" sz="1600">
              <a:latin typeface="Tahoma" panose="020B0604030504040204" pitchFamily="34" charset="0"/>
              <a:cs typeface="Tahoma" panose="020B0604030504040204" pitchFamily="34" charset="0"/>
            </a:endParaRPr>
          </a:p>
        </p:txBody>
      </p:sp>
      <p:sp>
        <p:nvSpPr>
          <p:cNvPr id="60432" name="Text Box 27"/>
          <p:cNvSpPr txBox="1">
            <a:spLocks noChangeArrowheads="1"/>
          </p:cNvSpPr>
          <p:nvPr/>
        </p:nvSpPr>
        <p:spPr bwMode="auto">
          <a:xfrm>
            <a:off x="5311775" y="3957638"/>
            <a:ext cx="1182688"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b="1">
                <a:latin typeface="Tahoma" panose="020B0604030504040204" pitchFamily="34" charset="0"/>
                <a:cs typeface="Tahoma" panose="020B0604030504040204" pitchFamily="34" charset="0"/>
              </a:rPr>
              <a:t>35 % HW</a:t>
            </a:r>
          </a:p>
          <a:p>
            <a:pPr>
              <a:spcBef>
                <a:spcPct val="0"/>
              </a:spcBef>
              <a:buFontTx/>
              <a:buNone/>
            </a:pPr>
            <a:r>
              <a:rPr lang="en-US" altLang="en-US" sz="1600" b="1">
                <a:latin typeface="Tahoma" panose="020B0604030504040204" pitchFamily="34" charset="0"/>
                <a:cs typeface="Tahoma" panose="020B0604030504040204" pitchFamily="34" charset="0"/>
              </a:rPr>
              <a:t>25 % SW</a:t>
            </a:r>
            <a:endParaRPr lang="en-US" altLang="en-US" sz="1600">
              <a:latin typeface="Tahoma" panose="020B0604030504040204" pitchFamily="34" charset="0"/>
              <a:cs typeface="Tahoma" panose="020B0604030504040204" pitchFamily="34" charset="0"/>
            </a:endParaRPr>
          </a:p>
        </p:txBody>
      </p:sp>
      <p:sp>
        <p:nvSpPr>
          <p:cNvPr id="60433" name="Text Box 28"/>
          <p:cNvSpPr txBox="1">
            <a:spLocks noChangeArrowheads="1"/>
          </p:cNvSpPr>
          <p:nvPr/>
        </p:nvSpPr>
        <p:spPr bwMode="auto">
          <a:xfrm>
            <a:off x="7064375" y="3248025"/>
            <a:ext cx="1439863" cy="1169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400">
                <a:latin typeface="Tahoma" panose="020B0604030504040204" pitchFamily="34" charset="0"/>
                <a:cs typeface="Tahoma" panose="020B0604030504040204" pitchFamily="34" charset="0"/>
              </a:rPr>
              <a:t>Terpines</a:t>
            </a:r>
          </a:p>
          <a:p>
            <a:pPr>
              <a:spcBef>
                <a:spcPct val="0"/>
              </a:spcBef>
              <a:buFontTx/>
              <a:buNone/>
            </a:pPr>
            <a:r>
              <a:rPr lang="en-US" altLang="en-US" sz="1400">
                <a:latin typeface="Tahoma" panose="020B0604030504040204" pitchFamily="34" charset="0"/>
                <a:cs typeface="Tahoma" panose="020B0604030504040204" pitchFamily="34" charset="0"/>
              </a:rPr>
              <a:t>Resin acid (SW)</a:t>
            </a:r>
          </a:p>
          <a:p>
            <a:pPr>
              <a:spcBef>
                <a:spcPct val="0"/>
              </a:spcBef>
              <a:buFontTx/>
              <a:buNone/>
            </a:pPr>
            <a:r>
              <a:rPr lang="en-US" altLang="en-US" sz="1400">
                <a:latin typeface="Tahoma" panose="020B0604030504040204" pitchFamily="34" charset="0"/>
                <a:cs typeface="Tahoma" panose="020B0604030504040204" pitchFamily="34" charset="0"/>
              </a:rPr>
              <a:t>Fatty acid</a:t>
            </a:r>
          </a:p>
          <a:p>
            <a:pPr>
              <a:spcBef>
                <a:spcPct val="0"/>
              </a:spcBef>
              <a:buFontTx/>
              <a:buNone/>
            </a:pPr>
            <a:r>
              <a:rPr lang="en-US" altLang="en-US" sz="1400">
                <a:latin typeface="Tahoma" panose="020B0604030504040204" pitchFamily="34" charset="0"/>
                <a:cs typeface="Tahoma" panose="020B0604030504040204" pitchFamily="34" charset="0"/>
              </a:rPr>
              <a:t>Phenol</a:t>
            </a:r>
          </a:p>
          <a:p>
            <a:pPr>
              <a:spcBef>
                <a:spcPct val="0"/>
              </a:spcBef>
              <a:buFontTx/>
              <a:buNone/>
            </a:pPr>
            <a:r>
              <a:rPr lang="en-US" altLang="en-US" sz="1400">
                <a:latin typeface="Tahoma" panose="020B0604030504040204" pitchFamily="34" charset="0"/>
                <a:cs typeface="Tahoma" panose="020B0604030504040204" pitchFamily="34" charset="0"/>
              </a:rPr>
              <a:t>Unsaponifiable</a:t>
            </a:r>
          </a:p>
        </p:txBody>
      </p:sp>
      <p:sp>
        <p:nvSpPr>
          <p:cNvPr id="60434" name="Text Box 29"/>
          <p:cNvSpPr txBox="1">
            <a:spLocks noChangeArrowheads="1"/>
          </p:cNvSpPr>
          <p:nvPr/>
        </p:nvSpPr>
        <p:spPr bwMode="auto">
          <a:xfrm>
            <a:off x="2620963" y="5235575"/>
            <a:ext cx="674687" cy="83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a:latin typeface="Tahoma" panose="020B0604030504040204" pitchFamily="34" charset="0"/>
                <a:cs typeface="Tahoma" panose="020B0604030504040204" pitchFamily="34" charset="0"/>
              </a:rPr>
              <a:t>Glucose</a:t>
            </a:r>
          </a:p>
          <a:p>
            <a:pPr>
              <a:spcBef>
                <a:spcPct val="0"/>
              </a:spcBef>
              <a:buFontTx/>
              <a:buNone/>
            </a:pPr>
            <a:endParaRPr lang="en-US" altLang="en-US" sz="1600">
              <a:latin typeface="Tahoma" panose="020B0604030504040204" pitchFamily="34" charset="0"/>
              <a:cs typeface="Tahoma" panose="020B0604030504040204" pitchFamily="34" charset="0"/>
            </a:endParaRPr>
          </a:p>
        </p:txBody>
      </p:sp>
      <p:sp>
        <p:nvSpPr>
          <p:cNvPr id="60435" name="Text Box 30"/>
          <p:cNvSpPr txBox="1">
            <a:spLocks noChangeArrowheads="1"/>
          </p:cNvSpPr>
          <p:nvPr/>
        </p:nvSpPr>
        <p:spPr bwMode="auto">
          <a:xfrm>
            <a:off x="6381750" y="5149850"/>
            <a:ext cx="1524000" cy="101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latin typeface="Tahoma" panose="020B0604030504040204" pitchFamily="34" charset="0"/>
                <a:cs typeface="Tahoma" panose="020B0604030504040204" pitchFamily="34" charset="0"/>
              </a:rPr>
              <a:t>Glucose</a:t>
            </a:r>
          </a:p>
          <a:p>
            <a:pPr>
              <a:spcBef>
                <a:spcPct val="0"/>
              </a:spcBef>
              <a:buFontTx/>
              <a:buNone/>
            </a:pPr>
            <a:r>
              <a:rPr lang="en-US" altLang="en-US" sz="1200">
                <a:latin typeface="Tahoma" panose="020B0604030504040204" pitchFamily="34" charset="0"/>
                <a:cs typeface="Tahoma" panose="020B0604030504040204" pitchFamily="34" charset="0"/>
              </a:rPr>
              <a:t>Mannose  Galactose</a:t>
            </a:r>
          </a:p>
          <a:p>
            <a:pPr>
              <a:spcBef>
                <a:spcPct val="0"/>
              </a:spcBef>
              <a:buFontTx/>
              <a:buNone/>
            </a:pPr>
            <a:r>
              <a:rPr lang="en-US" altLang="en-US" sz="1200">
                <a:latin typeface="Tahoma" panose="020B0604030504040204" pitchFamily="34" charset="0"/>
                <a:cs typeface="Tahoma" panose="020B0604030504040204" pitchFamily="34" charset="0"/>
              </a:rPr>
              <a:t>Xylose  Arabinose</a:t>
            </a:r>
          </a:p>
          <a:p>
            <a:pPr>
              <a:spcBef>
                <a:spcPct val="0"/>
              </a:spcBef>
              <a:buFontTx/>
              <a:buNone/>
            </a:pPr>
            <a:endParaRPr lang="en-US" altLang="en-US" sz="1200">
              <a:latin typeface="Tahoma" panose="020B0604030504040204" pitchFamily="34" charset="0"/>
              <a:cs typeface="Tahoma" panose="020B0604030504040204" pitchFamily="34" charset="0"/>
            </a:endParaRPr>
          </a:p>
        </p:txBody>
      </p:sp>
      <p:cxnSp>
        <p:nvCxnSpPr>
          <p:cNvPr id="4" name="Elbow Connector 3"/>
          <p:cNvCxnSpPr>
            <a:stCxn id="60420" idx="1"/>
            <a:endCxn id="60421" idx="0"/>
          </p:cNvCxnSpPr>
          <p:nvPr/>
        </p:nvCxnSpPr>
        <p:spPr>
          <a:xfrm rot="10800000" flipV="1">
            <a:off x="1997075" y="2227263"/>
            <a:ext cx="1638300" cy="661987"/>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38" name="Elbow Connector 37"/>
          <p:cNvCxnSpPr>
            <a:stCxn id="60420" idx="3"/>
            <a:endCxn id="60422" idx="0"/>
          </p:cNvCxnSpPr>
          <p:nvPr/>
        </p:nvCxnSpPr>
        <p:spPr>
          <a:xfrm>
            <a:off x="5464175" y="2227263"/>
            <a:ext cx="1600200" cy="661987"/>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40" name="Elbow Connector 39"/>
          <p:cNvCxnSpPr>
            <a:stCxn id="60420" idx="2"/>
            <a:endCxn id="60423" idx="0"/>
          </p:cNvCxnSpPr>
          <p:nvPr/>
        </p:nvCxnSpPr>
        <p:spPr>
          <a:xfrm rot="5400000">
            <a:off x="4096544" y="2826544"/>
            <a:ext cx="884237" cy="22225"/>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44" name="Elbow Connector 43"/>
          <p:cNvCxnSpPr>
            <a:stCxn id="60423" idx="1"/>
            <a:endCxn id="60424" idx="0"/>
          </p:cNvCxnSpPr>
          <p:nvPr/>
        </p:nvCxnSpPr>
        <p:spPr>
          <a:xfrm rot="10800000" flipV="1">
            <a:off x="2563813" y="3449638"/>
            <a:ext cx="744537" cy="1362075"/>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46" name="Elbow Connector 45"/>
          <p:cNvCxnSpPr>
            <a:stCxn id="60423" idx="3"/>
            <a:endCxn id="60425" idx="0"/>
          </p:cNvCxnSpPr>
          <p:nvPr/>
        </p:nvCxnSpPr>
        <p:spPr>
          <a:xfrm>
            <a:off x="5746750" y="3449638"/>
            <a:ext cx="650875" cy="1362075"/>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60441" name="TextBox 24"/>
          <p:cNvSpPr txBox="1">
            <a:spLocks noChangeArrowheads="1"/>
          </p:cNvSpPr>
          <p:nvPr/>
        </p:nvSpPr>
        <p:spPr bwMode="auto">
          <a:xfrm>
            <a:off x="0" y="6115050"/>
            <a:ext cx="26765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a:t>Credit: Suebthip Pongpaiboon</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p:cNvSpPr>
            <a:spLocks noGrp="1"/>
          </p:cNvSpPr>
          <p:nvPr>
            <p:ph type="title"/>
          </p:nvPr>
        </p:nvSpPr>
        <p:spPr>
          <a:xfrm>
            <a:off x="457200" y="-17463"/>
            <a:ext cx="8229600" cy="1143001"/>
          </a:xfrm>
        </p:spPr>
        <p:txBody>
          <a:bodyPr/>
          <a:lstStyle/>
          <a:p>
            <a:pPr eaLnBrk="1" hangingPunct="1"/>
            <a:r>
              <a:rPr lang="en-US" altLang="en-US" sz="3200" smtClean="0">
                <a:latin typeface="Tahoma" panose="020B0604030504040204" pitchFamily="34" charset="0"/>
                <a:cs typeface="Tahoma" panose="020B0604030504040204" pitchFamily="34" charset="0"/>
              </a:rPr>
              <a:t>2. Characteristic of wood and wood pulp </a:t>
            </a:r>
          </a:p>
        </p:txBody>
      </p:sp>
      <p:sp>
        <p:nvSpPr>
          <p:cNvPr id="62467" name="Rectangle 3"/>
          <p:cNvSpPr>
            <a:spLocks noChangeArrowheads="1"/>
          </p:cNvSpPr>
          <p:nvPr/>
        </p:nvSpPr>
        <p:spPr bwMode="auto">
          <a:xfrm>
            <a:off x="1331913" y="1303338"/>
            <a:ext cx="1447800" cy="1752600"/>
          </a:xfrm>
          <a:prstGeom prst="rect">
            <a:avLst/>
          </a:prstGeom>
          <a:solidFill>
            <a:schemeClr val="hlink"/>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600" b="1">
                <a:solidFill>
                  <a:srgbClr val="FFFFFF"/>
                </a:solidFill>
                <a:latin typeface="Tahoma" panose="020B0604030504040204" pitchFamily="34" charset="0"/>
                <a:cs typeface="Tahoma" panose="020B0604030504040204" pitchFamily="34" charset="0"/>
              </a:rPr>
              <a:t>42</a:t>
            </a:r>
            <a:r>
              <a:rPr lang="en-US" altLang="en-US" sz="1600" b="1" u="sng">
                <a:solidFill>
                  <a:srgbClr val="FFFFFF"/>
                </a:solidFill>
                <a:latin typeface="Tahoma" panose="020B0604030504040204" pitchFamily="34" charset="0"/>
                <a:cs typeface="Tahoma" panose="020B0604030504040204" pitchFamily="34" charset="0"/>
              </a:rPr>
              <a:t>+</a:t>
            </a:r>
            <a:r>
              <a:rPr lang="en-US" altLang="en-US" sz="1600" b="1">
                <a:solidFill>
                  <a:srgbClr val="FFFFFF"/>
                </a:solidFill>
                <a:latin typeface="Tahoma" panose="020B0604030504040204" pitchFamily="34" charset="0"/>
                <a:cs typeface="Tahoma" panose="020B0604030504040204" pitchFamily="34" charset="0"/>
              </a:rPr>
              <a:t>2 %</a:t>
            </a:r>
          </a:p>
        </p:txBody>
      </p:sp>
      <p:sp>
        <p:nvSpPr>
          <p:cNvPr id="62468" name="Rectangle 5"/>
          <p:cNvSpPr>
            <a:spLocks noChangeArrowheads="1"/>
          </p:cNvSpPr>
          <p:nvPr/>
        </p:nvSpPr>
        <p:spPr bwMode="auto">
          <a:xfrm>
            <a:off x="6580188" y="1303338"/>
            <a:ext cx="1447800" cy="1981200"/>
          </a:xfrm>
          <a:prstGeom prst="rect">
            <a:avLst/>
          </a:prstGeom>
          <a:solidFill>
            <a:schemeClr val="hlink">
              <a:alpha val="50195"/>
            </a:schemeClr>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600" b="1">
                <a:solidFill>
                  <a:srgbClr val="FFFFFF"/>
                </a:solidFill>
                <a:latin typeface="Tahoma" panose="020B0604030504040204" pitchFamily="34" charset="0"/>
                <a:cs typeface="Tahoma" panose="020B0604030504040204" pitchFamily="34" charset="0"/>
              </a:rPr>
              <a:t>45</a:t>
            </a:r>
            <a:r>
              <a:rPr lang="en-US" altLang="en-US" sz="1600" b="1" u="sng">
                <a:solidFill>
                  <a:srgbClr val="FFFFFF"/>
                </a:solidFill>
                <a:latin typeface="Tahoma" panose="020B0604030504040204" pitchFamily="34" charset="0"/>
                <a:cs typeface="Tahoma" panose="020B0604030504040204" pitchFamily="34" charset="0"/>
              </a:rPr>
              <a:t>+</a:t>
            </a:r>
            <a:r>
              <a:rPr lang="en-US" altLang="en-US" sz="1600" b="1">
                <a:solidFill>
                  <a:srgbClr val="FFFFFF"/>
                </a:solidFill>
                <a:latin typeface="Tahoma" panose="020B0604030504040204" pitchFamily="34" charset="0"/>
                <a:cs typeface="Tahoma" panose="020B0604030504040204" pitchFamily="34" charset="0"/>
              </a:rPr>
              <a:t>2 %</a:t>
            </a:r>
          </a:p>
        </p:txBody>
      </p:sp>
      <p:sp>
        <p:nvSpPr>
          <p:cNvPr id="62469" name="Rectangle 6"/>
          <p:cNvSpPr>
            <a:spLocks noChangeArrowheads="1"/>
          </p:cNvSpPr>
          <p:nvPr/>
        </p:nvSpPr>
        <p:spPr bwMode="auto">
          <a:xfrm>
            <a:off x="1331913" y="3055938"/>
            <a:ext cx="1447800" cy="1143000"/>
          </a:xfrm>
          <a:prstGeom prst="rect">
            <a:avLst/>
          </a:prstGeom>
          <a:solidFill>
            <a:srgbClr val="0000FF"/>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600" b="1">
                <a:solidFill>
                  <a:srgbClr val="FFFFFF"/>
                </a:solidFill>
                <a:latin typeface="Tahoma" panose="020B0604030504040204" pitchFamily="34" charset="0"/>
                <a:cs typeface="Tahoma" panose="020B0604030504040204" pitchFamily="34" charset="0"/>
              </a:rPr>
              <a:t>27</a:t>
            </a:r>
            <a:r>
              <a:rPr lang="en-US" altLang="en-US" sz="1600" b="1" u="sng">
                <a:solidFill>
                  <a:srgbClr val="FFFFFF"/>
                </a:solidFill>
                <a:latin typeface="Tahoma" panose="020B0604030504040204" pitchFamily="34" charset="0"/>
                <a:cs typeface="Tahoma" panose="020B0604030504040204" pitchFamily="34" charset="0"/>
              </a:rPr>
              <a:t>+</a:t>
            </a:r>
            <a:r>
              <a:rPr lang="en-US" altLang="en-US" sz="1600" b="1">
                <a:solidFill>
                  <a:srgbClr val="FFFFFF"/>
                </a:solidFill>
                <a:latin typeface="Tahoma" panose="020B0604030504040204" pitchFamily="34" charset="0"/>
                <a:cs typeface="Tahoma" panose="020B0604030504040204" pitchFamily="34" charset="0"/>
              </a:rPr>
              <a:t>2 %</a:t>
            </a:r>
          </a:p>
        </p:txBody>
      </p:sp>
      <p:sp>
        <p:nvSpPr>
          <p:cNvPr id="62470" name="Rectangle 7"/>
          <p:cNvSpPr>
            <a:spLocks noChangeArrowheads="1"/>
          </p:cNvSpPr>
          <p:nvPr/>
        </p:nvSpPr>
        <p:spPr bwMode="auto">
          <a:xfrm>
            <a:off x="6580188" y="3284538"/>
            <a:ext cx="1447800" cy="1295400"/>
          </a:xfrm>
          <a:prstGeom prst="rect">
            <a:avLst/>
          </a:prstGeom>
          <a:solidFill>
            <a:srgbClr val="0000FF">
              <a:alpha val="50195"/>
            </a:srgbClr>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600" b="1">
                <a:solidFill>
                  <a:srgbClr val="FFFFFF"/>
                </a:solidFill>
                <a:latin typeface="Tahoma" panose="020B0604030504040204" pitchFamily="34" charset="0"/>
                <a:cs typeface="Tahoma" panose="020B0604030504040204" pitchFamily="34" charset="0"/>
              </a:rPr>
              <a:t>30</a:t>
            </a:r>
            <a:r>
              <a:rPr lang="en-US" altLang="en-US" sz="1600" b="1" u="sng">
                <a:solidFill>
                  <a:srgbClr val="FFFFFF"/>
                </a:solidFill>
                <a:latin typeface="Tahoma" panose="020B0604030504040204" pitchFamily="34" charset="0"/>
                <a:cs typeface="Tahoma" panose="020B0604030504040204" pitchFamily="34" charset="0"/>
              </a:rPr>
              <a:t>+</a:t>
            </a:r>
            <a:r>
              <a:rPr lang="en-US" altLang="en-US" sz="1600" b="1">
                <a:solidFill>
                  <a:srgbClr val="FFFFFF"/>
                </a:solidFill>
                <a:latin typeface="Tahoma" panose="020B0604030504040204" pitchFamily="34" charset="0"/>
                <a:cs typeface="Tahoma" panose="020B0604030504040204" pitchFamily="34" charset="0"/>
              </a:rPr>
              <a:t>5 %</a:t>
            </a:r>
          </a:p>
        </p:txBody>
      </p:sp>
      <p:sp>
        <p:nvSpPr>
          <p:cNvPr id="62471" name="Rectangle 8"/>
          <p:cNvSpPr>
            <a:spLocks noChangeArrowheads="1"/>
          </p:cNvSpPr>
          <p:nvPr/>
        </p:nvSpPr>
        <p:spPr bwMode="auto">
          <a:xfrm>
            <a:off x="1331913" y="4198938"/>
            <a:ext cx="1447800" cy="1143000"/>
          </a:xfrm>
          <a:prstGeom prst="rect">
            <a:avLst/>
          </a:prstGeom>
          <a:solidFill>
            <a:srgbClr val="FFFF00"/>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600" b="1">
                <a:solidFill>
                  <a:srgbClr val="3333CC"/>
                </a:solidFill>
                <a:latin typeface="Tahoma" panose="020B0604030504040204" pitchFamily="34" charset="0"/>
                <a:cs typeface="Tahoma" panose="020B0604030504040204" pitchFamily="34" charset="0"/>
              </a:rPr>
              <a:t>28</a:t>
            </a:r>
            <a:r>
              <a:rPr lang="en-US" altLang="en-US" sz="1600" b="1" u="sng">
                <a:solidFill>
                  <a:srgbClr val="3333CC"/>
                </a:solidFill>
                <a:latin typeface="Tahoma" panose="020B0604030504040204" pitchFamily="34" charset="0"/>
                <a:cs typeface="Tahoma" panose="020B0604030504040204" pitchFamily="34" charset="0"/>
              </a:rPr>
              <a:t>+</a:t>
            </a:r>
            <a:r>
              <a:rPr lang="en-US" altLang="en-US" sz="1600" b="1">
                <a:solidFill>
                  <a:srgbClr val="3333CC"/>
                </a:solidFill>
                <a:latin typeface="Tahoma" panose="020B0604030504040204" pitchFamily="34" charset="0"/>
                <a:cs typeface="Tahoma" panose="020B0604030504040204" pitchFamily="34" charset="0"/>
              </a:rPr>
              <a:t>3 %</a:t>
            </a:r>
            <a:endParaRPr lang="en-US" altLang="en-US" sz="1600">
              <a:solidFill>
                <a:schemeClr val="tx2"/>
              </a:solidFill>
              <a:latin typeface="Tahoma" panose="020B0604030504040204" pitchFamily="34" charset="0"/>
              <a:cs typeface="Tahoma" panose="020B0604030504040204" pitchFamily="34" charset="0"/>
            </a:endParaRPr>
          </a:p>
        </p:txBody>
      </p:sp>
      <p:sp>
        <p:nvSpPr>
          <p:cNvPr id="62472" name="Rectangle 9"/>
          <p:cNvSpPr>
            <a:spLocks noChangeArrowheads="1"/>
          </p:cNvSpPr>
          <p:nvPr/>
        </p:nvSpPr>
        <p:spPr bwMode="auto">
          <a:xfrm>
            <a:off x="6580188" y="4579938"/>
            <a:ext cx="1447800" cy="762000"/>
          </a:xfrm>
          <a:prstGeom prst="rect">
            <a:avLst/>
          </a:prstGeom>
          <a:solidFill>
            <a:srgbClr val="FFFF00">
              <a:alpha val="50195"/>
            </a:srgbClr>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600" b="1">
                <a:solidFill>
                  <a:srgbClr val="3333CC"/>
                </a:solidFill>
                <a:latin typeface="Tahoma" panose="020B0604030504040204" pitchFamily="34" charset="0"/>
                <a:cs typeface="Tahoma" panose="020B0604030504040204" pitchFamily="34" charset="0"/>
              </a:rPr>
              <a:t>20</a:t>
            </a:r>
            <a:r>
              <a:rPr lang="en-US" altLang="en-US" sz="1600" b="1" u="sng">
                <a:solidFill>
                  <a:srgbClr val="3333CC"/>
                </a:solidFill>
                <a:latin typeface="Tahoma" panose="020B0604030504040204" pitchFamily="34" charset="0"/>
                <a:cs typeface="Tahoma" panose="020B0604030504040204" pitchFamily="34" charset="0"/>
              </a:rPr>
              <a:t>+</a:t>
            </a:r>
            <a:r>
              <a:rPr lang="en-US" altLang="en-US" sz="1600" b="1">
                <a:solidFill>
                  <a:srgbClr val="3333CC"/>
                </a:solidFill>
                <a:latin typeface="Tahoma" panose="020B0604030504040204" pitchFamily="34" charset="0"/>
                <a:cs typeface="Tahoma" panose="020B0604030504040204" pitchFamily="34" charset="0"/>
              </a:rPr>
              <a:t>4 %</a:t>
            </a:r>
            <a:endParaRPr lang="en-US" altLang="en-US" sz="1600">
              <a:solidFill>
                <a:schemeClr val="tx2"/>
              </a:solidFill>
              <a:latin typeface="Tahoma" panose="020B0604030504040204" pitchFamily="34" charset="0"/>
              <a:cs typeface="Tahoma" panose="020B0604030504040204" pitchFamily="34" charset="0"/>
            </a:endParaRPr>
          </a:p>
        </p:txBody>
      </p:sp>
      <p:sp>
        <p:nvSpPr>
          <p:cNvPr id="62473" name="Rectangle 10"/>
          <p:cNvSpPr>
            <a:spLocks noChangeArrowheads="1"/>
          </p:cNvSpPr>
          <p:nvPr/>
        </p:nvSpPr>
        <p:spPr bwMode="auto">
          <a:xfrm>
            <a:off x="1331913" y="5359400"/>
            <a:ext cx="1447800" cy="211138"/>
          </a:xfrm>
          <a:prstGeom prst="rect">
            <a:avLst/>
          </a:prstGeom>
          <a:solidFill>
            <a:schemeClr val="folHlink"/>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600">
              <a:latin typeface="Tahoma" panose="020B0604030504040204" pitchFamily="34" charset="0"/>
              <a:cs typeface="Tahoma" panose="020B0604030504040204" pitchFamily="34" charset="0"/>
            </a:endParaRPr>
          </a:p>
        </p:txBody>
      </p:sp>
      <p:sp>
        <p:nvSpPr>
          <p:cNvPr id="62474" name="Rectangle 11"/>
          <p:cNvSpPr>
            <a:spLocks noChangeArrowheads="1"/>
          </p:cNvSpPr>
          <p:nvPr/>
        </p:nvSpPr>
        <p:spPr bwMode="auto">
          <a:xfrm>
            <a:off x="6580188" y="5341938"/>
            <a:ext cx="1447800" cy="228600"/>
          </a:xfrm>
          <a:prstGeom prst="rect">
            <a:avLst/>
          </a:prstGeom>
          <a:solidFill>
            <a:schemeClr val="folHlink">
              <a:alpha val="50195"/>
            </a:schemeClr>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600" b="1">
                <a:solidFill>
                  <a:schemeClr val="tx2"/>
                </a:solidFill>
                <a:latin typeface="Tahoma" panose="020B0604030504040204" pitchFamily="34" charset="0"/>
                <a:cs typeface="Tahoma" panose="020B0604030504040204" pitchFamily="34" charset="0"/>
              </a:rPr>
              <a:t>5</a:t>
            </a:r>
            <a:r>
              <a:rPr lang="en-US" altLang="en-US" sz="1600" b="1" u="sng">
                <a:solidFill>
                  <a:schemeClr val="tx2"/>
                </a:solidFill>
                <a:latin typeface="Tahoma" panose="020B0604030504040204" pitchFamily="34" charset="0"/>
                <a:cs typeface="Tahoma" panose="020B0604030504040204" pitchFamily="34" charset="0"/>
              </a:rPr>
              <a:t>+</a:t>
            </a:r>
            <a:r>
              <a:rPr lang="en-US" altLang="en-US" sz="1600" b="1">
                <a:solidFill>
                  <a:schemeClr val="tx2"/>
                </a:solidFill>
                <a:latin typeface="Tahoma" panose="020B0604030504040204" pitchFamily="34" charset="0"/>
                <a:cs typeface="Tahoma" panose="020B0604030504040204" pitchFamily="34" charset="0"/>
              </a:rPr>
              <a:t>3 %</a:t>
            </a:r>
            <a:endParaRPr lang="en-US" altLang="en-US" sz="1600">
              <a:solidFill>
                <a:schemeClr val="tx2"/>
              </a:solidFill>
              <a:latin typeface="Tahoma" panose="020B0604030504040204" pitchFamily="34" charset="0"/>
              <a:cs typeface="Tahoma" panose="020B0604030504040204" pitchFamily="34" charset="0"/>
            </a:endParaRPr>
          </a:p>
        </p:txBody>
      </p:sp>
      <p:sp>
        <p:nvSpPr>
          <p:cNvPr id="62475" name="Text Box 12"/>
          <p:cNvSpPr txBox="1">
            <a:spLocks noChangeArrowheads="1"/>
          </p:cNvSpPr>
          <p:nvPr/>
        </p:nvSpPr>
        <p:spPr bwMode="auto">
          <a:xfrm>
            <a:off x="1371600" y="920750"/>
            <a:ext cx="175260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b="1">
                <a:latin typeface="Tahoma" panose="020B0604030504040204" pitchFamily="34" charset="0"/>
                <a:cs typeface="Tahoma" panose="020B0604030504040204" pitchFamily="34" charset="0"/>
              </a:rPr>
              <a:t>SOFTWOODS</a:t>
            </a:r>
          </a:p>
        </p:txBody>
      </p:sp>
      <p:sp>
        <p:nvSpPr>
          <p:cNvPr id="62476" name="Text Box 13"/>
          <p:cNvSpPr txBox="1">
            <a:spLocks noChangeArrowheads="1"/>
          </p:cNvSpPr>
          <p:nvPr/>
        </p:nvSpPr>
        <p:spPr bwMode="auto">
          <a:xfrm>
            <a:off x="6483350" y="908050"/>
            <a:ext cx="190500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b="1">
                <a:latin typeface="Tahoma" panose="020B0604030504040204" pitchFamily="34" charset="0"/>
                <a:cs typeface="Tahoma" panose="020B0604030504040204" pitchFamily="34" charset="0"/>
              </a:rPr>
              <a:t>HARDWOODS</a:t>
            </a:r>
          </a:p>
        </p:txBody>
      </p:sp>
      <p:sp>
        <p:nvSpPr>
          <p:cNvPr id="62477" name="Text Box 15"/>
          <p:cNvSpPr txBox="1">
            <a:spLocks noChangeArrowheads="1"/>
          </p:cNvSpPr>
          <p:nvPr/>
        </p:nvSpPr>
        <p:spPr bwMode="auto">
          <a:xfrm>
            <a:off x="1296988" y="5743575"/>
            <a:ext cx="6731000" cy="338138"/>
          </a:xfrm>
          <a:prstGeom prst="rect">
            <a:avLst/>
          </a:prstGeom>
          <a:solidFill>
            <a:srgbClr val="FFFF99"/>
          </a:solidFill>
          <a:ln w="57150" cmpd="thinThick">
            <a:solidFill>
              <a:srgbClr val="0000FF"/>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b="1">
                <a:solidFill>
                  <a:srgbClr val="3333CC"/>
                </a:solidFill>
                <a:latin typeface="Tahoma" panose="020B0604030504040204" pitchFamily="34" charset="0"/>
                <a:cs typeface="Tahoma" panose="020B0604030504040204" pitchFamily="34" charset="0"/>
              </a:rPr>
              <a:t>Figure 1.1 Average  compositions of softwoods and  hardwoods</a:t>
            </a:r>
            <a:endParaRPr lang="en-US" altLang="en-US" sz="1600">
              <a:latin typeface="Tahoma" panose="020B0604030504040204" pitchFamily="34" charset="0"/>
              <a:cs typeface="Tahoma" panose="020B0604030504040204" pitchFamily="34" charset="0"/>
            </a:endParaRPr>
          </a:p>
        </p:txBody>
      </p:sp>
      <p:sp>
        <p:nvSpPr>
          <p:cNvPr id="62478" name="Rectangle 17"/>
          <p:cNvSpPr>
            <a:spLocks noChangeArrowheads="1"/>
          </p:cNvSpPr>
          <p:nvPr/>
        </p:nvSpPr>
        <p:spPr bwMode="auto">
          <a:xfrm>
            <a:off x="1698625" y="5292725"/>
            <a:ext cx="1360488"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400" b="1">
                <a:solidFill>
                  <a:srgbClr val="FFFFFF"/>
                </a:solidFill>
                <a:latin typeface="Tahoma" panose="020B0604030504040204" pitchFamily="34" charset="0"/>
                <a:cs typeface="Tahoma" panose="020B0604030504040204" pitchFamily="34" charset="0"/>
              </a:rPr>
              <a:t>3</a:t>
            </a:r>
            <a:r>
              <a:rPr lang="en-US" altLang="en-US" sz="1400" b="1" u="sng">
                <a:solidFill>
                  <a:srgbClr val="FFFFFF"/>
                </a:solidFill>
                <a:latin typeface="Tahoma" panose="020B0604030504040204" pitchFamily="34" charset="0"/>
                <a:cs typeface="Tahoma" panose="020B0604030504040204" pitchFamily="34" charset="0"/>
              </a:rPr>
              <a:t>+</a:t>
            </a:r>
            <a:r>
              <a:rPr lang="en-US" altLang="en-US" sz="1400" b="1">
                <a:solidFill>
                  <a:srgbClr val="FFFFFF"/>
                </a:solidFill>
                <a:latin typeface="Tahoma" panose="020B0604030504040204" pitchFamily="34" charset="0"/>
                <a:cs typeface="Tahoma" panose="020B0604030504040204" pitchFamily="34" charset="0"/>
              </a:rPr>
              <a:t>2 %</a:t>
            </a:r>
          </a:p>
        </p:txBody>
      </p:sp>
      <p:sp>
        <p:nvSpPr>
          <p:cNvPr id="62479" name="Text Box 18"/>
          <p:cNvSpPr txBox="1">
            <a:spLocks noChangeArrowheads="1"/>
          </p:cNvSpPr>
          <p:nvPr/>
        </p:nvSpPr>
        <p:spPr bwMode="auto">
          <a:xfrm>
            <a:off x="2546350" y="1638300"/>
            <a:ext cx="4267200" cy="83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600" b="1">
                <a:solidFill>
                  <a:schemeClr val="hlink"/>
                </a:solidFill>
                <a:latin typeface="Tahoma" panose="020B0604030504040204" pitchFamily="34" charset="0"/>
                <a:cs typeface="Tahoma" panose="020B0604030504040204" pitchFamily="34" charset="0"/>
              </a:rPr>
              <a:t>Cellulose</a:t>
            </a:r>
          </a:p>
          <a:p>
            <a:pPr algn="ctr">
              <a:spcBef>
                <a:spcPct val="0"/>
              </a:spcBef>
              <a:buFontTx/>
              <a:buNone/>
            </a:pPr>
            <a:r>
              <a:rPr lang="en-US" altLang="en-US" sz="1600" b="1">
                <a:latin typeface="Tahoma" panose="020B0604030504040204" pitchFamily="34" charset="0"/>
                <a:cs typeface="Tahoma" panose="020B0604030504040204" pitchFamily="34" charset="0"/>
              </a:rPr>
              <a:t>Long-chain  unbranched molecules</a:t>
            </a:r>
          </a:p>
          <a:p>
            <a:pPr algn="ctr">
              <a:spcBef>
                <a:spcPct val="0"/>
              </a:spcBef>
              <a:buFontTx/>
              <a:buNone/>
            </a:pPr>
            <a:r>
              <a:rPr lang="en-US" altLang="en-US" sz="1600" b="1">
                <a:latin typeface="Tahoma" panose="020B0604030504040204" pitchFamily="34" charset="0"/>
                <a:cs typeface="Tahoma" panose="020B0604030504040204" pitchFamily="34" charset="0"/>
              </a:rPr>
              <a:t>Skeletal  Polysaccharides</a:t>
            </a:r>
            <a:endParaRPr lang="en-US" altLang="en-US" sz="1600">
              <a:latin typeface="Tahoma" panose="020B0604030504040204" pitchFamily="34" charset="0"/>
              <a:cs typeface="Tahoma" panose="020B0604030504040204" pitchFamily="34" charset="0"/>
            </a:endParaRPr>
          </a:p>
        </p:txBody>
      </p:sp>
      <p:sp>
        <p:nvSpPr>
          <p:cNvPr id="62480" name="Text Box 19"/>
          <p:cNvSpPr txBox="1">
            <a:spLocks noChangeArrowheads="1"/>
          </p:cNvSpPr>
          <p:nvPr/>
        </p:nvSpPr>
        <p:spPr bwMode="auto">
          <a:xfrm>
            <a:off x="2546350" y="3236913"/>
            <a:ext cx="4267200" cy="830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600" b="1">
                <a:solidFill>
                  <a:srgbClr val="3333CC"/>
                </a:solidFill>
                <a:latin typeface="Tahoma" panose="020B0604030504040204" pitchFamily="34" charset="0"/>
                <a:cs typeface="Tahoma" panose="020B0604030504040204" pitchFamily="34" charset="0"/>
              </a:rPr>
              <a:t>Hemicellulose</a:t>
            </a:r>
            <a:endParaRPr lang="en-US" altLang="en-US" sz="1600" b="1">
              <a:latin typeface="Tahoma" panose="020B0604030504040204" pitchFamily="34" charset="0"/>
              <a:cs typeface="Tahoma" panose="020B0604030504040204" pitchFamily="34" charset="0"/>
            </a:endParaRPr>
          </a:p>
          <a:p>
            <a:pPr algn="ctr">
              <a:spcBef>
                <a:spcPct val="0"/>
              </a:spcBef>
              <a:buFontTx/>
              <a:buNone/>
            </a:pPr>
            <a:r>
              <a:rPr lang="en-US" altLang="en-US" sz="1600" b="1">
                <a:latin typeface="Tahoma" panose="020B0604030504040204" pitchFamily="34" charset="0"/>
                <a:cs typeface="Tahoma" panose="020B0604030504040204" pitchFamily="34" charset="0"/>
              </a:rPr>
              <a:t>Branched short-chain  molecules</a:t>
            </a:r>
          </a:p>
          <a:p>
            <a:pPr algn="ctr">
              <a:spcBef>
                <a:spcPct val="0"/>
              </a:spcBef>
              <a:buFontTx/>
              <a:buNone/>
            </a:pPr>
            <a:r>
              <a:rPr lang="en-US" altLang="en-US" sz="1600" b="1">
                <a:latin typeface="Tahoma" panose="020B0604030504040204" pitchFamily="34" charset="0"/>
                <a:cs typeface="Tahoma" panose="020B0604030504040204" pitchFamily="34" charset="0"/>
              </a:rPr>
              <a:t>Matrix  Polysaccharides</a:t>
            </a:r>
            <a:endParaRPr lang="en-US" altLang="en-US" sz="1600">
              <a:latin typeface="Tahoma" panose="020B0604030504040204" pitchFamily="34" charset="0"/>
              <a:cs typeface="Tahoma" panose="020B0604030504040204" pitchFamily="34" charset="0"/>
            </a:endParaRPr>
          </a:p>
        </p:txBody>
      </p:sp>
      <p:sp>
        <p:nvSpPr>
          <p:cNvPr id="62481" name="Text Box 20"/>
          <p:cNvSpPr txBox="1">
            <a:spLocks noChangeArrowheads="1"/>
          </p:cNvSpPr>
          <p:nvPr/>
        </p:nvSpPr>
        <p:spPr bwMode="auto">
          <a:xfrm>
            <a:off x="2514600" y="4387850"/>
            <a:ext cx="4267200" cy="83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600" b="1">
                <a:solidFill>
                  <a:srgbClr val="C00000"/>
                </a:solidFill>
                <a:latin typeface="Tahoma" panose="020B0604030504040204" pitchFamily="34" charset="0"/>
                <a:cs typeface="Tahoma" panose="020B0604030504040204" pitchFamily="34" charset="0"/>
              </a:rPr>
              <a:t>Lignin</a:t>
            </a:r>
          </a:p>
          <a:p>
            <a:pPr algn="ctr">
              <a:spcBef>
                <a:spcPct val="0"/>
              </a:spcBef>
              <a:buFontTx/>
              <a:buNone/>
            </a:pPr>
            <a:r>
              <a:rPr lang="en-US" altLang="en-US" sz="1600" b="1">
                <a:latin typeface="Tahoma" panose="020B0604030504040204" pitchFamily="34" charset="0"/>
                <a:cs typeface="Tahoma" panose="020B0604030504040204" pitchFamily="34" charset="0"/>
              </a:rPr>
              <a:t>Three-dimentional phenolic </a:t>
            </a:r>
          </a:p>
          <a:p>
            <a:pPr algn="ctr">
              <a:spcBef>
                <a:spcPct val="0"/>
              </a:spcBef>
              <a:buFontTx/>
              <a:buNone/>
            </a:pPr>
            <a:r>
              <a:rPr lang="en-US" altLang="en-US" sz="1600" b="1">
                <a:latin typeface="Tahoma" panose="020B0604030504040204" pitchFamily="34" charset="0"/>
                <a:cs typeface="Tahoma" panose="020B0604030504040204" pitchFamily="34" charset="0"/>
              </a:rPr>
              <a:t>polymer network </a:t>
            </a:r>
            <a:endParaRPr lang="en-US" altLang="en-US" sz="1600">
              <a:latin typeface="Tahoma" panose="020B0604030504040204" pitchFamily="34" charset="0"/>
              <a:cs typeface="Tahoma" panose="020B0604030504040204" pitchFamily="34" charset="0"/>
            </a:endParaRPr>
          </a:p>
        </p:txBody>
      </p:sp>
      <p:sp>
        <p:nvSpPr>
          <p:cNvPr id="62482" name="Text Box 21"/>
          <p:cNvSpPr txBox="1">
            <a:spLocks noChangeArrowheads="1"/>
          </p:cNvSpPr>
          <p:nvPr/>
        </p:nvSpPr>
        <p:spPr bwMode="auto">
          <a:xfrm>
            <a:off x="2700338" y="5219700"/>
            <a:ext cx="426720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600" b="1">
                <a:solidFill>
                  <a:srgbClr val="663300"/>
                </a:solidFill>
                <a:latin typeface="Tahoma" panose="020B0604030504040204" pitchFamily="34" charset="0"/>
                <a:cs typeface="Tahoma" panose="020B0604030504040204" pitchFamily="34" charset="0"/>
              </a:rPr>
              <a:t>Extractives </a:t>
            </a:r>
            <a:endParaRPr lang="en-US" altLang="en-US" sz="1600">
              <a:latin typeface="Tahoma" panose="020B0604030504040204" pitchFamily="34" charset="0"/>
              <a:cs typeface="Tahoma" panose="020B0604030504040204" pitchFamily="34" charset="0"/>
            </a:endParaRPr>
          </a:p>
        </p:txBody>
      </p:sp>
      <p:sp>
        <p:nvSpPr>
          <p:cNvPr id="62483" name="TextBox 21"/>
          <p:cNvSpPr txBox="1">
            <a:spLocks noChangeArrowheads="1"/>
          </p:cNvSpPr>
          <p:nvPr/>
        </p:nvSpPr>
        <p:spPr bwMode="auto">
          <a:xfrm>
            <a:off x="23813" y="6115050"/>
            <a:ext cx="26765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a:t>Credit: Suebthip Pongpaiboon</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p:cNvSpPr>
            <a:spLocks noGrp="1"/>
          </p:cNvSpPr>
          <p:nvPr>
            <p:ph type="title"/>
          </p:nvPr>
        </p:nvSpPr>
        <p:spPr>
          <a:xfrm>
            <a:off x="457200" y="-17463"/>
            <a:ext cx="8229600" cy="1143001"/>
          </a:xfrm>
        </p:spPr>
        <p:txBody>
          <a:bodyPr/>
          <a:lstStyle/>
          <a:p>
            <a:pPr eaLnBrk="1" hangingPunct="1"/>
            <a:r>
              <a:rPr lang="en-US" altLang="en-US" sz="3200" smtClean="0">
                <a:latin typeface="Tahoma" panose="020B0604030504040204" pitchFamily="34" charset="0"/>
                <a:cs typeface="Tahoma" panose="020B0604030504040204" pitchFamily="34" charset="0"/>
              </a:rPr>
              <a:t>2. Characteristic of wood and wood pulp </a:t>
            </a:r>
          </a:p>
        </p:txBody>
      </p:sp>
      <p:sp>
        <p:nvSpPr>
          <p:cNvPr id="9" name="Rectangle 2"/>
          <p:cNvSpPr>
            <a:spLocks noChangeArrowheads="1"/>
          </p:cNvSpPr>
          <p:nvPr/>
        </p:nvSpPr>
        <p:spPr bwMode="auto">
          <a:xfrm>
            <a:off x="3402013" y="2232025"/>
            <a:ext cx="292100" cy="522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Font typeface="Monotype Sorts" pitchFamily="2" charset="2"/>
              <a:buNone/>
              <a:defRPr/>
            </a:pPr>
            <a:r>
              <a:rPr lang="en-US" altLang="en-US" sz="2800" b="1">
                <a:effectLst>
                  <a:outerShdw blurRad="38100" dist="38100" dir="2700000" algn="tl">
                    <a:srgbClr val="000000"/>
                  </a:outerShdw>
                </a:effectLst>
                <a:latin typeface="Tahoma" panose="020B0604030504040204" pitchFamily="34" charset="0"/>
                <a:ea typeface="Tahoma" panose="020B0604030504040204" pitchFamily="34" charset="0"/>
                <a:cs typeface="Tahoma" panose="020B0604030504040204" pitchFamily="34" charset="0"/>
              </a:rPr>
              <a:t> </a:t>
            </a:r>
            <a:endParaRPr lang="en-US" altLang="en-US" sz="2800">
              <a:latin typeface="Tahoma" panose="020B0604030504040204" pitchFamily="34" charset="0"/>
              <a:ea typeface="Tahoma" panose="020B0604030504040204" pitchFamily="34" charset="0"/>
              <a:cs typeface="Tahoma" panose="020B0604030504040204" pitchFamily="34" charset="0"/>
            </a:endParaRPr>
          </a:p>
        </p:txBody>
      </p:sp>
      <p:sp>
        <p:nvSpPr>
          <p:cNvPr id="64516" name="Text Box 8"/>
          <p:cNvSpPr txBox="1">
            <a:spLocks noChangeArrowheads="1"/>
          </p:cNvSpPr>
          <p:nvPr/>
        </p:nvSpPr>
        <p:spPr bwMode="auto">
          <a:xfrm>
            <a:off x="300038" y="1819275"/>
            <a:ext cx="8653462"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 typeface="Monotype Sorts" pitchFamily="2" charset="2"/>
              <a:buNone/>
            </a:pPr>
            <a:r>
              <a:rPr lang="en-US" altLang="en-US" sz="2800" b="1">
                <a:latin typeface="Tahoma" panose="020B0604030504040204" pitchFamily="34" charset="0"/>
                <a:cs typeface="Tahoma" panose="020B0604030504040204" pitchFamily="34" charset="0"/>
              </a:rPr>
              <a:t>Wood properties are affected by wood age  ….</a:t>
            </a:r>
          </a:p>
        </p:txBody>
      </p:sp>
      <p:sp>
        <p:nvSpPr>
          <p:cNvPr id="11" name="Text Box 9"/>
          <p:cNvSpPr txBox="1">
            <a:spLocks noChangeArrowheads="1"/>
          </p:cNvSpPr>
          <p:nvPr/>
        </p:nvSpPr>
        <p:spPr bwMode="auto">
          <a:xfrm>
            <a:off x="204788" y="2492375"/>
            <a:ext cx="4356100" cy="304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Font typeface="Monotype Sorts" pitchFamily="2" charset="2"/>
              <a:buNone/>
              <a:defRPr/>
            </a:pPr>
            <a:r>
              <a:rPr lang="en-US" altLang="en-US" sz="2400" dirty="0">
                <a:effectLst>
                  <a:outerShdw blurRad="38100" dist="38100" dir="2700000" algn="tl">
                    <a:srgbClr val="FFFFFF"/>
                  </a:outerShdw>
                </a:effectLst>
                <a:latin typeface="Tahoma" panose="020B0604030504040204" pitchFamily="34" charset="0"/>
                <a:ea typeface="Tahoma" panose="020B0604030504040204" pitchFamily="34" charset="0"/>
                <a:cs typeface="Tahoma" panose="020B0604030504040204" pitchFamily="34" charset="0"/>
              </a:rPr>
              <a:t>INCREASING   AGE…</a:t>
            </a:r>
          </a:p>
          <a:p>
            <a:pPr>
              <a:buSzPct val="125000"/>
              <a:defRPr/>
            </a:pPr>
            <a:r>
              <a:rPr lang="en-US" altLang="en-US" sz="2400" dirty="0">
                <a:latin typeface="Tahoma" panose="020B0604030504040204" pitchFamily="34" charset="0"/>
                <a:ea typeface="Tahoma" panose="020B0604030504040204" pitchFamily="34" charset="0"/>
                <a:cs typeface="Tahoma" panose="020B0604030504040204" pitchFamily="34" charset="0"/>
              </a:rPr>
              <a:t> - Log size  		Increase                  </a:t>
            </a:r>
          </a:p>
          <a:p>
            <a:pPr>
              <a:defRPr/>
            </a:pPr>
            <a:r>
              <a:rPr lang="en-US" altLang="en-US" sz="2400" dirty="0">
                <a:latin typeface="Tahoma" panose="020B0604030504040204" pitchFamily="34" charset="0"/>
                <a:ea typeface="Tahoma" panose="020B0604030504040204" pitchFamily="34" charset="0"/>
                <a:cs typeface="Tahoma" panose="020B0604030504040204" pitchFamily="34" charset="0"/>
              </a:rPr>
              <a:t> - Density 		Increase</a:t>
            </a:r>
          </a:p>
          <a:p>
            <a:pPr>
              <a:defRPr/>
            </a:pPr>
            <a:r>
              <a:rPr lang="en-US" altLang="en-US" sz="2400" dirty="0">
                <a:latin typeface="Tahoma" panose="020B0604030504040204" pitchFamily="34" charset="0"/>
                <a:ea typeface="Tahoma" panose="020B0604030504040204" pitchFamily="34" charset="0"/>
                <a:cs typeface="Tahoma" panose="020B0604030504040204" pitchFamily="34" charset="0"/>
              </a:rPr>
              <a:t> - Fiber length 	Increase</a:t>
            </a:r>
          </a:p>
          <a:p>
            <a:pPr>
              <a:defRPr/>
            </a:pPr>
            <a:r>
              <a:rPr lang="en-US" altLang="en-US" sz="2400" dirty="0">
                <a:latin typeface="Tahoma" panose="020B0604030504040204" pitchFamily="34" charset="0"/>
                <a:ea typeface="Tahoma" panose="020B0604030504040204" pitchFamily="34" charset="0"/>
                <a:cs typeface="Tahoma" panose="020B0604030504040204" pitchFamily="34" charset="0"/>
              </a:rPr>
              <a:t>   Shrinkage  </a:t>
            </a:r>
          </a:p>
          <a:p>
            <a:pPr>
              <a:buFont typeface="Monotype Sorts" pitchFamily="2" charset="2"/>
              <a:buNone/>
              <a:defRPr/>
            </a:pPr>
            <a:r>
              <a:rPr lang="en-US" altLang="en-US" sz="2400" dirty="0">
                <a:latin typeface="Tahoma" panose="020B0604030504040204" pitchFamily="34" charset="0"/>
                <a:ea typeface="Tahoma" panose="020B0604030504040204" pitchFamily="34" charset="0"/>
                <a:cs typeface="Tahoma" panose="020B0604030504040204" pitchFamily="34" charset="0"/>
              </a:rPr>
              <a:t> - Longitudinal	Decrease</a:t>
            </a:r>
          </a:p>
          <a:p>
            <a:pPr>
              <a:buFont typeface="Monotype Sorts" pitchFamily="2" charset="2"/>
              <a:buNone/>
              <a:defRPr/>
            </a:pPr>
            <a:r>
              <a:rPr lang="en-US" altLang="en-US" sz="2400" dirty="0">
                <a:latin typeface="Tahoma" panose="020B0604030504040204" pitchFamily="34" charset="0"/>
                <a:ea typeface="Tahoma" panose="020B0604030504040204" pitchFamily="34" charset="0"/>
                <a:cs typeface="Tahoma" panose="020B0604030504040204" pitchFamily="34" charset="0"/>
              </a:rPr>
              <a:t> - Radial		Increase</a:t>
            </a:r>
          </a:p>
          <a:p>
            <a:pPr>
              <a:buFont typeface="Monotype Sorts" pitchFamily="2" charset="2"/>
              <a:buNone/>
              <a:defRPr/>
            </a:pPr>
            <a:r>
              <a:rPr lang="en-US" altLang="en-US" sz="2400" dirty="0">
                <a:latin typeface="Tahoma" panose="020B0604030504040204" pitchFamily="34" charset="0"/>
                <a:ea typeface="Tahoma" panose="020B0604030504040204" pitchFamily="34" charset="0"/>
                <a:cs typeface="Tahoma" panose="020B0604030504040204" pitchFamily="34" charset="0"/>
              </a:rPr>
              <a:t> - Tangential		Increase</a:t>
            </a:r>
          </a:p>
        </p:txBody>
      </p:sp>
      <p:sp>
        <p:nvSpPr>
          <p:cNvPr id="64518" name="Text Box 10"/>
          <p:cNvSpPr txBox="1">
            <a:spLocks noChangeArrowheads="1"/>
          </p:cNvSpPr>
          <p:nvPr/>
        </p:nvSpPr>
        <p:spPr bwMode="auto">
          <a:xfrm>
            <a:off x="4594225" y="2492375"/>
            <a:ext cx="4535488" cy="2678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 typeface="Monotype Sorts" pitchFamily="2" charset="2"/>
              <a:buNone/>
            </a:pPr>
            <a:r>
              <a:rPr lang="en-US" altLang="en-US" sz="2400">
                <a:latin typeface="Tahoma" panose="020B0604030504040204" pitchFamily="34" charset="0"/>
                <a:cs typeface="Tahoma" panose="020B0604030504040204" pitchFamily="34" charset="0"/>
              </a:rPr>
              <a:t> </a:t>
            </a:r>
          </a:p>
          <a:p>
            <a:pPr>
              <a:spcBef>
                <a:spcPct val="0"/>
              </a:spcBef>
              <a:buSzPct val="65000"/>
              <a:buFontTx/>
              <a:buNone/>
            </a:pPr>
            <a:r>
              <a:rPr lang="en-US" altLang="en-US" sz="2400">
                <a:latin typeface="Tahoma" panose="020B0604030504040204" pitchFamily="34" charset="0"/>
                <a:cs typeface="Tahoma" panose="020B0604030504040204" pitchFamily="34" charset="0"/>
              </a:rPr>
              <a:t>- Spiral grain 		Increase                  </a:t>
            </a:r>
          </a:p>
          <a:p>
            <a:pPr>
              <a:spcBef>
                <a:spcPct val="0"/>
              </a:spcBef>
              <a:buFontTx/>
              <a:buNone/>
            </a:pPr>
            <a:r>
              <a:rPr lang="en-US" altLang="en-US" sz="2400">
                <a:latin typeface="Tahoma" panose="020B0604030504040204" pitchFamily="34" charset="0"/>
                <a:cs typeface="Tahoma" panose="020B0604030504040204" pitchFamily="34" charset="0"/>
              </a:rPr>
              <a:t>- Resin  pockets 	Increase</a:t>
            </a:r>
          </a:p>
          <a:p>
            <a:pPr>
              <a:spcBef>
                <a:spcPct val="0"/>
              </a:spcBef>
              <a:buFontTx/>
              <a:buNone/>
            </a:pPr>
            <a:r>
              <a:rPr lang="en-US" altLang="en-US" sz="2400">
                <a:latin typeface="Tahoma" panose="020B0604030504040204" pitchFamily="34" charset="0"/>
                <a:cs typeface="Tahoma" panose="020B0604030504040204" pitchFamily="34" charset="0"/>
              </a:rPr>
              <a:t>- Heartwood 		Increase</a:t>
            </a:r>
          </a:p>
          <a:p>
            <a:pPr>
              <a:spcBef>
                <a:spcPct val="0"/>
              </a:spcBef>
              <a:buFontTx/>
              <a:buNone/>
            </a:pPr>
            <a:r>
              <a:rPr lang="en-US" altLang="en-US" sz="2400">
                <a:latin typeface="Tahoma" panose="020B0604030504040204" pitchFamily="34" charset="0"/>
                <a:cs typeface="Tahoma" panose="020B0604030504040204" pitchFamily="34" charset="0"/>
              </a:rPr>
              <a:t>-</a:t>
            </a:r>
            <a:r>
              <a:rPr lang="en-US" altLang="en-US" sz="2400" b="1">
                <a:solidFill>
                  <a:srgbClr val="FF0000"/>
                </a:solidFill>
                <a:latin typeface="Tahoma" panose="020B0604030504040204" pitchFamily="34" charset="0"/>
                <a:cs typeface="Tahoma" panose="020B0604030504040204" pitchFamily="34" charset="0"/>
              </a:rPr>
              <a:t> </a:t>
            </a:r>
            <a:r>
              <a:rPr lang="en-US" altLang="en-US" sz="2400">
                <a:latin typeface="Tahoma" panose="020B0604030504040204" pitchFamily="34" charset="0"/>
                <a:cs typeface="Tahoma" panose="020B0604030504040204" pitchFamily="34" charset="0"/>
              </a:rPr>
              <a:t>Moisture</a:t>
            </a:r>
            <a:r>
              <a:rPr lang="en-US" altLang="en-US" sz="2400" b="1">
                <a:solidFill>
                  <a:srgbClr val="FF0000"/>
                </a:solidFill>
                <a:latin typeface="Tahoma" panose="020B0604030504040204" pitchFamily="34" charset="0"/>
                <a:cs typeface="Tahoma" panose="020B0604030504040204" pitchFamily="34" charset="0"/>
              </a:rPr>
              <a:t> </a:t>
            </a:r>
            <a:r>
              <a:rPr lang="en-US" altLang="en-US" sz="2400">
                <a:latin typeface="Tahoma" panose="020B0604030504040204" pitchFamily="34" charset="0"/>
                <a:cs typeface="Tahoma" panose="020B0604030504040204" pitchFamily="34" charset="0"/>
              </a:rPr>
              <a:t>		Decrease</a:t>
            </a:r>
          </a:p>
          <a:p>
            <a:pPr>
              <a:spcBef>
                <a:spcPct val="0"/>
              </a:spcBef>
              <a:buFontTx/>
              <a:buNone/>
            </a:pPr>
            <a:r>
              <a:rPr lang="en-US" altLang="en-US" sz="2400">
                <a:latin typeface="Tahoma" panose="020B0604030504040204" pitchFamily="34" charset="0"/>
                <a:cs typeface="Tahoma" panose="020B0604030504040204" pitchFamily="34" charset="0"/>
              </a:rPr>
              <a:t>- Extractive   		Increase</a:t>
            </a:r>
          </a:p>
          <a:p>
            <a:pPr>
              <a:spcBef>
                <a:spcPct val="0"/>
              </a:spcBef>
              <a:buFont typeface="Monotype Sorts" pitchFamily="2" charset="2"/>
              <a:buNone/>
            </a:pPr>
            <a:r>
              <a:rPr lang="en-US" altLang="en-US" sz="2400">
                <a:latin typeface="Tahoma" panose="020B0604030504040204" pitchFamily="34" charset="0"/>
                <a:cs typeface="Tahoma" panose="020B0604030504040204" pitchFamily="34" charset="0"/>
              </a:rPr>
              <a:t>      </a:t>
            </a:r>
          </a:p>
        </p:txBody>
      </p:sp>
      <p:sp>
        <p:nvSpPr>
          <p:cNvPr id="64519" name="TextBox 1"/>
          <p:cNvSpPr txBox="1">
            <a:spLocks noChangeArrowheads="1"/>
          </p:cNvSpPr>
          <p:nvPr/>
        </p:nvSpPr>
        <p:spPr bwMode="auto">
          <a:xfrm>
            <a:off x="827088" y="5519738"/>
            <a:ext cx="723741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a:t>Did you know?: 	Most of Eucalyptus species in Thailand is Camaldulensis</a:t>
            </a:r>
          </a:p>
          <a:p>
            <a:pPr>
              <a:spcBef>
                <a:spcPct val="0"/>
              </a:spcBef>
              <a:buFontTx/>
              <a:buNone/>
            </a:pPr>
            <a:r>
              <a:rPr lang="en-US" altLang="en-US" sz="1800"/>
              <a:t>		The most suitable wood age is 4 years	</a:t>
            </a:r>
          </a:p>
        </p:txBody>
      </p:sp>
      <p:sp>
        <p:nvSpPr>
          <p:cNvPr id="64520" name="Text Box 3"/>
          <p:cNvSpPr txBox="1">
            <a:spLocks noChangeArrowheads="1"/>
          </p:cNvSpPr>
          <p:nvPr/>
        </p:nvSpPr>
        <p:spPr bwMode="auto">
          <a:xfrm>
            <a:off x="2767013" y="1093788"/>
            <a:ext cx="3087687"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 typeface="Monotype Sorts" pitchFamily="2" charset="2"/>
              <a:buNone/>
            </a:pPr>
            <a:r>
              <a:rPr lang="en-US" altLang="en-US" sz="4000" b="1">
                <a:latin typeface="Tahoma" panose="020B0604030504040204" pitchFamily="34" charset="0"/>
                <a:cs typeface="Tahoma" panose="020B0604030504040204" pitchFamily="34" charset="0"/>
              </a:rPr>
              <a:t>WOOD AGE</a:t>
            </a:r>
          </a:p>
        </p:txBody>
      </p:sp>
      <p:sp>
        <p:nvSpPr>
          <p:cNvPr id="64521" name="TextBox 14"/>
          <p:cNvSpPr txBox="1">
            <a:spLocks noChangeArrowheads="1"/>
          </p:cNvSpPr>
          <p:nvPr/>
        </p:nvSpPr>
        <p:spPr bwMode="auto">
          <a:xfrm>
            <a:off x="0" y="6064250"/>
            <a:ext cx="26765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a:t>Credit: Suebthip Pongpaiboon</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p:cNvSpPr>
            <a:spLocks noGrp="1"/>
          </p:cNvSpPr>
          <p:nvPr>
            <p:ph type="title"/>
          </p:nvPr>
        </p:nvSpPr>
        <p:spPr>
          <a:xfrm>
            <a:off x="441325" y="2660650"/>
            <a:ext cx="8229600" cy="1143000"/>
          </a:xfrm>
        </p:spPr>
        <p:txBody>
          <a:bodyPr/>
          <a:lstStyle/>
          <a:p>
            <a:pPr eaLnBrk="1" hangingPunct="1"/>
            <a:r>
              <a:rPr lang="en-US" altLang="en-US" sz="3200" b="1" smtClean="0">
                <a:latin typeface="Tahoma" panose="020B0604030504040204" pitchFamily="34" charset="0"/>
                <a:cs typeface="Tahoma" panose="020B0604030504040204" pitchFamily="34" charset="0"/>
              </a:rPr>
              <a:t>3. Wood and chip handling sequences </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p:cNvSpPr>
            <a:spLocks noGrp="1"/>
          </p:cNvSpPr>
          <p:nvPr>
            <p:ph type="title"/>
          </p:nvPr>
        </p:nvSpPr>
        <p:spPr>
          <a:xfrm>
            <a:off x="457200" y="-17463"/>
            <a:ext cx="8229600" cy="1143001"/>
          </a:xfrm>
        </p:spPr>
        <p:txBody>
          <a:bodyPr/>
          <a:lstStyle/>
          <a:p>
            <a:pPr eaLnBrk="1" hangingPunct="1"/>
            <a:r>
              <a:rPr lang="en-US" altLang="en-US" sz="3200" smtClean="0">
                <a:latin typeface="Tahoma" panose="020B0604030504040204" pitchFamily="34" charset="0"/>
                <a:cs typeface="Tahoma" panose="020B0604030504040204" pitchFamily="34" charset="0"/>
              </a:rPr>
              <a:t>3. Wood and chip handling </a:t>
            </a:r>
          </a:p>
        </p:txBody>
      </p:sp>
      <p:pic>
        <p:nvPicPr>
          <p:cNvPr id="68611"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5425" y="981075"/>
            <a:ext cx="8693150" cy="5208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612" name="TextBox 3"/>
          <p:cNvSpPr txBox="1">
            <a:spLocks noChangeArrowheads="1"/>
          </p:cNvSpPr>
          <p:nvPr/>
        </p:nvSpPr>
        <p:spPr bwMode="auto">
          <a:xfrm>
            <a:off x="0" y="6189663"/>
            <a:ext cx="84105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400"/>
              <a:t>Ref: http://www.tappsa.co.za/archive2/APPW_2004/Title2004/Applying_best_sustainable_prac/2004-27fig1a.jpg</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le 1"/>
          <p:cNvSpPr>
            <a:spLocks noGrp="1"/>
          </p:cNvSpPr>
          <p:nvPr>
            <p:ph type="title"/>
          </p:nvPr>
        </p:nvSpPr>
        <p:spPr>
          <a:xfrm>
            <a:off x="457200" y="-17463"/>
            <a:ext cx="8229600" cy="1143001"/>
          </a:xfrm>
        </p:spPr>
        <p:txBody>
          <a:bodyPr/>
          <a:lstStyle/>
          <a:p>
            <a:pPr eaLnBrk="1" hangingPunct="1"/>
            <a:r>
              <a:rPr lang="en-US" altLang="en-US" sz="3200" smtClean="0">
                <a:latin typeface="Tahoma" panose="020B0604030504040204" pitchFamily="34" charset="0"/>
                <a:cs typeface="Tahoma" panose="020B0604030504040204" pitchFamily="34" charset="0"/>
              </a:rPr>
              <a:t>3. Wood and chip handling </a:t>
            </a:r>
          </a:p>
        </p:txBody>
      </p:sp>
      <p:pic>
        <p:nvPicPr>
          <p:cNvPr id="70659"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5425" y="981075"/>
            <a:ext cx="8693150" cy="5208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660" name="TextBox 3"/>
          <p:cNvSpPr txBox="1">
            <a:spLocks noChangeArrowheads="1"/>
          </p:cNvSpPr>
          <p:nvPr/>
        </p:nvSpPr>
        <p:spPr bwMode="auto">
          <a:xfrm>
            <a:off x="0" y="6189663"/>
            <a:ext cx="84105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400"/>
              <a:t>Ref: http://www.tappsa.co.za/archive2/APPW_2004/Title2004/Applying_best_sustainable_prac/2004-27fig1a.jpg</a:t>
            </a:r>
          </a:p>
        </p:txBody>
      </p:sp>
      <p:sp>
        <p:nvSpPr>
          <p:cNvPr id="5" name="Freeform 4"/>
          <p:cNvSpPr/>
          <p:nvPr/>
        </p:nvSpPr>
        <p:spPr>
          <a:xfrm>
            <a:off x="1003300" y="981075"/>
            <a:ext cx="7889875" cy="5213350"/>
          </a:xfrm>
          <a:custGeom>
            <a:avLst/>
            <a:gdLst>
              <a:gd name="connsiteX0" fmla="*/ 0 w 7890387"/>
              <a:gd name="connsiteY0" fmla="*/ 2227006 h 5102942"/>
              <a:gd name="connsiteX1" fmla="*/ 0 w 7890387"/>
              <a:gd name="connsiteY1" fmla="*/ 4984954 h 5102942"/>
              <a:gd name="connsiteX2" fmla="*/ 7890387 w 7890387"/>
              <a:gd name="connsiteY2" fmla="*/ 5102942 h 5102942"/>
              <a:gd name="connsiteX3" fmla="*/ 7890387 w 7890387"/>
              <a:gd name="connsiteY3" fmla="*/ 0 h 5102942"/>
              <a:gd name="connsiteX4" fmla="*/ 7698658 w 7890387"/>
              <a:gd name="connsiteY4" fmla="*/ 0 h 5102942"/>
              <a:gd name="connsiteX5" fmla="*/ 1622323 w 7890387"/>
              <a:gd name="connsiteY5" fmla="*/ 0 h 5102942"/>
              <a:gd name="connsiteX6" fmla="*/ 1622323 w 7890387"/>
              <a:gd name="connsiteY6" fmla="*/ 2330245 h 5102942"/>
              <a:gd name="connsiteX7" fmla="*/ 0 w 7890387"/>
              <a:gd name="connsiteY7" fmla="*/ 2330245 h 5102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90387" h="5102942">
                <a:moveTo>
                  <a:pt x="0" y="2227006"/>
                </a:moveTo>
                <a:lnTo>
                  <a:pt x="0" y="4984954"/>
                </a:lnTo>
                <a:lnTo>
                  <a:pt x="7890387" y="5102942"/>
                </a:lnTo>
                <a:lnTo>
                  <a:pt x="7890387" y="0"/>
                </a:lnTo>
                <a:lnTo>
                  <a:pt x="7698658" y="0"/>
                </a:lnTo>
                <a:lnTo>
                  <a:pt x="1622323" y="0"/>
                </a:lnTo>
                <a:lnTo>
                  <a:pt x="1622323" y="2330245"/>
                </a:lnTo>
                <a:lnTo>
                  <a:pt x="0" y="2330245"/>
                </a:lnTo>
              </a:path>
            </a:pathLst>
          </a:custGeom>
          <a:solidFill>
            <a:schemeClr val="bg1">
              <a:alpha val="84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868363"/>
            <a:ext cx="9144000" cy="849312"/>
          </a:xfrm>
        </p:spPr>
        <p:txBody>
          <a:bodyPr>
            <a:noAutofit/>
          </a:bodyPr>
          <a:lstStyle/>
          <a:p>
            <a:pPr>
              <a:defRPr/>
            </a:pPr>
            <a:r>
              <a:rPr lang="th-TH" sz="4800" b="1" dirty="0" smtClean="0">
                <a:solidFill>
                  <a:srgbClr val="000099"/>
                </a:solidFill>
                <a:cs typeface="+mn-cs"/>
              </a:rPr>
              <a:t>ยูคาลิปตัส</a:t>
            </a:r>
            <a:endParaRPr lang="th-TH" sz="4800" b="1" dirty="0">
              <a:solidFill>
                <a:srgbClr val="000099"/>
              </a:solidFill>
              <a:cs typeface="+mn-cs"/>
            </a:endParaRPr>
          </a:p>
        </p:txBody>
      </p:sp>
      <p:pic>
        <p:nvPicPr>
          <p:cNvPr id="4" name="Content Placeholder 3"/>
          <p:cNvPicPr>
            <a:picLocks noGrp="1" noChangeAspect="1"/>
          </p:cNvPicPr>
          <p:nvPr>
            <p:ph idx="1"/>
          </p:nvPr>
        </p:nvPicPr>
        <p:blipFill>
          <a:blip r:embed="rId2" cstate="email">
            <a:extLst>
              <a:ext uri="{28A0092B-C50C-407E-A947-70E740481C1C}">
                <a14:useLocalDpi xmlns:a14="http://schemas.microsoft.com/office/drawing/2010/main"/>
              </a:ext>
            </a:extLst>
          </a:blip>
          <a:stretch>
            <a:fillRect/>
          </a:stretch>
        </p:blipFill>
        <p:spPr>
          <a:xfrm>
            <a:off x="508001" y="1791157"/>
            <a:ext cx="8084456" cy="4506686"/>
          </a:xfrm>
          <a:prstGeom prst="round2DiagRect">
            <a:avLst>
              <a:gd name="adj1" fmla="val 16667"/>
              <a:gd name="adj2" fmla="val 0"/>
            </a:avLst>
          </a:prstGeom>
          <a:ln w="88900" cap="sq">
            <a:solidFill>
              <a:schemeClr val="bg1">
                <a:lumMod val="75000"/>
              </a:schemeClr>
            </a:solidFill>
            <a:miter lim="800000"/>
          </a:ln>
          <a:effectLst>
            <a:outerShdw blurRad="254000" algn="tl" rotWithShape="0">
              <a:srgbClr val="000000">
                <a:alpha val="43000"/>
              </a:srgbClr>
            </a:outerShdw>
          </a:effectLst>
        </p:spPr>
      </p:pic>
      <p:sp>
        <p:nvSpPr>
          <p:cNvPr id="72708" name="TextBox 2"/>
          <p:cNvSpPr txBox="1">
            <a:spLocks noChangeArrowheads="1"/>
          </p:cNvSpPr>
          <p:nvPr/>
        </p:nvSpPr>
        <p:spPr bwMode="auto">
          <a:xfrm>
            <a:off x="0" y="220663"/>
            <a:ext cx="9144000" cy="92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th-TH" altLang="th-TH" sz="5400" b="1">
                <a:solidFill>
                  <a:srgbClr val="FF0000"/>
                </a:solidFill>
              </a:rPr>
              <a:t>วัตถุดิบใช้ผลิตเยื่อ</a:t>
            </a:r>
          </a:p>
        </p:txBody>
      </p:sp>
    </p:spTree>
  </p:cSld>
  <p:clrMapOvr>
    <a:masterClrMapping/>
  </p:clrMapOvr>
  <p:transition spd="slow"/>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D:\465\ความรู้เรื่อง Chip\DSC01346.JPG"/>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943657" y="1628801"/>
            <a:ext cx="7300751" cy="4536504"/>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73731" name="TextBox 1"/>
          <p:cNvSpPr txBox="1">
            <a:spLocks noChangeArrowheads="1"/>
          </p:cNvSpPr>
          <p:nvPr/>
        </p:nvSpPr>
        <p:spPr bwMode="auto">
          <a:xfrm>
            <a:off x="0" y="457200"/>
            <a:ext cx="914400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th-TH" altLang="th-TH" sz="4800" b="1">
                <a:solidFill>
                  <a:srgbClr val="000099"/>
                </a:solidFill>
              </a:rPr>
              <a:t>ชั่งน้ำหนัก</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30175"/>
            <a:ext cx="9144000" cy="1143000"/>
          </a:xfrm>
        </p:spPr>
        <p:txBody>
          <a:bodyPr>
            <a:normAutofit/>
          </a:bodyPr>
          <a:lstStyle/>
          <a:p>
            <a:pPr>
              <a:defRPr/>
            </a:pPr>
            <a:r>
              <a:rPr lang="th-TH" sz="4800" b="1" dirty="0" smtClean="0">
                <a:solidFill>
                  <a:srgbClr val="000099"/>
                </a:solidFill>
                <a:cs typeface="+mn-cs"/>
              </a:rPr>
              <a:t>ตรวจไม้ที่จุดตรวจ</a:t>
            </a:r>
            <a:endParaRPr lang="th-TH" sz="4800" b="1" dirty="0">
              <a:solidFill>
                <a:srgbClr val="000099"/>
              </a:solidFill>
              <a:cs typeface="+mn-cs"/>
            </a:endParaRPr>
          </a:p>
        </p:txBody>
      </p:sp>
      <p:pic>
        <p:nvPicPr>
          <p:cNvPr id="4" name="Content Placeholder 3"/>
          <p:cNvPicPr>
            <a:picLocks noGrp="1" noChangeAspect="1"/>
          </p:cNvPicPr>
          <p:nvPr>
            <p:ph idx="1"/>
          </p:nvPr>
        </p:nvPicPr>
        <p:blipFill>
          <a:blip r:embed="rId2" cstate="email">
            <a:extLst>
              <a:ext uri="{28A0092B-C50C-407E-A947-70E740481C1C}">
                <a14:useLocalDpi xmlns:a14="http://schemas.microsoft.com/office/drawing/2010/main"/>
              </a:ext>
            </a:extLst>
          </a:blip>
          <a:stretch>
            <a:fillRect/>
          </a:stretch>
        </p:blipFill>
        <p:spPr>
          <a:xfrm>
            <a:off x="171653" y="4149080"/>
            <a:ext cx="4104455" cy="2592288"/>
          </a:xfrm>
          <a:prstGeom prst="roundRect">
            <a:avLst>
              <a:gd name="adj" fmla="val 16667"/>
            </a:avLst>
          </a:prstGeom>
          <a:ln>
            <a:solidFill>
              <a:schemeClr val="bg2">
                <a:lumMod val="50000"/>
              </a:schemeClr>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5" name="Picture 4"/>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386806" y="4154167"/>
            <a:ext cx="4562873" cy="2587201"/>
          </a:xfrm>
          <a:prstGeom prst="roundRect">
            <a:avLst>
              <a:gd name="adj" fmla="val 16667"/>
            </a:avLst>
          </a:prstGeom>
          <a:ln>
            <a:solidFill>
              <a:schemeClr val="bg2">
                <a:lumMod val="50000"/>
              </a:schemeClr>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7" name="Picture 6"/>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377679" y="1469757"/>
            <a:ext cx="4572001" cy="2607315"/>
          </a:xfrm>
          <a:prstGeom prst="roundRect">
            <a:avLst>
              <a:gd name="adj" fmla="val 16667"/>
            </a:avLst>
          </a:prstGeom>
          <a:ln>
            <a:solidFill>
              <a:schemeClr val="bg2">
                <a:lumMod val="50000"/>
              </a:schemeClr>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8" name="Picture 7"/>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71653" y="1484784"/>
            <a:ext cx="4104455" cy="2607315"/>
          </a:xfrm>
          <a:prstGeom prst="roundRect">
            <a:avLst>
              <a:gd name="adj" fmla="val 16667"/>
            </a:avLst>
          </a:prstGeom>
          <a:ln>
            <a:solidFill>
              <a:schemeClr val="bg2">
                <a:lumMod val="50000"/>
              </a:schemeClr>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74759" name="TextBox 2"/>
          <p:cNvSpPr txBox="1">
            <a:spLocks noChangeArrowheads="1"/>
          </p:cNvSpPr>
          <p:nvPr/>
        </p:nvSpPr>
        <p:spPr bwMode="auto">
          <a:xfrm>
            <a:off x="4421188" y="1484313"/>
            <a:ext cx="1374775"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th-TH" altLang="th-TH" sz="2000" b="1"/>
              <a:t>ตรวจไม้ด้านบน</a:t>
            </a:r>
          </a:p>
        </p:txBody>
      </p:sp>
      <p:sp>
        <p:nvSpPr>
          <p:cNvPr id="74760" name="TextBox 5"/>
          <p:cNvSpPr txBox="1">
            <a:spLocks noChangeArrowheads="1"/>
          </p:cNvSpPr>
          <p:nvPr/>
        </p:nvSpPr>
        <p:spPr bwMode="auto">
          <a:xfrm>
            <a:off x="3276600" y="6237288"/>
            <a:ext cx="2111375"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th-TH" altLang="th-TH" sz="2000" b="1"/>
              <a:t>ตรวจไม้ที่ท้ายรถ/ด้านข้าง</a:t>
            </a:r>
          </a:p>
        </p:txBody>
      </p:sp>
    </p:spTree>
  </p:cSld>
  <p:clrMapOvr>
    <a:masterClrMapping/>
  </p:clrMapOvr>
  <p:transition spd="slow"/>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extBox 4"/>
          <p:cNvSpPr txBox="1">
            <a:spLocks noChangeArrowheads="1"/>
          </p:cNvSpPr>
          <p:nvPr/>
        </p:nvSpPr>
        <p:spPr bwMode="auto">
          <a:xfrm>
            <a:off x="0" y="203200"/>
            <a:ext cx="9144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b="1"/>
              <a:t>Video</a:t>
            </a:r>
            <a:r>
              <a:rPr lang="en-US" altLang="en-US" sz="3600" b="1"/>
              <a:t> </a:t>
            </a:r>
            <a:r>
              <a:rPr lang="th-TH" altLang="en-US" sz="3600" b="1"/>
              <a:t>การตรวจรับไม้</a:t>
            </a:r>
          </a:p>
        </p:txBody>
      </p:sp>
      <p:pic>
        <p:nvPicPr>
          <p:cNvPr id="4" name="Log recieve.1.mp4">
            <a:hlinkClick r:id="" action="ppaction://media"/>
          </p:cNvPr>
          <p:cNvPicPr>
            <a:picLocks noChangeAspect="1"/>
          </p:cNvPicPr>
          <p:nvPr>
            <a:videoFile r:link="rId2"/>
            <p:extLst>
              <p:ext uri="{DAA4B4D4-6D71-4841-9C94-3DE7FCFB9230}">
                <p14:media xmlns:p14="http://schemas.microsoft.com/office/powerpoint/2010/main" r:link="rId1"/>
              </p:ext>
            </p:extLst>
          </p:nvPr>
        </p:nvPicPr>
        <p:blipFill>
          <a:blip r:embed="rId4">
            <a:extLst>
              <a:ext uri="{28A0092B-C50C-407E-A947-70E740481C1C}">
                <a14:useLocalDpi xmlns:a14="http://schemas.microsoft.com/office/drawing/2010/main" val="0"/>
              </a:ext>
            </a:extLst>
          </a:blip>
          <a:srcRect/>
          <a:stretch>
            <a:fillRect/>
          </a:stretch>
        </p:blipFill>
        <p:spPr bwMode="auto">
          <a:xfrm>
            <a:off x="487363" y="879475"/>
            <a:ext cx="82296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nodeType="clickPar">
                      <p:stCondLst>
                        <p:cond delay="0"/>
                      </p:stCondLst>
                      <p:childTnLst>
                        <p:par>
                          <p:cTn id="4" fill="hold" nodeType="withGroup">
                            <p:stCondLst>
                              <p:cond delay="0"/>
                            </p:stCondLst>
                            <p:childTnLst>
                              <p:par>
                                <p:cTn id="5" presetID="2" presetClass="mediacall" presetSubtype="0" fill="hold" nodeType="clickEffect">
                                  <p:stCondLst>
                                    <p:cond delay="0"/>
                                  </p:stCondLst>
                                  <p:childTnLst>
                                    <p:cmd type="call" cmd="togglePause">
                                      <p:cBhvr>
                                        <p:cTn id="6" dur="1" fill="hold"/>
                                        <p:tgtEl>
                                          <p:spTgt spid="4"/>
                                        </p:tgtEl>
                                      </p:cBhvr>
                                    </p:cmd>
                                  </p:childTnLst>
                                </p:cTn>
                              </p:par>
                            </p:childTnLst>
                          </p:cTn>
                        </p:par>
                      </p:childTnLst>
                    </p:cTn>
                  </p:par>
                </p:childTnLst>
              </p:cTn>
              <p:nextCondLst>
                <p:cond evt="onClick" delay="0">
                  <p:tgtEl>
                    <p:spTgt spid="4"/>
                  </p:tgtEl>
                </p:cond>
              </p:nextCondLst>
            </p:seq>
            <p:video>
              <p:cMediaNode vol="80000">
                <p:cTn id="7" fill="hold" display="0">
                  <p:stCondLst>
                    <p:cond delay="indefinite"/>
                  </p:stCondLst>
                </p:cTn>
                <p:tgtEl>
                  <p:spTgt spid="4"/>
                </p:tgtEl>
              </p:cMediaNode>
            </p:video>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61950"/>
            <a:ext cx="9144000" cy="1143000"/>
          </a:xfrm>
        </p:spPr>
        <p:txBody>
          <a:bodyPr>
            <a:normAutofit/>
          </a:bodyPr>
          <a:lstStyle/>
          <a:p>
            <a:pPr>
              <a:defRPr/>
            </a:pPr>
            <a:r>
              <a:rPr lang="th-TH" sz="4000" b="1" dirty="0" smtClean="0">
                <a:solidFill>
                  <a:srgbClr val="000099"/>
                </a:solidFill>
                <a:cs typeface="+mn-cs"/>
              </a:rPr>
              <a:t>สุ่มตรวจไม้ในขณะป้อนไม้เข้าเครื่องลอกเปลือก</a:t>
            </a:r>
            <a:endParaRPr lang="th-TH" sz="4000" b="1" dirty="0">
              <a:solidFill>
                <a:srgbClr val="000099"/>
              </a:solidFill>
              <a:cs typeface="+mn-cs"/>
            </a:endParaRPr>
          </a:p>
        </p:txBody>
      </p:sp>
      <p:pic>
        <p:nvPicPr>
          <p:cNvPr id="7" name="Picture 6"/>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059832" y="2020160"/>
            <a:ext cx="2952328" cy="3528392"/>
          </a:xfrm>
          <a:prstGeom prst="roundRect">
            <a:avLst>
              <a:gd name="adj" fmla="val 4167"/>
            </a:avLst>
          </a:prstGeom>
          <a:solidFill>
            <a:srgbClr val="FFFFFF"/>
          </a:solidFill>
          <a:ln w="76200" cap="sq">
            <a:solidFill>
              <a:schemeClr val="accent4">
                <a:lumMod val="40000"/>
                <a:lumOff val="60000"/>
              </a:schemeClr>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9" name="Picture 8"/>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82048" y="2020160"/>
            <a:ext cx="2733768" cy="3645024"/>
          </a:xfrm>
          <a:prstGeom prst="roundRect">
            <a:avLst>
              <a:gd name="adj" fmla="val 11111"/>
            </a:avLst>
          </a:prstGeom>
          <a:ln w="190500" cap="rnd">
            <a:solidFill>
              <a:schemeClr val="accent4">
                <a:lumMod val="40000"/>
                <a:lumOff val="60000"/>
              </a:schemeClr>
            </a:solidFill>
            <a:prstDash val="solid"/>
          </a:ln>
          <a:effectLst>
            <a:outerShdw blurRad="101600" dist="50800" dir="7200000" algn="tl" rotWithShape="0">
              <a:srgbClr val="000000">
                <a:alpha val="45000"/>
              </a:srgbClr>
            </a:outerShdw>
          </a:effectLst>
          <a:scene3d>
            <a:camera prst="perspectiveFront" fov="5400000"/>
            <a:lightRig rig="threePt" dir="t">
              <a:rot lat="0" lon="0" rev="19200000"/>
            </a:lightRig>
          </a:scene3d>
          <a:sp3d extrusionH="25400">
            <a:bevelT w="304800" h="152400" prst="hardEdge"/>
            <a:extrusionClr>
              <a:srgbClr val="FFFFFF"/>
            </a:extrusionClr>
          </a:sp3d>
        </p:spPr>
      </p:pic>
      <p:pic>
        <p:nvPicPr>
          <p:cNvPr id="13" name="Picture 12"/>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156176" y="2020160"/>
            <a:ext cx="2808312" cy="3446074"/>
          </a:xfrm>
          <a:prstGeom prst="roundRect">
            <a:avLst>
              <a:gd name="adj" fmla="val 11111"/>
            </a:avLst>
          </a:prstGeom>
          <a:ln w="190500" cap="rnd">
            <a:solidFill>
              <a:schemeClr val="accent4">
                <a:lumMod val="40000"/>
                <a:lumOff val="60000"/>
              </a:schemeClr>
            </a:solidFill>
            <a:prstDash val="solid"/>
          </a:ln>
          <a:effectLst>
            <a:outerShdw blurRad="101600" dist="50800" dir="7200000" algn="tl" rotWithShape="0">
              <a:srgbClr val="000000">
                <a:alpha val="45000"/>
              </a:srgbClr>
            </a:outerShdw>
          </a:effectLst>
          <a:scene3d>
            <a:camera prst="perspectiveFront" fov="5400000"/>
            <a:lightRig rig="threePt" dir="t">
              <a:rot lat="0" lon="0" rev="19200000"/>
            </a:lightRig>
          </a:scene3d>
          <a:sp3d extrusionH="25400">
            <a:bevelT w="304800" h="152400" prst="hardEdge"/>
            <a:extrusionClr>
              <a:srgbClr val="FFFFFF"/>
            </a:extrusionClr>
          </a:sp3d>
        </p:spPr>
      </p:pic>
    </p:spTree>
  </p:cSld>
  <p:clrMapOvr>
    <a:masterClrMapping/>
  </p:clrMapOvr>
  <p:transition spd="slow"/>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6.MPG">
            <a:hlinkClick r:id="" action="ppaction://media"/>
          </p:cNvPr>
          <p:cNvPicPr>
            <a:picLocks noChangeAspect="1"/>
          </p:cNvPicPr>
          <p:nvPr>
            <a:videoFile r:link="rId2"/>
            <p:extLst>
              <p:ext uri="{DAA4B4D4-6D71-4841-9C94-3DE7FCFB9230}">
                <p14:media xmlns:p14="http://schemas.microsoft.com/office/powerpoint/2010/main" r:link="rId1"/>
              </p:ext>
            </p:extLst>
          </p:nvPr>
        </p:nvPicPr>
        <p:blipFill>
          <a:blip r:embed="rId4">
            <a:extLst>
              <a:ext uri="{28A0092B-C50C-407E-A947-70E740481C1C}">
                <a14:useLocalDpi xmlns:a14="http://schemas.microsoft.com/office/drawing/2010/main" val="0"/>
              </a:ext>
            </a:extLst>
          </a:blip>
          <a:srcRect/>
          <a:stretch>
            <a:fillRect/>
          </a:stretch>
        </p:blipFill>
        <p:spPr bwMode="auto">
          <a:xfrm>
            <a:off x="725488" y="900113"/>
            <a:ext cx="7715250" cy="501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27" name="TextBox 4"/>
          <p:cNvSpPr txBox="1">
            <a:spLocks noChangeArrowheads="1"/>
          </p:cNvSpPr>
          <p:nvPr/>
        </p:nvSpPr>
        <p:spPr bwMode="auto">
          <a:xfrm>
            <a:off x="0" y="201613"/>
            <a:ext cx="9144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th-TH" sz="2400" b="1"/>
              <a:t>Video</a:t>
            </a:r>
            <a:r>
              <a:rPr lang="en-US" altLang="th-TH" sz="2800" b="1"/>
              <a:t> </a:t>
            </a:r>
            <a:r>
              <a:rPr lang="th-TH" altLang="th-TH" sz="2800" b="1"/>
              <a:t>วิธีหาค่า </a:t>
            </a:r>
            <a:r>
              <a:rPr lang="en-US" altLang="th-TH" sz="2400" b="1"/>
              <a:t>Index</a:t>
            </a:r>
            <a:r>
              <a:rPr lang="en-US" altLang="th-TH" sz="2800" b="1"/>
              <a:t> </a:t>
            </a:r>
            <a:r>
              <a:rPr lang="th-TH" altLang="th-TH" sz="2800" b="1"/>
              <a:t>ไม้</a:t>
            </a:r>
          </a:p>
        </p:txBody>
      </p:sp>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nodeType="clickPar">
                      <p:stCondLst>
                        <p:cond delay="0"/>
                      </p:stCondLst>
                      <p:childTnLst>
                        <p:par>
                          <p:cTn id="4" fill="hold" nodeType="withGroup">
                            <p:stCondLst>
                              <p:cond delay="0"/>
                            </p:stCondLst>
                            <p:childTnLst>
                              <p:par>
                                <p:cTn id="5" presetID="2" presetClass="mediacall" presetSubtype="0" fill="hold" nodeType="clickEffect">
                                  <p:stCondLst>
                                    <p:cond delay="0"/>
                                  </p:stCondLst>
                                  <p:childTnLst>
                                    <p:cmd type="call" cmd="togglePause">
                                      <p:cBhvr>
                                        <p:cTn id="6" dur="1" fill="hold"/>
                                        <p:tgtEl>
                                          <p:spTgt spid="4"/>
                                        </p:tgtEl>
                                      </p:cBhvr>
                                    </p:cmd>
                                  </p:childTnLst>
                                </p:cTn>
                              </p:par>
                            </p:childTnLst>
                          </p:cTn>
                        </p:par>
                      </p:childTnLst>
                    </p:cTn>
                  </p:par>
                </p:childTnLst>
              </p:cTn>
              <p:nextCondLst>
                <p:cond evt="onClick" delay="0">
                  <p:tgtEl>
                    <p:spTgt spid="4"/>
                  </p:tgtEl>
                </p:cond>
              </p:nextCondLst>
            </p:seq>
            <p:video>
              <p:cMediaNode vol="80000">
                <p:cTn id="7" fill="hold" display="0">
                  <p:stCondLst>
                    <p:cond delay="indefinite"/>
                  </p:stCondLst>
                </p:cTn>
                <p:tgtEl>
                  <p:spTgt spid="4"/>
                </p:tgtEl>
              </p:cMediaNode>
            </p:video>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itle 1"/>
          <p:cNvSpPr>
            <a:spLocks noGrp="1"/>
          </p:cNvSpPr>
          <p:nvPr>
            <p:ph type="title"/>
          </p:nvPr>
        </p:nvSpPr>
        <p:spPr>
          <a:xfrm>
            <a:off x="457200" y="115888"/>
            <a:ext cx="8229600" cy="1143000"/>
          </a:xfrm>
        </p:spPr>
        <p:txBody>
          <a:bodyPr/>
          <a:lstStyle/>
          <a:p>
            <a:r>
              <a:rPr lang="en-US" altLang="th-TH" b="1" smtClean="0">
                <a:solidFill>
                  <a:srgbClr val="000099"/>
                </a:solidFill>
              </a:rPr>
              <a:t>LOG INDEX</a:t>
            </a:r>
            <a:endParaRPr lang="th-TH" altLang="th-TH" b="1" smtClean="0">
              <a:solidFill>
                <a:srgbClr val="000099"/>
              </a:solidFill>
            </a:endParaRPr>
          </a:p>
        </p:txBody>
      </p:sp>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346665" y="1658533"/>
            <a:ext cx="4324277" cy="2542396"/>
          </a:xfrm>
          <a:prstGeom prst="snip2DiagRect">
            <a:avLst/>
          </a:prstGeom>
          <a:solidFill>
            <a:srgbClr val="FFFFFF">
              <a:shade val="85000"/>
            </a:srgbClr>
          </a:solidFill>
          <a:ln w="88900" cap="sq">
            <a:solidFill>
              <a:srgbClr val="006600"/>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78852" name="TextBox 6"/>
          <p:cNvSpPr txBox="1">
            <a:spLocks noChangeArrowheads="1"/>
          </p:cNvSpPr>
          <p:nvPr/>
        </p:nvSpPr>
        <p:spPr bwMode="auto">
          <a:xfrm>
            <a:off x="3003550" y="4803775"/>
            <a:ext cx="2728913"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th-TH" sz="2400" b="1"/>
              <a:t>// = &gt; 2.0”</a:t>
            </a:r>
          </a:p>
          <a:p>
            <a:pPr algn="ctr">
              <a:spcBef>
                <a:spcPct val="0"/>
              </a:spcBef>
              <a:buFontTx/>
              <a:buNone/>
            </a:pPr>
            <a:r>
              <a:rPr lang="en-US" altLang="th-TH" sz="2400" b="1"/>
              <a:t>X  = &gt; 2.5”</a:t>
            </a:r>
          </a:p>
          <a:p>
            <a:pPr algn="ctr">
              <a:spcBef>
                <a:spcPct val="0"/>
              </a:spcBef>
              <a:buFontTx/>
              <a:buNone/>
            </a:pPr>
            <a:r>
              <a:rPr lang="en-US" altLang="th-TH" sz="2400" b="1"/>
              <a:t>             = &gt; 3.0”</a:t>
            </a:r>
            <a:r>
              <a:rPr lang="th-TH" altLang="th-TH" sz="2400" b="1"/>
              <a:t> ขึ้นไป</a:t>
            </a:r>
          </a:p>
        </p:txBody>
      </p:sp>
      <p:sp>
        <p:nvSpPr>
          <p:cNvPr id="8" name="Oval 7"/>
          <p:cNvSpPr/>
          <p:nvPr/>
        </p:nvSpPr>
        <p:spPr>
          <a:xfrm>
            <a:off x="3656013" y="5553075"/>
            <a:ext cx="320675" cy="31908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th-TH"/>
          </a:p>
        </p:txBody>
      </p:sp>
    </p:spTree>
  </p:cSld>
  <p:clrMapOvr>
    <a:masterClrMapping/>
  </p:clrMapOvr>
  <p:transition spd="slow"/>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flipH="1">
            <a:off x="4699030" y="1057026"/>
            <a:ext cx="4108247" cy="251878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3" name="Picture 2"/>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319737" y="1046991"/>
            <a:ext cx="4108247" cy="2528815"/>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4" name="Picture 3"/>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rot="10800000" flipH="1" flipV="1">
            <a:off x="4689203" y="3847271"/>
            <a:ext cx="4127900" cy="251878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5" name="Picture 4"/>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flipH="1">
            <a:off x="319737" y="3873873"/>
            <a:ext cx="4116050" cy="2528815"/>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79878" name="TextBox 5"/>
          <p:cNvSpPr txBox="1">
            <a:spLocks noChangeArrowheads="1"/>
          </p:cNvSpPr>
          <p:nvPr/>
        </p:nvSpPr>
        <p:spPr bwMode="auto">
          <a:xfrm>
            <a:off x="0" y="333375"/>
            <a:ext cx="9144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th-TH" altLang="th-TH" sz="3600" b="1">
                <a:solidFill>
                  <a:srgbClr val="000099"/>
                </a:solidFill>
              </a:rPr>
              <a:t>ไม้</a:t>
            </a:r>
            <a:r>
              <a:rPr lang="th-TH" altLang="th-TH" b="1">
                <a:solidFill>
                  <a:srgbClr val="000099"/>
                </a:solidFill>
              </a:rPr>
              <a:t>ยูคาลิปตัสที่เราไม่ต้องการ</a:t>
            </a:r>
          </a:p>
        </p:txBody>
      </p:sp>
      <p:sp>
        <p:nvSpPr>
          <p:cNvPr id="79879" name="TextBox 6"/>
          <p:cNvSpPr txBox="1">
            <a:spLocks noChangeArrowheads="1"/>
          </p:cNvSpPr>
          <p:nvPr/>
        </p:nvSpPr>
        <p:spPr bwMode="auto">
          <a:xfrm>
            <a:off x="1965325" y="1270000"/>
            <a:ext cx="815975"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th-TH" altLang="th-TH" sz="2000" b="1"/>
              <a:t>ไม้คดงอ</a:t>
            </a:r>
          </a:p>
        </p:txBody>
      </p:sp>
      <p:sp>
        <p:nvSpPr>
          <p:cNvPr id="79880" name="TextBox 7"/>
          <p:cNvSpPr txBox="1">
            <a:spLocks noChangeArrowheads="1"/>
          </p:cNvSpPr>
          <p:nvPr/>
        </p:nvSpPr>
        <p:spPr bwMode="auto">
          <a:xfrm>
            <a:off x="6294438" y="1282700"/>
            <a:ext cx="915987"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th-TH" altLang="th-TH" sz="2000" b="1"/>
              <a:t>ไม้ไฟไหม้</a:t>
            </a:r>
          </a:p>
        </p:txBody>
      </p:sp>
      <p:sp>
        <p:nvSpPr>
          <p:cNvPr id="79881" name="TextBox 8"/>
          <p:cNvSpPr txBox="1">
            <a:spLocks noChangeArrowheads="1"/>
          </p:cNvSpPr>
          <p:nvPr/>
        </p:nvSpPr>
        <p:spPr bwMode="auto">
          <a:xfrm>
            <a:off x="2614613" y="3968750"/>
            <a:ext cx="992187"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th-TH" altLang="th-TH" sz="2000" b="1"/>
              <a:t>ไม้เป็นง่าม</a:t>
            </a:r>
          </a:p>
        </p:txBody>
      </p:sp>
      <p:sp>
        <p:nvSpPr>
          <p:cNvPr id="79882" name="TextBox 9"/>
          <p:cNvSpPr txBox="1">
            <a:spLocks noChangeArrowheads="1"/>
          </p:cNvSpPr>
          <p:nvPr/>
        </p:nvSpPr>
        <p:spPr bwMode="auto">
          <a:xfrm>
            <a:off x="5468938" y="3968750"/>
            <a:ext cx="1273175"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th-TH" altLang="th-TH" sz="2000" b="1"/>
              <a:t>ไม้มีลวด ,ตะปู</a:t>
            </a:r>
          </a:p>
        </p:txBody>
      </p:sp>
      <p:sp>
        <p:nvSpPr>
          <p:cNvPr id="11" name="Oval 10"/>
          <p:cNvSpPr/>
          <p:nvPr/>
        </p:nvSpPr>
        <p:spPr>
          <a:xfrm>
            <a:off x="6537325" y="4891088"/>
            <a:ext cx="411163" cy="422275"/>
          </a:xfrm>
          <a:prstGeom prst="ellipse">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th-TH"/>
          </a:p>
        </p:txBody>
      </p:sp>
      <p:sp>
        <p:nvSpPr>
          <p:cNvPr id="12" name="Oval 11"/>
          <p:cNvSpPr/>
          <p:nvPr/>
        </p:nvSpPr>
        <p:spPr>
          <a:xfrm>
            <a:off x="6875463" y="5170488"/>
            <a:ext cx="433387" cy="422275"/>
          </a:xfrm>
          <a:prstGeom prst="ellipse">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th-TH"/>
          </a:p>
        </p:txBody>
      </p:sp>
      <p:sp>
        <p:nvSpPr>
          <p:cNvPr id="13" name="Oval 12"/>
          <p:cNvSpPr/>
          <p:nvPr/>
        </p:nvSpPr>
        <p:spPr>
          <a:xfrm>
            <a:off x="6875463" y="4162425"/>
            <a:ext cx="576262" cy="576263"/>
          </a:xfrm>
          <a:prstGeom prst="ellipse">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th-TH"/>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tle 1"/>
          <p:cNvSpPr>
            <a:spLocks noGrp="1"/>
          </p:cNvSpPr>
          <p:nvPr>
            <p:ph type="title"/>
          </p:nvPr>
        </p:nvSpPr>
        <p:spPr>
          <a:xfrm>
            <a:off x="457200" y="-17463"/>
            <a:ext cx="8229600" cy="1143001"/>
          </a:xfrm>
        </p:spPr>
        <p:txBody>
          <a:bodyPr/>
          <a:lstStyle/>
          <a:p>
            <a:pPr eaLnBrk="1" hangingPunct="1"/>
            <a:r>
              <a:rPr lang="en-US" altLang="en-US" sz="3200" smtClean="0">
                <a:latin typeface="Tahoma" panose="020B0604030504040204" pitchFamily="34" charset="0"/>
                <a:cs typeface="Tahoma" panose="020B0604030504040204" pitchFamily="34" charset="0"/>
              </a:rPr>
              <a:t>3. Wood and chip handling </a:t>
            </a:r>
          </a:p>
        </p:txBody>
      </p:sp>
      <p:pic>
        <p:nvPicPr>
          <p:cNvPr id="8192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875" y="1470025"/>
            <a:ext cx="9001125" cy="392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ounded Rectangular Callout 6"/>
          <p:cNvSpPr/>
          <p:nvPr/>
        </p:nvSpPr>
        <p:spPr bwMode="auto">
          <a:xfrm>
            <a:off x="1071563" y="1984375"/>
            <a:ext cx="1143000" cy="285750"/>
          </a:xfrm>
          <a:prstGeom prst="wedgeRoundRectCallout">
            <a:avLst>
              <a:gd name="adj1" fmla="val -35278"/>
              <a:gd name="adj2" fmla="val 67933"/>
              <a:gd name="adj3" fmla="val 16667"/>
            </a:avLst>
          </a:prstGeom>
          <a:solidFill>
            <a:schemeClr val="accent1">
              <a:lumMod val="40000"/>
              <a:lumOff val="60000"/>
            </a:schemeClr>
          </a:solidFill>
          <a:ln w="19050" cap="sq" cmpd="sng" algn="ctr">
            <a:solidFill>
              <a:schemeClr val="bg1"/>
            </a:solidFill>
            <a:prstDash val="solid"/>
            <a:round/>
            <a:headEnd type="none" w="sm" len="sm"/>
            <a:tailEnd type="none" w="sm" len="sm"/>
          </a:ln>
          <a:effectLst/>
        </p:spPr>
        <p:txBody>
          <a:bodyPr wrap="none"/>
          <a:lstStyle/>
          <a:p>
            <a:pPr algn="ctr">
              <a:defRPr/>
            </a:pPr>
            <a:r>
              <a:rPr lang="en-US" sz="1200" b="1" dirty="0">
                <a:solidFill>
                  <a:srgbClr val="800000"/>
                </a:solidFill>
                <a:latin typeface="Arial" pitchFamily="34" charset="0"/>
                <a:cs typeface="Arial" pitchFamily="34" charset="0"/>
              </a:rPr>
              <a:t>Logs feeding</a:t>
            </a:r>
            <a:endParaRPr lang="th-TH" sz="1200" b="1" dirty="0">
              <a:solidFill>
                <a:srgbClr val="800000"/>
              </a:solidFill>
              <a:latin typeface="Arial" pitchFamily="34" charset="0"/>
              <a:cs typeface="Tahoma" pitchFamily="34" charset="0"/>
            </a:endParaRPr>
          </a:p>
        </p:txBody>
      </p:sp>
      <p:sp>
        <p:nvSpPr>
          <p:cNvPr id="8" name="Rounded Rectangular Callout 7"/>
          <p:cNvSpPr/>
          <p:nvPr/>
        </p:nvSpPr>
        <p:spPr bwMode="auto">
          <a:xfrm>
            <a:off x="3286125" y="1841500"/>
            <a:ext cx="1143000" cy="428625"/>
          </a:xfrm>
          <a:prstGeom prst="wedgeRoundRectCallout">
            <a:avLst>
              <a:gd name="adj1" fmla="val -34167"/>
              <a:gd name="adj2" fmla="val 75552"/>
              <a:gd name="adj3" fmla="val 16667"/>
            </a:avLst>
          </a:prstGeom>
          <a:solidFill>
            <a:schemeClr val="accent1">
              <a:lumMod val="40000"/>
              <a:lumOff val="60000"/>
            </a:schemeClr>
          </a:solidFill>
          <a:ln w="19050" cap="sq" cmpd="sng" algn="ctr">
            <a:solidFill>
              <a:schemeClr val="bg1"/>
            </a:solidFill>
            <a:prstDash val="solid"/>
            <a:round/>
            <a:headEnd type="none" w="sm" len="sm"/>
            <a:tailEnd type="none" w="sm" len="sm"/>
          </a:ln>
          <a:effectLst/>
        </p:spPr>
        <p:txBody>
          <a:bodyPr wrap="none" anchor="ctr"/>
          <a:lstStyle/>
          <a:p>
            <a:pPr algn="ctr">
              <a:defRPr/>
            </a:pPr>
            <a:r>
              <a:rPr lang="en-US" sz="1200" b="1" dirty="0">
                <a:solidFill>
                  <a:srgbClr val="800000"/>
                </a:solidFill>
                <a:latin typeface="Arial" pitchFamily="34" charset="0"/>
                <a:cs typeface="Arial" pitchFamily="34" charset="0"/>
              </a:rPr>
              <a:t>Debarking </a:t>
            </a:r>
          </a:p>
          <a:p>
            <a:pPr algn="ctr">
              <a:defRPr/>
            </a:pPr>
            <a:r>
              <a:rPr lang="en-US" sz="1200" b="1" dirty="0">
                <a:solidFill>
                  <a:srgbClr val="800000"/>
                </a:solidFill>
                <a:latin typeface="Arial" pitchFamily="34" charset="0"/>
                <a:cs typeface="Arial" pitchFamily="34" charset="0"/>
              </a:rPr>
              <a:t>process</a:t>
            </a:r>
            <a:endParaRPr lang="th-TH" sz="1200" b="1" dirty="0">
              <a:solidFill>
                <a:srgbClr val="800000"/>
              </a:solidFill>
              <a:latin typeface="Arial" pitchFamily="34" charset="0"/>
              <a:cs typeface="Tahoma" pitchFamily="34" charset="0"/>
            </a:endParaRPr>
          </a:p>
        </p:txBody>
      </p:sp>
      <p:sp>
        <p:nvSpPr>
          <p:cNvPr id="9" name="Rounded Rectangular Callout 8"/>
          <p:cNvSpPr/>
          <p:nvPr/>
        </p:nvSpPr>
        <p:spPr bwMode="auto">
          <a:xfrm>
            <a:off x="5500688" y="1912938"/>
            <a:ext cx="1428750" cy="347662"/>
          </a:xfrm>
          <a:prstGeom prst="wedgeRoundRectCallout">
            <a:avLst>
              <a:gd name="adj1" fmla="val 23611"/>
              <a:gd name="adj2" fmla="val 83171"/>
              <a:gd name="adj3" fmla="val 16667"/>
            </a:avLst>
          </a:prstGeom>
          <a:solidFill>
            <a:schemeClr val="accent1">
              <a:lumMod val="40000"/>
              <a:lumOff val="60000"/>
            </a:schemeClr>
          </a:solidFill>
          <a:ln w="19050" cap="sq" cmpd="sng" algn="ctr">
            <a:solidFill>
              <a:schemeClr val="bg1"/>
            </a:solidFill>
            <a:prstDash val="solid"/>
            <a:round/>
            <a:headEnd type="none" w="sm" len="sm"/>
            <a:tailEnd type="none" w="sm" len="sm"/>
          </a:ln>
          <a:effectLst/>
        </p:spPr>
        <p:txBody>
          <a:bodyPr wrap="none" anchor="ctr"/>
          <a:lstStyle/>
          <a:p>
            <a:pPr algn="ctr">
              <a:defRPr/>
            </a:pPr>
            <a:r>
              <a:rPr lang="en-US" sz="1200" b="1" dirty="0">
                <a:solidFill>
                  <a:srgbClr val="800000"/>
                </a:solidFill>
                <a:latin typeface="Arial" pitchFamily="34" charset="0"/>
                <a:cs typeface="Arial" pitchFamily="34" charset="0"/>
              </a:rPr>
              <a:t>Chips classifying</a:t>
            </a:r>
            <a:endParaRPr lang="th-TH" sz="1200" b="1" dirty="0">
              <a:solidFill>
                <a:srgbClr val="800000"/>
              </a:solidFill>
              <a:latin typeface="Arial" pitchFamily="34" charset="0"/>
              <a:cs typeface="Tahoma" pitchFamily="34" charset="0"/>
            </a:endParaRPr>
          </a:p>
        </p:txBody>
      </p:sp>
      <p:sp>
        <p:nvSpPr>
          <p:cNvPr id="10" name="Rounded Rectangular Callout 9"/>
          <p:cNvSpPr/>
          <p:nvPr/>
        </p:nvSpPr>
        <p:spPr bwMode="auto">
          <a:xfrm>
            <a:off x="3983038" y="3663950"/>
            <a:ext cx="1143000" cy="500063"/>
          </a:xfrm>
          <a:prstGeom prst="wedgeRoundRectCallout">
            <a:avLst>
              <a:gd name="adj1" fmla="val 34722"/>
              <a:gd name="adj2" fmla="val -94606"/>
              <a:gd name="adj3" fmla="val 16667"/>
            </a:avLst>
          </a:prstGeom>
          <a:solidFill>
            <a:schemeClr val="accent1">
              <a:lumMod val="40000"/>
              <a:lumOff val="60000"/>
            </a:schemeClr>
          </a:solidFill>
          <a:ln w="19050" cap="sq" cmpd="sng" algn="ctr">
            <a:solidFill>
              <a:schemeClr val="bg1"/>
            </a:solidFill>
            <a:prstDash val="solid"/>
            <a:round/>
            <a:headEnd type="none" w="sm" len="sm"/>
            <a:tailEnd type="none" w="sm" len="sm"/>
          </a:ln>
          <a:effectLst/>
        </p:spPr>
        <p:txBody>
          <a:bodyPr wrap="none" anchor="ctr"/>
          <a:lstStyle/>
          <a:p>
            <a:pPr algn="ctr">
              <a:defRPr/>
            </a:pPr>
            <a:r>
              <a:rPr lang="en-US" sz="1200" b="1" dirty="0">
                <a:solidFill>
                  <a:srgbClr val="800000"/>
                </a:solidFill>
                <a:latin typeface="Arial" pitchFamily="34" charset="0"/>
                <a:cs typeface="Arial" pitchFamily="34" charset="0"/>
              </a:rPr>
              <a:t>Chipping </a:t>
            </a:r>
          </a:p>
          <a:p>
            <a:pPr algn="ctr">
              <a:defRPr/>
            </a:pPr>
            <a:r>
              <a:rPr lang="en-US" sz="1200" b="1" dirty="0">
                <a:solidFill>
                  <a:srgbClr val="800000"/>
                </a:solidFill>
                <a:latin typeface="Arial" pitchFamily="34" charset="0"/>
                <a:cs typeface="Arial" pitchFamily="34" charset="0"/>
              </a:rPr>
              <a:t>process</a:t>
            </a:r>
            <a:endParaRPr lang="th-TH" sz="1200" b="1" dirty="0">
              <a:solidFill>
                <a:srgbClr val="800000"/>
              </a:solidFill>
              <a:latin typeface="Arial" pitchFamily="34" charset="0"/>
              <a:cs typeface="Tahoma" pitchFamily="34" charset="0"/>
            </a:endParaRPr>
          </a:p>
        </p:txBody>
      </p:sp>
      <p:sp>
        <p:nvSpPr>
          <p:cNvPr id="11" name="Rounded Rectangular Callout 10"/>
          <p:cNvSpPr/>
          <p:nvPr/>
        </p:nvSpPr>
        <p:spPr bwMode="auto">
          <a:xfrm>
            <a:off x="2928938" y="4332288"/>
            <a:ext cx="1143000" cy="438150"/>
          </a:xfrm>
          <a:prstGeom prst="wedgeRoundRectCallout">
            <a:avLst>
              <a:gd name="adj1" fmla="val -65277"/>
              <a:gd name="adj2" fmla="val -28575"/>
              <a:gd name="adj3" fmla="val 16667"/>
            </a:avLst>
          </a:prstGeom>
          <a:solidFill>
            <a:schemeClr val="accent1">
              <a:lumMod val="40000"/>
              <a:lumOff val="60000"/>
            </a:schemeClr>
          </a:solidFill>
          <a:ln w="19050" cap="sq" cmpd="sng" algn="ctr">
            <a:solidFill>
              <a:schemeClr val="bg1"/>
            </a:solidFill>
            <a:prstDash val="solid"/>
            <a:round/>
            <a:headEnd type="none" w="sm" len="sm"/>
            <a:tailEnd type="none" w="sm" len="sm"/>
          </a:ln>
          <a:effectLst/>
        </p:spPr>
        <p:txBody>
          <a:bodyPr wrap="none" anchor="ctr"/>
          <a:lstStyle/>
          <a:p>
            <a:pPr algn="ctr">
              <a:defRPr/>
            </a:pPr>
            <a:r>
              <a:rPr lang="en-US" sz="1200" b="1" dirty="0">
                <a:solidFill>
                  <a:srgbClr val="800000"/>
                </a:solidFill>
                <a:latin typeface="Arial" pitchFamily="34" charset="0"/>
                <a:cs typeface="Arial" pitchFamily="34" charset="0"/>
              </a:rPr>
              <a:t>Barks </a:t>
            </a:r>
          </a:p>
          <a:p>
            <a:pPr algn="ctr">
              <a:defRPr/>
            </a:pPr>
            <a:r>
              <a:rPr lang="en-US" sz="1200" b="1" dirty="0">
                <a:solidFill>
                  <a:srgbClr val="800000"/>
                </a:solidFill>
                <a:latin typeface="Arial" pitchFamily="34" charset="0"/>
                <a:cs typeface="Arial" pitchFamily="34" charset="0"/>
              </a:rPr>
              <a:t>shredding</a:t>
            </a:r>
            <a:endParaRPr lang="th-TH" sz="1200" b="1" dirty="0">
              <a:solidFill>
                <a:srgbClr val="800000"/>
              </a:solidFill>
              <a:latin typeface="Arial" pitchFamily="34" charset="0"/>
              <a:cs typeface="Tahoma" pitchFamily="34" charset="0"/>
            </a:endParaRPr>
          </a:p>
        </p:txBody>
      </p:sp>
      <p:sp>
        <p:nvSpPr>
          <p:cNvPr id="81929" name="Rounded Rectangular Callout 167"/>
          <p:cNvSpPr>
            <a:spLocks noChangeArrowheads="1"/>
          </p:cNvSpPr>
          <p:nvPr/>
        </p:nvSpPr>
        <p:spPr bwMode="auto">
          <a:xfrm>
            <a:off x="7535863" y="4056063"/>
            <a:ext cx="1500187" cy="366712"/>
          </a:xfrm>
          <a:prstGeom prst="wedgeRoundRectCallout">
            <a:avLst>
              <a:gd name="adj1" fmla="val 34722"/>
              <a:gd name="adj2" fmla="val -94606"/>
              <a:gd name="adj3"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cap="sq" algn="ctr">
                <a:solidFill>
                  <a:srgbClr val="000000"/>
                </a:solidFill>
                <a:round/>
                <a:headEnd type="none" w="sm" len="sm"/>
                <a:tailEnd type="none" w="sm" len="sm"/>
              </a14:hiddenLine>
            </a:ext>
          </a:extLst>
        </p:spPr>
        <p:txBody>
          <a:bodyPr wrap="none"/>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400" b="1">
                <a:solidFill>
                  <a:srgbClr val="800000"/>
                </a:solidFill>
                <a:latin typeface="Arial" panose="020B0604020202020204" pitchFamily="34" charset="0"/>
                <a:cs typeface="Arial" panose="020B0604020202020204" pitchFamily="34" charset="0"/>
              </a:rPr>
              <a:t>Chip storage</a:t>
            </a:r>
            <a:endParaRPr lang="th-TH" altLang="en-US" sz="1400" b="1">
              <a:solidFill>
                <a:srgbClr val="800000"/>
              </a:solidFill>
              <a:latin typeface="Arial" panose="020B0604020202020204" pitchFamily="34" charset="0"/>
              <a:cs typeface="Tahoma" panose="020B0604030504040204" pitchFamily="34" charset="0"/>
            </a:endParaRPr>
          </a:p>
        </p:txBody>
      </p:sp>
      <p:sp>
        <p:nvSpPr>
          <p:cNvPr id="81930" name="Rectangle 169"/>
          <p:cNvSpPr>
            <a:spLocks noChangeArrowheads="1"/>
          </p:cNvSpPr>
          <p:nvPr/>
        </p:nvSpPr>
        <p:spPr bwMode="auto">
          <a:xfrm>
            <a:off x="5857875" y="2413000"/>
            <a:ext cx="1428750" cy="1214438"/>
          </a:xfrm>
          <a:prstGeom prst="rect">
            <a:avLst/>
          </a:prstGeom>
          <a:noFill/>
          <a:ln w="38100" cap="sq" algn="ctr">
            <a:solidFill>
              <a:srgbClr val="008000"/>
            </a:solidFill>
            <a:prstDash val="sysDash"/>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th-TH" altLang="en-US" sz="1800">
              <a:cs typeface="Angsana New" panose="02020603050405020304" pitchFamily="18" charset="-34"/>
            </a:endParaRPr>
          </a:p>
        </p:txBody>
      </p:sp>
      <p:sp>
        <p:nvSpPr>
          <p:cNvPr id="81931" name="Rectangle 170"/>
          <p:cNvSpPr>
            <a:spLocks noChangeArrowheads="1"/>
          </p:cNvSpPr>
          <p:nvPr/>
        </p:nvSpPr>
        <p:spPr bwMode="auto">
          <a:xfrm>
            <a:off x="1928813" y="2341563"/>
            <a:ext cx="1643062" cy="1500187"/>
          </a:xfrm>
          <a:prstGeom prst="rect">
            <a:avLst/>
          </a:prstGeom>
          <a:noFill/>
          <a:ln w="38100" cap="sq" algn="ctr">
            <a:solidFill>
              <a:srgbClr val="008000"/>
            </a:solidFill>
            <a:prstDash val="sysDash"/>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th-TH" altLang="en-US" sz="1800">
              <a:cs typeface="Angsana New" panose="02020603050405020304" pitchFamily="18" charset="-34"/>
            </a:endParaRPr>
          </a:p>
        </p:txBody>
      </p:sp>
      <p:sp>
        <p:nvSpPr>
          <p:cNvPr id="81932" name="Rectangle 171"/>
          <p:cNvSpPr>
            <a:spLocks noChangeArrowheads="1"/>
          </p:cNvSpPr>
          <p:nvPr/>
        </p:nvSpPr>
        <p:spPr bwMode="auto">
          <a:xfrm>
            <a:off x="4214813" y="2627313"/>
            <a:ext cx="1357312" cy="785812"/>
          </a:xfrm>
          <a:prstGeom prst="rect">
            <a:avLst/>
          </a:prstGeom>
          <a:noFill/>
          <a:ln w="38100" cap="sq" algn="ctr">
            <a:solidFill>
              <a:srgbClr val="008000"/>
            </a:solidFill>
            <a:prstDash val="sysDash"/>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th-TH" altLang="en-US" sz="1800">
              <a:cs typeface="Angsana New" panose="02020603050405020304" pitchFamily="18" charset="-34"/>
            </a:endParaRPr>
          </a:p>
        </p:txBody>
      </p:sp>
      <p:sp>
        <p:nvSpPr>
          <p:cNvPr id="81933" name="Rectangle 172"/>
          <p:cNvSpPr>
            <a:spLocks noChangeArrowheads="1"/>
          </p:cNvSpPr>
          <p:nvPr/>
        </p:nvSpPr>
        <p:spPr bwMode="auto">
          <a:xfrm>
            <a:off x="285750" y="2341563"/>
            <a:ext cx="1500188" cy="1000125"/>
          </a:xfrm>
          <a:prstGeom prst="rect">
            <a:avLst/>
          </a:prstGeom>
          <a:noFill/>
          <a:ln w="38100" cap="sq" algn="ctr">
            <a:solidFill>
              <a:srgbClr val="008000"/>
            </a:solidFill>
            <a:prstDash val="sysDash"/>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th-TH" altLang="en-US" sz="1800">
              <a:cs typeface="Angsana New" panose="02020603050405020304" pitchFamily="18" charset="-34"/>
            </a:endParaRPr>
          </a:p>
        </p:txBody>
      </p:sp>
      <p:sp>
        <p:nvSpPr>
          <p:cNvPr id="81934" name="Rectangle 173"/>
          <p:cNvSpPr>
            <a:spLocks noChangeArrowheads="1"/>
          </p:cNvSpPr>
          <p:nvPr/>
        </p:nvSpPr>
        <p:spPr bwMode="auto">
          <a:xfrm>
            <a:off x="1214438" y="3913188"/>
            <a:ext cx="1500187" cy="785812"/>
          </a:xfrm>
          <a:prstGeom prst="rect">
            <a:avLst/>
          </a:prstGeom>
          <a:noFill/>
          <a:ln w="38100" cap="sq" algn="ctr">
            <a:solidFill>
              <a:srgbClr val="008000"/>
            </a:solidFill>
            <a:prstDash val="sysDash"/>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th-TH" altLang="en-US" sz="1800">
              <a:cs typeface="Angsana New" panose="02020603050405020304" pitchFamily="18" charset="-34"/>
            </a:endParaRPr>
          </a:p>
        </p:txBody>
      </p:sp>
      <p:sp>
        <p:nvSpPr>
          <p:cNvPr id="81935" name="TextBox 1"/>
          <p:cNvSpPr txBox="1">
            <a:spLocks noChangeArrowheads="1"/>
          </p:cNvSpPr>
          <p:nvPr/>
        </p:nvSpPr>
        <p:spPr bwMode="auto">
          <a:xfrm>
            <a:off x="-36513" y="6100763"/>
            <a:ext cx="2416176"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a:t>Credit: Weerachai Seachao</a:t>
            </a:r>
          </a:p>
        </p:txBody>
      </p:sp>
      <p:sp>
        <p:nvSpPr>
          <p:cNvPr id="2" name="Rectangle 1"/>
          <p:cNvSpPr/>
          <p:nvPr/>
        </p:nvSpPr>
        <p:spPr>
          <a:xfrm>
            <a:off x="1928813" y="1851025"/>
            <a:ext cx="1643062" cy="2062163"/>
          </a:xfrm>
          <a:prstGeom prst="rect">
            <a:avLst/>
          </a:prstGeom>
          <a:noFill/>
          <a:ln w="57150">
            <a:solidFill>
              <a:srgbClr val="FF000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3970"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763" y="563563"/>
            <a:ext cx="91440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3971" name="TextBox 4"/>
          <p:cNvSpPr txBox="1">
            <a:spLocks noChangeArrowheads="1"/>
          </p:cNvSpPr>
          <p:nvPr/>
        </p:nvSpPr>
        <p:spPr bwMode="auto">
          <a:xfrm>
            <a:off x="-52388" y="2420938"/>
            <a:ext cx="2574926"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th-TH" sz="2800">
                <a:solidFill>
                  <a:schemeClr val="bg1"/>
                </a:solidFill>
              </a:rPr>
              <a:t>Debarking Drum</a:t>
            </a:r>
            <a:endParaRPr lang="th-TH" altLang="th-TH" sz="2800">
              <a:solidFill>
                <a:schemeClr val="bg1"/>
              </a:solidFill>
            </a:endParaRPr>
          </a:p>
        </p:txBody>
      </p:sp>
      <p:sp>
        <p:nvSpPr>
          <p:cNvPr id="6" name="Right Arrow 5"/>
          <p:cNvSpPr/>
          <p:nvPr/>
        </p:nvSpPr>
        <p:spPr>
          <a:xfrm>
            <a:off x="2525713" y="2549525"/>
            <a:ext cx="412750" cy="266700"/>
          </a:xfrm>
          <a:prstGeom prst="rightArrow">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th-TH"/>
          </a:p>
        </p:txBody>
      </p:sp>
      <p:sp>
        <p:nvSpPr>
          <p:cNvPr id="83973" name="TextBox 6"/>
          <p:cNvSpPr txBox="1">
            <a:spLocks noChangeArrowheads="1"/>
          </p:cNvSpPr>
          <p:nvPr/>
        </p:nvSpPr>
        <p:spPr bwMode="auto">
          <a:xfrm>
            <a:off x="5675313" y="1552575"/>
            <a:ext cx="20605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th-TH" sz="2800">
                <a:solidFill>
                  <a:schemeClr val="bg1"/>
                </a:solidFill>
              </a:rPr>
              <a:t>Super Barker</a:t>
            </a:r>
            <a:endParaRPr lang="th-TH" altLang="th-TH" sz="2800">
              <a:solidFill>
                <a:schemeClr val="bg1"/>
              </a:solidFill>
            </a:endParaRPr>
          </a:p>
        </p:txBody>
      </p:sp>
      <p:sp>
        <p:nvSpPr>
          <p:cNvPr id="8" name="Down Arrow 7"/>
          <p:cNvSpPr/>
          <p:nvPr/>
        </p:nvSpPr>
        <p:spPr>
          <a:xfrm>
            <a:off x="6553200" y="1984375"/>
            <a:ext cx="325438" cy="444500"/>
          </a:xfrm>
          <a:prstGeom prst="downArrow">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th-TH"/>
          </a:p>
        </p:txBody>
      </p:sp>
      <p:sp>
        <p:nvSpPr>
          <p:cNvPr id="83975" name="TextBox 21"/>
          <p:cNvSpPr txBox="1">
            <a:spLocks noChangeArrowheads="1"/>
          </p:cNvSpPr>
          <p:nvPr/>
        </p:nvSpPr>
        <p:spPr bwMode="auto">
          <a:xfrm>
            <a:off x="0" y="28575"/>
            <a:ext cx="9144000"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800" b="1">
                <a:solidFill>
                  <a:srgbClr val="FF0000"/>
                </a:solidFill>
              </a:rPr>
              <a:t>Debarking Process</a:t>
            </a:r>
            <a:r>
              <a:rPr lang="en-US" altLang="en-US" sz="2800">
                <a:solidFill>
                  <a:srgbClr val="FF0000"/>
                </a:solidFill>
              </a:rPr>
              <a:t> : </a:t>
            </a:r>
            <a:r>
              <a:rPr lang="en-US" altLang="en-US" sz="2800" b="1">
                <a:solidFill>
                  <a:srgbClr val="0000CC"/>
                </a:solidFill>
              </a:rPr>
              <a:t>remove bark</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994" name="Picture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2863" y="1565275"/>
            <a:ext cx="603885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4995"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408613" y="3535363"/>
            <a:ext cx="3540125" cy="2125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996" name="TextBox 20"/>
          <p:cNvSpPr txBox="1">
            <a:spLocks noChangeArrowheads="1"/>
          </p:cNvSpPr>
          <p:nvPr/>
        </p:nvSpPr>
        <p:spPr bwMode="auto">
          <a:xfrm>
            <a:off x="5408613" y="1125538"/>
            <a:ext cx="3386137"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400" b="1"/>
              <a:t>1) Rotary Drum Debarker</a:t>
            </a:r>
          </a:p>
          <a:p>
            <a:pPr>
              <a:spcBef>
                <a:spcPct val="0"/>
              </a:spcBef>
              <a:buFontTx/>
              <a:buNone/>
            </a:pPr>
            <a:r>
              <a:rPr lang="en-US" altLang="en-US" sz="1800">
                <a:solidFill>
                  <a:srgbClr val="FF0000"/>
                </a:solidFill>
              </a:rPr>
              <a:t>Use gravity and weight of log </a:t>
            </a:r>
          </a:p>
          <a:p>
            <a:pPr>
              <a:spcBef>
                <a:spcPct val="0"/>
              </a:spcBef>
              <a:buFontTx/>
              <a:buNone/>
            </a:pPr>
            <a:r>
              <a:rPr lang="en-US" altLang="en-US" sz="1800"/>
              <a:t>Log itself to break the bark out </a:t>
            </a:r>
          </a:p>
          <a:p>
            <a:pPr>
              <a:spcBef>
                <a:spcPct val="0"/>
              </a:spcBef>
              <a:buFontTx/>
              <a:buNone/>
            </a:pPr>
            <a:r>
              <a:rPr lang="en-US" altLang="en-US" sz="1800"/>
              <a:t>of wood log skin. Suitable for </a:t>
            </a:r>
          </a:p>
          <a:p>
            <a:pPr>
              <a:spcBef>
                <a:spcPct val="0"/>
              </a:spcBef>
              <a:buFontTx/>
              <a:buNone/>
            </a:pPr>
            <a:r>
              <a:rPr lang="en-US" altLang="en-US" sz="1800">
                <a:solidFill>
                  <a:srgbClr val="FF0000"/>
                </a:solidFill>
              </a:rPr>
              <a:t>Std.Log diameter = &gt; 3 inch</a:t>
            </a:r>
          </a:p>
        </p:txBody>
      </p:sp>
      <p:sp>
        <p:nvSpPr>
          <p:cNvPr id="84997" name="TextBox 21"/>
          <p:cNvSpPr txBox="1">
            <a:spLocks noChangeArrowheads="1"/>
          </p:cNvSpPr>
          <p:nvPr/>
        </p:nvSpPr>
        <p:spPr bwMode="auto">
          <a:xfrm>
            <a:off x="0" y="188913"/>
            <a:ext cx="9144000"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800" b="1">
                <a:solidFill>
                  <a:srgbClr val="FF0000"/>
                </a:solidFill>
              </a:rPr>
              <a:t>Debarking Process</a:t>
            </a:r>
            <a:r>
              <a:rPr lang="en-US" altLang="en-US" sz="2800">
                <a:solidFill>
                  <a:srgbClr val="FF0000"/>
                </a:solidFill>
              </a:rPr>
              <a:t> : </a:t>
            </a:r>
            <a:r>
              <a:rPr lang="en-US" altLang="en-US" sz="2800" b="1">
                <a:solidFill>
                  <a:srgbClr val="0000CC"/>
                </a:solidFill>
              </a:rPr>
              <a:t>remove bark</a:t>
            </a:r>
          </a:p>
        </p:txBody>
      </p:sp>
      <p:sp>
        <p:nvSpPr>
          <p:cNvPr id="84998" name="TextBox 7"/>
          <p:cNvSpPr txBox="1">
            <a:spLocks noChangeArrowheads="1"/>
          </p:cNvSpPr>
          <p:nvPr/>
        </p:nvSpPr>
        <p:spPr bwMode="auto">
          <a:xfrm>
            <a:off x="5484813" y="3178175"/>
            <a:ext cx="228123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th-TH" sz="1600">
                <a:solidFill>
                  <a:srgbClr val="0000CC"/>
                </a:solidFill>
              </a:rPr>
              <a:t>Log diameter = &gt; 2.0 inch</a:t>
            </a:r>
            <a:endParaRPr lang="th-TH" altLang="th-TH" sz="1600">
              <a:solidFill>
                <a:srgbClr val="0000CC"/>
              </a:solidFill>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7313" y="823913"/>
            <a:ext cx="8985250" cy="4806950"/>
          </a:xfrm>
          <a:prstGeom prst="rect">
            <a:avLst/>
          </a:prstGeom>
          <a:ln>
            <a:noFill/>
          </a:ln>
          <a:effectLst>
            <a:softEdge rad="112500"/>
          </a:effectLst>
        </p:spPr>
      </p:pic>
      <p:sp>
        <p:nvSpPr>
          <p:cNvPr id="86019" name="TextBox 3"/>
          <p:cNvSpPr txBox="1">
            <a:spLocks noChangeArrowheads="1"/>
          </p:cNvSpPr>
          <p:nvPr/>
        </p:nvSpPr>
        <p:spPr bwMode="auto">
          <a:xfrm>
            <a:off x="0" y="188913"/>
            <a:ext cx="9144000"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th-TH" sz="2800" b="1"/>
              <a:t>Debarking Dum</a:t>
            </a:r>
            <a:endParaRPr lang="th-TH" altLang="th-TH" sz="2800" b="1"/>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7042"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31888" y="671513"/>
            <a:ext cx="6894512" cy="5170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43" name="TextBox 3"/>
          <p:cNvSpPr txBox="1">
            <a:spLocks noChangeArrowheads="1"/>
          </p:cNvSpPr>
          <p:nvPr/>
        </p:nvSpPr>
        <p:spPr bwMode="auto">
          <a:xfrm>
            <a:off x="0" y="144463"/>
            <a:ext cx="9144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th-TH" altLang="th-TH" sz="2800" b="1"/>
              <a:t>ลักษณะภายใน </a:t>
            </a:r>
            <a:r>
              <a:rPr lang="en-US" altLang="th-TH" sz="2400" b="1"/>
              <a:t>Debarking Drum</a:t>
            </a:r>
            <a:endParaRPr lang="th-TH" altLang="th-TH" sz="2400" b="1"/>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MVI_1458.MOV">
            <a:hlinkClick r:id="" action="ppaction://media"/>
          </p:cNvPr>
          <p:cNvPicPr>
            <a:picLocks noChangeAspect="1"/>
          </p:cNvPicPr>
          <p:nvPr>
            <a:videoFile r:link="rId2"/>
            <p:extLst>
              <p:ext uri="{DAA4B4D4-6D71-4841-9C94-3DE7FCFB9230}">
                <p14:media xmlns:p14="http://schemas.microsoft.com/office/powerpoint/2010/main" r:link="rId1"/>
              </p:ext>
            </p:extLst>
          </p:nvPr>
        </p:nvPicPr>
        <p:blipFill>
          <a:blip r:embed="rId4">
            <a:extLst>
              <a:ext uri="{28A0092B-C50C-407E-A947-70E740481C1C}">
                <a14:useLocalDpi xmlns:a14="http://schemas.microsoft.com/office/drawing/2010/main" val="0"/>
              </a:ext>
            </a:extLst>
          </a:blip>
          <a:srcRect/>
          <a:stretch>
            <a:fillRect/>
          </a:stretch>
        </p:blipFill>
        <p:spPr bwMode="auto">
          <a:xfrm>
            <a:off x="784225" y="887413"/>
            <a:ext cx="7561263" cy="496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TextBox 2"/>
          <p:cNvSpPr txBox="1">
            <a:spLocks noChangeArrowheads="1"/>
          </p:cNvSpPr>
          <p:nvPr/>
        </p:nvSpPr>
        <p:spPr bwMode="auto">
          <a:xfrm>
            <a:off x="0" y="144463"/>
            <a:ext cx="9144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th-TH" sz="2400" b="1"/>
              <a:t>Video</a:t>
            </a:r>
            <a:r>
              <a:rPr lang="th-TH" altLang="th-TH" sz="2400" b="1"/>
              <a:t> </a:t>
            </a:r>
            <a:r>
              <a:rPr lang="th-TH" altLang="th-TH" sz="2800" b="1"/>
              <a:t>การทำงาน </a:t>
            </a:r>
            <a:r>
              <a:rPr lang="en-US" altLang="th-TH" sz="2400" b="1"/>
              <a:t>Debarking Drum</a:t>
            </a:r>
            <a:endParaRPr lang="th-TH" altLang="th-TH" sz="2400" b="1"/>
          </a:p>
        </p:txBody>
      </p:sp>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nodeType="clickPar">
                      <p:stCondLst>
                        <p:cond delay="0"/>
                      </p:stCondLst>
                      <p:childTnLst>
                        <p:par>
                          <p:cTn id="4" fill="hold" nodeType="withGroup">
                            <p:stCondLst>
                              <p:cond delay="0"/>
                            </p:stCondLst>
                            <p:childTnLst>
                              <p:par>
                                <p:cTn id="5" presetID="2" presetClass="mediacall" presetSubtype="0" fill="hold" nodeType="clickEffect">
                                  <p:stCondLst>
                                    <p:cond delay="0"/>
                                  </p:stCondLst>
                                  <p:childTnLst>
                                    <p:cmd type="call" cmd="togglePause">
                                      <p:cBhvr>
                                        <p:cTn id="6" dur="1" fill="hold"/>
                                        <p:tgtEl>
                                          <p:spTgt spid="2"/>
                                        </p:tgtEl>
                                      </p:cBhvr>
                                    </p:cmd>
                                  </p:childTnLst>
                                </p:cTn>
                              </p:par>
                            </p:childTnLst>
                          </p:cTn>
                        </p:par>
                      </p:childTnLst>
                    </p:cTn>
                  </p:par>
                </p:childTnLst>
              </p:cTn>
              <p:nextCondLst>
                <p:cond evt="onClick" delay="0">
                  <p:tgtEl>
                    <p:spTgt spid="2"/>
                  </p:tgtEl>
                </p:cond>
              </p:nextCondLst>
            </p:seq>
            <p:video>
              <p:cMediaNode vol="80000">
                <p:cTn id="7" fill="hold" display="0">
                  <p:stCondLst>
                    <p:cond delay="indefinite"/>
                  </p:stCondLst>
                </p:cTn>
                <p:tgtEl>
                  <p:spTgt spid="2"/>
                </p:tgtEl>
              </p:cMediaNode>
            </p:video>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9090" name="Picture 4" descr="CKS_16"/>
          <p:cNvPicPr>
            <a:picLocks noChangeAspect="1" noChangeArrowheads="1"/>
          </p:cNvPicPr>
          <p:nvPr/>
        </p:nvPicPr>
        <p:blipFill>
          <a:blip r:embed="rId2" cstate="print">
            <a:extLst>
              <a:ext uri="{28A0092B-C50C-407E-A947-70E740481C1C}">
                <a14:useLocalDpi xmlns:a14="http://schemas.microsoft.com/office/drawing/2010/main" val="0"/>
              </a:ext>
            </a:extLst>
          </a:blip>
          <a:srcRect t="16907" b="44949"/>
          <a:stretch>
            <a:fillRect/>
          </a:stretch>
        </p:blipFill>
        <p:spPr bwMode="auto">
          <a:xfrm>
            <a:off x="3449638" y="1019175"/>
            <a:ext cx="5532437" cy="2957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89091" name="TextBox 22"/>
          <p:cNvSpPr txBox="1">
            <a:spLocks noChangeArrowheads="1"/>
          </p:cNvSpPr>
          <p:nvPr/>
        </p:nvSpPr>
        <p:spPr bwMode="auto">
          <a:xfrm>
            <a:off x="22225" y="1019175"/>
            <a:ext cx="3459163" cy="184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400" b="1"/>
              <a:t>2) Mechanical Debarker</a:t>
            </a:r>
          </a:p>
          <a:p>
            <a:pPr>
              <a:spcBef>
                <a:spcPct val="0"/>
              </a:spcBef>
              <a:buFontTx/>
              <a:buNone/>
            </a:pPr>
            <a:r>
              <a:rPr lang="en-US" altLang="en-US" sz="1800"/>
              <a:t>Use mechanical energy drive comb</a:t>
            </a:r>
          </a:p>
          <a:p>
            <a:pPr>
              <a:spcBef>
                <a:spcPct val="0"/>
              </a:spcBef>
              <a:buFontTx/>
              <a:buNone/>
            </a:pPr>
            <a:r>
              <a:rPr lang="en-US" altLang="en-US" sz="1800"/>
              <a:t>Shredder to take out the bark from</a:t>
            </a:r>
          </a:p>
          <a:p>
            <a:pPr>
              <a:spcBef>
                <a:spcPct val="0"/>
              </a:spcBef>
              <a:buFontTx/>
              <a:buNone/>
            </a:pPr>
            <a:r>
              <a:rPr lang="en-US" altLang="en-US" sz="1800"/>
              <a:t>wood log skin. Suitable for </a:t>
            </a:r>
          </a:p>
          <a:p>
            <a:pPr>
              <a:spcBef>
                <a:spcPct val="0"/>
              </a:spcBef>
              <a:buFontTx/>
              <a:buNone/>
            </a:pPr>
            <a:r>
              <a:rPr lang="en-US" altLang="en-US" sz="1800">
                <a:solidFill>
                  <a:srgbClr val="FF0000"/>
                </a:solidFill>
              </a:rPr>
              <a:t>Std.Log diameter = &lt; 3 inch</a:t>
            </a:r>
          </a:p>
          <a:p>
            <a:pPr>
              <a:spcBef>
                <a:spcPct val="0"/>
              </a:spcBef>
              <a:buFontTx/>
              <a:buNone/>
            </a:pPr>
            <a:endParaRPr lang="en-US" altLang="en-US" sz="1800"/>
          </a:p>
        </p:txBody>
      </p:sp>
      <p:sp>
        <p:nvSpPr>
          <p:cNvPr id="89092" name="TextBox 21"/>
          <p:cNvSpPr txBox="1">
            <a:spLocks noChangeArrowheads="1"/>
          </p:cNvSpPr>
          <p:nvPr/>
        </p:nvSpPr>
        <p:spPr bwMode="auto">
          <a:xfrm>
            <a:off x="0" y="188913"/>
            <a:ext cx="9144000"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800" b="1">
                <a:solidFill>
                  <a:srgbClr val="FF0000"/>
                </a:solidFill>
              </a:rPr>
              <a:t>Debarking Process</a:t>
            </a:r>
            <a:r>
              <a:rPr lang="en-US" altLang="en-US" sz="2800">
                <a:solidFill>
                  <a:srgbClr val="FF0000"/>
                </a:solidFill>
              </a:rPr>
              <a:t> : </a:t>
            </a:r>
            <a:r>
              <a:rPr lang="en-US" altLang="en-US" sz="2800" b="1">
                <a:solidFill>
                  <a:srgbClr val="0000CC"/>
                </a:solidFill>
              </a:rPr>
              <a:t>remove bark</a:t>
            </a:r>
          </a:p>
        </p:txBody>
      </p:sp>
      <p:pic>
        <p:nvPicPr>
          <p:cNvPr id="7" name="Picture 17" descr="IMG_1561.JPG"/>
          <p:cNvPicPr>
            <a:picLocks noChangeAspect="1"/>
          </p:cNvPicPr>
          <p:nvPr/>
        </p:nvPicPr>
        <p:blipFill>
          <a:blip r:embed="rId3" cstate="email"/>
          <a:stretch>
            <a:fillRect/>
          </a:stretch>
        </p:blipFill>
        <p:spPr>
          <a:xfrm>
            <a:off x="21535" y="3174772"/>
            <a:ext cx="3399535" cy="3181578"/>
          </a:xfrm>
          <a:prstGeom prst="rect">
            <a:avLst/>
          </a:prstGeom>
          <a:ln>
            <a:noFill/>
          </a:ln>
          <a:effectLst>
            <a:softEdge rad="112500"/>
          </a:effectLst>
        </p:spPr>
      </p:pic>
      <p:pic>
        <p:nvPicPr>
          <p:cNvPr id="8" name="Picture 8" descr="IMG_5350.JPG"/>
          <p:cNvPicPr>
            <a:picLocks noChangeAspect="1"/>
          </p:cNvPicPr>
          <p:nvPr/>
        </p:nvPicPr>
        <p:blipFill>
          <a:blip r:embed="rId4" cstate="email"/>
          <a:stretch>
            <a:fillRect/>
          </a:stretch>
        </p:blipFill>
        <p:spPr>
          <a:xfrm>
            <a:off x="4321857" y="3904515"/>
            <a:ext cx="3269114" cy="2451835"/>
          </a:xfrm>
          <a:prstGeom prst="rect">
            <a:avLst/>
          </a:prstGeom>
          <a:ln>
            <a:noFill/>
          </a:ln>
          <a:effectLst>
            <a:softEdge rad="112500"/>
          </a:effectLst>
        </p:spPr>
      </p:pic>
      <p:sp>
        <p:nvSpPr>
          <p:cNvPr id="89095" name="TextBox 8"/>
          <p:cNvSpPr txBox="1">
            <a:spLocks noChangeArrowheads="1"/>
          </p:cNvSpPr>
          <p:nvPr/>
        </p:nvSpPr>
        <p:spPr bwMode="auto">
          <a:xfrm>
            <a:off x="28575" y="2676525"/>
            <a:ext cx="22796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th-TH" sz="1600">
                <a:solidFill>
                  <a:srgbClr val="0000CC"/>
                </a:solidFill>
              </a:rPr>
              <a:t>Log diameter = &gt; 1.5 inch</a:t>
            </a:r>
            <a:endParaRPr lang="th-TH" altLang="th-TH" sz="1600">
              <a:solidFill>
                <a:srgbClr val="0000CC"/>
              </a:solidFill>
            </a:endParaRPr>
          </a:p>
        </p:txBody>
      </p:sp>
      <p:sp>
        <p:nvSpPr>
          <p:cNvPr id="89096" name="TextBox 10"/>
          <p:cNvSpPr txBox="1">
            <a:spLocks noChangeArrowheads="1"/>
          </p:cNvSpPr>
          <p:nvPr/>
        </p:nvSpPr>
        <p:spPr bwMode="auto">
          <a:xfrm rot="278125">
            <a:off x="5819775" y="1597025"/>
            <a:ext cx="176847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th-TH" sz="2800"/>
              <a:t>Super Bark</a:t>
            </a:r>
            <a:endParaRPr lang="th-TH" altLang="th-TH" sz="280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651779" y="1886860"/>
            <a:ext cx="5505576" cy="3425368"/>
          </a:xfrm>
          <a:prstGeom prst="rect">
            <a:avLst/>
          </a:prstGeom>
          <a:ln>
            <a:noFill/>
          </a:ln>
          <a:effectLst>
            <a:softEdge rad="112500"/>
          </a:effectLst>
        </p:spPr>
      </p:pic>
      <p:pic>
        <p:nvPicPr>
          <p:cNvPr id="4" name="Picture 17" descr="IMG_1561.JPG"/>
          <p:cNvPicPr>
            <a:picLocks noChangeAspect="1"/>
          </p:cNvPicPr>
          <p:nvPr/>
        </p:nvPicPr>
        <p:blipFill>
          <a:blip r:embed="rId3" cstate="email"/>
          <a:stretch>
            <a:fillRect/>
          </a:stretch>
        </p:blipFill>
        <p:spPr>
          <a:xfrm>
            <a:off x="0" y="1897521"/>
            <a:ext cx="3819238" cy="3458257"/>
          </a:xfrm>
          <a:prstGeom prst="rect">
            <a:avLst/>
          </a:prstGeom>
          <a:ln>
            <a:noFill/>
          </a:ln>
          <a:effectLst>
            <a:softEdge rad="112500"/>
          </a:effectLst>
        </p:spPr>
      </p:pic>
      <p:sp>
        <p:nvSpPr>
          <p:cNvPr id="90116" name="TextBox 4"/>
          <p:cNvSpPr txBox="1">
            <a:spLocks noChangeArrowheads="1"/>
          </p:cNvSpPr>
          <p:nvPr/>
        </p:nvSpPr>
        <p:spPr bwMode="auto">
          <a:xfrm>
            <a:off x="0" y="711200"/>
            <a:ext cx="9144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th-TH" altLang="th-TH" sz="2800" b="1"/>
              <a:t>ลักษณะภายใน </a:t>
            </a:r>
            <a:r>
              <a:rPr lang="en-US" altLang="th-TH" sz="2400" b="1"/>
              <a:t>Super barker</a:t>
            </a:r>
            <a:endParaRPr lang="th-TH" altLang="th-TH" sz="2400" b="1"/>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D7E42F0D-8F97-4C1B-91DF-63F13BD22227}" type="slidenum">
              <a:rPr lang="en-US" smtClean="0"/>
              <a:pPr>
                <a:defRPr/>
              </a:pPr>
              <a:t>41</a:t>
            </a:fld>
            <a:endParaRPr lang="en-US"/>
          </a:p>
        </p:txBody>
      </p:sp>
      <p:pic>
        <p:nvPicPr>
          <p:cNvPr id="3" name="00035.MTS">
            <a:hlinkClick r:id="" action="ppaction://media"/>
          </p:cNvPr>
          <p:cNvPicPr>
            <a:picLocks noChangeAspect="1"/>
          </p:cNvPicPr>
          <p:nvPr>
            <a:videoFile r:link="rId2"/>
            <p:extLst>
              <p:ext uri="{DAA4B4D4-6D71-4841-9C94-3DE7FCFB9230}">
                <p14:media xmlns:p14="http://schemas.microsoft.com/office/powerpoint/2010/main" r:link="rId1"/>
              </p:ext>
            </p:extLst>
          </p:nvPr>
        </p:nvPicPr>
        <p:blipFill>
          <a:blip r:embed="rId4">
            <a:extLst>
              <a:ext uri="{28A0092B-C50C-407E-A947-70E740481C1C}">
                <a14:useLocalDpi xmlns:a14="http://schemas.microsoft.com/office/drawing/2010/main" val="0"/>
              </a:ext>
            </a:extLst>
          </a:blip>
          <a:srcRect/>
          <a:stretch>
            <a:fillRect/>
          </a:stretch>
        </p:blipFill>
        <p:spPr bwMode="auto">
          <a:xfrm>
            <a:off x="368300" y="1028700"/>
            <a:ext cx="8412163" cy="476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140" name="TextBox 3"/>
          <p:cNvSpPr txBox="1">
            <a:spLocks noChangeArrowheads="1"/>
          </p:cNvSpPr>
          <p:nvPr/>
        </p:nvSpPr>
        <p:spPr bwMode="auto">
          <a:xfrm>
            <a:off x="0" y="304800"/>
            <a:ext cx="9144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th-TH" sz="2400" b="1"/>
              <a:t>Video</a:t>
            </a:r>
            <a:r>
              <a:rPr lang="th-TH" altLang="th-TH" sz="2400" b="1"/>
              <a:t> </a:t>
            </a:r>
            <a:r>
              <a:rPr lang="th-TH" altLang="th-TH" sz="2800" b="1"/>
              <a:t>การทำงาน </a:t>
            </a:r>
            <a:r>
              <a:rPr lang="en-US" altLang="th-TH" sz="2400" b="1"/>
              <a:t>Super Barker</a:t>
            </a:r>
            <a:endParaRPr lang="th-TH" altLang="th-TH" sz="2400" b="1"/>
          </a:p>
        </p:txBody>
      </p:sp>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3"/>
                    </p:tgtEl>
                  </p:cond>
                </p:stCondLst>
                <p:endSync evt="end" delay="0">
                  <p:rtn val="all"/>
                </p:endSync>
                <p:childTnLst>
                  <p:par>
                    <p:cTn id="3" fill="hold" nodeType="clickPar">
                      <p:stCondLst>
                        <p:cond delay="0"/>
                      </p:stCondLst>
                      <p:childTnLst>
                        <p:par>
                          <p:cTn id="4" fill="hold" nodeType="withGroup">
                            <p:stCondLst>
                              <p:cond delay="0"/>
                            </p:stCondLst>
                            <p:childTnLst>
                              <p:par>
                                <p:cTn id="5" presetID="2" presetClass="mediacall" presetSubtype="0" fill="hold" nodeType="clickEffect">
                                  <p:stCondLst>
                                    <p:cond delay="0"/>
                                  </p:stCondLst>
                                  <p:childTnLst>
                                    <p:cmd type="call" cmd="togglePause">
                                      <p:cBhvr>
                                        <p:cTn id="6" dur="1" fill="hold"/>
                                        <p:tgtEl>
                                          <p:spTgt spid="3"/>
                                        </p:tgtEl>
                                      </p:cBhvr>
                                    </p:cmd>
                                  </p:childTnLst>
                                </p:cTn>
                              </p:par>
                            </p:childTnLst>
                          </p:cTn>
                        </p:par>
                      </p:childTnLst>
                    </p:cTn>
                  </p:par>
                </p:childTnLst>
              </p:cTn>
              <p:nextCondLst>
                <p:cond evt="onClick" delay="0">
                  <p:tgtEl>
                    <p:spTgt spid="3"/>
                  </p:tgtEl>
                </p:cond>
              </p:nextCondLst>
            </p:seq>
            <p:video>
              <p:cMediaNode vol="80000">
                <p:cTn id="7" fill="hold" display="0">
                  <p:stCondLst>
                    <p:cond delay="indefinite"/>
                  </p:stCondLst>
                </p:cTn>
                <p:tgtEl>
                  <p:spTgt spid="3"/>
                </p:tgtEl>
              </p:cMediaNode>
            </p:video>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62"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55650" y="1268413"/>
            <a:ext cx="7632700" cy="5329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63" name="TextBox 4"/>
          <p:cNvSpPr txBox="1">
            <a:spLocks noChangeArrowheads="1"/>
          </p:cNvSpPr>
          <p:nvPr/>
        </p:nvSpPr>
        <p:spPr bwMode="auto">
          <a:xfrm>
            <a:off x="0" y="404813"/>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th-TH" altLang="th-TH" b="1">
                <a:solidFill>
                  <a:srgbClr val="000099"/>
                </a:solidFill>
              </a:rPr>
              <a:t>ตัวอย่างไม้ยูคาลิปตัสที่</a:t>
            </a:r>
            <a:r>
              <a:rPr lang="th-TH" altLang="th-TH" sz="3600" b="1">
                <a:solidFill>
                  <a:srgbClr val="000099"/>
                </a:solidFill>
              </a:rPr>
              <a:t>ผ่านการลอกเปลือกออกแล้ว</a:t>
            </a:r>
          </a:p>
        </p:txBody>
      </p:sp>
      <p:sp>
        <p:nvSpPr>
          <p:cNvPr id="92164" name="TextBox 1"/>
          <p:cNvSpPr txBox="1">
            <a:spLocks noChangeArrowheads="1"/>
          </p:cNvSpPr>
          <p:nvPr/>
        </p:nvSpPr>
        <p:spPr bwMode="auto">
          <a:xfrm>
            <a:off x="755650" y="1727200"/>
            <a:ext cx="758983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th-TH" altLang="th-TH" sz="3600" b="1">
                <a:solidFill>
                  <a:schemeClr val="bg1"/>
                </a:solidFill>
              </a:rPr>
              <a:t>ยังไม่ได้ลอกเปลือก</a:t>
            </a:r>
          </a:p>
        </p:txBody>
      </p:sp>
      <p:sp>
        <p:nvSpPr>
          <p:cNvPr id="92165" name="TextBox 2"/>
          <p:cNvSpPr txBox="1">
            <a:spLocks noChangeArrowheads="1"/>
          </p:cNvSpPr>
          <p:nvPr/>
        </p:nvSpPr>
        <p:spPr bwMode="auto">
          <a:xfrm>
            <a:off x="777875" y="5791200"/>
            <a:ext cx="75882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th-TH" altLang="th-TH" sz="3600" b="1">
                <a:solidFill>
                  <a:schemeClr val="bg1"/>
                </a:solidFill>
              </a:rPr>
              <a:t>ลอกเปลือกแล้ว</a:t>
            </a: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extBox 1"/>
          <p:cNvSpPr txBox="1">
            <a:spLocks noChangeArrowheads="1"/>
          </p:cNvSpPr>
          <p:nvPr/>
        </p:nvSpPr>
        <p:spPr bwMode="auto">
          <a:xfrm>
            <a:off x="0" y="457200"/>
            <a:ext cx="9144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th-TH" sz="3600" b="1">
                <a:solidFill>
                  <a:srgbClr val="000099"/>
                </a:solidFill>
              </a:rPr>
              <a:t>BARK</a:t>
            </a:r>
            <a:endParaRPr lang="th-TH" altLang="th-TH" sz="3600" b="1">
              <a:solidFill>
                <a:srgbClr val="000099"/>
              </a:solidFill>
            </a:endParaRPr>
          </a:p>
        </p:txBody>
      </p:sp>
      <p:pic>
        <p:nvPicPr>
          <p:cNvPr id="3" name="Picture 2"/>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25837" y="1473353"/>
            <a:ext cx="6892326" cy="4386026"/>
          </a:xfrm>
          <a:prstGeom prst="rect">
            <a:avLst/>
          </a:prstGeom>
          <a:ln>
            <a:noFill/>
          </a:ln>
          <a:effectLst>
            <a:softEdge rad="112500"/>
          </a:effectLst>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itle 1"/>
          <p:cNvSpPr>
            <a:spLocks noGrp="1"/>
          </p:cNvSpPr>
          <p:nvPr>
            <p:ph type="title"/>
          </p:nvPr>
        </p:nvSpPr>
        <p:spPr>
          <a:xfrm>
            <a:off x="457200" y="-17463"/>
            <a:ext cx="8229600" cy="1143001"/>
          </a:xfrm>
        </p:spPr>
        <p:txBody>
          <a:bodyPr/>
          <a:lstStyle/>
          <a:p>
            <a:pPr eaLnBrk="1" hangingPunct="1"/>
            <a:r>
              <a:rPr lang="en-US" altLang="en-US" sz="3200" smtClean="0">
                <a:latin typeface="Tahoma" panose="020B0604030504040204" pitchFamily="34" charset="0"/>
                <a:cs typeface="Tahoma" panose="020B0604030504040204" pitchFamily="34" charset="0"/>
              </a:rPr>
              <a:t>3. Wood and chip handling </a:t>
            </a:r>
          </a:p>
        </p:txBody>
      </p:sp>
      <p:pic>
        <p:nvPicPr>
          <p:cNvPr id="9421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875" y="1470025"/>
            <a:ext cx="9001125" cy="392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ounded Rectangular Callout 6"/>
          <p:cNvSpPr/>
          <p:nvPr/>
        </p:nvSpPr>
        <p:spPr bwMode="auto">
          <a:xfrm>
            <a:off x="1071563" y="1984375"/>
            <a:ext cx="1143000" cy="285750"/>
          </a:xfrm>
          <a:prstGeom prst="wedgeRoundRectCallout">
            <a:avLst>
              <a:gd name="adj1" fmla="val -35278"/>
              <a:gd name="adj2" fmla="val 67933"/>
              <a:gd name="adj3" fmla="val 16667"/>
            </a:avLst>
          </a:prstGeom>
          <a:solidFill>
            <a:schemeClr val="accent1">
              <a:lumMod val="40000"/>
              <a:lumOff val="60000"/>
            </a:schemeClr>
          </a:solidFill>
          <a:ln w="19050" cap="sq" cmpd="sng" algn="ctr">
            <a:solidFill>
              <a:schemeClr val="bg1"/>
            </a:solidFill>
            <a:prstDash val="solid"/>
            <a:round/>
            <a:headEnd type="none" w="sm" len="sm"/>
            <a:tailEnd type="none" w="sm" len="sm"/>
          </a:ln>
          <a:effectLst/>
        </p:spPr>
        <p:txBody>
          <a:bodyPr wrap="none"/>
          <a:lstStyle/>
          <a:p>
            <a:pPr algn="ctr">
              <a:defRPr/>
            </a:pPr>
            <a:r>
              <a:rPr lang="en-US" sz="1200" b="1" dirty="0">
                <a:solidFill>
                  <a:srgbClr val="800000"/>
                </a:solidFill>
                <a:latin typeface="Arial" pitchFamily="34" charset="0"/>
                <a:cs typeface="Arial" pitchFamily="34" charset="0"/>
              </a:rPr>
              <a:t>Logs feeding</a:t>
            </a:r>
            <a:endParaRPr lang="th-TH" sz="1200" b="1" dirty="0">
              <a:solidFill>
                <a:srgbClr val="800000"/>
              </a:solidFill>
              <a:latin typeface="Arial" pitchFamily="34" charset="0"/>
              <a:cs typeface="Tahoma" pitchFamily="34" charset="0"/>
            </a:endParaRPr>
          </a:p>
        </p:txBody>
      </p:sp>
      <p:sp>
        <p:nvSpPr>
          <p:cNvPr id="8" name="Rounded Rectangular Callout 7"/>
          <p:cNvSpPr/>
          <p:nvPr/>
        </p:nvSpPr>
        <p:spPr bwMode="auto">
          <a:xfrm>
            <a:off x="3286125" y="1841500"/>
            <a:ext cx="1143000" cy="428625"/>
          </a:xfrm>
          <a:prstGeom prst="wedgeRoundRectCallout">
            <a:avLst>
              <a:gd name="adj1" fmla="val -34167"/>
              <a:gd name="adj2" fmla="val 75552"/>
              <a:gd name="adj3" fmla="val 16667"/>
            </a:avLst>
          </a:prstGeom>
          <a:solidFill>
            <a:schemeClr val="accent1">
              <a:lumMod val="40000"/>
              <a:lumOff val="60000"/>
            </a:schemeClr>
          </a:solidFill>
          <a:ln w="19050" cap="sq" cmpd="sng" algn="ctr">
            <a:solidFill>
              <a:schemeClr val="bg1"/>
            </a:solidFill>
            <a:prstDash val="solid"/>
            <a:round/>
            <a:headEnd type="none" w="sm" len="sm"/>
            <a:tailEnd type="none" w="sm" len="sm"/>
          </a:ln>
          <a:effectLst/>
        </p:spPr>
        <p:txBody>
          <a:bodyPr wrap="none" anchor="ctr"/>
          <a:lstStyle/>
          <a:p>
            <a:pPr algn="ctr">
              <a:defRPr/>
            </a:pPr>
            <a:r>
              <a:rPr lang="en-US" sz="1200" b="1" dirty="0">
                <a:solidFill>
                  <a:srgbClr val="800000"/>
                </a:solidFill>
                <a:latin typeface="Arial" pitchFamily="34" charset="0"/>
                <a:cs typeface="Arial" pitchFamily="34" charset="0"/>
              </a:rPr>
              <a:t>Debarking </a:t>
            </a:r>
          </a:p>
          <a:p>
            <a:pPr algn="ctr">
              <a:defRPr/>
            </a:pPr>
            <a:r>
              <a:rPr lang="en-US" sz="1200" b="1" dirty="0">
                <a:solidFill>
                  <a:srgbClr val="800000"/>
                </a:solidFill>
                <a:latin typeface="Arial" pitchFamily="34" charset="0"/>
                <a:cs typeface="Arial" pitchFamily="34" charset="0"/>
              </a:rPr>
              <a:t>process</a:t>
            </a:r>
            <a:endParaRPr lang="th-TH" sz="1200" b="1" dirty="0">
              <a:solidFill>
                <a:srgbClr val="800000"/>
              </a:solidFill>
              <a:latin typeface="Arial" pitchFamily="34" charset="0"/>
              <a:cs typeface="Tahoma" pitchFamily="34" charset="0"/>
            </a:endParaRPr>
          </a:p>
        </p:txBody>
      </p:sp>
      <p:sp>
        <p:nvSpPr>
          <p:cNvPr id="9" name="Rounded Rectangular Callout 8"/>
          <p:cNvSpPr/>
          <p:nvPr/>
        </p:nvSpPr>
        <p:spPr bwMode="auto">
          <a:xfrm>
            <a:off x="5500688" y="1912938"/>
            <a:ext cx="1428750" cy="347662"/>
          </a:xfrm>
          <a:prstGeom prst="wedgeRoundRectCallout">
            <a:avLst>
              <a:gd name="adj1" fmla="val 23611"/>
              <a:gd name="adj2" fmla="val 83171"/>
              <a:gd name="adj3" fmla="val 16667"/>
            </a:avLst>
          </a:prstGeom>
          <a:solidFill>
            <a:schemeClr val="accent1">
              <a:lumMod val="40000"/>
              <a:lumOff val="60000"/>
            </a:schemeClr>
          </a:solidFill>
          <a:ln w="19050" cap="sq" cmpd="sng" algn="ctr">
            <a:solidFill>
              <a:schemeClr val="bg1"/>
            </a:solidFill>
            <a:prstDash val="solid"/>
            <a:round/>
            <a:headEnd type="none" w="sm" len="sm"/>
            <a:tailEnd type="none" w="sm" len="sm"/>
          </a:ln>
          <a:effectLst/>
        </p:spPr>
        <p:txBody>
          <a:bodyPr wrap="none" anchor="ctr"/>
          <a:lstStyle/>
          <a:p>
            <a:pPr algn="ctr">
              <a:defRPr/>
            </a:pPr>
            <a:r>
              <a:rPr lang="en-US" sz="1200" b="1" dirty="0">
                <a:solidFill>
                  <a:srgbClr val="800000"/>
                </a:solidFill>
                <a:latin typeface="Arial" pitchFamily="34" charset="0"/>
                <a:cs typeface="Arial" pitchFamily="34" charset="0"/>
              </a:rPr>
              <a:t>Chips classifying</a:t>
            </a:r>
            <a:endParaRPr lang="th-TH" sz="1200" b="1" dirty="0">
              <a:solidFill>
                <a:srgbClr val="800000"/>
              </a:solidFill>
              <a:latin typeface="Arial" pitchFamily="34" charset="0"/>
              <a:cs typeface="Tahoma" pitchFamily="34" charset="0"/>
            </a:endParaRPr>
          </a:p>
        </p:txBody>
      </p:sp>
      <p:sp>
        <p:nvSpPr>
          <p:cNvPr id="10" name="Rounded Rectangular Callout 9"/>
          <p:cNvSpPr/>
          <p:nvPr/>
        </p:nvSpPr>
        <p:spPr bwMode="auto">
          <a:xfrm>
            <a:off x="3983038" y="3663950"/>
            <a:ext cx="1143000" cy="500063"/>
          </a:xfrm>
          <a:prstGeom prst="wedgeRoundRectCallout">
            <a:avLst>
              <a:gd name="adj1" fmla="val 34722"/>
              <a:gd name="adj2" fmla="val -94606"/>
              <a:gd name="adj3" fmla="val 16667"/>
            </a:avLst>
          </a:prstGeom>
          <a:solidFill>
            <a:schemeClr val="accent1">
              <a:lumMod val="40000"/>
              <a:lumOff val="60000"/>
            </a:schemeClr>
          </a:solidFill>
          <a:ln w="19050" cap="sq" cmpd="sng" algn="ctr">
            <a:solidFill>
              <a:schemeClr val="bg1"/>
            </a:solidFill>
            <a:prstDash val="solid"/>
            <a:round/>
            <a:headEnd type="none" w="sm" len="sm"/>
            <a:tailEnd type="none" w="sm" len="sm"/>
          </a:ln>
          <a:effectLst/>
        </p:spPr>
        <p:txBody>
          <a:bodyPr wrap="none" anchor="ctr"/>
          <a:lstStyle/>
          <a:p>
            <a:pPr algn="ctr">
              <a:defRPr/>
            </a:pPr>
            <a:r>
              <a:rPr lang="en-US" sz="1200" b="1" dirty="0">
                <a:solidFill>
                  <a:srgbClr val="800000"/>
                </a:solidFill>
                <a:latin typeface="Arial" pitchFamily="34" charset="0"/>
                <a:cs typeface="Arial" pitchFamily="34" charset="0"/>
              </a:rPr>
              <a:t>Chipping </a:t>
            </a:r>
          </a:p>
          <a:p>
            <a:pPr algn="ctr">
              <a:defRPr/>
            </a:pPr>
            <a:r>
              <a:rPr lang="en-US" sz="1200" b="1" dirty="0">
                <a:solidFill>
                  <a:srgbClr val="800000"/>
                </a:solidFill>
                <a:latin typeface="Arial" pitchFamily="34" charset="0"/>
                <a:cs typeface="Arial" pitchFamily="34" charset="0"/>
              </a:rPr>
              <a:t>process</a:t>
            </a:r>
            <a:endParaRPr lang="th-TH" sz="1200" b="1" dirty="0">
              <a:solidFill>
                <a:srgbClr val="800000"/>
              </a:solidFill>
              <a:latin typeface="Arial" pitchFamily="34" charset="0"/>
              <a:cs typeface="Tahoma" pitchFamily="34" charset="0"/>
            </a:endParaRPr>
          </a:p>
        </p:txBody>
      </p:sp>
      <p:sp>
        <p:nvSpPr>
          <p:cNvPr id="11" name="Rounded Rectangular Callout 10"/>
          <p:cNvSpPr/>
          <p:nvPr/>
        </p:nvSpPr>
        <p:spPr bwMode="auto">
          <a:xfrm>
            <a:off x="2928938" y="4332288"/>
            <a:ext cx="1143000" cy="438150"/>
          </a:xfrm>
          <a:prstGeom prst="wedgeRoundRectCallout">
            <a:avLst>
              <a:gd name="adj1" fmla="val -65277"/>
              <a:gd name="adj2" fmla="val -28575"/>
              <a:gd name="adj3" fmla="val 16667"/>
            </a:avLst>
          </a:prstGeom>
          <a:solidFill>
            <a:schemeClr val="accent1">
              <a:lumMod val="40000"/>
              <a:lumOff val="60000"/>
            </a:schemeClr>
          </a:solidFill>
          <a:ln w="19050" cap="sq" cmpd="sng" algn="ctr">
            <a:solidFill>
              <a:schemeClr val="bg1"/>
            </a:solidFill>
            <a:prstDash val="solid"/>
            <a:round/>
            <a:headEnd type="none" w="sm" len="sm"/>
            <a:tailEnd type="none" w="sm" len="sm"/>
          </a:ln>
          <a:effectLst/>
        </p:spPr>
        <p:txBody>
          <a:bodyPr wrap="none" anchor="ctr"/>
          <a:lstStyle/>
          <a:p>
            <a:pPr algn="ctr">
              <a:defRPr/>
            </a:pPr>
            <a:r>
              <a:rPr lang="en-US" sz="1200" b="1" dirty="0">
                <a:solidFill>
                  <a:srgbClr val="800000"/>
                </a:solidFill>
                <a:latin typeface="Arial" pitchFamily="34" charset="0"/>
                <a:cs typeface="Arial" pitchFamily="34" charset="0"/>
              </a:rPr>
              <a:t>Barks </a:t>
            </a:r>
          </a:p>
          <a:p>
            <a:pPr algn="ctr">
              <a:defRPr/>
            </a:pPr>
            <a:r>
              <a:rPr lang="en-US" sz="1200" b="1" dirty="0">
                <a:solidFill>
                  <a:srgbClr val="800000"/>
                </a:solidFill>
                <a:latin typeface="Arial" pitchFamily="34" charset="0"/>
                <a:cs typeface="Arial" pitchFamily="34" charset="0"/>
              </a:rPr>
              <a:t>shredding</a:t>
            </a:r>
            <a:endParaRPr lang="th-TH" sz="1200" b="1" dirty="0">
              <a:solidFill>
                <a:srgbClr val="800000"/>
              </a:solidFill>
              <a:latin typeface="Arial" pitchFamily="34" charset="0"/>
              <a:cs typeface="Tahoma" pitchFamily="34" charset="0"/>
            </a:endParaRPr>
          </a:p>
        </p:txBody>
      </p:sp>
      <p:sp>
        <p:nvSpPr>
          <p:cNvPr id="94217" name="Rounded Rectangular Callout 167"/>
          <p:cNvSpPr>
            <a:spLocks noChangeArrowheads="1"/>
          </p:cNvSpPr>
          <p:nvPr/>
        </p:nvSpPr>
        <p:spPr bwMode="auto">
          <a:xfrm>
            <a:off x="7535863" y="4056063"/>
            <a:ext cx="1500187" cy="366712"/>
          </a:xfrm>
          <a:prstGeom prst="wedgeRoundRectCallout">
            <a:avLst>
              <a:gd name="adj1" fmla="val 34722"/>
              <a:gd name="adj2" fmla="val -94606"/>
              <a:gd name="adj3"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cap="sq" algn="ctr">
                <a:solidFill>
                  <a:srgbClr val="000000"/>
                </a:solidFill>
                <a:round/>
                <a:headEnd type="none" w="sm" len="sm"/>
                <a:tailEnd type="none" w="sm" len="sm"/>
              </a14:hiddenLine>
            </a:ext>
          </a:extLst>
        </p:spPr>
        <p:txBody>
          <a:bodyPr wrap="none"/>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400" b="1">
                <a:solidFill>
                  <a:srgbClr val="800000"/>
                </a:solidFill>
                <a:latin typeface="Arial" panose="020B0604020202020204" pitchFamily="34" charset="0"/>
                <a:cs typeface="Arial" panose="020B0604020202020204" pitchFamily="34" charset="0"/>
              </a:rPr>
              <a:t>Chip storage</a:t>
            </a:r>
            <a:endParaRPr lang="th-TH" altLang="en-US" sz="1400" b="1">
              <a:solidFill>
                <a:srgbClr val="800000"/>
              </a:solidFill>
              <a:latin typeface="Arial" panose="020B0604020202020204" pitchFamily="34" charset="0"/>
              <a:cs typeface="Tahoma" panose="020B0604030504040204" pitchFamily="34" charset="0"/>
            </a:endParaRPr>
          </a:p>
        </p:txBody>
      </p:sp>
      <p:sp>
        <p:nvSpPr>
          <p:cNvPr id="94218" name="Rectangle 169"/>
          <p:cNvSpPr>
            <a:spLocks noChangeArrowheads="1"/>
          </p:cNvSpPr>
          <p:nvPr/>
        </p:nvSpPr>
        <p:spPr bwMode="auto">
          <a:xfrm>
            <a:off x="5857875" y="2413000"/>
            <a:ext cx="1428750" cy="1214438"/>
          </a:xfrm>
          <a:prstGeom prst="rect">
            <a:avLst/>
          </a:prstGeom>
          <a:noFill/>
          <a:ln w="38100" cap="sq" algn="ctr">
            <a:solidFill>
              <a:srgbClr val="008000"/>
            </a:solidFill>
            <a:prstDash val="sysDash"/>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th-TH" altLang="en-US" sz="1800">
              <a:cs typeface="Angsana New" panose="02020603050405020304" pitchFamily="18" charset="-34"/>
            </a:endParaRPr>
          </a:p>
        </p:txBody>
      </p:sp>
      <p:sp>
        <p:nvSpPr>
          <p:cNvPr id="94219" name="Rectangle 170"/>
          <p:cNvSpPr>
            <a:spLocks noChangeArrowheads="1"/>
          </p:cNvSpPr>
          <p:nvPr/>
        </p:nvSpPr>
        <p:spPr bwMode="auto">
          <a:xfrm>
            <a:off x="1928813" y="2341563"/>
            <a:ext cx="1643062" cy="1500187"/>
          </a:xfrm>
          <a:prstGeom prst="rect">
            <a:avLst/>
          </a:prstGeom>
          <a:noFill/>
          <a:ln w="38100" cap="sq" algn="ctr">
            <a:solidFill>
              <a:srgbClr val="008000"/>
            </a:solidFill>
            <a:prstDash val="sysDash"/>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th-TH" altLang="en-US" sz="1800">
              <a:cs typeface="Angsana New" panose="02020603050405020304" pitchFamily="18" charset="-34"/>
            </a:endParaRPr>
          </a:p>
        </p:txBody>
      </p:sp>
      <p:sp>
        <p:nvSpPr>
          <p:cNvPr id="94220" name="Rectangle 171"/>
          <p:cNvSpPr>
            <a:spLocks noChangeArrowheads="1"/>
          </p:cNvSpPr>
          <p:nvPr/>
        </p:nvSpPr>
        <p:spPr bwMode="auto">
          <a:xfrm>
            <a:off x="4214813" y="2627313"/>
            <a:ext cx="1357312" cy="785812"/>
          </a:xfrm>
          <a:prstGeom prst="rect">
            <a:avLst/>
          </a:prstGeom>
          <a:noFill/>
          <a:ln w="38100" cap="sq" algn="ctr">
            <a:solidFill>
              <a:srgbClr val="008000"/>
            </a:solidFill>
            <a:prstDash val="sysDash"/>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th-TH" altLang="en-US" sz="1800">
              <a:cs typeface="Angsana New" panose="02020603050405020304" pitchFamily="18" charset="-34"/>
            </a:endParaRPr>
          </a:p>
        </p:txBody>
      </p:sp>
      <p:sp>
        <p:nvSpPr>
          <p:cNvPr id="94221" name="Rectangle 172"/>
          <p:cNvSpPr>
            <a:spLocks noChangeArrowheads="1"/>
          </p:cNvSpPr>
          <p:nvPr/>
        </p:nvSpPr>
        <p:spPr bwMode="auto">
          <a:xfrm>
            <a:off x="285750" y="2341563"/>
            <a:ext cx="1500188" cy="1000125"/>
          </a:xfrm>
          <a:prstGeom prst="rect">
            <a:avLst/>
          </a:prstGeom>
          <a:noFill/>
          <a:ln w="38100" cap="sq" algn="ctr">
            <a:solidFill>
              <a:srgbClr val="008000"/>
            </a:solidFill>
            <a:prstDash val="sysDash"/>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th-TH" altLang="en-US" sz="1800">
              <a:cs typeface="Angsana New" panose="02020603050405020304" pitchFamily="18" charset="-34"/>
            </a:endParaRPr>
          </a:p>
        </p:txBody>
      </p:sp>
      <p:sp>
        <p:nvSpPr>
          <p:cNvPr id="94222" name="Rectangle 173"/>
          <p:cNvSpPr>
            <a:spLocks noChangeArrowheads="1"/>
          </p:cNvSpPr>
          <p:nvPr/>
        </p:nvSpPr>
        <p:spPr bwMode="auto">
          <a:xfrm>
            <a:off x="1214438" y="3913188"/>
            <a:ext cx="1500187" cy="785812"/>
          </a:xfrm>
          <a:prstGeom prst="rect">
            <a:avLst/>
          </a:prstGeom>
          <a:noFill/>
          <a:ln w="38100" cap="sq" algn="ctr">
            <a:solidFill>
              <a:srgbClr val="008000"/>
            </a:solidFill>
            <a:prstDash val="sysDash"/>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th-TH" altLang="en-US" sz="1800">
              <a:cs typeface="Angsana New" panose="02020603050405020304" pitchFamily="18" charset="-34"/>
            </a:endParaRPr>
          </a:p>
        </p:txBody>
      </p:sp>
      <p:sp>
        <p:nvSpPr>
          <p:cNvPr id="94223" name="TextBox 1"/>
          <p:cNvSpPr txBox="1">
            <a:spLocks noChangeArrowheads="1"/>
          </p:cNvSpPr>
          <p:nvPr/>
        </p:nvSpPr>
        <p:spPr bwMode="auto">
          <a:xfrm>
            <a:off x="-36513" y="6100763"/>
            <a:ext cx="2416176"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a:t>Credit: Weerachai Seachao</a:t>
            </a:r>
          </a:p>
        </p:txBody>
      </p:sp>
      <p:sp>
        <p:nvSpPr>
          <p:cNvPr id="16" name="Rectangle 15"/>
          <p:cNvSpPr/>
          <p:nvPr/>
        </p:nvSpPr>
        <p:spPr>
          <a:xfrm>
            <a:off x="642938" y="3846513"/>
            <a:ext cx="2135187" cy="1330325"/>
          </a:xfrm>
          <a:prstGeom prst="rect">
            <a:avLst/>
          </a:prstGeom>
          <a:noFill/>
          <a:ln w="57150">
            <a:solidFill>
              <a:srgbClr val="FF000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7" name="Rectangle 16"/>
          <p:cNvSpPr/>
          <p:nvPr/>
        </p:nvSpPr>
        <p:spPr>
          <a:xfrm>
            <a:off x="4214813" y="2190750"/>
            <a:ext cx="1508125" cy="1393825"/>
          </a:xfrm>
          <a:prstGeom prst="rect">
            <a:avLst/>
          </a:prstGeom>
          <a:noFill/>
          <a:ln w="57150">
            <a:solidFill>
              <a:srgbClr val="FF000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itle 1"/>
          <p:cNvSpPr>
            <a:spLocks noGrp="1"/>
          </p:cNvSpPr>
          <p:nvPr>
            <p:ph type="title"/>
          </p:nvPr>
        </p:nvSpPr>
        <p:spPr>
          <a:xfrm>
            <a:off x="457200" y="-17463"/>
            <a:ext cx="8229600" cy="1143001"/>
          </a:xfrm>
        </p:spPr>
        <p:txBody>
          <a:bodyPr/>
          <a:lstStyle/>
          <a:p>
            <a:pPr eaLnBrk="1" hangingPunct="1"/>
            <a:r>
              <a:rPr lang="en-US" altLang="en-US" sz="3200" smtClean="0">
                <a:latin typeface="Tahoma" panose="020B0604030504040204" pitchFamily="34" charset="0"/>
                <a:cs typeface="Tahoma" panose="020B0604030504040204" pitchFamily="34" charset="0"/>
              </a:rPr>
              <a:t>3. Wood and chip handling </a:t>
            </a:r>
          </a:p>
        </p:txBody>
      </p:sp>
      <p:pic>
        <p:nvPicPr>
          <p:cNvPr id="96259"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8900" y="1516063"/>
            <a:ext cx="2389188" cy="2389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6260" name="Picture 5"/>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559050" y="1425575"/>
            <a:ext cx="3159125" cy="128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6261" name="Picture 6"/>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2771775" y="2720975"/>
            <a:ext cx="1620838" cy="135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6262" name="Picture 7"/>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3151188" y="4365625"/>
            <a:ext cx="2771775" cy="2078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6263" name="Picture 8"/>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5969000" y="4365625"/>
            <a:ext cx="3081338" cy="194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6264" name="TextBox 16"/>
          <p:cNvSpPr txBox="1">
            <a:spLocks noChangeArrowheads="1"/>
          </p:cNvSpPr>
          <p:nvPr/>
        </p:nvSpPr>
        <p:spPr bwMode="auto">
          <a:xfrm>
            <a:off x="63500" y="917575"/>
            <a:ext cx="44164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800" b="1"/>
              <a:t>Chipping Process</a:t>
            </a:r>
            <a:r>
              <a:rPr lang="en-US" altLang="en-US" sz="2800"/>
              <a:t>: Make Chip</a:t>
            </a:r>
            <a:endParaRPr lang="en-US" altLang="en-US" sz="2800" b="1"/>
          </a:p>
        </p:txBody>
      </p:sp>
      <p:sp>
        <p:nvSpPr>
          <p:cNvPr id="96265" name="TextBox 17"/>
          <p:cNvSpPr txBox="1">
            <a:spLocks noChangeArrowheads="1"/>
          </p:cNvSpPr>
          <p:nvPr/>
        </p:nvSpPr>
        <p:spPr bwMode="auto">
          <a:xfrm>
            <a:off x="5797550" y="1425575"/>
            <a:ext cx="3121025" cy="184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400" b="1"/>
              <a:t>1) Drum Chipper</a:t>
            </a:r>
          </a:p>
          <a:p>
            <a:pPr>
              <a:spcBef>
                <a:spcPct val="0"/>
              </a:spcBef>
              <a:buFontTx/>
              <a:buNone/>
            </a:pPr>
            <a:r>
              <a:rPr lang="en-US" altLang="en-US" sz="1800"/>
              <a:t>Drum rolling with a long knife </a:t>
            </a:r>
          </a:p>
          <a:p>
            <a:pPr>
              <a:spcBef>
                <a:spcPct val="0"/>
              </a:spcBef>
              <a:buFontTx/>
              <a:buNone/>
            </a:pPr>
            <a:r>
              <a:rPr lang="en-US" altLang="en-US" sz="1800"/>
              <a:t>to chop the log in to small chip </a:t>
            </a:r>
          </a:p>
          <a:p>
            <a:pPr>
              <a:spcBef>
                <a:spcPct val="0"/>
              </a:spcBef>
              <a:buFontTx/>
              <a:buNone/>
            </a:pPr>
            <a:r>
              <a:rPr lang="en-US" altLang="en-US" sz="1800"/>
              <a:t>Adv: Can handle big log, tough</a:t>
            </a:r>
          </a:p>
          <a:p>
            <a:pPr>
              <a:spcBef>
                <a:spcPct val="0"/>
              </a:spcBef>
              <a:buFontTx/>
              <a:buNone/>
            </a:pPr>
            <a:r>
              <a:rPr lang="en-US" altLang="en-US" sz="1800"/>
              <a:t>Disadv: Consume more energy,</a:t>
            </a:r>
          </a:p>
          <a:p>
            <a:pPr>
              <a:spcBef>
                <a:spcPct val="0"/>
              </a:spcBef>
              <a:buFontTx/>
              <a:buNone/>
            </a:pPr>
            <a:r>
              <a:rPr lang="en-US" altLang="en-US" sz="1800"/>
              <a:t>High maintenance cost, </a:t>
            </a:r>
          </a:p>
        </p:txBody>
      </p:sp>
      <p:sp>
        <p:nvSpPr>
          <p:cNvPr id="96266" name="TextBox 24"/>
          <p:cNvSpPr txBox="1">
            <a:spLocks noChangeArrowheads="1"/>
          </p:cNvSpPr>
          <p:nvPr/>
        </p:nvSpPr>
        <p:spPr bwMode="auto">
          <a:xfrm>
            <a:off x="63500" y="4186238"/>
            <a:ext cx="3014663" cy="2122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400" b="1"/>
              <a:t>2) Disc Chipper</a:t>
            </a:r>
          </a:p>
          <a:p>
            <a:pPr>
              <a:spcBef>
                <a:spcPct val="0"/>
              </a:spcBef>
              <a:buFontTx/>
              <a:buNone/>
            </a:pPr>
            <a:r>
              <a:rPr lang="en-US" altLang="en-US" sz="1800"/>
              <a:t>Rotating Disc with a set of shorter knives. The disc rotate to chop the log into chips</a:t>
            </a:r>
          </a:p>
          <a:p>
            <a:pPr>
              <a:spcBef>
                <a:spcPct val="0"/>
              </a:spcBef>
              <a:buFontTx/>
              <a:buNone/>
            </a:pPr>
            <a:r>
              <a:rPr lang="en-US" altLang="en-US" sz="1800"/>
              <a:t>Adv: Lower power, Lower manintenance cost</a:t>
            </a:r>
          </a:p>
          <a:p>
            <a:pPr>
              <a:spcBef>
                <a:spcPct val="0"/>
              </a:spcBef>
              <a:buFontTx/>
              <a:buNone/>
            </a:pPr>
            <a:r>
              <a:rPr lang="en-US" altLang="en-US" sz="1800"/>
              <a:t>Disadv: less tough than Drum </a:t>
            </a: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extBox 2"/>
          <p:cNvSpPr txBox="1">
            <a:spLocks noChangeArrowheads="1"/>
          </p:cNvSpPr>
          <p:nvPr/>
        </p:nvSpPr>
        <p:spPr bwMode="auto">
          <a:xfrm>
            <a:off x="0" y="188913"/>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th-TH" sz="3600" b="1">
                <a:solidFill>
                  <a:srgbClr val="000099"/>
                </a:solidFill>
              </a:rPr>
              <a:t>Metal Detector</a:t>
            </a:r>
            <a:endParaRPr lang="th-TH" altLang="th-TH" sz="3600" b="1">
              <a:solidFill>
                <a:srgbClr val="000099"/>
              </a:solidFill>
            </a:endParaRPr>
          </a:p>
        </p:txBody>
      </p:sp>
      <p:pic>
        <p:nvPicPr>
          <p:cNvPr id="98307"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00088" y="835025"/>
            <a:ext cx="7743825" cy="435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8308" name="TextBox 3"/>
          <p:cNvSpPr txBox="1">
            <a:spLocks noChangeArrowheads="1"/>
          </p:cNvSpPr>
          <p:nvPr/>
        </p:nvSpPr>
        <p:spPr bwMode="auto">
          <a:xfrm>
            <a:off x="3189288" y="5253038"/>
            <a:ext cx="22336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th-TH" sz="2800"/>
              <a:t>What is it for?</a:t>
            </a: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itle 1"/>
          <p:cNvSpPr>
            <a:spLocks noGrp="1"/>
          </p:cNvSpPr>
          <p:nvPr>
            <p:ph type="title"/>
          </p:nvPr>
        </p:nvSpPr>
        <p:spPr>
          <a:xfrm>
            <a:off x="457200" y="-17463"/>
            <a:ext cx="8229600" cy="1143001"/>
          </a:xfrm>
        </p:spPr>
        <p:txBody>
          <a:bodyPr/>
          <a:lstStyle/>
          <a:p>
            <a:pPr eaLnBrk="1" hangingPunct="1"/>
            <a:r>
              <a:rPr lang="en-US" altLang="en-US" sz="3200" smtClean="0">
                <a:latin typeface="Tahoma" panose="020B0604030504040204" pitchFamily="34" charset="0"/>
                <a:cs typeface="Tahoma" panose="020B0604030504040204" pitchFamily="34" charset="0"/>
              </a:rPr>
              <a:t>3. Wood and chip handling </a:t>
            </a:r>
          </a:p>
        </p:txBody>
      </p:sp>
      <p:sp>
        <p:nvSpPr>
          <p:cNvPr id="99331" name="TextBox 16"/>
          <p:cNvSpPr txBox="1">
            <a:spLocks noChangeArrowheads="1"/>
          </p:cNvSpPr>
          <p:nvPr/>
        </p:nvSpPr>
        <p:spPr bwMode="auto">
          <a:xfrm>
            <a:off x="63500" y="917575"/>
            <a:ext cx="39925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800" b="1"/>
              <a:t>Bark Handling</a:t>
            </a:r>
            <a:r>
              <a:rPr lang="en-US" altLang="en-US" sz="2800"/>
              <a:t>: Make bark</a:t>
            </a:r>
            <a:endParaRPr lang="en-US" altLang="en-US" sz="2800" b="1"/>
          </a:p>
        </p:txBody>
      </p:sp>
      <p:sp>
        <p:nvSpPr>
          <p:cNvPr id="99332" name="TextBox 17"/>
          <p:cNvSpPr txBox="1">
            <a:spLocks noChangeArrowheads="1"/>
          </p:cNvSpPr>
          <p:nvPr/>
        </p:nvSpPr>
        <p:spPr bwMode="auto">
          <a:xfrm>
            <a:off x="825500" y="5397500"/>
            <a:ext cx="79644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400" b="1"/>
              <a:t>Bark Shredder: </a:t>
            </a:r>
            <a:r>
              <a:rPr lang="en-US" altLang="en-US" sz="2400"/>
              <a:t>use drum chipper to make bark size smaller</a:t>
            </a:r>
          </a:p>
        </p:txBody>
      </p:sp>
      <p:pic>
        <p:nvPicPr>
          <p:cNvPr id="2" name="Bark Shredder.mp4">
            <a:hlinkClick r:id="" action="ppaction://media"/>
          </p:cNvPr>
          <p:cNvPicPr>
            <a:picLocks noChangeAspect="1"/>
          </p:cNvPicPr>
          <p:nvPr>
            <a:videoFile r:link="rId2"/>
            <p:extLst>
              <p:ext uri="{DAA4B4D4-6D71-4841-9C94-3DE7FCFB9230}">
                <p14:media xmlns:p14="http://schemas.microsoft.com/office/powerpoint/2010/main" r:link="rId1"/>
              </p:ext>
            </p:extLst>
          </p:nvPr>
        </p:nvPicPr>
        <p:blipFill>
          <a:blip r:embed="rId5">
            <a:extLst>
              <a:ext uri="{28A0092B-C50C-407E-A947-70E740481C1C}">
                <a14:useLocalDpi xmlns:a14="http://schemas.microsoft.com/office/drawing/2010/main" val="0"/>
              </a:ext>
            </a:extLst>
          </a:blip>
          <a:srcRect/>
          <a:stretch>
            <a:fillRect/>
          </a:stretch>
        </p:blipFill>
        <p:spPr bwMode="auto">
          <a:xfrm>
            <a:off x="1244600" y="1493838"/>
            <a:ext cx="6780213" cy="3767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nodeType="clickPar">
                      <p:stCondLst>
                        <p:cond delay="0"/>
                      </p:stCondLst>
                      <p:childTnLst>
                        <p:par>
                          <p:cTn id="4" fill="hold" nodeType="withGroup">
                            <p:stCondLst>
                              <p:cond delay="0"/>
                            </p:stCondLst>
                            <p:childTnLst>
                              <p:par>
                                <p:cTn id="5" presetID="2" presetClass="mediacall" presetSubtype="0" fill="hold" nodeType="clickEffect">
                                  <p:stCondLst>
                                    <p:cond delay="0"/>
                                  </p:stCondLst>
                                  <p:childTnLst>
                                    <p:cmd type="call" cmd="togglePause">
                                      <p:cBhvr>
                                        <p:cTn id="6" dur="1" fill="hold"/>
                                        <p:tgtEl>
                                          <p:spTgt spid="2"/>
                                        </p:tgtEl>
                                      </p:cBhvr>
                                    </p:cmd>
                                  </p:childTnLst>
                                </p:cTn>
                              </p:par>
                            </p:childTnLst>
                          </p:cTn>
                        </p:par>
                      </p:childTnLst>
                    </p:cTn>
                  </p:par>
                </p:childTnLst>
              </p:cTn>
              <p:nextCondLst>
                <p:cond evt="onClick" delay="0">
                  <p:tgtEl>
                    <p:spTgt spid="2"/>
                  </p:tgtEl>
                </p:cond>
              </p:nextCondLst>
            </p:seq>
            <p:video>
              <p:cMediaNode vol="80000">
                <p:cTn id="7" fill="hold" display="0">
                  <p:stCondLst>
                    <p:cond delay="indefinite"/>
                  </p:stCondLst>
                </p:cTn>
                <p:tgtEl>
                  <p:spTgt spid="2"/>
                </p:tgtEl>
              </p:cMediaNode>
            </p:video>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AutoShape 3"/>
          <p:cNvSpPr>
            <a:spLocks noChangeArrowheads="1"/>
          </p:cNvSpPr>
          <p:nvPr/>
        </p:nvSpPr>
        <p:spPr bwMode="auto">
          <a:xfrm>
            <a:off x="5641975" y="3857625"/>
            <a:ext cx="2530475" cy="2667000"/>
          </a:xfrm>
          <a:prstGeom prst="roundRect">
            <a:avLst>
              <a:gd name="adj" fmla="val 16667"/>
            </a:avLst>
          </a:prstGeom>
          <a:solidFill>
            <a:schemeClr val="bg1"/>
          </a:solidFill>
          <a:ln w="381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th-TH" altLang="th-TH" sz="1800">
              <a:latin typeface="Verdana" panose="020B0604030504040204" pitchFamily="34" charset="0"/>
            </a:endParaRPr>
          </a:p>
        </p:txBody>
      </p:sp>
      <p:pic>
        <p:nvPicPr>
          <p:cNvPr id="2" name="Picture 25" descr="Photo_0015"/>
          <p:cNvPicPr>
            <a:picLocks noChangeAspect="1" noChangeArrowheads="1"/>
          </p:cNvPicPr>
          <p:nvPr/>
        </p:nvPicPr>
        <p:blipFill>
          <a:blip r:embed="rId2" cstate="print"/>
          <a:srcRect/>
          <a:stretch>
            <a:fillRect/>
          </a:stretch>
        </p:blipFill>
        <p:spPr bwMode="auto">
          <a:xfrm>
            <a:off x="0" y="1596860"/>
            <a:ext cx="3080697" cy="2260765"/>
          </a:xfrm>
          <a:prstGeom prst="rect">
            <a:avLst/>
          </a:prstGeom>
          <a:ln>
            <a:noFill/>
          </a:ln>
          <a:effectLst>
            <a:softEdge rad="112500"/>
          </a:effectLst>
        </p:spPr>
      </p:pic>
      <p:pic>
        <p:nvPicPr>
          <p:cNvPr id="3" name="Picture 26" descr="Photo_0012"/>
          <p:cNvPicPr>
            <a:picLocks noChangeAspect="1" noChangeArrowheads="1"/>
          </p:cNvPicPr>
          <p:nvPr/>
        </p:nvPicPr>
        <p:blipFill>
          <a:blip r:embed="rId3" cstate="print">
            <a:lum bright="12000"/>
          </a:blip>
          <a:srcRect/>
          <a:stretch>
            <a:fillRect/>
          </a:stretch>
        </p:blipFill>
        <p:spPr bwMode="auto">
          <a:xfrm>
            <a:off x="6014092" y="1596860"/>
            <a:ext cx="3158514" cy="2206705"/>
          </a:xfrm>
          <a:prstGeom prst="rect">
            <a:avLst/>
          </a:prstGeom>
          <a:ln>
            <a:noFill/>
          </a:ln>
          <a:effectLst>
            <a:softEdge rad="112500"/>
          </a:effectLst>
        </p:spPr>
      </p:pic>
      <p:grpSp>
        <p:nvGrpSpPr>
          <p:cNvPr id="101381" name="Group 11"/>
          <p:cNvGrpSpPr>
            <a:grpSpLocks/>
          </p:cNvGrpSpPr>
          <p:nvPr/>
        </p:nvGrpSpPr>
        <p:grpSpPr bwMode="auto">
          <a:xfrm>
            <a:off x="3048000" y="1781175"/>
            <a:ext cx="2998788" cy="1601788"/>
            <a:chOff x="1997" y="1314"/>
            <a:chExt cx="1889" cy="1009"/>
          </a:xfrm>
        </p:grpSpPr>
        <p:grpSp>
          <p:nvGrpSpPr>
            <p:cNvPr id="101389" name="Group 12"/>
            <p:cNvGrpSpPr>
              <a:grpSpLocks/>
            </p:cNvGrpSpPr>
            <p:nvPr/>
          </p:nvGrpSpPr>
          <p:grpSpPr bwMode="auto">
            <a:xfrm>
              <a:off x="1997" y="1404"/>
              <a:ext cx="1889" cy="919"/>
              <a:chOff x="1973" y="1027"/>
              <a:chExt cx="1926" cy="937"/>
            </a:xfrm>
          </p:grpSpPr>
          <p:sp>
            <p:nvSpPr>
              <p:cNvPr id="10" name="Oval 13"/>
              <p:cNvSpPr>
                <a:spLocks noChangeArrowheads="1"/>
              </p:cNvSpPr>
              <p:nvPr/>
            </p:nvSpPr>
            <p:spPr bwMode="gray">
              <a:xfrm>
                <a:off x="1994" y="1057"/>
                <a:ext cx="1905" cy="907"/>
              </a:xfrm>
              <a:prstGeom prst="ellipse">
                <a:avLst/>
              </a:prstGeom>
              <a:gradFill rotWithShape="1">
                <a:gsLst>
                  <a:gs pos="0">
                    <a:schemeClr val="hlink"/>
                  </a:gs>
                  <a:gs pos="100000">
                    <a:schemeClr val="hlink">
                      <a:gamma/>
                      <a:shade val="48627"/>
                      <a:invGamma/>
                    </a:schemeClr>
                  </a:gs>
                </a:gsLst>
                <a:lin ang="2700000" scaled="1"/>
              </a:gradFill>
              <a:ln w="9525">
                <a:noFill/>
                <a:round/>
                <a:headEnd/>
                <a:tailEnd/>
              </a:ln>
              <a:effectLst/>
            </p:spPr>
            <p:txBody>
              <a:bodyPr wrap="none" anchor="ctr"/>
              <a:lstStyle/>
              <a:p>
                <a:pPr>
                  <a:defRPr/>
                </a:pPr>
                <a:endParaRPr lang="th-TH"/>
              </a:p>
            </p:txBody>
          </p:sp>
          <p:sp>
            <p:nvSpPr>
              <p:cNvPr id="11" name="Oval 14"/>
              <p:cNvSpPr>
                <a:spLocks noChangeArrowheads="1"/>
              </p:cNvSpPr>
              <p:nvPr/>
            </p:nvSpPr>
            <p:spPr bwMode="gray">
              <a:xfrm>
                <a:off x="1973" y="1027"/>
                <a:ext cx="1905" cy="907"/>
              </a:xfrm>
              <a:prstGeom prst="ellipse">
                <a:avLst/>
              </a:prstGeom>
              <a:gradFill rotWithShape="1">
                <a:gsLst>
                  <a:gs pos="0">
                    <a:schemeClr val="hlink">
                      <a:gamma/>
                      <a:tint val="44314"/>
                      <a:invGamma/>
                    </a:schemeClr>
                  </a:gs>
                  <a:gs pos="100000">
                    <a:schemeClr val="hlink"/>
                  </a:gs>
                </a:gsLst>
                <a:lin ang="2700000" scaled="1"/>
              </a:gradFill>
              <a:ln w="9525">
                <a:noFill/>
                <a:round/>
                <a:headEnd/>
                <a:tailEnd/>
              </a:ln>
              <a:effectLst/>
            </p:spPr>
            <p:txBody>
              <a:bodyPr wrap="none" anchor="ctr"/>
              <a:lstStyle/>
              <a:p>
                <a:pPr>
                  <a:defRPr/>
                </a:pPr>
                <a:endParaRPr lang="th-TH"/>
              </a:p>
            </p:txBody>
          </p:sp>
        </p:grpSp>
        <p:sp>
          <p:nvSpPr>
            <p:cNvPr id="6" name="Oval 15"/>
            <p:cNvSpPr>
              <a:spLocks noChangeArrowheads="1"/>
            </p:cNvSpPr>
            <p:nvPr/>
          </p:nvSpPr>
          <p:spPr bwMode="gray">
            <a:xfrm>
              <a:off x="2086" y="1314"/>
              <a:ext cx="1691" cy="845"/>
            </a:xfrm>
            <a:prstGeom prst="ellipse">
              <a:avLst/>
            </a:prstGeom>
            <a:gradFill rotWithShape="1">
              <a:gsLst>
                <a:gs pos="0">
                  <a:schemeClr val="accent1">
                    <a:gamma/>
                    <a:shade val="46275"/>
                    <a:invGamma/>
                  </a:schemeClr>
                </a:gs>
                <a:gs pos="100000">
                  <a:schemeClr val="accent1"/>
                </a:gs>
              </a:gsLst>
              <a:lin ang="2700000" scaled="1"/>
            </a:gradFill>
            <a:ln w="9525" algn="ctr">
              <a:noFill/>
              <a:round/>
              <a:headEnd/>
              <a:tailEnd/>
            </a:ln>
            <a:effectLst/>
          </p:spPr>
          <p:txBody>
            <a:bodyPr vert="eaVert" wrap="none" anchor="ctr"/>
            <a:lstStyle/>
            <a:p>
              <a:pPr>
                <a:defRPr/>
              </a:pPr>
              <a:endParaRPr lang="th-TH"/>
            </a:p>
          </p:txBody>
        </p:sp>
        <p:sp>
          <p:nvSpPr>
            <p:cNvPr id="7" name="Oval 16"/>
            <p:cNvSpPr>
              <a:spLocks noChangeArrowheads="1"/>
            </p:cNvSpPr>
            <p:nvPr/>
          </p:nvSpPr>
          <p:spPr bwMode="gray">
            <a:xfrm>
              <a:off x="2108" y="1319"/>
              <a:ext cx="1650" cy="824"/>
            </a:xfrm>
            <a:prstGeom prst="ellipse">
              <a:avLst/>
            </a:prstGeom>
            <a:gradFill rotWithShape="1">
              <a:gsLst>
                <a:gs pos="0">
                  <a:schemeClr val="accent1">
                    <a:alpha val="0"/>
                  </a:schemeClr>
                </a:gs>
                <a:gs pos="100000">
                  <a:schemeClr val="accent1">
                    <a:gamma/>
                    <a:tint val="34902"/>
                    <a:invGamma/>
                  </a:schemeClr>
                </a:gs>
              </a:gsLst>
              <a:lin ang="2700000" scaled="1"/>
            </a:gradFill>
            <a:ln w="9525" algn="ctr">
              <a:noFill/>
              <a:round/>
              <a:headEnd/>
              <a:tailEnd/>
            </a:ln>
            <a:effectLst/>
          </p:spPr>
          <p:txBody>
            <a:bodyPr vert="eaVert" wrap="none" anchor="ctr"/>
            <a:lstStyle/>
            <a:p>
              <a:pPr>
                <a:defRPr/>
              </a:pPr>
              <a:endParaRPr lang="th-TH"/>
            </a:p>
          </p:txBody>
        </p:sp>
        <p:sp>
          <p:nvSpPr>
            <p:cNvPr id="8" name="Oval 17"/>
            <p:cNvSpPr>
              <a:spLocks noChangeArrowheads="1"/>
            </p:cNvSpPr>
            <p:nvPr/>
          </p:nvSpPr>
          <p:spPr bwMode="gray">
            <a:xfrm>
              <a:off x="2125" y="1327"/>
              <a:ext cx="1570" cy="770"/>
            </a:xfrm>
            <a:prstGeom prst="ellipse">
              <a:avLst/>
            </a:prstGeom>
            <a:gradFill rotWithShape="1">
              <a:gsLst>
                <a:gs pos="0">
                  <a:schemeClr val="accent1">
                    <a:gamma/>
                    <a:shade val="79216"/>
                    <a:invGamma/>
                  </a:schemeClr>
                </a:gs>
                <a:gs pos="100000">
                  <a:schemeClr val="accent1">
                    <a:alpha val="48000"/>
                  </a:schemeClr>
                </a:gs>
              </a:gsLst>
              <a:lin ang="2700000" scaled="1"/>
            </a:gradFill>
            <a:ln w="9525" algn="ctr">
              <a:noFill/>
              <a:round/>
              <a:headEnd/>
              <a:tailEnd/>
            </a:ln>
            <a:effectLst/>
          </p:spPr>
          <p:txBody>
            <a:bodyPr vert="eaVert" wrap="none" anchor="ctr"/>
            <a:lstStyle/>
            <a:p>
              <a:pPr>
                <a:defRPr/>
              </a:pPr>
              <a:endParaRPr lang="th-TH"/>
            </a:p>
          </p:txBody>
        </p:sp>
        <p:sp>
          <p:nvSpPr>
            <p:cNvPr id="9" name="Oval 18"/>
            <p:cNvSpPr>
              <a:spLocks noChangeArrowheads="1"/>
            </p:cNvSpPr>
            <p:nvPr/>
          </p:nvSpPr>
          <p:spPr bwMode="gray">
            <a:xfrm>
              <a:off x="2208" y="1344"/>
              <a:ext cx="1382" cy="624"/>
            </a:xfrm>
            <a:prstGeom prst="ellipse">
              <a:avLst/>
            </a:prstGeom>
            <a:gradFill rotWithShape="1">
              <a:gsLst>
                <a:gs pos="0">
                  <a:schemeClr val="accent1">
                    <a:gamma/>
                    <a:tint val="0"/>
                    <a:invGamma/>
                  </a:schemeClr>
                </a:gs>
                <a:gs pos="100000">
                  <a:schemeClr val="accent1">
                    <a:alpha val="38000"/>
                  </a:schemeClr>
                </a:gs>
              </a:gsLst>
              <a:lin ang="2700000" scaled="1"/>
            </a:gradFill>
            <a:ln w="9525" algn="ctr">
              <a:noFill/>
              <a:round/>
              <a:headEnd/>
              <a:tailEnd/>
            </a:ln>
            <a:effectLst/>
          </p:spPr>
          <p:txBody>
            <a:bodyPr vert="eaVert" wrap="none" anchor="ctr"/>
            <a:lstStyle/>
            <a:p>
              <a:pPr>
                <a:defRPr/>
              </a:pPr>
              <a:endParaRPr lang="th-TH"/>
            </a:p>
          </p:txBody>
        </p:sp>
      </p:grpSp>
      <p:sp>
        <p:nvSpPr>
          <p:cNvPr id="101382" name="Text Box 19"/>
          <p:cNvSpPr txBox="1">
            <a:spLocks noChangeArrowheads="1"/>
          </p:cNvSpPr>
          <p:nvPr/>
        </p:nvSpPr>
        <p:spPr bwMode="auto">
          <a:xfrm>
            <a:off x="3838575" y="1903413"/>
            <a:ext cx="1335088"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th-TH" sz="2400" b="1">
                <a:solidFill>
                  <a:srgbClr val="000000"/>
                </a:solidFill>
              </a:rPr>
              <a:t>Disc</a:t>
            </a:r>
          </a:p>
          <a:p>
            <a:pPr algn="ctr">
              <a:spcBef>
                <a:spcPct val="0"/>
              </a:spcBef>
              <a:buFontTx/>
              <a:buNone/>
            </a:pPr>
            <a:r>
              <a:rPr lang="en-US" altLang="th-TH" sz="2400" b="1">
                <a:solidFill>
                  <a:srgbClr val="000000"/>
                </a:solidFill>
              </a:rPr>
              <a:t>Chipper</a:t>
            </a:r>
            <a:endParaRPr lang="en-US" altLang="th-TH" sz="1400">
              <a:solidFill>
                <a:srgbClr val="000000"/>
              </a:solidFill>
            </a:endParaRPr>
          </a:p>
        </p:txBody>
      </p:sp>
      <p:sp>
        <p:nvSpPr>
          <p:cNvPr id="101383" name="Text Box 6"/>
          <p:cNvSpPr txBox="1">
            <a:spLocks noChangeArrowheads="1"/>
          </p:cNvSpPr>
          <p:nvPr/>
        </p:nvSpPr>
        <p:spPr bwMode="auto">
          <a:xfrm>
            <a:off x="860425" y="4076700"/>
            <a:ext cx="255905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th-TH" sz="2000" b="1">
                <a:solidFill>
                  <a:srgbClr val="FF0000"/>
                </a:solidFill>
              </a:rPr>
              <a:t>Disc Chipper #1</a:t>
            </a:r>
          </a:p>
          <a:p>
            <a:pPr>
              <a:spcBef>
                <a:spcPct val="0"/>
              </a:spcBef>
              <a:buFontTx/>
              <a:buChar char="-"/>
            </a:pPr>
            <a:r>
              <a:rPr lang="en-US" altLang="th-TH" sz="1600">
                <a:solidFill>
                  <a:srgbClr val="000000"/>
                </a:solidFill>
              </a:rPr>
              <a:t> Gravity Feed</a:t>
            </a:r>
          </a:p>
          <a:p>
            <a:pPr>
              <a:spcBef>
                <a:spcPct val="0"/>
              </a:spcBef>
              <a:buFontTx/>
              <a:buChar char="-"/>
            </a:pPr>
            <a:r>
              <a:rPr lang="en-US" altLang="th-TH" sz="1600">
                <a:solidFill>
                  <a:srgbClr val="000000"/>
                </a:solidFill>
              </a:rPr>
              <a:t> Manufacturer :</a:t>
            </a:r>
          </a:p>
          <a:p>
            <a:pPr>
              <a:spcBef>
                <a:spcPct val="0"/>
              </a:spcBef>
              <a:buFontTx/>
              <a:buNone/>
            </a:pPr>
            <a:r>
              <a:rPr lang="en-US" altLang="th-TH" sz="1600">
                <a:solidFill>
                  <a:srgbClr val="000000"/>
                </a:solidFill>
              </a:rPr>
              <a:t>   “Nicholson”</a:t>
            </a:r>
            <a:endParaRPr lang="en-US" altLang="th-TH" sz="1800"/>
          </a:p>
          <a:p>
            <a:pPr>
              <a:spcBef>
                <a:spcPct val="0"/>
              </a:spcBef>
              <a:buFontTx/>
              <a:buChar char="-"/>
            </a:pPr>
            <a:r>
              <a:rPr lang="en-US" altLang="th-TH" sz="1800"/>
              <a:t> </a:t>
            </a:r>
            <a:r>
              <a:rPr lang="en-US" altLang="th-TH" sz="1600"/>
              <a:t>No. of Knife  : 8 Pcs.</a:t>
            </a:r>
          </a:p>
          <a:p>
            <a:pPr>
              <a:spcBef>
                <a:spcPct val="0"/>
              </a:spcBef>
              <a:buFontTx/>
              <a:buChar char="-"/>
            </a:pPr>
            <a:r>
              <a:rPr lang="en-US" altLang="th-TH" sz="1600"/>
              <a:t> Disc RPM      : 420 rpm.</a:t>
            </a:r>
            <a:endParaRPr lang="en-US" altLang="th-TH" sz="1600">
              <a:solidFill>
                <a:srgbClr val="000000"/>
              </a:solidFill>
            </a:endParaRPr>
          </a:p>
          <a:p>
            <a:pPr>
              <a:spcBef>
                <a:spcPct val="0"/>
              </a:spcBef>
              <a:buFontTx/>
              <a:buChar char="-"/>
            </a:pPr>
            <a:r>
              <a:rPr lang="en-US" altLang="th-TH" sz="1600">
                <a:solidFill>
                  <a:srgbClr val="000000"/>
                </a:solidFill>
              </a:rPr>
              <a:t> Disc Dia.  : 2200 mm.</a:t>
            </a:r>
          </a:p>
          <a:p>
            <a:pPr>
              <a:spcBef>
                <a:spcPct val="0"/>
              </a:spcBef>
              <a:buFontTx/>
              <a:buChar char="-"/>
            </a:pPr>
            <a:r>
              <a:rPr lang="en-US" altLang="th-TH" sz="1600">
                <a:solidFill>
                  <a:srgbClr val="000000"/>
                </a:solidFill>
              </a:rPr>
              <a:t> Motor       : 2x315 kW.</a:t>
            </a:r>
          </a:p>
        </p:txBody>
      </p:sp>
      <p:sp>
        <p:nvSpPr>
          <p:cNvPr id="101384" name="Text Box 22"/>
          <p:cNvSpPr txBox="1">
            <a:spLocks noChangeArrowheads="1"/>
          </p:cNvSpPr>
          <p:nvPr/>
        </p:nvSpPr>
        <p:spPr bwMode="auto">
          <a:xfrm>
            <a:off x="5756275" y="4079875"/>
            <a:ext cx="2305050" cy="210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th-TH" sz="2000" b="1">
                <a:solidFill>
                  <a:srgbClr val="000099"/>
                </a:solidFill>
              </a:rPr>
              <a:t>Disc Chipper #2</a:t>
            </a:r>
          </a:p>
          <a:p>
            <a:pPr>
              <a:spcBef>
                <a:spcPct val="0"/>
              </a:spcBef>
              <a:buFontTx/>
              <a:buChar char="-"/>
            </a:pPr>
            <a:r>
              <a:rPr lang="en-US" altLang="th-TH" sz="1600">
                <a:solidFill>
                  <a:srgbClr val="000000"/>
                </a:solidFill>
              </a:rPr>
              <a:t> Horizontal Feed</a:t>
            </a:r>
          </a:p>
          <a:p>
            <a:pPr>
              <a:spcBef>
                <a:spcPct val="0"/>
              </a:spcBef>
              <a:buFontTx/>
              <a:buChar char="-"/>
            </a:pPr>
            <a:r>
              <a:rPr lang="en-US" altLang="th-TH" sz="1600">
                <a:solidFill>
                  <a:srgbClr val="000000"/>
                </a:solidFill>
              </a:rPr>
              <a:t> Manufacturer :</a:t>
            </a:r>
          </a:p>
          <a:p>
            <a:pPr>
              <a:spcBef>
                <a:spcPct val="0"/>
              </a:spcBef>
              <a:buFontTx/>
              <a:buNone/>
            </a:pPr>
            <a:r>
              <a:rPr lang="en-US" altLang="th-TH" sz="1600">
                <a:solidFill>
                  <a:srgbClr val="000000"/>
                </a:solidFill>
              </a:rPr>
              <a:t>   “Kone Wood”</a:t>
            </a:r>
          </a:p>
          <a:p>
            <a:pPr>
              <a:spcBef>
                <a:spcPct val="0"/>
              </a:spcBef>
              <a:buFontTx/>
              <a:buChar char="-"/>
            </a:pPr>
            <a:r>
              <a:rPr lang="en-US" altLang="th-TH" sz="1600">
                <a:solidFill>
                  <a:srgbClr val="000000"/>
                </a:solidFill>
              </a:rPr>
              <a:t> No. of Knife  : 16 Pcs.</a:t>
            </a:r>
          </a:p>
          <a:p>
            <a:pPr>
              <a:spcBef>
                <a:spcPct val="0"/>
              </a:spcBef>
              <a:buFontTx/>
              <a:buChar char="-"/>
            </a:pPr>
            <a:r>
              <a:rPr lang="en-US" altLang="th-TH" sz="1600">
                <a:solidFill>
                  <a:srgbClr val="000000"/>
                </a:solidFill>
              </a:rPr>
              <a:t> Disc RPM     400 rpm.</a:t>
            </a:r>
          </a:p>
          <a:p>
            <a:pPr>
              <a:spcBef>
                <a:spcPct val="0"/>
              </a:spcBef>
              <a:buFontTx/>
              <a:buChar char="-"/>
            </a:pPr>
            <a:r>
              <a:rPr lang="en-US" altLang="th-TH" sz="1600">
                <a:solidFill>
                  <a:srgbClr val="000000"/>
                </a:solidFill>
              </a:rPr>
              <a:t> Disc Dia.  : 2200 mm.</a:t>
            </a:r>
          </a:p>
          <a:p>
            <a:pPr>
              <a:spcBef>
                <a:spcPct val="0"/>
              </a:spcBef>
              <a:buFontTx/>
              <a:buChar char="-"/>
            </a:pPr>
            <a:r>
              <a:rPr lang="en-US" altLang="th-TH" sz="1600">
                <a:solidFill>
                  <a:srgbClr val="000000"/>
                </a:solidFill>
              </a:rPr>
              <a:t> Motor       : 770 kW.</a:t>
            </a:r>
          </a:p>
        </p:txBody>
      </p:sp>
      <p:sp>
        <p:nvSpPr>
          <p:cNvPr id="101385" name="AutoShape 5"/>
          <p:cNvSpPr>
            <a:spLocks noChangeArrowheads="1"/>
          </p:cNvSpPr>
          <p:nvPr/>
        </p:nvSpPr>
        <p:spPr bwMode="auto">
          <a:xfrm>
            <a:off x="827088" y="3857625"/>
            <a:ext cx="2528887" cy="2667000"/>
          </a:xfrm>
          <a:prstGeom prst="roundRect">
            <a:avLst>
              <a:gd name="adj" fmla="val 16667"/>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th-TH" altLang="th-TH" sz="1800">
              <a:latin typeface="Verdana" panose="020B0604030504040204" pitchFamily="34" charset="0"/>
            </a:endParaRPr>
          </a:p>
        </p:txBody>
      </p:sp>
      <p:sp>
        <p:nvSpPr>
          <p:cNvPr id="17" name="Freeform 8"/>
          <p:cNvSpPr>
            <a:spLocks/>
          </p:cNvSpPr>
          <p:nvPr/>
        </p:nvSpPr>
        <p:spPr bwMode="gray">
          <a:xfrm>
            <a:off x="3222625" y="3408363"/>
            <a:ext cx="903288" cy="1241425"/>
          </a:xfrm>
          <a:custGeom>
            <a:avLst/>
            <a:gdLst/>
            <a:ahLst/>
            <a:cxnLst>
              <a:cxn ang="0">
                <a:pos x="580" y="0"/>
              </a:cxn>
              <a:cxn ang="0">
                <a:pos x="578" y="90"/>
              </a:cxn>
              <a:cxn ang="0">
                <a:pos x="568" y="174"/>
              </a:cxn>
              <a:cxn ang="0">
                <a:pos x="552" y="252"/>
              </a:cxn>
              <a:cxn ang="0">
                <a:pos x="526" y="324"/>
              </a:cxn>
              <a:cxn ang="0">
                <a:pos x="494" y="390"/>
              </a:cxn>
              <a:cxn ang="0">
                <a:pos x="452" y="450"/>
              </a:cxn>
              <a:cxn ang="0">
                <a:pos x="402" y="508"/>
              </a:cxn>
              <a:cxn ang="0">
                <a:pos x="342" y="560"/>
              </a:cxn>
              <a:cxn ang="0">
                <a:pos x="270" y="610"/>
              </a:cxn>
              <a:cxn ang="0">
                <a:pos x="188" y="656"/>
              </a:cxn>
              <a:cxn ang="0">
                <a:pos x="188" y="798"/>
              </a:cxn>
              <a:cxn ang="0">
                <a:pos x="0" y="514"/>
              </a:cxn>
              <a:cxn ang="0">
                <a:pos x="188" y="230"/>
              </a:cxn>
              <a:cxn ang="0">
                <a:pos x="188" y="372"/>
              </a:cxn>
              <a:cxn ang="0">
                <a:pos x="224" y="368"/>
              </a:cxn>
              <a:cxn ang="0">
                <a:pos x="264" y="356"/>
              </a:cxn>
              <a:cxn ang="0">
                <a:pos x="306" y="336"/>
              </a:cxn>
              <a:cxn ang="0">
                <a:pos x="348" y="310"/>
              </a:cxn>
              <a:cxn ang="0">
                <a:pos x="392" y="280"/>
              </a:cxn>
              <a:cxn ang="0">
                <a:pos x="432" y="246"/>
              </a:cxn>
              <a:cxn ang="0">
                <a:pos x="472" y="208"/>
              </a:cxn>
              <a:cxn ang="0">
                <a:pos x="506" y="166"/>
              </a:cxn>
              <a:cxn ang="0">
                <a:pos x="536" y="124"/>
              </a:cxn>
              <a:cxn ang="0">
                <a:pos x="558" y="82"/>
              </a:cxn>
              <a:cxn ang="0">
                <a:pos x="574" y="40"/>
              </a:cxn>
              <a:cxn ang="0">
                <a:pos x="578" y="0"/>
              </a:cxn>
              <a:cxn ang="0">
                <a:pos x="580" y="0"/>
              </a:cxn>
            </a:cxnLst>
            <a:rect l="0" t="0" r="r" b="b"/>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gradFill rotWithShape="1">
            <a:gsLst>
              <a:gs pos="0">
                <a:schemeClr val="accent2"/>
              </a:gs>
              <a:gs pos="100000">
                <a:schemeClr val="accent2">
                  <a:gamma/>
                  <a:tint val="63529"/>
                  <a:invGamma/>
                </a:schemeClr>
              </a:gs>
            </a:gsLst>
            <a:lin ang="0" scaled="1"/>
          </a:gradFill>
          <a:ln w="0">
            <a:noFill/>
            <a:prstDash val="solid"/>
            <a:round/>
            <a:headEnd/>
            <a:tailEnd/>
          </a:ln>
        </p:spPr>
        <p:txBody>
          <a:bodyPr/>
          <a:lstStyle/>
          <a:p>
            <a:pPr>
              <a:defRPr/>
            </a:pPr>
            <a:endParaRPr lang="th-TH"/>
          </a:p>
        </p:txBody>
      </p:sp>
      <p:sp>
        <p:nvSpPr>
          <p:cNvPr id="18" name="Freeform 10"/>
          <p:cNvSpPr>
            <a:spLocks/>
          </p:cNvSpPr>
          <p:nvPr/>
        </p:nvSpPr>
        <p:spPr bwMode="gray">
          <a:xfrm flipH="1">
            <a:off x="4875213" y="3408363"/>
            <a:ext cx="903287" cy="1241425"/>
          </a:xfrm>
          <a:custGeom>
            <a:avLst/>
            <a:gdLst/>
            <a:ahLst/>
            <a:cxnLst>
              <a:cxn ang="0">
                <a:pos x="580" y="0"/>
              </a:cxn>
              <a:cxn ang="0">
                <a:pos x="578" y="90"/>
              </a:cxn>
              <a:cxn ang="0">
                <a:pos x="568" y="174"/>
              </a:cxn>
              <a:cxn ang="0">
                <a:pos x="552" y="252"/>
              </a:cxn>
              <a:cxn ang="0">
                <a:pos x="526" y="324"/>
              </a:cxn>
              <a:cxn ang="0">
                <a:pos x="494" y="390"/>
              </a:cxn>
              <a:cxn ang="0">
                <a:pos x="452" y="450"/>
              </a:cxn>
              <a:cxn ang="0">
                <a:pos x="402" y="508"/>
              </a:cxn>
              <a:cxn ang="0">
                <a:pos x="342" y="560"/>
              </a:cxn>
              <a:cxn ang="0">
                <a:pos x="270" y="610"/>
              </a:cxn>
              <a:cxn ang="0">
                <a:pos x="188" y="656"/>
              </a:cxn>
              <a:cxn ang="0">
                <a:pos x="188" y="798"/>
              </a:cxn>
              <a:cxn ang="0">
                <a:pos x="0" y="514"/>
              </a:cxn>
              <a:cxn ang="0">
                <a:pos x="188" y="230"/>
              </a:cxn>
              <a:cxn ang="0">
                <a:pos x="188" y="372"/>
              </a:cxn>
              <a:cxn ang="0">
                <a:pos x="224" y="368"/>
              </a:cxn>
              <a:cxn ang="0">
                <a:pos x="264" y="356"/>
              </a:cxn>
              <a:cxn ang="0">
                <a:pos x="306" y="336"/>
              </a:cxn>
              <a:cxn ang="0">
                <a:pos x="348" y="310"/>
              </a:cxn>
              <a:cxn ang="0">
                <a:pos x="392" y="280"/>
              </a:cxn>
              <a:cxn ang="0">
                <a:pos x="432" y="246"/>
              </a:cxn>
              <a:cxn ang="0">
                <a:pos x="472" y="208"/>
              </a:cxn>
              <a:cxn ang="0">
                <a:pos x="506" y="166"/>
              </a:cxn>
              <a:cxn ang="0">
                <a:pos x="536" y="124"/>
              </a:cxn>
              <a:cxn ang="0">
                <a:pos x="558" y="82"/>
              </a:cxn>
              <a:cxn ang="0">
                <a:pos x="574" y="40"/>
              </a:cxn>
              <a:cxn ang="0">
                <a:pos x="578" y="0"/>
              </a:cxn>
              <a:cxn ang="0">
                <a:pos x="580" y="0"/>
              </a:cxn>
            </a:cxnLst>
            <a:rect l="0" t="0" r="r" b="b"/>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gradFill rotWithShape="1">
            <a:gsLst>
              <a:gs pos="0">
                <a:schemeClr val="hlink"/>
              </a:gs>
              <a:gs pos="100000">
                <a:schemeClr val="hlink">
                  <a:gamma/>
                  <a:tint val="31765"/>
                  <a:invGamma/>
                </a:schemeClr>
              </a:gs>
            </a:gsLst>
            <a:lin ang="0" scaled="1"/>
          </a:gradFill>
          <a:ln w="0">
            <a:noFill/>
            <a:prstDash val="solid"/>
            <a:round/>
            <a:headEnd/>
            <a:tailEnd/>
          </a:ln>
        </p:spPr>
        <p:txBody>
          <a:bodyPr/>
          <a:lstStyle/>
          <a:p>
            <a:pPr>
              <a:defRPr/>
            </a:pPr>
            <a:endParaRPr lang="th-TH"/>
          </a:p>
        </p:txBody>
      </p:sp>
      <p:sp>
        <p:nvSpPr>
          <p:cNvPr id="19" name="Rectangle 2"/>
          <p:cNvSpPr txBox="1">
            <a:spLocks noChangeArrowheads="1"/>
          </p:cNvSpPr>
          <p:nvPr/>
        </p:nvSpPr>
        <p:spPr>
          <a:xfrm>
            <a:off x="0" y="404813"/>
            <a:ext cx="9144000" cy="487362"/>
          </a:xfrm>
          <a:prstGeom prst="rect">
            <a:avLst/>
          </a:prstGeom>
        </p:spPr>
        <p:txBody>
          <a:bodyPr/>
          <a:lstStyle/>
          <a:p>
            <a:pPr algn="ctr" eaLnBrk="1" fontAlgn="auto" hangingPunct="1">
              <a:spcAft>
                <a:spcPts val="0"/>
              </a:spcAft>
              <a:defRPr/>
            </a:pPr>
            <a:r>
              <a:rPr lang="en-US" sz="3000" b="1" dirty="0">
                <a:solidFill>
                  <a:srgbClr val="000099"/>
                </a:solidFill>
                <a:latin typeface="+mj-lt"/>
                <a:ea typeface="+mj-ea"/>
                <a:cs typeface="+mj-cs"/>
              </a:rPr>
              <a:t>Machine Specification</a:t>
            </a: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6" descr="Photo_0012"/>
          <p:cNvPicPr>
            <a:picLocks noChangeAspect="1" noChangeArrowheads="1"/>
          </p:cNvPicPr>
          <p:nvPr/>
        </p:nvPicPr>
        <p:blipFill>
          <a:blip r:embed="rId2" cstate="print">
            <a:lum bright="12000"/>
          </a:blip>
          <a:srcRect/>
          <a:stretch>
            <a:fillRect/>
          </a:stretch>
        </p:blipFill>
        <p:spPr bwMode="auto">
          <a:xfrm>
            <a:off x="749300" y="728663"/>
            <a:ext cx="7600950" cy="5308600"/>
          </a:xfrm>
          <a:prstGeom prst="rect">
            <a:avLst/>
          </a:prstGeom>
          <a:ln>
            <a:noFill/>
          </a:ln>
          <a:effectLst>
            <a:softEdge rad="112500"/>
          </a:effectLst>
        </p:spPr>
      </p:pic>
      <p:sp>
        <p:nvSpPr>
          <p:cNvPr id="102403" name="TextBox 4"/>
          <p:cNvSpPr txBox="1">
            <a:spLocks noChangeArrowheads="1"/>
          </p:cNvSpPr>
          <p:nvPr/>
        </p:nvSpPr>
        <p:spPr bwMode="auto">
          <a:xfrm>
            <a:off x="0" y="160338"/>
            <a:ext cx="9144000"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th-TH" sz="2800" b="1"/>
              <a:t>Disc Chipper</a:t>
            </a:r>
            <a:endParaRPr lang="th-TH" altLang="th-TH" sz="2800" b="1"/>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23.MTS">
            <a:hlinkClick r:id="" action="ppaction://media"/>
          </p:cNvPr>
          <p:cNvSpPr>
            <a:spLocks noChangeAspect="1"/>
          </p:cNvSpPr>
          <p:nvPr>
            <a:videoFile r:link="rId2"/>
            <p:extLst>
              <p:ext uri="{DAA4B4D4-6D71-4841-9C94-3DE7FCFB9230}">
                <p14:media xmlns:p14="http://schemas.microsoft.com/office/powerpoint/2010/main" r:link="rId1"/>
              </p:ext>
            </p:extLst>
          </p:nvPr>
        </p:nvSpPr>
        <p:spPr bwMode="auto">
          <a:xfrm>
            <a:off x="309563" y="912813"/>
            <a:ext cx="8515350" cy="482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103427" name="TextBox 2"/>
          <p:cNvSpPr txBox="1">
            <a:spLocks noChangeArrowheads="1"/>
          </p:cNvSpPr>
          <p:nvPr/>
        </p:nvSpPr>
        <p:spPr bwMode="auto">
          <a:xfrm>
            <a:off x="0" y="188913"/>
            <a:ext cx="9144000"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th-TH" altLang="th-TH" sz="2800" b="1"/>
              <a:t>ลักษณะภายใน </a:t>
            </a:r>
            <a:r>
              <a:rPr lang="en-US" altLang="th-TH" sz="2400" b="1"/>
              <a:t>Disc Chipper</a:t>
            </a:r>
            <a:endParaRPr lang="th-TH" altLang="th-TH" sz="2400" b="1"/>
          </a:p>
        </p:txBody>
      </p:sp>
      <p:pic>
        <p:nvPicPr>
          <p:cNvPr id="103428" name="Picture 2"/>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46100" y="1127125"/>
            <a:ext cx="7816850" cy="439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nodeType="clickPar">
                      <p:stCondLst>
                        <p:cond delay="0"/>
                      </p:stCondLst>
                      <p:childTnLst>
                        <p:par>
                          <p:cTn id="4" fill="hold" nodeType="withGroup">
                            <p:stCondLst>
                              <p:cond delay="0"/>
                            </p:stCondLst>
                            <p:childTnLst>
                              <p:par>
                                <p:cTn id="5" presetID="2" presetClass="mediacall" presetSubtype="0" fill="hold" nodeType="clickEffect">
                                  <p:stCondLst>
                                    <p:cond delay="0"/>
                                  </p:stCondLst>
                                  <p:childTnLst>
                                    <p:cmd type="call" cmd="togglePause">
                                      <p:cBhvr>
                                        <p:cTn id="6" dur="1" fill="hold"/>
                                        <p:tgtEl>
                                          <p:spTgt spid="2"/>
                                        </p:tgtEl>
                                      </p:cBhvr>
                                    </p:cmd>
                                  </p:childTnLst>
                                </p:cTn>
                              </p:par>
                            </p:childTnLst>
                          </p:cTn>
                        </p:par>
                      </p:childTnLst>
                    </p:cTn>
                  </p:par>
                </p:childTnLst>
              </p:cTn>
              <p:nextCondLst>
                <p:cond evt="onClick" delay="0">
                  <p:tgtEl>
                    <p:spTgt spid="2"/>
                  </p:tgtEl>
                </p:cond>
              </p:nextCondLst>
            </p:seq>
            <p:video>
              <p:cMediaNode vol="80000">
                <p:cTn id="7" fill="hold" display="0">
                  <p:stCondLst>
                    <p:cond delay="indefinite"/>
                  </p:stCondLst>
                </p:cTn>
                <p:tgtEl>
                  <p:spTgt spid="2"/>
                </p:tgtEl>
              </p:cMediaNode>
            </p:video>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00040.MTS">
            <a:hlinkClick r:id="" action="ppaction://media"/>
          </p:cNvPr>
          <p:cNvPicPr>
            <a:picLocks noChangeAspect="1"/>
          </p:cNvPicPr>
          <p:nvPr>
            <a:videoFile r:link="rId2"/>
            <p:extLst>
              <p:ext uri="{DAA4B4D4-6D71-4841-9C94-3DE7FCFB9230}">
                <p14:media xmlns:p14="http://schemas.microsoft.com/office/powerpoint/2010/main" r:link="rId1"/>
              </p:ext>
            </p:extLst>
          </p:nvPr>
        </p:nvPicPr>
        <p:blipFill>
          <a:blip r:embed="rId4">
            <a:extLst>
              <a:ext uri="{28A0092B-C50C-407E-A947-70E740481C1C}">
                <a14:useLocalDpi xmlns:a14="http://schemas.microsoft.com/office/drawing/2010/main" val="0"/>
              </a:ext>
            </a:extLst>
          </a:blip>
          <a:srcRect/>
          <a:stretch>
            <a:fillRect/>
          </a:stretch>
        </p:blipFill>
        <p:spPr bwMode="auto">
          <a:xfrm>
            <a:off x="193675" y="773113"/>
            <a:ext cx="8761413" cy="496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451" name="TextBox 3"/>
          <p:cNvSpPr txBox="1">
            <a:spLocks noChangeArrowheads="1"/>
          </p:cNvSpPr>
          <p:nvPr/>
        </p:nvSpPr>
        <p:spPr bwMode="auto">
          <a:xfrm>
            <a:off x="0" y="144463"/>
            <a:ext cx="9144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th-TH" sz="2400" b="1"/>
              <a:t>Video</a:t>
            </a:r>
            <a:r>
              <a:rPr lang="en-US" altLang="th-TH" sz="2800" b="1"/>
              <a:t> </a:t>
            </a:r>
            <a:r>
              <a:rPr lang="th-TH" altLang="th-TH" sz="2800" b="1"/>
              <a:t>การทำงาน </a:t>
            </a:r>
            <a:r>
              <a:rPr lang="en-US" altLang="th-TH" sz="2400" b="1"/>
              <a:t>Disc Chipper</a:t>
            </a:r>
            <a:endParaRPr lang="th-TH" altLang="th-TH" sz="2400" b="1"/>
          </a:p>
        </p:txBody>
      </p:sp>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3"/>
                    </p:tgtEl>
                  </p:cond>
                </p:stCondLst>
                <p:endSync evt="end" delay="0">
                  <p:rtn val="all"/>
                </p:endSync>
                <p:childTnLst>
                  <p:par>
                    <p:cTn id="3" fill="hold" nodeType="clickPar">
                      <p:stCondLst>
                        <p:cond delay="0"/>
                      </p:stCondLst>
                      <p:childTnLst>
                        <p:par>
                          <p:cTn id="4" fill="hold" nodeType="withGroup">
                            <p:stCondLst>
                              <p:cond delay="0"/>
                            </p:stCondLst>
                            <p:childTnLst>
                              <p:par>
                                <p:cTn id="5" presetID="2" presetClass="mediacall" presetSubtype="0" fill="hold" nodeType="clickEffect">
                                  <p:stCondLst>
                                    <p:cond delay="0"/>
                                  </p:stCondLst>
                                  <p:childTnLst>
                                    <p:cmd type="call" cmd="togglePause">
                                      <p:cBhvr>
                                        <p:cTn id="6" dur="1" fill="hold"/>
                                        <p:tgtEl>
                                          <p:spTgt spid="3"/>
                                        </p:tgtEl>
                                      </p:cBhvr>
                                    </p:cmd>
                                  </p:childTnLst>
                                </p:cTn>
                              </p:par>
                            </p:childTnLst>
                          </p:cTn>
                        </p:par>
                      </p:childTnLst>
                    </p:cTn>
                  </p:par>
                </p:childTnLst>
              </p:cTn>
              <p:nextCondLst>
                <p:cond evt="onClick" delay="0">
                  <p:tgtEl>
                    <p:spTgt spid="3"/>
                  </p:tgtEl>
                </p:cond>
              </p:nextCondLst>
            </p:seq>
            <p:video>
              <p:cMediaNode vol="80000">
                <p:cTn id="7" fill="hold" display="0">
                  <p:stCondLst>
                    <p:cond delay="indefinite"/>
                  </p:stCondLst>
                </p:cTn>
                <p:tgtEl>
                  <p:spTgt spid="3"/>
                </p:tgtEl>
              </p:cMediaNode>
            </p:video>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52488" y="954088"/>
            <a:ext cx="7419975" cy="496093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05475" name="TextBox 2"/>
          <p:cNvSpPr txBox="1">
            <a:spLocks noChangeArrowheads="1"/>
          </p:cNvSpPr>
          <p:nvPr/>
        </p:nvSpPr>
        <p:spPr bwMode="auto">
          <a:xfrm>
            <a:off x="0" y="188913"/>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th-TH" sz="3600" b="1">
                <a:solidFill>
                  <a:srgbClr val="000099"/>
                </a:solidFill>
              </a:rPr>
              <a:t>Chip Eucalyptus</a:t>
            </a:r>
            <a:endParaRPr lang="th-TH" altLang="th-TH" sz="3600" b="1">
              <a:solidFill>
                <a:srgbClr val="000099"/>
              </a:solidFill>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Title 1"/>
          <p:cNvSpPr>
            <a:spLocks noGrp="1"/>
          </p:cNvSpPr>
          <p:nvPr>
            <p:ph type="title"/>
          </p:nvPr>
        </p:nvSpPr>
        <p:spPr>
          <a:xfrm>
            <a:off x="457200" y="-17463"/>
            <a:ext cx="8229600" cy="1143001"/>
          </a:xfrm>
        </p:spPr>
        <p:txBody>
          <a:bodyPr/>
          <a:lstStyle/>
          <a:p>
            <a:pPr eaLnBrk="1" hangingPunct="1"/>
            <a:r>
              <a:rPr lang="en-US" altLang="en-US" sz="3200" smtClean="0">
                <a:latin typeface="Tahoma" panose="020B0604030504040204" pitchFamily="34" charset="0"/>
                <a:cs typeface="Tahoma" panose="020B0604030504040204" pitchFamily="34" charset="0"/>
              </a:rPr>
              <a:t>3. Wood and chip handling </a:t>
            </a:r>
          </a:p>
        </p:txBody>
      </p:sp>
      <p:pic>
        <p:nvPicPr>
          <p:cNvPr id="10649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875" y="1470025"/>
            <a:ext cx="9001125" cy="392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ounded Rectangular Callout 6"/>
          <p:cNvSpPr/>
          <p:nvPr/>
        </p:nvSpPr>
        <p:spPr bwMode="auto">
          <a:xfrm>
            <a:off x="1071563" y="1984375"/>
            <a:ext cx="1143000" cy="285750"/>
          </a:xfrm>
          <a:prstGeom prst="wedgeRoundRectCallout">
            <a:avLst>
              <a:gd name="adj1" fmla="val -35278"/>
              <a:gd name="adj2" fmla="val 67933"/>
              <a:gd name="adj3" fmla="val 16667"/>
            </a:avLst>
          </a:prstGeom>
          <a:solidFill>
            <a:schemeClr val="accent1">
              <a:lumMod val="40000"/>
              <a:lumOff val="60000"/>
            </a:schemeClr>
          </a:solidFill>
          <a:ln w="19050" cap="sq" cmpd="sng" algn="ctr">
            <a:solidFill>
              <a:schemeClr val="bg1"/>
            </a:solidFill>
            <a:prstDash val="solid"/>
            <a:round/>
            <a:headEnd type="none" w="sm" len="sm"/>
            <a:tailEnd type="none" w="sm" len="sm"/>
          </a:ln>
          <a:effectLst/>
        </p:spPr>
        <p:txBody>
          <a:bodyPr wrap="none"/>
          <a:lstStyle/>
          <a:p>
            <a:pPr algn="ctr">
              <a:defRPr/>
            </a:pPr>
            <a:r>
              <a:rPr lang="en-US" sz="1200" b="1" dirty="0">
                <a:solidFill>
                  <a:srgbClr val="800000"/>
                </a:solidFill>
                <a:latin typeface="Arial" pitchFamily="34" charset="0"/>
                <a:cs typeface="Arial" pitchFamily="34" charset="0"/>
              </a:rPr>
              <a:t>Logs feeding</a:t>
            </a:r>
            <a:endParaRPr lang="th-TH" sz="1200" b="1" dirty="0">
              <a:solidFill>
                <a:srgbClr val="800000"/>
              </a:solidFill>
              <a:latin typeface="Arial" pitchFamily="34" charset="0"/>
              <a:cs typeface="Tahoma" pitchFamily="34" charset="0"/>
            </a:endParaRPr>
          </a:p>
        </p:txBody>
      </p:sp>
      <p:sp>
        <p:nvSpPr>
          <p:cNvPr id="8" name="Rounded Rectangular Callout 7"/>
          <p:cNvSpPr/>
          <p:nvPr/>
        </p:nvSpPr>
        <p:spPr bwMode="auto">
          <a:xfrm>
            <a:off x="3286125" y="1841500"/>
            <a:ext cx="1143000" cy="428625"/>
          </a:xfrm>
          <a:prstGeom prst="wedgeRoundRectCallout">
            <a:avLst>
              <a:gd name="adj1" fmla="val -34167"/>
              <a:gd name="adj2" fmla="val 75552"/>
              <a:gd name="adj3" fmla="val 16667"/>
            </a:avLst>
          </a:prstGeom>
          <a:solidFill>
            <a:schemeClr val="accent1">
              <a:lumMod val="40000"/>
              <a:lumOff val="60000"/>
            </a:schemeClr>
          </a:solidFill>
          <a:ln w="19050" cap="sq" cmpd="sng" algn="ctr">
            <a:solidFill>
              <a:schemeClr val="bg1"/>
            </a:solidFill>
            <a:prstDash val="solid"/>
            <a:round/>
            <a:headEnd type="none" w="sm" len="sm"/>
            <a:tailEnd type="none" w="sm" len="sm"/>
          </a:ln>
          <a:effectLst/>
        </p:spPr>
        <p:txBody>
          <a:bodyPr wrap="none" anchor="ctr"/>
          <a:lstStyle/>
          <a:p>
            <a:pPr algn="ctr">
              <a:defRPr/>
            </a:pPr>
            <a:r>
              <a:rPr lang="en-US" sz="1200" b="1" dirty="0">
                <a:solidFill>
                  <a:srgbClr val="800000"/>
                </a:solidFill>
                <a:latin typeface="Arial" pitchFamily="34" charset="0"/>
                <a:cs typeface="Arial" pitchFamily="34" charset="0"/>
              </a:rPr>
              <a:t>Debarking </a:t>
            </a:r>
          </a:p>
          <a:p>
            <a:pPr algn="ctr">
              <a:defRPr/>
            </a:pPr>
            <a:r>
              <a:rPr lang="en-US" sz="1200" b="1" dirty="0">
                <a:solidFill>
                  <a:srgbClr val="800000"/>
                </a:solidFill>
                <a:latin typeface="Arial" pitchFamily="34" charset="0"/>
                <a:cs typeface="Arial" pitchFamily="34" charset="0"/>
              </a:rPr>
              <a:t>process</a:t>
            </a:r>
            <a:endParaRPr lang="th-TH" sz="1200" b="1" dirty="0">
              <a:solidFill>
                <a:srgbClr val="800000"/>
              </a:solidFill>
              <a:latin typeface="Arial" pitchFamily="34" charset="0"/>
              <a:cs typeface="Tahoma" pitchFamily="34" charset="0"/>
            </a:endParaRPr>
          </a:p>
        </p:txBody>
      </p:sp>
      <p:sp>
        <p:nvSpPr>
          <p:cNvPr id="9" name="Rounded Rectangular Callout 8"/>
          <p:cNvSpPr/>
          <p:nvPr/>
        </p:nvSpPr>
        <p:spPr bwMode="auto">
          <a:xfrm>
            <a:off x="5500688" y="1912938"/>
            <a:ext cx="1428750" cy="347662"/>
          </a:xfrm>
          <a:prstGeom prst="wedgeRoundRectCallout">
            <a:avLst>
              <a:gd name="adj1" fmla="val 23611"/>
              <a:gd name="adj2" fmla="val 83171"/>
              <a:gd name="adj3" fmla="val 16667"/>
            </a:avLst>
          </a:prstGeom>
          <a:solidFill>
            <a:schemeClr val="accent1">
              <a:lumMod val="40000"/>
              <a:lumOff val="60000"/>
            </a:schemeClr>
          </a:solidFill>
          <a:ln w="19050" cap="sq" cmpd="sng" algn="ctr">
            <a:solidFill>
              <a:schemeClr val="bg1"/>
            </a:solidFill>
            <a:prstDash val="solid"/>
            <a:round/>
            <a:headEnd type="none" w="sm" len="sm"/>
            <a:tailEnd type="none" w="sm" len="sm"/>
          </a:ln>
          <a:effectLst/>
        </p:spPr>
        <p:txBody>
          <a:bodyPr wrap="none" anchor="ctr"/>
          <a:lstStyle/>
          <a:p>
            <a:pPr algn="ctr">
              <a:defRPr/>
            </a:pPr>
            <a:r>
              <a:rPr lang="en-US" sz="1200" b="1" dirty="0">
                <a:solidFill>
                  <a:srgbClr val="800000"/>
                </a:solidFill>
                <a:latin typeface="Arial" pitchFamily="34" charset="0"/>
                <a:cs typeface="Arial" pitchFamily="34" charset="0"/>
              </a:rPr>
              <a:t>Chips classifying</a:t>
            </a:r>
            <a:endParaRPr lang="th-TH" sz="1200" b="1" dirty="0">
              <a:solidFill>
                <a:srgbClr val="800000"/>
              </a:solidFill>
              <a:latin typeface="Arial" pitchFamily="34" charset="0"/>
              <a:cs typeface="Tahoma" pitchFamily="34" charset="0"/>
            </a:endParaRPr>
          </a:p>
        </p:txBody>
      </p:sp>
      <p:sp>
        <p:nvSpPr>
          <p:cNvPr id="10" name="Rounded Rectangular Callout 9"/>
          <p:cNvSpPr/>
          <p:nvPr/>
        </p:nvSpPr>
        <p:spPr bwMode="auto">
          <a:xfrm>
            <a:off x="3983038" y="3663950"/>
            <a:ext cx="1143000" cy="500063"/>
          </a:xfrm>
          <a:prstGeom prst="wedgeRoundRectCallout">
            <a:avLst>
              <a:gd name="adj1" fmla="val 34722"/>
              <a:gd name="adj2" fmla="val -94606"/>
              <a:gd name="adj3" fmla="val 16667"/>
            </a:avLst>
          </a:prstGeom>
          <a:solidFill>
            <a:schemeClr val="accent1">
              <a:lumMod val="40000"/>
              <a:lumOff val="60000"/>
            </a:schemeClr>
          </a:solidFill>
          <a:ln w="19050" cap="sq" cmpd="sng" algn="ctr">
            <a:solidFill>
              <a:schemeClr val="bg1"/>
            </a:solidFill>
            <a:prstDash val="solid"/>
            <a:round/>
            <a:headEnd type="none" w="sm" len="sm"/>
            <a:tailEnd type="none" w="sm" len="sm"/>
          </a:ln>
          <a:effectLst/>
        </p:spPr>
        <p:txBody>
          <a:bodyPr wrap="none" anchor="ctr"/>
          <a:lstStyle/>
          <a:p>
            <a:pPr algn="ctr">
              <a:defRPr/>
            </a:pPr>
            <a:r>
              <a:rPr lang="en-US" sz="1200" b="1" dirty="0">
                <a:solidFill>
                  <a:srgbClr val="800000"/>
                </a:solidFill>
                <a:latin typeface="Arial" pitchFamily="34" charset="0"/>
                <a:cs typeface="Arial" pitchFamily="34" charset="0"/>
              </a:rPr>
              <a:t>Chipping </a:t>
            </a:r>
          </a:p>
          <a:p>
            <a:pPr algn="ctr">
              <a:defRPr/>
            </a:pPr>
            <a:r>
              <a:rPr lang="en-US" sz="1200" b="1" dirty="0">
                <a:solidFill>
                  <a:srgbClr val="800000"/>
                </a:solidFill>
                <a:latin typeface="Arial" pitchFamily="34" charset="0"/>
                <a:cs typeface="Arial" pitchFamily="34" charset="0"/>
              </a:rPr>
              <a:t>process</a:t>
            </a:r>
            <a:endParaRPr lang="th-TH" sz="1200" b="1" dirty="0">
              <a:solidFill>
                <a:srgbClr val="800000"/>
              </a:solidFill>
              <a:latin typeface="Arial" pitchFamily="34" charset="0"/>
              <a:cs typeface="Tahoma" pitchFamily="34" charset="0"/>
            </a:endParaRPr>
          </a:p>
        </p:txBody>
      </p:sp>
      <p:sp>
        <p:nvSpPr>
          <p:cNvPr id="11" name="Rounded Rectangular Callout 10"/>
          <p:cNvSpPr/>
          <p:nvPr/>
        </p:nvSpPr>
        <p:spPr bwMode="auto">
          <a:xfrm>
            <a:off x="2928938" y="4332288"/>
            <a:ext cx="1143000" cy="438150"/>
          </a:xfrm>
          <a:prstGeom prst="wedgeRoundRectCallout">
            <a:avLst>
              <a:gd name="adj1" fmla="val -65277"/>
              <a:gd name="adj2" fmla="val -28575"/>
              <a:gd name="adj3" fmla="val 16667"/>
            </a:avLst>
          </a:prstGeom>
          <a:solidFill>
            <a:schemeClr val="accent1">
              <a:lumMod val="40000"/>
              <a:lumOff val="60000"/>
            </a:schemeClr>
          </a:solidFill>
          <a:ln w="19050" cap="sq" cmpd="sng" algn="ctr">
            <a:solidFill>
              <a:schemeClr val="bg1"/>
            </a:solidFill>
            <a:prstDash val="solid"/>
            <a:round/>
            <a:headEnd type="none" w="sm" len="sm"/>
            <a:tailEnd type="none" w="sm" len="sm"/>
          </a:ln>
          <a:effectLst/>
        </p:spPr>
        <p:txBody>
          <a:bodyPr wrap="none" anchor="ctr"/>
          <a:lstStyle/>
          <a:p>
            <a:pPr algn="ctr">
              <a:defRPr/>
            </a:pPr>
            <a:r>
              <a:rPr lang="en-US" sz="1200" b="1" dirty="0">
                <a:solidFill>
                  <a:srgbClr val="800000"/>
                </a:solidFill>
                <a:latin typeface="Arial" pitchFamily="34" charset="0"/>
                <a:cs typeface="Arial" pitchFamily="34" charset="0"/>
              </a:rPr>
              <a:t>Barks </a:t>
            </a:r>
          </a:p>
          <a:p>
            <a:pPr algn="ctr">
              <a:defRPr/>
            </a:pPr>
            <a:r>
              <a:rPr lang="en-US" sz="1200" b="1" dirty="0">
                <a:solidFill>
                  <a:srgbClr val="800000"/>
                </a:solidFill>
                <a:latin typeface="Arial" pitchFamily="34" charset="0"/>
                <a:cs typeface="Arial" pitchFamily="34" charset="0"/>
              </a:rPr>
              <a:t>shredding</a:t>
            </a:r>
            <a:endParaRPr lang="th-TH" sz="1200" b="1" dirty="0">
              <a:solidFill>
                <a:srgbClr val="800000"/>
              </a:solidFill>
              <a:latin typeface="Arial" pitchFamily="34" charset="0"/>
              <a:cs typeface="Tahoma" pitchFamily="34" charset="0"/>
            </a:endParaRPr>
          </a:p>
        </p:txBody>
      </p:sp>
      <p:sp>
        <p:nvSpPr>
          <p:cNvPr id="106505" name="Rounded Rectangular Callout 167"/>
          <p:cNvSpPr>
            <a:spLocks noChangeArrowheads="1"/>
          </p:cNvSpPr>
          <p:nvPr/>
        </p:nvSpPr>
        <p:spPr bwMode="auto">
          <a:xfrm>
            <a:off x="7535863" y="4056063"/>
            <a:ext cx="1500187" cy="366712"/>
          </a:xfrm>
          <a:prstGeom prst="wedgeRoundRectCallout">
            <a:avLst>
              <a:gd name="adj1" fmla="val 34722"/>
              <a:gd name="adj2" fmla="val -94606"/>
              <a:gd name="adj3"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cap="sq" algn="ctr">
                <a:solidFill>
                  <a:srgbClr val="000000"/>
                </a:solidFill>
                <a:round/>
                <a:headEnd type="none" w="sm" len="sm"/>
                <a:tailEnd type="none" w="sm" len="sm"/>
              </a14:hiddenLine>
            </a:ext>
          </a:extLst>
        </p:spPr>
        <p:txBody>
          <a:bodyPr wrap="none"/>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400" b="1">
                <a:solidFill>
                  <a:srgbClr val="800000"/>
                </a:solidFill>
                <a:latin typeface="Arial" panose="020B0604020202020204" pitchFamily="34" charset="0"/>
                <a:cs typeface="Arial" panose="020B0604020202020204" pitchFamily="34" charset="0"/>
              </a:rPr>
              <a:t>Chip storage</a:t>
            </a:r>
            <a:endParaRPr lang="th-TH" altLang="en-US" sz="1400" b="1">
              <a:solidFill>
                <a:srgbClr val="800000"/>
              </a:solidFill>
              <a:latin typeface="Arial" panose="020B0604020202020204" pitchFamily="34" charset="0"/>
              <a:cs typeface="Tahoma" panose="020B0604030504040204" pitchFamily="34" charset="0"/>
            </a:endParaRPr>
          </a:p>
        </p:txBody>
      </p:sp>
      <p:sp>
        <p:nvSpPr>
          <p:cNvPr id="106506" name="Rectangle 169"/>
          <p:cNvSpPr>
            <a:spLocks noChangeArrowheads="1"/>
          </p:cNvSpPr>
          <p:nvPr/>
        </p:nvSpPr>
        <p:spPr bwMode="auto">
          <a:xfrm>
            <a:off x="5857875" y="2413000"/>
            <a:ext cx="1428750" cy="1214438"/>
          </a:xfrm>
          <a:prstGeom prst="rect">
            <a:avLst/>
          </a:prstGeom>
          <a:noFill/>
          <a:ln w="38100" cap="sq" algn="ctr">
            <a:solidFill>
              <a:srgbClr val="008000"/>
            </a:solidFill>
            <a:prstDash val="sysDash"/>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th-TH" altLang="en-US" sz="1800">
              <a:cs typeface="Angsana New" panose="02020603050405020304" pitchFamily="18" charset="-34"/>
            </a:endParaRPr>
          </a:p>
        </p:txBody>
      </p:sp>
      <p:sp>
        <p:nvSpPr>
          <p:cNvPr id="106507" name="Rectangle 170"/>
          <p:cNvSpPr>
            <a:spLocks noChangeArrowheads="1"/>
          </p:cNvSpPr>
          <p:nvPr/>
        </p:nvSpPr>
        <p:spPr bwMode="auto">
          <a:xfrm>
            <a:off x="1928813" y="2341563"/>
            <a:ext cx="1643062" cy="1500187"/>
          </a:xfrm>
          <a:prstGeom prst="rect">
            <a:avLst/>
          </a:prstGeom>
          <a:noFill/>
          <a:ln w="38100" cap="sq" algn="ctr">
            <a:solidFill>
              <a:srgbClr val="008000"/>
            </a:solidFill>
            <a:prstDash val="sysDash"/>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th-TH" altLang="en-US" sz="1800">
              <a:cs typeface="Angsana New" panose="02020603050405020304" pitchFamily="18" charset="-34"/>
            </a:endParaRPr>
          </a:p>
        </p:txBody>
      </p:sp>
      <p:sp>
        <p:nvSpPr>
          <p:cNvPr id="106508" name="Rectangle 171"/>
          <p:cNvSpPr>
            <a:spLocks noChangeArrowheads="1"/>
          </p:cNvSpPr>
          <p:nvPr/>
        </p:nvSpPr>
        <p:spPr bwMode="auto">
          <a:xfrm>
            <a:off x="4214813" y="2627313"/>
            <a:ext cx="1357312" cy="785812"/>
          </a:xfrm>
          <a:prstGeom prst="rect">
            <a:avLst/>
          </a:prstGeom>
          <a:noFill/>
          <a:ln w="38100" cap="sq" algn="ctr">
            <a:solidFill>
              <a:srgbClr val="008000"/>
            </a:solidFill>
            <a:prstDash val="sysDash"/>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th-TH" altLang="en-US" sz="1800">
              <a:cs typeface="Angsana New" panose="02020603050405020304" pitchFamily="18" charset="-34"/>
            </a:endParaRPr>
          </a:p>
        </p:txBody>
      </p:sp>
      <p:sp>
        <p:nvSpPr>
          <p:cNvPr id="106509" name="Rectangle 172"/>
          <p:cNvSpPr>
            <a:spLocks noChangeArrowheads="1"/>
          </p:cNvSpPr>
          <p:nvPr/>
        </p:nvSpPr>
        <p:spPr bwMode="auto">
          <a:xfrm>
            <a:off x="285750" y="2341563"/>
            <a:ext cx="1500188" cy="1000125"/>
          </a:xfrm>
          <a:prstGeom prst="rect">
            <a:avLst/>
          </a:prstGeom>
          <a:noFill/>
          <a:ln w="38100" cap="sq" algn="ctr">
            <a:solidFill>
              <a:srgbClr val="008000"/>
            </a:solidFill>
            <a:prstDash val="sysDash"/>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th-TH" altLang="en-US" sz="1800">
              <a:cs typeface="Angsana New" panose="02020603050405020304" pitchFamily="18" charset="-34"/>
            </a:endParaRPr>
          </a:p>
        </p:txBody>
      </p:sp>
      <p:sp>
        <p:nvSpPr>
          <p:cNvPr id="106510" name="Rectangle 173"/>
          <p:cNvSpPr>
            <a:spLocks noChangeArrowheads="1"/>
          </p:cNvSpPr>
          <p:nvPr/>
        </p:nvSpPr>
        <p:spPr bwMode="auto">
          <a:xfrm>
            <a:off x="1214438" y="3913188"/>
            <a:ext cx="1500187" cy="785812"/>
          </a:xfrm>
          <a:prstGeom prst="rect">
            <a:avLst/>
          </a:prstGeom>
          <a:noFill/>
          <a:ln w="38100" cap="sq" algn="ctr">
            <a:solidFill>
              <a:srgbClr val="008000"/>
            </a:solidFill>
            <a:prstDash val="sysDash"/>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th-TH" altLang="en-US" sz="1800">
              <a:cs typeface="Angsana New" panose="02020603050405020304" pitchFamily="18" charset="-34"/>
            </a:endParaRPr>
          </a:p>
        </p:txBody>
      </p:sp>
      <p:sp>
        <p:nvSpPr>
          <p:cNvPr id="106511" name="TextBox 1"/>
          <p:cNvSpPr txBox="1">
            <a:spLocks noChangeArrowheads="1"/>
          </p:cNvSpPr>
          <p:nvPr/>
        </p:nvSpPr>
        <p:spPr bwMode="auto">
          <a:xfrm>
            <a:off x="-36513" y="6100763"/>
            <a:ext cx="2416176"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a:t>Credit: Weerachai Seachao</a:t>
            </a:r>
          </a:p>
        </p:txBody>
      </p:sp>
      <p:sp>
        <p:nvSpPr>
          <p:cNvPr id="16" name="Rectangle 15"/>
          <p:cNvSpPr/>
          <p:nvPr/>
        </p:nvSpPr>
        <p:spPr>
          <a:xfrm>
            <a:off x="5751513" y="2341563"/>
            <a:ext cx="1641475" cy="1393825"/>
          </a:xfrm>
          <a:prstGeom prst="rect">
            <a:avLst/>
          </a:prstGeom>
          <a:noFill/>
          <a:ln w="57150">
            <a:solidFill>
              <a:srgbClr val="FF000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TextBox 1"/>
          <p:cNvSpPr txBox="1">
            <a:spLocks noChangeArrowheads="1"/>
          </p:cNvSpPr>
          <p:nvPr/>
        </p:nvSpPr>
        <p:spPr bwMode="auto">
          <a:xfrm>
            <a:off x="34925" y="241300"/>
            <a:ext cx="90852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th-TH" b="1">
                <a:solidFill>
                  <a:srgbClr val="000099"/>
                </a:solidFill>
              </a:rPr>
              <a:t>CHIP SCREEN (Vibration Screen)</a:t>
            </a:r>
            <a:endParaRPr lang="th-TH" altLang="th-TH" b="1">
              <a:solidFill>
                <a:srgbClr val="000099"/>
              </a:solidFill>
            </a:endParaRPr>
          </a:p>
        </p:txBody>
      </p:sp>
      <p:pic>
        <p:nvPicPr>
          <p:cNvPr id="3" name="Picture 2"/>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5496" y="1052736"/>
            <a:ext cx="4391361" cy="2592288"/>
          </a:xfrm>
          <a:prstGeom prst="rect">
            <a:avLst/>
          </a:prstGeom>
          <a:ln>
            <a:noFill/>
          </a:ln>
          <a:effectLst>
            <a:softEdge rad="112500"/>
          </a:effectLst>
        </p:spPr>
      </p:pic>
      <p:pic>
        <p:nvPicPr>
          <p:cNvPr id="4" name="Picture 3"/>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21941" y="1052736"/>
            <a:ext cx="4049486" cy="2592288"/>
          </a:xfrm>
          <a:prstGeom prst="rect">
            <a:avLst/>
          </a:prstGeom>
          <a:ln>
            <a:noFill/>
          </a:ln>
          <a:effectLst>
            <a:softEdge rad="112500"/>
          </a:effectLst>
        </p:spPr>
      </p:pic>
      <p:pic>
        <p:nvPicPr>
          <p:cNvPr id="5" name="Picture 4"/>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2195736" y="3599794"/>
            <a:ext cx="4896544" cy="2736304"/>
          </a:xfrm>
          <a:prstGeom prst="rect">
            <a:avLst/>
          </a:prstGeom>
          <a:ln>
            <a:noFill/>
          </a:ln>
          <a:effectLst>
            <a:softEdge rad="112500"/>
          </a:effectLst>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Title 1"/>
          <p:cNvSpPr>
            <a:spLocks noGrp="1"/>
          </p:cNvSpPr>
          <p:nvPr>
            <p:ph type="title"/>
          </p:nvPr>
        </p:nvSpPr>
        <p:spPr>
          <a:xfrm>
            <a:off x="457200" y="-17463"/>
            <a:ext cx="8229600" cy="1143001"/>
          </a:xfrm>
        </p:spPr>
        <p:txBody>
          <a:bodyPr/>
          <a:lstStyle/>
          <a:p>
            <a:pPr eaLnBrk="1" hangingPunct="1"/>
            <a:r>
              <a:rPr lang="en-US" altLang="en-US" sz="3200" smtClean="0">
                <a:latin typeface="Tahoma" panose="020B0604030504040204" pitchFamily="34" charset="0"/>
                <a:cs typeface="Tahoma" panose="020B0604030504040204" pitchFamily="34" charset="0"/>
              </a:rPr>
              <a:t>3. Wood and chip handling </a:t>
            </a:r>
          </a:p>
        </p:txBody>
      </p:sp>
      <p:pic>
        <p:nvPicPr>
          <p:cNvPr id="109571"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41300" y="1558925"/>
            <a:ext cx="4105275" cy="290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9572" name="TextBox 11"/>
          <p:cNvSpPr txBox="1">
            <a:spLocks noChangeArrowheads="1"/>
          </p:cNvSpPr>
          <p:nvPr/>
        </p:nvSpPr>
        <p:spPr bwMode="auto">
          <a:xfrm>
            <a:off x="63500" y="917575"/>
            <a:ext cx="51260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800" b="1"/>
              <a:t>Chip Classifying</a:t>
            </a:r>
            <a:r>
              <a:rPr lang="en-US" altLang="en-US" sz="2800"/>
              <a:t>: Classify Chip Size</a:t>
            </a:r>
            <a:endParaRPr lang="en-US" altLang="en-US" sz="2800" b="1"/>
          </a:p>
        </p:txBody>
      </p:sp>
      <p:pic>
        <p:nvPicPr>
          <p:cNvPr id="109573" name="Picture 2" descr="0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424363" y="1558925"/>
            <a:ext cx="4611687" cy="290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9574" name="TextBox 13"/>
          <p:cNvSpPr txBox="1">
            <a:spLocks noChangeArrowheads="1"/>
          </p:cNvSpPr>
          <p:nvPr/>
        </p:nvSpPr>
        <p:spPr bwMode="auto">
          <a:xfrm>
            <a:off x="276225" y="4581525"/>
            <a:ext cx="8759825" cy="1293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400" b="1"/>
              <a:t>Vibration Screen:</a:t>
            </a:r>
          </a:p>
          <a:p>
            <a:pPr>
              <a:spcBef>
                <a:spcPct val="0"/>
              </a:spcBef>
              <a:buFontTx/>
              <a:buNone/>
            </a:pPr>
            <a:r>
              <a:rPr lang="en-US" altLang="en-US" sz="1800"/>
              <a:t>Chip is convey to the top of Vibration screen that vibrate the acceptable chip size will fall down through the series of screens until reach the bottom conveyor to Chip Silo or deliver to Chip Yard. The oversize remain on the screen and fall down on the discharge chute. </a:t>
            </a:r>
          </a:p>
        </p:txBody>
      </p:sp>
      <p:sp>
        <p:nvSpPr>
          <p:cNvPr id="109575" name="TextBox 14"/>
          <p:cNvSpPr txBox="1">
            <a:spLocks noChangeArrowheads="1"/>
          </p:cNvSpPr>
          <p:nvPr/>
        </p:nvSpPr>
        <p:spPr bwMode="auto">
          <a:xfrm>
            <a:off x="304800" y="6019800"/>
            <a:ext cx="85677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a:solidFill>
                  <a:srgbClr val="FF0000"/>
                </a:solidFill>
              </a:rPr>
              <a:t>Did you know?:  Evenly chip size can help process stability</a:t>
            </a: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26.MPG">
            <a:hlinkClick r:id="" action="ppaction://media"/>
          </p:cNvPr>
          <p:cNvPicPr>
            <a:picLocks noChangeAspect="1"/>
          </p:cNvPicPr>
          <p:nvPr>
            <a:videoFile r:link="rId2"/>
            <p:extLst>
              <p:ext uri="{DAA4B4D4-6D71-4841-9C94-3DE7FCFB9230}">
                <p14:media xmlns:p14="http://schemas.microsoft.com/office/powerpoint/2010/main" r:link="rId1"/>
              </p:ext>
            </p:extLst>
          </p:nvPr>
        </p:nvPicPr>
        <p:blipFill>
          <a:blip r:embed="rId4">
            <a:extLst>
              <a:ext uri="{28A0092B-C50C-407E-A947-70E740481C1C}">
                <a14:useLocalDpi xmlns:a14="http://schemas.microsoft.com/office/drawing/2010/main" val="0"/>
              </a:ext>
            </a:extLst>
          </a:blip>
          <a:srcRect/>
          <a:stretch>
            <a:fillRect/>
          </a:stretch>
        </p:blipFill>
        <p:spPr bwMode="auto">
          <a:xfrm>
            <a:off x="555625" y="1093788"/>
            <a:ext cx="803275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1619" name="TextBox 3"/>
          <p:cNvSpPr txBox="1">
            <a:spLocks noChangeArrowheads="1"/>
          </p:cNvSpPr>
          <p:nvPr/>
        </p:nvSpPr>
        <p:spPr bwMode="auto">
          <a:xfrm>
            <a:off x="0" y="276225"/>
            <a:ext cx="91440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800" b="1"/>
              <a:t>Chip Screen (Vibration Screen)</a:t>
            </a:r>
            <a:endParaRPr lang="th-TH" altLang="en-US" sz="2800" b="1"/>
          </a:p>
        </p:txBody>
      </p:sp>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3"/>
                    </p:tgtEl>
                  </p:cond>
                </p:stCondLst>
                <p:endSync evt="end" delay="0">
                  <p:rtn val="all"/>
                </p:endSync>
                <p:childTnLst>
                  <p:par>
                    <p:cTn id="3" fill="hold" nodeType="clickPar">
                      <p:stCondLst>
                        <p:cond delay="0"/>
                      </p:stCondLst>
                      <p:childTnLst>
                        <p:par>
                          <p:cTn id="4" fill="hold" nodeType="withGroup">
                            <p:stCondLst>
                              <p:cond delay="0"/>
                            </p:stCondLst>
                            <p:childTnLst>
                              <p:par>
                                <p:cTn id="5" presetID="2" presetClass="mediacall" presetSubtype="0" fill="hold" nodeType="clickEffect">
                                  <p:stCondLst>
                                    <p:cond delay="0"/>
                                  </p:stCondLst>
                                  <p:childTnLst>
                                    <p:cmd type="call" cmd="togglePause">
                                      <p:cBhvr>
                                        <p:cTn id="6" dur="1" fill="hold"/>
                                        <p:tgtEl>
                                          <p:spTgt spid="3"/>
                                        </p:tgtEl>
                                      </p:cBhvr>
                                    </p:cmd>
                                  </p:childTnLst>
                                </p:cTn>
                              </p:par>
                            </p:childTnLst>
                          </p:cTn>
                        </p:par>
                      </p:childTnLst>
                    </p:cTn>
                  </p:par>
                </p:childTnLst>
              </p:cTn>
              <p:nextCondLst>
                <p:cond evt="onClick" delay="0">
                  <p:tgtEl>
                    <p:spTgt spid="3"/>
                  </p:tgtEl>
                </p:cond>
              </p:nextCondLst>
            </p:seq>
            <p:video>
              <p:cMediaNode vol="80000">
                <p:cTn id="7" fill="hold" display="0">
                  <p:stCondLst>
                    <p:cond delay="indefinite"/>
                  </p:stCondLst>
                </p:cTn>
                <p:tgtEl>
                  <p:spTgt spid="3"/>
                </p:tgtEl>
              </p:cMediaNode>
            </p:video>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557725" y="1562264"/>
            <a:ext cx="6014002" cy="399407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12643" name="TextBox 5"/>
          <p:cNvSpPr txBox="1">
            <a:spLocks noChangeArrowheads="1"/>
          </p:cNvSpPr>
          <p:nvPr/>
        </p:nvSpPr>
        <p:spPr bwMode="auto">
          <a:xfrm>
            <a:off x="0" y="476250"/>
            <a:ext cx="9144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th-TH" sz="3600" b="1">
                <a:solidFill>
                  <a:srgbClr val="000099"/>
                </a:solidFill>
              </a:rPr>
              <a:t>CHIP</a:t>
            </a:r>
            <a:r>
              <a:rPr lang="en-US" altLang="th-TH" b="1">
                <a:solidFill>
                  <a:srgbClr val="000099"/>
                </a:solidFill>
              </a:rPr>
              <a:t> </a:t>
            </a:r>
            <a:r>
              <a:rPr lang="en-US" altLang="th-TH" sz="3600" b="1">
                <a:solidFill>
                  <a:srgbClr val="000099"/>
                </a:solidFill>
              </a:rPr>
              <a:t>SIZE</a:t>
            </a:r>
            <a:endParaRPr lang="en-US" altLang="th-TH" b="1">
              <a:solidFill>
                <a:srgbClr val="000099"/>
              </a:solidFill>
            </a:endParaRPr>
          </a:p>
        </p:txBody>
      </p:sp>
      <p:cxnSp>
        <p:nvCxnSpPr>
          <p:cNvPr id="3" name="Straight Connector 2"/>
          <p:cNvCxnSpPr/>
          <p:nvPr/>
        </p:nvCxnSpPr>
        <p:spPr>
          <a:xfrm>
            <a:off x="6156325" y="2349500"/>
            <a:ext cx="6477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6588125" y="3984625"/>
            <a:ext cx="6477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6408738" y="2349500"/>
            <a:ext cx="466725" cy="1655763"/>
          </a:xfrm>
          <a:prstGeom prst="straightConnector1">
            <a:avLst/>
          </a:prstGeom>
          <a:ln>
            <a:solidFill>
              <a:schemeClr val="tx1"/>
            </a:solidFill>
            <a:headEnd type="stealth"/>
            <a:tailEnd type="stealth"/>
          </a:ln>
        </p:spPr>
        <p:style>
          <a:lnRef idx="1">
            <a:schemeClr val="accent1"/>
          </a:lnRef>
          <a:fillRef idx="0">
            <a:schemeClr val="accent1"/>
          </a:fillRef>
          <a:effectRef idx="0">
            <a:schemeClr val="accent1"/>
          </a:effectRef>
          <a:fontRef idx="minor">
            <a:schemeClr val="tx1"/>
          </a:fontRef>
        </p:style>
      </p:cxnSp>
      <p:sp>
        <p:nvSpPr>
          <p:cNvPr id="112647" name="TextBox 9"/>
          <p:cNvSpPr txBox="1">
            <a:spLocks noChangeArrowheads="1"/>
          </p:cNvSpPr>
          <p:nvPr/>
        </p:nvSpPr>
        <p:spPr bwMode="auto">
          <a:xfrm rot="4298300">
            <a:off x="6290469" y="3099594"/>
            <a:ext cx="9525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th-TH" sz="1800" b="1"/>
              <a:t>LENGTH</a:t>
            </a:r>
            <a:endParaRPr lang="th-TH" altLang="th-TH" sz="1800" b="1"/>
          </a:p>
        </p:txBody>
      </p:sp>
      <p:cxnSp>
        <p:nvCxnSpPr>
          <p:cNvPr id="12" name="Straight Connector 11"/>
          <p:cNvCxnSpPr/>
          <p:nvPr/>
        </p:nvCxnSpPr>
        <p:spPr>
          <a:xfrm flipV="1">
            <a:off x="3276600" y="1557338"/>
            <a:ext cx="0" cy="3238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V="1">
            <a:off x="6156325" y="1916113"/>
            <a:ext cx="0" cy="4333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3290888" y="1773238"/>
            <a:ext cx="2865437" cy="338137"/>
          </a:xfrm>
          <a:prstGeom prst="straightConnector1">
            <a:avLst/>
          </a:prstGeom>
          <a:ln>
            <a:solidFill>
              <a:schemeClr val="tx1"/>
            </a:solidFill>
            <a:headEnd type="stealth"/>
            <a:tailEnd type="stealth"/>
          </a:ln>
        </p:spPr>
        <p:style>
          <a:lnRef idx="1">
            <a:schemeClr val="accent1"/>
          </a:lnRef>
          <a:fillRef idx="0">
            <a:schemeClr val="accent1"/>
          </a:fillRef>
          <a:effectRef idx="0">
            <a:schemeClr val="accent1"/>
          </a:effectRef>
          <a:fontRef idx="minor">
            <a:schemeClr val="tx1"/>
          </a:fontRef>
        </p:style>
      </p:cxnSp>
      <p:sp>
        <p:nvSpPr>
          <p:cNvPr id="112651" name="TextBox 16"/>
          <p:cNvSpPr txBox="1">
            <a:spLocks noChangeArrowheads="1"/>
          </p:cNvSpPr>
          <p:nvPr/>
        </p:nvSpPr>
        <p:spPr bwMode="auto">
          <a:xfrm>
            <a:off x="4135438" y="1628775"/>
            <a:ext cx="8588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th-TH" sz="1800" b="1"/>
              <a:t>WIDTH</a:t>
            </a:r>
            <a:endParaRPr lang="th-TH" altLang="th-TH" sz="1800" b="1"/>
          </a:p>
        </p:txBody>
      </p:sp>
      <p:cxnSp>
        <p:nvCxnSpPr>
          <p:cNvPr id="21" name="Straight Connector 20"/>
          <p:cNvCxnSpPr/>
          <p:nvPr/>
        </p:nvCxnSpPr>
        <p:spPr>
          <a:xfrm>
            <a:off x="1979613" y="3716338"/>
            <a:ext cx="79216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1979613" y="4652963"/>
            <a:ext cx="79216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2411413" y="3284538"/>
            <a:ext cx="0" cy="431800"/>
          </a:xfrm>
          <a:prstGeom prst="straightConnector1">
            <a:avLst/>
          </a:prstGeom>
          <a:ln>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2411413" y="4652963"/>
            <a:ext cx="0" cy="431800"/>
          </a:xfrm>
          <a:prstGeom prst="straightConnector1">
            <a:avLst/>
          </a:prstGeom>
          <a:ln>
            <a:solidFill>
              <a:schemeClr val="tx1"/>
            </a:solidFill>
            <a:headEnd type="stealth"/>
            <a:tailEnd type="none"/>
          </a:ln>
        </p:spPr>
        <p:style>
          <a:lnRef idx="1">
            <a:schemeClr val="accent1"/>
          </a:lnRef>
          <a:fillRef idx="0">
            <a:schemeClr val="accent1"/>
          </a:fillRef>
          <a:effectRef idx="0">
            <a:schemeClr val="accent1"/>
          </a:effectRef>
          <a:fontRef idx="minor">
            <a:schemeClr val="tx1"/>
          </a:fontRef>
        </p:style>
      </p:cxnSp>
      <p:sp>
        <p:nvSpPr>
          <p:cNvPr id="112656" name="TextBox 27"/>
          <p:cNvSpPr txBox="1">
            <a:spLocks noChangeArrowheads="1"/>
          </p:cNvSpPr>
          <p:nvPr/>
        </p:nvSpPr>
        <p:spPr bwMode="auto">
          <a:xfrm>
            <a:off x="1581150" y="4005263"/>
            <a:ext cx="111918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th-TH" sz="1600" b="1"/>
              <a:t>THICKNESS</a:t>
            </a:r>
            <a:endParaRPr lang="th-TH" altLang="th-TH" sz="1600" b="1"/>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TextBox 1"/>
          <p:cNvSpPr txBox="1">
            <a:spLocks noChangeArrowheads="1"/>
          </p:cNvSpPr>
          <p:nvPr/>
        </p:nvSpPr>
        <p:spPr bwMode="auto">
          <a:xfrm>
            <a:off x="0" y="200025"/>
            <a:ext cx="914400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th-TH" b="1">
                <a:solidFill>
                  <a:srgbClr val="000099"/>
                </a:solidFill>
              </a:rPr>
              <a:t>CHIP OVERSIZED</a:t>
            </a:r>
            <a:endParaRPr lang="th-TH" altLang="th-TH" b="1">
              <a:solidFill>
                <a:srgbClr val="000099"/>
              </a:solidFill>
            </a:endParaRPr>
          </a:p>
        </p:txBody>
      </p:sp>
      <p:pic>
        <p:nvPicPr>
          <p:cNvPr id="3" name="Picture 2"/>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95325" y="1058863"/>
            <a:ext cx="7715250" cy="4830762"/>
          </a:xfrm>
          <a:prstGeom prst="rect">
            <a:avLst/>
          </a:prstGeom>
          <a:ln>
            <a:noFill/>
          </a:ln>
          <a:effectLst>
            <a:softEdge rad="112500"/>
          </a:effectLst>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TextBox 1"/>
          <p:cNvSpPr txBox="1">
            <a:spLocks noChangeArrowheads="1"/>
          </p:cNvSpPr>
          <p:nvPr/>
        </p:nvSpPr>
        <p:spPr bwMode="auto">
          <a:xfrm>
            <a:off x="0" y="17303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th-TH" b="1">
                <a:solidFill>
                  <a:srgbClr val="000099"/>
                </a:solidFill>
              </a:rPr>
              <a:t>PIN CHIP</a:t>
            </a:r>
            <a:endParaRPr lang="th-TH" altLang="th-TH" b="1">
              <a:solidFill>
                <a:srgbClr val="000099"/>
              </a:solidFill>
            </a:endParaRPr>
          </a:p>
        </p:txBody>
      </p:sp>
      <p:pic>
        <p:nvPicPr>
          <p:cNvPr id="5" name="Picture 4"/>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15963" y="828675"/>
            <a:ext cx="7702550" cy="5091113"/>
          </a:xfrm>
          <a:prstGeom prst="rect">
            <a:avLst/>
          </a:prstGeom>
          <a:ln>
            <a:noFill/>
          </a:ln>
          <a:effectLst>
            <a:softEdge rad="112500"/>
          </a:effectLst>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TextBox 1"/>
          <p:cNvSpPr txBox="1">
            <a:spLocks noChangeArrowheads="1"/>
          </p:cNvSpPr>
          <p:nvPr/>
        </p:nvSpPr>
        <p:spPr bwMode="auto">
          <a:xfrm>
            <a:off x="0" y="357188"/>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th-TH" b="1">
                <a:solidFill>
                  <a:srgbClr val="000099"/>
                </a:solidFill>
              </a:rPr>
              <a:t>FINES</a:t>
            </a:r>
            <a:endParaRPr lang="th-TH" altLang="th-TH" b="1">
              <a:solidFill>
                <a:srgbClr val="000099"/>
              </a:solidFill>
            </a:endParaRPr>
          </a:p>
        </p:txBody>
      </p:sp>
      <p:pic>
        <p:nvPicPr>
          <p:cNvPr id="3" name="Picture 2"/>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958850" y="1146175"/>
            <a:ext cx="7226300" cy="4525963"/>
          </a:xfrm>
          <a:prstGeom prst="rect">
            <a:avLst/>
          </a:prstGeom>
          <a:ln>
            <a:noFill/>
          </a:ln>
          <a:effectLst>
            <a:softEdge rad="112500"/>
          </a:effectLst>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7762" name="Picture 6" descr="img003.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08025" y="4143375"/>
            <a:ext cx="3948113" cy="213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5" descr="IMG_5353.JPG"/>
          <p:cNvPicPr>
            <a:picLocks noChangeAspect="1"/>
          </p:cNvPicPr>
          <p:nvPr/>
        </p:nvPicPr>
        <p:blipFill>
          <a:blip r:embed="rId4"/>
          <a:stretch>
            <a:fillRect/>
          </a:stretch>
        </p:blipFill>
        <p:spPr>
          <a:xfrm>
            <a:off x="665163" y="1268413"/>
            <a:ext cx="4011612" cy="2549525"/>
          </a:xfrm>
          <a:prstGeom prst="rect">
            <a:avLst/>
          </a:prstGeom>
          <a:ln>
            <a:noFill/>
          </a:ln>
          <a:effectLst>
            <a:outerShdw blurRad="292100" dist="139700" dir="2700000" algn="tl" rotWithShape="0">
              <a:srgbClr val="333333">
                <a:alpha val="65000"/>
              </a:srgbClr>
            </a:outerShdw>
          </a:effectLst>
        </p:spPr>
      </p:pic>
      <p:sp>
        <p:nvSpPr>
          <p:cNvPr id="117764" name="TextBox 13"/>
          <p:cNvSpPr txBox="1">
            <a:spLocks noChangeArrowheads="1"/>
          </p:cNvSpPr>
          <p:nvPr/>
        </p:nvSpPr>
        <p:spPr bwMode="auto">
          <a:xfrm>
            <a:off x="0" y="217488"/>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th-TH" altLang="th-TH" sz="3600" b="1"/>
              <a:t> </a:t>
            </a:r>
            <a:r>
              <a:rPr lang="en-US" altLang="th-TH" sz="3600" b="1"/>
              <a:t>Chip Classification Lab </a:t>
            </a:r>
            <a:endParaRPr lang="th-TH" altLang="th-TH" sz="3600" b="1"/>
          </a:p>
        </p:txBody>
      </p:sp>
      <p:sp>
        <p:nvSpPr>
          <p:cNvPr id="117765" name="TextBox 1"/>
          <p:cNvSpPr txBox="1">
            <a:spLocks noChangeArrowheads="1"/>
          </p:cNvSpPr>
          <p:nvPr/>
        </p:nvSpPr>
        <p:spPr bwMode="auto">
          <a:xfrm>
            <a:off x="5048250" y="1403350"/>
            <a:ext cx="3935413" cy="397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th-TH" altLang="en-US" sz="2800"/>
              <a:t>เป็นการสุ่มตรวจคุณภาพ </a:t>
            </a:r>
            <a:r>
              <a:rPr lang="en-US" altLang="en-US" sz="2800"/>
              <a:t>Chip</a:t>
            </a:r>
          </a:p>
          <a:p>
            <a:pPr>
              <a:spcBef>
                <a:spcPct val="0"/>
              </a:spcBef>
              <a:buFontTx/>
              <a:buNone/>
            </a:pPr>
            <a:r>
              <a:rPr lang="th-TH" altLang="en-US" sz="2800"/>
              <a:t>ว่าได้ตามมาตรฐานหรือไม่</a:t>
            </a:r>
          </a:p>
          <a:p>
            <a:pPr>
              <a:spcBef>
                <a:spcPct val="0"/>
              </a:spcBef>
              <a:buFontTx/>
              <a:buNone/>
            </a:pPr>
            <a:r>
              <a:rPr lang="th-TH" altLang="en-US" sz="2800"/>
              <a:t>โดยการสุ่มตัวอย่าง </a:t>
            </a:r>
            <a:r>
              <a:rPr lang="en-US" altLang="en-US" sz="2800"/>
              <a:t>Chip </a:t>
            </a:r>
            <a:r>
              <a:rPr lang="th-TH" altLang="en-US" sz="2800"/>
              <a:t>จาก </a:t>
            </a:r>
            <a:endParaRPr lang="en-US" altLang="en-US" sz="2800"/>
          </a:p>
          <a:p>
            <a:pPr>
              <a:spcBef>
                <a:spcPct val="0"/>
              </a:spcBef>
              <a:buFontTx/>
              <a:buNone/>
            </a:pPr>
            <a:r>
              <a:rPr lang="en-US" altLang="en-US" sz="2800"/>
              <a:t>Disc Chipper </a:t>
            </a:r>
            <a:r>
              <a:rPr lang="th-TH" altLang="en-US" sz="2800"/>
              <a:t>เพื่อมาค้นหา</a:t>
            </a:r>
          </a:p>
          <a:p>
            <a:pPr>
              <a:spcBef>
                <a:spcPct val="0"/>
              </a:spcBef>
              <a:buFontTx/>
              <a:buNone/>
            </a:pPr>
            <a:r>
              <a:rPr lang="th-TH" altLang="en-US" sz="2800"/>
              <a:t>ว่าได้ปริมาณ </a:t>
            </a:r>
            <a:r>
              <a:rPr lang="en-US" altLang="en-US" sz="2800"/>
              <a:t>Chip </a:t>
            </a:r>
            <a:r>
              <a:rPr lang="th-TH" altLang="en-US" sz="2800"/>
              <a:t>ตามมาตรฐาน</a:t>
            </a:r>
          </a:p>
          <a:p>
            <a:pPr>
              <a:spcBef>
                <a:spcPct val="0"/>
              </a:spcBef>
              <a:buFontTx/>
              <a:buNone/>
            </a:pPr>
            <a:r>
              <a:rPr lang="th-TH" altLang="en-US" sz="2800"/>
              <a:t>หรือไม่ หากมี </a:t>
            </a:r>
            <a:r>
              <a:rPr lang="en-US" altLang="en-US" sz="2800"/>
              <a:t>Oversize </a:t>
            </a:r>
            <a:r>
              <a:rPr lang="th-TH" altLang="en-US" sz="2800"/>
              <a:t>หรือ </a:t>
            </a:r>
            <a:r>
              <a:rPr lang="en-US" altLang="en-US" sz="2800"/>
              <a:t>Fine</a:t>
            </a:r>
          </a:p>
          <a:p>
            <a:pPr>
              <a:spcBef>
                <a:spcPct val="0"/>
              </a:spcBef>
              <a:buFontTx/>
              <a:buNone/>
            </a:pPr>
            <a:r>
              <a:rPr lang="th-TH" altLang="en-US" sz="2800"/>
              <a:t>เกินกว่ามาตรฐานแสดงว่า ใบมีดนั้น</a:t>
            </a:r>
          </a:p>
          <a:p>
            <a:pPr>
              <a:spcBef>
                <a:spcPct val="0"/>
              </a:spcBef>
              <a:buFontTx/>
              <a:buNone/>
            </a:pPr>
            <a:r>
              <a:rPr lang="th-TH" altLang="en-US" sz="2800"/>
              <a:t>เสื่อมคุณภาพและต้องวางแผนเปลี่ยน</a:t>
            </a:r>
          </a:p>
          <a:p>
            <a:pPr>
              <a:spcBef>
                <a:spcPct val="0"/>
              </a:spcBef>
              <a:buFontTx/>
              <a:buNone/>
            </a:pPr>
            <a:r>
              <a:rPr lang="th-TH" altLang="en-US" sz="2800"/>
              <a:t>ตามลำดับ</a:t>
            </a: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a:xfrm>
            <a:off x="0" y="90488"/>
            <a:ext cx="9144000" cy="487362"/>
          </a:xfrm>
          <a:prstGeom prst="rect">
            <a:avLst/>
          </a:prstGeom>
        </p:spPr>
        <p:txBody>
          <a:bodyPr/>
          <a:lstStyle/>
          <a:p>
            <a:pPr algn="ctr" eaLnBrk="1" fontAlgn="auto" hangingPunct="1">
              <a:spcAft>
                <a:spcPts val="0"/>
              </a:spcAft>
              <a:defRPr/>
            </a:pPr>
            <a:r>
              <a:rPr lang="en-US" sz="3200" b="1" dirty="0">
                <a:solidFill>
                  <a:srgbClr val="000099"/>
                </a:solidFill>
                <a:latin typeface="+mj-lt"/>
                <a:ea typeface="+mj-ea"/>
                <a:cs typeface="+mj-cs"/>
              </a:rPr>
              <a:t>Chip Quality</a:t>
            </a:r>
          </a:p>
        </p:txBody>
      </p:sp>
      <p:sp>
        <p:nvSpPr>
          <p:cNvPr id="119811" name="AutoShape 4"/>
          <p:cNvSpPr>
            <a:spLocks/>
          </p:cNvSpPr>
          <p:nvPr/>
        </p:nvSpPr>
        <p:spPr bwMode="auto">
          <a:xfrm>
            <a:off x="4173538" y="3611563"/>
            <a:ext cx="220662" cy="625475"/>
          </a:xfrm>
          <a:prstGeom prst="rightBrace">
            <a:avLst>
              <a:gd name="adj1" fmla="val 30786"/>
              <a:gd name="adj2" fmla="val 50000"/>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th-TH" altLang="th-TH" sz="1800"/>
          </a:p>
        </p:txBody>
      </p:sp>
      <p:graphicFrame>
        <p:nvGraphicFramePr>
          <p:cNvPr id="18" name="Table 17"/>
          <p:cNvGraphicFramePr>
            <a:graphicFrameLocks noGrp="1"/>
          </p:cNvGraphicFramePr>
          <p:nvPr/>
        </p:nvGraphicFramePr>
        <p:xfrm>
          <a:off x="95250" y="795338"/>
          <a:ext cx="4160838" cy="5456380"/>
        </p:xfrm>
        <a:graphic>
          <a:graphicData uri="http://schemas.openxmlformats.org/drawingml/2006/table">
            <a:tbl>
              <a:tblPr/>
              <a:tblGrid>
                <a:gridCol w="411673"/>
                <a:gridCol w="374917"/>
                <a:gridCol w="411673"/>
                <a:gridCol w="485186"/>
                <a:gridCol w="492537"/>
                <a:gridCol w="742481"/>
                <a:gridCol w="830698"/>
                <a:gridCol w="411673"/>
              </a:tblGrid>
              <a:tr h="365749">
                <a:tc gridSpan="7">
                  <a:txBody>
                    <a:bodyPr/>
                    <a:lstStyle/>
                    <a:p>
                      <a:pPr algn="ctr" fontAlgn="b"/>
                      <a:r>
                        <a:rPr lang="en-US" sz="2400" b="1" i="0" u="none" strike="noStrike" dirty="0">
                          <a:solidFill>
                            <a:srgbClr val="0000FF"/>
                          </a:solidFill>
                          <a:effectLst/>
                          <a:latin typeface="AngsanaUPC"/>
                        </a:rPr>
                        <a:t>CHIP  CLASSIFICATION</a:t>
                      </a:r>
                    </a:p>
                  </a:txBody>
                  <a:tcPr marL="0" marR="0" marT="0" marB="0" anchor="b">
                    <a:lnL>
                      <a:noFill/>
                    </a:lnL>
                    <a:lnR>
                      <a:noFill/>
                    </a:lnR>
                    <a:lnT>
                      <a:noFill/>
                    </a:lnT>
                    <a:lnB>
                      <a:noFill/>
                    </a:lnB>
                  </a:tcPr>
                </a:tc>
                <a:tc hMerge="1">
                  <a:txBody>
                    <a:bodyPr/>
                    <a:lstStyle/>
                    <a:p>
                      <a:endParaRPr lang="th-TH"/>
                    </a:p>
                  </a:txBody>
                  <a:tcPr/>
                </a:tc>
                <a:tc hMerge="1">
                  <a:txBody>
                    <a:bodyPr/>
                    <a:lstStyle/>
                    <a:p>
                      <a:endParaRPr lang="th-TH"/>
                    </a:p>
                  </a:txBody>
                  <a:tcPr/>
                </a:tc>
                <a:tc hMerge="1">
                  <a:txBody>
                    <a:bodyPr/>
                    <a:lstStyle/>
                    <a:p>
                      <a:endParaRPr lang="th-TH"/>
                    </a:p>
                  </a:txBody>
                  <a:tcPr/>
                </a:tc>
                <a:tc hMerge="1">
                  <a:txBody>
                    <a:bodyPr/>
                    <a:lstStyle/>
                    <a:p>
                      <a:endParaRPr lang="th-TH"/>
                    </a:p>
                  </a:txBody>
                  <a:tcPr/>
                </a:tc>
                <a:tc hMerge="1">
                  <a:txBody>
                    <a:bodyPr/>
                    <a:lstStyle/>
                    <a:p>
                      <a:endParaRPr lang="th-TH"/>
                    </a:p>
                  </a:txBody>
                  <a:tcPr/>
                </a:tc>
                <a:tc hMerge="1">
                  <a:txBody>
                    <a:bodyPr/>
                    <a:lstStyle/>
                    <a:p>
                      <a:endParaRPr lang="th-TH"/>
                    </a:p>
                  </a:txBody>
                  <a:tcPr/>
                </a:tc>
                <a:tc>
                  <a:txBody>
                    <a:bodyPr/>
                    <a:lstStyle/>
                    <a:p>
                      <a:pPr algn="l" fontAlgn="b"/>
                      <a:endParaRPr lang="th-TH" sz="1500" b="0" i="0" u="none" strike="noStrike">
                        <a:solidFill>
                          <a:srgbClr val="0000FF"/>
                        </a:solidFill>
                        <a:effectLst/>
                        <a:latin typeface="AngsanaUPC"/>
                      </a:endParaRPr>
                    </a:p>
                  </a:txBody>
                  <a:tcPr marL="0" marR="0" marT="0" marB="0" anchor="b">
                    <a:lnL>
                      <a:noFill/>
                    </a:lnL>
                    <a:lnR>
                      <a:noFill/>
                    </a:lnR>
                    <a:lnT>
                      <a:noFill/>
                    </a:lnT>
                    <a:lnB>
                      <a:noFill/>
                    </a:lnB>
                  </a:tcPr>
                </a:tc>
              </a:tr>
              <a:tr h="365749">
                <a:tc gridSpan="7">
                  <a:txBody>
                    <a:bodyPr/>
                    <a:lstStyle/>
                    <a:p>
                      <a:pPr algn="ctr" fontAlgn="b"/>
                      <a:endParaRPr lang="en-US" sz="2400" b="1" i="0" u="none" strike="noStrike" dirty="0">
                        <a:solidFill>
                          <a:srgbClr val="0000FF"/>
                        </a:solidFill>
                        <a:effectLst/>
                        <a:latin typeface="AngsanaUPC"/>
                      </a:endParaRPr>
                    </a:p>
                  </a:txBody>
                  <a:tcPr marL="0" marR="0" marT="0" marB="0" anchor="b">
                    <a:lnL>
                      <a:noFill/>
                    </a:lnL>
                    <a:lnR>
                      <a:noFill/>
                    </a:lnR>
                    <a:lnT>
                      <a:noFill/>
                    </a:lnT>
                    <a:lnB>
                      <a:noFill/>
                    </a:lnB>
                  </a:tcPr>
                </a:tc>
                <a:tc hMerge="1">
                  <a:txBody>
                    <a:bodyPr/>
                    <a:lstStyle/>
                    <a:p>
                      <a:endParaRPr lang="th-TH"/>
                    </a:p>
                  </a:txBody>
                  <a:tcPr/>
                </a:tc>
                <a:tc hMerge="1">
                  <a:txBody>
                    <a:bodyPr/>
                    <a:lstStyle/>
                    <a:p>
                      <a:endParaRPr lang="th-TH"/>
                    </a:p>
                  </a:txBody>
                  <a:tcPr/>
                </a:tc>
                <a:tc hMerge="1">
                  <a:txBody>
                    <a:bodyPr/>
                    <a:lstStyle/>
                    <a:p>
                      <a:endParaRPr lang="th-TH"/>
                    </a:p>
                  </a:txBody>
                  <a:tcPr/>
                </a:tc>
                <a:tc hMerge="1">
                  <a:txBody>
                    <a:bodyPr/>
                    <a:lstStyle/>
                    <a:p>
                      <a:endParaRPr lang="th-TH"/>
                    </a:p>
                  </a:txBody>
                  <a:tcPr/>
                </a:tc>
                <a:tc hMerge="1">
                  <a:txBody>
                    <a:bodyPr/>
                    <a:lstStyle/>
                    <a:p>
                      <a:endParaRPr lang="th-TH"/>
                    </a:p>
                  </a:txBody>
                  <a:tcPr/>
                </a:tc>
                <a:tc hMerge="1">
                  <a:txBody>
                    <a:bodyPr/>
                    <a:lstStyle/>
                    <a:p>
                      <a:endParaRPr lang="th-TH"/>
                    </a:p>
                  </a:txBody>
                  <a:tcPr/>
                </a:tc>
                <a:tc>
                  <a:txBody>
                    <a:bodyPr/>
                    <a:lstStyle/>
                    <a:p>
                      <a:pPr algn="l" fontAlgn="b"/>
                      <a:endParaRPr lang="th-TH" sz="1500" b="0" i="0" u="none" strike="noStrike">
                        <a:solidFill>
                          <a:srgbClr val="0000FF"/>
                        </a:solidFill>
                        <a:effectLst/>
                        <a:latin typeface="AngsanaUPC"/>
                      </a:endParaRPr>
                    </a:p>
                  </a:txBody>
                  <a:tcPr marL="0" marR="0" marT="0" marB="0" anchor="b">
                    <a:lnL>
                      <a:noFill/>
                    </a:lnL>
                    <a:lnR>
                      <a:noFill/>
                    </a:lnR>
                    <a:lnT>
                      <a:noFill/>
                    </a:lnT>
                    <a:lnB>
                      <a:noFill/>
                    </a:lnB>
                  </a:tcPr>
                </a:tc>
              </a:tr>
              <a:tr h="213354">
                <a:tc gridSpan="3">
                  <a:txBody>
                    <a:bodyPr/>
                    <a:lstStyle/>
                    <a:p>
                      <a:pPr algn="l" fontAlgn="b"/>
                      <a:r>
                        <a:rPr lang="en-US" sz="1400" b="0" i="0" u="none" strike="noStrike" dirty="0">
                          <a:solidFill>
                            <a:srgbClr val="0000FF"/>
                          </a:solidFill>
                          <a:effectLst/>
                          <a:latin typeface="AngsanaUPC"/>
                        </a:rPr>
                        <a:t>SAMPLING DATE:</a:t>
                      </a:r>
                    </a:p>
                  </a:txBody>
                  <a:tcPr marL="0" marR="0" marT="0" marB="0" anchor="b">
                    <a:lnL>
                      <a:noFill/>
                    </a:lnL>
                    <a:lnR>
                      <a:noFill/>
                    </a:lnR>
                    <a:lnT>
                      <a:noFill/>
                    </a:lnT>
                    <a:lnB>
                      <a:noFill/>
                    </a:lnB>
                  </a:tcPr>
                </a:tc>
                <a:tc hMerge="1">
                  <a:txBody>
                    <a:bodyPr/>
                    <a:lstStyle/>
                    <a:p>
                      <a:endParaRPr lang="th-TH"/>
                    </a:p>
                  </a:txBody>
                  <a:tcPr/>
                </a:tc>
                <a:tc hMerge="1">
                  <a:txBody>
                    <a:bodyPr/>
                    <a:lstStyle/>
                    <a:p>
                      <a:endParaRPr lang="th-TH"/>
                    </a:p>
                  </a:txBody>
                  <a:tcPr/>
                </a:tc>
                <a:tc gridSpan="2">
                  <a:txBody>
                    <a:bodyPr/>
                    <a:lstStyle/>
                    <a:p>
                      <a:pPr algn="ctr" fontAlgn="b"/>
                      <a:r>
                        <a:rPr lang="th-TH" sz="1400" b="0" i="0" u="none" strike="noStrike" dirty="0">
                          <a:solidFill>
                            <a:srgbClr val="FF0000"/>
                          </a:solidFill>
                          <a:effectLst/>
                          <a:latin typeface="AngsanaUPC"/>
                        </a:rPr>
                        <a:t>  12 ก.พ.56</a:t>
                      </a:r>
                    </a:p>
                  </a:txBody>
                  <a:tcPr marL="0" marR="0" marT="0" marB="0" anchor="b">
                    <a:lnL>
                      <a:noFill/>
                    </a:lnL>
                    <a:lnR>
                      <a:noFill/>
                    </a:lnR>
                    <a:lnT>
                      <a:noFill/>
                    </a:lnT>
                    <a:lnB>
                      <a:noFill/>
                    </a:lnB>
                  </a:tcPr>
                </a:tc>
                <a:tc hMerge="1">
                  <a:txBody>
                    <a:bodyPr/>
                    <a:lstStyle/>
                    <a:p>
                      <a:pPr algn="ctr" fontAlgn="b"/>
                      <a:endParaRPr lang="th-TH" sz="1400" b="0" i="0" u="none" strike="noStrike" dirty="0">
                        <a:solidFill>
                          <a:srgbClr val="FF0000"/>
                        </a:solidFill>
                        <a:effectLst/>
                        <a:latin typeface="AngsanaUPC"/>
                      </a:endParaRPr>
                    </a:p>
                  </a:txBody>
                  <a:tcPr marL="0" marR="0" marT="0" marB="0" anchor="b">
                    <a:lnL>
                      <a:noFill/>
                    </a:lnL>
                    <a:lnR>
                      <a:noFill/>
                    </a:lnR>
                    <a:lnT>
                      <a:noFill/>
                    </a:lnT>
                    <a:lnB>
                      <a:noFill/>
                    </a:lnB>
                  </a:tcPr>
                </a:tc>
                <a:tc>
                  <a:txBody>
                    <a:bodyPr/>
                    <a:lstStyle/>
                    <a:p>
                      <a:pPr algn="l" fontAlgn="b"/>
                      <a:endParaRPr lang="th-TH" sz="1400" b="0" i="0" u="none" strike="noStrike" dirty="0">
                        <a:solidFill>
                          <a:srgbClr val="0000FF"/>
                        </a:solidFill>
                        <a:effectLst/>
                        <a:latin typeface="AngsanaUPC"/>
                      </a:endParaRPr>
                    </a:p>
                  </a:txBody>
                  <a:tcPr marL="0" marR="0" marT="0" marB="0" anchor="b">
                    <a:lnL>
                      <a:noFill/>
                    </a:lnL>
                    <a:lnR>
                      <a:noFill/>
                    </a:lnR>
                    <a:lnT>
                      <a:noFill/>
                    </a:lnT>
                    <a:lnB>
                      <a:noFill/>
                    </a:lnB>
                  </a:tcPr>
                </a:tc>
                <a:tc>
                  <a:txBody>
                    <a:bodyPr/>
                    <a:lstStyle/>
                    <a:p>
                      <a:pPr algn="l" fontAlgn="b"/>
                      <a:endParaRPr lang="th-TH" sz="1400" b="0" i="0" u="none" strike="noStrike">
                        <a:solidFill>
                          <a:srgbClr val="0000FF"/>
                        </a:solidFill>
                        <a:effectLst/>
                        <a:latin typeface="AngsanaUPC"/>
                      </a:endParaRPr>
                    </a:p>
                  </a:txBody>
                  <a:tcPr marL="0" marR="0" marT="0" marB="0" anchor="b">
                    <a:lnL>
                      <a:noFill/>
                    </a:lnL>
                    <a:lnR>
                      <a:noFill/>
                    </a:lnR>
                    <a:lnT>
                      <a:noFill/>
                    </a:lnT>
                    <a:lnB>
                      <a:noFill/>
                    </a:lnB>
                  </a:tcPr>
                </a:tc>
                <a:tc>
                  <a:txBody>
                    <a:bodyPr/>
                    <a:lstStyle/>
                    <a:p>
                      <a:pPr algn="l" fontAlgn="b"/>
                      <a:endParaRPr lang="th-TH" sz="1000" b="0" i="0" u="none" strike="noStrike">
                        <a:solidFill>
                          <a:srgbClr val="0000FF"/>
                        </a:solidFill>
                        <a:effectLst/>
                        <a:latin typeface="AngsanaUPC"/>
                      </a:endParaRPr>
                    </a:p>
                  </a:txBody>
                  <a:tcPr marL="0" marR="0" marT="0" marB="0" anchor="b">
                    <a:lnL>
                      <a:noFill/>
                    </a:lnL>
                    <a:lnR>
                      <a:noFill/>
                    </a:lnR>
                    <a:lnT>
                      <a:noFill/>
                    </a:lnT>
                    <a:lnB>
                      <a:noFill/>
                    </a:lnB>
                  </a:tcPr>
                </a:tc>
              </a:tr>
              <a:tr h="213354">
                <a:tc gridSpan="3">
                  <a:txBody>
                    <a:bodyPr/>
                    <a:lstStyle/>
                    <a:p>
                      <a:pPr algn="l" fontAlgn="b"/>
                      <a:r>
                        <a:rPr lang="en-US" sz="1400" b="0" i="0" u="none" strike="noStrike" dirty="0">
                          <a:solidFill>
                            <a:srgbClr val="0000FF"/>
                          </a:solidFill>
                          <a:effectLst/>
                          <a:latin typeface="AngsanaUPC"/>
                        </a:rPr>
                        <a:t>TYPE OF CHIPS:</a:t>
                      </a:r>
                    </a:p>
                  </a:txBody>
                  <a:tcPr marL="0" marR="0" marT="0" marB="0" anchor="b">
                    <a:lnL>
                      <a:noFill/>
                    </a:lnL>
                    <a:lnR>
                      <a:noFill/>
                    </a:lnR>
                    <a:lnT>
                      <a:noFill/>
                    </a:lnT>
                    <a:lnB>
                      <a:noFill/>
                    </a:lnB>
                  </a:tcPr>
                </a:tc>
                <a:tc hMerge="1">
                  <a:txBody>
                    <a:bodyPr/>
                    <a:lstStyle/>
                    <a:p>
                      <a:endParaRPr lang="th-TH"/>
                    </a:p>
                  </a:txBody>
                  <a:tcPr/>
                </a:tc>
                <a:tc hMerge="1">
                  <a:txBody>
                    <a:bodyPr/>
                    <a:lstStyle/>
                    <a:p>
                      <a:pPr algn="l" fontAlgn="b"/>
                      <a:endParaRPr lang="th-TH" sz="1400" b="0" i="0" u="none" strike="noStrike" dirty="0">
                        <a:solidFill>
                          <a:srgbClr val="0000FF"/>
                        </a:solidFill>
                        <a:effectLst/>
                        <a:latin typeface="AngsanaUPC"/>
                      </a:endParaRPr>
                    </a:p>
                  </a:txBody>
                  <a:tcPr marL="0" marR="0" marT="0" marB="0" anchor="b">
                    <a:lnL>
                      <a:noFill/>
                    </a:lnL>
                    <a:lnR>
                      <a:noFill/>
                    </a:lnR>
                    <a:lnT>
                      <a:noFill/>
                    </a:lnT>
                    <a:lnB>
                      <a:noFill/>
                    </a:lnB>
                  </a:tcPr>
                </a:tc>
                <a:tc gridSpan="2">
                  <a:txBody>
                    <a:bodyPr/>
                    <a:lstStyle/>
                    <a:p>
                      <a:pPr algn="ctr" fontAlgn="b"/>
                      <a:r>
                        <a:rPr lang="en-US" sz="1400" b="0" i="0" u="none" strike="noStrike" dirty="0">
                          <a:solidFill>
                            <a:srgbClr val="0000FF"/>
                          </a:solidFill>
                          <a:effectLst/>
                          <a:latin typeface="AngsanaUPC"/>
                        </a:rPr>
                        <a:t>Eucalyptus</a:t>
                      </a:r>
                    </a:p>
                  </a:txBody>
                  <a:tcPr marL="0" marR="0" marT="0" marB="0" anchor="b">
                    <a:lnL>
                      <a:noFill/>
                    </a:lnL>
                    <a:lnR>
                      <a:noFill/>
                    </a:lnR>
                    <a:lnT>
                      <a:noFill/>
                    </a:lnT>
                    <a:lnB>
                      <a:noFill/>
                    </a:lnB>
                  </a:tcPr>
                </a:tc>
                <a:tc hMerge="1">
                  <a:txBody>
                    <a:bodyPr/>
                    <a:lstStyle/>
                    <a:p>
                      <a:pPr algn="l" fontAlgn="b"/>
                      <a:endParaRPr lang="en-US" sz="1400" b="0" i="0" u="none" strike="noStrike" dirty="0">
                        <a:solidFill>
                          <a:srgbClr val="0000FF"/>
                        </a:solidFill>
                        <a:effectLst/>
                        <a:latin typeface="AngsanaUPC"/>
                      </a:endParaRPr>
                    </a:p>
                  </a:txBody>
                  <a:tcPr marL="0" marR="0" marT="0" marB="0" anchor="b">
                    <a:lnL>
                      <a:noFill/>
                    </a:lnL>
                    <a:lnR>
                      <a:noFill/>
                    </a:lnR>
                    <a:lnT>
                      <a:noFill/>
                    </a:lnT>
                    <a:lnB>
                      <a:noFill/>
                    </a:lnB>
                  </a:tcPr>
                </a:tc>
                <a:tc>
                  <a:txBody>
                    <a:bodyPr/>
                    <a:lstStyle/>
                    <a:p>
                      <a:pPr algn="l" fontAlgn="b"/>
                      <a:endParaRPr lang="th-TH" sz="1400" b="0" i="0" u="none" strike="noStrike" dirty="0">
                        <a:solidFill>
                          <a:srgbClr val="0000FF"/>
                        </a:solidFill>
                        <a:effectLst/>
                        <a:latin typeface="AngsanaUPC"/>
                      </a:endParaRPr>
                    </a:p>
                  </a:txBody>
                  <a:tcPr marL="0" marR="0" marT="0" marB="0" anchor="b">
                    <a:lnL>
                      <a:noFill/>
                    </a:lnL>
                    <a:lnR>
                      <a:noFill/>
                    </a:lnR>
                    <a:lnT>
                      <a:noFill/>
                    </a:lnT>
                    <a:lnB>
                      <a:noFill/>
                    </a:lnB>
                  </a:tcPr>
                </a:tc>
                <a:tc>
                  <a:txBody>
                    <a:bodyPr/>
                    <a:lstStyle/>
                    <a:p>
                      <a:pPr algn="l" fontAlgn="b"/>
                      <a:endParaRPr lang="th-TH" sz="1400" b="0" i="0" u="none" strike="noStrike">
                        <a:solidFill>
                          <a:srgbClr val="0000FF"/>
                        </a:solidFill>
                        <a:effectLst/>
                        <a:latin typeface="AngsanaUPC"/>
                      </a:endParaRPr>
                    </a:p>
                  </a:txBody>
                  <a:tcPr marL="0" marR="0" marT="0" marB="0" anchor="b">
                    <a:lnL>
                      <a:noFill/>
                    </a:lnL>
                    <a:lnR>
                      <a:noFill/>
                    </a:lnR>
                    <a:lnT>
                      <a:noFill/>
                    </a:lnT>
                    <a:lnB>
                      <a:noFill/>
                    </a:lnB>
                  </a:tcPr>
                </a:tc>
                <a:tc>
                  <a:txBody>
                    <a:bodyPr/>
                    <a:lstStyle/>
                    <a:p>
                      <a:pPr algn="l" fontAlgn="b"/>
                      <a:endParaRPr lang="th-TH" sz="1000" b="0" i="0" u="none" strike="noStrike">
                        <a:solidFill>
                          <a:srgbClr val="0000FF"/>
                        </a:solidFill>
                        <a:effectLst/>
                        <a:latin typeface="AngsanaUPC"/>
                      </a:endParaRPr>
                    </a:p>
                  </a:txBody>
                  <a:tcPr marL="0" marR="0" marT="0" marB="0" anchor="b">
                    <a:lnL>
                      <a:noFill/>
                    </a:lnL>
                    <a:lnR>
                      <a:noFill/>
                    </a:lnR>
                    <a:lnT>
                      <a:noFill/>
                    </a:lnT>
                    <a:lnB>
                      <a:noFill/>
                    </a:lnB>
                  </a:tcPr>
                </a:tc>
              </a:tr>
              <a:tr h="213354">
                <a:tc gridSpan="3">
                  <a:txBody>
                    <a:bodyPr/>
                    <a:lstStyle/>
                    <a:p>
                      <a:pPr algn="l" fontAlgn="b"/>
                      <a:r>
                        <a:rPr lang="en-US" sz="1400" b="0" i="0" u="none" strike="noStrike">
                          <a:solidFill>
                            <a:srgbClr val="0000FF"/>
                          </a:solidFill>
                          <a:effectLst/>
                          <a:latin typeface="AngsanaUPC"/>
                        </a:rPr>
                        <a:t>SAMPLING POSITION:</a:t>
                      </a:r>
                    </a:p>
                  </a:txBody>
                  <a:tcPr marL="0" marR="0" marT="0" marB="0" anchor="b">
                    <a:lnL>
                      <a:noFill/>
                    </a:lnL>
                    <a:lnR>
                      <a:noFill/>
                    </a:lnR>
                    <a:lnT>
                      <a:noFill/>
                    </a:lnT>
                    <a:lnB>
                      <a:noFill/>
                    </a:lnB>
                  </a:tcPr>
                </a:tc>
                <a:tc hMerge="1">
                  <a:txBody>
                    <a:bodyPr/>
                    <a:lstStyle/>
                    <a:p>
                      <a:endParaRPr lang="th-TH"/>
                    </a:p>
                  </a:txBody>
                  <a:tcPr/>
                </a:tc>
                <a:tc hMerge="1">
                  <a:txBody>
                    <a:bodyPr/>
                    <a:lstStyle/>
                    <a:p>
                      <a:endParaRPr lang="th-TH"/>
                    </a:p>
                  </a:txBody>
                  <a:tcPr/>
                </a:tc>
                <a:tc gridSpan="2">
                  <a:txBody>
                    <a:bodyPr/>
                    <a:lstStyle/>
                    <a:p>
                      <a:pPr algn="ctr" fontAlgn="b"/>
                      <a:r>
                        <a:rPr lang="en-US" sz="1400" b="0" i="0" u="none" strike="noStrike" dirty="0">
                          <a:solidFill>
                            <a:srgbClr val="0000FF"/>
                          </a:solidFill>
                          <a:effectLst/>
                          <a:latin typeface="AngsanaUPC"/>
                        </a:rPr>
                        <a:t>SPPC</a:t>
                      </a:r>
                    </a:p>
                  </a:txBody>
                  <a:tcPr marL="0" marR="0" marT="0" marB="0" anchor="b">
                    <a:lnL>
                      <a:noFill/>
                    </a:lnL>
                    <a:lnR>
                      <a:noFill/>
                    </a:lnR>
                    <a:lnT>
                      <a:noFill/>
                    </a:lnT>
                    <a:lnB>
                      <a:noFill/>
                    </a:lnB>
                  </a:tcPr>
                </a:tc>
                <a:tc hMerge="1">
                  <a:txBody>
                    <a:bodyPr/>
                    <a:lstStyle/>
                    <a:p>
                      <a:pPr algn="ctr" fontAlgn="b"/>
                      <a:endParaRPr lang="en-US" sz="1400" b="0" i="0" u="none" strike="noStrike" dirty="0">
                        <a:solidFill>
                          <a:srgbClr val="0000FF"/>
                        </a:solidFill>
                        <a:effectLst/>
                        <a:latin typeface="AngsanaUPC"/>
                      </a:endParaRPr>
                    </a:p>
                  </a:txBody>
                  <a:tcPr marL="0" marR="0" marT="0" marB="0" anchor="b">
                    <a:lnL>
                      <a:noFill/>
                    </a:lnL>
                    <a:lnR>
                      <a:noFill/>
                    </a:lnR>
                    <a:lnT>
                      <a:noFill/>
                    </a:lnT>
                    <a:lnB>
                      <a:noFill/>
                    </a:lnB>
                  </a:tcPr>
                </a:tc>
                <a:tc>
                  <a:txBody>
                    <a:bodyPr/>
                    <a:lstStyle/>
                    <a:p>
                      <a:pPr algn="l" fontAlgn="b"/>
                      <a:endParaRPr lang="th-TH" sz="1400" b="0" i="0" u="none" strike="noStrike" dirty="0">
                        <a:solidFill>
                          <a:srgbClr val="0000FF"/>
                        </a:solidFill>
                        <a:effectLst/>
                        <a:latin typeface="AngsanaUPC"/>
                      </a:endParaRPr>
                    </a:p>
                  </a:txBody>
                  <a:tcPr marL="0" marR="0" marT="0" marB="0" anchor="b">
                    <a:lnL>
                      <a:noFill/>
                    </a:lnL>
                    <a:lnR>
                      <a:noFill/>
                    </a:lnR>
                    <a:lnT>
                      <a:noFill/>
                    </a:lnT>
                    <a:lnB>
                      <a:noFill/>
                    </a:lnB>
                  </a:tcPr>
                </a:tc>
                <a:tc>
                  <a:txBody>
                    <a:bodyPr/>
                    <a:lstStyle/>
                    <a:p>
                      <a:pPr algn="l" fontAlgn="b"/>
                      <a:endParaRPr lang="th-TH" sz="1400" b="0" i="0" u="none" strike="noStrike">
                        <a:solidFill>
                          <a:srgbClr val="0000FF"/>
                        </a:solidFill>
                        <a:effectLst/>
                        <a:latin typeface="AngsanaUPC"/>
                      </a:endParaRPr>
                    </a:p>
                  </a:txBody>
                  <a:tcPr marL="0" marR="0" marT="0" marB="0" anchor="b">
                    <a:lnL>
                      <a:noFill/>
                    </a:lnL>
                    <a:lnR>
                      <a:noFill/>
                    </a:lnR>
                    <a:lnT>
                      <a:noFill/>
                    </a:lnT>
                    <a:lnB>
                      <a:noFill/>
                    </a:lnB>
                  </a:tcPr>
                </a:tc>
                <a:tc>
                  <a:txBody>
                    <a:bodyPr/>
                    <a:lstStyle/>
                    <a:p>
                      <a:pPr algn="l" fontAlgn="b"/>
                      <a:endParaRPr lang="th-TH" sz="1000" b="0" i="0" u="none" strike="noStrike">
                        <a:solidFill>
                          <a:srgbClr val="0000FF"/>
                        </a:solidFill>
                        <a:effectLst/>
                        <a:latin typeface="AngsanaUPC"/>
                      </a:endParaRPr>
                    </a:p>
                  </a:txBody>
                  <a:tcPr marL="0" marR="0" marT="0" marB="0" anchor="b">
                    <a:lnL>
                      <a:noFill/>
                    </a:lnL>
                    <a:lnR>
                      <a:noFill/>
                    </a:lnR>
                    <a:lnT>
                      <a:noFill/>
                    </a:lnT>
                    <a:lnB>
                      <a:noFill/>
                    </a:lnB>
                  </a:tcPr>
                </a:tc>
              </a:tr>
              <a:tr h="213354">
                <a:tc>
                  <a:txBody>
                    <a:bodyPr/>
                    <a:lstStyle/>
                    <a:p>
                      <a:pPr algn="l" fontAlgn="b"/>
                      <a:endParaRPr lang="th-TH" sz="1000" b="0" i="0" u="none" strike="noStrike">
                        <a:solidFill>
                          <a:srgbClr val="0000FF"/>
                        </a:solidFill>
                        <a:effectLst/>
                        <a:latin typeface="AngsanaUPC"/>
                      </a:endParaRPr>
                    </a:p>
                  </a:txBody>
                  <a:tcPr marL="0" marR="0" marT="0" marB="0" anchor="b">
                    <a:lnL>
                      <a:noFill/>
                    </a:lnL>
                    <a:lnR>
                      <a:noFill/>
                    </a:lnR>
                    <a:lnT>
                      <a:noFill/>
                    </a:lnT>
                    <a:lnB>
                      <a:noFill/>
                    </a:lnB>
                  </a:tcPr>
                </a:tc>
                <a:tc>
                  <a:txBody>
                    <a:bodyPr/>
                    <a:lstStyle/>
                    <a:p>
                      <a:pPr algn="l" fontAlgn="b"/>
                      <a:endParaRPr lang="th-TH" sz="1000" b="0" i="0" u="none" strike="noStrike">
                        <a:solidFill>
                          <a:srgbClr val="0000FF"/>
                        </a:solidFill>
                        <a:effectLst/>
                        <a:latin typeface="AngsanaUPC"/>
                      </a:endParaRPr>
                    </a:p>
                  </a:txBody>
                  <a:tcPr marL="0" marR="0" marT="0" marB="0" anchor="b">
                    <a:lnL>
                      <a:noFill/>
                    </a:lnL>
                    <a:lnR>
                      <a:noFill/>
                    </a:lnR>
                    <a:lnT>
                      <a:noFill/>
                    </a:lnT>
                    <a:lnB>
                      <a:noFill/>
                    </a:lnB>
                  </a:tcPr>
                </a:tc>
                <a:tc>
                  <a:txBody>
                    <a:bodyPr/>
                    <a:lstStyle/>
                    <a:p>
                      <a:pPr algn="l" fontAlgn="b"/>
                      <a:endParaRPr lang="th-TH" sz="1400" b="0" i="0" u="none" strike="noStrike">
                        <a:solidFill>
                          <a:srgbClr val="0000FF"/>
                        </a:solidFill>
                        <a:effectLst/>
                        <a:latin typeface="AngsanaUPC"/>
                      </a:endParaRPr>
                    </a:p>
                  </a:txBody>
                  <a:tcPr marL="0" marR="0" marT="0" marB="0" anchor="b">
                    <a:lnL>
                      <a:noFill/>
                    </a:lnL>
                    <a:lnR>
                      <a:noFill/>
                    </a:lnR>
                    <a:lnT>
                      <a:noFill/>
                    </a:lnT>
                    <a:lnB>
                      <a:noFill/>
                    </a:lnB>
                  </a:tcPr>
                </a:tc>
                <a:tc gridSpan="2">
                  <a:txBody>
                    <a:bodyPr/>
                    <a:lstStyle/>
                    <a:p>
                      <a:pPr algn="ctr" fontAlgn="b"/>
                      <a:r>
                        <a:rPr lang="th-TH" sz="1400" b="0" i="0" u="none" strike="noStrike" dirty="0">
                          <a:solidFill>
                            <a:srgbClr val="3366FF"/>
                          </a:solidFill>
                          <a:effectLst/>
                          <a:latin typeface="AngsanaUPC"/>
                        </a:rPr>
                        <a:t>2120.99</a:t>
                      </a:r>
                    </a:p>
                  </a:txBody>
                  <a:tcPr marL="0" marR="0" marT="0" marB="0" anchor="b">
                    <a:lnL>
                      <a:noFill/>
                    </a:lnL>
                    <a:lnR>
                      <a:noFill/>
                    </a:lnR>
                    <a:lnT>
                      <a:noFill/>
                    </a:lnT>
                    <a:lnB>
                      <a:noFill/>
                    </a:lnB>
                  </a:tcPr>
                </a:tc>
                <a:tc hMerge="1">
                  <a:txBody>
                    <a:bodyPr/>
                    <a:lstStyle/>
                    <a:p>
                      <a:pPr algn="r" fontAlgn="b"/>
                      <a:endParaRPr lang="th-TH" sz="1400" b="0" i="0" u="none" strike="noStrike" dirty="0">
                        <a:solidFill>
                          <a:srgbClr val="3366FF"/>
                        </a:solidFill>
                        <a:effectLst/>
                        <a:latin typeface="AngsanaUPC"/>
                      </a:endParaRPr>
                    </a:p>
                  </a:txBody>
                  <a:tcPr marL="0" marR="0" marT="0" marB="0" anchor="b">
                    <a:lnL>
                      <a:noFill/>
                    </a:lnL>
                    <a:lnR>
                      <a:noFill/>
                    </a:lnR>
                    <a:lnT>
                      <a:noFill/>
                    </a:lnT>
                    <a:lnB>
                      <a:noFill/>
                    </a:lnB>
                  </a:tcPr>
                </a:tc>
                <a:tc>
                  <a:txBody>
                    <a:bodyPr/>
                    <a:lstStyle/>
                    <a:p>
                      <a:pPr algn="l" fontAlgn="b"/>
                      <a:r>
                        <a:rPr lang="en-US" sz="1400" b="0" i="0" u="none" strike="noStrike" dirty="0">
                          <a:solidFill>
                            <a:srgbClr val="0000FF"/>
                          </a:solidFill>
                          <a:effectLst/>
                          <a:latin typeface="AngsanaUPC"/>
                        </a:rPr>
                        <a:t>g.  (ASIS)</a:t>
                      </a:r>
                    </a:p>
                  </a:txBody>
                  <a:tcPr marL="0" marR="0" marT="0" marB="0" anchor="b">
                    <a:lnL>
                      <a:noFill/>
                    </a:lnL>
                    <a:lnR>
                      <a:noFill/>
                    </a:lnR>
                    <a:lnT>
                      <a:noFill/>
                    </a:lnT>
                    <a:lnB>
                      <a:noFill/>
                    </a:lnB>
                  </a:tcPr>
                </a:tc>
                <a:tc>
                  <a:txBody>
                    <a:bodyPr/>
                    <a:lstStyle/>
                    <a:p>
                      <a:pPr algn="l" fontAlgn="b"/>
                      <a:endParaRPr lang="th-TH" sz="1400" b="0" i="0" u="none" strike="noStrike" dirty="0">
                        <a:solidFill>
                          <a:srgbClr val="0000FF"/>
                        </a:solidFill>
                        <a:effectLst/>
                        <a:latin typeface="AngsanaUPC"/>
                      </a:endParaRPr>
                    </a:p>
                  </a:txBody>
                  <a:tcPr marL="0" marR="0" marT="0" marB="0" anchor="b">
                    <a:lnL>
                      <a:noFill/>
                    </a:lnL>
                    <a:lnR>
                      <a:noFill/>
                    </a:lnR>
                    <a:lnT>
                      <a:noFill/>
                    </a:lnT>
                    <a:lnB>
                      <a:noFill/>
                    </a:lnB>
                  </a:tcPr>
                </a:tc>
                <a:tc>
                  <a:txBody>
                    <a:bodyPr/>
                    <a:lstStyle/>
                    <a:p>
                      <a:pPr algn="l" fontAlgn="b"/>
                      <a:endParaRPr lang="th-TH" sz="1000" b="0" i="0" u="none" strike="noStrike">
                        <a:solidFill>
                          <a:srgbClr val="0000FF"/>
                        </a:solidFill>
                        <a:effectLst/>
                        <a:latin typeface="AngsanaUPC"/>
                      </a:endParaRPr>
                    </a:p>
                  </a:txBody>
                  <a:tcPr marL="0" marR="0" marT="0" marB="0" anchor="b">
                    <a:lnL>
                      <a:noFill/>
                    </a:lnL>
                    <a:lnR>
                      <a:noFill/>
                    </a:lnR>
                    <a:lnT>
                      <a:noFill/>
                    </a:lnT>
                    <a:lnB>
                      <a:noFill/>
                    </a:lnB>
                  </a:tcPr>
                </a:tc>
              </a:tr>
              <a:tr h="152396">
                <a:tc>
                  <a:txBody>
                    <a:bodyPr/>
                    <a:lstStyle/>
                    <a:p>
                      <a:pPr algn="l" fontAlgn="b"/>
                      <a:endParaRPr lang="th-TH" sz="600" b="0" i="0" u="none" strike="noStrike">
                        <a:solidFill>
                          <a:srgbClr val="0000FF"/>
                        </a:solidFill>
                        <a:effectLst/>
                        <a:latin typeface="AngsanaUPC"/>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th-TH" sz="600" b="0" i="0" u="none" strike="noStrike">
                        <a:solidFill>
                          <a:srgbClr val="0000FF"/>
                        </a:solidFill>
                        <a:effectLst/>
                        <a:latin typeface="AngsanaUPC"/>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th-TH" sz="1000" b="0" i="0" u="none" strike="noStrike">
                        <a:solidFill>
                          <a:srgbClr val="0000FF"/>
                        </a:solidFill>
                        <a:effectLst/>
                        <a:latin typeface="AngsanaUPC"/>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th-TH" sz="1000" b="0" i="0" u="none" strike="noStrike">
                        <a:solidFill>
                          <a:srgbClr val="0000FF"/>
                        </a:solidFill>
                        <a:effectLst/>
                        <a:latin typeface="AngsanaUPC"/>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th-TH" sz="1000" b="0" i="0" u="none" strike="noStrike" dirty="0">
                        <a:solidFill>
                          <a:srgbClr val="0000FF"/>
                        </a:solidFill>
                        <a:effectLst/>
                        <a:latin typeface="AngsanaUPC"/>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th-TH" sz="1000" b="0" i="0" u="none" strike="noStrike" dirty="0">
                        <a:solidFill>
                          <a:srgbClr val="0000FF"/>
                        </a:solidFill>
                        <a:effectLst/>
                        <a:latin typeface="AngsanaUPC"/>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th-TH" sz="1000" b="0" i="0" u="none" strike="noStrike">
                        <a:solidFill>
                          <a:srgbClr val="0000FF"/>
                        </a:solidFill>
                        <a:effectLst/>
                        <a:latin typeface="AngsanaUPC"/>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th-TH" sz="600" b="0" i="0" u="none" strike="noStrike">
                        <a:solidFill>
                          <a:srgbClr val="0000FF"/>
                        </a:solidFill>
                        <a:effectLst/>
                        <a:latin typeface="AngsanaUPC"/>
                      </a:endParaRPr>
                    </a:p>
                  </a:txBody>
                  <a:tcPr marL="0" marR="0" marT="0" marB="0" anchor="b">
                    <a:lnL>
                      <a:noFill/>
                    </a:lnL>
                    <a:lnR>
                      <a:noFill/>
                    </a:lnR>
                    <a:lnT>
                      <a:noFill/>
                    </a:lnT>
                    <a:lnB>
                      <a:noFill/>
                    </a:lnB>
                  </a:tcPr>
                </a:tc>
              </a:tr>
              <a:tr h="365749">
                <a:tc gridSpan="2">
                  <a:txBody>
                    <a:bodyPr/>
                    <a:lstStyle/>
                    <a:p>
                      <a:pPr algn="ctr" fontAlgn="ctr"/>
                      <a:r>
                        <a:rPr lang="en-US" sz="1400" b="0" i="0" u="none" strike="noStrike" dirty="0">
                          <a:solidFill>
                            <a:srgbClr val="0000FF"/>
                          </a:solidFill>
                          <a:effectLst/>
                          <a:latin typeface="AngsanaUPC"/>
                        </a:rPr>
                        <a:t>HOLE  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C0C0C0"/>
                    </a:solidFill>
                  </a:tcPr>
                </a:tc>
                <a:tc hMerge="1">
                  <a:txBody>
                    <a:bodyPr/>
                    <a:lstStyle/>
                    <a:p>
                      <a:endParaRPr lang="th-TH"/>
                    </a:p>
                  </a:txBody>
                  <a:tcPr/>
                </a:tc>
                <a:tc gridSpan="3">
                  <a:txBody>
                    <a:bodyPr/>
                    <a:lstStyle/>
                    <a:p>
                      <a:pPr algn="l" fontAlgn="ctr"/>
                      <a:r>
                        <a:rPr lang="en-US" sz="1400" b="0" i="0" u="none" strike="noStrike" dirty="0">
                          <a:solidFill>
                            <a:srgbClr val="0000FF"/>
                          </a:solidFill>
                          <a:effectLst/>
                          <a:latin typeface="AngsanaUPC"/>
                        </a:rPr>
                        <a:t>WEIGHT  OF FRACTION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C0C0C0"/>
                    </a:solidFill>
                  </a:tcPr>
                </a:tc>
                <a:tc hMerge="1">
                  <a:txBody>
                    <a:bodyPr/>
                    <a:lstStyle/>
                    <a:p>
                      <a:endParaRPr lang="th-TH"/>
                    </a:p>
                  </a:txBody>
                  <a:tcPr/>
                </a:tc>
                <a:tc hMerge="1">
                  <a:txBody>
                    <a:bodyPr/>
                    <a:lstStyle/>
                    <a:p>
                      <a:endParaRPr lang="th-TH"/>
                    </a:p>
                  </a:txBody>
                  <a:tcPr/>
                </a:tc>
                <a:tc>
                  <a:txBody>
                    <a:bodyPr/>
                    <a:lstStyle/>
                    <a:p>
                      <a:pPr algn="ctr" fontAlgn="ctr"/>
                      <a:r>
                        <a:rPr lang="en-US" sz="1400" b="0" i="0" u="none" strike="noStrike" dirty="0">
                          <a:solidFill>
                            <a:srgbClr val="0000FF"/>
                          </a:solidFill>
                          <a:effectLst/>
                          <a:latin typeface="AngsanaUPC"/>
                        </a:rPr>
                        <a:t>% FRACTION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C0C0C0"/>
                    </a:solidFill>
                  </a:tcPr>
                </a:tc>
                <a:tc>
                  <a:txBody>
                    <a:bodyPr/>
                    <a:lstStyle/>
                    <a:p>
                      <a:pPr algn="ctr" fontAlgn="ctr"/>
                      <a:r>
                        <a:rPr lang="en-US" sz="1200" b="0" i="0" u="none" strike="noStrike">
                          <a:solidFill>
                            <a:srgbClr val="0000FF"/>
                          </a:solidFill>
                          <a:effectLst/>
                          <a:latin typeface="AngsanaUPC"/>
                        </a:rPr>
                        <a:t>% STD. FRACTION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C0C0C0"/>
                    </a:solidFill>
                  </a:tcPr>
                </a:tc>
                <a:tc>
                  <a:txBody>
                    <a:bodyPr/>
                    <a:lstStyle/>
                    <a:p>
                      <a:pPr algn="l" fontAlgn="ctr"/>
                      <a:endParaRPr lang="th-TH" sz="600" b="0" i="0" u="none" strike="noStrike">
                        <a:solidFill>
                          <a:srgbClr val="0000FF"/>
                        </a:solidFill>
                        <a:effectLst/>
                        <a:latin typeface="AngsanaUPC"/>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r>
              <a:tr h="213354">
                <a:tc>
                  <a:txBody>
                    <a:bodyPr/>
                    <a:lstStyle/>
                    <a:p>
                      <a:pPr algn="ctr" fontAlgn="b"/>
                      <a:r>
                        <a:rPr lang="th-TH" sz="1000" b="0" i="0" u="none" strike="noStrike" dirty="0">
                          <a:solidFill>
                            <a:srgbClr val="0000FF"/>
                          </a:solidFill>
                          <a:effectLst/>
                          <a:latin typeface="AngsanaUPC"/>
                        </a:rPr>
                        <a:t> </a:t>
                      </a:r>
                    </a:p>
                  </a:txBody>
                  <a:tcPr marL="0" marR="0" marT="0"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C0C0C0"/>
                    </a:solidFill>
                  </a:tcPr>
                </a:tc>
                <a:tc>
                  <a:txBody>
                    <a:bodyPr/>
                    <a:lstStyle/>
                    <a:p>
                      <a:pPr algn="ctr" fontAlgn="b"/>
                      <a:r>
                        <a:rPr lang="th-TH" sz="1000" b="0" i="0" u="none" strike="noStrike">
                          <a:solidFill>
                            <a:srgbClr val="0000FF"/>
                          </a:solidFill>
                          <a:effectLst/>
                          <a:latin typeface="AngsanaUPC"/>
                        </a:rPr>
                        <a:t> </a:t>
                      </a:r>
                    </a:p>
                  </a:txBody>
                  <a:tcPr marL="0" marR="0" marT="0"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C0C0C0"/>
                    </a:solidFill>
                  </a:tcPr>
                </a:tc>
                <a:tc>
                  <a:txBody>
                    <a:bodyPr/>
                    <a:lstStyle/>
                    <a:p>
                      <a:pPr algn="l" fontAlgn="b"/>
                      <a:r>
                        <a:rPr lang="th-TH" sz="1400" b="0" i="0" u="none" strike="noStrike">
                          <a:solidFill>
                            <a:srgbClr val="0000FF"/>
                          </a:solidFill>
                          <a:effectLst/>
                          <a:latin typeface="AngsanaUPC"/>
                        </a:rPr>
                        <a:t> </a:t>
                      </a:r>
                    </a:p>
                  </a:txBody>
                  <a:tcPr marL="0" marR="0" marT="0"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C0C0C0"/>
                    </a:solidFill>
                  </a:tcPr>
                </a:tc>
                <a:tc>
                  <a:txBody>
                    <a:bodyPr/>
                    <a:lstStyle/>
                    <a:p>
                      <a:pPr algn="l" fontAlgn="b"/>
                      <a:r>
                        <a:rPr lang="th-TH" sz="1400" b="0" i="0" u="none" strike="noStrike">
                          <a:solidFill>
                            <a:srgbClr val="0000FF"/>
                          </a:solidFill>
                          <a:effectLst/>
                          <a:latin typeface="AngsanaUPC"/>
                        </a:rPr>
                        <a:t> </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C0C0C0"/>
                    </a:solidFill>
                  </a:tcPr>
                </a:tc>
                <a:tc>
                  <a:txBody>
                    <a:bodyPr/>
                    <a:lstStyle/>
                    <a:p>
                      <a:pPr algn="l" fontAlgn="b"/>
                      <a:r>
                        <a:rPr lang="th-TH" sz="1400" b="0" i="0" u="none" strike="noStrike">
                          <a:solidFill>
                            <a:srgbClr val="0000FF"/>
                          </a:solidFill>
                          <a:effectLst/>
                          <a:latin typeface="AngsanaUPC"/>
                        </a:rPr>
                        <a:t> </a:t>
                      </a:r>
                    </a:p>
                  </a:txBody>
                  <a:tcPr marL="0" marR="0" marT="0"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C0C0C0"/>
                    </a:solidFill>
                  </a:tcPr>
                </a:tc>
                <a:tc>
                  <a:txBody>
                    <a:bodyPr/>
                    <a:lstStyle/>
                    <a:p>
                      <a:pPr algn="ctr" fontAlgn="b"/>
                      <a:r>
                        <a:rPr lang="th-TH" sz="1400" b="0" i="0" u="none" strike="noStrike" dirty="0">
                          <a:solidFill>
                            <a:srgbClr val="0000FF"/>
                          </a:solidFill>
                          <a:effectLst/>
                          <a:latin typeface="AngsanaUPC"/>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C0C0C0"/>
                    </a:solidFill>
                  </a:tcPr>
                </a:tc>
                <a:tc>
                  <a:txBody>
                    <a:bodyPr/>
                    <a:lstStyle/>
                    <a:p>
                      <a:pPr algn="ctr" fontAlgn="b"/>
                      <a:r>
                        <a:rPr lang="th-TH" sz="1100" b="0" i="0" u="none" strike="noStrike">
                          <a:solidFill>
                            <a:srgbClr val="0000FF"/>
                          </a:solidFill>
                          <a:effectLst/>
                          <a:latin typeface="AngsanaUPC"/>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C0C0C0"/>
                    </a:solidFill>
                  </a:tcPr>
                </a:tc>
                <a:tc>
                  <a:txBody>
                    <a:bodyPr/>
                    <a:lstStyle/>
                    <a:p>
                      <a:pPr algn="l" fontAlgn="b"/>
                      <a:endParaRPr lang="th-TH" sz="1000" b="0" i="0" u="none" strike="noStrike">
                        <a:solidFill>
                          <a:srgbClr val="0000FF"/>
                        </a:solidFill>
                        <a:effectLst/>
                        <a:latin typeface="AngsanaUPC"/>
                      </a:endParaRPr>
                    </a:p>
                  </a:txBody>
                  <a:tcPr marL="0" marR="0" marT="0" marB="0" anchor="b">
                    <a:lnL w="6350" cap="flat" cmpd="sng" algn="ctr">
                      <a:solidFill>
                        <a:srgbClr val="000000"/>
                      </a:solidFill>
                      <a:prstDash val="solid"/>
                      <a:round/>
                      <a:headEnd type="none" w="med" len="med"/>
                      <a:tailEnd type="none" w="med" len="med"/>
                    </a:lnL>
                    <a:lnR>
                      <a:noFill/>
                    </a:lnR>
                    <a:lnT>
                      <a:noFill/>
                    </a:lnT>
                    <a:lnB>
                      <a:noFill/>
                    </a:lnB>
                  </a:tcPr>
                </a:tc>
              </a:tr>
              <a:tr h="213354">
                <a:tc gridSpan="2">
                  <a:txBody>
                    <a:bodyPr/>
                    <a:lstStyle/>
                    <a:p>
                      <a:pPr algn="l" fontAlgn="b"/>
                      <a:r>
                        <a:rPr lang="en-US" sz="1400" b="0" i="0" u="none" strike="noStrike" dirty="0">
                          <a:solidFill>
                            <a:srgbClr val="0000FF"/>
                          </a:solidFill>
                          <a:effectLst/>
                          <a:latin typeface="AngsanaUPC"/>
                        </a:rPr>
                        <a:t>HOLE 45 mm.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hMerge="1">
                  <a:txBody>
                    <a:bodyPr/>
                    <a:lstStyle/>
                    <a:p>
                      <a:endParaRPr lang="th-TH"/>
                    </a:p>
                  </a:txBody>
                  <a:tcPr/>
                </a:tc>
                <a:tc>
                  <a:txBody>
                    <a:bodyPr/>
                    <a:lstStyle/>
                    <a:p>
                      <a:pPr algn="l" fontAlgn="b"/>
                      <a:r>
                        <a:rPr lang="th-TH" sz="1400" b="0" i="0" u="none" strike="noStrike" dirty="0">
                          <a:solidFill>
                            <a:srgbClr val="0000FF"/>
                          </a:solidFill>
                          <a:effectLst/>
                          <a:latin typeface="AngsanaUPC"/>
                        </a:rPr>
                        <a:t> </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th-TH" sz="1400" b="0" i="0" u="none" strike="noStrike">
                          <a:solidFill>
                            <a:srgbClr val="FF0000"/>
                          </a:solidFill>
                          <a:effectLst/>
                          <a:latin typeface="AngsanaUPC"/>
                        </a:rPr>
                        <a:t>31.96</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th-TH" sz="1400" b="0" i="0" u="none" strike="noStrike" dirty="0">
                          <a:solidFill>
                            <a:srgbClr val="0000FF"/>
                          </a:solidFill>
                          <a:effectLst/>
                          <a:latin typeface="AngsanaUPC"/>
                        </a:rPr>
                        <a:t> </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th-TH" sz="1400" b="0" i="0" u="none" strike="noStrike" dirty="0">
                          <a:solidFill>
                            <a:srgbClr val="0000FF"/>
                          </a:solidFill>
                          <a:effectLst/>
                          <a:latin typeface="AngsanaUPC"/>
                        </a:rPr>
                        <a:t>1.51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400" b="0" i="0" u="none" strike="noStrike" dirty="0">
                          <a:solidFill>
                            <a:srgbClr val="0000FF"/>
                          </a:solidFill>
                          <a:effectLst/>
                          <a:latin typeface="AngsanaUPC"/>
                        </a:rPr>
                        <a:t>max. 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200" b="0" i="0" u="none" strike="noStrike" dirty="0">
                          <a:solidFill>
                            <a:srgbClr val="0000FF"/>
                          </a:solidFill>
                          <a:effectLst/>
                          <a:latin typeface="AngsanaUPC"/>
                        </a:rPr>
                        <a:t>Oversize</a:t>
                      </a:r>
                    </a:p>
                  </a:txBody>
                  <a:tcPr marL="0" marR="0" marT="0" marB="0" anchor="b">
                    <a:lnL w="6350" cap="flat" cmpd="sng" algn="ctr">
                      <a:solidFill>
                        <a:srgbClr val="000000"/>
                      </a:solidFill>
                      <a:prstDash val="solid"/>
                      <a:round/>
                      <a:headEnd type="none" w="med" len="med"/>
                      <a:tailEnd type="none" w="med" len="med"/>
                    </a:lnL>
                    <a:lnR>
                      <a:noFill/>
                    </a:lnR>
                    <a:lnT>
                      <a:noFill/>
                    </a:lnT>
                    <a:lnB>
                      <a:noFill/>
                    </a:lnB>
                  </a:tcPr>
                </a:tc>
              </a:tr>
              <a:tr h="213354">
                <a:tc gridSpan="2">
                  <a:txBody>
                    <a:bodyPr/>
                    <a:lstStyle/>
                    <a:p>
                      <a:pPr algn="l" fontAlgn="b"/>
                      <a:r>
                        <a:rPr lang="en-US" sz="1400" b="0" i="0" u="none" strike="noStrike" dirty="0">
                          <a:solidFill>
                            <a:srgbClr val="0000FF"/>
                          </a:solidFill>
                          <a:effectLst/>
                          <a:latin typeface="AngsanaUPC"/>
                        </a:rPr>
                        <a:t>SLOT 8 mm.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hMerge="1">
                  <a:txBody>
                    <a:bodyPr/>
                    <a:lstStyle/>
                    <a:p>
                      <a:endParaRPr lang="th-TH"/>
                    </a:p>
                  </a:txBody>
                  <a:tcPr/>
                </a:tc>
                <a:tc>
                  <a:txBody>
                    <a:bodyPr/>
                    <a:lstStyle/>
                    <a:p>
                      <a:pPr algn="l" fontAlgn="b"/>
                      <a:r>
                        <a:rPr lang="th-TH" sz="1400" b="0" i="0" u="none" strike="noStrike">
                          <a:solidFill>
                            <a:srgbClr val="0000FF"/>
                          </a:solidFill>
                          <a:effectLst/>
                          <a:latin typeface="AngsanaUPC"/>
                        </a:rPr>
                        <a:t> </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th-TH" sz="1400" b="0" i="0" u="none" strike="noStrike" dirty="0">
                          <a:solidFill>
                            <a:srgbClr val="FF0000"/>
                          </a:solidFill>
                          <a:effectLst/>
                          <a:latin typeface="AngsanaUPC"/>
                        </a:rPr>
                        <a:t>214.24</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th-TH" sz="1400" b="0" i="0" u="none" strike="noStrike" dirty="0">
                          <a:solidFill>
                            <a:srgbClr val="0000FF"/>
                          </a:solidFill>
                          <a:effectLst/>
                          <a:latin typeface="AngsanaUPC"/>
                        </a:rPr>
                        <a:t> </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th-TH" sz="1400" b="0" i="0" u="none" strike="noStrike">
                          <a:solidFill>
                            <a:srgbClr val="0000FF"/>
                          </a:solidFill>
                          <a:effectLst/>
                          <a:latin typeface="AngsanaUPC"/>
                        </a:rPr>
                        <a:t>10.10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th-TH" sz="1400" b="0" i="0" u="none" strike="noStrike" dirty="0">
                          <a:solidFill>
                            <a:srgbClr val="0000FF"/>
                          </a:solidFill>
                          <a:effectLst/>
                          <a:latin typeface="AngsanaUPC"/>
                        </a:rPr>
                        <a:t>-</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err="1">
                          <a:effectLst/>
                          <a:latin typeface="AngsanaUPC"/>
                        </a:rPr>
                        <a:t>Overthick</a:t>
                      </a:r>
                      <a:endParaRPr lang="en-US" sz="1100" b="0" i="0" u="none" strike="noStrike" dirty="0">
                        <a:effectLst/>
                        <a:latin typeface="AngsanaUPC"/>
                      </a:endParaRPr>
                    </a:p>
                  </a:txBody>
                  <a:tcPr marL="0" marR="0" marT="0" marB="0">
                    <a:lnL w="6350" cap="flat" cmpd="sng" algn="ctr">
                      <a:solidFill>
                        <a:srgbClr val="000000"/>
                      </a:solidFill>
                      <a:prstDash val="solid"/>
                      <a:round/>
                      <a:headEnd type="none" w="med" len="med"/>
                      <a:tailEnd type="none" w="med" len="med"/>
                    </a:lnL>
                    <a:lnR>
                      <a:noFill/>
                    </a:lnR>
                    <a:lnT>
                      <a:noFill/>
                    </a:lnT>
                    <a:lnB>
                      <a:noFill/>
                    </a:lnB>
                  </a:tcPr>
                </a:tc>
              </a:tr>
              <a:tr h="307755">
                <a:tc gridSpan="2">
                  <a:txBody>
                    <a:bodyPr/>
                    <a:lstStyle/>
                    <a:p>
                      <a:pPr algn="l" fontAlgn="b"/>
                      <a:r>
                        <a:rPr lang="en-US" sz="1400" b="0" i="0" u="none" strike="noStrike" dirty="0">
                          <a:solidFill>
                            <a:srgbClr val="0000FF"/>
                          </a:solidFill>
                          <a:effectLst/>
                          <a:latin typeface="AngsanaUPC"/>
                        </a:rPr>
                        <a:t>SLOT 6 mm.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pattFill prst="pct10">
                      <a:fgClr>
                        <a:srgbClr val="000000"/>
                      </a:fgClr>
                      <a:bgClr>
                        <a:srgbClr val="FFFFFF"/>
                      </a:bgClr>
                    </a:pattFill>
                  </a:tcPr>
                </a:tc>
                <a:tc hMerge="1">
                  <a:txBody>
                    <a:bodyPr/>
                    <a:lstStyle/>
                    <a:p>
                      <a:endParaRPr lang="th-TH"/>
                    </a:p>
                  </a:txBody>
                  <a:tcPr/>
                </a:tc>
                <a:tc>
                  <a:txBody>
                    <a:bodyPr/>
                    <a:lstStyle/>
                    <a:p>
                      <a:pPr algn="l" fontAlgn="b"/>
                      <a:r>
                        <a:rPr lang="th-TH" sz="1400" b="0" i="0" u="none" strike="noStrike">
                          <a:solidFill>
                            <a:srgbClr val="0000FF"/>
                          </a:solidFill>
                          <a:effectLst/>
                          <a:latin typeface="AngsanaUPC"/>
                        </a:rPr>
                        <a:t> </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pattFill prst="pct10">
                      <a:fgClr>
                        <a:srgbClr val="000000"/>
                      </a:fgClr>
                      <a:bgClr>
                        <a:srgbClr val="FFFFFF"/>
                      </a:bgClr>
                    </a:pattFill>
                  </a:tcPr>
                </a:tc>
                <a:tc>
                  <a:txBody>
                    <a:bodyPr/>
                    <a:lstStyle/>
                    <a:p>
                      <a:pPr algn="r" fontAlgn="b"/>
                      <a:r>
                        <a:rPr lang="th-TH" sz="1400" b="0" i="0" u="none" strike="noStrike">
                          <a:solidFill>
                            <a:srgbClr val="FF0000"/>
                          </a:solidFill>
                          <a:effectLst/>
                          <a:latin typeface="AngsanaUPC"/>
                        </a:rPr>
                        <a:t>347.24</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pattFill prst="pct10">
                      <a:fgClr>
                        <a:srgbClr val="000000"/>
                      </a:fgClr>
                      <a:bgClr>
                        <a:srgbClr val="FFFFFF"/>
                      </a:bgClr>
                    </a:pattFill>
                  </a:tcPr>
                </a:tc>
                <a:tc>
                  <a:txBody>
                    <a:bodyPr/>
                    <a:lstStyle/>
                    <a:p>
                      <a:pPr algn="l" fontAlgn="b"/>
                      <a:r>
                        <a:rPr lang="th-TH" sz="1400" b="0" i="0" u="none" strike="noStrike" dirty="0">
                          <a:solidFill>
                            <a:srgbClr val="0000FF"/>
                          </a:solidFill>
                          <a:effectLst/>
                          <a:latin typeface="AngsanaUPC"/>
                        </a:rPr>
                        <a:t> </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pattFill prst="pct10">
                      <a:fgClr>
                        <a:srgbClr val="000000"/>
                      </a:fgClr>
                      <a:bgClr>
                        <a:srgbClr val="FFFFFF"/>
                      </a:bgClr>
                    </a:pattFill>
                  </a:tcPr>
                </a:tc>
                <a:tc>
                  <a:txBody>
                    <a:bodyPr/>
                    <a:lstStyle/>
                    <a:p>
                      <a:pPr algn="ctr" fontAlgn="b"/>
                      <a:r>
                        <a:rPr lang="th-TH" sz="1400" b="0" i="0" u="none" strike="noStrike" dirty="0">
                          <a:solidFill>
                            <a:srgbClr val="0000FF"/>
                          </a:solidFill>
                          <a:effectLst/>
                          <a:latin typeface="AngsanaUPC"/>
                        </a:rPr>
                        <a:t>16.37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pattFill prst="pct10">
                      <a:fgClr>
                        <a:srgbClr val="000000"/>
                      </a:fgClr>
                      <a:bgClr>
                        <a:srgbClr val="FFFFFF"/>
                      </a:bgClr>
                    </a:pattFill>
                  </a:tcPr>
                </a:tc>
                <a:tc>
                  <a:txBody>
                    <a:bodyPr/>
                    <a:lstStyle/>
                    <a:p>
                      <a:pPr algn="ctr" fontAlgn="b"/>
                      <a:r>
                        <a:rPr lang="th-TH" sz="1400" b="0" i="0" u="none" strike="noStrike" dirty="0">
                          <a:solidFill>
                            <a:srgbClr val="0000FF"/>
                          </a:solidFill>
                          <a:effectLst/>
                          <a:latin typeface="AngsanaUPC"/>
                        </a:rPr>
                        <a:t>-</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pattFill prst="pct10">
                      <a:fgClr>
                        <a:srgbClr val="000000"/>
                      </a:fgClr>
                      <a:bgClr>
                        <a:srgbClr val="FFFFFF"/>
                      </a:bgClr>
                    </a:pattFill>
                  </a:tcPr>
                </a:tc>
                <a:tc>
                  <a:txBody>
                    <a:bodyPr/>
                    <a:lstStyle/>
                    <a:p>
                      <a:pPr algn="l" fontAlgn="b"/>
                      <a:endParaRPr lang="th-TH" sz="900" b="0" i="0" u="none" strike="noStrike" dirty="0">
                        <a:effectLst/>
                        <a:latin typeface="AngsanaUPC"/>
                      </a:endParaRPr>
                    </a:p>
                  </a:txBody>
                  <a:tcPr marL="0" marR="0" marT="0" marB="0" anchor="b">
                    <a:lnL w="6350" cap="flat" cmpd="sng" algn="ctr">
                      <a:solidFill>
                        <a:srgbClr val="000000"/>
                      </a:solidFill>
                      <a:prstDash val="solid"/>
                      <a:round/>
                      <a:headEnd type="none" w="med" len="med"/>
                      <a:tailEnd type="none" w="med" len="med"/>
                    </a:lnL>
                    <a:lnR>
                      <a:noFill/>
                    </a:lnR>
                    <a:lnT>
                      <a:noFill/>
                    </a:lnT>
                    <a:lnB>
                      <a:noFill/>
                    </a:lnB>
                  </a:tcPr>
                </a:tc>
              </a:tr>
              <a:tr h="271825">
                <a:tc gridSpan="2">
                  <a:txBody>
                    <a:bodyPr/>
                    <a:lstStyle/>
                    <a:p>
                      <a:pPr algn="l" fontAlgn="b"/>
                      <a:r>
                        <a:rPr lang="en-US" sz="1400" b="0" i="0" u="none" strike="noStrike" dirty="0">
                          <a:solidFill>
                            <a:srgbClr val="0000FF"/>
                          </a:solidFill>
                          <a:effectLst/>
                          <a:latin typeface="AngsanaUPC"/>
                        </a:rPr>
                        <a:t>SLOT 4 mm.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pattFill prst="pct10">
                      <a:fgClr>
                        <a:srgbClr val="000000"/>
                      </a:fgClr>
                      <a:bgClr>
                        <a:srgbClr val="FFFFFF"/>
                      </a:bgClr>
                    </a:pattFill>
                  </a:tcPr>
                </a:tc>
                <a:tc hMerge="1">
                  <a:txBody>
                    <a:bodyPr/>
                    <a:lstStyle/>
                    <a:p>
                      <a:endParaRPr lang="th-TH"/>
                    </a:p>
                  </a:txBody>
                  <a:tcPr/>
                </a:tc>
                <a:tc>
                  <a:txBody>
                    <a:bodyPr/>
                    <a:lstStyle/>
                    <a:p>
                      <a:pPr algn="l" fontAlgn="b"/>
                      <a:r>
                        <a:rPr lang="th-TH" sz="1400" b="0" i="0" u="none" strike="noStrike">
                          <a:solidFill>
                            <a:srgbClr val="0000FF"/>
                          </a:solidFill>
                          <a:effectLst/>
                          <a:latin typeface="AngsanaUPC"/>
                        </a:rPr>
                        <a:t> </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pattFill prst="pct10">
                      <a:fgClr>
                        <a:srgbClr val="000000"/>
                      </a:fgClr>
                      <a:bgClr>
                        <a:srgbClr val="FFFFFF"/>
                      </a:bgClr>
                    </a:pattFill>
                  </a:tcPr>
                </a:tc>
                <a:tc>
                  <a:txBody>
                    <a:bodyPr/>
                    <a:lstStyle/>
                    <a:p>
                      <a:pPr algn="r" fontAlgn="b"/>
                      <a:r>
                        <a:rPr lang="th-TH" sz="1400" b="0" i="0" u="none" strike="noStrike">
                          <a:solidFill>
                            <a:srgbClr val="FF0000"/>
                          </a:solidFill>
                          <a:effectLst/>
                          <a:latin typeface="AngsanaUPC"/>
                        </a:rPr>
                        <a:t>662.82</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pattFill prst="pct10">
                      <a:fgClr>
                        <a:srgbClr val="000000"/>
                      </a:fgClr>
                      <a:bgClr>
                        <a:srgbClr val="FFFFFF"/>
                      </a:bgClr>
                    </a:pattFill>
                  </a:tcPr>
                </a:tc>
                <a:tc>
                  <a:txBody>
                    <a:bodyPr/>
                    <a:lstStyle/>
                    <a:p>
                      <a:pPr algn="l" fontAlgn="b"/>
                      <a:r>
                        <a:rPr lang="th-TH" sz="1400" b="0" i="0" u="none" strike="noStrike" dirty="0">
                          <a:solidFill>
                            <a:srgbClr val="0000FF"/>
                          </a:solidFill>
                          <a:effectLst/>
                          <a:latin typeface="AngsanaUPC"/>
                        </a:rPr>
                        <a:t> </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pattFill prst="pct10">
                      <a:fgClr>
                        <a:srgbClr val="000000"/>
                      </a:fgClr>
                      <a:bgClr>
                        <a:srgbClr val="FFFFFF"/>
                      </a:bgClr>
                    </a:pattFill>
                  </a:tcPr>
                </a:tc>
                <a:tc>
                  <a:txBody>
                    <a:bodyPr/>
                    <a:lstStyle/>
                    <a:p>
                      <a:pPr algn="ctr" fontAlgn="b"/>
                      <a:r>
                        <a:rPr lang="th-TH" sz="1400" b="0" i="0" u="none" strike="noStrike" dirty="0">
                          <a:solidFill>
                            <a:srgbClr val="0000FF"/>
                          </a:solidFill>
                          <a:effectLst/>
                          <a:latin typeface="AngsanaUPC"/>
                        </a:rPr>
                        <a:t>31.25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pattFill prst="pct10">
                      <a:fgClr>
                        <a:srgbClr val="000000"/>
                      </a:fgClr>
                      <a:bgClr>
                        <a:srgbClr val="FFFFFF"/>
                      </a:bgClr>
                    </a:pattFill>
                  </a:tcPr>
                </a:tc>
                <a:tc>
                  <a:txBody>
                    <a:bodyPr/>
                    <a:lstStyle/>
                    <a:p>
                      <a:pPr algn="ctr" fontAlgn="b"/>
                      <a:r>
                        <a:rPr lang="th-TH" sz="1400" b="0" i="0" u="none" strike="noStrike" dirty="0">
                          <a:solidFill>
                            <a:srgbClr val="0000FF"/>
                          </a:solidFill>
                          <a:effectLst/>
                          <a:latin typeface="AngsanaUPC"/>
                        </a:rPr>
                        <a:t>-</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pattFill prst="pct10">
                      <a:fgClr>
                        <a:srgbClr val="000000"/>
                      </a:fgClr>
                      <a:bgClr>
                        <a:srgbClr val="FFFFFF"/>
                      </a:bgClr>
                    </a:pattFill>
                  </a:tcPr>
                </a:tc>
                <a:tc>
                  <a:txBody>
                    <a:bodyPr/>
                    <a:lstStyle/>
                    <a:p>
                      <a:pPr algn="l" fontAlgn="b"/>
                      <a:r>
                        <a:rPr lang="en-US" sz="1400" b="0" i="0" u="none" strike="noStrike" dirty="0">
                          <a:effectLst/>
                          <a:latin typeface="AngsanaUPC"/>
                        </a:rPr>
                        <a:t> </a:t>
                      </a:r>
                      <a:r>
                        <a:rPr lang="en-US" sz="1400" b="0" i="0" u="none" strike="noStrike" dirty="0" smtClean="0">
                          <a:effectLst/>
                          <a:latin typeface="AngsanaUPC"/>
                        </a:rPr>
                        <a:t>Accept</a:t>
                      </a:r>
                      <a:endParaRPr lang="en-US" sz="1400" b="0" i="0" u="none" strike="noStrike" dirty="0">
                        <a:effectLst/>
                        <a:latin typeface="AngsanaUPC"/>
                      </a:endParaRPr>
                    </a:p>
                  </a:txBody>
                  <a:tcPr marL="0" marR="0" marT="0" marB="0" anchor="b">
                    <a:lnL w="6350" cap="flat" cmpd="sng" algn="ctr">
                      <a:solidFill>
                        <a:srgbClr val="000000"/>
                      </a:solidFill>
                      <a:prstDash val="solid"/>
                      <a:round/>
                      <a:headEnd type="none" w="med" len="med"/>
                      <a:tailEnd type="none" w="med" len="med"/>
                    </a:lnL>
                    <a:lnR>
                      <a:noFill/>
                    </a:lnR>
                    <a:lnT>
                      <a:noFill/>
                    </a:lnT>
                    <a:lnB>
                      <a:noFill/>
                    </a:lnB>
                  </a:tcPr>
                </a:tc>
              </a:tr>
              <a:tr h="213354">
                <a:tc gridSpan="2">
                  <a:txBody>
                    <a:bodyPr/>
                    <a:lstStyle/>
                    <a:p>
                      <a:pPr algn="l" fontAlgn="b"/>
                      <a:r>
                        <a:rPr lang="en-US" sz="1400" b="0" i="0" u="none" strike="noStrike" dirty="0">
                          <a:solidFill>
                            <a:srgbClr val="0000FF"/>
                          </a:solidFill>
                          <a:effectLst/>
                          <a:latin typeface="AngsanaUPC"/>
                        </a:rPr>
                        <a:t>HOLE 7 mm.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pattFill prst="pct10">
                      <a:fgClr>
                        <a:srgbClr val="000000"/>
                      </a:fgClr>
                      <a:bgClr>
                        <a:srgbClr val="FFFFFF"/>
                      </a:bgClr>
                    </a:pattFill>
                  </a:tcPr>
                </a:tc>
                <a:tc hMerge="1">
                  <a:txBody>
                    <a:bodyPr/>
                    <a:lstStyle/>
                    <a:p>
                      <a:endParaRPr lang="th-TH"/>
                    </a:p>
                  </a:txBody>
                  <a:tcPr/>
                </a:tc>
                <a:tc>
                  <a:txBody>
                    <a:bodyPr/>
                    <a:lstStyle/>
                    <a:p>
                      <a:pPr algn="l" fontAlgn="b"/>
                      <a:r>
                        <a:rPr lang="th-TH" sz="1400" b="0" i="0" u="none" strike="noStrike">
                          <a:solidFill>
                            <a:srgbClr val="0000FF"/>
                          </a:solidFill>
                          <a:effectLst/>
                          <a:latin typeface="AngsanaUPC"/>
                        </a:rPr>
                        <a:t> </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pattFill prst="pct10">
                      <a:fgClr>
                        <a:srgbClr val="000000"/>
                      </a:fgClr>
                      <a:bgClr>
                        <a:srgbClr val="FFFFFF"/>
                      </a:bgClr>
                    </a:pattFill>
                  </a:tcPr>
                </a:tc>
                <a:tc>
                  <a:txBody>
                    <a:bodyPr/>
                    <a:lstStyle/>
                    <a:p>
                      <a:pPr algn="r" fontAlgn="b"/>
                      <a:r>
                        <a:rPr lang="th-TH" sz="1400" b="0" i="0" u="none" strike="noStrike">
                          <a:solidFill>
                            <a:srgbClr val="FF0000"/>
                          </a:solidFill>
                          <a:effectLst/>
                          <a:latin typeface="AngsanaUPC"/>
                        </a:rPr>
                        <a:t>799.64</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pattFill prst="pct10">
                      <a:fgClr>
                        <a:srgbClr val="000000"/>
                      </a:fgClr>
                      <a:bgClr>
                        <a:srgbClr val="FFFFFF"/>
                      </a:bgClr>
                    </a:pattFill>
                  </a:tcPr>
                </a:tc>
                <a:tc>
                  <a:txBody>
                    <a:bodyPr/>
                    <a:lstStyle/>
                    <a:p>
                      <a:pPr algn="l" fontAlgn="b"/>
                      <a:r>
                        <a:rPr lang="th-TH" sz="1400" b="0" i="0" u="none" strike="noStrike">
                          <a:solidFill>
                            <a:srgbClr val="0000FF"/>
                          </a:solidFill>
                          <a:effectLst/>
                          <a:latin typeface="AngsanaUPC"/>
                        </a:rPr>
                        <a:t> </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pattFill prst="pct10">
                      <a:fgClr>
                        <a:srgbClr val="000000"/>
                      </a:fgClr>
                      <a:bgClr>
                        <a:srgbClr val="FFFFFF"/>
                      </a:bgClr>
                    </a:pattFill>
                  </a:tcPr>
                </a:tc>
                <a:tc>
                  <a:txBody>
                    <a:bodyPr/>
                    <a:lstStyle/>
                    <a:p>
                      <a:pPr algn="ctr" fontAlgn="b"/>
                      <a:r>
                        <a:rPr lang="th-TH" sz="1400" b="0" i="0" u="none" strike="noStrike" dirty="0">
                          <a:solidFill>
                            <a:srgbClr val="0000FF"/>
                          </a:solidFill>
                          <a:effectLst/>
                          <a:latin typeface="AngsanaUPC"/>
                        </a:rPr>
                        <a:t>37.70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pattFill prst="pct10">
                      <a:fgClr>
                        <a:srgbClr val="000000"/>
                      </a:fgClr>
                      <a:bgClr>
                        <a:srgbClr val="FFFFFF"/>
                      </a:bgClr>
                    </a:pattFill>
                  </a:tcPr>
                </a:tc>
                <a:tc>
                  <a:txBody>
                    <a:bodyPr/>
                    <a:lstStyle/>
                    <a:p>
                      <a:pPr algn="ctr" fontAlgn="b"/>
                      <a:r>
                        <a:rPr lang="th-TH" sz="1400" b="0" i="0" u="none" strike="noStrike" dirty="0">
                          <a:solidFill>
                            <a:srgbClr val="0000FF"/>
                          </a:solidFill>
                          <a:effectLst/>
                          <a:latin typeface="AngsanaUPC"/>
                        </a:rPr>
                        <a:t>-</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pattFill prst="pct10">
                      <a:fgClr>
                        <a:srgbClr val="000000"/>
                      </a:fgClr>
                      <a:bgClr>
                        <a:srgbClr val="FFFFFF"/>
                      </a:bgClr>
                    </a:pattFill>
                  </a:tcPr>
                </a:tc>
                <a:tc>
                  <a:txBody>
                    <a:bodyPr/>
                    <a:lstStyle/>
                    <a:p>
                      <a:pPr algn="l" fontAlgn="b"/>
                      <a:endParaRPr lang="th-TH" sz="900" b="0" i="0" u="none" strike="noStrike" dirty="0">
                        <a:effectLst/>
                        <a:latin typeface="AngsanaUPC"/>
                      </a:endParaRPr>
                    </a:p>
                  </a:txBody>
                  <a:tcPr marL="0" marR="0" marT="0" marB="0" anchor="b">
                    <a:lnL w="6350" cap="flat" cmpd="sng" algn="ctr">
                      <a:solidFill>
                        <a:srgbClr val="000000"/>
                      </a:solidFill>
                      <a:prstDash val="solid"/>
                      <a:round/>
                      <a:headEnd type="none" w="med" len="med"/>
                      <a:tailEnd type="none" w="med" len="med"/>
                    </a:lnL>
                    <a:lnR>
                      <a:noFill/>
                    </a:lnR>
                    <a:lnT>
                      <a:noFill/>
                    </a:lnT>
                    <a:lnB>
                      <a:noFill/>
                    </a:lnB>
                  </a:tcPr>
                </a:tc>
              </a:tr>
              <a:tr h="213354">
                <a:tc gridSpan="2">
                  <a:txBody>
                    <a:bodyPr/>
                    <a:lstStyle/>
                    <a:p>
                      <a:pPr algn="l" fontAlgn="b"/>
                      <a:r>
                        <a:rPr lang="en-US" sz="1400" b="0" i="0" u="none" strike="noStrike" dirty="0">
                          <a:solidFill>
                            <a:srgbClr val="0000FF"/>
                          </a:solidFill>
                          <a:effectLst/>
                          <a:latin typeface="AngsanaUPC"/>
                        </a:rPr>
                        <a:t>HOLE 3 mm.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hMerge="1">
                  <a:txBody>
                    <a:bodyPr/>
                    <a:lstStyle/>
                    <a:p>
                      <a:endParaRPr lang="th-TH"/>
                    </a:p>
                  </a:txBody>
                  <a:tcPr/>
                </a:tc>
                <a:tc>
                  <a:txBody>
                    <a:bodyPr/>
                    <a:lstStyle/>
                    <a:p>
                      <a:pPr algn="l" fontAlgn="b"/>
                      <a:r>
                        <a:rPr lang="th-TH" sz="1400" b="0" i="0" u="none" strike="noStrike">
                          <a:solidFill>
                            <a:srgbClr val="0000FF"/>
                          </a:solidFill>
                          <a:effectLst/>
                          <a:latin typeface="AngsanaUPC"/>
                        </a:rPr>
                        <a:t> </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th-TH" sz="1400" b="0" i="0" u="none" strike="noStrike">
                          <a:solidFill>
                            <a:srgbClr val="FF0000"/>
                          </a:solidFill>
                          <a:effectLst/>
                          <a:latin typeface="AngsanaUPC"/>
                        </a:rPr>
                        <a:t>52.73</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th-TH" sz="1400" b="0" i="0" u="none" strike="noStrike">
                          <a:solidFill>
                            <a:srgbClr val="0000FF"/>
                          </a:solidFill>
                          <a:effectLst/>
                          <a:latin typeface="AngsanaUPC"/>
                        </a:rPr>
                        <a:t> </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th-TH" sz="1400" b="0" i="0" u="none" strike="noStrike" dirty="0">
                          <a:solidFill>
                            <a:srgbClr val="0000FF"/>
                          </a:solidFill>
                          <a:effectLst/>
                          <a:latin typeface="AngsanaUPC"/>
                        </a:rPr>
                        <a:t>2.49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400" b="0" i="0" u="none" strike="noStrike" dirty="0">
                          <a:solidFill>
                            <a:srgbClr val="0000FF"/>
                          </a:solidFill>
                          <a:effectLst/>
                          <a:latin typeface="AngsanaUPC"/>
                        </a:rPr>
                        <a:t>max. 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400" b="0" i="0" u="none" strike="noStrike" dirty="0">
                          <a:effectLst/>
                          <a:latin typeface="AngsanaUPC"/>
                        </a:rPr>
                        <a:t>Pin chip</a:t>
                      </a:r>
                    </a:p>
                  </a:txBody>
                  <a:tcPr marL="0" marR="0" marT="0" marB="0" anchor="b">
                    <a:lnL w="6350" cap="flat" cmpd="sng" algn="ctr">
                      <a:solidFill>
                        <a:srgbClr val="000000"/>
                      </a:solidFill>
                      <a:prstDash val="solid"/>
                      <a:round/>
                      <a:headEnd type="none" w="med" len="med"/>
                      <a:tailEnd type="none" w="med" len="med"/>
                    </a:lnL>
                    <a:lnR>
                      <a:noFill/>
                    </a:lnR>
                    <a:lnT>
                      <a:noFill/>
                    </a:lnT>
                    <a:lnB>
                      <a:noFill/>
                    </a:lnB>
                  </a:tcPr>
                </a:tc>
              </a:tr>
              <a:tr h="213354">
                <a:tc>
                  <a:txBody>
                    <a:bodyPr/>
                    <a:lstStyle/>
                    <a:p>
                      <a:pPr algn="l" fontAlgn="b"/>
                      <a:r>
                        <a:rPr lang="en-US" sz="1400" b="0" i="0" u="none" strike="noStrike" dirty="0">
                          <a:solidFill>
                            <a:srgbClr val="0000FF"/>
                          </a:solidFill>
                          <a:effectLst/>
                          <a:latin typeface="AngsanaUPC"/>
                        </a:rPr>
                        <a:t>DUST</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algn="l" fontAlgn="b"/>
                      <a:r>
                        <a:rPr lang="th-TH" sz="1400" b="0" i="0" u="none" strike="noStrike" dirty="0">
                          <a:solidFill>
                            <a:srgbClr val="0000FF"/>
                          </a:solidFill>
                          <a:effectLst/>
                          <a:latin typeface="AngsanaUPC"/>
                        </a:rPr>
                        <a:t> </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algn="l" fontAlgn="b"/>
                      <a:r>
                        <a:rPr lang="th-TH" sz="1400" b="0" i="0" u="none" strike="noStrike">
                          <a:solidFill>
                            <a:srgbClr val="0000FF"/>
                          </a:solidFill>
                          <a:effectLst/>
                          <a:latin typeface="AngsanaUPC"/>
                        </a:rPr>
                        <a:t> </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th-TH" sz="1400" b="0" i="0" u="none" strike="noStrike">
                          <a:solidFill>
                            <a:srgbClr val="FF0000"/>
                          </a:solidFill>
                          <a:effectLst/>
                          <a:latin typeface="AngsanaUPC"/>
                        </a:rPr>
                        <a:t>5.83</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th-TH" sz="1400" b="0" i="0" u="none" strike="noStrike">
                          <a:solidFill>
                            <a:srgbClr val="0000FF"/>
                          </a:solidFill>
                          <a:effectLst/>
                          <a:latin typeface="AngsanaUPC"/>
                        </a:rPr>
                        <a:t> </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th-TH" sz="1400" b="0" i="0" u="none" strike="noStrike" dirty="0">
                          <a:solidFill>
                            <a:srgbClr val="0000FF"/>
                          </a:solidFill>
                          <a:effectLst/>
                          <a:latin typeface="AngsanaUPC"/>
                        </a:rPr>
                        <a:t>0.27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th-TH" sz="1400" b="0" i="0" u="none" strike="noStrike" dirty="0">
                          <a:solidFill>
                            <a:srgbClr val="0000FF"/>
                          </a:solidFill>
                          <a:effectLst/>
                          <a:latin typeface="AngsanaUPC"/>
                        </a:rPr>
                        <a:t>-</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th-TH" sz="900" b="0" i="0" u="none" strike="noStrike">
                        <a:effectLst/>
                        <a:latin typeface="AngsanaUPC"/>
                      </a:endParaRPr>
                    </a:p>
                  </a:txBody>
                  <a:tcPr marL="0" marR="0" marT="0" marB="0" anchor="b">
                    <a:lnL w="6350" cap="flat" cmpd="sng" algn="ctr">
                      <a:solidFill>
                        <a:srgbClr val="000000"/>
                      </a:solidFill>
                      <a:prstDash val="solid"/>
                      <a:round/>
                      <a:headEnd type="none" w="med" len="med"/>
                      <a:tailEnd type="none" w="med" len="med"/>
                    </a:lnL>
                    <a:lnR>
                      <a:noFill/>
                    </a:lnR>
                    <a:lnT>
                      <a:noFill/>
                    </a:lnT>
                    <a:lnB>
                      <a:noFill/>
                    </a:lnB>
                  </a:tcPr>
                </a:tc>
              </a:tr>
              <a:tr h="213354">
                <a:tc>
                  <a:txBody>
                    <a:bodyPr/>
                    <a:lstStyle/>
                    <a:p>
                      <a:pPr algn="l" fontAlgn="b"/>
                      <a:r>
                        <a:rPr lang="en-US" sz="1400" b="0" i="0" u="none" strike="noStrike" dirty="0">
                          <a:solidFill>
                            <a:srgbClr val="0000FF"/>
                          </a:solidFill>
                          <a:effectLst/>
                          <a:latin typeface="AngsanaUPC"/>
                        </a:rPr>
                        <a:t>BARK</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algn="l" fontAlgn="b"/>
                      <a:r>
                        <a:rPr lang="th-TH" sz="1400" b="0" i="0" u="none" strike="noStrike" dirty="0">
                          <a:solidFill>
                            <a:srgbClr val="0000FF"/>
                          </a:solidFill>
                          <a:effectLst/>
                          <a:latin typeface="AngsanaUPC"/>
                        </a:rPr>
                        <a:t> </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algn="l" fontAlgn="b"/>
                      <a:r>
                        <a:rPr lang="th-TH" sz="1400" b="0" i="0" u="none" strike="noStrike">
                          <a:solidFill>
                            <a:srgbClr val="0000FF"/>
                          </a:solidFill>
                          <a:effectLst/>
                          <a:latin typeface="AngsanaUPC"/>
                        </a:rPr>
                        <a:t> </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th-TH" sz="1400" b="0" i="0" u="none" strike="noStrike">
                          <a:solidFill>
                            <a:srgbClr val="FF0000"/>
                          </a:solidFill>
                          <a:effectLst/>
                          <a:latin typeface="AngsanaUPC"/>
                        </a:rPr>
                        <a:t>6.53</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th-TH" sz="1400" b="0" i="0" u="none" strike="noStrike">
                          <a:solidFill>
                            <a:srgbClr val="0000FF"/>
                          </a:solidFill>
                          <a:effectLst/>
                          <a:latin typeface="AngsanaUPC"/>
                        </a:rPr>
                        <a:t> </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th-TH" sz="1400" b="0" i="0" u="none" strike="noStrike" dirty="0">
                          <a:solidFill>
                            <a:srgbClr val="0000FF"/>
                          </a:solidFill>
                          <a:effectLst/>
                          <a:latin typeface="AngsanaUPC"/>
                        </a:rPr>
                        <a:t>0.31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400" b="0" i="0" u="none" strike="noStrike" dirty="0">
                          <a:solidFill>
                            <a:srgbClr val="0000FF"/>
                          </a:solidFill>
                          <a:effectLst/>
                          <a:latin typeface="AngsanaUPC"/>
                        </a:rPr>
                        <a:t>max. 0.7%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th-TH" sz="900" b="0" i="0" u="none" strike="noStrike" dirty="0">
                        <a:effectLst/>
                        <a:latin typeface="AngsanaUPC"/>
                      </a:endParaRPr>
                    </a:p>
                  </a:txBody>
                  <a:tcPr marL="0" marR="0" marT="0" marB="0" anchor="b">
                    <a:lnL w="6350" cap="flat" cmpd="sng" algn="ctr">
                      <a:solidFill>
                        <a:srgbClr val="000000"/>
                      </a:solidFill>
                      <a:prstDash val="solid"/>
                      <a:round/>
                      <a:headEnd type="none" w="med" len="med"/>
                      <a:tailEnd type="none" w="med" len="med"/>
                    </a:lnL>
                    <a:lnR>
                      <a:noFill/>
                    </a:lnR>
                    <a:lnT>
                      <a:noFill/>
                    </a:lnT>
                    <a:lnB>
                      <a:noFill/>
                    </a:lnB>
                  </a:tcPr>
                </a:tc>
              </a:tr>
              <a:tr h="213354">
                <a:tc gridSpan="5">
                  <a:txBody>
                    <a:bodyPr/>
                    <a:lstStyle/>
                    <a:p>
                      <a:pPr algn="ctr" fontAlgn="b"/>
                      <a:r>
                        <a:rPr lang="en-US" sz="1400" b="0" i="0" u="none" strike="noStrike" dirty="0">
                          <a:solidFill>
                            <a:srgbClr val="0000FF"/>
                          </a:solidFill>
                          <a:effectLst/>
                          <a:latin typeface="AngsanaUPC"/>
                        </a:rPr>
                        <a:t>TOTAL ACCEPT FRACTION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hMerge="1">
                  <a:txBody>
                    <a:bodyPr/>
                    <a:lstStyle/>
                    <a:p>
                      <a:endParaRPr lang="th-TH"/>
                    </a:p>
                  </a:txBody>
                  <a:tcPr/>
                </a:tc>
                <a:tc hMerge="1">
                  <a:txBody>
                    <a:bodyPr/>
                    <a:lstStyle/>
                    <a:p>
                      <a:endParaRPr lang="th-TH"/>
                    </a:p>
                  </a:txBody>
                  <a:tcPr/>
                </a:tc>
                <a:tc hMerge="1">
                  <a:txBody>
                    <a:bodyPr/>
                    <a:lstStyle/>
                    <a:p>
                      <a:endParaRPr lang="th-TH"/>
                    </a:p>
                  </a:txBody>
                  <a:tcPr/>
                </a:tc>
                <a:tc hMerge="1">
                  <a:txBody>
                    <a:bodyPr/>
                    <a:lstStyle/>
                    <a:p>
                      <a:endParaRPr lang="th-TH"/>
                    </a:p>
                  </a:txBody>
                  <a:tcPr/>
                </a:tc>
                <a:tc>
                  <a:txBody>
                    <a:bodyPr/>
                    <a:lstStyle/>
                    <a:p>
                      <a:pPr algn="ctr" fontAlgn="b"/>
                      <a:r>
                        <a:rPr lang="th-TH" sz="1400" b="0" i="0" u="none" strike="noStrike" dirty="0">
                          <a:solidFill>
                            <a:srgbClr val="0000FF"/>
                          </a:solidFill>
                          <a:effectLst/>
                          <a:latin typeface="AngsanaUPC"/>
                        </a:rPr>
                        <a:t>85.32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400" b="0" i="0" u="none" strike="noStrike" dirty="0">
                          <a:solidFill>
                            <a:srgbClr val="0000FF"/>
                          </a:solidFill>
                          <a:effectLst/>
                          <a:latin typeface="AngsanaUPC"/>
                        </a:rPr>
                        <a:t>min. 85%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th-TH" sz="900" b="0" i="0" u="none" strike="noStrike">
                        <a:effectLst/>
                        <a:latin typeface="AngsanaUPC"/>
                      </a:endParaRPr>
                    </a:p>
                  </a:txBody>
                  <a:tcPr marL="0" marR="0" marT="0" marB="0" anchor="b">
                    <a:lnL w="6350" cap="flat" cmpd="sng" algn="ctr">
                      <a:solidFill>
                        <a:srgbClr val="000000"/>
                      </a:solidFill>
                      <a:prstDash val="solid"/>
                      <a:round/>
                      <a:headEnd type="none" w="med" len="med"/>
                      <a:tailEnd type="none" w="med" len="med"/>
                    </a:lnL>
                    <a:lnR>
                      <a:noFill/>
                    </a:lnR>
                    <a:lnT>
                      <a:noFill/>
                    </a:lnT>
                    <a:lnB>
                      <a:noFill/>
                    </a:lnB>
                  </a:tcPr>
                </a:tc>
              </a:tr>
              <a:tr h="213354">
                <a:tc gridSpan="2">
                  <a:txBody>
                    <a:bodyPr/>
                    <a:lstStyle/>
                    <a:p>
                      <a:pPr algn="l" fontAlgn="b"/>
                      <a:r>
                        <a:rPr lang="en-US" sz="1200" b="0" i="0" u="none" strike="noStrike" dirty="0">
                          <a:solidFill>
                            <a:srgbClr val="0000FF"/>
                          </a:solidFill>
                          <a:effectLst/>
                          <a:latin typeface="AngsanaUPC"/>
                        </a:rPr>
                        <a:t>BULK DENSITY:</a:t>
                      </a:r>
                    </a:p>
                  </a:txBody>
                  <a:tcPr marL="0" marR="0" marT="0" marB="0" anchor="b">
                    <a:lnL>
                      <a:noFill/>
                    </a:lnL>
                    <a:lnR>
                      <a:noFill/>
                    </a:lnR>
                    <a:lnT w="6350" cap="flat" cmpd="sng" algn="ctr">
                      <a:solidFill>
                        <a:srgbClr val="000000"/>
                      </a:solidFill>
                      <a:prstDash val="solid"/>
                      <a:round/>
                      <a:headEnd type="none" w="med" len="med"/>
                      <a:tailEnd type="none" w="med" len="med"/>
                    </a:lnT>
                    <a:lnB>
                      <a:noFill/>
                    </a:lnB>
                  </a:tcPr>
                </a:tc>
                <a:tc hMerge="1">
                  <a:txBody>
                    <a:bodyPr/>
                    <a:lstStyle/>
                    <a:p>
                      <a:endParaRPr lang="th-TH"/>
                    </a:p>
                  </a:txBody>
                  <a:tcPr/>
                </a:tc>
                <a:tc gridSpan="3">
                  <a:txBody>
                    <a:bodyPr/>
                    <a:lstStyle/>
                    <a:p>
                      <a:pPr algn="l" fontAlgn="b"/>
                      <a:r>
                        <a:rPr lang="en-US" sz="1400" b="0" i="0" u="none" strike="noStrike">
                          <a:solidFill>
                            <a:srgbClr val="0000FF"/>
                          </a:solidFill>
                          <a:effectLst/>
                          <a:latin typeface="AngsanaUPC"/>
                        </a:rPr>
                        <a:t>VOLUME OF CHIPS:</a:t>
                      </a:r>
                    </a:p>
                  </a:txBody>
                  <a:tcPr marL="0" marR="0" marT="0" marB="0" anchor="b">
                    <a:lnL>
                      <a:noFill/>
                    </a:lnL>
                    <a:lnR>
                      <a:noFill/>
                    </a:lnR>
                    <a:lnT w="6350" cap="flat" cmpd="sng" algn="ctr">
                      <a:solidFill>
                        <a:srgbClr val="000000"/>
                      </a:solidFill>
                      <a:prstDash val="solid"/>
                      <a:round/>
                      <a:headEnd type="none" w="med" len="med"/>
                      <a:tailEnd type="none" w="med" len="med"/>
                    </a:lnT>
                    <a:lnB>
                      <a:noFill/>
                    </a:lnB>
                  </a:tcPr>
                </a:tc>
                <a:tc hMerge="1">
                  <a:txBody>
                    <a:bodyPr/>
                    <a:lstStyle/>
                    <a:p>
                      <a:endParaRPr lang="th-TH"/>
                    </a:p>
                  </a:txBody>
                  <a:tcPr/>
                </a:tc>
                <a:tc hMerge="1">
                  <a:txBody>
                    <a:bodyPr/>
                    <a:lstStyle/>
                    <a:p>
                      <a:endParaRPr lang="th-TH"/>
                    </a:p>
                  </a:txBody>
                  <a:tcPr/>
                </a:tc>
                <a:tc>
                  <a:txBody>
                    <a:bodyPr/>
                    <a:lstStyle/>
                    <a:p>
                      <a:pPr algn="ctr" fontAlgn="b"/>
                      <a:r>
                        <a:rPr lang="th-TH" sz="1400" b="0" i="0" u="none" strike="noStrike" dirty="0">
                          <a:solidFill>
                            <a:srgbClr val="0000FF"/>
                          </a:solidFill>
                          <a:effectLst/>
                          <a:latin typeface="AngsanaUPC"/>
                        </a:rPr>
                        <a:t>-</a:t>
                      </a:r>
                    </a:p>
                  </a:txBody>
                  <a:tcPr marL="0" marR="0" marT="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r>
                        <a:rPr lang="en-US" sz="1400" b="0" i="0" u="none" strike="noStrike" dirty="0">
                          <a:solidFill>
                            <a:srgbClr val="0000FF"/>
                          </a:solidFill>
                          <a:effectLst/>
                          <a:latin typeface="AngsanaUPC"/>
                        </a:rPr>
                        <a:t>M</a:t>
                      </a:r>
                      <a:r>
                        <a:rPr lang="en-US" sz="1400" b="0" i="0" u="none" strike="noStrike" baseline="30000" dirty="0">
                          <a:solidFill>
                            <a:srgbClr val="0000FF"/>
                          </a:solidFill>
                          <a:effectLst/>
                          <a:latin typeface="AngsanaUPC"/>
                        </a:rPr>
                        <a:t>3</a:t>
                      </a:r>
                      <a:endParaRPr lang="en-US" sz="1400" b="0" i="0" u="none" strike="noStrike" dirty="0">
                        <a:solidFill>
                          <a:srgbClr val="0000FF"/>
                        </a:solidFill>
                        <a:effectLst/>
                        <a:latin typeface="AngsanaUPC"/>
                      </a:endParaRPr>
                    </a:p>
                  </a:txBody>
                  <a:tcPr marL="0" marR="0" marT="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th-TH" sz="600" b="0" i="0" u="none" strike="noStrike">
                        <a:solidFill>
                          <a:srgbClr val="0000FF"/>
                        </a:solidFill>
                        <a:effectLst/>
                        <a:latin typeface="AngsanaUPC"/>
                      </a:endParaRPr>
                    </a:p>
                  </a:txBody>
                  <a:tcPr marL="0" marR="0" marT="0" marB="0" anchor="b">
                    <a:lnL>
                      <a:noFill/>
                    </a:lnL>
                    <a:lnR>
                      <a:noFill/>
                    </a:lnR>
                    <a:lnT>
                      <a:noFill/>
                    </a:lnT>
                    <a:lnB>
                      <a:noFill/>
                    </a:lnB>
                  </a:tcPr>
                </a:tc>
              </a:tr>
              <a:tr h="213354">
                <a:tc>
                  <a:txBody>
                    <a:bodyPr/>
                    <a:lstStyle/>
                    <a:p>
                      <a:pPr algn="l" fontAlgn="b"/>
                      <a:endParaRPr lang="th-TH" sz="1000" b="0" i="0" u="none" strike="noStrike" dirty="0">
                        <a:solidFill>
                          <a:srgbClr val="0000FF"/>
                        </a:solidFill>
                        <a:effectLst/>
                        <a:latin typeface="AngsanaUPC"/>
                      </a:endParaRPr>
                    </a:p>
                  </a:txBody>
                  <a:tcPr marL="0" marR="0" marT="0" marB="0" anchor="b">
                    <a:lnL>
                      <a:noFill/>
                    </a:lnL>
                    <a:lnR>
                      <a:noFill/>
                    </a:lnR>
                    <a:lnT>
                      <a:noFill/>
                    </a:lnT>
                    <a:lnB>
                      <a:noFill/>
                    </a:lnB>
                  </a:tcPr>
                </a:tc>
                <a:tc>
                  <a:txBody>
                    <a:bodyPr/>
                    <a:lstStyle/>
                    <a:p>
                      <a:pPr algn="l" fontAlgn="b"/>
                      <a:endParaRPr lang="th-TH" sz="1000" b="0" i="0" u="none" strike="noStrike">
                        <a:solidFill>
                          <a:srgbClr val="0000FF"/>
                        </a:solidFill>
                        <a:effectLst/>
                        <a:latin typeface="AngsanaUPC"/>
                      </a:endParaRPr>
                    </a:p>
                  </a:txBody>
                  <a:tcPr marL="0" marR="0" marT="0" marB="0" anchor="b">
                    <a:lnL>
                      <a:noFill/>
                    </a:lnL>
                    <a:lnR>
                      <a:noFill/>
                    </a:lnR>
                    <a:lnT>
                      <a:noFill/>
                    </a:lnT>
                    <a:lnB>
                      <a:noFill/>
                    </a:lnB>
                  </a:tcPr>
                </a:tc>
                <a:tc gridSpan="2">
                  <a:txBody>
                    <a:bodyPr/>
                    <a:lstStyle/>
                    <a:p>
                      <a:pPr algn="l" fontAlgn="b"/>
                      <a:r>
                        <a:rPr lang="en-US" sz="1400" b="0" i="0" u="none" strike="noStrike">
                          <a:solidFill>
                            <a:srgbClr val="0000FF"/>
                          </a:solidFill>
                          <a:effectLst/>
                          <a:latin typeface="AngsanaUPC"/>
                        </a:rPr>
                        <a:t>WET WEIGHT:</a:t>
                      </a:r>
                    </a:p>
                  </a:txBody>
                  <a:tcPr marL="0" marR="0" marT="0" marB="0" anchor="b">
                    <a:lnL>
                      <a:noFill/>
                    </a:lnL>
                    <a:lnR>
                      <a:noFill/>
                    </a:lnR>
                    <a:lnT>
                      <a:noFill/>
                    </a:lnT>
                    <a:lnB>
                      <a:noFill/>
                    </a:lnB>
                  </a:tcPr>
                </a:tc>
                <a:tc hMerge="1">
                  <a:txBody>
                    <a:bodyPr/>
                    <a:lstStyle/>
                    <a:p>
                      <a:endParaRPr lang="th-TH"/>
                    </a:p>
                  </a:txBody>
                  <a:tcPr/>
                </a:tc>
                <a:tc>
                  <a:txBody>
                    <a:bodyPr/>
                    <a:lstStyle/>
                    <a:p>
                      <a:pPr algn="l" fontAlgn="b"/>
                      <a:endParaRPr lang="th-TH" sz="1400" b="0" i="0" u="none" strike="noStrike">
                        <a:solidFill>
                          <a:srgbClr val="0000FF"/>
                        </a:solidFill>
                        <a:effectLst/>
                        <a:latin typeface="AngsanaUPC"/>
                      </a:endParaRPr>
                    </a:p>
                  </a:txBody>
                  <a:tcPr marL="0" marR="0" marT="0" marB="0" anchor="b">
                    <a:lnL>
                      <a:noFill/>
                    </a:lnL>
                    <a:lnR>
                      <a:noFill/>
                    </a:lnR>
                    <a:lnT>
                      <a:noFill/>
                    </a:lnT>
                    <a:lnB>
                      <a:noFill/>
                    </a:lnB>
                  </a:tcPr>
                </a:tc>
                <a:tc>
                  <a:txBody>
                    <a:bodyPr/>
                    <a:lstStyle/>
                    <a:p>
                      <a:pPr algn="ctr" fontAlgn="b"/>
                      <a:r>
                        <a:rPr lang="th-TH" sz="1400" b="0" i="0" u="none" strike="noStrike" dirty="0">
                          <a:solidFill>
                            <a:srgbClr val="FF0000"/>
                          </a:solidFill>
                          <a:effectLst/>
                          <a:latin typeface="AngsanaUPC"/>
                        </a:rPr>
                        <a:t>-</a:t>
                      </a:r>
                    </a:p>
                  </a:txBody>
                  <a:tcPr marL="0" marR="0" marT="0" marB="0" anchor="b">
                    <a:lnL>
                      <a:noFill/>
                    </a:lnL>
                    <a:lnR>
                      <a:noFill/>
                    </a:lnR>
                    <a:lnT>
                      <a:noFill/>
                    </a:lnT>
                    <a:lnB>
                      <a:noFill/>
                    </a:lnB>
                  </a:tcPr>
                </a:tc>
                <a:tc>
                  <a:txBody>
                    <a:bodyPr/>
                    <a:lstStyle/>
                    <a:p>
                      <a:pPr algn="ctr" fontAlgn="b"/>
                      <a:r>
                        <a:rPr lang="en-US" sz="1400" b="0" i="0" u="none" strike="noStrike" dirty="0">
                          <a:solidFill>
                            <a:srgbClr val="0000FF"/>
                          </a:solidFill>
                          <a:effectLst/>
                          <a:latin typeface="AngsanaUPC"/>
                        </a:rPr>
                        <a:t>Kg</a:t>
                      </a:r>
                    </a:p>
                  </a:txBody>
                  <a:tcPr marL="0" marR="0" marT="0" marB="0" anchor="b">
                    <a:lnL>
                      <a:noFill/>
                    </a:lnL>
                    <a:lnR>
                      <a:noFill/>
                    </a:lnR>
                    <a:lnT>
                      <a:noFill/>
                    </a:lnT>
                    <a:lnB>
                      <a:noFill/>
                    </a:lnB>
                  </a:tcPr>
                </a:tc>
                <a:tc>
                  <a:txBody>
                    <a:bodyPr/>
                    <a:lstStyle/>
                    <a:p>
                      <a:pPr algn="l" fontAlgn="b"/>
                      <a:endParaRPr lang="th-TH" sz="1000" b="0" i="0" u="none" strike="noStrike" dirty="0">
                        <a:solidFill>
                          <a:srgbClr val="0000FF"/>
                        </a:solidFill>
                        <a:effectLst/>
                        <a:latin typeface="AngsanaUPC"/>
                      </a:endParaRPr>
                    </a:p>
                  </a:txBody>
                  <a:tcPr marL="0" marR="0" marT="0" marB="0" anchor="b">
                    <a:lnL>
                      <a:noFill/>
                    </a:lnL>
                    <a:lnR>
                      <a:noFill/>
                    </a:lnR>
                    <a:lnT>
                      <a:noFill/>
                    </a:lnT>
                    <a:lnB>
                      <a:noFill/>
                    </a:lnB>
                  </a:tcPr>
                </a:tc>
              </a:tr>
              <a:tr h="213354">
                <a:tc>
                  <a:txBody>
                    <a:bodyPr/>
                    <a:lstStyle/>
                    <a:p>
                      <a:pPr algn="l" fontAlgn="b"/>
                      <a:endParaRPr lang="th-TH" sz="1000" b="0" i="0" u="none" strike="noStrike" dirty="0">
                        <a:solidFill>
                          <a:srgbClr val="0000FF"/>
                        </a:solidFill>
                        <a:effectLst/>
                        <a:latin typeface="AngsanaUPC"/>
                      </a:endParaRPr>
                    </a:p>
                  </a:txBody>
                  <a:tcPr marL="0" marR="0" marT="0" marB="0" anchor="b">
                    <a:lnL>
                      <a:noFill/>
                    </a:lnL>
                    <a:lnR>
                      <a:noFill/>
                    </a:lnR>
                    <a:lnT>
                      <a:noFill/>
                    </a:lnT>
                    <a:lnB>
                      <a:noFill/>
                    </a:lnB>
                  </a:tcPr>
                </a:tc>
                <a:tc>
                  <a:txBody>
                    <a:bodyPr/>
                    <a:lstStyle/>
                    <a:p>
                      <a:pPr algn="l" fontAlgn="b"/>
                      <a:endParaRPr lang="th-TH" sz="1000" b="0" i="0" u="none" strike="noStrike" dirty="0">
                        <a:solidFill>
                          <a:srgbClr val="0000FF"/>
                        </a:solidFill>
                        <a:effectLst/>
                        <a:latin typeface="AngsanaUPC"/>
                      </a:endParaRPr>
                    </a:p>
                  </a:txBody>
                  <a:tcPr marL="0" marR="0" marT="0" marB="0" anchor="b">
                    <a:lnL>
                      <a:noFill/>
                    </a:lnL>
                    <a:lnR>
                      <a:noFill/>
                    </a:lnR>
                    <a:lnT>
                      <a:noFill/>
                    </a:lnT>
                    <a:lnB>
                      <a:noFill/>
                    </a:lnB>
                  </a:tcPr>
                </a:tc>
                <a:tc gridSpan="2">
                  <a:txBody>
                    <a:bodyPr/>
                    <a:lstStyle/>
                    <a:p>
                      <a:pPr algn="l" fontAlgn="b"/>
                      <a:r>
                        <a:rPr lang="en-US" sz="1400" b="0" i="0" u="none" strike="noStrike">
                          <a:solidFill>
                            <a:srgbClr val="0000FF"/>
                          </a:solidFill>
                          <a:effectLst/>
                          <a:latin typeface="AngsanaUPC"/>
                        </a:rPr>
                        <a:t>DRY WEIGHT:</a:t>
                      </a:r>
                    </a:p>
                  </a:txBody>
                  <a:tcPr marL="0" marR="0" marT="0" marB="0" anchor="b">
                    <a:lnL>
                      <a:noFill/>
                    </a:lnL>
                    <a:lnR>
                      <a:noFill/>
                    </a:lnR>
                    <a:lnT>
                      <a:noFill/>
                    </a:lnT>
                    <a:lnB>
                      <a:noFill/>
                    </a:lnB>
                  </a:tcPr>
                </a:tc>
                <a:tc hMerge="1">
                  <a:txBody>
                    <a:bodyPr/>
                    <a:lstStyle/>
                    <a:p>
                      <a:endParaRPr lang="th-TH"/>
                    </a:p>
                  </a:txBody>
                  <a:tcPr/>
                </a:tc>
                <a:tc>
                  <a:txBody>
                    <a:bodyPr/>
                    <a:lstStyle/>
                    <a:p>
                      <a:pPr algn="l" fontAlgn="b"/>
                      <a:endParaRPr lang="th-TH" sz="1400" b="0" i="0" u="none" strike="noStrike">
                        <a:solidFill>
                          <a:srgbClr val="0000FF"/>
                        </a:solidFill>
                        <a:effectLst/>
                        <a:latin typeface="AngsanaUPC"/>
                      </a:endParaRPr>
                    </a:p>
                  </a:txBody>
                  <a:tcPr marL="0" marR="0" marT="0" marB="0" anchor="b">
                    <a:lnL>
                      <a:noFill/>
                    </a:lnL>
                    <a:lnR>
                      <a:noFill/>
                    </a:lnR>
                    <a:lnT>
                      <a:noFill/>
                    </a:lnT>
                    <a:lnB>
                      <a:noFill/>
                    </a:lnB>
                  </a:tcPr>
                </a:tc>
                <a:tc>
                  <a:txBody>
                    <a:bodyPr/>
                    <a:lstStyle/>
                    <a:p>
                      <a:pPr algn="ctr" fontAlgn="b"/>
                      <a:r>
                        <a:rPr lang="th-TH" sz="1400" b="0" i="0" u="none" strike="noStrike" dirty="0">
                          <a:solidFill>
                            <a:srgbClr val="0000FF"/>
                          </a:solidFill>
                          <a:effectLst/>
                          <a:latin typeface="AngsanaUPC"/>
                        </a:rPr>
                        <a:t>-</a:t>
                      </a:r>
                    </a:p>
                  </a:txBody>
                  <a:tcPr marL="0" marR="0" marT="0" marB="0" anchor="b">
                    <a:lnL>
                      <a:noFill/>
                    </a:lnL>
                    <a:lnR>
                      <a:noFill/>
                    </a:lnR>
                    <a:lnT>
                      <a:noFill/>
                    </a:lnT>
                    <a:lnB>
                      <a:noFill/>
                    </a:lnB>
                  </a:tcPr>
                </a:tc>
                <a:tc>
                  <a:txBody>
                    <a:bodyPr/>
                    <a:lstStyle/>
                    <a:p>
                      <a:pPr algn="ctr" fontAlgn="b"/>
                      <a:r>
                        <a:rPr lang="en-US" sz="1400" b="0" i="0" u="none" strike="noStrike" dirty="0">
                          <a:solidFill>
                            <a:srgbClr val="0000FF"/>
                          </a:solidFill>
                          <a:effectLst/>
                          <a:latin typeface="AngsanaUPC"/>
                        </a:rPr>
                        <a:t>Kg</a:t>
                      </a:r>
                    </a:p>
                  </a:txBody>
                  <a:tcPr marL="0" marR="0" marT="0" marB="0" anchor="b">
                    <a:lnL>
                      <a:noFill/>
                    </a:lnL>
                    <a:lnR>
                      <a:noFill/>
                    </a:lnR>
                    <a:lnT>
                      <a:noFill/>
                    </a:lnT>
                    <a:lnB>
                      <a:noFill/>
                    </a:lnB>
                  </a:tcPr>
                </a:tc>
                <a:tc>
                  <a:txBody>
                    <a:bodyPr/>
                    <a:lstStyle/>
                    <a:p>
                      <a:pPr algn="l" fontAlgn="b"/>
                      <a:endParaRPr lang="th-TH" sz="1000" b="0" i="0" u="none" strike="noStrike" dirty="0">
                        <a:solidFill>
                          <a:srgbClr val="0000FF"/>
                        </a:solidFill>
                        <a:effectLst/>
                        <a:latin typeface="AngsanaUPC"/>
                      </a:endParaRPr>
                    </a:p>
                  </a:txBody>
                  <a:tcPr marL="0" marR="0" marT="0" marB="0" anchor="b">
                    <a:lnL>
                      <a:noFill/>
                    </a:lnL>
                    <a:lnR>
                      <a:noFill/>
                    </a:lnR>
                    <a:lnT>
                      <a:noFill/>
                    </a:lnT>
                    <a:lnB>
                      <a:noFill/>
                    </a:lnB>
                  </a:tcPr>
                </a:tc>
              </a:tr>
              <a:tr h="213354">
                <a:tc>
                  <a:txBody>
                    <a:bodyPr/>
                    <a:lstStyle/>
                    <a:p>
                      <a:pPr algn="l" fontAlgn="b"/>
                      <a:endParaRPr lang="th-TH" sz="1000" b="0" i="0" u="none" strike="noStrike">
                        <a:solidFill>
                          <a:srgbClr val="0000FF"/>
                        </a:solidFill>
                        <a:effectLst/>
                        <a:latin typeface="AngsanaUPC"/>
                      </a:endParaRPr>
                    </a:p>
                  </a:txBody>
                  <a:tcPr marL="0" marR="0" marT="0" marB="0" anchor="b">
                    <a:lnL>
                      <a:noFill/>
                    </a:lnL>
                    <a:lnR>
                      <a:noFill/>
                    </a:lnR>
                    <a:lnT>
                      <a:noFill/>
                    </a:lnT>
                    <a:lnB>
                      <a:noFill/>
                    </a:lnB>
                  </a:tcPr>
                </a:tc>
                <a:tc>
                  <a:txBody>
                    <a:bodyPr/>
                    <a:lstStyle/>
                    <a:p>
                      <a:pPr algn="l" fontAlgn="b"/>
                      <a:endParaRPr lang="th-TH" sz="1000" b="0" i="0" u="none" strike="noStrike">
                        <a:solidFill>
                          <a:srgbClr val="0000FF"/>
                        </a:solidFill>
                        <a:effectLst/>
                        <a:latin typeface="AngsanaUPC"/>
                      </a:endParaRPr>
                    </a:p>
                  </a:txBody>
                  <a:tcPr marL="0" marR="0" marT="0" marB="0" anchor="b">
                    <a:lnL>
                      <a:noFill/>
                    </a:lnL>
                    <a:lnR>
                      <a:noFill/>
                    </a:lnR>
                    <a:lnT>
                      <a:noFill/>
                    </a:lnT>
                    <a:lnB>
                      <a:noFill/>
                    </a:lnB>
                  </a:tcPr>
                </a:tc>
                <a:tc gridSpan="3">
                  <a:txBody>
                    <a:bodyPr/>
                    <a:lstStyle/>
                    <a:p>
                      <a:pPr algn="l" fontAlgn="b"/>
                      <a:r>
                        <a:rPr lang="en-US" sz="1400" b="0" i="0" u="none" strike="noStrike">
                          <a:solidFill>
                            <a:srgbClr val="0000FF"/>
                          </a:solidFill>
                          <a:effectLst/>
                          <a:latin typeface="AngsanaUPC"/>
                        </a:rPr>
                        <a:t>MOISTURE CONTENT:</a:t>
                      </a:r>
                    </a:p>
                  </a:txBody>
                  <a:tcPr marL="0" marR="0" marT="0" marB="0" anchor="b">
                    <a:lnL>
                      <a:noFill/>
                    </a:lnL>
                    <a:lnR>
                      <a:noFill/>
                    </a:lnR>
                    <a:lnT>
                      <a:noFill/>
                    </a:lnT>
                    <a:lnB>
                      <a:noFill/>
                    </a:lnB>
                  </a:tcPr>
                </a:tc>
                <a:tc hMerge="1">
                  <a:txBody>
                    <a:bodyPr/>
                    <a:lstStyle/>
                    <a:p>
                      <a:endParaRPr lang="th-TH"/>
                    </a:p>
                  </a:txBody>
                  <a:tcPr/>
                </a:tc>
                <a:tc hMerge="1">
                  <a:txBody>
                    <a:bodyPr/>
                    <a:lstStyle/>
                    <a:p>
                      <a:endParaRPr lang="th-TH"/>
                    </a:p>
                  </a:txBody>
                  <a:tcPr/>
                </a:tc>
                <a:tc>
                  <a:txBody>
                    <a:bodyPr/>
                    <a:lstStyle/>
                    <a:p>
                      <a:pPr algn="ctr" fontAlgn="b"/>
                      <a:r>
                        <a:rPr lang="th-TH" sz="1400" b="0" i="0" u="none" strike="noStrike" dirty="0">
                          <a:solidFill>
                            <a:srgbClr val="FF0000"/>
                          </a:solidFill>
                          <a:effectLst/>
                          <a:latin typeface="AngsanaUPC"/>
                        </a:rPr>
                        <a:t>-</a:t>
                      </a:r>
                    </a:p>
                  </a:txBody>
                  <a:tcPr marL="0" marR="0" marT="0" marB="0" anchor="b">
                    <a:lnL>
                      <a:noFill/>
                    </a:lnL>
                    <a:lnR>
                      <a:noFill/>
                    </a:lnR>
                    <a:lnT>
                      <a:noFill/>
                    </a:lnT>
                    <a:lnB>
                      <a:noFill/>
                    </a:lnB>
                  </a:tcPr>
                </a:tc>
                <a:tc>
                  <a:txBody>
                    <a:bodyPr/>
                    <a:lstStyle/>
                    <a:p>
                      <a:pPr algn="ctr" fontAlgn="b"/>
                      <a:r>
                        <a:rPr lang="th-TH" sz="1400" b="0" i="0" u="none" strike="noStrike" dirty="0">
                          <a:solidFill>
                            <a:srgbClr val="0000FF"/>
                          </a:solidFill>
                          <a:effectLst/>
                          <a:latin typeface="AngsanaUPC"/>
                        </a:rPr>
                        <a:t>%</a:t>
                      </a:r>
                    </a:p>
                  </a:txBody>
                  <a:tcPr marL="0" marR="0" marT="0" marB="0" anchor="b">
                    <a:lnL>
                      <a:noFill/>
                    </a:lnL>
                    <a:lnR>
                      <a:noFill/>
                    </a:lnR>
                    <a:lnT>
                      <a:noFill/>
                    </a:lnT>
                    <a:lnB>
                      <a:noFill/>
                    </a:lnB>
                  </a:tcPr>
                </a:tc>
                <a:tc>
                  <a:txBody>
                    <a:bodyPr/>
                    <a:lstStyle/>
                    <a:p>
                      <a:pPr algn="l" fontAlgn="b"/>
                      <a:endParaRPr lang="th-TH" sz="1000" b="0" i="0" u="none" strike="noStrike" dirty="0">
                        <a:solidFill>
                          <a:srgbClr val="0000FF"/>
                        </a:solidFill>
                        <a:effectLst/>
                        <a:latin typeface="AngsanaUPC"/>
                      </a:endParaRPr>
                    </a:p>
                  </a:txBody>
                  <a:tcPr marL="0" marR="0" marT="0" marB="0" anchor="b">
                    <a:lnL>
                      <a:noFill/>
                    </a:lnL>
                    <a:lnR>
                      <a:noFill/>
                    </a:lnR>
                    <a:lnT>
                      <a:noFill/>
                    </a:lnT>
                    <a:lnB>
                      <a:noFill/>
                    </a:lnB>
                  </a:tcPr>
                </a:tc>
              </a:tr>
              <a:tr h="213354">
                <a:tc>
                  <a:txBody>
                    <a:bodyPr/>
                    <a:lstStyle/>
                    <a:p>
                      <a:pPr algn="l" fontAlgn="b"/>
                      <a:endParaRPr lang="th-TH" sz="1000" b="0" i="0" u="none" strike="noStrike">
                        <a:solidFill>
                          <a:srgbClr val="0000FF"/>
                        </a:solidFill>
                        <a:effectLst/>
                        <a:latin typeface="AngsanaUPC"/>
                      </a:endParaRPr>
                    </a:p>
                  </a:txBody>
                  <a:tcPr marL="0" marR="0" marT="0" marB="0" anchor="b">
                    <a:lnL>
                      <a:noFill/>
                    </a:lnL>
                    <a:lnR>
                      <a:noFill/>
                    </a:lnR>
                    <a:lnT>
                      <a:noFill/>
                    </a:lnT>
                    <a:lnB>
                      <a:noFill/>
                    </a:lnB>
                  </a:tcPr>
                </a:tc>
                <a:tc>
                  <a:txBody>
                    <a:bodyPr/>
                    <a:lstStyle/>
                    <a:p>
                      <a:pPr algn="l" fontAlgn="b"/>
                      <a:endParaRPr lang="th-TH" sz="1000" b="0" i="0" u="none" strike="noStrike">
                        <a:solidFill>
                          <a:srgbClr val="0000FF"/>
                        </a:solidFill>
                        <a:effectLst/>
                        <a:latin typeface="AngsanaUPC"/>
                      </a:endParaRPr>
                    </a:p>
                  </a:txBody>
                  <a:tcPr marL="0" marR="0" marT="0" marB="0" anchor="b">
                    <a:lnL>
                      <a:noFill/>
                    </a:lnL>
                    <a:lnR>
                      <a:noFill/>
                    </a:lnR>
                    <a:lnT>
                      <a:noFill/>
                    </a:lnT>
                    <a:lnB>
                      <a:noFill/>
                    </a:lnB>
                  </a:tcPr>
                </a:tc>
                <a:tc gridSpan="2">
                  <a:txBody>
                    <a:bodyPr/>
                    <a:lstStyle/>
                    <a:p>
                      <a:pPr algn="l" fontAlgn="b"/>
                      <a:r>
                        <a:rPr lang="en-US" sz="1400" b="0" i="0" u="none" strike="noStrike" dirty="0">
                          <a:solidFill>
                            <a:srgbClr val="0000FF"/>
                          </a:solidFill>
                          <a:effectLst/>
                          <a:latin typeface="AngsanaUPC"/>
                        </a:rPr>
                        <a:t>BULK DENSITY:</a:t>
                      </a:r>
                    </a:p>
                  </a:txBody>
                  <a:tcPr marL="0" marR="0" marT="0" marB="0" anchor="b">
                    <a:lnL>
                      <a:noFill/>
                    </a:lnL>
                    <a:lnR>
                      <a:noFill/>
                    </a:lnR>
                    <a:lnT>
                      <a:noFill/>
                    </a:lnT>
                    <a:lnB>
                      <a:noFill/>
                    </a:lnB>
                  </a:tcPr>
                </a:tc>
                <a:tc hMerge="1">
                  <a:txBody>
                    <a:bodyPr/>
                    <a:lstStyle/>
                    <a:p>
                      <a:endParaRPr lang="th-TH"/>
                    </a:p>
                  </a:txBody>
                  <a:tcPr/>
                </a:tc>
                <a:tc>
                  <a:txBody>
                    <a:bodyPr/>
                    <a:lstStyle/>
                    <a:p>
                      <a:pPr algn="l" fontAlgn="b"/>
                      <a:endParaRPr lang="th-TH" sz="1400" b="0" i="0" u="none" strike="noStrike" dirty="0">
                        <a:solidFill>
                          <a:srgbClr val="0000FF"/>
                        </a:solidFill>
                        <a:effectLst/>
                        <a:latin typeface="AngsanaUPC"/>
                      </a:endParaRPr>
                    </a:p>
                  </a:txBody>
                  <a:tcPr marL="0" marR="0" marT="0" marB="0" anchor="b">
                    <a:lnL>
                      <a:noFill/>
                    </a:lnL>
                    <a:lnR>
                      <a:noFill/>
                    </a:lnR>
                    <a:lnT>
                      <a:noFill/>
                    </a:lnT>
                    <a:lnB>
                      <a:noFill/>
                    </a:lnB>
                  </a:tcPr>
                </a:tc>
                <a:tc>
                  <a:txBody>
                    <a:bodyPr/>
                    <a:lstStyle/>
                    <a:p>
                      <a:pPr algn="ctr" fontAlgn="b"/>
                      <a:r>
                        <a:rPr lang="th-TH" sz="1400" b="0" i="0" u="none" strike="noStrike" dirty="0">
                          <a:solidFill>
                            <a:srgbClr val="0000FF"/>
                          </a:solidFill>
                          <a:effectLst/>
                          <a:latin typeface="AngsanaUPC"/>
                        </a:rPr>
                        <a:t>-</a:t>
                      </a:r>
                    </a:p>
                  </a:txBody>
                  <a:tcPr marL="0" marR="0" marT="0" marB="0" anchor="b">
                    <a:lnL>
                      <a:noFill/>
                    </a:lnL>
                    <a:lnR>
                      <a:noFill/>
                    </a:lnR>
                    <a:lnT>
                      <a:noFill/>
                    </a:lnT>
                    <a:lnB>
                      <a:noFill/>
                    </a:lnB>
                  </a:tcPr>
                </a:tc>
                <a:tc>
                  <a:txBody>
                    <a:bodyPr/>
                    <a:lstStyle/>
                    <a:p>
                      <a:pPr algn="ctr" fontAlgn="b"/>
                      <a:r>
                        <a:rPr lang="en-US" sz="1400" b="0" i="0" u="none" strike="noStrike" dirty="0">
                          <a:solidFill>
                            <a:srgbClr val="0000FF"/>
                          </a:solidFill>
                          <a:effectLst/>
                          <a:latin typeface="AngsanaUPC"/>
                        </a:rPr>
                        <a:t>Kg/M</a:t>
                      </a:r>
                      <a:r>
                        <a:rPr lang="en-US" sz="1400" b="0" i="0" u="none" strike="noStrike" baseline="30000" dirty="0">
                          <a:solidFill>
                            <a:srgbClr val="0000FF"/>
                          </a:solidFill>
                          <a:effectLst/>
                          <a:latin typeface="AngsanaUPC"/>
                        </a:rPr>
                        <a:t>3</a:t>
                      </a:r>
                      <a:endParaRPr lang="en-US" sz="1400" b="0" i="0" u="none" strike="noStrike" dirty="0">
                        <a:solidFill>
                          <a:srgbClr val="0000FF"/>
                        </a:solidFill>
                        <a:effectLst/>
                        <a:latin typeface="AngsanaUPC"/>
                      </a:endParaRPr>
                    </a:p>
                  </a:txBody>
                  <a:tcPr marL="0" marR="0" marT="0" marB="0" anchor="b">
                    <a:lnL>
                      <a:noFill/>
                    </a:lnL>
                    <a:lnR>
                      <a:noFill/>
                    </a:lnR>
                    <a:lnT>
                      <a:noFill/>
                    </a:lnT>
                    <a:lnB>
                      <a:noFill/>
                    </a:lnB>
                  </a:tcPr>
                </a:tc>
                <a:tc>
                  <a:txBody>
                    <a:bodyPr/>
                    <a:lstStyle/>
                    <a:p>
                      <a:pPr algn="l" fontAlgn="b"/>
                      <a:endParaRPr lang="th-TH" sz="1000" b="0" i="0" u="none" strike="noStrike" dirty="0">
                        <a:solidFill>
                          <a:srgbClr val="0000FF"/>
                        </a:solidFill>
                        <a:effectLst/>
                        <a:latin typeface="AngsanaUPC"/>
                      </a:endParaRPr>
                    </a:p>
                  </a:txBody>
                  <a:tcPr marL="0" marR="0" marT="0" marB="0" anchor="b">
                    <a:lnL>
                      <a:noFill/>
                    </a:lnL>
                    <a:lnR>
                      <a:noFill/>
                    </a:lnR>
                    <a:lnT>
                      <a:noFill/>
                    </a:lnT>
                    <a:lnB>
                      <a:noFill/>
                    </a:lnB>
                  </a:tcPr>
                </a:tc>
              </a:tr>
            </a:tbl>
          </a:graphicData>
        </a:graphic>
      </p:graphicFrame>
      <p:graphicFrame>
        <p:nvGraphicFramePr>
          <p:cNvPr id="9" name="Chart 8"/>
          <p:cNvGraphicFramePr>
            <a:graphicFrameLocks/>
          </p:cNvGraphicFramePr>
          <p:nvPr/>
        </p:nvGraphicFramePr>
        <p:xfrm>
          <a:off x="4394200" y="2176400"/>
          <a:ext cx="4426857" cy="2975882"/>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 5"/>
          <p:cNvSpPr txBox="1">
            <a:spLocks noChangeArrowheads="1"/>
          </p:cNvSpPr>
          <p:nvPr/>
        </p:nvSpPr>
        <p:spPr bwMode="auto">
          <a:xfrm>
            <a:off x="5380038" y="1714500"/>
            <a:ext cx="2922587" cy="379413"/>
          </a:xfrm>
          <a:prstGeom prst="rect">
            <a:avLst/>
          </a:prstGeom>
          <a:noFill/>
          <a:ln>
            <a:noFill/>
          </a:ln>
          <a:extLst>
            <a:ext uri="{909E8E84-426E-40DD-AFC4-6F175D3DCCD1}">
              <a14:hiddenFill xmlns:a14="http://schemas.microsoft.com/office/drawing/2010/main">
                <a:solidFill>
                  <a:srgbClr xmlns:mc="http://schemas.openxmlformats.org/markup-compatibility/2006" val="000000" mc:Ignorable="a14" a14:legacySpreadsheetColorIndex="64"/>
                </a:solidFill>
              </a14:hiddenFill>
            </a:ext>
            <a:ext uri="{91240B29-F687-4F45-9708-019B960494DF}">
              <a14:hiddenLine xmlns:a14="http://schemas.microsoft.com/office/drawing/2010/main" w="1">
                <a:solidFill>
                  <a:srgbClr xmlns:mc="http://schemas.openxmlformats.org/markup-compatibility/2006" val="000000" mc:Ignorable="a14" a14:legacySpreadsheetColorIndex="64"/>
                </a:solidFill>
                <a:miter lim="800000"/>
                <a:headEnd/>
                <a:tailEnd/>
              </a14:hiddenLine>
            </a:ext>
          </a:extLst>
        </p:spPr>
        <p:txBody>
          <a:bodyPr lIns="27432" tIns="54864" rIns="0" bIns="0"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defRPr sz="1000"/>
            </a:pPr>
            <a:r>
              <a:rPr lang="en-US" sz="1800" b="1" dirty="0">
                <a:solidFill>
                  <a:srgbClr val="000000"/>
                </a:solidFill>
                <a:latin typeface="+mj-lt"/>
                <a:cs typeface="AngsanaUPC"/>
              </a:rPr>
              <a:t>DISTRIBUTION  CURVE</a:t>
            </a:r>
          </a:p>
        </p:txBody>
      </p:sp>
      <p:sp>
        <p:nvSpPr>
          <p:cNvPr id="11" name="Text 6"/>
          <p:cNvSpPr txBox="1">
            <a:spLocks noChangeArrowheads="1"/>
          </p:cNvSpPr>
          <p:nvPr/>
        </p:nvSpPr>
        <p:spPr bwMode="auto">
          <a:xfrm>
            <a:off x="8795657" y="3178297"/>
            <a:ext cx="348343" cy="1058737"/>
          </a:xfrm>
          <a:prstGeom prst="rect">
            <a:avLst/>
          </a:prstGeom>
          <a:noFill/>
          <a:ln>
            <a:noFill/>
          </a:ln>
          <a:extLst>
            <a:ext uri="{909E8E84-426E-40DD-AFC4-6F175D3DCCD1}">
              <a14:hiddenFill xmlns:a14="http://schemas.microsoft.com/office/drawing/2010/main">
                <a:solidFill>
                  <a:srgbClr xmlns:mc="http://schemas.openxmlformats.org/markup-compatibility/2006" val="000000" mc:Ignorable="a14" a14:legacySpreadsheetColorIndex="64"/>
                </a:solidFill>
              </a14:hiddenFill>
            </a:ext>
            <a:ext uri="{91240B29-F687-4F45-9708-019B960494DF}">
              <a14:hiddenLine xmlns:a14="http://schemas.microsoft.com/office/drawing/2010/main" w="1">
                <a:solidFill>
                  <a:srgbClr xmlns:mc="http://schemas.openxmlformats.org/markup-compatibility/2006" val="000000" mc:Ignorable="a14" a14:legacySpreadsheetColorIndex="64"/>
                </a:solidFill>
                <a:miter lim="800000"/>
                <a:headEnd/>
                <a:tailEnd/>
              </a14:hiddenLine>
            </a:ext>
          </a:extLst>
        </p:spPr>
        <p:txBody>
          <a:bodyPr vert="vert270" lIns="27432" tIns="54864" rIns="27432" bIns="54864"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defRPr sz="1000"/>
            </a:pPr>
            <a:r>
              <a:rPr lang="en-US" sz="1800" dirty="0">
                <a:solidFill>
                  <a:srgbClr val="000000"/>
                </a:solidFill>
                <a:latin typeface="AngsanaUPC"/>
                <a:cs typeface="AngsanaUPC"/>
              </a:rPr>
              <a:t>% FRACTION</a:t>
            </a: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TextBox 3"/>
          <p:cNvSpPr txBox="1">
            <a:spLocks noChangeArrowheads="1"/>
          </p:cNvSpPr>
          <p:nvPr/>
        </p:nvSpPr>
        <p:spPr bwMode="auto">
          <a:xfrm>
            <a:off x="0" y="246063"/>
            <a:ext cx="914400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th-TH" altLang="en-US" b="1"/>
              <a:t>ลานกองเก็บ </a:t>
            </a:r>
            <a:r>
              <a:rPr lang="en-US" altLang="en-US" sz="2800" b="1"/>
              <a:t>Wood Chip</a:t>
            </a:r>
            <a:endParaRPr lang="th-TH" altLang="en-US" sz="2800" b="1"/>
          </a:p>
        </p:txBody>
      </p:sp>
      <p:pic>
        <p:nvPicPr>
          <p:cNvPr id="16" name="Picture 1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06438" y="831850"/>
            <a:ext cx="7731125" cy="4351338"/>
          </a:xfrm>
          <a:prstGeom prst="rect">
            <a:avLst/>
          </a:prstGeom>
          <a:ln>
            <a:noFill/>
          </a:ln>
          <a:effectLst>
            <a:softEdge rad="112500"/>
          </a:effectLst>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TextBox 2"/>
          <p:cNvSpPr txBox="1">
            <a:spLocks noChangeArrowheads="1"/>
          </p:cNvSpPr>
          <p:nvPr/>
        </p:nvSpPr>
        <p:spPr bwMode="auto">
          <a:xfrm>
            <a:off x="0" y="115888"/>
            <a:ext cx="914400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th-TH" altLang="en-US" b="1">
                <a:solidFill>
                  <a:srgbClr val="000099"/>
                </a:solidFill>
              </a:rPr>
              <a:t>คลุมผ้าใบกอง</a:t>
            </a:r>
            <a:r>
              <a:rPr lang="en-US" altLang="en-US" b="1">
                <a:solidFill>
                  <a:srgbClr val="000099"/>
                </a:solidFill>
              </a:rPr>
              <a:t> </a:t>
            </a:r>
            <a:r>
              <a:rPr lang="en-US" altLang="en-US" sz="2400" b="1">
                <a:solidFill>
                  <a:srgbClr val="000099"/>
                </a:solidFill>
              </a:rPr>
              <a:t>CHIP </a:t>
            </a:r>
            <a:endParaRPr lang="th-TH" altLang="en-US" sz="2400" b="1">
              <a:solidFill>
                <a:srgbClr val="000099"/>
              </a:solidFill>
            </a:endParaRPr>
          </a:p>
        </p:txBody>
      </p:sp>
      <p:pic>
        <p:nvPicPr>
          <p:cNvPr id="4" name="Picture 3"/>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57238" y="868363"/>
            <a:ext cx="7629525" cy="4295775"/>
          </a:xfrm>
          <a:prstGeom prst="rect">
            <a:avLst/>
          </a:prstGeom>
          <a:ln>
            <a:noFill/>
          </a:ln>
          <a:effectLst>
            <a:softEdge rad="112500"/>
          </a:effectLst>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TextBox 2"/>
          <p:cNvSpPr txBox="1">
            <a:spLocks noChangeArrowheads="1"/>
          </p:cNvSpPr>
          <p:nvPr/>
        </p:nvSpPr>
        <p:spPr bwMode="auto">
          <a:xfrm>
            <a:off x="0" y="87313"/>
            <a:ext cx="9144000"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a:t>Chip</a:t>
            </a:r>
            <a:r>
              <a:rPr lang="en-US" altLang="en-US" sz="2800" b="1"/>
              <a:t> </a:t>
            </a:r>
            <a:r>
              <a:rPr lang="th-TH" altLang="en-US" sz="2800" b="1"/>
              <a:t>จากลานกองเก็บส่งเข้า </a:t>
            </a:r>
            <a:r>
              <a:rPr lang="en-US" altLang="en-US" sz="2400" b="1"/>
              <a:t>Chip Silo</a:t>
            </a:r>
            <a:endParaRPr lang="th-TH" altLang="en-US" sz="2400" b="1"/>
          </a:p>
        </p:txBody>
      </p:sp>
      <p:pic>
        <p:nvPicPr>
          <p:cNvPr id="2" name="MOV04068.MPG">
            <a:hlinkClick r:id="" action="ppaction://media"/>
          </p:cNvPr>
          <p:cNvPicPr>
            <a:picLocks noChangeAspect="1"/>
          </p:cNvPicPr>
          <p:nvPr>
            <a:videoFile r:link="rId2"/>
            <p:extLst>
              <p:ext uri="{DAA4B4D4-6D71-4841-9C94-3DE7FCFB9230}">
                <p14:media xmlns:p14="http://schemas.microsoft.com/office/powerpoint/2010/main" r:link="rId1"/>
              </p:ext>
            </p:extLst>
          </p:nvPr>
        </p:nvPicPr>
        <p:blipFill>
          <a:blip r:embed="rId4">
            <a:extLst>
              <a:ext uri="{28A0092B-C50C-407E-A947-70E740481C1C}">
                <a14:useLocalDpi xmlns:a14="http://schemas.microsoft.com/office/drawing/2010/main" val="0"/>
              </a:ext>
            </a:extLst>
          </a:blip>
          <a:srcRect/>
          <a:stretch>
            <a:fillRect/>
          </a:stretch>
        </p:blipFill>
        <p:spPr bwMode="auto">
          <a:xfrm>
            <a:off x="823913" y="595313"/>
            <a:ext cx="7615237" cy="571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nodeType="clickPar">
                      <p:stCondLst>
                        <p:cond delay="0"/>
                      </p:stCondLst>
                      <p:childTnLst>
                        <p:par>
                          <p:cTn id="4" fill="hold" nodeType="withGroup">
                            <p:stCondLst>
                              <p:cond delay="0"/>
                            </p:stCondLst>
                            <p:childTnLst>
                              <p:par>
                                <p:cTn id="5" presetID="2" presetClass="mediacall" presetSubtype="0" fill="hold" nodeType="clickEffect">
                                  <p:stCondLst>
                                    <p:cond delay="0"/>
                                  </p:stCondLst>
                                  <p:childTnLst>
                                    <p:cmd type="call" cmd="togglePause">
                                      <p:cBhvr>
                                        <p:cTn id="6" dur="1" fill="hold"/>
                                        <p:tgtEl>
                                          <p:spTgt spid="2"/>
                                        </p:tgtEl>
                                      </p:cBhvr>
                                    </p:cmd>
                                  </p:childTnLst>
                                </p:cTn>
                              </p:par>
                            </p:childTnLst>
                          </p:cTn>
                        </p:par>
                      </p:childTnLst>
                    </p:cTn>
                  </p:par>
                </p:childTnLst>
              </p:cTn>
              <p:nextCondLst>
                <p:cond evt="onClick" delay="0">
                  <p:tgtEl>
                    <p:spTgt spid="2"/>
                  </p:tgtEl>
                </p:cond>
              </p:nextCondLst>
            </p:seq>
            <p:video>
              <p:cMediaNode vol="80000">
                <p:cTn id="7" fill="hold" display="0">
                  <p:stCondLst>
                    <p:cond delay="indefinite"/>
                  </p:stCondLst>
                </p:cTn>
                <p:tgtEl>
                  <p:spTgt spid="2"/>
                </p:tgtEl>
              </p:cMediaNode>
            </p:video>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Box 1"/>
          <p:cNvSpPr txBox="1">
            <a:spLocks noChangeArrowheads="1"/>
          </p:cNvSpPr>
          <p:nvPr/>
        </p:nvSpPr>
        <p:spPr bwMode="auto">
          <a:xfrm>
            <a:off x="0" y="420688"/>
            <a:ext cx="914400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b="1">
                <a:solidFill>
                  <a:srgbClr val="000099"/>
                </a:solidFill>
              </a:rPr>
              <a:t>CHIP SILO</a:t>
            </a:r>
            <a:endParaRPr lang="th-TH" altLang="en-US" b="1">
              <a:solidFill>
                <a:srgbClr val="000099"/>
              </a:solidFill>
            </a:endParaRPr>
          </a:p>
        </p:txBody>
      </p:sp>
      <p:pic>
        <p:nvPicPr>
          <p:cNvPr id="3" name="Picture 2"/>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839" y="1006475"/>
            <a:ext cx="4744758" cy="2887099"/>
          </a:xfrm>
          <a:prstGeom prst="rect">
            <a:avLst/>
          </a:prstGeom>
          <a:ln>
            <a:noFill/>
          </a:ln>
          <a:effectLst>
            <a:softEdge rad="112500"/>
          </a:effectLst>
        </p:spPr>
      </p:pic>
      <p:pic>
        <p:nvPicPr>
          <p:cNvPr id="124932"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689475" y="3894138"/>
            <a:ext cx="4300538" cy="2417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4933" name="Picture 3"/>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42888" y="3894138"/>
            <a:ext cx="4300537" cy="2417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4934" name="TextBox 4"/>
          <p:cNvSpPr txBox="1">
            <a:spLocks noChangeArrowheads="1"/>
          </p:cNvSpPr>
          <p:nvPr/>
        </p:nvSpPr>
        <p:spPr bwMode="auto">
          <a:xfrm>
            <a:off x="1698625" y="3244850"/>
            <a:ext cx="1389063" cy="3698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t>SCL Chip Silo</a:t>
            </a:r>
          </a:p>
        </p:txBody>
      </p:sp>
      <p:sp>
        <p:nvSpPr>
          <p:cNvPr id="124935" name="TextBox 6"/>
          <p:cNvSpPr txBox="1">
            <a:spLocks noChangeArrowheads="1"/>
          </p:cNvSpPr>
          <p:nvPr/>
        </p:nvSpPr>
        <p:spPr bwMode="auto">
          <a:xfrm>
            <a:off x="406400" y="5851525"/>
            <a:ext cx="2212975" cy="3698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t>Chip Discharge Screw</a:t>
            </a:r>
          </a:p>
        </p:txBody>
      </p:sp>
      <p:sp>
        <p:nvSpPr>
          <p:cNvPr id="124936" name="TextBox 7"/>
          <p:cNvSpPr txBox="1">
            <a:spLocks noChangeArrowheads="1"/>
          </p:cNvSpPr>
          <p:nvPr/>
        </p:nvSpPr>
        <p:spPr bwMode="auto">
          <a:xfrm>
            <a:off x="6777038" y="5851525"/>
            <a:ext cx="1765300" cy="3698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t>Chip Discharging</a:t>
            </a:r>
          </a:p>
        </p:txBody>
      </p:sp>
      <p:sp>
        <p:nvSpPr>
          <p:cNvPr id="124937" name="TextBox 5"/>
          <p:cNvSpPr txBox="1">
            <a:spLocks noChangeArrowheads="1"/>
          </p:cNvSpPr>
          <p:nvPr/>
        </p:nvSpPr>
        <p:spPr bwMode="auto">
          <a:xfrm>
            <a:off x="4765675" y="1195388"/>
            <a:ext cx="4224338" cy="2122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400" b="1"/>
              <a:t>Chip Silo </a:t>
            </a:r>
            <a:r>
              <a:rPr lang="en-US" altLang="en-US" sz="1800"/>
              <a:t>is use for storing chip that is ready to for cooking in the Digester. It use chip discharge screw to distribute the chip via a belt conveyor to convey chip continuously and constantly to the Chip Bin. The speed can be adjust due to the capacity demand</a:t>
            </a: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Title 1"/>
          <p:cNvSpPr>
            <a:spLocks noGrp="1"/>
          </p:cNvSpPr>
          <p:nvPr>
            <p:ph type="title"/>
          </p:nvPr>
        </p:nvSpPr>
        <p:spPr>
          <a:xfrm>
            <a:off x="457200" y="-17463"/>
            <a:ext cx="8229600" cy="1143001"/>
          </a:xfrm>
        </p:spPr>
        <p:txBody>
          <a:bodyPr/>
          <a:lstStyle/>
          <a:p>
            <a:pPr eaLnBrk="1" hangingPunct="1"/>
            <a:r>
              <a:rPr lang="en-US" altLang="en-US" sz="3200" smtClean="0">
                <a:latin typeface="Tahoma" panose="020B0604030504040204" pitchFamily="34" charset="0"/>
                <a:cs typeface="Tahoma" panose="020B0604030504040204" pitchFamily="34" charset="0"/>
              </a:rPr>
              <a:t>3. Wood and chip handling </a:t>
            </a:r>
          </a:p>
        </p:txBody>
      </p:sp>
      <p:sp>
        <p:nvSpPr>
          <p:cNvPr id="125955" name="TextBox 11"/>
          <p:cNvSpPr txBox="1">
            <a:spLocks noChangeArrowheads="1"/>
          </p:cNvSpPr>
          <p:nvPr/>
        </p:nvSpPr>
        <p:spPr bwMode="auto">
          <a:xfrm>
            <a:off x="63500" y="917575"/>
            <a:ext cx="73898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800" b="1"/>
              <a:t>Chip Storage/Chip Yard</a:t>
            </a:r>
            <a:r>
              <a:rPr lang="en-US" altLang="en-US" sz="2800"/>
              <a:t>: to store chip / chip aging</a:t>
            </a:r>
            <a:endParaRPr lang="en-US" altLang="en-US" sz="2800" b="1"/>
          </a:p>
        </p:txBody>
      </p:sp>
      <p:pic>
        <p:nvPicPr>
          <p:cNvPr id="125956" name="Picture 2" descr="100_0041"/>
          <p:cNvPicPr>
            <a:picLocks noChangeAspect="1" noChangeArrowheads="1"/>
          </p:cNvPicPr>
          <p:nvPr/>
        </p:nvPicPr>
        <p:blipFill>
          <a:blip r:embed="rId3">
            <a:extLst>
              <a:ext uri="{28A0092B-C50C-407E-A947-70E740481C1C}">
                <a14:useLocalDpi xmlns:a14="http://schemas.microsoft.com/office/drawing/2010/main" val="0"/>
              </a:ext>
            </a:extLst>
          </a:blip>
          <a:srcRect t="25850" b="10101"/>
          <a:stretch>
            <a:fillRect/>
          </a:stretch>
        </p:blipFill>
        <p:spPr bwMode="auto">
          <a:xfrm>
            <a:off x="107950" y="1438275"/>
            <a:ext cx="5748338" cy="276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p:cNvSpPr txBox="1"/>
          <p:nvPr/>
        </p:nvSpPr>
        <p:spPr>
          <a:xfrm>
            <a:off x="192088" y="4365625"/>
            <a:ext cx="8759825" cy="1630363"/>
          </a:xfrm>
          <a:prstGeom prst="rect">
            <a:avLst/>
          </a:prstGeom>
          <a:noFill/>
        </p:spPr>
        <p:txBody>
          <a:bodyPr>
            <a:spAutoFit/>
          </a:bodyPr>
          <a:lstStyle/>
          <a:p>
            <a:pPr>
              <a:defRPr/>
            </a:pPr>
            <a:r>
              <a:rPr lang="en-US" sz="1600" dirty="0"/>
              <a:t>This is where the chips are store and feed to Cooking process. There are 2 purpose of chip storage: </a:t>
            </a:r>
          </a:p>
          <a:p>
            <a:pPr marL="342900" indent="-342900">
              <a:buFontTx/>
              <a:buAutoNum type="arabicParenR"/>
              <a:defRPr/>
            </a:pPr>
            <a:r>
              <a:rPr lang="en-US" sz="1600" dirty="0"/>
              <a:t>To create chip inventory in case that log are in short supply</a:t>
            </a:r>
          </a:p>
          <a:p>
            <a:pPr marL="342900" indent="-342900">
              <a:buFontTx/>
              <a:buAutoNum type="arabicParenR"/>
              <a:defRPr/>
            </a:pPr>
            <a:r>
              <a:rPr lang="en-US" sz="1600" dirty="0"/>
              <a:t>To improve the Chip properties, this apply to tropical  climate country. The moisture in chip are evaporate which make it suck chemical easily at cooking stage</a:t>
            </a:r>
          </a:p>
          <a:p>
            <a:pPr>
              <a:defRPr/>
            </a:pPr>
            <a:r>
              <a:rPr lang="en-US" sz="1600" b="1" dirty="0"/>
              <a:t>Chip aging </a:t>
            </a:r>
            <a:r>
              <a:rPr lang="en-US" sz="1600" dirty="0"/>
              <a:t>is a number of days the chip is keeping on the Chip yard. It is normally keep for 20 – 45 days before cooking. If keep it longer the chip will be very dry which will effect to the cooking parameter</a:t>
            </a:r>
          </a:p>
        </p:txBody>
      </p:sp>
      <p:pic>
        <p:nvPicPr>
          <p:cNvPr id="125958" name="Picture 2" descr="140_406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942013" y="1447800"/>
            <a:ext cx="3122612" cy="275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5959" name="TextBox 9"/>
          <p:cNvSpPr txBox="1">
            <a:spLocks noChangeArrowheads="1"/>
          </p:cNvSpPr>
          <p:nvPr/>
        </p:nvSpPr>
        <p:spPr bwMode="auto">
          <a:xfrm>
            <a:off x="6965950" y="3676650"/>
            <a:ext cx="10747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800" b="1"/>
              <a:t>Chip</a:t>
            </a:r>
          </a:p>
        </p:txBody>
      </p:sp>
      <p:sp>
        <p:nvSpPr>
          <p:cNvPr id="125960" name="TextBox 10"/>
          <p:cNvSpPr txBox="1">
            <a:spLocks noChangeArrowheads="1"/>
          </p:cNvSpPr>
          <p:nvPr/>
        </p:nvSpPr>
        <p:spPr bwMode="auto">
          <a:xfrm>
            <a:off x="138113" y="1517650"/>
            <a:ext cx="23288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000" b="1">
                <a:solidFill>
                  <a:schemeClr val="bg1"/>
                </a:solidFill>
              </a:rPr>
              <a:t>SCL Chip Yard</a:t>
            </a: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Title 1"/>
          <p:cNvSpPr>
            <a:spLocks noGrp="1"/>
          </p:cNvSpPr>
          <p:nvPr>
            <p:ph type="title"/>
          </p:nvPr>
        </p:nvSpPr>
        <p:spPr>
          <a:xfrm>
            <a:off x="441325" y="2660650"/>
            <a:ext cx="8229600" cy="1143000"/>
          </a:xfrm>
        </p:spPr>
        <p:txBody>
          <a:bodyPr/>
          <a:lstStyle/>
          <a:p>
            <a:pPr eaLnBrk="1" hangingPunct="1"/>
            <a:r>
              <a:rPr lang="en-US" altLang="en-US" sz="3200" b="1" smtClean="0">
                <a:latin typeface="Tahoma" panose="020B0604030504040204" pitchFamily="34" charset="0"/>
                <a:cs typeface="Tahoma" panose="020B0604030504040204" pitchFamily="34" charset="0"/>
              </a:rPr>
              <a:t>4. Overview of Pulping methodology </a:t>
            </a: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Title 1"/>
          <p:cNvSpPr>
            <a:spLocks noGrp="1"/>
          </p:cNvSpPr>
          <p:nvPr>
            <p:ph type="title"/>
          </p:nvPr>
        </p:nvSpPr>
        <p:spPr>
          <a:xfrm>
            <a:off x="457200" y="-17463"/>
            <a:ext cx="8229600" cy="1143001"/>
          </a:xfrm>
        </p:spPr>
        <p:txBody>
          <a:bodyPr/>
          <a:lstStyle/>
          <a:p>
            <a:pPr eaLnBrk="1" hangingPunct="1"/>
            <a:r>
              <a:rPr lang="en-US" altLang="en-US" sz="3200" smtClean="0">
                <a:latin typeface="Tahoma" panose="020B0604030504040204" pitchFamily="34" charset="0"/>
                <a:cs typeface="Tahoma" panose="020B0604030504040204" pitchFamily="34" charset="0"/>
              </a:rPr>
              <a:t>4. Overview of Pulping methodology </a:t>
            </a:r>
          </a:p>
        </p:txBody>
      </p:sp>
      <p:pic>
        <p:nvPicPr>
          <p:cNvPr id="3" name="05 - Pulping.mp4">
            <a:hlinkClick r:id="" action="ppaction://media"/>
          </p:cNvPr>
          <p:cNvPicPr>
            <a:picLocks noChangeAspect="1"/>
          </p:cNvPicPr>
          <p:nvPr>
            <a:videoFile r:link="rId2"/>
            <p:extLst>
              <p:ext uri="{DAA4B4D4-6D71-4841-9C94-3DE7FCFB9230}">
                <p14:media xmlns:p14="http://schemas.microsoft.com/office/powerpoint/2010/main" r:link="rId1"/>
              </p:ext>
            </p:extLst>
          </p:nvPr>
        </p:nvPicPr>
        <p:blipFill>
          <a:blip r:embed="rId5">
            <a:extLst>
              <a:ext uri="{28A0092B-C50C-407E-A947-70E740481C1C}">
                <a14:useLocalDpi xmlns:a14="http://schemas.microsoft.com/office/drawing/2010/main" val="0"/>
              </a:ext>
            </a:extLst>
          </a:blip>
          <a:srcRect/>
          <a:stretch>
            <a:fillRect/>
          </a:stretch>
        </p:blipFill>
        <p:spPr bwMode="auto">
          <a:xfrm>
            <a:off x="1120775" y="914400"/>
            <a:ext cx="7332663" cy="562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3"/>
                    </p:tgtEl>
                  </p:cond>
                </p:stCondLst>
                <p:endSync evt="end" delay="0">
                  <p:rtn val="all"/>
                </p:endSync>
                <p:childTnLst>
                  <p:par>
                    <p:cTn id="3" fill="hold" nodeType="clickPar">
                      <p:stCondLst>
                        <p:cond delay="0"/>
                      </p:stCondLst>
                      <p:childTnLst>
                        <p:par>
                          <p:cTn id="4" fill="hold" nodeType="withGroup">
                            <p:stCondLst>
                              <p:cond delay="0"/>
                            </p:stCondLst>
                            <p:childTnLst>
                              <p:par>
                                <p:cTn id="5" presetID="2" presetClass="mediacall" presetSubtype="0" fill="hold" nodeType="clickEffect">
                                  <p:stCondLst>
                                    <p:cond delay="0"/>
                                  </p:stCondLst>
                                  <p:childTnLst>
                                    <p:cmd type="call" cmd="togglePause">
                                      <p:cBhvr>
                                        <p:cTn id="6" dur="1" fill="hold"/>
                                        <p:tgtEl>
                                          <p:spTgt spid="3"/>
                                        </p:tgtEl>
                                      </p:cBhvr>
                                    </p:cmd>
                                  </p:childTnLst>
                                </p:cTn>
                              </p:par>
                            </p:childTnLst>
                          </p:cTn>
                        </p:par>
                      </p:childTnLst>
                    </p:cTn>
                  </p:par>
                </p:childTnLst>
              </p:cTn>
              <p:nextCondLst>
                <p:cond evt="onClick" delay="0">
                  <p:tgtEl>
                    <p:spTgt spid="3"/>
                  </p:tgtEl>
                </p:cond>
              </p:nextCondLst>
            </p:seq>
            <p:video>
              <p:cMediaNode vol="80000">
                <p:cTn id="7" fill="hold" display="0">
                  <p:stCondLst>
                    <p:cond delay="indefinite"/>
                  </p:stCondLst>
                </p:cTn>
                <p:tgtEl>
                  <p:spTgt spid="3"/>
                </p:tgtEl>
              </p:cMediaNode>
            </p:video>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Title 1"/>
          <p:cNvSpPr>
            <a:spLocks noGrp="1"/>
          </p:cNvSpPr>
          <p:nvPr>
            <p:ph type="title"/>
          </p:nvPr>
        </p:nvSpPr>
        <p:spPr>
          <a:xfrm>
            <a:off x="457200" y="-17463"/>
            <a:ext cx="8229600" cy="1143001"/>
          </a:xfrm>
        </p:spPr>
        <p:txBody>
          <a:bodyPr/>
          <a:lstStyle/>
          <a:p>
            <a:pPr eaLnBrk="1" hangingPunct="1"/>
            <a:r>
              <a:rPr lang="en-US" altLang="en-US" sz="3200" smtClean="0">
                <a:latin typeface="Tahoma" panose="020B0604030504040204" pitchFamily="34" charset="0"/>
                <a:cs typeface="Tahoma" panose="020B0604030504040204" pitchFamily="34" charset="0"/>
              </a:rPr>
              <a:t>4. Overview of Pulping methodology </a:t>
            </a:r>
          </a:p>
        </p:txBody>
      </p:sp>
      <p:pic>
        <p:nvPicPr>
          <p:cNvPr id="132099"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263900" y="981075"/>
            <a:ext cx="2503488" cy="187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2100" name="Picture 3"/>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795963" y="981075"/>
            <a:ext cx="3294062" cy="245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2101" name="TextBox 2"/>
          <p:cNvSpPr txBox="1">
            <a:spLocks noChangeArrowheads="1"/>
          </p:cNvSpPr>
          <p:nvPr/>
        </p:nvSpPr>
        <p:spPr bwMode="auto">
          <a:xfrm>
            <a:off x="82550" y="1041400"/>
            <a:ext cx="3311525"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t>Today, the manufacture of pulp and paper from wood involves three major operations: </a:t>
            </a:r>
          </a:p>
          <a:p>
            <a:pPr eaLnBrk="1" hangingPunct="1">
              <a:spcBef>
                <a:spcPct val="0"/>
              </a:spcBef>
              <a:buFontTx/>
              <a:buNone/>
            </a:pPr>
            <a:r>
              <a:rPr lang="en-US" altLang="en-US" sz="1800"/>
              <a:t>1.   Pulping </a:t>
            </a:r>
          </a:p>
          <a:p>
            <a:pPr eaLnBrk="1" hangingPunct="1">
              <a:spcBef>
                <a:spcPct val="0"/>
              </a:spcBef>
              <a:buFontTx/>
              <a:buNone/>
            </a:pPr>
            <a:r>
              <a:rPr lang="en-US" altLang="en-US" sz="1800"/>
              <a:t>2.   Pulp processing </a:t>
            </a:r>
          </a:p>
          <a:p>
            <a:pPr eaLnBrk="1" hangingPunct="1">
              <a:spcBef>
                <a:spcPct val="0"/>
              </a:spcBef>
              <a:buFontTx/>
              <a:buNone/>
            </a:pPr>
            <a:r>
              <a:rPr lang="en-US" altLang="en-US" sz="1800"/>
              <a:t>3.   Paper or board production </a:t>
            </a:r>
          </a:p>
        </p:txBody>
      </p:sp>
      <p:pic>
        <p:nvPicPr>
          <p:cNvPr id="132102" name="Picture 5"/>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23850" y="3421063"/>
            <a:ext cx="4121150" cy="3084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2103" name="TextBox 8"/>
          <p:cNvSpPr txBox="1">
            <a:spLocks noChangeArrowheads="1"/>
          </p:cNvSpPr>
          <p:nvPr/>
        </p:nvSpPr>
        <p:spPr bwMode="auto">
          <a:xfrm>
            <a:off x="4572000" y="4652963"/>
            <a:ext cx="4024313" cy="147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t>The first operation, pulping, separates the cellulose fibers in wood from each other by mechanical, chemical, or a combination of mechanical and chemical means. </a:t>
            </a:r>
          </a:p>
        </p:txBody>
      </p:sp>
      <p:sp>
        <p:nvSpPr>
          <p:cNvPr id="132104" name="TextBox 7"/>
          <p:cNvSpPr txBox="1">
            <a:spLocks noChangeArrowheads="1"/>
          </p:cNvSpPr>
          <p:nvPr/>
        </p:nvSpPr>
        <p:spPr bwMode="auto">
          <a:xfrm>
            <a:off x="301625" y="6207125"/>
            <a:ext cx="257016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a:solidFill>
                  <a:schemeClr val="bg1"/>
                </a:solidFill>
              </a:rPr>
              <a:t>Credit: Convergence Training</a:t>
            </a: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Title 1"/>
          <p:cNvSpPr>
            <a:spLocks noGrp="1"/>
          </p:cNvSpPr>
          <p:nvPr>
            <p:ph type="title"/>
          </p:nvPr>
        </p:nvSpPr>
        <p:spPr>
          <a:xfrm>
            <a:off x="457200" y="-17463"/>
            <a:ext cx="8229600" cy="1143001"/>
          </a:xfrm>
        </p:spPr>
        <p:txBody>
          <a:bodyPr/>
          <a:lstStyle/>
          <a:p>
            <a:pPr eaLnBrk="1" hangingPunct="1"/>
            <a:r>
              <a:rPr lang="en-US" altLang="en-US" sz="3200" smtClean="0">
                <a:latin typeface="Tahoma" panose="020B0604030504040204" pitchFamily="34" charset="0"/>
                <a:cs typeface="Tahoma" panose="020B0604030504040204" pitchFamily="34" charset="0"/>
              </a:rPr>
              <a:t>4. Overview of Pulping methodology </a:t>
            </a:r>
          </a:p>
        </p:txBody>
      </p:sp>
      <p:pic>
        <p:nvPicPr>
          <p:cNvPr id="134147" name="Picture 8"/>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5425" y="981075"/>
            <a:ext cx="8693150" cy="5208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4148" name="TextBox 9"/>
          <p:cNvSpPr txBox="1">
            <a:spLocks noChangeArrowheads="1"/>
          </p:cNvSpPr>
          <p:nvPr/>
        </p:nvSpPr>
        <p:spPr bwMode="auto">
          <a:xfrm>
            <a:off x="0" y="6189663"/>
            <a:ext cx="84105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400"/>
              <a:t>Ref: http://www.tappsa.co.za/archive2/APPW_2004/Title2004/Applying_best_sustainable_prac/2004-27fig1a.jpg</a:t>
            </a:r>
          </a:p>
        </p:txBody>
      </p:sp>
      <p:sp>
        <p:nvSpPr>
          <p:cNvPr id="2" name="Freeform 1"/>
          <p:cNvSpPr/>
          <p:nvPr/>
        </p:nvSpPr>
        <p:spPr>
          <a:xfrm>
            <a:off x="280988" y="973138"/>
            <a:ext cx="8656637" cy="5146675"/>
          </a:xfrm>
          <a:custGeom>
            <a:avLst/>
            <a:gdLst>
              <a:gd name="connsiteX0" fmla="*/ 0 w 8657304"/>
              <a:gd name="connsiteY0" fmla="*/ 0 h 5147187"/>
              <a:gd name="connsiteX1" fmla="*/ 0 w 8657304"/>
              <a:gd name="connsiteY1" fmla="*/ 5147187 h 5147187"/>
              <a:gd name="connsiteX2" fmla="*/ 8657304 w 8657304"/>
              <a:gd name="connsiteY2" fmla="*/ 5147187 h 5147187"/>
              <a:gd name="connsiteX3" fmla="*/ 8657304 w 8657304"/>
              <a:gd name="connsiteY3" fmla="*/ 0 h 5147187"/>
              <a:gd name="connsiteX4" fmla="*/ 5766620 w 8657304"/>
              <a:gd name="connsiteY4" fmla="*/ 0 h 5147187"/>
              <a:gd name="connsiteX5" fmla="*/ 5766620 w 8657304"/>
              <a:gd name="connsiteY5" fmla="*/ 914400 h 5147187"/>
              <a:gd name="connsiteX6" fmla="*/ 8495071 w 8657304"/>
              <a:gd name="connsiteY6" fmla="*/ 1917290 h 5147187"/>
              <a:gd name="connsiteX7" fmla="*/ 8495071 w 8657304"/>
              <a:gd name="connsiteY7" fmla="*/ 3510116 h 5147187"/>
              <a:gd name="connsiteX8" fmla="*/ 7993626 w 8657304"/>
              <a:gd name="connsiteY8" fmla="*/ 3510116 h 5147187"/>
              <a:gd name="connsiteX9" fmla="*/ 4807975 w 8657304"/>
              <a:gd name="connsiteY9" fmla="*/ 2050025 h 5147187"/>
              <a:gd name="connsiteX10" fmla="*/ 3362633 w 8657304"/>
              <a:gd name="connsiteY10" fmla="*/ 2934929 h 5147187"/>
              <a:gd name="connsiteX11" fmla="*/ 2212258 w 8657304"/>
              <a:gd name="connsiteY11" fmla="*/ 2212258 h 5147187"/>
              <a:gd name="connsiteX12" fmla="*/ 2212258 w 8657304"/>
              <a:gd name="connsiteY12" fmla="*/ 14748 h 5147187"/>
              <a:gd name="connsiteX13" fmla="*/ 0 w 8657304"/>
              <a:gd name="connsiteY13" fmla="*/ 0 h 5147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657304" h="5147187">
                <a:moveTo>
                  <a:pt x="0" y="0"/>
                </a:moveTo>
                <a:lnTo>
                  <a:pt x="0" y="5147187"/>
                </a:lnTo>
                <a:lnTo>
                  <a:pt x="8657304" y="5147187"/>
                </a:lnTo>
                <a:lnTo>
                  <a:pt x="8657304" y="0"/>
                </a:lnTo>
                <a:lnTo>
                  <a:pt x="5766620" y="0"/>
                </a:lnTo>
                <a:lnTo>
                  <a:pt x="5766620" y="914400"/>
                </a:lnTo>
                <a:lnTo>
                  <a:pt x="8495071" y="1917290"/>
                </a:lnTo>
                <a:lnTo>
                  <a:pt x="8495071" y="3510116"/>
                </a:lnTo>
                <a:lnTo>
                  <a:pt x="7993626" y="3510116"/>
                </a:lnTo>
                <a:lnTo>
                  <a:pt x="4807975" y="2050025"/>
                </a:lnTo>
                <a:lnTo>
                  <a:pt x="3362633" y="2934929"/>
                </a:lnTo>
                <a:lnTo>
                  <a:pt x="2212258" y="2212258"/>
                </a:lnTo>
                <a:lnTo>
                  <a:pt x="2212258" y="14748"/>
                </a:lnTo>
                <a:lnTo>
                  <a:pt x="0" y="0"/>
                </a:lnTo>
                <a:close/>
              </a:path>
            </a:pathLst>
          </a:custGeom>
          <a:solidFill>
            <a:schemeClr val="bg1">
              <a:alpha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Title 1"/>
          <p:cNvSpPr>
            <a:spLocks noGrp="1"/>
          </p:cNvSpPr>
          <p:nvPr>
            <p:ph type="title"/>
          </p:nvPr>
        </p:nvSpPr>
        <p:spPr>
          <a:xfrm>
            <a:off x="457200" y="-17463"/>
            <a:ext cx="8229600" cy="1143001"/>
          </a:xfrm>
        </p:spPr>
        <p:txBody>
          <a:bodyPr/>
          <a:lstStyle/>
          <a:p>
            <a:pPr eaLnBrk="1" hangingPunct="1"/>
            <a:r>
              <a:rPr lang="en-US" altLang="en-US" sz="3200" smtClean="0">
                <a:latin typeface="Tahoma" panose="020B0604030504040204" pitchFamily="34" charset="0"/>
                <a:cs typeface="Tahoma" panose="020B0604030504040204" pitchFamily="34" charset="0"/>
              </a:rPr>
              <a:t>4. Overview of Pulping methodology </a:t>
            </a:r>
          </a:p>
        </p:txBody>
      </p:sp>
      <p:pic>
        <p:nvPicPr>
          <p:cNvPr id="2" name="06 - Mechanical Pulping.mp4">
            <a:hlinkClick r:id="" action="ppaction://media"/>
          </p:cNvPr>
          <p:cNvPicPr>
            <a:picLocks noChangeAspect="1"/>
          </p:cNvPicPr>
          <p:nvPr>
            <a:videoFile r:link="rId2"/>
            <p:extLst>
              <p:ext uri="{DAA4B4D4-6D71-4841-9C94-3DE7FCFB9230}">
                <p14:media xmlns:p14="http://schemas.microsoft.com/office/powerpoint/2010/main" r:link="rId1"/>
              </p:ext>
            </p:extLst>
          </p:nvPr>
        </p:nvPicPr>
        <p:blipFill>
          <a:blip r:embed="rId5">
            <a:extLst>
              <a:ext uri="{28A0092B-C50C-407E-A947-70E740481C1C}">
                <a14:useLocalDpi xmlns:a14="http://schemas.microsoft.com/office/drawing/2010/main" val="0"/>
              </a:ext>
            </a:extLst>
          </a:blip>
          <a:srcRect/>
          <a:stretch>
            <a:fillRect/>
          </a:stretch>
        </p:blipFill>
        <p:spPr bwMode="auto">
          <a:xfrm>
            <a:off x="857250" y="858838"/>
            <a:ext cx="7429500" cy="569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nodeType="clickPar">
                      <p:stCondLst>
                        <p:cond delay="0"/>
                      </p:stCondLst>
                      <p:childTnLst>
                        <p:par>
                          <p:cTn id="4" fill="hold" nodeType="withGroup">
                            <p:stCondLst>
                              <p:cond delay="0"/>
                            </p:stCondLst>
                            <p:childTnLst>
                              <p:par>
                                <p:cTn id="5" presetID="2" presetClass="mediacall" presetSubtype="0" fill="hold" nodeType="clickEffect">
                                  <p:stCondLst>
                                    <p:cond delay="0"/>
                                  </p:stCondLst>
                                  <p:childTnLst>
                                    <p:cmd type="call" cmd="togglePause">
                                      <p:cBhvr>
                                        <p:cTn id="6" dur="1" fill="hold"/>
                                        <p:tgtEl>
                                          <p:spTgt spid="2"/>
                                        </p:tgtEl>
                                      </p:cBhvr>
                                    </p:cmd>
                                  </p:childTnLst>
                                </p:cTn>
                              </p:par>
                            </p:childTnLst>
                          </p:cTn>
                        </p:par>
                      </p:childTnLst>
                    </p:cTn>
                  </p:par>
                </p:childTnLst>
              </p:cTn>
              <p:nextCondLst>
                <p:cond evt="onClick" delay="0">
                  <p:tgtEl>
                    <p:spTgt spid="2"/>
                  </p:tgtEl>
                </p:cond>
              </p:nextCondLst>
            </p:seq>
            <p:video>
              <p:cMediaNode vol="80000">
                <p:cTn id="7" fill="hold" display="0">
                  <p:stCondLst>
                    <p:cond delay="indefinite"/>
                  </p:stCondLst>
                </p:cTn>
                <p:tgtEl>
                  <p:spTgt spid="2"/>
                </p:tgtEl>
              </p:cMediaNode>
            </p:video>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Title 1"/>
          <p:cNvSpPr>
            <a:spLocks noGrp="1"/>
          </p:cNvSpPr>
          <p:nvPr>
            <p:ph type="title"/>
          </p:nvPr>
        </p:nvSpPr>
        <p:spPr>
          <a:xfrm>
            <a:off x="457200" y="-17463"/>
            <a:ext cx="8229600" cy="1143001"/>
          </a:xfrm>
        </p:spPr>
        <p:txBody>
          <a:bodyPr/>
          <a:lstStyle/>
          <a:p>
            <a:pPr eaLnBrk="1" hangingPunct="1"/>
            <a:r>
              <a:rPr lang="en-US" altLang="en-US" sz="3200" smtClean="0">
                <a:latin typeface="Tahoma" panose="020B0604030504040204" pitchFamily="34" charset="0"/>
                <a:cs typeface="Tahoma" panose="020B0604030504040204" pitchFamily="34" charset="0"/>
              </a:rPr>
              <a:t>4. Overview of Pulping methodology </a:t>
            </a:r>
          </a:p>
        </p:txBody>
      </p:sp>
      <p:pic>
        <p:nvPicPr>
          <p:cNvPr id="138243"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7950" y="981075"/>
            <a:ext cx="4392613"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8244" name="Picture 6"/>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629150" y="981075"/>
            <a:ext cx="4418013"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8245" name="TextBox 10"/>
          <p:cNvSpPr txBox="1">
            <a:spLocks noChangeArrowheads="1"/>
          </p:cNvSpPr>
          <p:nvPr/>
        </p:nvSpPr>
        <p:spPr bwMode="auto">
          <a:xfrm>
            <a:off x="134938" y="4378325"/>
            <a:ext cx="4365625"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400" b="1"/>
              <a:t>Mechanical pulping </a:t>
            </a:r>
            <a:r>
              <a:rPr lang="en-US" altLang="en-US" sz="1800"/>
              <a:t>processes use water, shear forces, and heat to liberate the fibers in wood, and the pulp that is produced consists of a mix of fibers and fiber fragments. </a:t>
            </a:r>
          </a:p>
        </p:txBody>
      </p:sp>
      <p:sp>
        <p:nvSpPr>
          <p:cNvPr id="138246" name="TextBox 11"/>
          <p:cNvSpPr txBox="1">
            <a:spLocks noChangeArrowheads="1"/>
          </p:cNvSpPr>
          <p:nvPr/>
        </p:nvSpPr>
        <p:spPr bwMode="auto">
          <a:xfrm>
            <a:off x="4594225" y="4332288"/>
            <a:ext cx="4452938"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a:t>In the very first mechanical pulping process, called </a:t>
            </a:r>
            <a:r>
              <a:rPr lang="en-US" altLang="en-US" sz="2000" b="1"/>
              <a:t>stone groundwood</a:t>
            </a:r>
            <a:r>
              <a:rPr lang="en-US" altLang="en-US" sz="2000"/>
              <a:t>, bolts of wood were pressed up against a large, wet, revolving grindstone. </a:t>
            </a:r>
            <a:endParaRPr lang="en-US" altLang="en-US" sz="1800"/>
          </a:p>
        </p:txBody>
      </p:sp>
      <p:sp>
        <p:nvSpPr>
          <p:cNvPr id="138247" name="TextBox 6"/>
          <p:cNvSpPr txBox="1">
            <a:spLocks noChangeArrowheads="1"/>
          </p:cNvSpPr>
          <p:nvPr/>
        </p:nvSpPr>
        <p:spPr bwMode="auto">
          <a:xfrm>
            <a:off x="-14288" y="6092825"/>
            <a:ext cx="25701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a:t>Credit: Convergence Training</a:t>
            </a: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Title 1"/>
          <p:cNvSpPr>
            <a:spLocks noGrp="1"/>
          </p:cNvSpPr>
          <p:nvPr>
            <p:ph type="title"/>
          </p:nvPr>
        </p:nvSpPr>
        <p:spPr>
          <a:xfrm>
            <a:off x="457200" y="-17463"/>
            <a:ext cx="8229600" cy="1143001"/>
          </a:xfrm>
        </p:spPr>
        <p:txBody>
          <a:bodyPr/>
          <a:lstStyle/>
          <a:p>
            <a:pPr eaLnBrk="1" hangingPunct="1"/>
            <a:r>
              <a:rPr lang="en-US" altLang="en-US" sz="3200" smtClean="0">
                <a:latin typeface="Tahoma" panose="020B0604030504040204" pitchFamily="34" charset="0"/>
                <a:cs typeface="Tahoma" panose="020B0604030504040204" pitchFamily="34" charset="0"/>
              </a:rPr>
              <a:t>4. Overview of Pulping methodology </a:t>
            </a:r>
          </a:p>
        </p:txBody>
      </p:sp>
      <p:pic>
        <p:nvPicPr>
          <p:cNvPr id="140291"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7950" y="985838"/>
            <a:ext cx="4432300" cy="3297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0292" name="Picture 8"/>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641850" y="985838"/>
            <a:ext cx="4435475" cy="3306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0293" name="TextBox 11"/>
          <p:cNvSpPr txBox="1">
            <a:spLocks noChangeArrowheads="1"/>
          </p:cNvSpPr>
          <p:nvPr/>
        </p:nvSpPr>
        <p:spPr bwMode="auto">
          <a:xfrm>
            <a:off x="92075" y="4443413"/>
            <a:ext cx="5356225" cy="193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a:t>In the 1950's, a new device called a "</a:t>
            </a:r>
            <a:r>
              <a:rPr lang="en-US" altLang="en-US" sz="2000" b="1"/>
              <a:t>refiner</a:t>
            </a:r>
            <a:r>
              <a:rPr lang="en-US" altLang="en-US" sz="2000"/>
              <a:t>" was developed. In a refiner, wood chips are shredded and ground up in water, between rotating discs with raised bars on their surfaces. Today, almost all mechanical pulp is produced by refiners. </a:t>
            </a:r>
          </a:p>
          <a:p>
            <a:pPr eaLnBrk="1" hangingPunct="1">
              <a:spcBef>
                <a:spcPct val="0"/>
              </a:spcBef>
              <a:buFontTx/>
              <a:buNone/>
            </a:pPr>
            <a:endParaRPr lang="en-US" altLang="en-US" sz="2000"/>
          </a:p>
        </p:txBody>
      </p:sp>
      <p:pic>
        <p:nvPicPr>
          <p:cNvPr id="140294" name="Picture 9"/>
          <p:cNvPicPr>
            <a:picLocks noChangeAspect="1"/>
          </p:cNvPicPr>
          <p:nvPr/>
        </p:nvPicPr>
        <p:blipFill>
          <a:blip r:embed="rId5">
            <a:extLst>
              <a:ext uri="{28A0092B-C50C-407E-A947-70E740481C1C}">
                <a14:useLocalDpi xmlns:a14="http://schemas.microsoft.com/office/drawing/2010/main" val="0"/>
              </a:ext>
            </a:extLst>
          </a:blip>
          <a:srcRect l="12079" t="12096" r="12846" b="11304"/>
          <a:stretch>
            <a:fillRect/>
          </a:stretch>
        </p:blipFill>
        <p:spPr bwMode="auto">
          <a:xfrm>
            <a:off x="5873750" y="4086225"/>
            <a:ext cx="3168650" cy="241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0295" name="TextBox 1"/>
          <p:cNvSpPr txBox="1">
            <a:spLocks noChangeArrowheads="1"/>
          </p:cNvSpPr>
          <p:nvPr/>
        </p:nvSpPr>
        <p:spPr bwMode="auto">
          <a:xfrm>
            <a:off x="7956550" y="4119563"/>
            <a:ext cx="92868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solidFill>
                  <a:schemeClr val="bg1"/>
                </a:solidFill>
              </a:rPr>
              <a:t>Refiner </a:t>
            </a:r>
          </a:p>
          <a:p>
            <a:pPr>
              <a:spcBef>
                <a:spcPct val="0"/>
              </a:spcBef>
              <a:buFontTx/>
              <a:buNone/>
            </a:pPr>
            <a:r>
              <a:rPr lang="en-US" altLang="en-US" sz="1800" b="1">
                <a:solidFill>
                  <a:schemeClr val="bg1"/>
                </a:solidFill>
              </a:rPr>
              <a:t>Section</a:t>
            </a:r>
          </a:p>
        </p:txBody>
      </p:sp>
      <p:sp>
        <p:nvSpPr>
          <p:cNvPr id="140296" name="TextBox 15"/>
          <p:cNvSpPr txBox="1">
            <a:spLocks noChangeArrowheads="1"/>
          </p:cNvSpPr>
          <p:nvPr/>
        </p:nvSpPr>
        <p:spPr bwMode="auto">
          <a:xfrm>
            <a:off x="7508875" y="1625600"/>
            <a:ext cx="9286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solidFill>
                  <a:schemeClr val="bg1"/>
                </a:solidFill>
              </a:rPr>
              <a:t>Refiner </a:t>
            </a:r>
          </a:p>
        </p:txBody>
      </p:sp>
      <p:sp>
        <p:nvSpPr>
          <p:cNvPr id="140297" name="TextBox 8"/>
          <p:cNvSpPr txBox="1">
            <a:spLocks noChangeArrowheads="1"/>
          </p:cNvSpPr>
          <p:nvPr/>
        </p:nvSpPr>
        <p:spPr bwMode="auto">
          <a:xfrm>
            <a:off x="-14288" y="6115050"/>
            <a:ext cx="257016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a:t>Credit: Convergence Training</a:t>
            </a: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Title 1"/>
          <p:cNvSpPr>
            <a:spLocks noGrp="1"/>
          </p:cNvSpPr>
          <p:nvPr>
            <p:ph type="title"/>
          </p:nvPr>
        </p:nvSpPr>
        <p:spPr>
          <a:xfrm>
            <a:off x="457200" y="-17463"/>
            <a:ext cx="8229600" cy="1143001"/>
          </a:xfrm>
        </p:spPr>
        <p:txBody>
          <a:bodyPr/>
          <a:lstStyle/>
          <a:p>
            <a:pPr eaLnBrk="1" hangingPunct="1"/>
            <a:r>
              <a:rPr lang="en-US" altLang="en-US" sz="3200" smtClean="0">
                <a:latin typeface="Tahoma" panose="020B0604030504040204" pitchFamily="34" charset="0"/>
                <a:cs typeface="Tahoma" panose="020B0604030504040204" pitchFamily="34" charset="0"/>
              </a:rPr>
              <a:t>4. Overview of Pulping methodology </a:t>
            </a:r>
          </a:p>
        </p:txBody>
      </p:sp>
      <p:pic>
        <p:nvPicPr>
          <p:cNvPr id="142339" name="Picture 10"/>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7950" y="981075"/>
            <a:ext cx="4389438" cy="327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2340" name="Picture 12"/>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638675" y="981075"/>
            <a:ext cx="4397375" cy="327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2341" name="TextBox 1"/>
          <p:cNvSpPr txBox="1">
            <a:spLocks noChangeArrowheads="1"/>
          </p:cNvSpPr>
          <p:nvPr/>
        </p:nvSpPr>
        <p:spPr bwMode="auto">
          <a:xfrm>
            <a:off x="107950" y="4437063"/>
            <a:ext cx="8928100" cy="178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a:t>Because paper made from mechanical pulp contains all of the constituents of the wood, it is called "</a:t>
            </a:r>
            <a:r>
              <a:rPr lang="en-US" altLang="en-US" sz="2000" b="1"/>
              <a:t>wood-containing paper</a:t>
            </a:r>
            <a:r>
              <a:rPr lang="en-US" altLang="en-US" sz="1800"/>
              <a:t>." Wood-containing papers, like newsprint, are usually grey in color with high opacity and a smooth surface for printing. One disadvantage of these papers is that they tend to yellow with exposure to air and sunlight because the </a:t>
            </a:r>
            <a:r>
              <a:rPr lang="en-US" altLang="en-US" sz="1800" b="1"/>
              <a:t>lignin</a:t>
            </a:r>
            <a:r>
              <a:rPr lang="en-US" altLang="en-US" sz="1800"/>
              <a:t> in the paper darkens as it </a:t>
            </a:r>
            <a:r>
              <a:rPr lang="en-US" altLang="en-US" sz="1800" b="1"/>
              <a:t>oxidizes</a:t>
            </a:r>
            <a:r>
              <a:rPr lang="en-US" altLang="en-US" sz="1800"/>
              <a:t>. </a:t>
            </a:r>
          </a:p>
          <a:p>
            <a:pPr>
              <a:spcBef>
                <a:spcPct val="0"/>
              </a:spcBef>
              <a:buFontTx/>
              <a:buNone/>
            </a:pPr>
            <a:endParaRPr lang="en-US" altLang="en-US" sz="1800"/>
          </a:p>
        </p:txBody>
      </p:sp>
      <p:pic>
        <p:nvPicPr>
          <p:cNvPr id="142342" name="Picture 11"/>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589338" y="2781300"/>
            <a:ext cx="2097087" cy="1563688"/>
          </a:xfrm>
          <a:prstGeom prst="rect">
            <a:avLst/>
          </a:prstGeom>
          <a:noFill/>
          <a:ln w="38100">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142343" name="TextBox 10"/>
          <p:cNvSpPr txBox="1">
            <a:spLocks noChangeArrowheads="1"/>
          </p:cNvSpPr>
          <p:nvPr/>
        </p:nvSpPr>
        <p:spPr bwMode="auto">
          <a:xfrm>
            <a:off x="7980363" y="3421063"/>
            <a:ext cx="97472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solidFill>
                  <a:schemeClr val="bg1"/>
                </a:solidFill>
              </a:rPr>
              <a:t>Oxidizes</a:t>
            </a:r>
          </a:p>
          <a:p>
            <a:pPr>
              <a:spcBef>
                <a:spcPct val="0"/>
              </a:spcBef>
              <a:buFontTx/>
              <a:buNone/>
            </a:pPr>
            <a:r>
              <a:rPr lang="en-US" altLang="en-US" sz="1800" b="1">
                <a:solidFill>
                  <a:schemeClr val="bg1"/>
                </a:solidFill>
              </a:rPr>
              <a:t>Paper</a:t>
            </a:r>
          </a:p>
        </p:txBody>
      </p:sp>
      <p:sp>
        <p:nvSpPr>
          <p:cNvPr id="142344" name="TextBox 7"/>
          <p:cNvSpPr txBox="1">
            <a:spLocks noChangeArrowheads="1"/>
          </p:cNvSpPr>
          <p:nvPr/>
        </p:nvSpPr>
        <p:spPr bwMode="auto">
          <a:xfrm>
            <a:off x="-14288" y="6115050"/>
            <a:ext cx="257016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a:t>Credit: Convergence Training</a:t>
            </a: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Title 1"/>
          <p:cNvSpPr>
            <a:spLocks noGrp="1"/>
          </p:cNvSpPr>
          <p:nvPr>
            <p:ph type="title"/>
          </p:nvPr>
        </p:nvSpPr>
        <p:spPr>
          <a:xfrm>
            <a:off x="457200" y="-17463"/>
            <a:ext cx="8229600" cy="1143001"/>
          </a:xfrm>
        </p:spPr>
        <p:txBody>
          <a:bodyPr/>
          <a:lstStyle/>
          <a:p>
            <a:pPr eaLnBrk="1" hangingPunct="1"/>
            <a:r>
              <a:rPr lang="en-US" altLang="en-US" sz="3200" smtClean="0">
                <a:latin typeface="Tahoma" panose="020B0604030504040204" pitchFamily="34" charset="0"/>
                <a:cs typeface="Tahoma" panose="020B0604030504040204" pitchFamily="34" charset="0"/>
              </a:rPr>
              <a:t>4. Overview of Pulping methodology </a:t>
            </a:r>
          </a:p>
        </p:txBody>
      </p:sp>
      <p:pic>
        <p:nvPicPr>
          <p:cNvPr id="2" name="07 -  Semi Chemical Pulping.mp4">
            <a:hlinkClick r:id="" action="ppaction://media"/>
          </p:cNvPr>
          <p:cNvPicPr>
            <a:picLocks noChangeAspect="1"/>
          </p:cNvPicPr>
          <p:nvPr>
            <a:videoFile r:link="rId2"/>
            <p:extLst>
              <p:ext uri="{DAA4B4D4-6D71-4841-9C94-3DE7FCFB9230}">
                <p14:media xmlns:p14="http://schemas.microsoft.com/office/powerpoint/2010/main" r:link="rId1"/>
              </p:ext>
            </p:extLst>
          </p:nvPr>
        </p:nvPicPr>
        <p:blipFill>
          <a:blip r:embed="rId5">
            <a:extLst>
              <a:ext uri="{28A0092B-C50C-407E-A947-70E740481C1C}">
                <a14:useLocalDpi xmlns:a14="http://schemas.microsoft.com/office/drawing/2010/main" val="0"/>
              </a:ext>
            </a:extLst>
          </a:blip>
          <a:srcRect/>
          <a:stretch>
            <a:fillRect/>
          </a:stretch>
        </p:blipFill>
        <p:spPr bwMode="auto">
          <a:xfrm>
            <a:off x="857250" y="889000"/>
            <a:ext cx="7429500" cy="569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nodeType="clickPar">
                      <p:stCondLst>
                        <p:cond delay="0"/>
                      </p:stCondLst>
                      <p:childTnLst>
                        <p:par>
                          <p:cTn id="4" fill="hold" nodeType="withGroup">
                            <p:stCondLst>
                              <p:cond delay="0"/>
                            </p:stCondLst>
                            <p:childTnLst>
                              <p:par>
                                <p:cTn id="5" presetID="2" presetClass="mediacall" presetSubtype="0" fill="hold" nodeType="clickEffect">
                                  <p:stCondLst>
                                    <p:cond delay="0"/>
                                  </p:stCondLst>
                                  <p:childTnLst>
                                    <p:cmd type="call" cmd="togglePause">
                                      <p:cBhvr>
                                        <p:cTn id="6" dur="1" fill="hold"/>
                                        <p:tgtEl>
                                          <p:spTgt spid="2"/>
                                        </p:tgtEl>
                                      </p:cBhvr>
                                    </p:cmd>
                                  </p:childTnLst>
                                </p:cTn>
                              </p:par>
                            </p:childTnLst>
                          </p:cTn>
                        </p:par>
                      </p:childTnLst>
                    </p:cTn>
                  </p:par>
                </p:childTnLst>
              </p:cTn>
              <p:nextCondLst>
                <p:cond evt="onClick" delay="0">
                  <p:tgtEl>
                    <p:spTgt spid="2"/>
                  </p:tgtEl>
                </p:cond>
              </p:nextCondLst>
            </p:seq>
            <p:video>
              <p:cMediaNode vol="80000">
                <p:cTn id="7" fill="hold" display="0">
                  <p:stCondLst>
                    <p:cond delay="indefinite"/>
                  </p:stCondLst>
                </p:cTn>
                <p:tgtEl>
                  <p:spTgt spid="2"/>
                </p:tgtEl>
              </p:cMediaNode>
            </p:video>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Title 1"/>
          <p:cNvSpPr>
            <a:spLocks noGrp="1"/>
          </p:cNvSpPr>
          <p:nvPr>
            <p:ph type="title"/>
          </p:nvPr>
        </p:nvSpPr>
        <p:spPr>
          <a:xfrm>
            <a:off x="457200" y="-17463"/>
            <a:ext cx="8229600" cy="1143001"/>
          </a:xfrm>
        </p:spPr>
        <p:txBody>
          <a:bodyPr/>
          <a:lstStyle/>
          <a:p>
            <a:pPr eaLnBrk="1" hangingPunct="1"/>
            <a:r>
              <a:rPr lang="en-US" altLang="en-US" sz="3200" smtClean="0">
                <a:latin typeface="Tahoma" panose="020B0604030504040204" pitchFamily="34" charset="0"/>
                <a:cs typeface="Tahoma" panose="020B0604030504040204" pitchFamily="34" charset="0"/>
              </a:rPr>
              <a:t>4. Overview of Pulping methodology </a:t>
            </a:r>
          </a:p>
        </p:txBody>
      </p:sp>
      <p:pic>
        <p:nvPicPr>
          <p:cNvPr id="146435"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0175" y="960438"/>
            <a:ext cx="4370388" cy="325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6436" name="Picture 3"/>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643438" y="954088"/>
            <a:ext cx="4368800" cy="326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6437" name="TextBox 10"/>
          <p:cNvSpPr txBox="1">
            <a:spLocks noChangeArrowheads="1"/>
          </p:cNvSpPr>
          <p:nvPr/>
        </p:nvSpPr>
        <p:spPr bwMode="auto">
          <a:xfrm>
            <a:off x="92075" y="4303713"/>
            <a:ext cx="4408488" cy="169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400" b="1"/>
              <a:t>Semichemical pulping (SCP) </a:t>
            </a:r>
            <a:r>
              <a:rPr lang="en-US" altLang="en-US" sz="2000"/>
              <a:t>processes use a combination of chemical and mechanical means to separate the fibers in wood. Two examples are: </a:t>
            </a:r>
          </a:p>
          <a:p>
            <a:pPr eaLnBrk="1" hangingPunct="1">
              <a:spcBef>
                <a:spcPct val="0"/>
              </a:spcBef>
              <a:buFontTx/>
              <a:buNone/>
            </a:pPr>
            <a:endParaRPr lang="en-US" altLang="en-US" sz="2000"/>
          </a:p>
        </p:txBody>
      </p:sp>
      <p:sp>
        <p:nvSpPr>
          <p:cNvPr id="146438" name="TextBox 11"/>
          <p:cNvSpPr txBox="1">
            <a:spLocks noChangeArrowheads="1"/>
          </p:cNvSpPr>
          <p:nvPr/>
        </p:nvSpPr>
        <p:spPr bwMode="auto">
          <a:xfrm>
            <a:off x="4572000" y="4303713"/>
            <a:ext cx="4408488"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a:t> </a:t>
            </a:r>
            <a:r>
              <a:rPr lang="en-US" altLang="en-US" sz="2000" b="1"/>
              <a:t>Neutral sulfite semichemical, or NSSC</a:t>
            </a:r>
            <a:r>
              <a:rPr lang="en-US" altLang="en-US" sz="1600"/>
              <a:t>, </a:t>
            </a:r>
            <a:r>
              <a:rPr lang="en-US" altLang="en-US" sz="2000"/>
              <a:t>process. This process produces unbleached pulp at a relatively </a:t>
            </a:r>
            <a:r>
              <a:rPr lang="en-US" altLang="en-US" sz="2000" b="1"/>
              <a:t>high yield</a:t>
            </a:r>
            <a:r>
              <a:rPr lang="en-US" altLang="en-US" sz="2000"/>
              <a:t>. </a:t>
            </a:r>
          </a:p>
        </p:txBody>
      </p:sp>
      <p:sp>
        <p:nvSpPr>
          <p:cNvPr id="146439" name="TextBox 6"/>
          <p:cNvSpPr txBox="1">
            <a:spLocks noChangeArrowheads="1"/>
          </p:cNvSpPr>
          <p:nvPr/>
        </p:nvSpPr>
        <p:spPr bwMode="auto">
          <a:xfrm>
            <a:off x="-14288" y="6115050"/>
            <a:ext cx="257016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a:t>Credit: Convergence Training</a:t>
            </a:r>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Title 1"/>
          <p:cNvSpPr>
            <a:spLocks noGrp="1"/>
          </p:cNvSpPr>
          <p:nvPr>
            <p:ph type="title"/>
          </p:nvPr>
        </p:nvSpPr>
        <p:spPr>
          <a:xfrm>
            <a:off x="457200" y="-17463"/>
            <a:ext cx="8229600" cy="1143001"/>
          </a:xfrm>
        </p:spPr>
        <p:txBody>
          <a:bodyPr/>
          <a:lstStyle/>
          <a:p>
            <a:pPr eaLnBrk="1" hangingPunct="1"/>
            <a:r>
              <a:rPr lang="en-US" altLang="en-US" sz="3200" smtClean="0">
                <a:latin typeface="Tahoma" panose="020B0604030504040204" pitchFamily="34" charset="0"/>
                <a:cs typeface="Tahoma" panose="020B0604030504040204" pitchFamily="34" charset="0"/>
              </a:rPr>
              <a:t>4. Overview of Pulping methodology </a:t>
            </a:r>
          </a:p>
        </p:txBody>
      </p:sp>
      <p:pic>
        <p:nvPicPr>
          <p:cNvPr id="148483" name="Picture 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7950" y="981075"/>
            <a:ext cx="4411663" cy="328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8484" name="Picture 11"/>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613275" y="981075"/>
            <a:ext cx="4413250" cy="330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8485" name="TextBox 10"/>
          <p:cNvSpPr txBox="1">
            <a:spLocks noChangeArrowheads="1"/>
          </p:cNvSpPr>
          <p:nvPr/>
        </p:nvSpPr>
        <p:spPr bwMode="auto">
          <a:xfrm>
            <a:off x="92075" y="4303713"/>
            <a:ext cx="4408488"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a:t>"</a:t>
            </a:r>
            <a:r>
              <a:rPr lang="en-US" altLang="en-US" sz="2000" b="1"/>
              <a:t>Yield</a:t>
            </a:r>
            <a:r>
              <a:rPr lang="en-US" altLang="en-US" sz="2000"/>
              <a:t>" refers to the dry weight of the pulp produced as a percentage of the original dry wood weight. </a:t>
            </a:r>
          </a:p>
        </p:txBody>
      </p:sp>
      <p:sp>
        <p:nvSpPr>
          <p:cNvPr id="148486" name="TextBox 11"/>
          <p:cNvSpPr txBox="1">
            <a:spLocks noChangeArrowheads="1"/>
          </p:cNvSpPr>
          <p:nvPr/>
        </p:nvSpPr>
        <p:spPr bwMode="auto">
          <a:xfrm>
            <a:off x="4584700" y="4303713"/>
            <a:ext cx="4408488"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a:t>NSSC pulp is used primarily to produce </a:t>
            </a:r>
            <a:r>
              <a:rPr lang="en-US" altLang="en-US" sz="2000" b="1"/>
              <a:t>corrugating medium </a:t>
            </a:r>
            <a:r>
              <a:rPr lang="en-US" altLang="en-US" sz="2000"/>
              <a:t>for </a:t>
            </a:r>
            <a:r>
              <a:rPr lang="en-US" altLang="en-US" sz="2000" b="1"/>
              <a:t>corrugated board</a:t>
            </a:r>
            <a:r>
              <a:rPr lang="en-US" altLang="en-US" sz="2000"/>
              <a:t>. </a:t>
            </a:r>
          </a:p>
        </p:txBody>
      </p:sp>
      <p:sp>
        <p:nvSpPr>
          <p:cNvPr id="148487" name="TextBox 6"/>
          <p:cNvSpPr txBox="1">
            <a:spLocks noChangeArrowheads="1"/>
          </p:cNvSpPr>
          <p:nvPr/>
        </p:nvSpPr>
        <p:spPr bwMode="auto">
          <a:xfrm>
            <a:off x="-14288" y="6115050"/>
            <a:ext cx="257016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a:t>Credit: Convergence Training</a:t>
            </a: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Title 1"/>
          <p:cNvSpPr>
            <a:spLocks noGrp="1"/>
          </p:cNvSpPr>
          <p:nvPr>
            <p:ph type="title"/>
          </p:nvPr>
        </p:nvSpPr>
        <p:spPr>
          <a:xfrm>
            <a:off x="457200" y="-17463"/>
            <a:ext cx="8229600" cy="1143001"/>
          </a:xfrm>
        </p:spPr>
        <p:txBody>
          <a:bodyPr/>
          <a:lstStyle/>
          <a:p>
            <a:pPr eaLnBrk="1" hangingPunct="1"/>
            <a:r>
              <a:rPr lang="en-US" altLang="en-US" sz="3200" smtClean="0">
                <a:latin typeface="Tahoma" panose="020B0604030504040204" pitchFamily="34" charset="0"/>
                <a:cs typeface="Tahoma" panose="020B0604030504040204" pitchFamily="34" charset="0"/>
              </a:rPr>
              <a:t>4. Overview of Pulping methodology </a:t>
            </a:r>
          </a:p>
        </p:txBody>
      </p:sp>
      <p:pic>
        <p:nvPicPr>
          <p:cNvPr id="150531" name="Picture 1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2875" y="981075"/>
            <a:ext cx="4373563" cy="3262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0532" name="TextBox 8"/>
          <p:cNvSpPr txBox="1">
            <a:spLocks noChangeArrowheads="1"/>
          </p:cNvSpPr>
          <p:nvPr/>
        </p:nvSpPr>
        <p:spPr bwMode="auto">
          <a:xfrm>
            <a:off x="92075" y="4303713"/>
            <a:ext cx="4408488" cy="193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b="1"/>
              <a:t>Chemithermomechanical pulping, or CTMP, </a:t>
            </a:r>
            <a:r>
              <a:rPr lang="en-US" altLang="en-US" sz="2000"/>
              <a:t>process. In this process, wood chips are pretreated with chemicals and steam before they are refined to improve the strength and brightness of the pulp produced.</a:t>
            </a:r>
          </a:p>
        </p:txBody>
      </p:sp>
      <p:sp>
        <p:nvSpPr>
          <p:cNvPr id="150533" name="TextBox 9"/>
          <p:cNvSpPr txBox="1">
            <a:spLocks noChangeArrowheads="1"/>
          </p:cNvSpPr>
          <p:nvPr/>
        </p:nvSpPr>
        <p:spPr bwMode="auto">
          <a:xfrm>
            <a:off x="4584700" y="4303713"/>
            <a:ext cx="440848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a:t>CTMP pulp is mostly used in printing and writing grades.</a:t>
            </a:r>
          </a:p>
        </p:txBody>
      </p:sp>
      <p:pic>
        <p:nvPicPr>
          <p:cNvPr id="150534" name="Picture 15"/>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643438" y="981075"/>
            <a:ext cx="4364037" cy="3262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0535" name="TextBox 1"/>
          <p:cNvSpPr txBox="1">
            <a:spLocks noChangeArrowheads="1"/>
          </p:cNvSpPr>
          <p:nvPr/>
        </p:nvSpPr>
        <p:spPr bwMode="auto">
          <a:xfrm>
            <a:off x="4572000" y="5210175"/>
            <a:ext cx="4176713" cy="135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t>Remarks: </a:t>
            </a:r>
            <a:r>
              <a:rPr lang="en-US" altLang="en-US" sz="1600"/>
              <a:t>There are many other semichemical pulping processes, mostly involving pretreatments and post-treatments in mechanical refining. </a:t>
            </a:r>
          </a:p>
          <a:p>
            <a:pPr>
              <a:spcBef>
                <a:spcPct val="0"/>
              </a:spcBef>
              <a:buFontTx/>
              <a:buNone/>
            </a:pPr>
            <a:endParaRPr lang="en-US" altLang="en-US" sz="1600"/>
          </a:p>
        </p:txBody>
      </p:sp>
      <p:sp>
        <p:nvSpPr>
          <p:cNvPr id="150536" name="TextBox 2"/>
          <p:cNvSpPr txBox="1">
            <a:spLocks noChangeArrowheads="1"/>
          </p:cNvSpPr>
          <p:nvPr/>
        </p:nvSpPr>
        <p:spPr bwMode="auto">
          <a:xfrm>
            <a:off x="3563938" y="3143250"/>
            <a:ext cx="8636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800" b="1">
                <a:solidFill>
                  <a:schemeClr val="bg1"/>
                </a:solidFill>
              </a:rPr>
              <a:t>+</a:t>
            </a:r>
          </a:p>
          <a:p>
            <a:pPr>
              <a:spcBef>
                <a:spcPct val="0"/>
              </a:spcBef>
              <a:buFontTx/>
              <a:buNone/>
            </a:pPr>
            <a:r>
              <a:rPr lang="en-US" altLang="en-US" sz="1800" b="1">
                <a:solidFill>
                  <a:schemeClr val="bg1"/>
                </a:solidFill>
              </a:rPr>
              <a:t>Steam</a:t>
            </a:r>
          </a:p>
        </p:txBody>
      </p:sp>
      <p:sp>
        <p:nvSpPr>
          <p:cNvPr id="150537" name="TextBox 13"/>
          <p:cNvSpPr txBox="1">
            <a:spLocks noChangeArrowheads="1"/>
          </p:cNvSpPr>
          <p:nvPr/>
        </p:nvSpPr>
        <p:spPr bwMode="auto">
          <a:xfrm>
            <a:off x="3379788" y="2876550"/>
            <a:ext cx="11366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solidFill>
                  <a:schemeClr val="bg1"/>
                </a:solidFill>
              </a:rPr>
              <a:t>Chemicals</a:t>
            </a:r>
          </a:p>
        </p:txBody>
      </p:sp>
      <p:sp>
        <p:nvSpPr>
          <p:cNvPr id="150538" name="TextBox 9"/>
          <p:cNvSpPr txBox="1">
            <a:spLocks noChangeArrowheads="1"/>
          </p:cNvSpPr>
          <p:nvPr/>
        </p:nvSpPr>
        <p:spPr bwMode="auto">
          <a:xfrm>
            <a:off x="-14288" y="6165850"/>
            <a:ext cx="257016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a:t>Credit: Convergence Training</a:t>
            </a:r>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ChangeArrowheads="1"/>
          </p:cNvSpPr>
          <p:nvPr>
            <p:ph type="title"/>
          </p:nvPr>
        </p:nvSpPr>
        <p:spPr>
          <a:xfrm>
            <a:off x="215900" y="1195388"/>
            <a:ext cx="8820150" cy="2881312"/>
          </a:xfrm>
        </p:spPr>
        <p:txBody>
          <a:bodyPr/>
          <a:lstStyle/>
          <a:p>
            <a:pPr eaLnBrk="1" hangingPunct="1"/>
            <a:r>
              <a:rPr lang="en-US" altLang="en-US" sz="6600" b="1" smtClean="0">
                <a:solidFill>
                  <a:srgbClr val="FF0000"/>
                </a:solidFill>
                <a:latin typeface="Tahoma" panose="020B0604030504040204" pitchFamily="34" charset="0"/>
                <a:cs typeface="Tahoma" panose="020B0604030504040204" pitchFamily="34" charset="0"/>
              </a:rPr>
              <a:t>SCG - SCP Mill</a:t>
            </a:r>
            <a:endParaRPr lang="th-TH" altLang="en-US" sz="6600" b="1" smtClean="0">
              <a:solidFill>
                <a:srgbClr val="FF0000"/>
              </a:solidFill>
              <a:latin typeface="Tahoma" panose="020B0604030504040204" pitchFamily="34" charset="0"/>
              <a:cs typeface="Tahoma" panose="020B0604030504040204" pitchFamily="34" charset="0"/>
            </a:endParaRPr>
          </a:p>
        </p:txBody>
      </p:sp>
      <p:sp>
        <p:nvSpPr>
          <p:cNvPr id="48131" name="Rectangle 3"/>
          <p:cNvSpPr>
            <a:spLocks noChangeArrowheads="1"/>
          </p:cNvSpPr>
          <p:nvPr/>
        </p:nvSpPr>
        <p:spPr bwMode="auto">
          <a:xfrm>
            <a:off x="215900" y="3571875"/>
            <a:ext cx="8820150" cy="1512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defRPr/>
            </a:pPr>
            <a:endParaRPr lang="th-TH" sz="3600" b="1" i="1" dirty="0">
              <a:solidFill>
                <a:schemeClr val="hlink"/>
              </a:solidFill>
              <a:effectLst>
                <a:outerShdw blurRad="38100" dist="38100" dir="2700000" algn="tl">
                  <a:srgbClr val="000000"/>
                </a:outerShdw>
              </a:effectLst>
              <a:latin typeface="Tahoma" pitchFamily="34" charset="0"/>
              <a:cs typeface="Tahoma" pitchFamily="34" charset="0"/>
            </a:endParaRPr>
          </a:p>
        </p:txBody>
      </p:sp>
      <p:sp>
        <p:nvSpPr>
          <p:cNvPr id="48132" name="Rectangle 4"/>
          <p:cNvSpPr>
            <a:spLocks noChangeArrowheads="1"/>
          </p:cNvSpPr>
          <p:nvPr/>
        </p:nvSpPr>
        <p:spPr bwMode="auto">
          <a:xfrm>
            <a:off x="144463" y="3321050"/>
            <a:ext cx="8820150" cy="792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defRPr/>
            </a:pPr>
            <a:r>
              <a:rPr lang="en-US" sz="3600" b="1" i="1" dirty="0">
                <a:solidFill>
                  <a:srgbClr val="FF0000"/>
                </a:solidFill>
                <a:effectLst>
                  <a:outerShdw blurRad="38100" dist="38100" dir="2700000" algn="tl">
                    <a:srgbClr val="000000"/>
                  </a:outerShdw>
                </a:effectLst>
                <a:latin typeface="Tahoma" pitchFamily="34" charset="0"/>
                <a:cs typeface="Tahoma" pitchFamily="34" charset="0"/>
              </a:rPr>
              <a:t>(Semi-Chemical Pulp Mill)</a:t>
            </a:r>
            <a:endParaRPr lang="th-TH" sz="3600" b="1" i="1" dirty="0">
              <a:solidFill>
                <a:srgbClr val="FF0000"/>
              </a:solidFill>
              <a:effectLst>
                <a:outerShdw blurRad="38100" dist="38100" dir="2700000" algn="tl">
                  <a:srgbClr val="000000"/>
                </a:outerShdw>
              </a:effectLst>
              <a:latin typeface="Tahoma" pitchFamily="34" charset="0"/>
              <a:cs typeface="Tahoma"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nodePh="1">
                                  <p:stCondLst>
                                    <p:cond delay="0"/>
                                  </p:stCondLst>
                                  <p:endCondLst>
                                    <p:cond evt="begin" delay="0">
                                      <p:tn val="5"/>
                                    </p:cond>
                                  </p:endCondLst>
                                  <p:childTnLst>
                                    <p:set>
                                      <p:cBhvr>
                                        <p:cTn id="6" dur="1" fill="hold">
                                          <p:stCondLst>
                                            <p:cond delay="0"/>
                                          </p:stCondLst>
                                        </p:cTn>
                                        <p:tgtEl>
                                          <p:spTgt spid="48131"/>
                                        </p:tgtEl>
                                        <p:attrNameLst>
                                          <p:attrName>style.visibility</p:attrName>
                                        </p:attrNameLst>
                                      </p:cBhvr>
                                      <p:to>
                                        <p:strVal val="visible"/>
                                      </p:to>
                                    </p:set>
                                    <p:animEffect transition="in" filter="wipe(left)">
                                      <p:cBhvr>
                                        <p:cTn id="7" dur="1000"/>
                                        <p:tgtEl>
                                          <p:spTgt spid="4813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8132"/>
                                        </p:tgtEl>
                                        <p:attrNameLst>
                                          <p:attrName>style.visibility</p:attrName>
                                        </p:attrNameLst>
                                      </p:cBhvr>
                                      <p:to>
                                        <p:strVal val="visible"/>
                                      </p:to>
                                    </p:set>
                                    <p:animEffect transition="in" filter="wipe(left)">
                                      <p:cBhvr>
                                        <p:cTn id="12" dur="1000"/>
                                        <p:tgtEl>
                                          <p:spTgt spid="481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1" grpId="0"/>
      <p:bldP spid="48132"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ChangeArrowheads="1"/>
          </p:cNvSpPr>
          <p:nvPr/>
        </p:nvSpPr>
        <p:spPr bwMode="auto">
          <a:xfrm>
            <a:off x="73025" y="0"/>
            <a:ext cx="9070975" cy="728663"/>
          </a:xfrm>
          <a:prstGeom prst="rect">
            <a:avLst/>
          </a:prstGeom>
          <a:noFill/>
          <a:ln>
            <a:noFill/>
          </a:ln>
          <a:effectLst/>
          <a:extLst>
            <a:ext uri="{909E8E84-426E-40DD-AFC4-6F175D3DCCD1}">
              <a14:hiddenFill xmlns:a14="http://schemas.microsoft.com/office/drawing/2010/main">
                <a:solidFill>
                  <a:srgbClr val="00008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b="1">
                <a:solidFill>
                  <a:srgbClr val="FF0000"/>
                </a:solidFill>
                <a:latin typeface="Tahoma" panose="020B0604030504040204" pitchFamily="34" charset="0"/>
                <a:cs typeface="Tahoma" panose="020B0604030504040204" pitchFamily="34" charset="0"/>
              </a:rPr>
              <a:t>SCP Pulp</a:t>
            </a:r>
            <a:endParaRPr lang="th-TH" altLang="en-US" b="1">
              <a:solidFill>
                <a:srgbClr val="FF0000"/>
              </a:solidFill>
              <a:latin typeface="Tahoma" panose="020B0604030504040204" pitchFamily="34" charset="0"/>
              <a:cs typeface="Tahoma" panose="020B0604030504040204" pitchFamily="34" charset="0"/>
            </a:endParaRPr>
          </a:p>
        </p:txBody>
      </p:sp>
      <p:pic>
        <p:nvPicPr>
          <p:cNvPr id="154627" name="Picture 3" descr="CTMP Pul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25750" y="3708400"/>
            <a:ext cx="3563938" cy="2673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628" name="Text Box 4"/>
          <p:cNvSpPr txBox="1">
            <a:spLocks noChangeArrowheads="1"/>
          </p:cNvSpPr>
          <p:nvPr/>
        </p:nvSpPr>
        <p:spPr bwMode="auto">
          <a:xfrm>
            <a:off x="250825" y="800100"/>
            <a:ext cx="8893175" cy="301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th-TH" altLang="en-US" sz="2000" b="1">
                <a:latin typeface="Tahoma" panose="020B0604030504040204" pitchFamily="34" charset="0"/>
                <a:cs typeface="Tahoma" panose="020B0604030504040204" pitchFamily="34" charset="0"/>
              </a:rPr>
              <a:t>ผลิตภัณฑ์ 	</a:t>
            </a:r>
            <a:r>
              <a:rPr lang="en-US" altLang="en-US" sz="2000" b="1">
                <a:latin typeface="Tahoma" panose="020B0604030504040204" pitchFamily="34" charset="0"/>
                <a:cs typeface="Tahoma" panose="020B0604030504040204" pitchFamily="34" charset="0"/>
              </a:rPr>
              <a:t>:	</a:t>
            </a:r>
            <a:r>
              <a:rPr lang="th-TH" altLang="en-US" sz="2000" b="1">
                <a:latin typeface="Tahoma" panose="020B0604030504040204" pitchFamily="34" charset="0"/>
                <a:cs typeface="Tahoma" panose="020B0604030504040204" pitchFamily="34" charset="0"/>
              </a:rPr>
              <a:t>เยื่อ </a:t>
            </a:r>
            <a:r>
              <a:rPr lang="en-US" altLang="en-US" sz="2000" b="1">
                <a:latin typeface="Tahoma" panose="020B0604030504040204" pitchFamily="34" charset="0"/>
                <a:cs typeface="Tahoma" panose="020B0604030504040204" pitchFamily="34" charset="0"/>
              </a:rPr>
              <a:t>SCP (BP : 64,000 tpy, WS : 75,000 tpy)</a:t>
            </a:r>
          </a:p>
          <a:p>
            <a:pPr eaLnBrk="1" hangingPunct="1">
              <a:spcBef>
                <a:spcPct val="50000"/>
              </a:spcBef>
              <a:buFontTx/>
              <a:buNone/>
            </a:pPr>
            <a:r>
              <a:rPr lang="th-TH" altLang="en-US" sz="2000" b="1">
                <a:latin typeface="Tahoma" panose="020B0604030504040204" pitchFamily="34" charset="0"/>
                <a:cs typeface="Tahoma" panose="020B0604030504040204" pitchFamily="34" charset="0"/>
              </a:rPr>
              <a:t>วัตถุดิบ </a:t>
            </a:r>
            <a:r>
              <a:rPr lang="en-US" altLang="en-US" sz="2000" b="1">
                <a:latin typeface="Tahoma" panose="020B0604030504040204" pitchFamily="34" charset="0"/>
                <a:cs typeface="Tahoma" panose="020B0604030504040204" pitchFamily="34" charset="0"/>
              </a:rPr>
              <a:t>		: </a:t>
            </a:r>
            <a:r>
              <a:rPr lang="th-TH" altLang="en-US" sz="2000" b="1">
                <a:latin typeface="Tahoma" panose="020B0604030504040204" pitchFamily="34" charset="0"/>
                <a:cs typeface="Tahoma" panose="020B0604030504040204" pitchFamily="34" charset="0"/>
              </a:rPr>
              <a:t>	ชิ้นไม้สับยูคาลิปตัส</a:t>
            </a:r>
          </a:p>
          <a:p>
            <a:pPr eaLnBrk="1" hangingPunct="1">
              <a:spcBef>
                <a:spcPct val="50000"/>
              </a:spcBef>
              <a:buFontTx/>
              <a:buNone/>
            </a:pPr>
            <a:r>
              <a:rPr lang="th-TH" altLang="en-US" sz="2000" b="1">
                <a:latin typeface="Tahoma" panose="020B0604030504040204" pitchFamily="34" charset="0"/>
                <a:cs typeface="Tahoma" panose="020B0604030504040204" pitchFamily="34" charset="0"/>
              </a:rPr>
              <a:t>กระบวนการผลิต</a:t>
            </a:r>
            <a:r>
              <a:rPr lang="en-US" altLang="en-US" sz="2000" b="1">
                <a:latin typeface="Tahoma" panose="020B0604030504040204" pitchFamily="34" charset="0"/>
                <a:cs typeface="Tahoma" panose="020B0604030504040204" pitchFamily="34" charset="0"/>
              </a:rPr>
              <a:t>:	Green Liquor Semi-Chemical Pulping 				(70-75% Pulp Yield)</a:t>
            </a:r>
          </a:p>
          <a:p>
            <a:pPr eaLnBrk="1" hangingPunct="1">
              <a:spcBef>
                <a:spcPct val="50000"/>
              </a:spcBef>
              <a:buFontTx/>
              <a:buNone/>
            </a:pPr>
            <a:r>
              <a:rPr lang="th-TH" altLang="en-US" sz="2000" b="1">
                <a:latin typeface="Tahoma" panose="020B0604030504040204" pitchFamily="34" charset="0"/>
                <a:cs typeface="Tahoma" panose="020B0604030504040204" pitchFamily="34" charset="0"/>
              </a:rPr>
              <a:t>การใช้งาน	</a:t>
            </a:r>
            <a:r>
              <a:rPr lang="en-US" altLang="en-US" sz="2000" b="1">
                <a:latin typeface="Tahoma" panose="020B0604030504040204" pitchFamily="34" charset="0"/>
                <a:cs typeface="Tahoma" panose="020B0604030504040204" pitchFamily="34" charset="0"/>
              </a:rPr>
              <a:t>: </a:t>
            </a:r>
            <a:r>
              <a:rPr lang="th-TH" altLang="en-US" sz="2000" b="1">
                <a:latin typeface="Tahoma" panose="020B0604030504040204" pitchFamily="34" charset="0"/>
                <a:cs typeface="Tahoma" panose="020B0604030504040204" pitchFamily="34" charset="0"/>
              </a:rPr>
              <a:t>	ใช้ในการผลิตกระดาษลอนลูกฟูก </a:t>
            </a:r>
            <a:r>
              <a:rPr lang="en-US" altLang="en-US" sz="2000" b="1">
                <a:latin typeface="Tahoma" panose="020B0604030504040204" pitchFamily="34" charset="0"/>
                <a:cs typeface="Tahoma" panose="020B0604030504040204" pitchFamily="34" charset="0"/>
              </a:rPr>
              <a:t>(CM)</a:t>
            </a:r>
          </a:p>
          <a:p>
            <a:pPr eaLnBrk="1" hangingPunct="1">
              <a:spcBef>
                <a:spcPct val="50000"/>
              </a:spcBef>
              <a:buFontTx/>
              <a:buNone/>
            </a:pPr>
            <a:r>
              <a:rPr lang="th-TH" altLang="en-US" sz="2000" b="1">
                <a:latin typeface="Tahoma" panose="020B0604030504040204" pitchFamily="34" charset="0"/>
                <a:cs typeface="Tahoma" panose="020B0604030504040204" pitchFamily="34" charset="0"/>
              </a:rPr>
              <a:t>ลูกค้า		</a:t>
            </a:r>
            <a:r>
              <a:rPr lang="en-US" altLang="en-US" sz="2000" b="1">
                <a:latin typeface="Tahoma" panose="020B0604030504040204" pitchFamily="34" charset="0"/>
                <a:cs typeface="Tahoma" panose="020B0604030504040204" pitchFamily="34" charset="0"/>
              </a:rPr>
              <a:t>:	SKIC</a:t>
            </a:r>
          </a:p>
          <a:p>
            <a:pPr eaLnBrk="1" hangingPunct="1">
              <a:spcBef>
                <a:spcPct val="50000"/>
              </a:spcBef>
              <a:buFontTx/>
              <a:buNone/>
            </a:pPr>
            <a:r>
              <a:rPr lang="en-US" altLang="en-US" sz="2000" b="1">
                <a:latin typeface="Tahoma" panose="020B0604030504040204" pitchFamily="34" charset="0"/>
                <a:cs typeface="Tahoma" panose="020B0604030504040204" pitchFamily="34" charset="0"/>
              </a:rPr>
              <a:t>			</a:t>
            </a:r>
            <a:endParaRPr lang="th-TH" altLang="en-US" sz="2000" b="1">
              <a:latin typeface="Tahoma" panose="020B0604030504040204" pitchFamily="34" charset="0"/>
              <a:cs typeface="Tahoma" panose="020B0604030504040204" pitchFamily="34" charset="0"/>
            </a:endParaRPr>
          </a:p>
        </p:txBody>
      </p:sp>
    </p:spTree>
  </p:cSld>
  <p:clrMapOvr>
    <a:masterClrMapping/>
  </p:clrMapOvr>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6" name="Picture 2" descr="Pin Chips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87900" y="4021138"/>
            <a:ext cx="2951163" cy="221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27" name="Text Box 3"/>
          <p:cNvSpPr txBox="1">
            <a:spLocks noChangeArrowheads="1"/>
          </p:cNvSpPr>
          <p:nvPr/>
        </p:nvSpPr>
        <p:spPr bwMode="auto">
          <a:xfrm>
            <a:off x="5446713" y="6281738"/>
            <a:ext cx="1377950" cy="396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7620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sz="2000" b="1">
                <a:solidFill>
                  <a:srgbClr val="FF0000"/>
                </a:solidFill>
                <a:latin typeface="Tahoma" panose="020B0604030504040204" pitchFamily="34" charset="0"/>
                <a:cs typeface="Tahoma" panose="020B0604030504040204" pitchFamily="34" charset="0"/>
              </a:rPr>
              <a:t>Pin Chips</a:t>
            </a:r>
          </a:p>
        </p:txBody>
      </p:sp>
      <p:sp>
        <p:nvSpPr>
          <p:cNvPr id="52228" name="Text Box 4"/>
          <p:cNvSpPr txBox="1">
            <a:spLocks noChangeArrowheads="1"/>
          </p:cNvSpPr>
          <p:nvPr/>
        </p:nvSpPr>
        <p:spPr bwMode="auto">
          <a:xfrm>
            <a:off x="1008063" y="2960688"/>
            <a:ext cx="2447925"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th-TH" altLang="en-US" sz="2000" b="1">
                <a:solidFill>
                  <a:srgbClr val="0000FF"/>
                </a:solidFill>
                <a:latin typeface="Tahoma" panose="020B0604030504040204" pitchFamily="34" charset="0"/>
                <a:cs typeface="Tahoma" panose="020B0604030504040204" pitchFamily="34" charset="0"/>
              </a:rPr>
              <a:t>ชิ้นไม้สับจาก</a:t>
            </a:r>
            <a:r>
              <a:rPr lang="en-US" altLang="en-US" sz="2000" b="1">
                <a:solidFill>
                  <a:srgbClr val="0000FF"/>
                </a:solidFill>
                <a:latin typeface="Tahoma" panose="020B0604030504040204" pitchFamily="34" charset="0"/>
                <a:cs typeface="Tahoma" panose="020B0604030504040204" pitchFamily="34" charset="0"/>
              </a:rPr>
              <a:t> </a:t>
            </a:r>
            <a:endParaRPr lang="th-TH" altLang="en-US" sz="2000" b="1">
              <a:solidFill>
                <a:srgbClr val="0000FF"/>
              </a:solidFill>
              <a:latin typeface="Tahoma" panose="020B0604030504040204" pitchFamily="34" charset="0"/>
              <a:cs typeface="Tahoma" panose="020B0604030504040204" pitchFamily="34" charset="0"/>
            </a:endParaRPr>
          </a:p>
          <a:p>
            <a:pPr>
              <a:spcBef>
                <a:spcPct val="50000"/>
              </a:spcBef>
              <a:buFontTx/>
              <a:buNone/>
            </a:pPr>
            <a:r>
              <a:rPr lang="th-TH" altLang="en-US" sz="2000" b="1">
                <a:solidFill>
                  <a:srgbClr val="0000FF"/>
                </a:solidFill>
                <a:latin typeface="Tahoma" panose="020B0604030504040204" pitchFamily="34" charset="0"/>
                <a:cs typeface="Tahoma" panose="020B0604030504040204" pitchFamily="34" charset="0"/>
              </a:rPr>
              <a:t>ไม้ </a:t>
            </a:r>
            <a:r>
              <a:rPr lang="en-US" altLang="en-US" sz="2000" b="1">
                <a:solidFill>
                  <a:srgbClr val="0000FF"/>
                </a:solidFill>
                <a:latin typeface="Tahoma" panose="020B0604030504040204" pitchFamily="34" charset="0"/>
                <a:cs typeface="Tahoma" panose="020B0604030504040204" pitchFamily="34" charset="0"/>
              </a:rPr>
              <a:t>“</a:t>
            </a:r>
            <a:r>
              <a:rPr lang="th-TH" altLang="en-US" sz="2000" b="1">
                <a:solidFill>
                  <a:srgbClr val="FF0000"/>
                </a:solidFill>
                <a:latin typeface="Tahoma" panose="020B0604030504040204" pitchFamily="34" charset="0"/>
                <a:cs typeface="Tahoma" panose="020B0604030504040204" pitchFamily="34" charset="0"/>
              </a:rPr>
              <a:t>ลอก</a:t>
            </a:r>
            <a:r>
              <a:rPr lang="en-US" altLang="en-US" sz="2000" b="1">
                <a:solidFill>
                  <a:srgbClr val="0000FF"/>
                </a:solidFill>
                <a:latin typeface="Tahoma" panose="020B0604030504040204" pitchFamily="34" charset="0"/>
                <a:cs typeface="Tahoma" panose="020B0604030504040204" pitchFamily="34" charset="0"/>
              </a:rPr>
              <a:t>” </a:t>
            </a:r>
            <a:r>
              <a:rPr lang="th-TH" altLang="en-US" sz="2000" b="1">
                <a:solidFill>
                  <a:srgbClr val="0000FF"/>
                </a:solidFill>
                <a:latin typeface="Tahoma" panose="020B0604030504040204" pitchFamily="34" charset="0"/>
                <a:cs typeface="Tahoma" panose="020B0604030504040204" pitchFamily="34" charset="0"/>
              </a:rPr>
              <a:t>เปลือก</a:t>
            </a:r>
            <a:endParaRPr lang="en-US" altLang="en-US" sz="2000" b="1">
              <a:solidFill>
                <a:srgbClr val="0000FF"/>
              </a:solidFill>
              <a:latin typeface="Tahoma" panose="020B0604030504040204" pitchFamily="34" charset="0"/>
              <a:cs typeface="Tahoma" panose="020B0604030504040204" pitchFamily="34" charset="0"/>
            </a:endParaRPr>
          </a:p>
        </p:txBody>
      </p:sp>
      <p:pic>
        <p:nvPicPr>
          <p:cNvPr id="52229" name="Picture 5" descr="Small Chips with Bark"/>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67288" y="908050"/>
            <a:ext cx="2771775" cy="207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30" name="Text Box 6"/>
          <p:cNvSpPr txBox="1">
            <a:spLocks noChangeArrowheads="1"/>
          </p:cNvSpPr>
          <p:nvPr/>
        </p:nvSpPr>
        <p:spPr bwMode="auto">
          <a:xfrm>
            <a:off x="5219700" y="2924175"/>
            <a:ext cx="2592388"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th-TH" altLang="en-US" sz="2000" b="1">
                <a:solidFill>
                  <a:srgbClr val="0000FF"/>
                </a:solidFill>
                <a:latin typeface="Tahoma" panose="020B0604030504040204" pitchFamily="34" charset="0"/>
                <a:cs typeface="Tahoma" panose="020B0604030504040204" pitchFamily="34" charset="0"/>
              </a:rPr>
              <a:t>ชิ้นไม้สับจาก</a:t>
            </a:r>
          </a:p>
          <a:p>
            <a:pPr>
              <a:spcBef>
                <a:spcPct val="50000"/>
              </a:spcBef>
              <a:buFontTx/>
              <a:buNone/>
            </a:pPr>
            <a:r>
              <a:rPr lang="th-TH" altLang="en-US" sz="2000" b="1">
                <a:solidFill>
                  <a:srgbClr val="0000FF"/>
                </a:solidFill>
                <a:latin typeface="Tahoma" panose="020B0604030504040204" pitchFamily="34" charset="0"/>
                <a:cs typeface="Tahoma" panose="020B0604030504040204" pitchFamily="34" charset="0"/>
              </a:rPr>
              <a:t>ไม้ </a:t>
            </a:r>
            <a:r>
              <a:rPr lang="en-US" altLang="en-US" sz="2000" b="1">
                <a:solidFill>
                  <a:srgbClr val="0000FF"/>
                </a:solidFill>
                <a:latin typeface="Tahoma" panose="020B0604030504040204" pitchFamily="34" charset="0"/>
                <a:cs typeface="Tahoma" panose="020B0604030504040204" pitchFamily="34" charset="0"/>
              </a:rPr>
              <a:t>“</a:t>
            </a:r>
            <a:r>
              <a:rPr lang="th-TH" altLang="en-US" sz="2000" b="1">
                <a:solidFill>
                  <a:srgbClr val="FF0000"/>
                </a:solidFill>
                <a:latin typeface="Tahoma" panose="020B0604030504040204" pitchFamily="34" charset="0"/>
                <a:cs typeface="Tahoma" panose="020B0604030504040204" pitchFamily="34" charset="0"/>
              </a:rPr>
              <a:t>รวม</a:t>
            </a:r>
            <a:r>
              <a:rPr lang="en-US" altLang="en-US" sz="2000" b="1">
                <a:solidFill>
                  <a:srgbClr val="0000FF"/>
                </a:solidFill>
                <a:latin typeface="Tahoma" panose="020B0604030504040204" pitchFamily="34" charset="0"/>
                <a:cs typeface="Tahoma" panose="020B0604030504040204" pitchFamily="34" charset="0"/>
              </a:rPr>
              <a:t>” </a:t>
            </a:r>
            <a:r>
              <a:rPr lang="th-TH" altLang="en-US" sz="2000" b="1">
                <a:solidFill>
                  <a:srgbClr val="0000FF"/>
                </a:solidFill>
                <a:latin typeface="Tahoma" panose="020B0604030504040204" pitchFamily="34" charset="0"/>
                <a:cs typeface="Tahoma" panose="020B0604030504040204" pitchFamily="34" charset="0"/>
              </a:rPr>
              <a:t>เปลือก</a:t>
            </a:r>
            <a:endParaRPr lang="en-US" altLang="en-US" sz="2000" b="1">
              <a:solidFill>
                <a:srgbClr val="0000FF"/>
              </a:solidFill>
              <a:latin typeface="Tahoma" panose="020B0604030504040204" pitchFamily="34" charset="0"/>
              <a:cs typeface="Tahoma" panose="020B0604030504040204" pitchFamily="34" charset="0"/>
            </a:endParaRPr>
          </a:p>
        </p:txBody>
      </p:sp>
      <p:pic>
        <p:nvPicPr>
          <p:cNvPr id="52231" name="Picture 7" descr="Chips"/>
          <p:cNvPicPr>
            <a:picLocks noGrp="1" noChangeAspect="1" noChangeArrowheads="1"/>
          </p:cNvPicPr>
          <p:nvPr>
            <p:ph/>
          </p:nvPr>
        </p:nvPicPr>
        <p:blipFill>
          <a:blip r:embed="rId5">
            <a:extLst>
              <a:ext uri="{28A0092B-C50C-407E-A947-70E740481C1C}">
                <a14:useLocalDpi xmlns:a14="http://schemas.microsoft.com/office/drawing/2010/main" val="0"/>
              </a:ext>
            </a:extLst>
          </a:blip>
          <a:srcRect/>
          <a:stretch>
            <a:fillRect/>
          </a:stretch>
        </p:blipFill>
        <p:spPr>
          <a:xfrm>
            <a:off x="755650" y="873125"/>
            <a:ext cx="2808288" cy="2106613"/>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56680" name="Text Box 8"/>
          <p:cNvSpPr txBox="1">
            <a:spLocks noChangeArrowheads="1"/>
          </p:cNvSpPr>
          <p:nvPr/>
        </p:nvSpPr>
        <p:spPr bwMode="auto">
          <a:xfrm>
            <a:off x="171450" y="0"/>
            <a:ext cx="87217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b="1">
                <a:solidFill>
                  <a:srgbClr val="FF0000"/>
                </a:solidFill>
                <a:latin typeface="Tahoma" panose="020B0604030504040204" pitchFamily="34" charset="0"/>
                <a:cs typeface="Tahoma" panose="020B0604030504040204" pitchFamily="34" charset="0"/>
              </a:rPr>
              <a:t>SCP – Raw Material</a:t>
            </a:r>
          </a:p>
        </p:txBody>
      </p:sp>
      <p:sp>
        <p:nvSpPr>
          <p:cNvPr id="52233" name="Text Box 9"/>
          <p:cNvSpPr txBox="1">
            <a:spLocks noChangeArrowheads="1"/>
          </p:cNvSpPr>
          <p:nvPr/>
        </p:nvSpPr>
        <p:spPr bwMode="auto">
          <a:xfrm>
            <a:off x="1260475" y="4252913"/>
            <a:ext cx="2447925" cy="176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Char char="-"/>
            </a:pPr>
            <a:r>
              <a:rPr lang="en-US" altLang="en-US" sz="2000" b="1">
                <a:solidFill>
                  <a:srgbClr val="0000FF"/>
                </a:solidFill>
                <a:latin typeface="Tahoma" panose="020B0604030504040204" pitchFamily="34" charset="0"/>
                <a:cs typeface="Tahoma" panose="020B0604030504040204" pitchFamily="34" charset="0"/>
              </a:rPr>
              <a:t> Eucalyptus </a:t>
            </a:r>
          </a:p>
          <a:p>
            <a:pPr>
              <a:spcBef>
                <a:spcPct val="50000"/>
              </a:spcBef>
              <a:buFontTx/>
              <a:buChar char="-"/>
            </a:pPr>
            <a:r>
              <a:rPr lang="en-US" altLang="en-US" sz="2000" b="1">
                <a:solidFill>
                  <a:srgbClr val="0000FF"/>
                </a:solidFill>
                <a:latin typeface="Tahoma" panose="020B0604030504040204" pitchFamily="34" charset="0"/>
                <a:cs typeface="Tahoma" panose="020B0604030504040204" pitchFamily="34" charset="0"/>
              </a:rPr>
              <a:t> Leucaena</a:t>
            </a:r>
          </a:p>
          <a:p>
            <a:pPr>
              <a:spcBef>
                <a:spcPct val="50000"/>
              </a:spcBef>
              <a:buFontTx/>
              <a:buChar char="-"/>
            </a:pPr>
            <a:r>
              <a:rPr lang="en-US" altLang="en-US" sz="2000" b="1">
                <a:solidFill>
                  <a:srgbClr val="0000FF"/>
                </a:solidFill>
                <a:latin typeface="Tahoma" panose="020B0604030504040204" pitchFamily="34" charset="0"/>
                <a:cs typeface="Tahoma" panose="020B0604030504040204" pitchFamily="34" charset="0"/>
              </a:rPr>
              <a:t> Acacia</a:t>
            </a:r>
          </a:p>
          <a:p>
            <a:pPr>
              <a:spcBef>
                <a:spcPct val="50000"/>
              </a:spcBef>
              <a:buFontTx/>
              <a:buChar char="-"/>
            </a:pPr>
            <a:r>
              <a:rPr lang="en-US" altLang="en-US" sz="2000" b="1">
                <a:solidFill>
                  <a:srgbClr val="0000FF"/>
                </a:solidFill>
                <a:latin typeface="Tahoma" panose="020B0604030504040204" pitchFamily="34" charset="0"/>
                <a:cs typeface="Tahoma" panose="020B0604030504040204" pitchFamily="34" charset="0"/>
              </a:rPr>
              <a:t> Bamboo</a:t>
            </a:r>
          </a:p>
        </p:txBody>
      </p:sp>
      <p:sp>
        <p:nvSpPr>
          <p:cNvPr id="52234" name="Line 10"/>
          <p:cNvSpPr>
            <a:spLocks noChangeShapeType="1"/>
          </p:cNvSpPr>
          <p:nvPr/>
        </p:nvSpPr>
        <p:spPr bwMode="auto">
          <a:xfrm>
            <a:off x="1344613" y="3835400"/>
            <a:ext cx="0" cy="2016125"/>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2231"/>
                                        </p:tgtEl>
                                        <p:attrNameLst>
                                          <p:attrName>style.visibility</p:attrName>
                                        </p:attrNameLst>
                                      </p:cBhvr>
                                      <p:to>
                                        <p:strVal val="visible"/>
                                      </p:to>
                                    </p:set>
                                    <p:animEffect transition="in" filter="blinds(horizontal)">
                                      <p:cBhvr>
                                        <p:cTn id="7" dur="500"/>
                                        <p:tgtEl>
                                          <p:spTgt spid="52231"/>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52228"/>
                                        </p:tgtEl>
                                        <p:attrNameLst>
                                          <p:attrName>style.visibility</p:attrName>
                                        </p:attrNameLst>
                                      </p:cBhvr>
                                      <p:to>
                                        <p:strVal val="visible"/>
                                      </p:to>
                                    </p:set>
                                    <p:animEffect transition="in" filter="blinds(horizontal)">
                                      <p:cBhvr>
                                        <p:cTn id="10" dur="500"/>
                                        <p:tgtEl>
                                          <p:spTgt spid="52228"/>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52229"/>
                                        </p:tgtEl>
                                        <p:attrNameLst>
                                          <p:attrName>style.visibility</p:attrName>
                                        </p:attrNameLst>
                                      </p:cBhvr>
                                      <p:to>
                                        <p:strVal val="visible"/>
                                      </p:to>
                                    </p:set>
                                    <p:animEffect transition="in" filter="blinds(horizontal)">
                                      <p:cBhvr>
                                        <p:cTn id="15" dur="500"/>
                                        <p:tgtEl>
                                          <p:spTgt spid="52229"/>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52230"/>
                                        </p:tgtEl>
                                        <p:attrNameLst>
                                          <p:attrName>style.visibility</p:attrName>
                                        </p:attrNameLst>
                                      </p:cBhvr>
                                      <p:to>
                                        <p:strVal val="visible"/>
                                      </p:to>
                                    </p:set>
                                    <p:animEffect transition="in" filter="blinds(horizontal)">
                                      <p:cBhvr>
                                        <p:cTn id="18" dur="500"/>
                                        <p:tgtEl>
                                          <p:spTgt spid="52230"/>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52226"/>
                                        </p:tgtEl>
                                        <p:attrNameLst>
                                          <p:attrName>style.visibility</p:attrName>
                                        </p:attrNameLst>
                                      </p:cBhvr>
                                      <p:to>
                                        <p:strVal val="visible"/>
                                      </p:to>
                                    </p:set>
                                    <p:animEffect transition="in" filter="blinds(horizontal)">
                                      <p:cBhvr>
                                        <p:cTn id="23" dur="500"/>
                                        <p:tgtEl>
                                          <p:spTgt spid="52226"/>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52227"/>
                                        </p:tgtEl>
                                        <p:attrNameLst>
                                          <p:attrName>style.visibility</p:attrName>
                                        </p:attrNameLst>
                                      </p:cBhvr>
                                      <p:to>
                                        <p:strVal val="visible"/>
                                      </p:to>
                                    </p:set>
                                    <p:animEffect transition="in" filter="blinds(horizontal)">
                                      <p:cBhvr>
                                        <p:cTn id="26" dur="500"/>
                                        <p:tgtEl>
                                          <p:spTgt spid="52227"/>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52234"/>
                                        </p:tgtEl>
                                        <p:attrNameLst>
                                          <p:attrName>style.visibility</p:attrName>
                                        </p:attrNameLst>
                                      </p:cBhvr>
                                      <p:to>
                                        <p:strVal val="visible"/>
                                      </p:to>
                                    </p:set>
                                    <p:animEffect transition="in" filter="wipe(up)">
                                      <p:cBhvr>
                                        <p:cTn id="31" dur="3000"/>
                                        <p:tgtEl>
                                          <p:spTgt spid="52234"/>
                                        </p:tgtEl>
                                      </p:cBhvr>
                                    </p:animEffect>
                                  </p:childTnLst>
                                </p:cTn>
                              </p:par>
                              <p:par>
                                <p:cTn id="32" presetID="22" presetClass="entr" presetSubtype="1" fill="hold" grpId="0" nodeType="withEffect">
                                  <p:stCondLst>
                                    <p:cond delay="0"/>
                                  </p:stCondLst>
                                  <p:childTnLst>
                                    <p:set>
                                      <p:cBhvr>
                                        <p:cTn id="33" dur="1" fill="hold">
                                          <p:stCondLst>
                                            <p:cond delay="0"/>
                                          </p:stCondLst>
                                        </p:cTn>
                                        <p:tgtEl>
                                          <p:spTgt spid="52233"/>
                                        </p:tgtEl>
                                        <p:attrNameLst>
                                          <p:attrName>style.visibility</p:attrName>
                                        </p:attrNameLst>
                                      </p:cBhvr>
                                      <p:to>
                                        <p:strVal val="visible"/>
                                      </p:to>
                                    </p:set>
                                    <p:animEffect transition="in" filter="wipe(up)">
                                      <p:cBhvr>
                                        <p:cTn id="34" dur="3000"/>
                                        <p:tgtEl>
                                          <p:spTgt spid="522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7" grpId="0" animBg="1"/>
      <p:bldP spid="52228" grpId="0"/>
      <p:bldP spid="52230" grpId="0"/>
      <p:bldP spid="52233" grpId="0"/>
      <p:bldP spid="52234"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p:cNvSpPr>
            <a:spLocks noChangeArrowheads="1"/>
          </p:cNvSpPr>
          <p:nvPr/>
        </p:nvSpPr>
        <p:spPr bwMode="auto">
          <a:xfrm>
            <a:off x="0" y="0"/>
            <a:ext cx="9144000" cy="728663"/>
          </a:xfrm>
          <a:prstGeom prst="rect">
            <a:avLst/>
          </a:prstGeom>
          <a:noFill/>
          <a:ln>
            <a:noFill/>
          </a:ln>
          <a:effectLst/>
          <a:extLst>
            <a:ext uri="{909E8E84-426E-40DD-AFC4-6F175D3DCCD1}">
              <a14:hiddenFill xmlns:a14="http://schemas.microsoft.com/office/drawing/2010/main">
                <a:solidFill>
                  <a:srgbClr val="00008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b="1">
                <a:solidFill>
                  <a:srgbClr val="FF0000"/>
                </a:solidFill>
                <a:latin typeface="Tahoma" panose="020B0604030504040204" pitchFamily="34" charset="0"/>
                <a:cs typeface="Tahoma" panose="020B0604030504040204" pitchFamily="34" charset="0"/>
              </a:rPr>
              <a:t>SCP Process Diagram (Banpong Mill)</a:t>
            </a:r>
            <a:endParaRPr lang="th-TH" altLang="en-US" b="1">
              <a:solidFill>
                <a:srgbClr val="FF0000"/>
              </a:solidFill>
              <a:latin typeface="Tahoma" panose="020B0604030504040204" pitchFamily="34" charset="0"/>
              <a:cs typeface="Tahoma" panose="020B0604030504040204" pitchFamily="34" charset="0"/>
            </a:endParaRPr>
          </a:p>
        </p:txBody>
      </p:sp>
      <p:grpSp>
        <p:nvGrpSpPr>
          <p:cNvPr id="158723" name="Group 3"/>
          <p:cNvGrpSpPr>
            <a:grpSpLocks/>
          </p:cNvGrpSpPr>
          <p:nvPr/>
        </p:nvGrpSpPr>
        <p:grpSpPr bwMode="auto">
          <a:xfrm>
            <a:off x="-39688" y="908050"/>
            <a:ext cx="9291638" cy="5767388"/>
            <a:chOff x="-25" y="572"/>
            <a:chExt cx="5853" cy="3633"/>
          </a:xfrm>
        </p:grpSpPr>
        <p:sp>
          <p:nvSpPr>
            <p:cNvPr id="158733" name="Rectangle 4"/>
            <p:cNvSpPr>
              <a:spLocks noChangeArrowheads="1"/>
            </p:cNvSpPr>
            <p:nvPr/>
          </p:nvSpPr>
          <p:spPr bwMode="auto">
            <a:xfrm>
              <a:off x="5181" y="3549"/>
              <a:ext cx="647" cy="152"/>
            </a:xfrm>
            <a:prstGeom prst="rect">
              <a:avLst/>
            </a:prstGeom>
            <a:solidFill>
              <a:schemeClr val="bg1"/>
            </a:solidFill>
            <a:ln>
              <a:noFill/>
            </a:ln>
            <a:effectLst/>
            <a:extLst>
              <a:ext uri="{91240B29-F687-4F45-9708-019B960494DF}">
                <a14:hiddenLine xmlns:a14="http://schemas.microsoft.com/office/drawing/2010/main" w="127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000" b="1">
                  <a:solidFill>
                    <a:srgbClr val="0000FF"/>
                  </a:solidFill>
                  <a:latin typeface="Tahoma" panose="020B0604030504040204" pitchFamily="34" charset="0"/>
                  <a:cs typeface="Angsana New" panose="02020603050405020304" pitchFamily="18" charset="-34"/>
                </a:rPr>
                <a:t>TO PAPER</a:t>
              </a:r>
            </a:p>
          </p:txBody>
        </p:sp>
        <p:sp>
          <p:nvSpPr>
            <p:cNvPr id="158734" name="Rectangle 5"/>
            <p:cNvSpPr>
              <a:spLocks noChangeArrowheads="1"/>
            </p:cNvSpPr>
            <p:nvPr/>
          </p:nvSpPr>
          <p:spPr bwMode="auto">
            <a:xfrm>
              <a:off x="2402" y="3598"/>
              <a:ext cx="741"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000" b="1">
                  <a:solidFill>
                    <a:srgbClr val="0000FF"/>
                  </a:solidFill>
                  <a:latin typeface="Tahoma" panose="020B0604030504040204" pitchFamily="34" charset="0"/>
                  <a:cs typeface="Angsana New" panose="02020603050405020304" pitchFamily="18" charset="-34"/>
                </a:rPr>
                <a:t>MC. STAND PIPE</a:t>
              </a:r>
            </a:p>
          </p:txBody>
        </p:sp>
        <p:sp>
          <p:nvSpPr>
            <p:cNvPr id="158735" name="Line 6"/>
            <p:cNvSpPr>
              <a:spLocks noChangeShapeType="1"/>
            </p:cNvSpPr>
            <p:nvPr/>
          </p:nvSpPr>
          <p:spPr bwMode="auto">
            <a:xfrm flipH="1">
              <a:off x="5322" y="2929"/>
              <a:ext cx="9" cy="117"/>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736" name="Line 7"/>
            <p:cNvSpPr>
              <a:spLocks noChangeShapeType="1"/>
            </p:cNvSpPr>
            <p:nvPr/>
          </p:nvSpPr>
          <p:spPr bwMode="auto">
            <a:xfrm>
              <a:off x="1482" y="3873"/>
              <a:ext cx="506" cy="0"/>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158737" name="Group 8"/>
            <p:cNvGrpSpPr>
              <a:grpSpLocks/>
            </p:cNvGrpSpPr>
            <p:nvPr/>
          </p:nvGrpSpPr>
          <p:grpSpPr bwMode="auto">
            <a:xfrm>
              <a:off x="481" y="2460"/>
              <a:ext cx="425" cy="184"/>
              <a:chOff x="436" y="2481"/>
              <a:chExt cx="472" cy="203"/>
            </a:xfrm>
          </p:grpSpPr>
          <p:sp>
            <p:nvSpPr>
              <p:cNvPr id="159068" name="Rectangle 9"/>
              <p:cNvSpPr>
                <a:spLocks noChangeArrowheads="1"/>
              </p:cNvSpPr>
              <p:nvPr/>
            </p:nvSpPr>
            <p:spPr bwMode="auto">
              <a:xfrm>
                <a:off x="628" y="2639"/>
                <a:ext cx="90" cy="32"/>
              </a:xfrm>
              <a:prstGeom prst="rect">
                <a:avLst/>
              </a:pr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9069" name="Oval 10"/>
              <p:cNvSpPr>
                <a:spLocks noChangeArrowheads="1"/>
              </p:cNvSpPr>
              <p:nvPr/>
            </p:nvSpPr>
            <p:spPr bwMode="auto">
              <a:xfrm>
                <a:off x="460" y="2507"/>
                <a:ext cx="430" cy="75"/>
              </a:xfrm>
              <a:prstGeom prst="ellipse">
                <a:avLst/>
              </a:prstGeom>
              <a:noFill/>
              <a:ln w="1270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9070" name="Oval 11"/>
              <p:cNvSpPr>
                <a:spLocks noChangeArrowheads="1"/>
              </p:cNvSpPr>
              <p:nvPr/>
            </p:nvSpPr>
            <p:spPr bwMode="auto">
              <a:xfrm>
                <a:off x="461" y="2537"/>
                <a:ext cx="422" cy="106"/>
              </a:xfrm>
              <a:prstGeom prst="ellipse">
                <a:avLst/>
              </a:prstGeom>
              <a:gradFill rotWithShape="0">
                <a:gsLst>
                  <a:gs pos="0">
                    <a:srgbClr val="021245"/>
                  </a:gs>
                  <a:gs pos="50000">
                    <a:srgbClr val="063DE8"/>
                  </a:gs>
                  <a:gs pos="100000">
                    <a:srgbClr val="021245"/>
                  </a:gs>
                </a:gsLst>
                <a:lin ang="5400000" scaled="1"/>
              </a:gra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9071" name="AutoShape 12"/>
              <p:cNvSpPr>
                <a:spLocks noChangeArrowheads="1"/>
              </p:cNvSpPr>
              <p:nvPr/>
            </p:nvSpPr>
            <p:spPr bwMode="auto">
              <a:xfrm>
                <a:off x="436" y="2548"/>
                <a:ext cx="472" cy="48"/>
              </a:xfrm>
              <a:prstGeom prst="roundRect">
                <a:avLst>
                  <a:gd name="adj" fmla="val 12495"/>
                </a:avLst>
              </a:prstGeom>
              <a:gradFill rotWithShape="0">
                <a:gsLst>
                  <a:gs pos="0">
                    <a:srgbClr val="021245"/>
                  </a:gs>
                  <a:gs pos="50000">
                    <a:srgbClr val="063DE8"/>
                  </a:gs>
                  <a:gs pos="100000">
                    <a:srgbClr val="021245"/>
                  </a:gs>
                </a:gsLst>
                <a:lin ang="5400000" scaled="1"/>
              </a:gra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9072" name="Rectangle 13"/>
              <p:cNvSpPr>
                <a:spLocks noChangeArrowheads="1"/>
              </p:cNvSpPr>
              <p:nvPr/>
            </p:nvSpPr>
            <p:spPr bwMode="auto">
              <a:xfrm>
                <a:off x="608" y="2679"/>
                <a:ext cx="128" cy="5"/>
              </a:xfrm>
              <a:prstGeom prst="rect">
                <a:avLst/>
              </a:pr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9073" name="Oval 14"/>
              <p:cNvSpPr>
                <a:spLocks noChangeArrowheads="1"/>
              </p:cNvSpPr>
              <p:nvPr/>
            </p:nvSpPr>
            <p:spPr bwMode="auto">
              <a:xfrm>
                <a:off x="634" y="2481"/>
                <a:ext cx="72" cy="59"/>
              </a:xfrm>
              <a:prstGeom prst="ellipse">
                <a:avLst/>
              </a:prstGeom>
              <a:gradFill rotWithShape="0">
                <a:gsLst>
                  <a:gs pos="0">
                    <a:srgbClr val="4B000C"/>
                  </a:gs>
                  <a:gs pos="50000">
                    <a:srgbClr val="FC0128"/>
                  </a:gs>
                  <a:gs pos="100000">
                    <a:srgbClr val="4B000C"/>
                  </a:gs>
                </a:gsLst>
                <a:lin ang="5400000" scaled="1"/>
              </a:gra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9074" name="Oval 15"/>
              <p:cNvSpPr>
                <a:spLocks noChangeArrowheads="1"/>
              </p:cNvSpPr>
              <p:nvPr/>
            </p:nvSpPr>
            <p:spPr bwMode="auto">
              <a:xfrm>
                <a:off x="554" y="2535"/>
                <a:ext cx="112" cy="73"/>
              </a:xfrm>
              <a:prstGeom prst="ellipse">
                <a:avLst/>
              </a:prstGeom>
              <a:gradFill rotWithShape="0">
                <a:gsLst>
                  <a:gs pos="0">
                    <a:srgbClr val="003400"/>
                  </a:gs>
                  <a:gs pos="50000">
                    <a:srgbClr val="00AE00"/>
                  </a:gs>
                  <a:gs pos="100000">
                    <a:srgbClr val="003400"/>
                  </a:gs>
                </a:gsLst>
                <a:lin ang="5400000" scaled="1"/>
              </a:gra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9075" name="Oval 16"/>
              <p:cNvSpPr>
                <a:spLocks noChangeArrowheads="1"/>
              </p:cNvSpPr>
              <p:nvPr/>
            </p:nvSpPr>
            <p:spPr bwMode="auto">
              <a:xfrm>
                <a:off x="674" y="2535"/>
                <a:ext cx="114" cy="73"/>
              </a:xfrm>
              <a:prstGeom prst="ellipse">
                <a:avLst/>
              </a:prstGeom>
              <a:gradFill rotWithShape="0">
                <a:gsLst>
                  <a:gs pos="0">
                    <a:srgbClr val="003400"/>
                  </a:gs>
                  <a:gs pos="50000">
                    <a:srgbClr val="00AE00"/>
                  </a:gs>
                  <a:gs pos="100000">
                    <a:srgbClr val="003400"/>
                  </a:gs>
                </a:gsLst>
                <a:lin ang="5400000" scaled="1"/>
              </a:gra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9076" name="Oval 17"/>
              <p:cNvSpPr>
                <a:spLocks noChangeArrowheads="1"/>
              </p:cNvSpPr>
              <p:nvPr/>
            </p:nvSpPr>
            <p:spPr bwMode="auto">
              <a:xfrm>
                <a:off x="578" y="2496"/>
                <a:ext cx="34" cy="19"/>
              </a:xfrm>
              <a:prstGeom prst="ellipse">
                <a:avLst/>
              </a:prstGeom>
              <a:solidFill>
                <a:schemeClr val="tx1"/>
              </a:soli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9077" name="Oval 18"/>
              <p:cNvSpPr>
                <a:spLocks noChangeArrowheads="1"/>
              </p:cNvSpPr>
              <p:nvPr/>
            </p:nvSpPr>
            <p:spPr bwMode="auto">
              <a:xfrm>
                <a:off x="730" y="2496"/>
                <a:ext cx="34" cy="19"/>
              </a:xfrm>
              <a:prstGeom prst="ellipse">
                <a:avLst/>
              </a:prstGeom>
              <a:solidFill>
                <a:schemeClr val="tx1"/>
              </a:soli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sp>
          <p:nvSpPr>
            <p:cNvPr id="158738" name="Line 19"/>
            <p:cNvSpPr>
              <a:spLocks noChangeShapeType="1"/>
            </p:cNvSpPr>
            <p:nvPr/>
          </p:nvSpPr>
          <p:spPr bwMode="auto">
            <a:xfrm flipV="1">
              <a:off x="696" y="2630"/>
              <a:ext cx="0" cy="459"/>
            </a:xfrm>
            <a:prstGeom prst="line">
              <a:avLst/>
            </a:prstGeom>
            <a:noFill/>
            <a:ln w="254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739" name="Line 20"/>
            <p:cNvSpPr>
              <a:spLocks noChangeShapeType="1"/>
            </p:cNvSpPr>
            <p:nvPr/>
          </p:nvSpPr>
          <p:spPr bwMode="auto">
            <a:xfrm>
              <a:off x="392" y="2296"/>
              <a:ext cx="0" cy="778"/>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740" name="Line 21"/>
            <p:cNvSpPr>
              <a:spLocks noChangeShapeType="1"/>
            </p:cNvSpPr>
            <p:nvPr/>
          </p:nvSpPr>
          <p:spPr bwMode="auto">
            <a:xfrm flipH="1">
              <a:off x="385" y="3081"/>
              <a:ext cx="318" cy="0"/>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158741" name="Group 22"/>
            <p:cNvGrpSpPr>
              <a:grpSpLocks/>
            </p:cNvGrpSpPr>
            <p:nvPr/>
          </p:nvGrpSpPr>
          <p:grpSpPr bwMode="auto">
            <a:xfrm>
              <a:off x="1003" y="3148"/>
              <a:ext cx="858" cy="282"/>
              <a:chOff x="1012" y="3255"/>
              <a:chExt cx="952" cy="314"/>
            </a:xfrm>
          </p:grpSpPr>
          <p:grpSp>
            <p:nvGrpSpPr>
              <p:cNvPr id="159047" name="Group 23"/>
              <p:cNvGrpSpPr>
                <a:grpSpLocks/>
              </p:cNvGrpSpPr>
              <p:nvPr/>
            </p:nvGrpSpPr>
            <p:grpSpPr bwMode="auto">
              <a:xfrm>
                <a:off x="1012" y="3326"/>
                <a:ext cx="143" cy="44"/>
                <a:chOff x="1012" y="3326"/>
                <a:chExt cx="143" cy="44"/>
              </a:xfrm>
            </p:grpSpPr>
            <p:sp>
              <p:nvSpPr>
                <p:cNvPr id="159066" name="Rectangle 24"/>
                <p:cNvSpPr>
                  <a:spLocks noChangeArrowheads="1"/>
                </p:cNvSpPr>
                <p:nvPr/>
              </p:nvSpPr>
              <p:spPr bwMode="auto">
                <a:xfrm>
                  <a:off x="1033" y="3343"/>
                  <a:ext cx="99" cy="27"/>
                </a:xfrm>
                <a:prstGeom prst="rect">
                  <a:avLst/>
                </a:prstGeom>
                <a:gradFill rotWithShape="0">
                  <a:gsLst>
                    <a:gs pos="0">
                      <a:srgbClr val="1F1F1F"/>
                    </a:gs>
                    <a:gs pos="50000">
                      <a:srgbClr val="676767"/>
                    </a:gs>
                    <a:gs pos="100000">
                      <a:srgbClr val="1F1F1F"/>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9067" name="Rectangle 25"/>
                <p:cNvSpPr>
                  <a:spLocks noChangeArrowheads="1"/>
                </p:cNvSpPr>
                <p:nvPr/>
              </p:nvSpPr>
              <p:spPr bwMode="auto">
                <a:xfrm>
                  <a:off x="1012" y="3326"/>
                  <a:ext cx="143" cy="9"/>
                </a:xfrm>
                <a:prstGeom prst="rect">
                  <a:avLst/>
                </a:prstGeom>
                <a:gradFill rotWithShape="0">
                  <a:gsLst>
                    <a:gs pos="0">
                      <a:srgbClr val="1F1F1F"/>
                    </a:gs>
                    <a:gs pos="50000">
                      <a:srgbClr val="676767"/>
                    </a:gs>
                    <a:gs pos="100000">
                      <a:srgbClr val="1F1F1F"/>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sp>
            <p:nvSpPr>
              <p:cNvPr id="159048" name="Rectangle 26"/>
              <p:cNvSpPr>
                <a:spLocks noChangeArrowheads="1"/>
              </p:cNvSpPr>
              <p:nvPr/>
            </p:nvSpPr>
            <p:spPr bwMode="auto">
              <a:xfrm>
                <a:off x="1012" y="3365"/>
                <a:ext cx="228" cy="33"/>
              </a:xfrm>
              <a:prstGeom prst="rect">
                <a:avLst/>
              </a:prstGeom>
              <a:gradFill rotWithShape="0">
                <a:gsLst>
                  <a:gs pos="0">
                    <a:srgbClr val="1F1F1F"/>
                  </a:gs>
                  <a:gs pos="50000">
                    <a:srgbClr val="676767"/>
                  </a:gs>
                  <a:gs pos="100000">
                    <a:srgbClr val="1F1F1F"/>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nvGrpSpPr>
              <p:cNvPr id="159049" name="Group 27"/>
              <p:cNvGrpSpPr>
                <a:grpSpLocks/>
              </p:cNvGrpSpPr>
              <p:nvPr/>
            </p:nvGrpSpPr>
            <p:grpSpPr bwMode="auto">
              <a:xfrm>
                <a:off x="1248" y="3255"/>
                <a:ext cx="92" cy="250"/>
                <a:chOff x="1248" y="3255"/>
                <a:chExt cx="92" cy="250"/>
              </a:xfrm>
            </p:grpSpPr>
            <p:sp>
              <p:nvSpPr>
                <p:cNvPr id="159063" name="Oval 28"/>
                <p:cNvSpPr>
                  <a:spLocks noChangeArrowheads="1"/>
                </p:cNvSpPr>
                <p:nvPr/>
              </p:nvSpPr>
              <p:spPr bwMode="auto">
                <a:xfrm>
                  <a:off x="1248" y="3395"/>
                  <a:ext cx="92" cy="110"/>
                </a:xfrm>
                <a:prstGeom prst="ellipse">
                  <a:avLst/>
                </a:prstGeom>
                <a:gradFill rotWithShape="0">
                  <a:gsLst>
                    <a:gs pos="0">
                      <a:srgbClr val="003400"/>
                    </a:gs>
                    <a:gs pos="50000">
                      <a:srgbClr val="00AE00"/>
                    </a:gs>
                    <a:gs pos="100000">
                      <a:srgbClr val="003400"/>
                    </a:gs>
                  </a:gsLst>
                  <a:lin ang="0" scaled="1"/>
                </a:gra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9064" name="Oval 29"/>
                <p:cNvSpPr>
                  <a:spLocks noChangeArrowheads="1"/>
                </p:cNvSpPr>
                <p:nvPr/>
              </p:nvSpPr>
              <p:spPr bwMode="auto">
                <a:xfrm>
                  <a:off x="1248" y="3255"/>
                  <a:ext cx="92" cy="112"/>
                </a:xfrm>
                <a:prstGeom prst="ellipse">
                  <a:avLst/>
                </a:prstGeom>
                <a:gradFill rotWithShape="0">
                  <a:gsLst>
                    <a:gs pos="0">
                      <a:srgbClr val="003400"/>
                    </a:gs>
                    <a:gs pos="50000">
                      <a:srgbClr val="00AE00"/>
                    </a:gs>
                    <a:gs pos="100000">
                      <a:srgbClr val="003400"/>
                    </a:gs>
                  </a:gsLst>
                  <a:lin ang="0" scaled="1"/>
                </a:gra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9065" name="Rectangle 30"/>
                <p:cNvSpPr>
                  <a:spLocks noChangeArrowheads="1"/>
                </p:cNvSpPr>
                <p:nvPr/>
              </p:nvSpPr>
              <p:spPr bwMode="auto">
                <a:xfrm>
                  <a:off x="1248" y="3315"/>
                  <a:ext cx="92" cy="131"/>
                </a:xfrm>
                <a:prstGeom prst="rect">
                  <a:avLst/>
                </a:prstGeom>
                <a:gradFill rotWithShape="0">
                  <a:gsLst>
                    <a:gs pos="0">
                      <a:srgbClr val="003400"/>
                    </a:gs>
                    <a:gs pos="50000">
                      <a:srgbClr val="00AE00"/>
                    </a:gs>
                    <a:gs pos="100000">
                      <a:srgbClr val="003400"/>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grpSp>
            <p:nvGrpSpPr>
              <p:cNvPr id="159050" name="Group 31"/>
              <p:cNvGrpSpPr>
                <a:grpSpLocks/>
              </p:cNvGrpSpPr>
              <p:nvPr/>
            </p:nvGrpSpPr>
            <p:grpSpPr bwMode="auto">
              <a:xfrm>
                <a:off x="1348" y="3275"/>
                <a:ext cx="213" cy="230"/>
                <a:chOff x="1348" y="3275"/>
                <a:chExt cx="213" cy="230"/>
              </a:xfrm>
            </p:grpSpPr>
            <p:sp>
              <p:nvSpPr>
                <p:cNvPr id="159058" name="Oval 32"/>
                <p:cNvSpPr>
                  <a:spLocks noChangeArrowheads="1"/>
                </p:cNvSpPr>
                <p:nvPr/>
              </p:nvSpPr>
              <p:spPr bwMode="auto">
                <a:xfrm>
                  <a:off x="1388" y="3275"/>
                  <a:ext cx="113" cy="131"/>
                </a:xfrm>
                <a:prstGeom prst="ellipse">
                  <a:avLst/>
                </a:prstGeom>
                <a:gradFill rotWithShape="0">
                  <a:gsLst>
                    <a:gs pos="0">
                      <a:srgbClr val="003400"/>
                    </a:gs>
                    <a:gs pos="50000">
                      <a:srgbClr val="00AE00"/>
                    </a:gs>
                    <a:gs pos="100000">
                      <a:srgbClr val="003400"/>
                    </a:gs>
                  </a:gsLst>
                  <a:lin ang="5400000" scaled="1"/>
                </a:gra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9059" name="Rectangle 33"/>
                <p:cNvSpPr>
                  <a:spLocks noChangeArrowheads="1"/>
                </p:cNvSpPr>
                <p:nvPr/>
              </p:nvSpPr>
              <p:spPr bwMode="auto">
                <a:xfrm>
                  <a:off x="1348" y="3315"/>
                  <a:ext cx="194" cy="190"/>
                </a:xfrm>
                <a:prstGeom prst="rect">
                  <a:avLst/>
                </a:prstGeom>
                <a:gradFill rotWithShape="0">
                  <a:gsLst>
                    <a:gs pos="0">
                      <a:srgbClr val="003400"/>
                    </a:gs>
                    <a:gs pos="50000">
                      <a:srgbClr val="00AE00"/>
                    </a:gs>
                    <a:gs pos="100000">
                      <a:srgbClr val="003400"/>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9060" name="Rectangle 34"/>
                <p:cNvSpPr>
                  <a:spLocks noChangeArrowheads="1"/>
                </p:cNvSpPr>
                <p:nvPr/>
              </p:nvSpPr>
              <p:spPr bwMode="auto">
                <a:xfrm>
                  <a:off x="1368" y="3296"/>
                  <a:ext cx="12" cy="11"/>
                </a:xfrm>
                <a:prstGeom prst="rect">
                  <a:avLst/>
                </a:prstGeom>
                <a:gradFill rotWithShape="0">
                  <a:gsLst>
                    <a:gs pos="0">
                      <a:srgbClr val="003400"/>
                    </a:gs>
                    <a:gs pos="50000">
                      <a:srgbClr val="00AE00"/>
                    </a:gs>
                    <a:gs pos="100000">
                      <a:srgbClr val="003400"/>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9061" name="Rectangle 35"/>
                <p:cNvSpPr>
                  <a:spLocks noChangeArrowheads="1"/>
                </p:cNvSpPr>
                <p:nvPr/>
              </p:nvSpPr>
              <p:spPr bwMode="auto">
                <a:xfrm>
                  <a:off x="1509" y="3296"/>
                  <a:ext cx="12" cy="11"/>
                </a:xfrm>
                <a:prstGeom prst="rect">
                  <a:avLst/>
                </a:prstGeom>
                <a:gradFill rotWithShape="0">
                  <a:gsLst>
                    <a:gs pos="0">
                      <a:srgbClr val="003400"/>
                    </a:gs>
                    <a:gs pos="50000">
                      <a:srgbClr val="00AE00"/>
                    </a:gs>
                    <a:gs pos="100000">
                      <a:srgbClr val="003400"/>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9062" name="Rectangle 36"/>
                <p:cNvSpPr>
                  <a:spLocks noChangeArrowheads="1"/>
                </p:cNvSpPr>
                <p:nvPr/>
              </p:nvSpPr>
              <p:spPr bwMode="auto">
                <a:xfrm>
                  <a:off x="1550" y="3296"/>
                  <a:ext cx="11" cy="209"/>
                </a:xfrm>
                <a:prstGeom prst="rect">
                  <a:avLst/>
                </a:prstGeom>
                <a:gradFill rotWithShape="0">
                  <a:gsLst>
                    <a:gs pos="0">
                      <a:srgbClr val="003400"/>
                    </a:gs>
                    <a:gs pos="50000">
                      <a:srgbClr val="00AE00"/>
                    </a:gs>
                    <a:gs pos="100000">
                      <a:srgbClr val="003400"/>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sp>
            <p:nvSpPr>
              <p:cNvPr id="159051" name="Freeform 37"/>
              <p:cNvSpPr>
                <a:spLocks/>
              </p:cNvSpPr>
              <p:nvPr/>
            </p:nvSpPr>
            <p:spPr bwMode="auto">
              <a:xfrm>
                <a:off x="1203" y="3489"/>
                <a:ext cx="747" cy="80"/>
              </a:xfrm>
              <a:custGeom>
                <a:avLst/>
                <a:gdLst>
                  <a:gd name="T0" fmla="*/ 81 w 747"/>
                  <a:gd name="T1" fmla="*/ 20 h 80"/>
                  <a:gd name="T2" fmla="*/ 464 w 747"/>
                  <a:gd name="T3" fmla="*/ 20 h 80"/>
                  <a:gd name="T4" fmla="*/ 464 w 747"/>
                  <a:gd name="T5" fmla="*/ 0 h 80"/>
                  <a:gd name="T6" fmla="*/ 746 w 747"/>
                  <a:gd name="T7" fmla="*/ 0 h 80"/>
                  <a:gd name="T8" fmla="*/ 746 w 747"/>
                  <a:gd name="T9" fmla="*/ 79 h 80"/>
                  <a:gd name="T10" fmla="*/ 0 w 747"/>
                  <a:gd name="T11" fmla="*/ 79 h 80"/>
                  <a:gd name="T12" fmla="*/ 0 w 747"/>
                  <a:gd name="T13" fmla="*/ 20 h 80"/>
                  <a:gd name="T14" fmla="*/ 121 w 747"/>
                  <a:gd name="T15" fmla="*/ 20 h 80"/>
                  <a:gd name="T16" fmla="*/ 141 w 747"/>
                  <a:gd name="T17" fmla="*/ 20 h 8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7" h="80">
                    <a:moveTo>
                      <a:pt x="81" y="20"/>
                    </a:moveTo>
                    <a:lnTo>
                      <a:pt x="464" y="20"/>
                    </a:lnTo>
                    <a:lnTo>
                      <a:pt x="464" y="0"/>
                    </a:lnTo>
                    <a:lnTo>
                      <a:pt x="746" y="0"/>
                    </a:lnTo>
                    <a:lnTo>
                      <a:pt x="746" y="79"/>
                    </a:lnTo>
                    <a:lnTo>
                      <a:pt x="0" y="79"/>
                    </a:lnTo>
                    <a:lnTo>
                      <a:pt x="0" y="20"/>
                    </a:lnTo>
                    <a:lnTo>
                      <a:pt x="121" y="20"/>
                    </a:lnTo>
                    <a:lnTo>
                      <a:pt x="141" y="20"/>
                    </a:lnTo>
                  </a:path>
                </a:pathLst>
              </a:custGeom>
              <a:gradFill rotWithShape="0">
                <a:gsLst>
                  <a:gs pos="0">
                    <a:srgbClr val="0F0F0F"/>
                  </a:gs>
                  <a:gs pos="50000">
                    <a:srgbClr val="333333"/>
                  </a:gs>
                  <a:gs pos="100000">
                    <a:srgbClr val="0F0F0F"/>
                  </a:gs>
                </a:gsLst>
                <a:lin ang="5400000" scaled="1"/>
              </a:gradFill>
              <a:ln w="12700" cap="rnd" cmpd="sng">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9052" name="Rectangle 38"/>
              <p:cNvSpPr>
                <a:spLocks noChangeArrowheads="1"/>
              </p:cNvSpPr>
              <p:nvPr/>
            </p:nvSpPr>
            <p:spPr bwMode="auto">
              <a:xfrm>
                <a:off x="1691" y="3275"/>
                <a:ext cx="234" cy="210"/>
              </a:xfrm>
              <a:prstGeom prst="rect">
                <a:avLst/>
              </a:prstGeom>
              <a:gradFill rotWithShape="0">
                <a:gsLst>
                  <a:gs pos="0">
                    <a:srgbClr val="021245"/>
                  </a:gs>
                  <a:gs pos="50000">
                    <a:srgbClr val="063DE8"/>
                  </a:gs>
                  <a:gs pos="100000">
                    <a:srgbClr val="021245"/>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9053" name="Rectangle 39"/>
              <p:cNvSpPr>
                <a:spLocks noChangeArrowheads="1"/>
              </p:cNvSpPr>
              <p:nvPr/>
            </p:nvSpPr>
            <p:spPr bwMode="auto">
              <a:xfrm>
                <a:off x="1591" y="3365"/>
                <a:ext cx="71" cy="33"/>
              </a:xfrm>
              <a:prstGeom prst="rect">
                <a:avLst/>
              </a:prstGeom>
              <a:gradFill rotWithShape="0">
                <a:gsLst>
                  <a:gs pos="0">
                    <a:srgbClr val="021245"/>
                  </a:gs>
                  <a:gs pos="50000">
                    <a:srgbClr val="063DE8"/>
                  </a:gs>
                  <a:gs pos="100000">
                    <a:srgbClr val="021245"/>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9054" name="Rectangle 40"/>
              <p:cNvSpPr>
                <a:spLocks noChangeArrowheads="1"/>
              </p:cNvSpPr>
              <p:nvPr/>
            </p:nvSpPr>
            <p:spPr bwMode="auto">
              <a:xfrm>
                <a:off x="1670" y="3334"/>
                <a:ext cx="13" cy="92"/>
              </a:xfrm>
              <a:prstGeom prst="rect">
                <a:avLst/>
              </a:prstGeom>
              <a:gradFill rotWithShape="0">
                <a:gsLst>
                  <a:gs pos="0">
                    <a:srgbClr val="021245"/>
                  </a:gs>
                  <a:gs pos="50000">
                    <a:srgbClr val="063DE8"/>
                  </a:gs>
                  <a:gs pos="100000">
                    <a:srgbClr val="021245"/>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9055" name="Rectangle 41"/>
              <p:cNvSpPr>
                <a:spLocks noChangeArrowheads="1"/>
              </p:cNvSpPr>
              <p:nvPr/>
            </p:nvSpPr>
            <p:spPr bwMode="auto">
              <a:xfrm>
                <a:off x="1569" y="3345"/>
                <a:ext cx="14" cy="72"/>
              </a:xfrm>
              <a:prstGeom prst="rect">
                <a:avLst/>
              </a:prstGeom>
              <a:gradFill rotWithShape="0">
                <a:gsLst>
                  <a:gs pos="0">
                    <a:srgbClr val="021245"/>
                  </a:gs>
                  <a:gs pos="50000">
                    <a:srgbClr val="063DE8"/>
                  </a:gs>
                  <a:gs pos="100000">
                    <a:srgbClr val="021245"/>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9056" name="Rectangle 42"/>
              <p:cNvSpPr>
                <a:spLocks noChangeArrowheads="1"/>
              </p:cNvSpPr>
              <p:nvPr/>
            </p:nvSpPr>
            <p:spPr bwMode="auto">
              <a:xfrm>
                <a:off x="1933" y="3334"/>
                <a:ext cx="12" cy="92"/>
              </a:xfrm>
              <a:prstGeom prst="rect">
                <a:avLst/>
              </a:prstGeom>
              <a:gradFill rotWithShape="0">
                <a:gsLst>
                  <a:gs pos="0">
                    <a:srgbClr val="021245"/>
                  </a:gs>
                  <a:gs pos="50000">
                    <a:srgbClr val="063DE8"/>
                  </a:gs>
                  <a:gs pos="100000">
                    <a:srgbClr val="021245"/>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9057" name="Rectangle 43"/>
              <p:cNvSpPr>
                <a:spLocks noChangeArrowheads="1"/>
              </p:cNvSpPr>
              <p:nvPr/>
            </p:nvSpPr>
            <p:spPr bwMode="auto">
              <a:xfrm>
                <a:off x="1953" y="3355"/>
                <a:ext cx="11" cy="51"/>
              </a:xfrm>
              <a:prstGeom prst="rect">
                <a:avLst/>
              </a:prstGeom>
              <a:gradFill rotWithShape="0">
                <a:gsLst>
                  <a:gs pos="0">
                    <a:srgbClr val="021245"/>
                  </a:gs>
                  <a:gs pos="50000">
                    <a:srgbClr val="063DE8"/>
                  </a:gs>
                  <a:gs pos="100000">
                    <a:srgbClr val="021245"/>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sp>
          <p:nvSpPr>
            <p:cNvPr id="158742" name="Line 44"/>
            <p:cNvSpPr>
              <a:spLocks noChangeShapeType="1"/>
            </p:cNvSpPr>
            <p:nvPr/>
          </p:nvSpPr>
          <p:spPr bwMode="auto">
            <a:xfrm>
              <a:off x="920" y="2543"/>
              <a:ext cx="158" cy="0"/>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743" name="Line 45"/>
            <p:cNvSpPr>
              <a:spLocks noChangeShapeType="1"/>
            </p:cNvSpPr>
            <p:nvPr/>
          </p:nvSpPr>
          <p:spPr bwMode="auto">
            <a:xfrm>
              <a:off x="1085" y="2549"/>
              <a:ext cx="0" cy="652"/>
            </a:xfrm>
            <a:prstGeom prst="line">
              <a:avLst/>
            </a:prstGeom>
            <a:noFill/>
            <a:ln w="254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744" name="Rectangle 46"/>
            <p:cNvSpPr>
              <a:spLocks noChangeArrowheads="1"/>
            </p:cNvSpPr>
            <p:nvPr/>
          </p:nvSpPr>
          <p:spPr bwMode="auto">
            <a:xfrm>
              <a:off x="1219" y="3433"/>
              <a:ext cx="36" cy="247"/>
            </a:xfrm>
            <a:prstGeom prst="rect">
              <a:avLst/>
            </a:pr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nvGrpSpPr>
            <p:cNvPr id="158745" name="Group 47"/>
            <p:cNvGrpSpPr>
              <a:grpSpLocks/>
            </p:cNvGrpSpPr>
            <p:nvPr/>
          </p:nvGrpSpPr>
          <p:grpSpPr bwMode="auto">
            <a:xfrm>
              <a:off x="1135" y="3621"/>
              <a:ext cx="404" cy="311"/>
              <a:chOff x="1158" y="3781"/>
              <a:chExt cx="448" cy="346"/>
            </a:xfrm>
          </p:grpSpPr>
          <p:sp>
            <p:nvSpPr>
              <p:cNvPr id="159040" name="AutoShape 48"/>
              <p:cNvSpPr>
                <a:spLocks noChangeArrowheads="1"/>
              </p:cNvSpPr>
              <p:nvPr/>
            </p:nvSpPr>
            <p:spPr bwMode="auto">
              <a:xfrm>
                <a:off x="1226" y="3781"/>
                <a:ext cx="340" cy="46"/>
              </a:xfrm>
              <a:prstGeom prst="triangle">
                <a:avLst>
                  <a:gd name="adj" fmla="val 49995"/>
                </a:avLst>
              </a:pr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9041" name="Rectangle 49"/>
              <p:cNvSpPr>
                <a:spLocks noChangeArrowheads="1"/>
              </p:cNvSpPr>
              <p:nvPr/>
            </p:nvSpPr>
            <p:spPr bwMode="auto">
              <a:xfrm>
                <a:off x="1226" y="3835"/>
                <a:ext cx="340" cy="264"/>
              </a:xfrm>
              <a:prstGeom prst="rect">
                <a:avLst/>
              </a:pr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9042" name="Rectangle 50"/>
              <p:cNvSpPr>
                <a:spLocks noChangeArrowheads="1"/>
              </p:cNvSpPr>
              <p:nvPr/>
            </p:nvSpPr>
            <p:spPr bwMode="auto">
              <a:xfrm>
                <a:off x="1185" y="4107"/>
                <a:ext cx="421" cy="20"/>
              </a:xfrm>
              <a:prstGeom prst="rect">
                <a:avLst/>
              </a:pr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9043" name="Rectangle 51"/>
              <p:cNvSpPr>
                <a:spLocks noChangeArrowheads="1"/>
              </p:cNvSpPr>
              <p:nvPr/>
            </p:nvSpPr>
            <p:spPr bwMode="auto">
              <a:xfrm>
                <a:off x="1158" y="4019"/>
                <a:ext cx="99" cy="6"/>
              </a:xfrm>
              <a:prstGeom prst="rect">
                <a:avLst/>
              </a:prstGeom>
              <a:gradFill rotWithShape="0">
                <a:gsLst>
                  <a:gs pos="0">
                    <a:srgbClr val="2B2B2B"/>
                  </a:gs>
                  <a:gs pos="50000">
                    <a:srgbClr val="919191"/>
                  </a:gs>
                  <a:gs pos="100000">
                    <a:srgbClr val="2B2B2B"/>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nvGrpSpPr>
              <p:cNvPr id="159044" name="Group 52"/>
              <p:cNvGrpSpPr>
                <a:grpSpLocks/>
              </p:cNvGrpSpPr>
              <p:nvPr/>
            </p:nvGrpSpPr>
            <p:grpSpPr bwMode="auto">
              <a:xfrm>
                <a:off x="1239" y="3972"/>
                <a:ext cx="18" cy="101"/>
                <a:chOff x="1239" y="3972"/>
                <a:chExt cx="18" cy="101"/>
              </a:xfrm>
            </p:grpSpPr>
            <p:sp>
              <p:nvSpPr>
                <p:cNvPr id="159045" name="Oval 53"/>
                <p:cNvSpPr>
                  <a:spLocks noChangeArrowheads="1"/>
                </p:cNvSpPr>
                <p:nvPr/>
              </p:nvSpPr>
              <p:spPr bwMode="auto">
                <a:xfrm>
                  <a:off x="1239" y="4026"/>
                  <a:ext cx="18" cy="47"/>
                </a:xfrm>
                <a:prstGeom prst="ellipse">
                  <a:avLst/>
                </a:prstGeom>
                <a:gradFill rotWithShape="0">
                  <a:gsLst>
                    <a:gs pos="0">
                      <a:srgbClr val="2B2B2B"/>
                    </a:gs>
                    <a:gs pos="50000">
                      <a:srgbClr val="919191"/>
                    </a:gs>
                    <a:gs pos="100000">
                      <a:srgbClr val="2B2B2B"/>
                    </a:gs>
                  </a:gsLst>
                  <a:lin ang="5400000" scaled="1"/>
                </a:gra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9046" name="Oval 54"/>
                <p:cNvSpPr>
                  <a:spLocks noChangeArrowheads="1"/>
                </p:cNvSpPr>
                <p:nvPr/>
              </p:nvSpPr>
              <p:spPr bwMode="auto">
                <a:xfrm>
                  <a:off x="1239" y="3972"/>
                  <a:ext cx="18" cy="46"/>
                </a:xfrm>
                <a:prstGeom prst="ellipse">
                  <a:avLst/>
                </a:prstGeom>
                <a:gradFill rotWithShape="0">
                  <a:gsLst>
                    <a:gs pos="0">
                      <a:srgbClr val="2B2B2B"/>
                    </a:gs>
                    <a:gs pos="50000">
                      <a:srgbClr val="919191"/>
                    </a:gs>
                    <a:gs pos="100000">
                      <a:srgbClr val="2B2B2B"/>
                    </a:gs>
                  </a:gsLst>
                  <a:lin ang="5400000" scaled="1"/>
                </a:gra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grpSp>
        <p:sp>
          <p:nvSpPr>
            <p:cNvPr id="158746" name="Line 55"/>
            <p:cNvSpPr>
              <a:spLocks noChangeShapeType="1"/>
            </p:cNvSpPr>
            <p:nvPr/>
          </p:nvSpPr>
          <p:spPr bwMode="auto">
            <a:xfrm>
              <a:off x="400" y="2288"/>
              <a:ext cx="1762" cy="0"/>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158747" name="Group 56"/>
            <p:cNvGrpSpPr>
              <a:grpSpLocks/>
            </p:cNvGrpSpPr>
            <p:nvPr/>
          </p:nvGrpSpPr>
          <p:grpSpPr bwMode="auto">
            <a:xfrm>
              <a:off x="1640" y="3828"/>
              <a:ext cx="92" cy="93"/>
              <a:chOff x="1718" y="4011"/>
              <a:chExt cx="102" cy="102"/>
            </a:xfrm>
          </p:grpSpPr>
          <p:sp>
            <p:nvSpPr>
              <p:cNvPr id="159038" name="Oval 57"/>
              <p:cNvSpPr>
                <a:spLocks noChangeArrowheads="1"/>
              </p:cNvSpPr>
              <p:nvPr/>
            </p:nvSpPr>
            <p:spPr bwMode="auto">
              <a:xfrm>
                <a:off x="1718" y="4011"/>
                <a:ext cx="102" cy="102"/>
              </a:xfrm>
              <a:prstGeom prst="ellipse">
                <a:avLst/>
              </a:prstGeom>
              <a:solidFill>
                <a:srgbClr val="00279F"/>
              </a:soli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9039" name="AutoShape 58"/>
              <p:cNvSpPr>
                <a:spLocks noChangeArrowheads="1"/>
              </p:cNvSpPr>
              <p:nvPr/>
            </p:nvSpPr>
            <p:spPr bwMode="auto">
              <a:xfrm rot="5400000">
                <a:off x="1743" y="4024"/>
                <a:ext cx="78" cy="76"/>
              </a:xfrm>
              <a:prstGeom prst="triangle">
                <a:avLst>
                  <a:gd name="adj" fmla="val 49995"/>
                </a:avLst>
              </a:prstGeom>
              <a:solidFill>
                <a:schemeClr val="hlink"/>
              </a:soli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sp>
          <p:nvSpPr>
            <p:cNvPr id="158748" name="Line 59"/>
            <p:cNvSpPr>
              <a:spLocks noChangeShapeType="1"/>
            </p:cNvSpPr>
            <p:nvPr/>
          </p:nvSpPr>
          <p:spPr bwMode="auto">
            <a:xfrm flipV="1">
              <a:off x="1995" y="3707"/>
              <a:ext cx="0" cy="173"/>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749" name="Line 60"/>
            <p:cNvSpPr>
              <a:spLocks noChangeShapeType="1"/>
            </p:cNvSpPr>
            <p:nvPr/>
          </p:nvSpPr>
          <p:spPr bwMode="auto">
            <a:xfrm flipH="1" flipV="1">
              <a:off x="2169" y="2282"/>
              <a:ext cx="2" cy="765"/>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750" name="Rectangle 61"/>
            <p:cNvSpPr>
              <a:spLocks noChangeArrowheads="1"/>
            </p:cNvSpPr>
            <p:nvPr/>
          </p:nvSpPr>
          <p:spPr bwMode="auto">
            <a:xfrm>
              <a:off x="1260" y="2983"/>
              <a:ext cx="519" cy="99"/>
            </a:xfrm>
            <a:prstGeom prst="rect">
              <a:avLst/>
            </a:prstGeom>
            <a:noFill/>
            <a:ln>
              <a:noFill/>
            </a:ln>
            <a:effectLst/>
            <a:extLst>
              <a:ext uri="{909E8E84-426E-40DD-AFC4-6F175D3DCCD1}">
                <a14:hiddenFill xmlns:a14="http://schemas.microsoft.com/office/drawing/2010/main">
                  <a:solidFill>
                    <a:srgbClr val="EAEC5E"/>
                  </a:solidFill>
                </a14:hiddenFill>
              </a:ext>
              <a:ext uri="{91240B29-F687-4F45-9708-019B960494DF}">
                <a14:hiddenLine xmlns:a14="http://schemas.microsoft.com/office/drawing/2010/main" w="127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45000"/>
                </a:lnSpc>
                <a:spcBef>
                  <a:spcPct val="0"/>
                </a:spcBef>
                <a:buFontTx/>
                <a:buNone/>
              </a:pPr>
              <a:r>
                <a:rPr lang="en-US" altLang="en-US" sz="1000" b="1">
                  <a:solidFill>
                    <a:srgbClr val="0000FF"/>
                  </a:solidFill>
                  <a:latin typeface="Tahoma" panose="020B0604030504040204" pitchFamily="34" charset="0"/>
                  <a:cs typeface="Angsana New" panose="02020603050405020304" pitchFamily="18" charset="-34"/>
                </a:rPr>
                <a:t>REFINER</a:t>
              </a:r>
            </a:p>
          </p:txBody>
        </p:sp>
        <p:sp>
          <p:nvSpPr>
            <p:cNvPr id="158751" name="Rectangle 62"/>
            <p:cNvSpPr>
              <a:spLocks noChangeArrowheads="1"/>
            </p:cNvSpPr>
            <p:nvPr/>
          </p:nvSpPr>
          <p:spPr bwMode="auto">
            <a:xfrm>
              <a:off x="874" y="2371"/>
              <a:ext cx="530" cy="99"/>
            </a:xfrm>
            <a:prstGeom prst="rect">
              <a:avLst/>
            </a:prstGeom>
            <a:noFill/>
            <a:ln>
              <a:noFill/>
            </a:ln>
            <a:effectLst/>
            <a:extLst>
              <a:ext uri="{909E8E84-426E-40DD-AFC4-6F175D3DCCD1}">
                <a14:hiddenFill xmlns:a14="http://schemas.microsoft.com/office/drawing/2010/main">
                  <a:solidFill>
                    <a:srgbClr val="EAEC5E"/>
                  </a:solidFill>
                </a14:hiddenFill>
              </a:ext>
              <a:ext uri="{91240B29-F687-4F45-9708-019B960494DF}">
                <a14:hiddenLine xmlns:a14="http://schemas.microsoft.com/office/drawing/2010/main" w="127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45000"/>
                </a:lnSpc>
                <a:spcBef>
                  <a:spcPct val="0"/>
                </a:spcBef>
                <a:buFontTx/>
                <a:buNone/>
              </a:pPr>
              <a:r>
                <a:rPr lang="en-US" altLang="en-US" sz="1000" b="1">
                  <a:solidFill>
                    <a:srgbClr val="0000FF"/>
                  </a:solidFill>
                  <a:latin typeface="Tahoma" panose="020B0604030504040204" pitchFamily="34" charset="0"/>
                  <a:cs typeface="Angsana New" panose="02020603050405020304" pitchFamily="18" charset="-34"/>
                </a:rPr>
                <a:t>Press #1</a:t>
              </a:r>
            </a:p>
          </p:txBody>
        </p:sp>
        <p:sp>
          <p:nvSpPr>
            <p:cNvPr id="158752" name="Line 63"/>
            <p:cNvSpPr>
              <a:spLocks noChangeShapeType="1"/>
            </p:cNvSpPr>
            <p:nvPr/>
          </p:nvSpPr>
          <p:spPr bwMode="auto">
            <a:xfrm flipV="1">
              <a:off x="4162" y="3111"/>
              <a:ext cx="0" cy="712"/>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753" name="Line 64"/>
            <p:cNvSpPr>
              <a:spLocks noChangeShapeType="1"/>
            </p:cNvSpPr>
            <p:nvPr/>
          </p:nvSpPr>
          <p:spPr bwMode="auto">
            <a:xfrm flipH="1">
              <a:off x="2725" y="3333"/>
              <a:ext cx="273" cy="0"/>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754" name="Line 65"/>
            <p:cNvSpPr>
              <a:spLocks noChangeShapeType="1"/>
            </p:cNvSpPr>
            <p:nvPr/>
          </p:nvSpPr>
          <p:spPr bwMode="auto">
            <a:xfrm>
              <a:off x="2003" y="3715"/>
              <a:ext cx="548" cy="0"/>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755" name="Line 66"/>
            <p:cNvSpPr>
              <a:spLocks noChangeShapeType="1"/>
            </p:cNvSpPr>
            <p:nvPr/>
          </p:nvSpPr>
          <p:spPr bwMode="auto">
            <a:xfrm>
              <a:off x="3043" y="3872"/>
              <a:ext cx="201" cy="0"/>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158756" name="Group 67"/>
            <p:cNvGrpSpPr>
              <a:grpSpLocks/>
            </p:cNvGrpSpPr>
            <p:nvPr/>
          </p:nvGrpSpPr>
          <p:grpSpPr bwMode="auto">
            <a:xfrm>
              <a:off x="2345" y="3241"/>
              <a:ext cx="426" cy="184"/>
              <a:chOff x="2500" y="3361"/>
              <a:chExt cx="472" cy="203"/>
            </a:xfrm>
          </p:grpSpPr>
          <p:sp>
            <p:nvSpPr>
              <p:cNvPr id="159028" name="Rectangle 68"/>
              <p:cNvSpPr>
                <a:spLocks noChangeArrowheads="1"/>
              </p:cNvSpPr>
              <p:nvPr/>
            </p:nvSpPr>
            <p:spPr bwMode="auto">
              <a:xfrm>
                <a:off x="2692" y="3519"/>
                <a:ext cx="90" cy="32"/>
              </a:xfrm>
              <a:prstGeom prst="rect">
                <a:avLst/>
              </a:pr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9029" name="Oval 69"/>
              <p:cNvSpPr>
                <a:spLocks noChangeArrowheads="1"/>
              </p:cNvSpPr>
              <p:nvPr/>
            </p:nvSpPr>
            <p:spPr bwMode="auto">
              <a:xfrm>
                <a:off x="2524" y="3387"/>
                <a:ext cx="430" cy="75"/>
              </a:xfrm>
              <a:prstGeom prst="ellipse">
                <a:avLst/>
              </a:prstGeom>
              <a:noFill/>
              <a:ln w="1270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9030" name="Oval 70"/>
              <p:cNvSpPr>
                <a:spLocks noChangeArrowheads="1"/>
              </p:cNvSpPr>
              <p:nvPr/>
            </p:nvSpPr>
            <p:spPr bwMode="auto">
              <a:xfrm>
                <a:off x="2525" y="3417"/>
                <a:ext cx="422" cy="106"/>
              </a:xfrm>
              <a:prstGeom prst="ellipse">
                <a:avLst/>
              </a:prstGeom>
              <a:gradFill rotWithShape="0">
                <a:gsLst>
                  <a:gs pos="0">
                    <a:srgbClr val="021245"/>
                  </a:gs>
                  <a:gs pos="50000">
                    <a:srgbClr val="063DE8"/>
                  </a:gs>
                  <a:gs pos="100000">
                    <a:srgbClr val="021245"/>
                  </a:gs>
                </a:gsLst>
                <a:lin ang="5400000" scaled="1"/>
              </a:gra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9031" name="AutoShape 71"/>
              <p:cNvSpPr>
                <a:spLocks noChangeArrowheads="1"/>
              </p:cNvSpPr>
              <p:nvPr/>
            </p:nvSpPr>
            <p:spPr bwMode="auto">
              <a:xfrm>
                <a:off x="2500" y="3428"/>
                <a:ext cx="472" cy="48"/>
              </a:xfrm>
              <a:prstGeom prst="roundRect">
                <a:avLst>
                  <a:gd name="adj" fmla="val 12495"/>
                </a:avLst>
              </a:prstGeom>
              <a:gradFill rotWithShape="0">
                <a:gsLst>
                  <a:gs pos="0">
                    <a:srgbClr val="021245"/>
                  </a:gs>
                  <a:gs pos="50000">
                    <a:srgbClr val="063DE8"/>
                  </a:gs>
                  <a:gs pos="100000">
                    <a:srgbClr val="021245"/>
                  </a:gs>
                </a:gsLst>
                <a:lin ang="5400000" scaled="1"/>
              </a:gra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9032" name="Rectangle 72"/>
              <p:cNvSpPr>
                <a:spLocks noChangeArrowheads="1"/>
              </p:cNvSpPr>
              <p:nvPr/>
            </p:nvSpPr>
            <p:spPr bwMode="auto">
              <a:xfrm>
                <a:off x="2672" y="3559"/>
                <a:ext cx="128" cy="5"/>
              </a:xfrm>
              <a:prstGeom prst="rect">
                <a:avLst/>
              </a:pr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9033" name="Oval 73"/>
              <p:cNvSpPr>
                <a:spLocks noChangeArrowheads="1"/>
              </p:cNvSpPr>
              <p:nvPr/>
            </p:nvSpPr>
            <p:spPr bwMode="auto">
              <a:xfrm>
                <a:off x="2698" y="3361"/>
                <a:ext cx="72" cy="59"/>
              </a:xfrm>
              <a:prstGeom prst="ellipse">
                <a:avLst/>
              </a:prstGeom>
              <a:gradFill rotWithShape="0">
                <a:gsLst>
                  <a:gs pos="0">
                    <a:srgbClr val="4B000C"/>
                  </a:gs>
                  <a:gs pos="50000">
                    <a:srgbClr val="FC0128"/>
                  </a:gs>
                  <a:gs pos="100000">
                    <a:srgbClr val="4B000C"/>
                  </a:gs>
                </a:gsLst>
                <a:lin ang="5400000" scaled="1"/>
              </a:gra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9034" name="Oval 74"/>
              <p:cNvSpPr>
                <a:spLocks noChangeArrowheads="1"/>
              </p:cNvSpPr>
              <p:nvPr/>
            </p:nvSpPr>
            <p:spPr bwMode="auto">
              <a:xfrm>
                <a:off x="2618" y="3415"/>
                <a:ext cx="112" cy="73"/>
              </a:xfrm>
              <a:prstGeom prst="ellipse">
                <a:avLst/>
              </a:prstGeom>
              <a:gradFill rotWithShape="0">
                <a:gsLst>
                  <a:gs pos="0">
                    <a:srgbClr val="003400"/>
                  </a:gs>
                  <a:gs pos="50000">
                    <a:srgbClr val="00AE00"/>
                  </a:gs>
                  <a:gs pos="100000">
                    <a:srgbClr val="003400"/>
                  </a:gs>
                </a:gsLst>
                <a:lin ang="5400000" scaled="1"/>
              </a:gra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9035" name="Oval 75"/>
              <p:cNvSpPr>
                <a:spLocks noChangeArrowheads="1"/>
              </p:cNvSpPr>
              <p:nvPr/>
            </p:nvSpPr>
            <p:spPr bwMode="auto">
              <a:xfrm>
                <a:off x="2738" y="3415"/>
                <a:ext cx="114" cy="73"/>
              </a:xfrm>
              <a:prstGeom prst="ellipse">
                <a:avLst/>
              </a:prstGeom>
              <a:gradFill rotWithShape="0">
                <a:gsLst>
                  <a:gs pos="0">
                    <a:srgbClr val="003400"/>
                  </a:gs>
                  <a:gs pos="50000">
                    <a:srgbClr val="00AE00"/>
                  </a:gs>
                  <a:gs pos="100000">
                    <a:srgbClr val="003400"/>
                  </a:gs>
                </a:gsLst>
                <a:lin ang="5400000" scaled="1"/>
              </a:gra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9036" name="Oval 76"/>
              <p:cNvSpPr>
                <a:spLocks noChangeArrowheads="1"/>
              </p:cNvSpPr>
              <p:nvPr/>
            </p:nvSpPr>
            <p:spPr bwMode="auto">
              <a:xfrm>
                <a:off x="2642" y="3376"/>
                <a:ext cx="34" cy="19"/>
              </a:xfrm>
              <a:prstGeom prst="ellipse">
                <a:avLst/>
              </a:prstGeom>
              <a:solidFill>
                <a:schemeClr val="tx1"/>
              </a:soli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9037" name="Oval 77"/>
              <p:cNvSpPr>
                <a:spLocks noChangeArrowheads="1"/>
              </p:cNvSpPr>
              <p:nvPr/>
            </p:nvSpPr>
            <p:spPr bwMode="auto">
              <a:xfrm>
                <a:off x="2794" y="3376"/>
                <a:ext cx="34" cy="19"/>
              </a:xfrm>
              <a:prstGeom prst="ellipse">
                <a:avLst/>
              </a:prstGeom>
              <a:solidFill>
                <a:schemeClr val="tx1"/>
              </a:soli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sp>
          <p:nvSpPr>
            <p:cNvPr id="158757" name="Line 78"/>
            <p:cNvSpPr>
              <a:spLocks noChangeShapeType="1"/>
            </p:cNvSpPr>
            <p:nvPr/>
          </p:nvSpPr>
          <p:spPr bwMode="auto">
            <a:xfrm>
              <a:off x="2559" y="3437"/>
              <a:ext cx="0" cy="270"/>
            </a:xfrm>
            <a:prstGeom prst="line">
              <a:avLst/>
            </a:prstGeom>
            <a:noFill/>
            <a:ln w="25400">
              <a:solidFill>
                <a:srgbClr val="0000FF"/>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758" name="Rectangle 79"/>
            <p:cNvSpPr>
              <a:spLocks noChangeArrowheads="1"/>
            </p:cNvSpPr>
            <p:nvPr/>
          </p:nvSpPr>
          <p:spPr bwMode="auto">
            <a:xfrm>
              <a:off x="2909" y="3945"/>
              <a:ext cx="296" cy="19"/>
            </a:xfrm>
            <a:prstGeom prst="rect">
              <a:avLst/>
            </a:prstGeom>
            <a:gradFill rotWithShape="0">
              <a:gsLst>
                <a:gs pos="0">
                  <a:srgbClr val="1F1F1F"/>
                </a:gs>
                <a:gs pos="50000">
                  <a:srgbClr val="676767"/>
                </a:gs>
                <a:gs pos="100000">
                  <a:srgbClr val="1F1F1F"/>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759" name="Rectangle 80"/>
            <p:cNvSpPr>
              <a:spLocks noChangeArrowheads="1"/>
            </p:cNvSpPr>
            <p:nvPr/>
          </p:nvSpPr>
          <p:spPr bwMode="auto">
            <a:xfrm>
              <a:off x="2933" y="3528"/>
              <a:ext cx="89" cy="409"/>
            </a:xfrm>
            <a:prstGeom prst="rect">
              <a:avLst/>
            </a:pr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nvGrpSpPr>
            <p:cNvPr id="158760" name="Group 81"/>
            <p:cNvGrpSpPr>
              <a:grpSpLocks/>
            </p:cNvGrpSpPr>
            <p:nvPr/>
          </p:nvGrpSpPr>
          <p:grpSpPr bwMode="auto">
            <a:xfrm>
              <a:off x="3070" y="3828"/>
              <a:ext cx="92" cy="92"/>
              <a:chOff x="3302" y="4011"/>
              <a:chExt cx="102" cy="102"/>
            </a:xfrm>
          </p:grpSpPr>
          <p:sp>
            <p:nvSpPr>
              <p:cNvPr id="159026" name="Oval 82"/>
              <p:cNvSpPr>
                <a:spLocks noChangeArrowheads="1"/>
              </p:cNvSpPr>
              <p:nvPr/>
            </p:nvSpPr>
            <p:spPr bwMode="auto">
              <a:xfrm>
                <a:off x="3302" y="4011"/>
                <a:ext cx="102" cy="102"/>
              </a:xfrm>
              <a:prstGeom prst="ellipse">
                <a:avLst/>
              </a:prstGeom>
              <a:solidFill>
                <a:srgbClr val="00279F"/>
              </a:soli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9027" name="AutoShape 83"/>
              <p:cNvSpPr>
                <a:spLocks noChangeArrowheads="1"/>
              </p:cNvSpPr>
              <p:nvPr/>
            </p:nvSpPr>
            <p:spPr bwMode="auto">
              <a:xfrm rot="5400000">
                <a:off x="3326" y="4024"/>
                <a:ext cx="78" cy="76"/>
              </a:xfrm>
              <a:prstGeom prst="triangle">
                <a:avLst>
                  <a:gd name="adj" fmla="val 49995"/>
                </a:avLst>
              </a:prstGeom>
              <a:solidFill>
                <a:schemeClr val="hlink"/>
              </a:soli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sp>
          <p:nvSpPr>
            <p:cNvPr id="158761" name="Line 84"/>
            <p:cNvSpPr>
              <a:spLocks noChangeShapeType="1"/>
            </p:cNvSpPr>
            <p:nvPr/>
          </p:nvSpPr>
          <p:spPr bwMode="auto">
            <a:xfrm>
              <a:off x="2991" y="3341"/>
              <a:ext cx="0" cy="176"/>
            </a:xfrm>
            <a:prstGeom prst="line">
              <a:avLst/>
            </a:prstGeom>
            <a:noFill/>
            <a:ln w="254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762" name="Line 85"/>
            <p:cNvSpPr>
              <a:spLocks noChangeShapeType="1"/>
            </p:cNvSpPr>
            <p:nvPr/>
          </p:nvSpPr>
          <p:spPr bwMode="auto">
            <a:xfrm flipV="1">
              <a:off x="3252" y="3105"/>
              <a:ext cx="0" cy="774"/>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158763" name="Group 86"/>
            <p:cNvGrpSpPr>
              <a:grpSpLocks/>
            </p:cNvGrpSpPr>
            <p:nvPr/>
          </p:nvGrpSpPr>
          <p:grpSpPr bwMode="auto">
            <a:xfrm>
              <a:off x="4582" y="3172"/>
              <a:ext cx="427" cy="723"/>
              <a:chOff x="3748" y="3396"/>
              <a:chExt cx="472" cy="802"/>
            </a:xfrm>
          </p:grpSpPr>
          <p:sp>
            <p:nvSpPr>
              <p:cNvPr id="159021" name="Rectangle 87"/>
              <p:cNvSpPr>
                <a:spLocks noChangeArrowheads="1"/>
              </p:cNvSpPr>
              <p:nvPr/>
            </p:nvSpPr>
            <p:spPr bwMode="auto">
              <a:xfrm>
                <a:off x="3748" y="3458"/>
                <a:ext cx="472" cy="475"/>
              </a:xfrm>
              <a:prstGeom prst="rect">
                <a:avLst/>
              </a:pr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9022" name="AutoShape 88"/>
              <p:cNvSpPr>
                <a:spLocks noChangeArrowheads="1"/>
              </p:cNvSpPr>
              <p:nvPr/>
            </p:nvSpPr>
            <p:spPr bwMode="auto">
              <a:xfrm>
                <a:off x="3748" y="3396"/>
                <a:ext cx="472" cy="54"/>
              </a:xfrm>
              <a:prstGeom prst="triangle">
                <a:avLst>
                  <a:gd name="adj" fmla="val 49995"/>
                </a:avLst>
              </a:pr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9023" name="AutoShape 89"/>
              <p:cNvSpPr>
                <a:spLocks noChangeArrowheads="1"/>
              </p:cNvSpPr>
              <p:nvPr/>
            </p:nvSpPr>
            <p:spPr bwMode="auto">
              <a:xfrm rot="10800000" flipH="1" flipV="1">
                <a:off x="3748" y="3941"/>
                <a:ext cx="472" cy="114"/>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073 w 21600"/>
                  <a:gd name="T13" fmla="*/ 4168 h 21600"/>
                  <a:gd name="T14" fmla="*/ 17527 w 21600"/>
                  <a:gd name="T15" fmla="*/ 17432 h 21600"/>
                </a:gdLst>
                <a:ahLst/>
                <a:cxnLst>
                  <a:cxn ang="T8">
                    <a:pos x="T0" y="T1"/>
                  </a:cxn>
                  <a:cxn ang="T9">
                    <a:pos x="T2" y="T3"/>
                  </a:cxn>
                  <a:cxn ang="T10">
                    <a:pos x="T4" y="T5"/>
                  </a:cxn>
                  <a:cxn ang="T11">
                    <a:pos x="T6" y="T7"/>
                  </a:cxn>
                </a:cxnLst>
                <a:rect l="T12" t="T13" r="T14" b="T15"/>
                <a:pathLst>
                  <a:path w="21600" h="21600">
                    <a:moveTo>
                      <a:pt x="0" y="0"/>
                    </a:moveTo>
                    <a:lnTo>
                      <a:pt x="4589" y="21600"/>
                    </a:lnTo>
                    <a:lnTo>
                      <a:pt x="17011" y="21600"/>
                    </a:lnTo>
                    <a:lnTo>
                      <a:pt x="21600" y="0"/>
                    </a:lnTo>
                    <a:lnTo>
                      <a:pt x="0" y="0"/>
                    </a:lnTo>
                    <a:close/>
                  </a:path>
                </a:pathLst>
              </a:cu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9024" name="Rectangle 90"/>
              <p:cNvSpPr>
                <a:spLocks noChangeArrowheads="1"/>
              </p:cNvSpPr>
              <p:nvPr/>
            </p:nvSpPr>
            <p:spPr bwMode="auto">
              <a:xfrm>
                <a:off x="3852" y="4063"/>
                <a:ext cx="265" cy="135"/>
              </a:xfrm>
              <a:prstGeom prst="rect">
                <a:avLst/>
              </a:pr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9025" name="Rectangle 91"/>
              <p:cNvSpPr>
                <a:spLocks noChangeArrowheads="1"/>
              </p:cNvSpPr>
              <p:nvPr/>
            </p:nvSpPr>
            <p:spPr bwMode="auto">
              <a:xfrm>
                <a:off x="3803" y="4176"/>
                <a:ext cx="362" cy="22"/>
              </a:xfrm>
              <a:prstGeom prst="rect">
                <a:avLst/>
              </a:pr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sp>
          <p:nvSpPr>
            <p:cNvPr id="158764" name="Line 92"/>
            <p:cNvSpPr>
              <a:spLocks noChangeShapeType="1"/>
            </p:cNvSpPr>
            <p:nvPr/>
          </p:nvSpPr>
          <p:spPr bwMode="auto">
            <a:xfrm>
              <a:off x="3686" y="3120"/>
              <a:ext cx="0" cy="554"/>
            </a:xfrm>
            <a:prstGeom prst="line">
              <a:avLst/>
            </a:prstGeom>
            <a:noFill/>
            <a:ln w="254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765" name="Line 93"/>
            <p:cNvSpPr>
              <a:spLocks noChangeShapeType="1"/>
            </p:cNvSpPr>
            <p:nvPr/>
          </p:nvSpPr>
          <p:spPr bwMode="auto">
            <a:xfrm>
              <a:off x="3258" y="3111"/>
              <a:ext cx="421" cy="0"/>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158766" name="Group 94"/>
            <p:cNvGrpSpPr>
              <a:grpSpLocks/>
            </p:cNvGrpSpPr>
            <p:nvPr/>
          </p:nvGrpSpPr>
          <p:grpSpPr bwMode="auto">
            <a:xfrm>
              <a:off x="4855" y="3716"/>
              <a:ext cx="92" cy="93"/>
              <a:chOff x="5366" y="3624"/>
              <a:chExt cx="102" cy="102"/>
            </a:xfrm>
          </p:grpSpPr>
          <p:sp>
            <p:nvSpPr>
              <p:cNvPr id="159019" name="Oval 95"/>
              <p:cNvSpPr>
                <a:spLocks noChangeArrowheads="1"/>
              </p:cNvSpPr>
              <p:nvPr/>
            </p:nvSpPr>
            <p:spPr bwMode="auto">
              <a:xfrm>
                <a:off x="5366" y="3624"/>
                <a:ext cx="102" cy="102"/>
              </a:xfrm>
              <a:prstGeom prst="ellipse">
                <a:avLst/>
              </a:prstGeom>
              <a:solidFill>
                <a:srgbClr val="00279F"/>
              </a:soli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9020" name="AutoShape 96"/>
              <p:cNvSpPr>
                <a:spLocks noChangeArrowheads="1"/>
              </p:cNvSpPr>
              <p:nvPr/>
            </p:nvSpPr>
            <p:spPr bwMode="auto">
              <a:xfrm rot="5400000">
                <a:off x="5390" y="3637"/>
                <a:ext cx="78" cy="76"/>
              </a:xfrm>
              <a:prstGeom prst="triangle">
                <a:avLst>
                  <a:gd name="adj" fmla="val 49995"/>
                </a:avLst>
              </a:prstGeom>
              <a:solidFill>
                <a:schemeClr val="hlink"/>
              </a:soli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grpSp>
          <p:nvGrpSpPr>
            <p:cNvPr id="158767" name="Group 97"/>
            <p:cNvGrpSpPr>
              <a:grpSpLocks/>
            </p:cNvGrpSpPr>
            <p:nvPr/>
          </p:nvGrpSpPr>
          <p:grpSpPr bwMode="auto">
            <a:xfrm>
              <a:off x="3848" y="3892"/>
              <a:ext cx="94" cy="91"/>
              <a:chOff x="4166" y="4082"/>
              <a:chExt cx="102" cy="102"/>
            </a:xfrm>
          </p:grpSpPr>
          <p:sp>
            <p:nvSpPr>
              <p:cNvPr id="159017" name="Oval 98"/>
              <p:cNvSpPr>
                <a:spLocks noChangeArrowheads="1"/>
              </p:cNvSpPr>
              <p:nvPr/>
            </p:nvSpPr>
            <p:spPr bwMode="auto">
              <a:xfrm>
                <a:off x="4166" y="4082"/>
                <a:ext cx="102" cy="102"/>
              </a:xfrm>
              <a:prstGeom prst="ellipse">
                <a:avLst/>
              </a:prstGeom>
              <a:solidFill>
                <a:srgbClr val="00279F"/>
              </a:soli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9018" name="AutoShape 99"/>
              <p:cNvSpPr>
                <a:spLocks noChangeArrowheads="1"/>
              </p:cNvSpPr>
              <p:nvPr/>
            </p:nvSpPr>
            <p:spPr bwMode="auto">
              <a:xfrm rot="5400000">
                <a:off x="4190" y="4094"/>
                <a:ext cx="78" cy="76"/>
              </a:xfrm>
              <a:prstGeom prst="triangle">
                <a:avLst>
                  <a:gd name="adj" fmla="val 49995"/>
                </a:avLst>
              </a:prstGeom>
              <a:solidFill>
                <a:schemeClr val="hlink"/>
              </a:soli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sp>
          <p:nvSpPr>
            <p:cNvPr id="158768" name="Line 100"/>
            <p:cNvSpPr>
              <a:spLocks noChangeShapeType="1"/>
            </p:cNvSpPr>
            <p:nvPr/>
          </p:nvSpPr>
          <p:spPr bwMode="auto">
            <a:xfrm flipV="1">
              <a:off x="3945" y="3932"/>
              <a:ext cx="131" cy="0"/>
            </a:xfrm>
            <a:prstGeom prst="line">
              <a:avLst/>
            </a:prstGeom>
            <a:noFill/>
            <a:ln w="254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158769" name="Group 101"/>
            <p:cNvGrpSpPr>
              <a:grpSpLocks/>
            </p:cNvGrpSpPr>
            <p:nvPr/>
          </p:nvGrpSpPr>
          <p:grpSpPr bwMode="auto">
            <a:xfrm>
              <a:off x="3426" y="3674"/>
              <a:ext cx="403" cy="310"/>
              <a:chOff x="4854" y="3394"/>
              <a:chExt cx="448" cy="346"/>
            </a:xfrm>
          </p:grpSpPr>
          <p:sp>
            <p:nvSpPr>
              <p:cNvPr id="159010" name="AutoShape 102"/>
              <p:cNvSpPr>
                <a:spLocks noChangeArrowheads="1"/>
              </p:cNvSpPr>
              <p:nvPr/>
            </p:nvSpPr>
            <p:spPr bwMode="auto">
              <a:xfrm>
                <a:off x="4922" y="3394"/>
                <a:ext cx="340" cy="46"/>
              </a:xfrm>
              <a:prstGeom prst="triangle">
                <a:avLst>
                  <a:gd name="adj" fmla="val 49995"/>
                </a:avLst>
              </a:pr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9011" name="Rectangle 103"/>
              <p:cNvSpPr>
                <a:spLocks noChangeArrowheads="1"/>
              </p:cNvSpPr>
              <p:nvPr/>
            </p:nvSpPr>
            <p:spPr bwMode="auto">
              <a:xfrm>
                <a:off x="4922" y="3448"/>
                <a:ext cx="340" cy="264"/>
              </a:xfrm>
              <a:prstGeom prst="rect">
                <a:avLst/>
              </a:pr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9012" name="Rectangle 104"/>
              <p:cNvSpPr>
                <a:spLocks noChangeArrowheads="1"/>
              </p:cNvSpPr>
              <p:nvPr/>
            </p:nvSpPr>
            <p:spPr bwMode="auto">
              <a:xfrm>
                <a:off x="4881" y="3720"/>
                <a:ext cx="421" cy="20"/>
              </a:xfrm>
              <a:prstGeom prst="rect">
                <a:avLst/>
              </a:pr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9013" name="Rectangle 105"/>
              <p:cNvSpPr>
                <a:spLocks noChangeArrowheads="1"/>
              </p:cNvSpPr>
              <p:nvPr/>
            </p:nvSpPr>
            <p:spPr bwMode="auto">
              <a:xfrm>
                <a:off x="4854" y="3632"/>
                <a:ext cx="99" cy="6"/>
              </a:xfrm>
              <a:prstGeom prst="rect">
                <a:avLst/>
              </a:prstGeom>
              <a:gradFill rotWithShape="0">
                <a:gsLst>
                  <a:gs pos="0">
                    <a:srgbClr val="2B2B2B"/>
                  </a:gs>
                  <a:gs pos="50000">
                    <a:srgbClr val="919191"/>
                  </a:gs>
                  <a:gs pos="100000">
                    <a:srgbClr val="2B2B2B"/>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nvGrpSpPr>
              <p:cNvPr id="159014" name="Group 106"/>
              <p:cNvGrpSpPr>
                <a:grpSpLocks/>
              </p:cNvGrpSpPr>
              <p:nvPr/>
            </p:nvGrpSpPr>
            <p:grpSpPr bwMode="auto">
              <a:xfrm>
                <a:off x="4935" y="3584"/>
                <a:ext cx="18" cy="102"/>
                <a:chOff x="4935" y="3584"/>
                <a:chExt cx="18" cy="102"/>
              </a:xfrm>
            </p:grpSpPr>
            <p:sp>
              <p:nvSpPr>
                <p:cNvPr id="159015" name="Oval 107"/>
                <p:cNvSpPr>
                  <a:spLocks noChangeArrowheads="1"/>
                </p:cNvSpPr>
                <p:nvPr/>
              </p:nvSpPr>
              <p:spPr bwMode="auto">
                <a:xfrm>
                  <a:off x="4935" y="3639"/>
                  <a:ext cx="18" cy="47"/>
                </a:xfrm>
                <a:prstGeom prst="ellipse">
                  <a:avLst/>
                </a:prstGeom>
                <a:gradFill rotWithShape="0">
                  <a:gsLst>
                    <a:gs pos="0">
                      <a:srgbClr val="2B2B2B"/>
                    </a:gs>
                    <a:gs pos="50000">
                      <a:srgbClr val="919191"/>
                    </a:gs>
                    <a:gs pos="100000">
                      <a:srgbClr val="2B2B2B"/>
                    </a:gs>
                  </a:gsLst>
                  <a:lin ang="5400000" scaled="1"/>
                </a:gra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9016" name="Oval 108"/>
                <p:cNvSpPr>
                  <a:spLocks noChangeArrowheads="1"/>
                </p:cNvSpPr>
                <p:nvPr/>
              </p:nvSpPr>
              <p:spPr bwMode="auto">
                <a:xfrm>
                  <a:off x="4935" y="3584"/>
                  <a:ext cx="18" cy="47"/>
                </a:xfrm>
                <a:prstGeom prst="ellipse">
                  <a:avLst/>
                </a:prstGeom>
                <a:gradFill rotWithShape="0">
                  <a:gsLst>
                    <a:gs pos="0">
                      <a:srgbClr val="2B2B2B"/>
                    </a:gs>
                    <a:gs pos="50000">
                      <a:srgbClr val="919191"/>
                    </a:gs>
                    <a:gs pos="100000">
                      <a:srgbClr val="2B2B2B"/>
                    </a:gs>
                  </a:gsLst>
                  <a:lin ang="5400000" scaled="1"/>
                </a:gra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grpSp>
        <p:sp>
          <p:nvSpPr>
            <p:cNvPr id="158770" name="Line 109"/>
            <p:cNvSpPr>
              <a:spLocks noChangeShapeType="1"/>
            </p:cNvSpPr>
            <p:nvPr/>
          </p:nvSpPr>
          <p:spPr bwMode="auto">
            <a:xfrm>
              <a:off x="4768" y="3120"/>
              <a:ext cx="0" cy="78"/>
            </a:xfrm>
            <a:prstGeom prst="line">
              <a:avLst/>
            </a:prstGeom>
            <a:noFill/>
            <a:ln w="254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771" name="Line 110"/>
            <p:cNvSpPr>
              <a:spLocks noChangeShapeType="1"/>
            </p:cNvSpPr>
            <p:nvPr/>
          </p:nvSpPr>
          <p:spPr bwMode="auto">
            <a:xfrm flipH="1">
              <a:off x="4162" y="3111"/>
              <a:ext cx="613" cy="0"/>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158772" name="Group 111"/>
            <p:cNvGrpSpPr>
              <a:grpSpLocks/>
            </p:cNvGrpSpPr>
            <p:nvPr/>
          </p:nvGrpSpPr>
          <p:grpSpPr bwMode="auto">
            <a:xfrm>
              <a:off x="4942" y="3501"/>
              <a:ext cx="374" cy="268"/>
              <a:chOff x="5288" y="3384"/>
              <a:chExt cx="416" cy="298"/>
            </a:xfrm>
          </p:grpSpPr>
          <p:sp>
            <p:nvSpPr>
              <p:cNvPr id="159007" name="Line 112"/>
              <p:cNvSpPr>
                <a:spLocks noChangeShapeType="1"/>
              </p:cNvSpPr>
              <p:nvPr/>
            </p:nvSpPr>
            <p:spPr bwMode="auto">
              <a:xfrm>
                <a:off x="5288" y="3674"/>
                <a:ext cx="224" cy="0"/>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9008" name="Line 113"/>
              <p:cNvSpPr>
                <a:spLocks noChangeShapeType="1"/>
              </p:cNvSpPr>
              <p:nvPr/>
            </p:nvSpPr>
            <p:spPr bwMode="auto">
              <a:xfrm flipV="1">
                <a:off x="5520" y="3384"/>
                <a:ext cx="0" cy="298"/>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9009" name="Line 114"/>
              <p:cNvSpPr>
                <a:spLocks noChangeShapeType="1"/>
              </p:cNvSpPr>
              <p:nvPr/>
            </p:nvSpPr>
            <p:spPr bwMode="auto">
              <a:xfrm>
                <a:off x="5528" y="3392"/>
                <a:ext cx="176" cy="0"/>
              </a:xfrm>
              <a:prstGeom prst="line">
                <a:avLst/>
              </a:prstGeom>
              <a:noFill/>
              <a:ln w="254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58773" name="Group 115"/>
            <p:cNvGrpSpPr>
              <a:grpSpLocks/>
            </p:cNvGrpSpPr>
            <p:nvPr/>
          </p:nvGrpSpPr>
          <p:grpSpPr bwMode="auto">
            <a:xfrm>
              <a:off x="4076" y="3846"/>
              <a:ext cx="468" cy="183"/>
              <a:chOff x="4612" y="3959"/>
              <a:chExt cx="520" cy="203"/>
            </a:xfrm>
          </p:grpSpPr>
          <p:sp>
            <p:nvSpPr>
              <p:cNvPr id="158995" name="Rectangle 116"/>
              <p:cNvSpPr>
                <a:spLocks noChangeArrowheads="1"/>
              </p:cNvSpPr>
              <p:nvPr/>
            </p:nvSpPr>
            <p:spPr bwMode="auto">
              <a:xfrm>
                <a:off x="5059" y="4012"/>
                <a:ext cx="32" cy="80"/>
              </a:xfrm>
              <a:prstGeom prst="rect">
                <a:avLst/>
              </a:prstGeom>
              <a:gradFill rotWithShape="0">
                <a:gsLst>
                  <a:gs pos="0">
                    <a:srgbClr val="021245"/>
                  </a:gs>
                  <a:gs pos="50000">
                    <a:srgbClr val="063DE8"/>
                  </a:gs>
                  <a:gs pos="100000">
                    <a:srgbClr val="021245"/>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nvGrpSpPr>
              <p:cNvPr id="158996" name="Group 117"/>
              <p:cNvGrpSpPr>
                <a:grpSpLocks/>
              </p:cNvGrpSpPr>
              <p:nvPr/>
            </p:nvGrpSpPr>
            <p:grpSpPr bwMode="auto">
              <a:xfrm>
                <a:off x="4612" y="3959"/>
                <a:ext cx="479" cy="203"/>
                <a:chOff x="4612" y="3959"/>
                <a:chExt cx="479" cy="203"/>
              </a:xfrm>
            </p:grpSpPr>
            <p:sp>
              <p:nvSpPr>
                <p:cNvPr id="158998" name="AutoShape 118"/>
                <p:cNvSpPr>
                  <a:spLocks noChangeArrowheads="1"/>
                </p:cNvSpPr>
                <p:nvPr/>
              </p:nvSpPr>
              <p:spPr bwMode="auto">
                <a:xfrm rot="-5400000">
                  <a:off x="4562" y="4024"/>
                  <a:ext cx="142" cy="42"/>
                </a:xfrm>
                <a:prstGeom prst="triangle">
                  <a:avLst>
                    <a:gd name="adj" fmla="val 49995"/>
                  </a:avLst>
                </a:prstGeom>
                <a:gradFill rotWithShape="0">
                  <a:gsLst>
                    <a:gs pos="0">
                      <a:srgbClr val="003400"/>
                    </a:gs>
                    <a:gs pos="50000">
                      <a:srgbClr val="00AE00"/>
                    </a:gs>
                    <a:gs pos="100000">
                      <a:srgbClr val="003400"/>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999" name="Rectangle 119"/>
                <p:cNvSpPr>
                  <a:spLocks noChangeArrowheads="1"/>
                </p:cNvSpPr>
                <p:nvPr/>
              </p:nvSpPr>
              <p:spPr bwMode="auto">
                <a:xfrm>
                  <a:off x="4656" y="3974"/>
                  <a:ext cx="15" cy="143"/>
                </a:xfrm>
                <a:prstGeom prst="rect">
                  <a:avLst/>
                </a:prstGeom>
                <a:gradFill rotWithShape="0">
                  <a:gsLst>
                    <a:gs pos="0">
                      <a:srgbClr val="003400"/>
                    </a:gs>
                    <a:gs pos="50000">
                      <a:srgbClr val="00AE00"/>
                    </a:gs>
                    <a:gs pos="100000">
                      <a:srgbClr val="003400"/>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9000" name="Rectangle 120"/>
                <p:cNvSpPr>
                  <a:spLocks noChangeArrowheads="1"/>
                </p:cNvSpPr>
                <p:nvPr/>
              </p:nvSpPr>
              <p:spPr bwMode="auto">
                <a:xfrm>
                  <a:off x="4679" y="3974"/>
                  <a:ext cx="91" cy="143"/>
                </a:xfrm>
                <a:prstGeom prst="rect">
                  <a:avLst/>
                </a:prstGeom>
                <a:gradFill rotWithShape="0">
                  <a:gsLst>
                    <a:gs pos="0">
                      <a:srgbClr val="003400"/>
                    </a:gs>
                    <a:gs pos="50000">
                      <a:srgbClr val="00AE00"/>
                    </a:gs>
                    <a:gs pos="100000">
                      <a:srgbClr val="003400"/>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9001" name="Rectangle 121"/>
                <p:cNvSpPr>
                  <a:spLocks noChangeArrowheads="1"/>
                </p:cNvSpPr>
                <p:nvPr/>
              </p:nvSpPr>
              <p:spPr bwMode="auto">
                <a:xfrm>
                  <a:off x="4778" y="3974"/>
                  <a:ext cx="15" cy="143"/>
                </a:xfrm>
                <a:prstGeom prst="rect">
                  <a:avLst/>
                </a:prstGeom>
                <a:gradFill rotWithShape="0">
                  <a:gsLst>
                    <a:gs pos="0">
                      <a:srgbClr val="003400"/>
                    </a:gs>
                    <a:gs pos="50000">
                      <a:srgbClr val="00AE00"/>
                    </a:gs>
                    <a:gs pos="100000">
                      <a:srgbClr val="003400"/>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9002" name="Rectangle 122"/>
                <p:cNvSpPr>
                  <a:spLocks noChangeArrowheads="1"/>
                </p:cNvSpPr>
                <p:nvPr/>
              </p:nvSpPr>
              <p:spPr bwMode="auto">
                <a:xfrm>
                  <a:off x="4801" y="3959"/>
                  <a:ext cx="91" cy="158"/>
                </a:xfrm>
                <a:prstGeom prst="rect">
                  <a:avLst/>
                </a:prstGeom>
                <a:gradFill rotWithShape="0">
                  <a:gsLst>
                    <a:gs pos="0">
                      <a:srgbClr val="003400"/>
                    </a:gs>
                    <a:gs pos="50000">
                      <a:srgbClr val="00AE00"/>
                    </a:gs>
                    <a:gs pos="100000">
                      <a:srgbClr val="003400"/>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9003" name="Rectangle 123"/>
                <p:cNvSpPr>
                  <a:spLocks noChangeArrowheads="1"/>
                </p:cNvSpPr>
                <p:nvPr/>
              </p:nvSpPr>
              <p:spPr bwMode="auto">
                <a:xfrm>
                  <a:off x="4679" y="4128"/>
                  <a:ext cx="213" cy="7"/>
                </a:xfrm>
                <a:prstGeom prst="rect">
                  <a:avLst/>
                </a:prstGeom>
                <a:gradFill rotWithShape="0">
                  <a:gsLst>
                    <a:gs pos="0">
                      <a:srgbClr val="1F1F1F"/>
                    </a:gs>
                    <a:gs pos="50000">
                      <a:srgbClr val="676767"/>
                    </a:gs>
                    <a:gs pos="100000">
                      <a:srgbClr val="1F1F1F"/>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9004" name="Rectangle 124"/>
                <p:cNvSpPr>
                  <a:spLocks noChangeArrowheads="1"/>
                </p:cNvSpPr>
                <p:nvPr/>
              </p:nvSpPr>
              <p:spPr bwMode="auto">
                <a:xfrm>
                  <a:off x="4900" y="4030"/>
                  <a:ext cx="15" cy="34"/>
                </a:xfrm>
                <a:prstGeom prst="rect">
                  <a:avLst/>
                </a:prstGeom>
                <a:gradFill rotWithShape="0">
                  <a:gsLst>
                    <a:gs pos="0">
                      <a:srgbClr val="021245"/>
                    </a:gs>
                    <a:gs pos="50000">
                      <a:srgbClr val="063DE8"/>
                    </a:gs>
                    <a:gs pos="100000">
                      <a:srgbClr val="021245"/>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9005" name="Rectangle 125"/>
                <p:cNvSpPr>
                  <a:spLocks noChangeArrowheads="1"/>
                </p:cNvSpPr>
                <p:nvPr/>
              </p:nvSpPr>
              <p:spPr bwMode="auto">
                <a:xfrm>
                  <a:off x="4923" y="3959"/>
                  <a:ext cx="146" cy="176"/>
                </a:xfrm>
                <a:prstGeom prst="rect">
                  <a:avLst/>
                </a:prstGeom>
                <a:gradFill rotWithShape="0">
                  <a:gsLst>
                    <a:gs pos="0">
                      <a:srgbClr val="021245"/>
                    </a:gs>
                    <a:gs pos="50000">
                      <a:srgbClr val="063DE8"/>
                    </a:gs>
                    <a:gs pos="100000">
                      <a:srgbClr val="021245"/>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9006" name="Rectangle 126"/>
                <p:cNvSpPr>
                  <a:spLocks noChangeArrowheads="1"/>
                </p:cNvSpPr>
                <p:nvPr/>
              </p:nvSpPr>
              <p:spPr bwMode="auto">
                <a:xfrm>
                  <a:off x="4645" y="4143"/>
                  <a:ext cx="446" cy="19"/>
                </a:xfrm>
                <a:prstGeom prst="rect">
                  <a:avLst/>
                </a:prstGeom>
                <a:gradFill rotWithShape="0">
                  <a:gsLst>
                    <a:gs pos="0">
                      <a:srgbClr val="0F0F0F"/>
                    </a:gs>
                    <a:gs pos="50000">
                      <a:srgbClr val="333333"/>
                    </a:gs>
                    <a:gs pos="100000">
                      <a:srgbClr val="0F0F0F"/>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sp>
            <p:nvSpPr>
              <p:cNvPr id="158997" name="Rectangle 127"/>
              <p:cNvSpPr>
                <a:spLocks noChangeArrowheads="1"/>
              </p:cNvSpPr>
              <p:nvPr/>
            </p:nvSpPr>
            <p:spPr bwMode="auto">
              <a:xfrm>
                <a:off x="5099" y="4038"/>
                <a:ext cx="33" cy="28"/>
              </a:xfrm>
              <a:prstGeom prst="rect">
                <a:avLst/>
              </a:prstGeom>
              <a:gradFill rotWithShape="0">
                <a:gsLst>
                  <a:gs pos="0">
                    <a:srgbClr val="021245"/>
                  </a:gs>
                  <a:gs pos="50000">
                    <a:srgbClr val="063DE8"/>
                  </a:gs>
                  <a:gs pos="100000">
                    <a:srgbClr val="021245"/>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sp>
          <p:nvSpPr>
            <p:cNvPr id="158774" name="Rectangle 128"/>
            <p:cNvSpPr>
              <a:spLocks noChangeArrowheads="1"/>
            </p:cNvSpPr>
            <p:nvPr/>
          </p:nvSpPr>
          <p:spPr bwMode="auto">
            <a:xfrm>
              <a:off x="2559" y="3138"/>
              <a:ext cx="528" cy="99"/>
            </a:xfrm>
            <a:prstGeom prst="rect">
              <a:avLst/>
            </a:prstGeom>
            <a:noFill/>
            <a:ln>
              <a:noFill/>
            </a:ln>
            <a:effectLst/>
            <a:extLst>
              <a:ext uri="{909E8E84-426E-40DD-AFC4-6F175D3DCCD1}">
                <a14:hiddenFill xmlns:a14="http://schemas.microsoft.com/office/drawing/2010/main">
                  <a:solidFill>
                    <a:srgbClr val="EAEC5E"/>
                  </a:solidFill>
                </a14:hiddenFill>
              </a:ext>
              <a:ext uri="{91240B29-F687-4F45-9708-019B960494DF}">
                <a14:hiddenLine xmlns:a14="http://schemas.microsoft.com/office/drawing/2010/main" w="127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45000"/>
                </a:lnSpc>
                <a:spcBef>
                  <a:spcPct val="0"/>
                </a:spcBef>
                <a:buFontTx/>
                <a:buNone/>
              </a:pPr>
              <a:r>
                <a:rPr lang="en-US" altLang="en-US" sz="1000" b="1">
                  <a:solidFill>
                    <a:srgbClr val="0000FF"/>
                  </a:solidFill>
                  <a:latin typeface="Tahoma" panose="020B0604030504040204" pitchFamily="34" charset="0"/>
                  <a:cs typeface="Angsana New" panose="02020603050405020304" pitchFamily="18" charset="-34"/>
                </a:rPr>
                <a:t>Press #2</a:t>
              </a:r>
            </a:p>
          </p:txBody>
        </p:sp>
        <p:sp>
          <p:nvSpPr>
            <p:cNvPr id="158775" name="Rectangle 129"/>
            <p:cNvSpPr>
              <a:spLocks noChangeArrowheads="1"/>
            </p:cNvSpPr>
            <p:nvPr/>
          </p:nvSpPr>
          <p:spPr bwMode="auto">
            <a:xfrm>
              <a:off x="4992" y="3183"/>
              <a:ext cx="649" cy="99"/>
            </a:xfrm>
            <a:prstGeom prst="rect">
              <a:avLst/>
            </a:prstGeom>
            <a:noFill/>
            <a:ln>
              <a:noFill/>
            </a:ln>
            <a:effectLst/>
            <a:extLst>
              <a:ext uri="{909E8E84-426E-40DD-AFC4-6F175D3DCCD1}">
                <a14:hiddenFill xmlns:a14="http://schemas.microsoft.com/office/drawing/2010/main">
                  <a:solidFill>
                    <a:srgbClr val="EAEC5E"/>
                  </a:solidFill>
                </a14:hiddenFill>
              </a:ext>
              <a:ext uri="{91240B29-F687-4F45-9708-019B960494DF}">
                <a14:hiddenLine xmlns:a14="http://schemas.microsoft.com/office/drawing/2010/main" w="127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45000"/>
                </a:lnSpc>
                <a:spcBef>
                  <a:spcPct val="0"/>
                </a:spcBef>
                <a:buFontTx/>
                <a:buNone/>
              </a:pPr>
              <a:r>
                <a:rPr lang="en-US" altLang="en-US" sz="1000" b="1">
                  <a:solidFill>
                    <a:srgbClr val="0000FF"/>
                  </a:solidFill>
                  <a:latin typeface="Tahoma" panose="020B0604030504040204" pitchFamily="34" charset="0"/>
                  <a:cs typeface="Angsana New" panose="02020603050405020304" pitchFamily="18" charset="-34"/>
                </a:rPr>
                <a:t>HD. TOWER</a:t>
              </a:r>
            </a:p>
          </p:txBody>
        </p:sp>
        <p:sp>
          <p:nvSpPr>
            <p:cNvPr id="158776" name="Rectangle 130"/>
            <p:cNvSpPr>
              <a:spLocks noChangeArrowheads="1"/>
            </p:cNvSpPr>
            <p:nvPr/>
          </p:nvSpPr>
          <p:spPr bwMode="auto">
            <a:xfrm>
              <a:off x="3957" y="4053"/>
              <a:ext cx="908" cy="152"/>
            </a:xfrm>
            <a:prstGeom prst="rect">
              <a:avLst/>
            </a:prstGeom>
            <a:solidFill>
              <a:schemeClr val="bg1"/>
            </a:solidFill>
            <a:ln>
              <a:noFill/>
            </a:ln>
            <a:effectLst/>
            <a:extLst>
              <a:ext uri="{91240B29-F687-4F45-9708-019B960494DF}">
                <a14:hiddenLine xmlns:a14="http://schemas.microsoft.com/office/drawing/2010/main" w="127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000" b="1">
                  <a:solidFill>
                    <a:srgbClr val="0000FF"/>
                  </a:solidFill>
                  <a:latin typeface="Tahoma" panose="020B0604030504040204" pitchFamily="34" charset="0"/>
                  <a:cs typeface="Angsana New" panose="02020603050405020304" pitchFamily="18" charset="-34"/>
                </a:rPr>
                <a:t>CONFLO REFINER</a:t>
              </a:r>
            </a:p>
          </p:txBody>
        </p:sp>
        <p:sp>
          <p:nvSpPr>
            <p:cNvPr id="158777" name="Line 131"/>
            <p:cNvSpPr>
              <a:spLocks noChangeShapeType="1"/>
            </p:cNvSpPr>
            <p:nvPr/>
          </p:nvSpPr>
          <p:spPr bwMode="auto">
            <a:xfrm>
              <a:off x="2183" y="3046"/>
              <a:ext cx="3141" cy="0"/>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158778" name="Group 132"/>
            <p:cNvGrpSpPr>
              <a:grpSpLocks/>
            </p:cNvGrpSpPr>
            <p:nvPr/>
          </p:nvGrpSpPr>
          <p:grpSpPr bwMode="auto">
            <a:xfrm>
              <a:off x="4059" y="3565"/>
              <a:ext cx="468" cy="183"/>
              <a:chOff x="4612" y="3959"/>
              <a:chExt cx="520" cy="203"/>
            </a:xfrm>
          </p:grpSpPr>
          <p:sp>
            <p:nvSpPr>
              <p:cNvPr id="158983" name="Rectangle 133"/>
              <p:cNvSpPr>
                <a:spLocks noChangeArrowheads="1"/>
              </p:cNvSpPr>
              <p:nvPr/>
            </p:nvSpPr>
            <p:spPr bwMode="auto">
              <a:xfrm>
                <a:off x="5059" y="4012"/>
                <a:ext cx="32" cy="80"/>
              </a:xfrm>
              <a:prstGeom prst="rect">
                <a:avLst/>
              </a:prstGeom>
              <a:gradFill rotWithShape="0">
                <a:gsLst>
                  <a:gs pos="0">
                    <a:srgbClr val="021245"/>
                  </a:gs>
                  <a:gs pos="50000">
                    <a:srgbClr val="063DE8"/>
                  </a:gs>
                  <a:gs pos="100000">
                    <a:srgbClr val="021245"/>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nvGrpSpPr>
              <p:cNvPr id="158984" name="Group 134"/>
              <p:cNvGrpSpPr>
                <a:grpSpLocks/>
              </p:cNvGrpSpPr>
              <p:nvPr/>
            </p:nvGrpSpPr>
            <p:grpSpPr bwMode="auto">
              <a:xfrm>
                <a:off x="4612" y="3959"/>
                <a:ext cx="479" cy="203"/>
                <a:chOff x="4612" y="3959"/>
                <a:chExt cx="479" cy="203"/>
              </a:xfrm>
            </p:grpSpPr>
            <p:sp>
              <p:nvSpPr>
                <p:cNvPr id="158986" name="AutoShape 135"/>
                <p:cNvSpPr>
                  <a:spLocks noChangeArrowheads="1"/>
                </p:cNvSpPr>
                <p:nvPr/>
              </p:nvSpPr>
              <p:spPr bwMode="auto">
                <a:xfrm rot="-5400000">
                  <a:off x="4562" y="4024"/>
                  <a:ext cx="142" cy="42"/>
                </a:xfrm>
                <a:prstGeom prst="triangle">
                  <a:avLst>
                    <a:gd name="adj" fmla="val 49995"/>
                  </a:avLst>
                </a:prstGeom>
                <a:gradFill rotWithShape="0">
                  <a:gsLst>
                    <a:gs pos="0">
                      <a:srgbClr val="003400"/>
                    </a:gs>
                    <a:gs pos="50000">
                      <a:srgbClr val="00AE00"/>
                    </a:gs>
                    <a:gs pos="100000">
                      <a:srgbClr val="003400"/>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987" name="Rectangle 136"/>
                <p:cNvSpPr>
                  <a:spLocks noChangeArrowheads="1"/>
                </p:cNvSpPr>
                <p:nvPr/>
              </p:nvSpPr>
              <p:spPr bwMode="auto">
                <a:xfrm>
                  <a:off x="4656" y="3974"/>
                  <a:ext cx="15" cy="143"/>
                </a:xfrm>
                <a:prstGeom prst="rect">
                  <a:avLst/>
                </a:prstGeom>
                <a:gradFill rotWithShape="0">
                  <a:gsLst>
                    <a:gs pos="0">
                      <a:srgbClr val="003400"/>
                    </a:gs>
                    <a:gs pos="50000">
                      <a:srgbClr val="00AE00"/>
                    </a:gs>
                    <a:gs pos="100000">
                      <a:srgbClr val="003400"/>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988" name="Rectangle 137"/>
                <p:cNvSpPr>
                  <a:spLocks noChangeArrowheads="1"/>
                </p:cNvSpPr>
                <p:nvPr/>
              </p:nvSpPr>
              <p:spPr bwMode="auto">
                <a:xfrm>
                  <a:off x="4679" y="3974"/>
                  <a:ext cx="91" cy="143"/>
                </a:xfrm>
                <a:prstGeom prst="rect">
                  <a:avLst/>
                </a:prstGeom>
                <a:gradFill rotWithShape="0">
                  <a:gsLst>
                    <a:gs pos="0">
                      <a:srgbClr val="003400"/>
                    </a:gs>
                    <a:gs pos="50000">
                      <a:srgbClr val="00AE00"/>
                    </a:gs>
                    <a:gs pos="100000">
                      <a:srgbClr val="003400"/>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989" name="Rectangle 138"/>
                <p:cNvSpPr>
                  <a:spLocks noChangeArrowheads="1"/>
                </p:cNvSpPr>
                <p:nvPr/>
              </p:nvSpPr>
              <p:spPr bwMode="auto">
                <a:xfrm>
                  <a:off x="4778" y="3974"/>
                  <a:ext cx="15" cy="143"/>
                </a:xfrm>
                <a:prstGeom prst="rect">
                  <a:avLst/>
                </a:prstGeom>
                <a:gradFill rotWithShape="0">
                  <a:gsLst>
                    <a:gs pos="0">
                      <a:srgbClr val="003400"/>
                    </a:gs>
                    <a:gs pos="50000">
                      <a:srgbClr val="00AE00"/>
                    </a:gs>
                    <a:gs pos="100000">
                      <a:srgbClr val="003400"/>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990" name="Rectangle 139"/>
                <p:cNvSpPr>
                  <a:spLocks noChangeArrowheads="1"/>
                </p:cNvSpPr>
                <p:nvPr/>
              </p:nvSpPr>
              <p:spPr bwMode="auto">
                <a:xfrm>
                  <a:off x="4801" y="3959"/>
                  <a:ext cx="91" cy="158"/>
                </a:xfrm>
                <a:prstGeom prst="rect">
                  <a:avLst/>
                </a:prstGeom>
                <a:gradFill rotWithShape="0">
                  <a:gsLst>
                    <a:gs pos="0">
                      <a:srgbClr val="003400"/>
                    </a:gs>
                    <a:gs pos="50000">
                      <a:srgbClr val="00AE00"/>
                    </a:gs>
                    <a:gs pos="100000">
                      <a:srgbClr val="003400"/>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991" name="Rectangle 140"/>
                <p:cNvSpPr>
                  <a:spLocks noChangeArrowheads="1"/>
                </p:cNvSpPr>
                <p:nvPr/>
              </p:nvSpPr>
              <p:spPr bwMode="auto">
                <a:xfrm>
                  <a:off x="4679" y="4128"/>
                  <a:ext cx="213" cy="7"/>
                </a:xfrm>
                <a:prstGeom prst="rect">
                  <a:avLst/>
                </a:prstGeom>
                <a:gradFill rotWithShape="0">
                  <a:gsLst>
                    <a:gs pos="0">
                      <a:srgbClr val="1F1F1F"/>
                    </a:gs>
                    <a:gs pos="50000">
                      <a:srgbClr val="676767"/>
                    </a:gs>
                    <a:gs pos="100000">
                      <a:srgbClr val="1F1F1F"/>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992" name="Rectangle 141"/>
                <p:cNvSpPr>
                  <a:spLocks noChangeArrowheads="1"/>
                </p:cNvSpPr>
                <p:nvPr/>
              </p:nvSpPr>
              <p:spPr bwMode="auto">
                <a:xfrm>
                  <a:off x="4900" y="4030"/>
                  <a:ext cx="15" cy="34"/>
                </a:xfrm>
                <a:prstGeom prst="rect">
                  <a:avLst/>
                </a:prstGeom>
                <a:gradFill rotWithShape="0">
                  <a:gsLst>
                    <a:gs pos="0">
                      <a:srgbClr val="021245"/>
                    </a:gs>
                    <a:gs pos="50000">
                      <a:srgbClr val="063DE8"/>
                    </a:gs>
                    <a:gs pos="100000">
                      <a:srgbClr val="021245"/>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993" name="Rectangle 142"/>
                <p:cNvSpPr>
                  <a:spLocks noChangeArrowheads="1"/>
                </p:cNvSpPr>
                <p:nvPr/>
              </p:nvSpPr>
              <p:spPr bwMode="auto">
                <a:xfrm>
                  <a:off x="4923" y="3959"/>
                  <a:ext cx="146" cy="176"/>
                </a:xfrm>
                <a:prstGeom prst="rect">
                  <a:avLst/>
                </a:prstGeom>
                <a:gradFill rotWithShape="0">
                  <a:gsLst>
                    <a:gs pos="0">
                      <a:srgbClr val="021245"/>
                    </a:gs>
                    <a:gs pos="50000">
                      <a:srgbClr val="063DE8"/>
                    </a:gs>
                    <a:gs pos="100000">
                      <a:srgbClr val="021245"/>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994" name="Rectangle 143"/>
                <p:cNvSpPr>
                  <a:spLocks noChangeArrowheads="1"/>
                </p:cNvSpPr>
                <p:nvPr/>
              </p:nvSpPr>
              <p:spPr bwMode="auto">
                <a:xfrm>
                  <a:off x="4645" y="4143"/>
                  <a:ext cx="446" cy="19"/>
                </a:xfrm>
                <a:prstGeom prst="rect">
                  <a:avLst/>
                </a:prstGeom>
                <a:gradFill rotWithShape="0">
                  <a:gsLst>
                    <a:gs pos="0">
                      <a:srgbClr val="0F0F0F"/>
                    </a:gs>
                    <a:gs pos="50000">
                      <a:srgbClr val="333333"/>
                    </a:gs>
                    <a:gs pos="100000">
                      <a:srgbClr val="0F0F0F"/>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sp>
            <p:nvSpPr>
              <p:cNvPr id="158985" name="Rectangle 144"/>
              <p:cNvSpPr>
                <a:spLocks noChangeArrowheads="1"/>
              </p:cNvSpPr>
              <p:nvPr/>
            </p:nvSpPr>
            <p:spPr bwMode="auto">
              <a:xfrm>
                <a:off x="5099" y="4038"/>
                <a:ext cx="33" cy="28"/>
              </a:xfrm>
              <a:prstGeom prst="rect">
                <a:avLst/>
              </a:prstGeom>
              <a:gradFill rotWithShape="0">
                <a:gsLst>
                  <a:gs pos="0">
                    <a:srgbClr val="021245"/>
                  </a:gs>
                  <a:gs pos="50000">
                    <a:srgbClr val="063DE8"/>
                  </a:gs>
                  <a:gs pos="100000">
                    <a:srgbClr val="021245"/>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grpSp>
          <p:nvGrpSpPr>
            <p:cNvPr id="158779" name="Group 145"/>
            <p:cNvGrpSpPr>
              <a:grpSpLocks/>
            </p:cNvGrpSpPr>
            <p:nvPr/>
          </p:nvGrpSpPr>
          <p:grpSpPr bwMode="auto">
            <a:xfrm>
              <a:off x="-25" y="1009"/>
              <a:ext cx="2860" cy="1242"/>
              <a:chOff x="0" y="663"/>
              <a:chExt cx="2581" cy="1086"/>
            </a:xfrm>
          </p:grpSpPr>
          <p:grpSp>
            <p:nvGrpSpPr>
              <p:cNvPr id="158927" name="Group 146"/>
              <p:cNvGrpSpPr>
                <a:grpSpLocks/>
              </p:cNvGrpSpPr>
              <p:nvPr/>
            </p:nvGrpSpPr>
            <p:grpSpPr bwMode="auto">
              <a:xfrm>
                <a:off x="0" y="831"/>
                <a:ext cx="1860" cy="918"/>
                <a:chOff x="0" y="831"/>
                <a:chExt cx="1860" cy="918"/>
              </a:xfrm>
            </p:grpSpPr>
            <p:sp>
              <p:nvSpPr>
                <p:cNvPr id="158957" name="Freeform 147"/>
                <p:cNvSpPr>
                  <a:spLocks/>
                </p:cNvSpPr>
                <p:nvPr/>
              </p:nvSpPr>
              <p:spPr bwMode="auto">
                <a:xfrm>
                  <a:off x="768" y="1700"/>
                  <a:ext cx="56" cy="49"/>
                </a:xfrm>
                <a:custGeom>
                  <a:avLst/>
                  <a:gdLst>
                    <a:gd name="T0" fmla="*/ 0 w 59"/>
                    <a:gd name="T1" fmla="*/ 0 h 52"/>
                    <a:gd name="T2" fmla="*/ 33 w 59"/>
                    <a:gd name="T3" fmla="*/ 0 h 52"/>
                    <a:gd name="T4" fmla="*/ 0 w 59"/>
                    <a:gd name="T5" fmla="*/ 26 h 52"/>
                    <a:gd name="T6" fmla="*/ 33 w 59"/>
                    <a:gd name="T7" fmla="*/ 26 h 52"/>
                    <a:gd name="T8" fmla="*/ 0 w 59"/>
                    <a:gd name="T9" fmla="*/ 0 h 5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9" h="52">
                      <a:moveTo>
                        <a:pt x="0" y="0"/>
                      </a:moveTo>
                      <a:lnTo>
                        <a:pt x="58" y="0"/>
                      </a:lnTo>
                      <a:lnTo>
                        <a:pt x="0" y="51"/>
                      </a:lnTo>
                      <a:lnTo>
                        <a:pt x="58" y="51"/>
                      </a:lnTo>
                      <a:lnTo>
                        <a:pt x="0" y="0"/>
                      </a:lnTo>
                    </a:path>
                  </a:pathLst>
                </a:custGeom>
                <a:solidFill>
                  <a:srgbClr val="063DE8"/>
                </a:solidFill>
                <a:ln w="12700" cap="rnd" cmpd="sng">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8958" name="Line 148"/>
                <p:cNvSpPr>
                  <a:spLocks noChangeShapeType="1"/>
                </p:cNvSpPr>
                <p:nvPr/>
              </p:nvSpPr>
              <p:spPr bwMode="auto">
                <a:xfrm>
                  <a:off x="799" y="1724"/>
                  <a:ext cx="47" cy="0"/>
                </a:xfrm>
                <a:prstGeom prst="line">
                  <a:avLst/>
                </a:prstGeom>
                <a:noFill/>
                <a:ln w="127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959" name="Oval 149"/>
                <p:cNvSpPr>
                  <a:spLocks noChangeArrowheads="1"/>
                </p:cNvSpPr>
                <p:nvPr/>
              </p:nvSpPr>
              <p:spPr bwMode="auto">
                <a:xfrm>
                  <a:off x="853" y="1704"/>
                  <a:ext cx="47" cy="40"/>
                </a:xfrm>
                <a:prstGeom prst="ellipse">
                  <a:avLst/>
                </a:prstGeom>
                <a:solidFill>
                  <a:schemeClr val="accent2"/>
                </a:soli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960" name="Line 150"/>
                <p:cNvSpPr>
                  <a:spLocks noChangeShapeType="1"/>
                </p:cNvSpPr>
                <p:nvPr/>
              </p:nvSpPr>
              <p:spPr bwMode="auto">
                <a:xfrm flipV="1">
                  <a:off x="1860" y="986"/>
                  <a:ext cx="0" cy="621"/>
                </a:xfrm>
                <a:prstGeom prst="line">
                  <a:avLst/>
                </a:prstGeom>
                <a:noFill/>
                <a:ln w="254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961" name="Line 151"/>
                <p:cNvSpPr>
                  <a:spLocks noChangeShapeType="1"/>
                </p:cNvSpPr>
                <p:nvPr/>
              </p:nvSpPr>
              <p:spPr bwMode="auto">
                <a:xfrm>
                  <a:off x="1203" y="1598"/>
                  <a:ext cx="163" cy="0"/>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962" name="Freeform 152"/>
                <p:cNvSpPr>
                  <a:spLocks/>
                </p:cNvSpPr>
                <p:nvPr/>
              </p:nvSpPr>
              <p:spPr bwMode="auto">
                <a:xfrm>
                  <a:off x="647" y="1195"/>
                  <a:ext cx="299" cy="361"/>
                </a:xfrm>
                <a:custGeom>
                  <a:avLst/>
                  <a:gdLst>
                    <a:gd name="T0" fmla="*/ 0 w 323"/>
                    <a:gd name="T1" fmla="*/ 0 h 379"/>
                    <a:gd name="T2" fmla="*/ 28 w 323"/>
                    <a:gd name="T3" fmla="*/ 0 h 379"/>
                    <a:gd name="T4" fmla="*/ 28 w 323"/>
                    <a:gd name="T5" fmla="*/ 37 h 379"/>
                    <a:gd name="T6" fmla="*/ 104 w 323"/>
                    <a:gd name="T7" fmla="*/ 37 h 379"/>
                    <a:gd name="T8" fmla="*/ 137 w 323"/>
                    <a:gd name="T9" fmla="*/ 74 h 379"/>
                    <a:gd name="T10" fmla="*/ 137 w 323"/>
                    <a:gd name="T11" fmla="*/ 110 h 379"/>
                    <a:gd name="T12" fmla="*/ 83 w 323"/>
                    <a:gd name="T13" fmla="*/ 177 h 379"/>
                    <a:gd name="T14" fmla="*/ 83 w 323"/>
                    <a:gd name="T15" fmla="*/ 221 h 379"/>
                    <a:gd name="T16" fmla="*/ 62 w 323"/>
                    <a:gd name="T17" fmla="*/ 221 h 379"/>
                    <a:gd name="T18" fmla="*/ 62 w 323"/>
                    <a:gd name="T19" fmla="*/ 177 h 379"/>
                    <a:gd name="T20" fmla="*/ 0 w 323"/>
                    <a:gd name="T21" fmla="*/ 110 h 379"/>
                    <a:gd name="T22" fmla="*/ 0 w 323"/>
                    <a:gd name="T23" fmla="*/ 0 h 37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323" h="379">
                      <a:moveTo>
                        <a:pt x="0" y="0"/>
                      </a:moveTo>
                      <a:lnTo>
                        <a:pt x="64" y="0"/>
                      </a:lnTo>
                      <a:lnTo>
                        <a:pt x="64" y="63"/>
                      </a:lnTo>
                      <a:lnTo>
                        <a:pt x="242" y="63"/>
                      </a:lnTo>
                      <a:lnTo>
                        <a:pt x="322" y="126"/>
                      </a:lnTo>
                      <a:lnTo>
                        <a:pt x="322" y="189"/>
                      </a:lnTo>
                      <a:lnTo>
                        <a:pt x="193" y="302"/>
                      </a:lnTo>
                      <a:lnTo>
                        <a:pt x="193" y="378"/>
                      </a:lnTo>
                      <a:lnTo>
                        <a:pt x="145" y="378"/>
                      </a:lnTo>
                      <a:lnTo>
                        <a:pt x="145" y="302"/>
                      </a:lnTo>
                      <a:lnTo>
                        <a:pt x="0" y="189"/>
                      </a:lnTo>
                      <a:lnTo>
                        <a:pt x="0" y="0"/>
                      </a:lnTo>
                    </a:path>
                  </a:pathLst>
                </a:custGeom>
                <a:gradFill rotWithShape="0">
                  <a:gsLst>
                    <a:gs pos="0">
                      <a:srgbClr val="021245"/>
                    </a:gs>
                    <a:gs pos="50000">
                      <a:srgbClr val="063DE8"/>
                    </a:gs>
                    <a:gs pos="100000">
                      <a:srgbClr val="021245"/>
                    </a:gs>
                  </a:gsLst>
                  <a:lin ang="0" scaled="1"/>
                </a:gradFill>
                <a:ln w="12700" cap="rnd" cmpd="sng">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8963" name="Rectangle 153"/>
                <p:cNvSpPr>
                  <a:spLocks noChangeArrowheads="1"/>
                </p:cNvSpPr>
                <p:nvPr/>
              </p:nvSpPr>
              <p:spPr bwMode="auto">
                <a:xfrm>
                  <a:off x="948" y="1319"/>
                  <a:ext cx="45" cy="89"/>
                </a:xfrm>
                <a:prstGeom prst="rect">
                  <a:avLst/>
                </a:prstGeom>
                <a:solidFill>
                  <a:srgbClr val="00DFCA"/>
                </a:soli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964" name="Freeform 154"/>
                <p:cNvSpPr>
                  <a:spLocks/>
                </p:cNvSpPr>
                <p:nvPr/>
              </p:nvSpPr>
              <p:spPr bwMode="auto">
                <a:xfrm>
                  <a:off x="944" y="1411"/>
                  <a:ext cx="282" cy="205"/>
                </a:xfrm>
                <a:custGeom>
                  <a:avLst/>
                  <a:gdLst>
                    <a:gd name="T0" fmla="*/ 0 w 306"/>
                    <a:gd name="T1" fmla="*/ 0 h 215"/>
                    <a:gd name="T2" fmla="*/ 124 w 306"/>
                    <a:gd name="T3" fmla="*/ 0 h 215"/>
                    <a:gd name="T4" fmla="*/ 124 w 306"/>
                    <a:gd name="T5" fmla="*/ 45 h 215"/>
                    <a:gd name="T6" fmla="*/ 70 w 306"/>
                    <a:gd name="T7" fmla="*/ 89 h 215"/>
                    <a:gd name="T8" fmla="*/ 70 w 306"/>
                    <a:gd name="T9" fmla="*/ 89 h 215"/>
                    <a:gd name="T10" fmla="*/ 71 w 306"/>
                    <a:gd name="T11" fmla="*/ 96 h 215"/>
                    <a:gd name="T12" fmla="*/ 76 w 306"/>
                    <a:gd name="T13" fmla="*/ 101 h 215"/>
                    <a:gd name="T14" fmla="*/ 83 w 306"/>
                    <a:gd name="T15" fmla="*/ 104 h 215"/>
                    <a:gd name="T16" fmla="*/ 105 w 306"/>
                    <a:gd name="T17" fmla="*/ 105 h 215"/>
                    <a:gd name="T18" fmla="*/ 105 w 306"/>
                    <a:gd name="T19" fmla="*/ 127 h 215"/>
                    <a:gd name="T20" fmla="*/ 70 w 306"/>
                    <a:gd name="T21" fmla="*/ 127 h 215"/>
                    <a:gd name="T22" fmla="*/ 0 w 306"/>
                    <a:gd name="T23" fmla="*/ 67 h 215"/>
                    <a:gd name="T24" fmla="*/ 0 w 306"/>
                    <a:gd name="T25" fmla="*/ 0 h 21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06" h="215">
                      <a:moveTo>
                        <a:pt x="0" y="0"/>
                      </a:moveTo>
                      <a:lnTo>
                        <a:pt x="305" y="0"/>
                      </a:lnTo>
                      <a:lnTo>
                        <a:pt x="305" y="76"/>
                      </a:lnTo>
                      <a:lnTo>
                        <a:pt x="174" y="151"/>
                      </a:lnTo>
                      <a:lnTo>
                        <a:pt x="176" y="163"/>
                      </a:lnTo>
                      <a:lnTo>
                        <a:pt x="189" y="171"/>
                      </a:lnTo>
                      <a:lnTo>
                        <a:pt x="206" y="175"/>
                      </a:lnTo>
                      <a:lnTo>
                        <a:pt x="261" y="176"/>
                      </a:lnTo>
                      <a:lnTo>
                        <a:pt x="261" y="214"/>
                      </a:lnTo>
                      <a:lnTo>
                        <a:pt x="174" y="214"/>
                      </a:lnTo>
                      <a:lnTo>
                        <a:pt x="0" y="113"/>
                      </a:lnTo>
                      <a:lnTo>
                        <a:pt x="0" y="0"/>
                      </a:lnTo>
                    </a:path>
                  </a:pathLst>
                </a:custGeom>
                <a:gradFill rotWithShape="0">
                  <a:gsLst>
                    <a:gs pos="0">
                      <a:srgbClr val="142A00"/>
                    </a:gs>
                    <a:gs pos="50000">
                      <a:srgbClr val="438E00"/>
                    </a:gs>
                    <a:gs pos="100000">
                      <a:srgbClr val="142A00"/>
                    </a:gs>
                  </a:gsLst>
                  <a:lin ang="0" scaled="1"/>
                </a:gradFill>
                <a:ln w="12700" cap="rnd" cmpd="sng">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8965" name="Rectangle 155"/>
                <p:cNvSpPr>
                  <a:spLocks noChangeArrowheads="1"/>
                </p:cNvSpPr>
                <p:nvPr/>
              </p:nvSpPr>
              <p:spPr bwMode="auto">
                <a:xfrm>
                  <a:off x="772" y="1607"/>
                  <a:ext cx="46" cy="88"/>
                </a:xfrm>
                <a:prstGeom prst="rect">
                  <a:avLst/>
                </a:prstGeom>
                <a:solidFill>
                  <a:srgbClr val="063DE8"/>
                </a:soli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966" name="Freeform 156"/>
                <p:cNvSpPr>
                  <a:spLocks/>
                </p:cNvSpPr>
                <p:nvPr/>
              </p:nvSpPr>
              <p:spPr bwMode="auto">
                <a:xfrm>
                  <a:off x="768" y="1555"/>
                  <a:ext cx="56" cy="50"/>
                </a:xfrm>
                <a:custGeom>
                  <a:avLst/>
                  <a:gdLst>
                    <a:gd name="T0" fmla="*/ 0 w 59"/>
                    <a:gd name="T1" fmla="*/ 0 h 51"/>
                    <a:gd name="T2" fmla="*/ 33 w 59"/>
                    <a:gd name="T3" fmla="*/ 0 h 51"/>
                    <a:gd name="T4" fmla="*/ 0 w 59"/>
                    <a:gd name="T5" fmla="*/ 39 h 51"/>
                    <a:gd name="T6" fmla="*/ 33 w 59"/>
                    <a:gd name="T7" fmla="*/ 39 h 51"/>
                    <a:gd name="T8" fmla="*/ 0 w 59"/>
                    <a:gd name="T9" fmla="*/ 0 h 5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9" h="51">
                      <a:moveTo>
                        <a:pt x="0" y="0"/>
                      </a:moveTo>
                      <a:lnTo>
                        <a:pt x="58" y="0"/>
                      </a:lnTo>
                      <a:lnTo>
                        <a:pt x="0" y="50"/>
                      </a:lnTo>
                      <a:lnTo>
                        <a:pt x="58" y="50"/>
                      </a:lnTo>
                      <a:lnTo>
                        <a:pt x="0" y="0"/>
                      </a:lnTo>
                    </a:path>
                  </a:pathLst>
                </a:custGeom>
                <a:solidFill>
                  <a:srgbClr val="063DE8"/>
                </a:solidFill>
                <a:ln w="12700" cap="rnd" cmpd="sng">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8967" name="Line 157"/>
                <p:cNvSpPr>
                  <a:spLocks noChangeShapeType="1"/>
                </p:cNvSpPr>
                <p:nvPr/>
              </p:nvSpPr>
              <p:spPr bwMode="auto">
                <a:xfrm>
                  <a:off x="799" y="1581"/>
                  <a:ext cx="47" cy="0"/>
                </a:xfrm>
                <a:prstGeom prst="line">
                  <a:avLst/>
                </a:prstGeom>
                <a:noFill/>
                <a:ln w="127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968" name="Oval 158"/>
                <p:cNvSpPr>
                  <a:spLocks noChangeArrowheads="1"/>
                </p:cNvSpPr>
                <p:nvPr/>
              </p:nvSpPr>
              <p:spPr bwMode="auto">
                <a:xfrm>
                  <a:off x="853" y="1559"/>
                  <a:ext cx="47" cy="40"/>
                </a:xfrm>
                <a:prstGeom prst="ellipse">
                  <a:avLst/>
                </a:prstGeom>
                <a:solidFill>
                  <a:schemeClr val="accent2"/>
                </a:soli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969" name="AutoShape 159"/>
                <p:cNvSpPr>
                  <a:spLocks noChangeArrowheads="1"/>
                </p:cNvSpPr>
                <p:nvPr/>
              </p:nvSpPr>
              <p:spPr bwMode="auto">
                <a:xfrm>
                  <a:off x="704" y="1283"/>
                  <a:ext cx="196" cy="148"/>
                </a:xfrm>
                <a:prstGeom prst="star16">
                  <a:avLst>
                    <a:gd name="adj" fmla="val 37500"/>
                  </a:avLst>
                </a:prstGeom>
                <a:solidFill>
                  <a:schemeClr val="tx1"/>
                </a:soli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970" name="Line 160"/>
                <p:cNvSpPr>
                  <a:spLocks noChangeShapeType="1"/>
                </p:cNvSpPr>
                <p:nvPr/>
              </p:nvSpPr>
              <p:spPr bwMode="auto">
                <a:xfrm>
                  <a:off x="623" y="1195"/>
                  <a:ext cx="101" cy="0"/>
                </a:xfrm>
                <a:prstGeom prst="line">
                  <a:avLst/>
                </a:prstGeom>
                <a:noFill/>
                <a:ln w="127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971" name="Line 161"/>
                <p:cNvSpPr>
                  <a:spLocks noChangeShapeType="1"/>
                </p:cNvSpPr>
                <p:nvPr/>
              </p:nvSpPr>
              <p:spPr bwMode="auto">
                <a:xfrm flipH="1">
                  <a:off x="913" y="1315"/>
                  <a:ext cx="115" cy="0"/>
                </a:xfrm>
                <a:prstGeom prst="line">
                  <a:avLst/>
                </a:prstGeom>
                <a:noFill/>
                <a:ln w="127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972" name="Line 162"/>
                <p:cNvSpPr>
                  <a:spLocks noChangeShapeType="1"/>
                </p:cNvSpPr>
                <p:nvPr/>
              </p:nvSpPr>
              <p:spPr bwMode="auto">
                <a:xfrm>
                  <a:off x="1185" y="1573"/>
                  <a:ext cx="0" cy="51"/>
                </a:xfrm>
                <a:prstGeom prst="line">
                  <a:avLst/>
                </a:prstGeom>
                <a:noFill/>
                <a:ln w="127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973" name="Oval 163"/>
                <p:cNvSpPr>
                  <a:spLocks noChangeArrowheads="1"/>
                </p:cNvSpPr>
                <p:nvPr/>
              </p:nvSpPr>
              <p:spPr bwMode="auto">
                <a:xfrm>
                  <a:off x="735" y="1304"/>
                  <a:ext cx="135" cy="100"/>
                </a:xfrm>
                <a:prstGeom prst="ellipse">
                  <a:avLst/>
                </a:prstGeom>
                <a:solidFill>
                  <a:schemeClr val="hlink"/>
                </a:soli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nvGrpSpPr>
                <p:cNvPr id="158974" name="Group 164"/>
                <p:cNvGrpSpPr>
                  <a:grpSpLocks/>
                </p:cNvGrpSpPr>
                <p:nvPr/>
              </p:nvGrpSpPr>
              <p:grpSpPr bwMode="auto">
                <a:xfrm>
                  <a:off x="1364" y="1542"/>
                  <a:ext cx="93" cy="97"/>
                  <a:chOff x="1574" y="1924"/>
                  <a:chExt cx="102" cy="102"/>
                </a:xfrm>
              </p:grpSpPr>
              <p:sp>
                <p:nvSpPr>
                  <p:cNvPr id="158981" name="Oval 165"/>
                  <p:cNvSpPr>
                    <a:spLocks noChangeArrowheads="1"/>
                  </p:cNvSpPr>
                  <p:nvPr/>
                </p:nvSpPr>
                <p:spPr bwMode="auto">
                  <a:xfrm>
                    <a:off x="1574" y="1924"/>
                    <a:ext cx="102" cy="102"/>
                  </a:xfrm>
                  <a:prstGeom prst="ellipse">
                    <a:avLst/>
                  </a:prstGeom>
                  <a:solidFill>
                    <a:srgbClr val="00279F"/>
                  </a:soli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982" name="AutoShape 166"/>
                  <p:cNvSpPr>
                    <a:spLocks noChangeArrowheads="1"/>
                  </p:cNvSpPr>
                  <p:nvPr/>
                </p:nvSpPr>
                <p:spPr bwMode="auto">
                  <a:xfrm rot="5400000">
                    <a:off x="1599" y="1937"/>
                    <a:ext cx="78" cy="76"/>
                  </a:xfrm>
                  <a:prstGeom prst="triangle">
                    <a:avLst>
                      <a:gd name="adj" fmla="val 49995"/>
                    </a:avLst>
                  </a:prstGeom>
                  <a:solidFill>
                    <a:schemeClr val="hlink"/>
                  </a:soli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sp>
              <p:nvSpPr>
                <p:cNvPr id="158975" name="Line 167"/>
                <p:cNvSpPr>
                  <a:spLocks noChangeShapeType="1"/>
                </p:cNvSpPr>
                <p:nvPr/>
              </p:nvSpPr>
              <p:spPr bwMode="auto">
                <a:xfrm>
                  <a:off x="1469" y="1598"/>
                  <a:ext cx="384" cy="0"/>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976" name="Line 168"/>
                <p:cNvSpPr>
                  <a:spLocks noChangeShapeType="1"/>
                </p:cNvSpPr>
                <p:nvPr/>
              </p:nvSpPr>
              <p:spPr bwMode="auto">
                <a:xfrm>
                  <a:off x="665" y="1001"/>
                  <a:ext cx="0" cy="187"/>
                </a:xfrm>
                <a:prstGeom prst="line">
                  <a:avLst/>
                </a:prstGeom>
                <a:noFill/>
                <a:ln w="254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977" name="Line 169"/>
                <p:cNvSpPr>
                  <a:spLocks noChangeShapeType="1"/>
                </p:cNvSpPr>
                <p:nvPr/>
              </p:nvSpPr>
              <p:spPr bwMode="auto">
                <a:xfrm flipH="1">
                  <a:off x="214" y="993"/>
                  <a:ext cx="458" cy="0"/>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978" name="Rectangle 170"/>
                <p:cNvSpPr>
                  <a:spLocks noChangeArrowheads="1"/>
                </p:cNvSpPr>
                <p:nvPr/>
              </p:nvSpPr>
              <p:spPr bwMode="auto">
                <a:xfrm>
                  <a:off x="0" y="831"/>
                  <a:ext cx="991" cy="103"/>
                </a:xfrm>
                <a:prstGeom prst="rect">
                  <a:avLst/>
                </a:prstGeom>
                <a:noFill/>
                <a:ln>
                  <a:noFill/>
                </a:ln>
                <a:effectLst/>
                <a:extLst>
                  <a:ext uri="{909E8E84-426E-40DD-AFC4-6F175D3DCCD1}">
                    <a14:hiddenFill xmlns:a14="http://schemas.microsoft.com/office/drawing/2010/main">
                      <a:solidFill>
                        <a:srgbClr val="EAEC5E"/>
                      </a:solidFill>
                    </a14:hiddenFill>
                  </a:ext>
                  <a:ext uri="{91240B29-F687-4F45-9708-019B960494DF}">
                    <a14:hiddenLine xmlns:a14="http://schemas.microsoft.com/office/drawing/2010/main" w="127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65000"/>
                    </a:lnSpc>
                    <a:spcBef>
                      <a:spcPct val="0"/>
                    </a:spcBef>
                    <a:buFontTx/>
                    <a:buNone/>
                  </a:pPr>
                  <a:r>
                    <a:rPr lang="en-US" altLang="en-US" sz="1000" b="1">
                      <a:solidFill>
                        <a:srgbClr val="0000FF"/>
                      </a:solidFill>
                      <a:latin typeface="Tahoma" panose="020B0604030504040204" pitchFamily="34" charset="0"/>
                      <a:cs typeface="Angsana New" panose="02020603050405020304" pitchFamily="18" charset="-34"/>
                    </a:rPr>
                    <a:t>CHIP EUCALYPTUS</a:t>
                  </a:r>
                </a:p>
              </p:txBody>
            </p:sp>
            <p:sp>
              <p:nvSpPr>
                <p:cNvPr id="158979" name="Rectangle 171"/>
                <p:cNvSpPr>
                  <a:spLocks noChangeArrowheads="1"/>
                </p:cNvSpPr>
                <p:nvPr/>
              </p:nvSpPr>
              <p:spPr bwMode="auto">
                <a:xfrm>
                  <a:off x="818" y="1051"/>
                  <a:ext cx="992" cy="103"/>
                </a:xfrm>
                <a:prstGeom prst="rect">
                  <a:avLst/>
                </a:prstGeom>
                <a:noFill/>
                <a:ln>
                  <a:noFill/>
                </a:ln>
                <a:effectLst/>
                <a:extLst>
                  <a:ext uri="{909E8E84-426E-40DD-AFC4-6F175D3DCCD1}">
                    <a14:hiddenFill xmlns:a14="http://schemas.microsoft.com/office/drawing/2010/main">
                      <a:solidFill>
                        <a:srgbClr val="EAEC5E"/>
                      </a:solidFill>
                    </a14:hiddenFill>
                  </a:ext>
                  <a:ext uri="{91240B29-F687-4F45-9708-019B960494DF}">
                    <a14:hiddenLine xmlns:a14="http://schemas.microsoft.com/office/drawing/2010/main" w="127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65000"/>
                    </a:lnSpc>
                    <a:spcBef>
                      <a:spcPct val="0"/>
                    </a:spcBef>
                    <a:buFontTx/>
                    <a:buNone/>
                  </a:pPr>
                  <a:r>
                    <a:rPr lang="en-US" altLang="en-US" sz="1000" b="1">
                      <a:solidFill>
                        <a:srgbClr val="0000FF"/>
                      </a:solidFill>
                      <a:latin typeface="Tahoma" panose="020B0604030504040204" pitchFamily="34" charset="0"/>
                      <a:cs typeface="Angsana New" panose="02020603050405020304" pitchFamily="18" charset="-34"/>
                    </a:rPr>
                    <a:t>SCRAP SEPARATOR</a:t>
                  </a:r>
                </a:p>
              </p:txBody>
            </p:sp>
            <p:sp>
              <p:nvSpPr>
                <p:cNvPr id="158980" name="Line 172"/>
                <p:cNvSpPr>
                  <a:spLocks noChangeShapeType="1"/>
                </p:cNvSpPr>
                <p:nvPr/>
              </p:nvSpPr>
              <p:spPr bwMode="auto">
                <a:xfrm flipV="1">
                  <a:off x="1860" y="986"/>
                  <a:ext cx="0" cy="621"/>
                </a:xfrm>
                <a:prstGeom prst="line">
                  <a:avLst/>
                </a:prstGeom>
                <a:noFill/>
                <a:ln w="254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58928" name="Group 173"/>
              <p:cNvGrpSpPr>
                <a:grpSpLocks/>
              </p:cNvGrpSpPr>
              <p:nvPr/>
            </p:nvGrpSpPr>
            <p:grpSpPr bwMode="auto">
              <a:xfrm>
                <a:off x="1695" y="663"/>
                <a:ext cx="886" cy="612"/>
                <a:chOff x="1695" y="663"/>
                <a:chExt cx="886" cy="612"/>
              </a:xfrm>
            </p:grpSpPr>
            <p:sp>
              <p:nvSpPr>
                <p:cNvPr id="158929" name="Rectangle 174"/>
                <p:cNvSpPr>
                  <a:spLocks noChangeArrowheads="1"/>
                </p:cNvSpPr>
                <p:nvPr/>
              </p:nvSpPr>
              <p:spPr bwMode="auto">
                <a:xfrm>
                  <a:off x="1695" y="663"/>
                  <a:ext cx="886" cy="103"/>
                </a:xfrm>
                <a:prstGeom prst="rect">
                  <a:avLst/>
                </a:prstGeom>
                <a:noFill/>
                <a:ln>
                  <a:noFill/>
                </a:ln>
                <a:effectLst/>
                <a:extLst>
                  <a:ext uri="{909E8E84-426E-40DD-AFC4-6F175D3DCCD1}">
                    <a14:hiddenFill xmlns:a14="http://schemas.microsoft.com/office/drawing/2010/main">
                      <a:solidFill>
                        <a:srgbClr val="EAEC5E"/>
                      </a:solidFill>
                    </a14:hiddenFill>
                  </a:ext>
                  <a:ext uri="{91240B29-F687-4F45-9708-019B960494DF}">
                    <a14:hiddenLine xmlns:a14="http://schemas.microsoft.com/office/drawing/2010/main" w="127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65000"/>
                    </a:lnSpc>
                    <a:spcBef>
                      <a:spcPct val="0"/>
                    </a:spcBef>
                    <a:buFontTx/>
                    <a:buNone/>
                  </a:pPr>
                  <a:r>
                    <a:rPr lang="en-US" altLang="en-US" sz="1000" b="1">
                      <a:solidFill>
                        <a:srgbClr val="0000FF"/>
                      </a:solidFill>
                      <a:latin typeface="Tahoma" panose="020B0604030504040204" pitchFamily="34" charset="0"/>
                      <a:cs typeface="Angsana New" panose="02020603050405020304" pitchFamily="18" charset="-34"/>
                    </a:rPr>
                    <a:t>SCREW DRAINER</a:t>
                  </a:r>
                </a:p>
              </p:txBody>
            </p:sp>
            <p:grpSp>
              <p:nvGrpSpPr>
                <p:cNvPr id="158930" name="Group 175"/>
                <p:cNvGrpSpPr>
                  <a:grpSpLocks/>
                </p:cNvGrpSpPr>
                <p:nvPr/>
              </p:nvGrpSpPr>
              <p:grpSpPr bwMode="auto">
                <a:xfrm>
                  <a:off x="1854" y="825"/>
                  <a:ext cx="709" cy="450"/>
                  <a:chOff x="2043" y="1266"/>
                  <a:chExt cx="763" cy="458"/>
                </a:xfrm>
              </p:grpSpPr>
              <p:grpSp>
                <p:nvGrpSpPr>
                  <p:cNvPr id="158931" name="Group 176"/>
                  <p:cNvGrpSpPr>
                    <a:grpSpLocks/>
                  </p:cNvGrpSpPr>
                  <p:nvPr/>
                </p:nvGrpSpPr>
                <p:grpSpPr bwMode="auto">
                  <a:xfrm>
                    <a:off x="2043" y="1266"/>
                    <a:ext cx="763" cy="289"/>
                    <a:chOff x="2105" y="1174"/>
                    <a:chExt cx="768" cy="298"/>
                  </a:xfrm>
                </p:grpSpPr>
                <p:sp>
                  <p:nvSpPr>
                    <p:cNvPr id="158944" name="Freeform 177"/>
                    <p:cNvSpPr>
                      <a:spLocks/>
                    </p:cNvSpPr>
                    <p:nvPr/>
                  </p:nvSpPr>
                  <p:spPr bwMode="auto">
                    <a:xfrm>
                      <a:off x="2105" y="1174"/>
                      <a:ext cx="768" cy="298"/>
                    </a:xfrm>
                    <a:custGeom>
                      <a:avLst/>
                      <a:gdLst>
                        <a:gd name="T0" fmla="*/ 295 w 768"/>
                        <a:gd name="T1" fmla="*/ 117 h 298"/>
                        <a:gd name="T2" fmla="*/ 698 w 768"/>
                        <a:gd name="T3" fmla="*/ 0 h 298"/>
                        <a:gd name="T4" fmla="*/ 767 w 768"/>
                        <a:gd name="T5" fmla="*/ 64 h 298"/>
                        <a:gd name="T6" fmla="*/ 767 w 768"/>
                        <a:gd name="T7" fmla="*/ 106 h 298"/>
                        <a:gd name="T8" fmla="*/ 679 w 768"/>
                        <a:gd name="T9" fmla="*/ 106 h 298"/>
                        <a:gd name="T10" fmla="*/ 679 w 768"/>
                        <a:gd name="T11" fmla="*/ 90 h 298"/>
                        <a:gd name="T12" fmla="*/ 354 w 768"/>
                        <a:gd name="T13" fmla="*/ 186 h 298"/>
                        <a:gd name="T14" fmla="*/ 236 w 768"/>
                        <a:gd name="T15" fmla="*/ 297 h 298"/>
                        <a:gd name="T16" fmla="*/ 177 w 768"/>
                        <a:gd name="T17" fmla="*/ 297 h 298"/>
                        <a:gd name="T18" fmla="*/ 69 w 768"/>
                        <a:gd name="T19" fmla="*/ 180 h 298"/>
                        <a:gd name="T20" fmla="*/ 69 w 768"/>
                        <a:gd name="T21" fmla="*/ 170 h 298"/>
                        <a:gd name="T22" fmla="*/ 49 w 768"/>
                        <a:gd name="T23" fmla="*/ 170 h 298"/>
                        <a:gd name="T24" fmla="*/ 30 w 768"/>
                        <a:gd name="T25" fmla="*/ 191 h 298"/>
                        <a:gd name="T26" fmla="*/ 0 w 768"/>
                        <a:gd name="T27" fmla="*/ 191 h 298"/>
                        <a:gd name="T28" fmla="*/ 0 w 768"/>
                        <a:gd name="T29" fmla="*/ 122 h 298"/>
                        <a:gd name="T30" fmla="*/ 0 w 768"/>
                        <a:gd name="T31" fmla="*/ 117 h 298"/>
                        <a:gd name="T32" fmla="*/ 295 w 768"/>
                        <a:gd name="T33" fmla="*/ 117 h 29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768" h="298">
                          <a:moveTo>
                            <a:pt x="295" y="117"/>
                          </a:moveTo>
                          <a:lnTo>
                            <a:pt x="698" y="0"/>
                          </a:lnTo>
                          <a:lnTo>
                            <a:pt x="767" y="64"/>
                          </a:lnTo>
                          <a:lnTo>
                            <a:pt x="767" y="106"/>
                          </a:lnTo>
                          <a:lnTo>
                            <a:pt x="679" y="106"/>
                          </a:lnTo>
                          <a:lnTo>
                            <a:pt x="679" y="90"/>
                          </a:lnTo>
                          <a:lnTo>
                            <a:pt x="354" y="186"/>
                          </a:lnTo>
                          <a:lnTo>
                            <a:pt x="236" y="297"/>
                          </a:lnTo>
                          <a:lnTo>
                            <a:pt x="177" y="297"/>
                          </a:lnTo>
                          <a:lnTo>
                            <a:pt x="69" y="180"/>
                          </a:lnTo>
                          <a:lnTo>
                            <a:pt x="69" y="170"/>
                          </a:lnTo>
                          <a:lnTo>
                            <a:pt x="49" y="170"/>
                          </a:lnTo>
                          <a:lnTo>
                            <a:pt x="30" y="191"/>
                          </a:lnTo>
                          <a:lnTo>
                            <a:pt x="0" y="191"/>
                          </a:lnTo>
                          <a:lnTo>
                            <a:pt x="0" y="122"/>
                          </a:lnTo>
                          <a:lnTo>
                            <a:pt x="0" y="117"/>
                          </a:lnTo>
                          <a:lnTo>
                            <a:pt x="295" y="117"/>
                          </a:lnTo>
                        </a:path>
                      </a:pathLst>
                    </a:custGeom>
                    <a:gradFill rotWithShape="0">
                      <a:gsLst>
                        <a:gs pos="0">
                          <a:srgbClr val="021245"/>
                        </a:gs>
                        <a:gs pos="50000">
                          <a:srgbClr val="063DE8"/>
                        </a:gs>
                        <a:gs pos="100000">
                          <a:srgbClr val="021245"/>
                        </a:gs>
                      </a:gsLst>
                      <a:lin ang="0" scaled="1"/>
                    </a:gradFill>
                    <a:ln w="12700" cap="rnd" cmpd="sng">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158945" name="Group 178"/>
                    <p:cNvGrpSpPr>
                      <a:grpSpLocks/>
                    </p:cNvGrpSpPr>
                    <p:nvPr/>
                  </p:nvGrpSpPr>
                  <p:grpSpPr bwMode="auto">
                    <a:xfrm>
                      <a:off x="2433" y="1202"/>
                      <a:ext cx="366" cy="151"/>
                      <a:chOff x="2433" y="1202"/>
                      <a:chExt cx="366" cy="151"/>
                    </a:xfrm>
                  </p:grpSpPr>
                  <p:sp>
                    <p:nvSpPr>
                      <p:cNvPr id="158946" name="Line 179"/>
                      <p:cNvSpPr>
                        <a:spLocks noChangeShapeType="1"/>
                      </p:cNvSpPr>
                      <p:nvPr/>
                    </p:nvSpPr>
                    <p:spPr bwMode="auto">
                      <a:xfrm flipV="1">
                        <a:off x="2433" y="1212"/>
                        <a:ext cx="366" cy="120"/>
                      </a:xfrm>
                      <a:prstGeom prst="line">
                        <a:avLst/>
                      </a:prstGeom>
                      <a:noFill/>
                      <a:ln w="127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158947" name="Group 180"/>
                      <p:cNvGrpSpPr>
                        <a:grpSpLocks/>
                      </p:cNvGrpSpPr>
                      <p:nvPr/>
                    </p:nvGrpSpPr>
                    <p:grpSpPr bwMode="auto">
                      <a:xfrm>
                        <a:off x="2449" y="1202"/>
                        <a:ext cx="350" cy="151"/>
                        <a:chOff x="2449" y="1202"/>
                        <a:chExt cx="350" cy="151"/>
                      </a:xfrm>
                    </p:grpSpPr>
                    <p:grpSp>
                      <p:nvGrpSpPr>
                        <p:cNvPr id="158948" name="Group 181"/>
                        <p:cNvGrpSpPr>
                          <a:grpSpLocks/>
                        </p:cNvGrpSpPr>
                        <p:nvPr/>
                      </p:nvGrpSpPr>
                      <p:grpSpPr bwMode="auto">
                        <a:xfrm>
                          <a:off x="2449" y="1260"/>
                          <a:ext cx="173" cy="93"/>
                          <a:chOff x="2449" y="1260"/>
                          <a:chExt cx="173" cy="93"/>
                        </a:xfrm>
                      </p:grpSpPr>
                      <p:sp>
                        <p:nvSpPr>
                          <p:cNvPr id="158953" name="Line 182"/>
                          <p:cNvSpPr>
                            <a:spLocks noChangeShapeType="1"/>
                          </p:cNvSpPr>
                          <p:nvPr/>
                        </p:nvSpPr>
                        <p:spPr bwMode="auto">
                          <a:xfrm flipV="1">
                            <a:off x="2449" y="1286"/>
                            <a:ext cx="0" cy="67"/>
                          </a:xfrm>
                          <a:prstGeom prst="line">
                            <a:avLst/>
                          </a:prstGeom>
                          <a:noFill/>
                          <a:ln w="127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954" name="Line 183"/>
                          <p:cNvSpPr>
                            <a:spLocks noChangeShapeType="1"/>
                          </p:cNvSpPr>
                          <p:nvPr/>
                        </p:nvSpPr>
                        <p:spPr bwMode="auto">
                          <a:xfrm>
                            <a:off x="2453" y="1294"/>
                            <a:ext cx="91" cy="25"/>
                          </a:xfrm>
                          <a:prstGeom prst="line">
                            <a:avLst/>
                          </a:prstGeom>
                          <a:noFill/>
                          <a:ln w="127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955" name="Line 184"/>
                          <p:cNvSpPr>
                            <a:spLocks noChangeShapeType="1"/>
                          </p:cNvSpPr>
                          <p:nvPr/>
                        </p:nvSpPr>
                        <p:spPr bwMode="auto">
                          <a:xfrm flipV="1">
                            <a:off x="2548" y="1260"/>
                            <a:ext cx="0" cy="67"/>
                          </a:xfrm>
                          <a:prstGeom prst="line">
                            <a:avLst/>
                          </a:prstGeom>
                          <a:noFill/>
                          <a:ln w="127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956" name="Line 185"/>
                          <p:cNvSpPr>
                            <a:spLocks noChangeShapeType="1"/>
                          </p:cNvSpPr>
                          <p:nvPr/>
                        </p:nvSpPr>
                        <p:spPr bwMode="auto">
                          <a:xfrm>
                            <a:off x="2552" y="1268"/>
                            <a:ext cx="70" cy="25"/>
                          </a:xfrm>
                          <a:prstGeom prst="line">
                            <a:avLst/>
                          </a:prstGeom>
                          <a:noFill/>
                          <a:ln w="127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158949" name="Line 186"/>
                        <p:cNvSpPr>
                          <a:spLocks noChangeShapeType="1"/>
                        </p:cNvSpPr>
                        <p:nvPr/>
                      </p:nvSpPr>
                      <p:spPr bwMode="auto">
                        <a:xfrm flipV="1">
                          <a:off x="2626" y="1229"/>
                          <a:ext cx="0" cy="65"/>
                        </a:xfrm>
                        <a:prstGeom prst="line">
                          <a:avLst/>
                        </a:prstGeom>
                        <a:noFill/>
                        <a:ln w="127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950" name="Line 187"/>
                        <p:cNvSpPr>
                          <a:spLocks noChangeShapeType="1"/>
                        </p:cNvSpPr>
                        <p:nvPr/>
                      </p:nvSpPr>
                      <p:spPr bwMode="auto">
                        <a:xfrm>
                          <a:off x="2630" y="1237"/>
                          <a:ext cx="90" cy="23"/>
                        </a:xfrm>
                        <a:prstGeom prst="line">
                          <a:avLst/>
                        </a:prstGeom>
                        <a:noFill/>
                        <a:ln w="127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951" name="Line 188"/>
                        <p:cNvSpPr>
                          <a:spLocks noChangeShapeType="1"/>
                        </p:cNvSpPr>
                        <p:nvPr/>
                      </p:nvSpPr>
                      <p:spPr bwMode="auto">
                        <a:xfrm flipV="1">
                          <a:off x="2724" y="1202"/>
                          <a:ext cx="0" cy="66"/>
                        </a:xfrm>
                        <a:prstGeom prst="line">
                          <a:avLst/>
                        </a:prstGeom>
                        <a:noFill/>
                        <a:ln w="127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952" name="Line 189"/>
                        <p:cNvSpPr>
                          <a:spLocks noChangeShapeType="1"/>
                        </p:cNvSpPr>
                        <p:nvPr/>
                      </p:nvSpPr>
                      <p:spPr bwMode="auto">
                        <a:xfrm>
                          <a:off x="2728" y="1210"/>
                          <a:ext cx="71" cy="23"/>
                        </a:xfrm>
                        <a:prstGeom prst="line">
                          <a:avLst/>
                        </a:prstGeom>
                        <a:noFill/>
                        <a:ln w="127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sp>
                <p:nvSpPr>
                  <p:cNvPr id="158932" name="Freeform 190"/>
                  <p:cNvSpPr>
                    <a:spLocks/>
                  </p:cNvSpPr>
                  <p:nvPr/>
                </p:nvSpPr>
                <p:spPr bwMode="auto">
                  <a:xfrm>
                    <a:off x="2210" y="1554"/>
                    <a:ext cx="88" cy="47"/>
                  </a:xfrm>
                  <a:custGeom>
                    <a:avLst/>
                    <a:gdLst>
                      <a:gd name="T0" fmla="*/ 10 w 89"/>
                      <a:gd name="T1" fmla="*/ 0 h 48"/>
                      <a:gd name="T2" fmla="*/ 77 w 89"/>
                      <a:gd name="T3" fmla="*/ 0 h 48"/>
                      <a:gd name="T4" fmla="*/ 0 w 89"/>
                      <a:gd name="T5" fmla="*/ 36 h 48"/>
                      <a:gd name="T6" fmla="*/ 67 w 89"/>
                      <a:gd name="T7" fmla="*/ 36 h 48"/>
                      <a:gd name="T8" fmla="*/ 77 w 89"/>
                      <a:gd name="T9" fmla="*/ 36 h 48"/>
                      <a:gd name="T10" fmla="*/ 10 w 89"/>
                      <a:gd name="T11" fmla="*/ 0 h 4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9" h="48">
                        <a:moveTo>
                          <a:pt x="10" y="0"/>
                        </a:moveTo>
                        <a:lnTo>
                          <a:pt x="88" y="0"/>
                        </a:lnTo>
                        <a:lnTo>
                          <a:pt x="0" y="47"/>
                        </a:lnTo>
                        <a:lnTo>
                          <a:pt x="78" y="47"/>
                        </a:lnTo>
                        <a:lnTo>
                          <a:pt x="88" y="47"/>
                        </a:lnTo>
                        <a:lnTo>
                          <a:pt x="10" y="0"/>
                        </a:lnTo>
                      </a:path>
                    </a:pathLst>
                  </a:custGeom>
                  <a:solidFill>
                    <a:srgbClr val="063DE8"/>
                  </a:solidFill>
                  <a:ln w="12700" cap="rnd" cmpd="sng">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8933" name="Freeform 191"/>
                  <p:cNvSpPr>
                    <a:spLocks/>
                  </p:cNvSpPr>
                  <p:nvPr/>
                </p:nvSpPr>
                <p:spPr bwMode="auto">
                  <a:xfrm>
                    <a:off x="2210" y="1678"/>
                    <a:ext cx="88" cy="46"/>
                  </a:xfrm>
                  <a:custGeom>
                    <a:avLst/>
                    <a:gdLst>
                      <a:gd name="T0" fmla="*/ 10 w 89"/>
                      <a:gd name="T1" fmla="*/ 30 h 48"/>
                      <a:gd name="T2" fmla="*/ 77 w 89"/>
                      <a:gd name="T3" fmla="*/ 30 h 48"/>
                      <a:gd name="T4" fmla="*/ 0 w 89"/>
                      <a:gd name="T5" fmla="*/ 0 h 48"/>
                      <a:gd name="T6" fmla="*/ 67 w 89"/>
                      <a:gd name="T7" fmla="*/ 0 h 48"/>
                      <a:gd name="T8" fmla="*/ 77 w 89"/>
                      <a:gd name="T9" fmla="*/ 0 h 48"/>
                      <a:gd name="T10" fmla="*/ 10 w 89"/>
                      <a:gd name="T11" fmla="*/ 30 h 4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9" h="48">
                        <a:moveTo>
                          <a:pt x="10" y="47"/>
                        </a:moveTo>
                        <a:lnTo>
                          <a:pt x="88" y="47"/>
                        </a:lnTo>
                        <a:lnTo>
                          <a:pt x="0" y="0"/>
                        </a:lnTo>
                        <a:lnTo>
                          <a:pt x="78" y="0"/>
                        </a:lnTo>
                        <a:lnTo>
                          <a:pt x="88" y="0"/>
                        </a:lnTo>
                        <a:lnTo>
                          <a:pt x="10" y="47"/>
                        </a:lnTo>
                      </a:path>
                    </a:pathLst>
                  </a:custGeom>
                  <a:solidFill>
                    <a:srgbClr val="063DE8"/>
                  </a:solidFill>
                  <a:ln w="12700" cap="rnd" cmpd="sng">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8934" name="Rectangle 192"/>
                  <p:cNvSpPr>
                    <a:spLocks noChangeArrowheads="1"/>
                  </p:cNvSpPr>
                  <p:nvPr/>
                </p:nvSpPr>
                <p:spPr bwMode="auto">
                  <a:xfrm>
                    <a:off x="2218" y="1604"/>
                    <a:ext cx="70" cy="70"/>
                  </a:xfrm>
                  <a:prstGeom prst="rect">
                    <a:avLst/>
                  </a:prstGeom>
                  <a:solidFill>
                    <a:srgbClr val="063DE8"/>
                  </a:soli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935" name="Line 193"/>
                  <p:cNvSpPr>
                    <a:spLocks noChangeShapeType="1"/>
                  </p:cNvSpPr>
                  <p:nvPr/>
                </p:nvSpPr>
                <p:spPr bwMode="auto">
                  <a:xfrm>
                    <a:off x="2261" y="1574"/>
                    <a:ext cx="80" cy="0"/>
                  </a:xfrm>
                  <a:prstGeom prst="line">
                    <a:avLst/>
                  </a:prstGeom>
                  <a:noFill/>
                  <a:ln w="127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936" name="Line 194"/>
                  <p:cNvSpPr>
                    <a:spLocks noChangeShapeType="1"/>
                  </p:cNvSpPr>
                  <p:nvPr/>
                </p:nvSpPr>
                <p:spPr bwMode="auto">
                  <a:xfrm>
                    <a:off x="2261" y="1702"/>
                    <a:ext cx="80" cy="0"/>
                  </a:xfrm>
                  <a:prstGeom prst="line">
                    <a:avLst/>
                  </a:prstGeom>
                  <a:noFill/>
                  <a:ln w="127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937" name="Oval 195"/>
                  <p:cNvSpPr>
                    <a:spLocks noChangeArrowheads="1"/>
                  </p:cNvSpPr>
                  <p:nvPr/>
                </p:nvSpPr>
                <p:spPr bwMode="auto">
                  <a:xfrm>
                    <a:off x="2349" y="1553"/>
                    <a:ext cx="80" cy="37"/>
                  </a:xfrm>
                  <a:prstGeom prst="ellipse">
                    <a:avLst/>
                  </a:prstGeom>
                  <a:solidFill>
                    <a:schemeClr val="accent2"/>
                  </a:soli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938" name="Oval 196"/>
                  <p:cNvSpPr>
                    <a:spLocks noChangeArrowheads="1"/>
                  </p:cNvSpPr>
                  <p:nvPr/>
                </p:nvSpPr>
                <p:spPr bwMode="auto">
                  <a:xfrm>
                    <a:off x="2349" y="1682"/>
                    <a:ext cx="80" cy="37"/>
                  </a:xfrm>
                  <a:prstGeom prst="ellipse">
                    <a:avLst/>
                  </a:prstGeom>
                  <a:solidFill>
                    <a:schemeClr val="accent2"/>
                  </a:soli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939" name="Freeform 197"/>
                  <p:cNvSpPr>
                    <a:spLocks/>
                  </p:cNvSpPr>
                  <p:nvPr/>
                </p:nvSpPr>
                <p:spPr bwMode="auto">
                  <a:xfrm>
                    <a:off x="2210" y="1554"/>
                    <a:ext cx="88" cy="47"/>
                  </a:xfrm>
                  <a:custGeom>
                    <a:avLst/>
                    <a:gdLst>
                      <a:gd name="T0" fmla="*/ 10 w 89"/>
                      <a:gd name="T1" fmla="*/ 0 h 48"/>
                      <a:gd name="T2" fmla="*/ 77 w 89"/>
                      <a:gd name="T3" fmla="*/ 0 h 48"/>
                      <a:gd name="T4" fmla="*/ 0 w 89"/>
                      <a:gd name="T5" fmla="*/ 36 h 48"/>
                      <a:gd name="T6" fmla="*/ 67 w 89"/>
                      <a:gd name="T7" fmla="*/ 36 h 48"/>
                      <a:gd name="T8" fmla="*/ 77 w 89"/>
                      <a:gd name="T9" fmla="*/ 36 h 48"/>
                      <a:gd name="T10" fmla="*/ 10 w 89"/>
                      <a:gd name="T11" fmla="*/ 0 h 4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9" h="48">
                        <a:moveTo>
                          <a:pt x="10" y="0"/>
                        </a:moveTo>
                        <a:lnTo>
                          <a:pt x="88" y="0"/>
                        </a:lnTo>
                        <a:lnTo>
                          <a:pt x="0" y="47"/>
                        </a:lnTo>
                        <a:lnTo>
                          <a:pt x="78" y="47"/>
                        </a:lnTo>
                        <a:lnTo>
                          <a:pt x="88" y="47"/>
                        </a:lnTo>
                        <a:lnTo>
                          <a:pt x="10" y="0"/>
                        </a:lnTo>
                      </a:path>
                    </a:pathLst>
                  </a:custGeom>
                  <a:solidFill>
                    <a:srgbClr val="063DE8"/>
                  </a:solidFill>
                  <a:ln w="12700" cap="rnd" cmpd="sng">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8940" name="Freeform 198"/>
                  <p:cNvSpPr>
                    <a:spLocks/>
                  </p:cNvSpPr>
                  <p:nvPr/>
                </p:nvSpPr>
                <p:spPr bwMode="auto">
                  <a:xfrm>
                    <a:off x="2210" y="1678"/>
                    <a:ext cx="88" cy="46"/>
                  </a:xfrm>
                  <a:custGeom>
                    <a:avLst/>
                    <a:gdLst>
                      <a:gd name="T0" fmla="*/ 10 w 89"/>
                      <a:gd name="T1" fmla="*/ 30 h 48"/>
                      <a:gd name="T2" fmla="*/ 77 w 89"/>
                      <a:gd name="T3" fmla="*/ 30 h 48"/>
                      <a:gd name="T4" fmla="*/ 0 w 89"/>
                      <a:gd name="T5" fmla="*/ 0 h 48"/>
                      <a:gd name="T6" fmla="*/ 67 w 89"/>
                      <a:gd name="T7" fmla="*/ 0 h 48"/>
                      <a:gd name="T8" fmla="*/ 77 w 89"/>
                      <a:gd name="T9" fmla="*/ 0 h 48"/>
                      <a:gd name="T10" fmla="*/ 10 w 89"/>
                      <a:gd name="T11" fmla="*/ 30 h 4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9" h="48">
                        <a:moveTo>
                          <a:pt x="10" y="47"/>
                        </a:moveTo>
                        <a:lnTo>
                          <a:pt x="88" y="47"/>
                        </a:lnTo>
                        <a:lnTo>
                          <a:pt x="0" y="0"/>
                        </a:lnTo>
                        <a:lnTo>
                          <a:pt x="78" y="0"/>
                        </a:lnTo>
                        <a:lnTo>
                          <a:pt x="88" y="0"/>
                        </a:lnTo>
                        <a:lnTo>
                          <a:pt x="10" y="47"/>
                        </a:lnTo>
                      </a:path>
                    </a:pathLst>
                  </a:custGeom>
                  <a:solidFill>
                    <a:srgbClr val="063DE8"/>
                  </a:solidFill>
                  <a:ln w="12700" cap="rnd" cmpd="sng">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8941" name="Line 199"/>
                  <p:cNvSpPr>
                    <a:spLocks noChangeShapeType="1"/>
                  </p:cNvSpPr>
                  <p:nvPr/>
                </p:nvSpPr>
                <p:spPr bwMode="auto">
                  <a:xfrm>
                    <a:off x="2261" y="1574"/>
                    <a:ext cx="80" cy="0"/>
                  </a:xfrm>
                  <a:prstGeom prst="line">
                    <a:avLst/>
                  </a:prstGeom>
                  <a:noFill/>
                  <a:ln w="127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942" name="Line 200"/>
                  <p:cNvSpPr>
                    <a:spLocks noChangeShapeType="1"/>
                  </p:cNvSpPr>
                  <p:nvPr/>
                </p:nvSpPr>
                <p:spPr bwMode="auto">
                  <a:xfrm>
                    <a:off x="2261" y="1702"/>
                    <a:ext cx="80" cy="0"/>
                  </a:xfrm>
                  <a:prstGeom prst="line">
                    <a:avLst/>
                  </a:prstGeom>
                  <a:noFill/>
                  <a:ln w="127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943" name="Rectangle 201"/>
                  <p:cNvSpPr>
                    <a:spLocks noChangeArrowheads="1"/>
                  </p:cNvSpPr>
                  <p:nvPr/>
                </p:nvSpPr>
                <p:spPr bwMode="auto">
                  <a:xfrm>
                    <a:off x="2720" y="1361"/>
                    <a:ext cx="81" cy="107"/>
                  </a:xfrm>
                  <a:prstGeom prst="rect">
                    <a:avLst/>
                  </a:prstGeom>
                  <a:gradFill rotWithShape="0">
                    <a:gsLst>
                      <a:gs pos="0">
                        <a:srgbClr val="021245"/>
                      </a:gs>
                      <a:gs pos="50000">
                        <a:srgbClr val="063DE8"/>
                      </a:gs>
                      <a:gs pos="100000">
                        <a:srgbClr val="021245"/>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grpSp>
        </p:grpSp>
        <p:sp>
          <p:nvSpPr>
            <p:cNvPr id="158780" name="Text Box 202"/>
            <p:cNvSpPr txBox="1">
              <a:spLocks noChangeArrowheads="1"/>
            </p:cNvSpPr>
            <p:nvPr/>
          </p:nvSpPr>
          <p:spPr bwMode="auto">
            <a:xfrm>
              <a:off x="204" y="572"/>
              <a:ext cx="226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endParaRPr lang="sv-SE" altLang="en-US" sz="1600" b="1">
                <a:solidFill>
                  <a:srgbClr val="0000FF"/>
                </a:solidFill>
                <a:latin typeface="Tahoma" panose="020B0604030504040204" pitchFamily="34" charset="0"/>
                <a:cs typeface="Tahoma" panose="020B0604030504040204" pitchFamily="34" charset="0"/>
              </a:endParaRPr>
            </a:p>
          </p:txBody>
        </p:sp>
        <p:grpSp>
          <p:nvGrpSpPr>
            <p:cNvPr id="158781" name="Group 203"/>
            <p:cNvGrpSpPr>
              <a:grpSpLocks/>
            </p:cNvGrpSpPr>
            <p:nvPr/>
          </p:nvGrpSpPr>
          <p:grpSpPr bwMode="auto">
            <a:xfrm>
              <a:off x="2225" y="1420"/>
              <a:ext cx="3479" cy="1520"/>
              <a:chOff x="1978" y="1017"/>
              <a:chExt cx="3558" cy="1611"/>
            </a:xfrm>
          </p:grpSpPr>
          <p:sp>
            <p:nvSpPr>
              <p:cNvPr id="158782" name="Rectangle 204"/>
              <p:cNvSpPr>
                <a:spLocks noChangeArrowheads="1"/>
              </p:cNvSpPr>
              <p:nvPr/>
            </p:nvSpPr>
            <p:spPr bwMode="auto">
              <a:xfrm>
                <a:off x="1978" y="1717"/>
                <a:ext cx="836" cy="190"/>
              </a:xfrm>
              <a:prstGeom prst="rect">
                <a:avLst/>
              </a:prstGeom>
              <a:noFill/>
              <a:ln>
                <a:noFill/>
              </a:ln>
              <a:effectLst/>
              <a:extLst>
                <a:ext uri="{909E8E84-426E-40DD-AFC4-6F175D3DCCD1}">
                  <a14:hiddenFill xmlns:a14="http://schemas.microsoft.com/office/drawing/2010/main">
                    <a:solidFill>
                      <a:srgbClr val="EAEC5E"/>
                    </a:solidFill>
                  </a14:hiddenFill>
                </a:ext>
                <a:ext uri="{91240B29-F687-4F45-9708-019B960494DF}">
                  <a14:hiddenLine xmlns:a14="http://schemas.microsoft.com/office/drawing/2010/main" w="127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65000"/>
                  </a:lnSpc>
                  <a:spcBef>
                    <a:spcPct val="0"/>
                  </a:spcBef>
                  <a:buFontTx/>
                  <a:buNone/>
                </a:pPr>
                <a:r>
                  <a:rPr lang="en-US" altLang="en-US" sz="1000" b="1">
                    <a:solidFill>
                      <a:srgbClr val="0000FF"/>
                    </a:solidFill>
                    <a:latin typeface="Tahoma" panose="020B0604030504040204" pitchFamily="34" charset="0"/>
                    <a:cs typeface="Angsana New" panose="02020603050405020304" pitchFamily="18" charset="-34"/>
                  </a:rPr>
                  <a:t>CHIP SCREW FEEDER</a:t>
                </a:r>
              </a:p>
            </p:txBody>
          </p:sp>
          <p:grpSp>
            <p:nvGrpSpPr>
              <p:cNvPr id="158783" name="Group 205"/>
              <p:cNvGrpSpPr>
                <a:grpSpLocks/>
              </p:cNvGrpSpPr>
              <p:nvPr/>
            </p:nvGrpSpPr>
            <p:grpSpPr bwMode="auto">
              <a:xfrm>
                <a:off x="2263" y="1745"/>
                <a:ext cx="1395" cy="722"/>
                <a:chOff x="2263" y="1745"/>
                <a:chExt cx="1395" cy="722"/>
              </a:xfrm>
            </p:grpSpPr>
            <p:sp>
              <p:nvSpPr>
                <p:cNvPr id="158876" name="Line 206"/>
                <p:cNvSpPr>
                  <a:spLocks noChangeShapeType="1"/>
                </p:cNvSpPr>
                <p:nvPr/>
              </p:nvSpPr>
              <p:spPr bwMode="auto">
                <a:xfrm flipH="1">
                  <a:off x="2477" y="2226"/>
                  <a:ext cx="1078" cy="0"/>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877" name="Line 207"/>
                <p:cNvSpPr>
                  <a:spLocks noChangeShapeType="1"/>
                </p:cNvSpPr>
                <p:nvPr/>
              </p:nvSpPr>
              <p:spPr bwMode="auto">
                <a:xfrm flipH="1">
                  <a:off x="2477" y="2460"/>
                  <a:ext cx="857" cy="0"/>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878" name="Line 208"/>
                <p:cNvSpPr>
                  <a:spLocks noChangeShapeType="1"/>
                </p:cNvSpPr>
                <p:nvPr/>
              </p:nvSpPr>
              <p:spPr bwMode="auto">
                <a:xfrm flipV="1">
                  <a:off x="2485" y="2049"/>
                  <a:ext cx="0" cy="418"/>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879" name="Rectangle 209"/>
                <p:cNvSpPr>
                  <a:spLocks noChangeArrowheads="1"/>
                </p:cNvSpPr>
                <p:nvPr/>
              </p:nvSpPr>
              <p:spPr bwMode="auto">
                <a:xfrm>
                  <a:off x="2263" y="1940"/>
                  <a:ext cx="442" cy="105"/>
                </a:xfrm>
                <a:prstGeom prst="rect">
                  <a:avLst/>
                </a:prstGeom>
                <a:noFill/>
                <a:ln>
                  <a:noFill/>
                </a:ln>
                <a:effectLst/>
                <a:extLst>
                  <a:ext uri="{909E8E84-426E-40DD-AFC4-6F175D3DCCD1}">
                    <a14:hiddenFill xmlns:a14="http://schemas.microsoft.com/office/drawing/2010/main">
                      <a:solidFill>
                        <a:srgbClr val="EAEC5E"/>
                      </a:solidFill>
                    </a14:hiddenFill>
                  </a:ext>
                  <a:ext uri="{91240B29-F687-4F45-9708-019B960494DF}">
                    <a14:hiddenLine xmlns:a14="http://schemas.microsoft.com/office/drawing/2010/main" w="127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45000"/>
                    </a:lnSpc>
                    <a:spcBef>
                      <a:spcPct val="0"/>
                    </a:spcBef>
                    <a:buFontTx/>
                    <a:buNone/>
                  </a:pPr>
                  <a:r>
                    <a:rPr lang="en-US" altLang="en-US" sz="1000" b="1">
                      <a:solidFill>
                        <a:srgbClr val="0000FF"/>
                      </a:solidFill>
                      <a:latin typeface="Tahoma" panose="020B0604030504040204" pitchFamily="34" charset="0"/>
                      <a:cs typeface="Angsana New" panose="02020603050405020304" pitchFamily="18" charset="-34"/>
                    </a:rPr>
                    <a:t>STEAM</a:t>
                  </a:r>
                </a:p>
              </p:txBody>
            </p:sp>
            <p:sp>
              <p:nvSpPr>
                <p:cNvPr id="158880" name="Rectangle 210"/>
                <p:cNvSpPr>
                  <a:spLocks noChangeArrowheads="1"/>
                </p:cNvSpPr>
                <p:nvPr/>
              </p:nvSpPr>
              <p:spPr bwMode="auto">
                <a:xfrm>
                  <a:off x="2911" y="1982"/>
                  <a:ext cx="12" cy="169"/>
                </a:xfrm>
                <a:prstGeom prst="rect">
                  <a:avLst/>
                </a:prstGeom>
                <a:gradFill rotWithShape="0">
                  <a:gsLst>
                    <a:gs pos="0">
                      <a:srgbClr val="2B2B2B"/>
                    </a:gs>
                    <a:gs pos="50000">
                      <a:srgbClr val="919191"/>
                    </a:gs>
                    <a:gs pos="100000">
                      <a:srgbClr val="2B2B2B"/>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881" name="Rectangle 211"/>
                <p:cNvSpPr>
                  <a:spLocks noChangeArrowheads="1"/>
                </p:cNvSpPr>
                <p:nvPr/>
              </p:nvSpPr>
              <p:spPr bwMode="auto">
                <a:xfrm>
                  <a:off x="2978" y="1799"/>
                  <a:ext cx="315" cy="25"/>
                </a:xfrm>
                <a:prstGeom prst="rect">
                  <a:avLst/>
                </a:prstGeom>
                <a:gradFill rotWithShape="0">
                  <a:gsLst>
                    <a:gs pos="0">
                      <a:srgbClr val="021245"/>
                    </a:gs>
                    <a:gs pos="50000">
                      <a:srgbClr val="063DE8"/>
                    </a:gs>
                    <a:gs pos="100000">
                      <a:srgbClr val="021245"/>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882" name="Line 212"/>
                <p:cNvSpPr>
                  <a:spLocks noChangeShapeType="1"/>
                </p:cNvSpPr>
                <p:nvPr/>
              </p:nvSpPr>
              <p:spPr bwMode="auto">
                <a:xfrm>
                  <a:off x="3272" y="1850"/>
                  <a:ext cx="80" cy="0"/>
                </a:xfrm>
                <a:prstGeom prst="line">
                  <a:avLst/>
                </a:prstGeom>
                <a:noFill/>
                <a:ln w="127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158883" name="Group 213"/>
                <p:cNvGrpSpPr>
                  <a:grpSpLocks/>
                </p:cNvGrpSpPr>
                <p:nvPr/>
              </p:nvGrpSpPr>
              <p:grpSpPr bwMode="auto">
                <a:xfrm>
                  <a:off x="2797" y="1745"/>
                  <a:ext cx="576" cy="69"/>
                  <a:chOff x="3122" y="2149"/>
                  <a:chExt cx="625" cy="73"/>
                </a:xfrm>
              </p:grpSpPr>
              <p:grpSp>
                <p:nvGrpSpPr>
                  <p:cNvPr id="158909" name="Group 214"/>
                  <p:cNvGrpSpPr>
                    <a:grpSpLocks/>
                  </p:cNvGrpSpPr>
                  <p:nvPr/>
                </p:nvGrpSpPr>
                <p:grpSpPr bwMode="auto">
                  <a:xfrm>
                    <a:off x="3122" y="2157"/>
                    <a:ext cx="625" cy="57"/>
                    <a:chOff x="3122" y="2157"/>
                    <a:chExt cx="625" cy="57"/>
                  </a:xfrm>
                </p:grpSpPr>
                <p:sp>
                  <p:nvSpPr>
                    <p:cNvPr id="158924" name="Rectangle 215"/>
                    <p:cNvSpPr>
                      <a:spLocks noChangeArrowheads="1"/>
                    </p:cNvSpPr>
                    <p:nvPr/>
                  </p:nvSpPr>
                  <p:spPr bwMode="auto">
                    <a:xfrm>
                      <a:off x="3122" y="2178"/>
                      <a:ext cx="62" cy="14"/>
                    </a:xfrm>
                    <a:prstGeom prst="rect">
                      <a:avLst/>
                    </a:prstGeom>
                    <a:gradFill rotWithShape="0">
                      <a:gsLst>
                        <a:gs pos="0">
                          <a:srgbClr val="021245"/>
                        </a:gs>
                        <a:gs pos="50000">
                          <a:srgbClr val="063DE8"/>
                        </a:gs>
                        <a:gs pos="100000">
                          <a:srgbClr val="021245"/>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925" name="Oval 216"/>
                    <p:cNvSpPr>
                      <a:spLocks noChangeArrowheads="1"/>
                    </p:cNvSpPr>
                    <p:nvPr/>
                  </p:nvSpPr>
                  <p:spPr bwMode="auto">
                    <a:xfrm>
                      <a:off x="3168" y="2157"/>
                      <a:ext cx="180" cy="57"/>
                    </a:xfrm>
                    <a:prstGeom prst="ellipse">
                      <a:avLst/>
                    </a:prstGeom>
                    <a:gradFill rotWithShape="0">
                      <a:gsLst>
                        <a:gs pos="0">
                          <a:srgbClr val="021245"/>
                        </a:gs>
                        <a:gs pos="50000">
                          <a:srgbClr val="063DE8"/>
                        </a:gs>
                        <a:gs pos="100000">
                          <a:srgbClr val="021245"/>
                        </a:gs>
                      </a:gsLst>
                      <a:lin ang="5400000" scaled="1"/>
                    </a:gra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926" name="Rectangle 217"/>
                    <p:cNvSpPr>
                      <a:spLocks noChangeArrowheads="1"/>
                    </p:cNvSpPr>
                    <p:nvPr/>
                  </p:nvSpPr>
                  <p:spPr bwMode="auto">
                    <a:xfrm>
                      <a:off x="3262" y="2157"/>
                      <a:ext cx="485" cy="57"/>
                    </a:xfrm>
                    <a:prstGeom prst="rect">
                      <a:avLst/>
                    </a:prstGeom>
                    <a:gradFill rotWithShape="0">
                      <a:gsLst>
                        <a:gs pos="0">
                          <a:srgbClr val="021245"/>
                        </a:gs>
                        <a:gs pos="50000">
                          <a:srgbClr val="063DE8"/>
                        </a:gs>
                        <a:gs pos="100000">
                          <a:srgbClr val="021245"/>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sp>
                <p:nvSpPr>
                  <p:cNvPr id="158910" name="Line 218"/>
                  <p:cNvSpPr>
                    <a:spLocks noChangeShapeType="1"/>
                  </p:cNvSpPr>
                  <p:nvPr/>
                </p:nvSpPr>
                <p:spPr bwMode="auto">
                  <a:xfrm>
                    <a:off x="3309" y="2185"/>
                    <a:ext cx="414" cy="0"/>
                  </a:xfrm>
                  <a:prstGeom prst="line">
                    <a:avLst/>
                  </a:prstGeom>
                  <a:noFill/>
                  <a:ln w="127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158911" name="Group 219"/>
                  <p:cNvGrpSpPr>
                    <a:grpSpLocks/>
                  </p:cNvGrpSpPr>
                  <p:nvPr/>
                </p:nvGrpSpPr>
                <p:grpSpPr bwMode="auto">
                  <a:xfrm>
                    <a:off x="3309" y="2149"/>
                    <a:ext cx="86" cy="73"/>
                    <a:chOff x="3309" y="2149"/>
                    <a:chExt cx="86" cy="73"/>
                  </a:xfrm>
                </p:grpSpPr>
                <p:sp>
                  <p:nvSpPr>
                    <p:cNvPr id="158922" name="Line 220"/>
                    <p:cNvSpPr>
                      <a:spLocks noChangeShapeType="1"/>
                    </p:cNvSpPr>
                    <p:nvPr/>
                  </p:nvSpPr>
                  <p:spPr bwMode="auto">
                    <a:xfrm flipV="1">
                      <a:off x="3309" y="2149"/>
                      <a:ext cx="39" cy="73"/>
                    </a:xfrm>
                    <a:prstGeom prst="line">
                      <a:avLst/>
                    </a:prstGeom>
                    <a:noFill/>
                    <a:ln w="127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923" name="Line 221"/>
                    <p:cNvSpPr>
                      <a:spLocks noChangeShapeType="1"/>
                    </p:cNvSpPr>
                    <p:nvPr/>
                  </p:nvSpPr>
                  <p:spPr bwMode="auto">
                    <a:xfrm>
                      <a:off x="3356" y="2157"/>
                      <a:ext cx="39" cy="57"/>
                    </a:xfrm>
                    <a:prstGeom prst="line">
                      <a:avLst/>
                    </a:prstGeom>
                    <a:noFill/>
                    <a:ln w="127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58912" name="Group 222"/>
                  <p:cNvGrpSpPr>
                    <a:grpSpLocks/>
                  </p:cNvGrpSpPr>
                  <p:nvPr/>
                </p:nvGrpSpPr>
                <p:grpSpPr bwMode="auto">
                  <a:xfrm>
                    <a:off x="3403" y="2149"/>
                    <a:ext cx="85" cy="73"/>
                    <a:chOff x="3403" y="2149"/>
                    <a:chExt cx="85" cy="73"/>
                  </a:xfrm>
                </p:grpSpPr>
                <p:sp>
                  <p:nvSpPr>
                    <p:cNvPr id="158920" name="Line 223"/>
                    <p:cNvSpPr>
                      <a:spLocks noChangeShapeType="1"/>
                    </p:cNvSpPr>
                    <p:nvPr/>
                  </p:nvSpPr>
                  <p:spPr bwMode="auto">
                    <a:xfrm flipV="1">
                      <a:off x="3403" y="2149"/>
                      <a:ext cx="39" cy="73"/>
                    </a:xfrm>
                    <a:prstGeom prst="line">
                      <a:avLst/>
                    </a:prstGeom>
                    <a:noFill/>
                    <a:ln w="127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921" name="Line 224"/>
                    <p:cNvSpPr>
                      <a:spLocks noChangeShapeType="1"/>
                    </p:cNvSpPr>
                    <p:nvPr/>
                  </p:nvSpPr>
                  <p:spPr bwMode="auto">
                    <a:xfrm>
                      <a:off x="3450" y="2157"/>
                      <a:ext cx="38" cy="57"/>
                    </a:xfrm>
                    <a:prstGeom prst="line">
                      <a:avLst/>
                    </a:prstGeom>
                    <a:noFill/>
                    <a:ln w="127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58913" name="Group 225"/>
                  <p:cNvGrpSpPr>
                    <a:grpSpLocks/>
                  </p:cNvGrpSpPr>
                  <p:nvPr/>
                </p:nvGrpSpPr>
                <p:grpSpPr bwMode="auto">
                  <a:xfrm>
                    <a:off x="3496" y="2149"/>
                    <a:ext cx="86" cy="73"/>
                    <a:chOff x="3496" y="2149"/>
                    <a:chExt cx="86" cy="73"/>
                  </a:xfrm>
                </p:grpSpPr>
                <p:sp>
                  <p:nvSpPr>
                    <p:cNvPr id="158918" name="Line 226"/>
                    <p:cNvSpPr>
                      <a:spLocks noChangeShapeType="1"/>
                    </p:cNvSpPr>
                    <p:nvPr/>
                  </p:nvSpPr>
                  <p:spPr bwMode="auto">
                    <a:xfrm flipV="1">
                      <a:off x="3496" y="2149"/>
                      <a:ext cx="39" cy="73"/>
                    </a:xfrm>
                    <a:prstGeom prst="line">
                      <a:avLst/>
                    </a:prstGeom>
                    <a:noFill/>
                    <a:ln w="127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919" name="Line 227"/>
                    <p:cNvSpPr>
                      <a:spLocks noChangeShapeType="1"/>
                    </p:cNvSpPr>
                    <p:nvPr/>
                  </p:nvSpPr>
                  <p:spPr bwMode="auto">
                    <a:xfrm>
                      <a:off x="3543" y="2157"/>
                      <a:ext cx="39" cy="57"/>
                    </a:xfrm>
                    <a:prstGeom prst="line">
                      <a:avLst/>
                    </a:prstGeom>
                    <a:noFill/>
                    <a:ln w="127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58914" name="Group 228"/>
                  <p:cNvGrpSpPr>
                    <a:grpSpLocks/>
                  </p:cNvGrpSpPr>
                  <p:nvPr/>
                </p:nvGrpSpPr>
                <p:grpSpPr bwMode="auto">
                  <a:xfrm>
                    <a:off x="3590" y="2149"/>
                    <a:ext cx="86" cy="73"/>
                    <a:chOff x="3590" y="2149"/>
                    <a:chExt cx="86" cy="73"/>
                  </a:xfrm>
                </p:grpSpPr>
                <p:sp>
                  <p:nvSpPr>
                    <p:cNvPr id="158916" name="Line 229"/>
                    <p:cNvSpPr>
                      <a:spLocks noChangeShapeType="1"/>
                    </p:cNvSpPr>
                    <p:nvPr/>
                  </p:nvSpPr>
                  <p:spPr bwMode="auto">
                    <a:xfrm flipV="1">
                      <a:off x="3590" y="2149"/>
                      <a:ext cx="39" cy="73"/>
                    </a:xfrm>
                    <a:prstGeom prst="line">
                      <a:avLst/>
                    </a:prstGeom>
                    <a:noFill/>
                    <a:ln w="127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917" name="Line 230"/>
                    <p:cNvSpPr>
                      <a:spLocks noChangeShapeType="1"/>
                    </p:cNvSpPr>
                    <p:nvPr/>
                  </p:nvSpPr>
                  <p:spPr bwMode="auto">
                    <a:xfrm>
                      <a:off x="3637" y="2157"/>
                      <a:ext cx="39" cy="57"/>
                    </a:xfrm>
                    <a:prstGeom prst="line">
                      <a:avLst/>
                    </a:prstGeom>
                    <a:noFill/>
                    <a:ln w="127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158915" name="Line 231"/>
                  <p:cNvSpPr>
                    <a:spLocks noChangeShapeType="1"/>
                  </p:cNvSpPr>
                  <p:nvPr/>
                </p:nvSpPr>
                <p:spPr bwMode="auto">
                  <a:xfrm flipV="1">
                    <a:off x="3684" y="2181"/>
                    <a:ext cx="16" cy="41"/>
                  </a:xfrm>
                  <a:prstGeom prst="line">
                    <a:avLst/>
                  </a:prstGeom>
                  <a:noFill/>
                  <a:ln w="127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158884" name="Line 232"/>
                <p:cNvSpPr>
                  <a:spLocks noChangeShapeType="1"/>
                </p:cNvSpPr>
                <p:nvPr/>
              </p:nvSpPr>
              <p:spPr bwMode="auto">
                <a:xfrm>
                  <a:off x="3259" y="2200"/>
                  <a:ext cx="0" cy="17"/>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885" name="Line 233"/>
                <p:cNvSpPr>
                  <a:spLocks noChangeShapeType="1"/>
                </p:cNvSpPr>
                <p:nvPr/>
              </p:nvSpPr>
              <p:spPr bwMode="auto">
                <a:xfrm>
                  <a:off x="3350" y="2200"/>
                  <a:ext cx="0" cy="17"/>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886" name="Line 234"/>
                <p:cNvSpPr>
                  <a:spLocks noChangeShapeType="1"/>
                </p:cNvSpPr>
                <p:nvPr/>
              </p:nvSpPr>
              <p:spPr bwMode="auto">
                <a:xfrm>
                  <a:off x="3039" y="2434"/>
                  <a:ext cx="0" cy="18"/>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887" name="Line 235"/>
                <p:cNvSpPr>
                  <a:spLocks noChangeShapeType="1"/>
                </p:cNvSpPr>
                <p:nvPr/>
              </p:nvSpPr>
              <p:spPr bwMode="auto">
                <a:xfrm>
                  <a:off x="3127" y="2434"/>
                  <a:ext cx="0" cy="18"/>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888" name="Line 236"/>
                <p:cNvSpPr>
                  <a:spLocks noChangeShapeType="1"/>
                </p:cNvSpPr>
                <p:nvPr/>
              </p:nvSpPr>
              <p:spPr bwMode="auto">
                <a:xfrm>
                  <a:off x="3216" y="2434"/>
                  <a:ext cx="0" cy="18"/>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889" name="Line 237"/>
                <p:cNvSpPr>
                  <a:spLocks noChangeShapeType="1"/>
                </p:cNvSpPr>
                <p:nvPr/>
              </p:nvSpPr>
              <p:spPr bwMode="auto">
                <a:xfrm>
                  <a:off x="3305" y="2434"/>
                  <a:ext cx="0" cy="18"/>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158890" name="Group 238"/>
                <p:cNvGrpSpPr>
                  <a:grpSpLocks/>
                </p:cNvGrpSpPr>
                <p:nvPr/>
              </p:nvGrpSpPr>
              <p:grpSpPr bwMode="auto">
                <a:xfrm>
                  <a:off x="2950" y="2139"/>
                  <a:ext cx="150" cy="91"/>
                  <a:chOff x="3288" y="2562"/>
                  <a:chExt cx="164" cy="96"/>
                </a:xfrm>
              </p:grpSpPr>
              <p:sp>
                <p:nvSpPr>
                  <p:cNvPr id="158906" name="Rectangle 239"/>
                  <p:cNvSpPr>
                    <a:spLocks noChangeArrowheads="1"/>
                  </p:cNvSpPr>
                  <p:nvPr/>
                </p:nvSpPr>
                <p:spPr bwMode="auto">
                  <a:xfrm>
                    <a:off x="3309" y="2562"/>
                    <a:ext cx="122" cy="34"/>
                  </a:xfrm>
                  <a:prstGeom prst="rect">
                    <a:avLst/>
                  </a:pr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907" name="Rectangle 240"/>
                  <p:cNvSpPr>
                    <a:spLocks noChangeArrowheads="1"/>
                  </p:cNvSpPr>
                  <p:nvPr/>
                </p:nvSpPr>
                <p:spPr bwMode="auto">
                  <a:xfrm>
                    <a:off x="3309" y="2624"/>
                    <a:ext cx="122" cy="34"/>
                  </a:xfrm>
                  <a:prstGeom prst="rect">
                    <a:avLst/>
                  </a:pr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908" name="Rectangle 241"/>
                  <p:cNvSpPr>
                    <a:spLocks noChangeArrowheads="1"/>
                  </p:cNvSpPr>
                  <p:nvPr/>
                </p:nvSpPr>
                <p:spPr bwMode="auto">
                  <a:xfrm>
                    <a:off x="3288" y="2604"/>
                    <a:ext cx="164" cy="12"/>
                  </a:xfrm>
                  <a:prstGeom prst="rect">
                    <a:avLst/>
                  </a:pr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sp>
              <p:nvSpPr>
                <p:cNvPr id="158891" name="Rectangle 242"/>
                <p:cNvSpPr>
                  <a:spLocks noChangeArrowheads="1"/>
                </p:cNvSpPr>
                <p:nvPr/>
              </p:nvSpPr>
              <p:spPr bwMode="auto">
                <a:xfrm>
                  <a:off x="2911" y="2217"/>
                  <a:ext cx="12" cy="170"/>
                </a:xfrm>
                <a:prstGeom prst="rect">
                  <a:avLst/>
                </a:prstGeom>
                <a:gradFill rotWithShape="0">
                  <a:gsLst>
                    <a:gs pos="0">
                      <a:srgbClr val="2B2B2B"/>
                    </a:gs>
                    <a:gs pos="50000">
                      <a:srgbClr val="919191"/>
                    </a:gs>
                    <a:gs pos="100000">
                      <a:srgbClr val="2B2B2B"/>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nvGrpSpPr>
                <p:cNvPr id="158892" name="Group 243"/>
                <p:cNvGrpSpPr>
                  <a:grpSpLocks/>
                </p:cNvGrpSpPr>
                <p:nvPr/>
              </p:nvGrpSpPr>
              <p:grpSpPr bwMode="auto">
                <a:xfrm>
                  <a:off x="2975" y="2363"/>
                  <a:ext cx="392" cy="60"/>
                  <a:chOff x="3316" y="2798"/>
                  <a:chExt cx="424" cy="62"/>
                </a:xfrm>
              </p:grpSpPr>
              <p:sp>
                <p:nvSpPr>
                  <p:cNvPr id="158901" name="Rectangle 244"/>
                  <p:cNvSpPr>
                    <a:spLocks noChangeArrowheads="1"/>
                  </p:cNvSpPr>
                  <p:nvPr/>
                </p:nvSpPr>
                <p:spPr bwMode="auto">
                  <a:xfrm>
                    <a:off x="3316" y="2798"/>
                    <a:ext cx="424" cy="27"/>
                  </a:xfrm>
                  <a:prstGeom prst="rect">
                    <a:avLst/>
                  </a:prstGeom>
                  <a:gradFill rotWithShape="0">
                    <a:gsLst>
                      <a:gs pos="0">
                        <a:srgbClr val="1F1F1F"/>
                      </a:gs>
                      <a:gs pos="50000">
                        <a:srgbClr val="676767"/>
                      </a:gs>
                      <a:gs pos="100000">
                        <a:srgbClr val="1F1F1F"/>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902" name="Rectangle 245"/>
                  <p:cNvSpPr>
                    <a:spLocks noChangeArrowheads="1"/>
                  </p:cNvSpPr>
                  <p:nvPr/>
                </p:nvSpPr>
                <p:spPr bwMode="auto">
                  <a:xfrm>
                    <a:off x="3364" y="2833"/>
                    <a:ext cx="40" cy="27"/>
                  </a:xfrm>
                  <a:prstGeom prst="rect">
                    <a:avLst/>
                  </a:prstGeom>
                  <a:gradFill rotWithShape="0">
                    <a:gsLst>
                      <a:gs pos="0">
                        <a:srgbClr val="1F1F1F"/>
                      </a:gs>
                      <a:gs pos="50000">
                        <a:srgbClr val="676767"/>
                      </a:gs>
                      <a:gs pos="100000">
                        <a:srgbClr val="1F1F1F"/>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903" name="Rectangle 246"/>
                  <p:cNvSpPr>
                    <a:spLocks noChangeArrowheads="1"/>
                  </p:cNvSpPr>
                  <p:nvPr/>
                </p:nvSpPr>
                <p:spPr bwMode="auto">
                  <a:xfrm>
                    <a:off x="3460" y="2833"/>
                    <a:ext cx="40" cy="27"/>
                  </a:xfrm>
                  <a:prstGeom prst="rect">
                    <a:avLst/>
                  </a:prstGeom>
                  <a:gradFill rotWithShape="0">
                    <a:gsLst>
                      <a:gs pos="0">
                        <a:srgbClr val="1F1F1F"/>
                      </a:gs>
                      <a:gs pos="50000">
                        <a:srgbClr val="676767"/>
                      </a:gs>
                      <a:gs pos="100000">
                        <a:srgbClr val="1F1F1F"/>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904" name="Rectangle 247"/>
                  <p:cNvSpPr>
                    <a:spLocks noChangeArrowheads="1"/>
                  </p:cNvSpPr>
                  <p:nvPr/>
                </p:nvSpPr>
                <p:spPr bwMode="auto">
                  <a:xfrm>
                    <a:off x="3556" y="2833"/>
                    <a:ext cx="40" cy="27"/>
                  </a:xfrm>
                  <a:prstGeom prst="rect">
                    <a:avLst/>
                  </a:prstGeom>
                  <a:gradFill rotWithShape="0">
                    <a:gsLst>
                      <a:gs pos="0">
                        <a:srgbClr val="1F1F1F"/>
                      </a:gs>
                      <a:gs pos="50000">
                        <a:srgbClr val="676767"/>
                      </a:gs>
                      <a:gs pos="100000">
                        <a:srgbClr val="1F1F1F"/>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905" name="Rectangle 248"/>
                  <p:cNvSpPr>
                    <a:spLocks noChangeArrowheads="1"/>
                  </p:cNvSpPr>
                  <p:nvPr/>
                </p:nvSpPr>
                <p:spPr bwMode="auto">
                  <a:xfrm>
                    <a:off x="3652" y="2833"/>
                    <a:ext cx="40" cy="27"/>
                  </a:xfrm>
                  <a:prstGeom prst="rect">
                    <a:avLst/>
                  </a:prstGeom>
                  <a:gradFill rotWithShape="0">
                    <a:gsLst>
                      <a:gs pos="0">
                        <a:srgbClr val="1F1F1F"/>
                      </a:gs>
                      <a:gs pos="50000">
                        <a:srgbClr val="676767"/>
                      </a:gs>
                      <a:gs pos="100000">
                        <a:srgbClr val="1F1F1F"/>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sp>
              <p:nvSpPr>
                <p:cNvPr id="158893" name="Rectangle 249"/>
                <p:cNvSpPr>
                  <a:spLocks noChangeArrowheads="1"/>
                </p:cNvSpPr>
                <p:nvPr/>
              </p:nvSpPr>
              <p:spPr bwMode="auto">
                <a:xfrm>
                  <a:off x="2931" y="2237"/>
                  <a:ext cx="727" cy="129"/>
                </a:xfrm>
                <a:prstGeom prst="rect">
                  <a:avLst/>
                </a:prstGeom>
                <a:gradFill rotWithShape="0">
                  <a:gsLst>
                    <a:gs pos="0">
                      <a:srgbClr val="2B2B2B"/>
                    </a:gs>
                    <a:gs pos="50000">
                      <a:srgbClr val="919191"/>
                    </a:gs>
                    <a:gs pos="100000">
                      <a:srgbClr val="2B2B2B"/>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nvGrpSpPr>
                <p:cNvPr id="158894" name="Group 250"/>
                <p:cNvGrpSpPr>
                  <a:grpSpLocks/>
                </p:cNvGrpSpPr>
                <p:nvPr/>
              </p:nvGrpSpPr>
              <p:grpSpPr bwMode="auto">
                <a:xfrm>
                  <a:off x="3198" y="2128"/>
                  <a:ext cx="391" cy="60"/>
                  <a:chOff x="3556" y="2551"/>
                  <a:chExt cx="424" cy="63"/>
                </a:xfrm>
              </p:grpSpPr>
              <p:sp>
                <p:nvSpPr>
                  <p:cNvPr id="158896" name="Rectangle 251"/>
                  <p:cNvSpPr>
                    <a:spLocks noChangeArrowheads="1"/>
                  </p:cNvSpPr>
                  <p:nvPr/>
                </p:nvSpPr>
                <p:spPr bwMode="auto">
                  <a:xfrm>
                    <a:off x="3556" y="2551"/>
                    <a:ext cx="424" cy="27"/>
                  </a:xfrm>
                  <a:prstGeom prst="rect">
                    <a:avLst/>
                  </a:prstGeom>
                  <a:gradFill rotWithShape="0">
                    <a:gsLst>
                      <a:gs pos="0">
                        <a:srgbClr val="1F1F1F"/>
                      </a:gs>
                      <a:gs pos="50000">
                        <a:srgbClr val="676767"/>
                      </a:gs>
                      <a:gs pos="100000">
                        <a:srgbClr val="1F1F1F"/>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897" name="Rectangle 252"/>
                  <p:cNvSpPr>
                    <a:spLocks noChangeArrowheads="1"/>
                  </p:cNvSpPr>
                  <p:nvPr/>
                </p:nvSpPr>
                <p:spPr bwMode="auto">
                  <a:xfrm>
                    <a:off x="3604" y="2586"/>
                    <a:ext cx="40" cy="28"/>
                  </a:xfrm>
                  <a:prstGeom prst="rect">
                    <a:avLst/>
                  </a:prstGeom>
                  <a:gradFill rotWithShape="0">
                    <a:gsLst>
                      <a:gs pos="0">
                        <a:srgbClr val="1F1F1F"/>
                      </a:gs>
                      <a:gs pos="50000">
                        <a:srgbClr val="676767"/>
                      </a:gs>
                      <a:gs pos="100000">
                        <a:srgbClr val="1F1F1F"/>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898" name="Rectangle 253"/>
                  <p:cNvSpPr>
                    <a:spLocks noChangeArrowheads="1"/>
                  </p:cNvSpPr>
                  <p:nvPr/>
                </p:nvSpPr>
                <p:spPr bwMode="auto">
                  <a:xfrm>
                    <a:off x="3700" y="2586"/>
                    <a:ext cx="40" cy="28"/>
                  </a:xfrm>
                  <a:prstGeom prst="rect">
                    <a:avLst/>
                  </a:prstGeom>
                  <a:gradFill rotWithShape="0">
                    <a:gsLst>
                      <a:gs pos="0">
                        <a:srgbClr val="1F1F1F"/>
                      </a:gs>
                      <a:gs pos="50000">
                        <a:srgbClr val="676767"/>
                      </a:gs>
                      <a:gs pos="100000">
                        <a:srgbClr val="1F1F1F"/>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899" name="Rectangle 254"/>
                  <p:cNvSpPr>
                    <a:spLocks noChangeArrowheads="1"/>
                  </p:cNvSpPr>
                  <p:nvPr/>
                </p:nvSpPr>
                <p:spPr bwMode="auto">
                  <a:xfrm>
                    <a:off x="3796" y="2586"/>
                    <a:ext cx="40" cy="28"/>
                  </a:xfrm>
                  <a:prstGeom prst="rect">
                    <a:avLst/>
                  </a:prstGeom>
                  <a:gradFill rotWithShape="0">
                    <a:gsLst>
                      <a:gs pos="0">
                        <a:srgbClr val="1F1F1F"/>
                      </a:gs>
                      <a:gs pos="50000">
                        <a:srgbClr val="676767"/>
                      </a:gs>
                      <a:gs pos="100000">
                        <a:srgbClr val="1F1F1F"/>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900" name="Rectangle 255"/>
                  <p:cNvSpPr>
                    <a:spLocks noChangeArrowheads="1"/>
                  </p:cNvSpPr>
                  <p:nvPr/>
                </p:nvSpPr>
                <p:spPr bwMode="auto">
                  <a:xfrm>
                    <a:off x="3892" y="2586"/>
                    <a:ext cx="40" cy="28"/>
                  </a:xfrm>
                  <a:prstGeom prst="rect">
                    <a:avLst/>
                  </a:prstGeom>
                  <a:gradFill rotWithShape="0">
                    <a:gsLst>
                      <a:gs pos="0">
                        <a:srgbClr val="1F1F1F"/>
                      </a:gs>
                      <a:gs pos="50000">
                        <a:srgbClr val="676767"/>
                      </a:gs>
                      <a:gs pos="100000">
                        <a:srgbClr val="1F1F1F"/>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sp>
              <p:nvSpPr>
                <p:cNvPr id="158895" name="Rectangle 256"/>
                <p:cNvSpPr>
                  <a:spLocks noChangeArrowheads="1"/>
                </p:cNvSpPr>
                <p:nvPr/>
              </p:nvSpPr>
              <p:spPr bwMode="auto">
                <a:xfrm>
                  <a:off x="2931" y="2001"/>
                  <a:ext cx="727" cy="129"/>
                </a:xfrm>
                <a:prstGeom prst="rect">
                  <a:avLst/>
                </a:prstGeom>
                <a:gradFill rotWithShape="0">
                  <a:gsLst>
                    <a:gs pos="0">
                      <a:srgbClr val="2B2B2B"/>
                    </a:gs>
                    <a:gs pos="50000">
                      <a:srgbClr val="919191"/>
                    </a:gs>
                    <a:gs pos="100000">
                      <a:srgbClr val="2B2B2B"/>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grpSp>
            <p:nvGrpSpPr>
              <p:cNvPr id="158784" name="Group 257"/>
              <p:cNvGrpSpPr>
                <a:grpSpLocks/>
              </p:cNvGrpSpPr>
              <p:nvPr/>
            </p:nvGrpSpPr>
            <p:grpSpPr bwMode="auto">
              <a:xfrm>
                <a:off x="2346" y="1017"/>
                <a:ext cx="2088" cy="745"/>
                <a:chOff x="2346" y="1017"/>
                <a:chExt cx="2088" cy="745"/>
              </a:xfrm>
            </p:grpSpPr>
            <p:sp>
              <p:nvSpPr>
                <p:cNvPr id="158860" name="Freeform 258"/>
                <p:cNvSpPr>
                  <a:spLocks/>
                </p:cNvSpPr>
                <p:nvPr/>
              </p:nvSpPr>
              <p:spPr bwMode="auto">
                <a:xfrm>
                  <a:off x="2430" y="1017"/>
                  <a:ext cx="190" cy="486"/>
                </a:xfrm>
                <a:custGeom>
                  <a:avLst/>
                  <a:gdLst>
                    <a:gd name="T0" fmla="*/ 26 w 207"/>
                    <a:gd name="T1" fmla="*/ 0 h 510"/>
                    <a:gd name="T2" fmla="*/ 50 w 207"/>
                    <a:gd name="T3" fmla="*/ 0 h 510"/>
                    <a:gd name="T4" fmla="*/ 80 w 207"/>
                    <a:gd name="T5" fmla="*/ 299 h 510"/>
                    <a:gd name="T6" fmla="*/ 0 w 207"/>
                    <a:gd name="T7" fmla="*/ 299 h 510"/>
                    <a:gd name="T8" fmla="*/ 26 w 207"/>
                    <a:gd name="T9" fmla="*/ 0 h 5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7" h="510">
                      <a:moveTo>
                        <a:pt x="65" y="0"/>
                      </a:moveTo>
                      <a:lnTo>
                        <a:pt x="130" y="0"/>
                      </a:lnTo>
                      <a:lnTo>
                        <a:pt x="206" y="509"/>
                      </a:lnTo>
                      <a:lnTo>
                        <a:pt x="0" y="509"/>
                      </a:lnTo>
                      <a:lnTo>
                        <a:pt x="65" y="0"/>
                      </a:lnTo>
                    </a:path>
                  </a:pathLst>
                </a:custGeom>
                <a:gradFill rotWithShape="0">
                  <a:gsLst>
                    <a:gs pos="0">
                      <a:srgbClr val="021245"/>
                    </a:gs>
                    <a:gs pos="50000">
                      <a:srgbClr val="063DE8"/>
                    </a:gs>
                    <a:gs pos="100000">
                      <a:srgbClr val="021245"/>
                    </a:gs>
                  </a:gsLst>
                  <a:lin ang="0" scaled="1"/>
                </a:gradFill>
                <a:ln w="12700" cap="rnd" cmpd="sng">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8861" name="Rectangle 259"/>
                <p:cNvSpPr>
                  <a:spLocks noChangeArrowheads="1"/>
                </p:cNvSpPr>
                <p:nvPr/>
              </p:nvSpPr>
              <p:spPr bwMode="auto">
                <a:xfrm>
                  <a:off x="2433" y="1506"/>
                  <a:ext cx="183" cy="68"/>
                </a:xfrm>
                <a:prstGeom prst="rect">
                  <a:avLst/>
                </a:prstGeom>
                <a:gradFill rotWithShape="0">
                  <a:gsLst>
                    <a:gs pos="0">
                      <a:srgbClr val="021245"/>
                    </a:gs>
                    <a:gs pos="50000">
                      <a:srgbClr val="063DE8"/>
                    </a:gs>
                    <a:gs pos="100000">
                      <a:srgbClr val="021245"/>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862" name="Oval 260"/>
                <p:cNvSpPr>
                  <a:spLocks noChangeArrowheads="1"/>
                </p:cNvSpPr>
                <p:nvPr/>
              </p:nvSpPr>
              <p:spPr bwMode="auto">
                <a:xfrm>
                  <a:off x="2474" y="1506"/>
                  <a:ext cx="32" cy="68"/>
                </a:xfrm>
                <a:prstGeom prst="ellipse">
                  <a:avLst/>
                </a:prstGeom>
                <a:solidFill>
                  <a:schemeClr val="accent1"/>
                </a:soli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863" name="Oval 261"/>
                <p:cNvSpPr>
                  <a:spLocks noChangeArrowheads="1"/>
                </p:cNvSpPr>
                <p:nvPr/>
              </p:nvSpPr>
              <p:spPr bwMode="auto">
                <a:xfrm>
                  <a:off x="2544" y="1506"/>
                  <a:ext cx="31" cy="68"/>
                </a:xfrm>
                <a:prstGeom prst="ellipse">
                  <a:avLst/>
                </a:prstGeom>
                <a:solidFill>
                  <a:schemeClr val="accent1"/>
                </a:soli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864" name="Line 262"/>
                <p:cNvSpPr>
                  <a:spLocks noChangeShapeType="1"/>
                </p:cNvSpPr>
                <p:nvPr/>
              </p:nvSpPr>
              <p:spPr bwMode="auto">
                <a:xfrm>
                  <a:off x="2490" y="1506"/>
                  <a:ext cx="0" cy="68"/>
                </a:xfrm>
                <a:prstGeom prst="line">
                  <a:avLst/>
                </a:prstGeom>
                <a:noFill/>
                <a:ln w="127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865" name="Line 263"/>
                <p:cNvSpPr>
                  <a:spLocks noChangeShapeType="1"/>
                </p:cNvSpPr>
                <p:nvPr/>
              </p:nvSpPr>
              <p:spPr bwMode="auto">
                <a:xfrm>
                  <a:off x="2474" y="1533"/>
                  <a:ext cx="32" cy="0"/>
                </a:xfrm>
                <a:prstGeom prst="line">
                  <a:avLst/>
                </a:prstGeom>
                <a:noFill/>
                <a:ln w="127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866" name="Line 264"/>
                <p:cNvSpPr>
                  <a:spLocks noChangeShapeType="1"/>
                </p:cNvSpPr>
                <p:nvPr/>
              </p:nvSpPr>
              <p:spPr bwMode="auto">
                <a:xfrm>
                  <a:off x="2544" y="1533"/>
                  <a:ext cx="31" cy="0"/>
                </a:xfrm>
                <a:prstGeom prst="line">
                  <a:avLst/>
                </a:prstGeom>
                <a:noFill/>
                <a:ln w="127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867" name="Line 265"/>
                <p:cNvSpPr>
                  <a:spLocks noChangeShapeType="1"/>
                </p:cNvSpPr>
                <p:nvPr/>
              </p:nvSpPr>
              <p:spPr bwMode="auto">
                <a:xfrm>
                  <a:off x="2560" y="1506"/>
                  <a:ext cx="0" cy="68"/>
                </a:xfrm>
                <a:prstGeom prst="line">
                  <a:avLst/>
                </a:prstGeom>
                <a:noFill/>
                <a:ln w="127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868" name="Rectangle 266"/>
                <p:cNvSpPr>
                  <a:spLocks noChangeArrowheads="1"/>
                </p:cNvSpPr>
                <p:nvPr/>
              </p:nvSpPr>
              <p:spPr bwMode="auto">
                <a:xfrm>
                  <a:off x="2346" y="1575"/>
                  <a:ext cx="858" cy="40"/>
                </a:xfrm>
                <a:prstGeom prst="rect">
                  <a:avLst/>
                </a:prstGeom>
                <a:gradFill rotWithShape="0">
                  <a:gsLst>
                    <a:gs pos="0">
                      <a:srgbClr val="2B2B2B"/>
                    </a:gs>
                    <a:gs pos="50000">
                      <a:srgbClr val="919191"/>
                    </a:gs>
                    <a:gs pos="100000">
                      <a:srgbClr val="2B2B2B"/>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869" name="Rectangle 267"/>
                <p:cNvSpPr>
                  <a:spLocks noChangeArrowheads="1"/>
                </p:cNvSpPr>
                <p:nvPr/>
              </p:nvSpPr>
              <p:spPr bwMode="auto">
                <a:xfrm>
                  <a:off x="3022" y="1559"/>
                  <a:ext cx="99" cy="8"/>
                </a:xfrm>
                <a:prstGeom prst="rect">
                  <a:avLst/>
                </a:prstGeom>
                <a:gradFill rotWithShape="0">
                  <a:gsLst>
                    <a:gs pos="0">
                      <a:srgbClr val="2B2B2B"/>
                    </a:gs>
                    <a:gs pos="50000">
                      <a:srgbClr val="919191"/>
                    </a:gs>
                    <a:gs pos="100000">
                      <a:srgbClr val="2B2B2B"/>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870" name="Line 268"/>
                <p:cNvSpPr>
                  <a:spLocks noChangeShapeType="1"/>
                </p:cNvSpPr>
                <p:nvPr/>
              </p:nvSpPr>
              <p:spPr bwMode="auto">
                <a:xfrm>
                  <a:off x="3002" y="1554"/>
                  <a:ext cx="140" cy="0"/>
                </a:xfrm>
                <a:prstGeom prst="line">
                  <a:avLst/>
                </a:prstGeom>
                <a:noFill/>
                <a:ln w="127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871" name="Rectangle 269"/>
                <p:cNvSpPr>
                  <a:spLocks noChangeArrowheads="1"/>
                </p:cNvSpPr>
                <p:nvPr/>
              </p:nvSpPr>
              <p:spPr bwMode="auto">
                <a:xfrm>
                  <a:off x="3107" y="1623"/>
                  <a:ext cx="56" cy="90"/>
                </a:xfrm>
                <a:prstGeom prst="rect">
                  <a:avLst/>
                </a:pr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872" name="Rectangle 270"/>
                <p:cNvSpPr>
                  <a:spLocks noChangeArrowheads="1"/>
                </p:cNvSpPr>
                <p:nvPr/>
              </p:nvSpPr>
              <p:spPr bwMode="auto">
                <a:xfrm>
                  <a:off x="3056" y="1716"/>
                  <a:ext cx="165" cy="46"/>
                </a:xfrm>
                <a:prstGeom prst="rect">
                  <a:avLst/>
                </a:prstGeom>
                <a:gradFill rotWithShape="0">
                  <a:gsLst>
                    <a:gs pos="0">
                      <a:srgbClr val="021245"/>
                    </a:gs>
                    <a:gs pos="50000">
                      <a:srgbClr val="063DE8"/>
                    </a:gs>
                    <a:gs pos="100000">
                      <a:srgbClr val="021245"/>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873" name="Line 271"/>
                <p:cNvSpPr>
                  <a:spLocks noChangeShapeType="1"/>
                </p:cNvSpPr>
                <p:nvPr/>
              </p:nvSpPr>
              <p:spPr bwMode="auto">
                <a:xfrm>
                  <a:off x="3773" y="1654"/>
                  <a:ext cx="481" cy="0"/>
                </a:xfrm>
                <a:prstGeom prst="line">
                  <a:avLst/>
                </a:prstGeom>
                <a:noFill/>
                <a:ln w="127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874" name="Rectangle 272"/>
                <p:cNvSpPr>
                  <a:spLocks noChangeArrowheads="1"/>
                </p:cNvSpPr>
                <p:nvPr/>
              </p:nvSpPr>
              <p:spPr bwMode="auto">
                <a:xfrm>
                  <a:off x="2636" y="1127"/>
                  <a:ext cx="993" cy="125"/>
                </a:xfrm>
                <a:prstGeom prst="rect">
                  <a:avLst/>
                </a:prstGeom>
                <a:noFill/>
                <a:ln>
                  <a:noFill/>
                </a:ln>
                <a:effectLst/>
                <a:extLst>
                  <a:ext uri="{909E8E84-426E-40DD-AFC4-6F175D3DCCD1}">
                    <a14:hiddenFill xmlns:a14="http://schemas.microsoft.com/office/drawing/2010/main">
                      <a:solidFill>
                        <a:srgbClr val="EAEC5E"/>
                      </a:solidFill>
                    </a14:hiddenFill>
                  </a:ext>
                  <a:ext uri="{91240B29-F687-4F45-9708-019B960494DF}">
                    <a14:hiddenLine xmlns:a14="http://schemas.microsoft.com/office/drawing/2010/main" w="127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65000"/>
                    </a:lnSpc>
                    <a:spcBef>
                      <a:spcPct val="0"/>
                    </a:spcBef>
                    <a:buFontTx/>
                    <a:buNone/>
                  </a:pPr>
                  <a:r>
                    <a:rPr lang="en-US" altLang="en-US" sz="1000" b="1">
                      <a:solidFill>
                        <a:srgbClr val="0000FF"/>
                      </a:solidFill>
                      <a:latin typeface="Tahoma" panose="020B0604030504040204" pitchFamily="34" charset="0"/>
                      <a:cs typeface="Angsana New" panose="02020603050405020304" pitchFamily="18" charset="-34"/>
                    </a:rPr>
                    <a:t>PRE-STEAMING BIN</a:t>
                  </a:r>
                </a:p>
              </p:txBody>
            </p:sp>
            <p:sp>
              <p:nvSpPr>
                <p:cNvPr id="158875" name="Rectangle 273"/>
                <p:cNvSpPr>
                  <a:spLocks noChangeArrowheads="1"/>
                </p:cNvSpPr>
                <p:nvPr/>
              </p:nvSpPr>
              <p:spPr bwMode="auto">
                <a:xfrm>
                  <a:off x="3637" y="1389"/>
                  <a:ext cx="797" cy="125"/>
                </a:xfrm>
                <a:prstGeom prst="rect">
                  <a:avLst/>
                </a:prstGeom>
                <a:noFill/>
                <a:ln>
                  <a:noFill/>
                </a:ln>
                <a:effectLst/>
                <a:extLst>
                  <a:ext uri="{909E8E84-426E-40DD-AFC4-6F175D3DCCD1}">
                    <a14:hiddenFill xmlns:a14="http://schemas.microsoft.com/office/drawing/2010/main">
                      <a:solidFill>
                        <a:srgbClr val="EAEC5E"/>
                      </a:solidFill>
                    </a14:hiddenFill>
                  </a:ext>
                  <a:ext uri="{91240B29-F687-4F45-9708-019B960494DF}">
                    <a14:hiddenLine xmlns:a14="http://schemas.microsoft.com/office/drawing/2010/main" w="127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65000"/>
                    </a:lnSpc>
                    <a:spcBef>
                      <a:spcPct val="0"/>
                    </a:spcBef>
                    <a:buFontTx/>
                    <a:buNone/>
                  </a:pPr>
                  <a:r>
                    <a:rPr lang="en-US" altLang="en-US" sz="1000" b="1">
                      <a:solidFill>
                        <a:srgbClr val="0000FF"/>
                      </a:solidFill>
                      <a:latin typeface="Tahoma" panose="020B0604030504040204" pitchFamily="34" charset="0"/>
                      <a:cs typeface="Angsana New" panose="02020603050405020304" pitchFamily="18" charset="-34"/>
                    </a:rPr>
                    <a:t>IMPREGNATOR</a:t>
                  </a:r>
                </a:p>
              </p:txBody>
            </p:sp>
          </p:grpSp>
          <p:grpSp>
            <p:nvGrpSpPr>
              <p:cNvPr id="158785" name="Group 274"/>
              <p:cNvGrpSpPr>
                <a:grpSpLocks/>
              </p:cNvGrpSpPr>
              <p:nvPr/>
            </p:nvGrpSpPr>
            <p:grpSpPr bwMode="auto">
              <a:xfrm>
                <a:off x="3380" y="1413"/>
                <a:ext cx="2156" cy="1215"/>
                <a:chOff x="3380" y="1413"/>
                <a:chExt cx="2156" cy="1215"/>
              </a:xfrm>
            </p:grpSpPr>
            <p:sp>
              <p:nvSpPr>
                <p:cNvPr id="158786" name="Line 275"/>
                <p:cNvSpPr>
                  <a:spLocks noChangeShapeType="1"/>
                </p:cNvSpPr>
                <p:nvPr/>
              </p:nvSpPr>
              <p:spPr bwMode="auto">
                <a:xfrm>
                  <a:off x="5195" y="2561"/>
                  <a:ext cx="73" cy="0"/>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787" name="Line 276"/>
                <p:cNvSpPr>
                  <a:spLocks noChangeShapeType="1"/>
                </p:cNvSpPr>
                <p:nvPr/>
              </p:nvSpPr>
              <p:spPr bwMode="auto">
                <a:xfrm flipH="1">
                  <a:off x="4988" y="2566"/>
                  <a:ext cx="130" cy="0"/>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788" name="Rectangle 277"/>
                <p:cNvSpPr>
                  <a:spLocks noChangeArrowheads="1"/>
                </p:cNvSpPr>
                <p:nvPr/>
              </p:nvSpPr>
              <p:spPr bwMode="auto">
                <a:xfrm>
                  <a:off x="3665" y="1982"/>
                  <a:ext cx="13" cy="169"/>
                </a:xfrm>
                <a:prstGeom prst="rect">
                  <a:avLst/>
                </a:prstGeom>
                <a:gradFill rotWithShape="0">
                  <a:gsLst>
                    <a:gs pos="0">
                      <a:srgbClr val="2B2B2B"/>
                    </a:gs>
                    <a:gs pos="50000">
                      <a:srgbClr val="919191"/>
                    </a:gs>
                    <a:gs pos="100000">
                      <a:srgbClr val="2B2B2B"/>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789" name="Rectangle 278"/>
                <p:cNvSpPr>
                  <a:spLocks noChangeArrowheads="1"/>
                </p:cNvSpPr>
                <p:nvPr/>
              </p:nvSpPr>
              <p:spPr bwMode="auto">
                <a:xfrm>
                  <a:off x="3403" y="1799"/>
                  <a:ext cx="37" cy="48"/>
                </a:xfrm>
                <a:prstGeom prst="rect">
                  <a:avLst/>
                </a:prstGeom>
                <a:gradFill rotWithShape="0">
                  <a:gsLst>
                    <a:gs pos="0">
                      <a:srgbClr val="021245"/>
                    </a:gs>
                    <a:gs pos="50000">
                      <a:srgbClr val="063DE8"/>
                    </a:gs>
                    <a:gs pos="100000">
                      <a:srgbClr val="021245"/>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790" name="Rectangle 279"/>
                <p:cNvSpPr>
                  <a:spLocks noChangeArrowheads="1"/>
                </p:cNvSpPr>
                <p:nvPr/>
              </p:nvSpPr>
              <p:spPr bwMode="auto">
                <a:xfrm>
                  <a:off x="3380" y="1761"/>
                  <a:ext cx="101" cy="36"/>
                </a:xfrm>
                <a:prstGeom prst="rect">
                  <a:avLst/>
                </a:prstGeom>
                <a:gradFill rotWithShape="0">
                  <a:gsLst>
                    <a:gs pos="0">
                      <a:srgbClr val="021245"/>
                    </a:gs>
                    <a:gs pos="50000">
                      <a:srgbClr val="063DE8"/>
                    </a:gs>
                    <a:gs pos="100000">
                      <a:srgbClr val="021245"/>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791" name="Rectangle 280"/>
                <p:cNvSpPr>
                  <a:spLocks noChangeArrowheads="1"/>
                </p:cNvSpPr>
                <p:nvPr/>
              </p:nvSpPr>
              <p:spPr bwMode="auto">
                <a:xfrm>
                  <a:off x="3665" y="2217"/>
                  <a:ext cx="13" cy="170"/>
                </a:xfrm>
                <a:prstGeom prst="rect">
                  <a:avLst/>
                </a:prstGeom>
                <a:gradFill rotWithShape="0">
                  <a:gsLst>
                    <a:gs pos="0">
                      <a:srgbClr val="2B2B2B"/>
                    </a:gs>
                    <a:gs pos="50000">
                      <a:srgbClr val="919191"/>
                    </a:gs>
                    <a:gs pos="100000">
                      <a:srgbClr val="2B2B2B"/>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792" name="Rectangle 281"/>
                <p:cNvSpPr>
                  <a:spLocks noChangeArrowheads="1"/>
                </p:cNvSpPr>
                <p:nvPr/>
              </p:nvSpPr>
              <p:spPr bwMode="auto">
                <a:xfrm>
                  <a:off x="3476" y="2376"/>
                  <a:ext cx="111" cy="32"/>
                </a:xfrm>
                <a:prstGeom prst="rect">
                  <a:avLst/>
                </a:pr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793" name="Rectangle 282"/>
                <p:cNvSpPr>
                  <a:spLocks noChangeArrowheads="1"/>
                </p:cNvSpPr>
                <p:nvPr/>
              </p:nvSpPr>
              <p:spPr bwMode="auto">
                <a:xfrm>
                  <a:off x="3476" y="2435"/>
                  <a:ext cx="111" cy="32"/>
                </a:xfrm>
                <a:prstGeom prst="rect">
                  <a:avLst/>
                </a:pr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794" name="Rectangle 283"/>
                <p:cNvSpPr>
                  <a:spLocks noChangeArrowheads="1"/>
                </p:cNvSpPr>
                <p:nvPr/>
              </p:nvSpPr>
              <p:spPr bwMode="auto">
                <a:xfrm>
                  <a:off x="3456" y="2416"/>
                  <a:ext cx="152" cy="10"/>
                </a:xfrm>
                <a:prstGeom prst="rect">
                  <a:avLst/>
                </a:pr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nvGrpSpPr>
                <p:cNvPr id="158795" name="Group 284"/>
                <p:cNvGrpSpPr>
                  <a:grpSpLocks/>
                </p:cNvGrpSpPr>
                <p:nvPr/>
              </p:nvGrpSpPr>
              <p:grpSpPr bwMode="auto">
                <a:xfrm>
                  <a:off x="3452" y="2393"/>
                  <a:ext cx="1004" cy="235"/>
                  <a:chOff x="3832" y="2830"/>
                  <a:chExt cx="1088" cy="246"/>
                </a:xfrm>
              </p:grpSpPr>
              <p:sp>
                <p:nvSpPr>
                  <p:cNvPr id="158842" name="Rectangle 285"/>
                  <p:cNvSpPr>
                    <a:spLocks noChangeArrowheads="1"/>
                  </p:cNvSpPr>
                  <p:nvPr/>
                </p:nvSpPr>
                <p:spPr bwMode="auto">
                  <a:xfrm>
                    <a:off x="3832" y="2916"/>
                    <a:ext cx="315" cy="24"/>
                  </a:xfrm>
                  <a:prstGeom prst="rect">
                    <a:avLst/>
                  </a:prstGeom>
                  <a:gradFill rotWithShape="0">
                    <a:gsLst>
                      <a:gs pos="0">
                        <a:srgbClr val="1F1F1F"/>
                      </a:gs>
                      <a:gs pos="50000">
                        <a:srgbClr val="676767"/>
                      </a:gs>
                      <a:gs pos="100000">
                        <a:srgbClr val="1F1F1F"/>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nvGrpSpPr>
                  <p:cNvPr id="158843" name="Group 286"/>
                  <p:cNvGrpSpPr>
                    <a:grpSpLocks/>
                  </p:cNvGrpSpPr>
                  <p:nvPr/>
                </p:nvGrpSpPr>
                <p:grpSpPr bwMode="auto">
                  <a:xfrm>
                    <a:off x="4155" y="2830"/>
                    <a:ext cx="99" cy="194"/>
                    <a:chOff x="4155" y="2830"/>
                    <a:chExt cx="99" cy="194"/>
                  </a:xfrm>
                </p:grpSpPr>
                <p:sp>
                  <p:nvSpPr>
                    <p:cNvPr id="158857" name="Oval 287"/>
                    <p:cNvSpPr>
                      <a:spLocks noChangeArrowheads="1"/>
                    </p:cNvSpPr>
                    <p:nvPr/>
                  </p:nvSpPr>
                  <p:spPr bwMode="auto">
                    <a:xfrm>
                      <a:off x="4155" y="2939"/>
                      <a:ext cx="99" cy="85"/>
                    </a:xfrm>
                    <a:prstGeom prst="ellipse">
                      <a:avLst/>
                    </a:prstGeom>
                    <a:gradFill rotWithShape="0">
                      <a:gsLst>
                        <a:gs pos="0">
                          <a:srgbClr val="003400"/>
                        </a:gs>
                        <a:gs pos="50000">
                          <a:srgbClr val="00AE00"/>
                        </a:gs>
                        <a:gs pos="100000">
                          <a:srgbClr val="003400"/>
                        </a:gs>
                      </a:gsLst>
                      <a:lin ang="0" scaled="1"/>
                    </a:gra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858" name="Oval 288"/>
                    <p:cNvSpPr>
                      <a:spLocks noChangeArrowheads="1"/>
                    </p:cNvSpPr>
                    <p:nvPr/>
                  </p:nvSpPr>
                  <p:spPr bwMode="auto">
                    <a:xfrm>
                      <a:off x="4155" y="2830"/>
                      <a:ext cx="99" cy="86"/>
                    </a:xfrm>
                    <a:prstGeom prst="ellipse">
                      <a:avLst/>
                    </a:prstGeom>
                    <a:gradFill rotWithShape="0">
                      <a:gsLst>
                        <a:gs pos="0">
                          <a:srgbClr val="003400"/>
                        </a:gs>
                        <a:gs pos="50000">
                          <a:srgbClr val="00AE00"/>
                        </a:gs>
                        <a:gs pos="100000">
                          <a:srgbClr val="003400"/>
                        </a:gs>
                      </a:gsLst>
                      <a:lin ang="0" scaled="1"/>
                    </a:gra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859" name="Rectangle 289"/>
                    <p:cNvSpPr>
                      <a:spLocks noChangeArrowheads="1"/>
                    </p:cNvSpPr>
                    <p:nvPr/>
                  </p:nvSpPr>
                  <p:spPr bwMode="auto">
                    <a:xfrm>
                      <a:off x="4155" y="2877"/>
                      <a:ext cx="99" cy="101"/>
                    </a:xfrm>
                    <a:prstGeom prst="rect">
                      <a:avLst/>
                    </a:prstGeom>
                    <a:gradFill rotWithShape="0">
                      <a:gsLst>
                        <a:gs pos="0">
                          <a:srgbClr val="003400"/>
                        </a:gs>
                        <a:gs pos="50000">
                          <a:srgbClr val="00AE00"/>
                        </a:gs>
                        <a:gs pos="100000">
                          <a:srgbClr val="003400"/>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grpSp>
                <p:nvGrpSpPr>
                  <p:cNvPr id="158844" name="Group 290"/>
                  <p:cNvGrpSpPr>
                    <a:grpSpLocks/>
                  </p:cNvGrpSpPr>
                  <p:nvPr/>
                </p:nvGrpSpPr>
                <p:grpSpPr bwMode="auto">
                  <a:xfrm>
                    <a:off x="4262" y="2845"/>
                    <a:ext cx="228" cy="179"/>
                    <a:chOff x="4262" y="2845"/>
                    <a:chExt cx="228" cy="179"/>
                  </a:xfrm>
                </p:grpSpPr>
                <p:sp>
                  <p:nvSpPr>
                    <p:cNvPr id="158852" name="Oval 291"/>
                    <p:cNvSpPr>
                      <a:spLocks noChangeArrowheads="1"/>
                    </p:cNvSpPr>
                    <p:nvPr/>
                  </p:nvSpPr>
                  <p:spPr bwMode="auto">
                    <a:xfrm>
                      <a:off x="4305" y="2845"/>
                      <a:ext cx="121" cy="102"/>
                    </a:xfrm>
                    <a:prstGeom prst="ellipse">
                      <a:avLst/>
                    </a:prstGeom>
                    <a:gradFill rotWithShape="0">
                      <a:gsLst>
                        <a:gs pos="0">
                          <a:srgbClr val="003400"/>
                        </a:gs>
                        <a:gs pos="50000">
                          <a:srgbClr val="00AE00"/>
                        </a:gs>
                        <a:gs pos="100000">
                          <a:srgbClr val="003400"/>
                        </a:gs>
                      </a:gsLst>
                      <a:lin ang="5400000" scaled="1"/>
                    </a:gra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853" name="Rectangle 292"/>
                    <p:cNvSpPr>
                      <a:spLocks noChangeArrowheads="1"/>
                    </p:cNvSpPr>
                    <p:nvPr/>
                  </p:nvSpPr>
                  <p:spPr bwMode="auto">
                    <a:xfrm>
                      <a:off x="4262" y="2877"/>
                      <a:ext cx="208" cy="147"/>
                    </a:xfrm>
                    <a:prstGeom prst="rect">
                      <a:avLst/>
                    </a:prstGeom>
                    <a:gradFill rotWithShape="0">
                      <a:gsLst>
                        <a:gs pos="0">
                          <a:srgbClr val="003400"/>
                        </a:gs>
                        <a:gs pos="50000">
                          <a:srgbClr val="00AE00"/>
                        </a:gs>
                        <a:gs pos="100000">
                          <a:srgbClr val="003400"/>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854" name="Rectangle 293"/>
                    <p:cNvSpPr>
                      <a:spLocks noChangeArrowheads="1"/>
                    </p:cNvSpPr>
                    <p:nvPr/>
                  </p:nvSpPr>
                  <p:spPr bwMode="auto">
                    <a:xfrm>
                      <a:off x="4283" y="2861"/>
                      <a:ext cx="14" cy="8"/>
                    </a:xfrm>
                    <a:prstGeom prst="rect">
                      <a:avLst/>
                    </a:prstGeom>
                    <a:gradFill rotWithShape="0">
                      <a:gsLst>
                        <a:gs pos="0">
                          <a:srgbClr val="003400"/>
                        </a:gs>
                        <a:gs pos="50000">
                          <a:srgbClr val="00AE00"/>
                        </a:gs>
                        <a:gs pos="100000">
                          <a:srgbClr val="003400"/>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855" name="Rectangle 294"/>
                    <p:cNvSpPr>
                      <a:spLocks noChangeArrowheads="1"/>
                    </p:cNvSpPr>
                    <p:nvPr/>
                  </p:nvSpPr>
                  <p:spPr bwMode="auto">
                    <a:xfrm>
                      <a:off x="4434" y="2861"/>
                      <a:ext cx="13" cy="8"/>
                    </a:xfrm>
                    <a:prstGeom prst="rect">
                      <a:avLst/>
                    </a:prstGeom>
                    <a:gradFill rotWithShape="0">
                      <a:gsLst>
                        <a:gs pos="0">
                          <a:srgbClr val="003400"/>
                        </a:gs>
                        <a:gs pos="50000">
                          <a:srgbClr val="00AE00"/>
                        </a:gs>
                        <a:gs pos="100000">
                          <a:srgbClr val="003400"/>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856" name="Rectangle 295"/>
                    <p:cNvSpPr>
                      <a:spLocks noChangeArrowheads="1"/>
                    </p:cNvSpPr>
                    <p:nvPr/>
                  </p:nvSpPr>
                  <p:spPr bwMode="auto">
                    <a:xfrm>
                      <a:off x="4478" y="2861"/>
                      <a:ext cx="12" cy="163"/>
                    </a:xfrm>
                    <a:prstGeom prst="rect">
                      <a:avLst/>
                    </a:prstGeom>
                    <a:gradFill rotWithShape="0">
                      <a:gsLst>
                        <a:gs pos="0">
                          <a:srgbClr val="003400"/>
                        </a:gs>
                        <a:gs pos="50000">
                          <a:srgbClr val="00AE00"/>
                        </a:gs>
                        <a:gs pos="100000">
                          <a:srgbClr val="003400"/>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sp>
                <p:nvSpPr>
                  <p:cNvPr id="158845" name="Freeform 296"/>
                  <p:cNvSpPr>
                    <a:spLocks/>
                  </p:cNvSpPr>
                  <p:nvPr/>
                </p:nvSpPr>
                <p:spPr bwMode="auto">
                  <a:xfrm>
                    <a:off x="4108" y="3013"/>
                    <a:ext cx="796" cy="63"/>
                  </a:xfrm>
                  <a:custGeom>
                    <a:avLst/>
                    <a:gdLst>
                      <a:gd name="T0" fmla="*/ 86 w 796"/>
                      <a:gd name="T1" fmla="*/ 16 h 63"/>
                      <a:gd name="T2" fmla="*/ 494 w 796"/>
                      <a:gd name="T3" fmla="*/ 16 h 63"/>
                      <a:gd name="T4" fmla="*/ 494 w 796"/>
                      <a:gd name="T5" fmla="*/ 0 h 63"/>
                      <a:gd name="T6" fmla="*/ 795 w 796"/>
                      <a:gd name="T7" fmla="*/ 0 h 63"/>
                      <a:gd name="T8" fmla="*/ 795 w 796"/>
                      <a:gd name="T9" fmla="*/ 62 h 63"/>
                      <a:gd name="T10" fmla="*/ 0 w 796"/>
                      <a:gd name="T11" fmla="*/ 62 h 63"/>
                      <a:gd name="T12" fmla="*/ 0 w 796"/>
                      <a:gd name="T13" fmla="*/ 16 h 63"/>
                      <a:gd name="T14" fmla="*/ 129 w 796"/>
                      <a:gd name="T15" fmla="*/ 16 h 63"/>
                      <a:gd name="T16" fmla="*/ 150 w 796"/>
                      <a:gd name="T17" fmla="*/ 16 h 6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96" h="63">
                        <a:moveTo>
                          <a:pt x="86" y="16"/>
                        </a:moveTo>
                        <a:lnTo>
                          <a:pt x="494" y="16"/>
                        </a:lnTo>
                        <a:lnTo>
                          <a:pt x="494" y="0"/>
                        </a:lnTo>
                        <a:lnTo>
                          <a:pt x="795" y="0"/>
                        </a:lnTo>
                        <a:lnTo>
                          <a:pt x="795" y="62"/>
                        </a:lnTo>
                        <a:lnTo>
                          <a:pt x="0" y="62"/>
                        </a:lnTo>
                        <a:lnTo>
                          <a:pt x="0" y="16"/>
                        </a:lnTo>
                        <a:lnTo>
                          <a:pt x="129" y="16"/>
                        </a:lnTo>
                        <a:lnTo>
                          <a:pt x="150" y="16"/>
                        </a:lnTo>
                      </a:path>
                    </a:pathLst>
                  </a:custGeom>
                  <a:gradFill rotWithShape="0">
                    <a:gsLst>
                      <a:gs pos="0">
                        <a:srgbClr val="0F0F0F"/>
                      </a:gs>
                      <a:gs pos="50000">
                        <a:srgbClr val="333333"/>
                      </a:gs>
                      <a:gs pos="100000">
                        <a:srgbClr val="0F0F0F"/>
                      </a:gs>
                    </a:gsLst>
                    <a:lin ang="5400000" scaled="1"/>
                  </a:gradFill>
                  <a:ln w="12700" cap="rnd" cmpd="sng">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8846" name="Rectangle 297"/>
                  <p:cNvSpPr>
                    <a:spLocks noChangeArrowheads="1"/>
                  </p:cNvSpPr>
                  <p:nvPr/>
                </p:nvSpPr>
                <p:spPr bwMode="auto">
                  <a:xfrm>
                    <a:off x="4628" y="2845"/>
                    <a:ext cx="250" cy="164"/>
                  </a:xfrm>
                  <a:prstGeom prst="rect">
                    <a:avLst/>
                  </a:prstGeom>
                  <a:gradFill rotWithShape="0">
                    <a:gsLst>
                      <a:gs pos="0">
                        <a:srgbClr val="021245"/>
                      </a:gs>
                      <a:gs pos="50000">
                        <a:srgbClr val="063DE8"/>
                      </a:gs>
                      <a:gs pos="100000">
                        <a:srgbClr val="021245"/>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847" name="Rectangle 298"/>
                  <p:cNvSpPr>
                    <a:spLocks noChangeArrowheads="1"/>
                  </p:cNvSpPr>
                  <p:nvPr/>
                </p:nvSpPr>
                <p:spPr bwMode="auto">
                  <a:xfrm>
                    <a:off x="4521" y="2916"/>
                    <a:ext cx="77" cy="24"/>
                  </a:xfrm>
                  <a:prstGeom prst="rect">
                    <a:avLst/>
                  </a:prstGeom>
                  <a:gradFill rotWithShape="0">
                    <a:gsLst>
                      <a:gs pos="0">
                        <a:srgbClr val="021245"/>
                      </a:gs>
                      <a:gs pos="50000">
                        <a:srgbClr val="063DE8"/>
                      </a:gs>
                      <a:gs pos="100000">
                        <a:srgbClr val="021245"/>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848" name="Rectangle 299"/>
                  <p:cNvSpPr>
                    <a:spLocks noChangeArrowheads="1"/>
                  </p:cNvSpPr>
                  <p:nvPr/>
                </p:nvSpPr>
                <p:spPr bwMode="auto">
                  <a:xfrm>
                    <a:off x="4606" y="2892"/>
                    <a:ext cx="14" cy="71"/>
                  </a:xfrm>
                  <a:prstGeom prst="rect">
                    <a:avLst/>
                  </a:prstGeom>
                  <a:gradFill rotWithShape="0">
                    <a:gsLst>
                      <a:gs pos="0">
                        <a:srgbClr val="021245"/>
                      </a:gs>
                      <a:gs pos="50000">
                        <a:srgbClr val="063DE8"/>
                      </a:gs>
                      <a:gs pos="100000">
                        <a:srgbClr val="021245"/>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849" name="Rectangle 300"/>
                  <p:cNvSpPr>
                    <a:spLocks noChangeArrowheads="1"/>
                  </p:cNvSpPr>
                  <p:nvPr/>
                </p:nvSpPr>
                <p:spPr bwMode="auto">
                  <a:xfrm>
                    <a:off x="4498" y="2901"/>
                    <a:ext cx="15" cy="54"/>
                  </a:xfrm>
                  <a:prstGeom prst="rect">
                    <a:avLst/>
                  </a:prstGeom>
                  <a:gradFill rotWithShape="0">
                    <a:gsLst>
                      <a:gs pos="0">
                        <a:srgbClr val="021245"/>
                      </a:gs>
                      <a:gs pos="50000">
                        <a:srgbClr val="063DE8"/>
                      </a:gs>
                      <a:gs pos="100000">
                        <a:srgbClr val="021245"/>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850" name="Rectangle 301"/>
                  <p:cNvSpPr>
                    <a:spLocks noChangeArrowheads="1"/>
                  </p:cNvSpPr>
                  <p:nvPr/>
                </p:nvSpPr>
                <p:spPr bwMode="auto">
                  <a:xfrm>
                    <a:off x="4886" y="2892"/>
                    <a:ext cx="13" cy="71"/>
                  </a:xfrm>
                  <a:prstGeom prst="rect">
                    <a:avLst/>
                  </a:prstGeom>
                  <a:gradFill rotWithShape="0">
                    <a:gsLst>
                      <a:gs pos="0">
                        <a:srgbClr val="021245"/>
                      </a:gs>
                      <a:gs pos="50000">
                        <a:srgbClr val="063DE8"/>
                      </a:gs>
                      <a:gs pos="100000">
                        <a:srgbClr val="021245"/>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851" name="Rectangle 302"/>
                  <p:cNvSpPr>
                    <a:spLocks noChangeArrowheads="1"/>
                  </p:cNvSpPr>
                  <p:nvPr/>
                </p:nvSpPr>
                <p:spPr bwMode="auto">
                  <a:xfrm>
                    <a:off x="4907" y="2908"/>
                    <a:ext cx="13" cy="39"/>
                  </a:xfrm>
                  <a:prstGeom prst="rect">
                    <a:avLst/>
                  </a:prstGeom>
                  <a:gradFill rotWithShape="0">
                    <a:gsLst>
                      <a:gs pos="0">
                        <a:srgbClr val="021245"/>
                      </a:gs>
                      <a:gs pos="50000">
                        <a:srgbClr val="063DE8"/>
                      </a:gs>
                      <a:gs pos="100000">
                        <a:srgbClr val="021245"/>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sp>
              <p:nvSpPr>
                <p:cNvPr id="158796" name="Line 303"/>
                <p:cNvSpPr>
                  <a:spLocks noChangeShapeType="1"/>
                </p:cNvSpPr>
                <p:nvPr/>
              </p:nvSpPr>
              <p:spPr bwMode="auto">
                <a:xfrm flipV="1">
                  <a:off x="3818" y="1915"/>
                  <a:ext cx="176" cy="475"/>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797" name="Line 304"/>
                <p:cNvSpPr>
                  <a:spLocks noChangeShapeType="1"/>
                </p:cNvSpPr>
                <p:nvPr/>
              </p:nvSpPr>
              <p:spPr bwMode="auto">
                <a:xfrm>
                  <a:off x="4009" y="1921"/>
                  <a:ext cx="597" cy="0"/>
                </a:xfrm>
                <a:prstGeom prst="line">
                  <a:avLst/>
                </a:prstGeom>
                <a:noFill/>
                <a:ln w="254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158798" name="Group 305"/>
                <p:cNvGrpSpPr>
                  <a:grpSpLocks/>
                </p:cNvGrpSpPr>
                <p:nvPr/>
              </p:nvGrpSpPr>
              <p:grpSpPr bwMode="auto">
                <a:xfrm>
                  <a:off x="4617" y="1863"/>
                  <a:ext cx="184" cy="453"/>
                  <a:chOff x="5094" y="2274"/>
                  <a:chExt cx="199" cy="475"/>
                </a:xfrm>
              </p:grpSpPr>
              <p:sp>
                <p:nvSpPr>
                  <p:cNvPr id="158834" name="Rectangle 306"/>
                  <p:cNvSpPr>
                    <a:spLocks noChangeArrowheads="1"/>
                  </p:cNvSpPr>
                  <p:nvPr/>
                </p:nvSpPr>
                <p:spPr bwMode="auto">
                  <a:xfrm>
                    <a:off x="5113" y="2328"/>
                    <a:ext cx="48" cy="39"/>
                  </a:xfrm>
                  <a:prstGeom prst="rect">
                    <a:avLst/>
                  </a:prstGeom>
                  <a:gradFill rotWithShape="0">
                    <a:gsLst>
                      <a:gs pos="0">
                        <a:srgbClr val="2B2B2B"/>
                      </a:gs>
                      <a:gs pos="50000">
                        <a:srgbClr val="919191"/>
                      </a:gs>
                      <a:gs pos="100000">
                        <a:srgbClr val="2B2B2B"/>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835" name="Rectangle 307"/>
                  <p:cNvSpPr>
                    <a:spLocks noChangeArrowheads="1"/>
                  </p:cNvSpPr>
                  <p:nvPr/>
                </p:nvSpPr>
                <p:spPr bwMode="auto">
                  <a:xfrm>
                    <a:off x="5094" y="2305"/>
                    <a:ext cx="11" cy="86"/>
                  </a:xfrm>
                  <a:prstGeom prst="rect">
                    <a:avLst/>
                  </a:prstGeom>
                  <a:gradFill rotWithShape="0">
                    <a:gsLst>
                      <a:gs pos="0">
                        <a:srgbClr val="2B2B2B"/>
                      </a:gs>
                      <a:gs pos="50000">
                        <a:srgbClr val="919191"/>
                      </a:gs>
                      <a:gs pos="100000">
                        <a:srgbClr val="2B2B2B"/>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836" name="Rectangle 308"/>
                  <p:cNvSpPr>
                    <a:spLocks noChangeArrowheads="1"/>
                  </p:cNvSpPr>
                  <p:nvPr/>
                </p:nvSpPr>
                <p:spPr bwMode="auto">
                  <a:xfrm>
                    <a:off x="5169" y="2305"/>
                    <a:ext cx="124" cy="148"/>
                  </a:xfrm>
                  <a:prstGeom prst="rect">
                    <a:avLst/>
                  </a:pr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837" name="Rectangle 309"/>
                  <p:cNvSpPr>
                    <a:spLocks noChangeArrowheads="1"/>
                  </p:cNvSpPr>
                  <p:nvPr/>
                </p:nvSpPr>
                <p:spPr bwMode="auto">
                  <a:xfrm>
                    <a:off x="5198" y="2289"/>
                    <a:ext cx="67" cy="8"/>
                  </a:xfrm>
                  <a:prstGeom prst="rect">
                    <a:avLst/>
                  </a:pr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838" name="Rectangle 310"/>
                  <p:cNvSpPr>
                    <a:spLocks noChangeArrowheads="1"/>
                  </p:cNvSpPr>
                  <p:nvPr/>
                </p:nvSpPr>
                <p:spPr bwMode="auto">
                  <a:xfrm>
                    <a:off x="5188" y="2274"/>
                    <a:ext cx="86" cy="7"/>
                  </a:xfrm>
                  <a:prstGeom prst="rect">
                    <a:avLst/>
                  </a:pr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839" name="AutoShape 311"/>
                  <p:cNvSpPr>
                    <a:spLocks noChangeArrowheads="1"/>
                  </p:cNvSpPr>
                  <p:nvPr/>
                </p:nvSpPr>
                <p:spPr bwMode="auto">
                  <a:xfrm rot="10800000" flipH="1" flipV="1">
                    <a:off x="5169" y="2461"/>
                    <a:ext cx="124" cy="24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5400 w 21600"/>
                      <a:gd name="T13" fmla="*/ 5467 h 21600"/>
                      <a:gd name="T14" fmla="*/ 16200 w 21600"/>
                      <a:gd name="T15" fmla="*/ 16133 h 21600"/>
                    </a:gdLst>
                    <a:ahLst/>
                    <a:cxnLst>
                      <a:cxn ang="T8">
                        <a:pos x="T0" y="T1"/>
                      </a:cxn>
                      <a:cxn ang="T9">
                        <a:pos x="T2" y="T3"/>
                      </a:cxn>
                      <a:cxn ang="T10">
                        <a:pos x="T4" y="T5"/>
                      </a:cxn>
                      <a:cxn ang="T11">
                        <a:pos x="T6" y="T7"/>
                      </a:cxn>
                    </a:cxnLst>
                    <a:rect l="T12" t="T13" r="T14" b="T15"/>
                    <a:pathLst>
                      <a:path w="21600" h="21600">
                        <a:moveTo>
                          <a:pt x="0" y="0"/>
                        </a:moveTo>
                        <a:lnTo>
                          <a:pt x="7328" y="21600"/>
                        </a:lnTo>
                        <a:lnTo>
                          <a:pt x="14272" y="21600"/>
                        </a:lnTo>
                        <a:lnTo>
                          <a:pt x="21600" y="0"/>
                        </a:lnTo>
                        <a:lnTo>
                          <a:pt x="0" y="0"/>
                        </a:lnTo>
                        <a:close/>
                      </a:path>
                    </a:pathLst>
                  </a:cu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840" name="Rectangle 312"/>
                  <p:cNvSpPr>
                    <a:spLocks noChangeArrowheads="1"/>
                  </p:cNvSpPr>
                  <p:nvPr/>
                </p:nvSpPr>
                <p:spPr bwMode="auto">
                  <a:xfrm>
                    <a:off x="5179" y="2710"/>
                    <a:ext cx="105" cy="8"/>
                  </a:xfrm>
                  <a:prstGeom prst="rect">
                    <a:avLst/>
                  </a:pr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841" name="Rectangle 313"/>
                  <p:cNvSpPr>
                    <a:spLocks noChangeArrowheads="1"/>
                  </p:cNvSpPr>
                  <p:nvPr/>
                </p:nvSpPr>
                <p:spPr bwMode="auto">
                  <a:xfrm>
                    <a:off x="5207" y="2726"/>
                    <a:ext cx="48" cy="23"/>
                  </a:xfrm>
                  <a:prstGeom prst="rect">
                    <a:avLst/>
                  </a:pr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grpSp>
              <p:nvGrpSpPr>
                <p:cNvPr id="158799" name="Group 314"/>
                <p:cNvGrpSpPr>
                  <a:grpSpLocks/>
                </p:cNvGrpSpPr>
                <p:nvPr/>
              </p:nvGrpSpPr>
              <p:grpSpPr bwMode="auto">
                <a:xfrm>
                  <a:off x="4617" y="2294"/>
                  <a:ext cx="414" cy="329"/>
                  <a:chOff x="5094" y="2725"/>
                  <a:chExt cx="448" cy="346"/>
                </a:xfrm>
              </p:grpSpPr>
              <p:sp>
                <p:nvSpPr>
                  <p:cNvPr id="158827" name="AutoShape 315"/>
                  <p:cNvSpPr>
                    <a:spLocks noChangeArrowheads="1"/>
                  </p:cNvSpPr>
                  <p:nvPr/>
                </p:nvSpPr>
                <p:spPr bwMode="auto">
                  <a:xfrm>
                    <a:off x="5162" y="2725"/>
                    <a:ext cx="340" cy="46"/>
                  </a:xfrm>
                  <a:prstGeom prst="triangle">
                    <a:avLst>
                      <a:gd name="adj" fmla="val 49995"/>
                    </a:avLst>
                  </a:pr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828" name="Rectangle 316"/>
                  <p:cNvSpPr>
                    <a:spLocks noChangeArrowheads="1"/>
                  </p:cNvSpPr>
                  <p:nvPr/>
                </p:nvSpPr>
                <p:spPr bwMode="auto">
                  <a:xfrm>
                    <a:off x="5162" y="2779"/>
                    <a:ext cx="340" cy="264"/>
                  </a:xfrm>
                  <a:prstGeom prst="rect">
                    <a:avLst/>
                  </a:pr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829" name="Rectangle 317"/>
                  <p:cNvSpPr>
                    <a:spLocks noChangeArrowheads="1"/>
                  </p:cNvSpPr>
                  <p:nvPr/>
                </p:nvSpPr>
                <p:spPr bwMode="auto">
                  <a:xfrm>
                    <a:off x="5121" y="3051"/>
                    <a:ext cx="421" cy="20"/>
                  </a:xfrm>
                  <a:prstGeom prst="rect">
                    <a:avLst/>
                  </a:pr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830" name="Rectangle 318"/>
                  <p:cNvSpPr>
                    <a:spLocks noChangeArrowheads="1"/>
                  </p:cNvSpPr>
                  <p:nvPr/>
                </p:nvSpPr>
                <p:spPr bwMode="auto">
                  <a:xfrm>
                    <a:off x="5094" y="2963"/>
                    <a:ext cx="99" cy="6"/>
                  </a:xfrm>
                  <a:prstGeom prst="rect">
                    <a:avLst/>
                  </a:prstGeom>
                  <a:gradFill rotWithShape="0">
                    <a:gsLst>
                      <a:gs pos="0">
                        <a:srgbClr val="2B2B2B"/>
                      </a:gs>
                      <a:gs pos="50000">
                        <a:srgbClr val="919191"/>
                      </a:gs>
                      <a:gs pos="100000">
                        <a:srgbClr val="2B2B2B"/>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nvGrpSpPr>
                  <p:cNvPr id="158831" name="Group 319"/>
                  <p:cNvGrpSpPr>
                    <a:grpSpLocks/>
                  </p:cNvGrpSpPr>
                  <p:nvPr/>
                </p:nvGrpSpPr>
                <p:grpSpPr bwMode="auto">
                  <a:xfrm>
                    <a:off x="5175" y="2916"/>
                    <a:ext cx="18" cy="101"/>
                    <a:chOff x="5175" y="2916"/>
                    <a:chExt cx="18" cy="101"/>
                  </a:xfrm>
                </p:grpSpPr>
                <p:sp>
                  <p:nvSpPr>
                    <p:cNvPr id="158832" name="Oval 320"/>
                    <p:cNvSpPr>
                      <a:spLocks noChangeArrowheads="1"/>
                    </p:cNvSpPr>
                    <p:nvPr/>
                  </p:nvSpPr>
                  <p:spPr bwMode="auto">
                    <a:xfrm>
                      <a:off x="5175" y="2970"/>
                      <a:ext cx="18" cy="47"/>
                    </a:xfrm>
                    <a:prstGeom prst="ellipse">
                      <a:avLst/>
                    </a:prstGeom>
                    <a:gradFill rotWithShape="0">
                      <a:gsLst>
                        <a:gs pos="0">
                          <a:srgbClr val="2B2B2B"/>
                        </a:gs>
                        <a:gs pos="50000">
                          <a:srgbClr val="919191"/>
                        </a:gs>
                        <a:gs pos="100000">
                          <a:srgbClr val="2B2B2B"/>
                        </a:gs>
                      </a:gsLst>
                      <a:lin ang="5400000" scaled="1"/>
                    </a:gra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833" name="Oval 321"/>
                    <p:cNvSpPr>
                      <a:spLocks noChangeArrowheads="1"/>
                    </p:cNvSpPr>
                    <p:nvPr/>
                  </p:nvSpPr>
                  <p:spPr bwMode="auto">
                    <a:xfrm>
                      <a:off x="5175" y="2916"/>
                      <a:ext cx="18" cy="46"/>
                    </a:xfrm>
                    <a:prstGeom prst="ellipse">
                      <a:avLst/>
                    </a:prstGeom>
                    <a:gradFill rotWithShape="0">
                      <a:gsLst>
                        <a:gs pos="0">
                          <a:srgbClr val="2B2B2B"/>
                        </a:gs>
                        <a:gs pos="50000">
                          <a:srgbClr val="919191"/>
                        </a:gs>
                        <a:gs pos="100000">
                          <a:srgbClr val="2B2B2B"/>
                        </a:gs>
                      </a:gsLst>
                      <a:lin ang="5400000" scaled="1"/>
                    </a:gra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grpSp>
            <p:grpSp>
              <p:nvGrpSpPr>
                <p:cNvPr id="158800" name="Group 322"/>
                <p:cNvGrpSpPr>
                  <a:grpSpLocks/>
                </p:cNvGrpSpPr>
                <p:nvPr/>
              </p:nvGrpSpPr>
              <p:grpSpPr bwMode="auto">
                <a:xfrm>
                  <a:off x="5089" y="2513"/>
                  <a:ext cx="95" cy="97"/>
                  <a:chOff x="5606" y="2955"/>
                  <a:chExt cx="102" cy="102"/>
                </a:xfrm>
              </p:grpSpPr>
              <p:sp>
                <p:nvSpPr>
                  <p:cNvPr id="158825" name="Oval 323"/>
                  <p:cNvSpPr>
                    <a:spLocks noChangeArrowheads="1"/>
                  </p:cNvSpPr>
                  <p:nvPr/>
                </p:nvSpPr>
                <p:spPr bwMode="auto">
                  <a:xfrm>
                    <a:off x="5606" y="2955"/>
                    <a:ext cx="102" cy="102"/>
                  </a:xfrm>
                  <a:prstGeom prst="ellipse">
                    <a:avLst/>
                  </a:prstGeom>
                  <a:solidFill>
                    <a:srgbClr val="00279F"/>
                  </a:soli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826" name="AutoShape 324"/>
                  <p:cNvSpPr>
                    <a:spLocks noChangeArrowheads="1"/>
                  </p:cNvSpPr>
                  <p:nvPr/>
                </p:nvSpPr>
                <p:spPr bwMode="auto">
                  <a:xfrm rot="5400000">
                    <a:off x="5630" y="2968"/>
                    <a:ext cx="78" cy="76"/>
                  </a:xfrm>
                  <a:prstGeom prst="triangle">
                    <a:avLst>
                      <a:gd name="adj" fmla="val 49995"/>
                    </a:avLst>
                  </a:prstGeom>
                  <a:solidFill>
                    <a:schemeClr val="hlink"/>
                  </a:soli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sp>
              <p:nvSpPr>
                <p:cNvPr id="158801" name="Line 325"/>
                <p:cNvSpPr>
                  <a:spLocks noChangeShapeType="1"/>
                </p:cNvSpPr>
                <p:nvPr/>
              </p:nvSpPr>
              <p:spPr bwMode="auto">
                <a:xfrm flipV="1">
                  <a:off x="4745" y="1748"/>
                  <a:ext cx="0" cy="115"/>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802" name="Line 326"/>
                <p:cNvSpPr>
                  <a:spLocks noChangeShapeType="1"/>
                </p:cNvSpPr>
                <p:nvPr/>
              </p:nvSpPr>
              <p:spPr bwMode="auto">
                <a:xfrm>
                  <a:off x="4752" y="1755"/>
                  <a:ext cx="339" cy="0"/>
                </a:xfrm>
                <a:prstGeom prst="line">
                  <a:avLst/>
                </a:prstGeom>
                <a:noFill/>
                <a:ln w="254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158803" name="Group 327"/>
                <p:cNvGrpSpPr>
                  <a:grpSpLocks/>
                </p:cNvGrpSpPr>
                <p:nvPr/>
              </p:nvGrpSpPr>
              <p:grpSpPr bwMode="auto">
                <a:xfrm>
                  <a:off x="3411" y="1649"/>
                  <a:ext cx="846" cy="307"/>
                  <a:chOff x="3788" y="2050"/>
                  <a:chExt cx="916" cy="321"/>
                </a:xfrm>
              </p:grpSpPr>
              <p:sp>
                <p:nvSpPr>
                  <p:cNvPr id="158820" name="Line 328"/>
                  <p:cNvSpPr>
                    <a:spLocks noChangeShapeType="1"/>
                  </p:cNvSpPr>
                  <p:nvPr/>
                </p:nvSpPr>
                <p:spPr bwMode="auto">
                  <a:xfrm flipV="1">
                    <a:off x="4036" y="2050"/>
                    <a:ext cx="136" cy="114"/>
                  </a:xfrm>
                  <a:prstGeom prst="line">
                    <a:avLst/>
                  </a:prstGeom>
                  <a:noFill/>
                  <a:ln w="12700">
                    <a:solidFill>
                      <a:srgbClr val="0000FF"/>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821" name="Line 329"/>
                  <p:cNvSpPr>
                    <a:spLocks noChangeShapeType="1"/>
                  </p:cNvSpPr>
                  <p:nvPr/>
                </p:nvSpPr>
                <p:spPr bwMode="auto">
                  <a:xfrm>
                    <a:off x="3796" y="2371"/>
                    <a:ext cx="424" cy="0"/>
                  </a:xfrm>
                  <a:prstGeom prst="line">
                    <a:avLst/>
                  </a:prstGeom>
                  <a:noFill/>
                  <a:ln w="127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822" name="Line 330"/>
                  <p:cNvSpPr>
                    <a:spLocks noChangeShapeType="1"/>
                  </p:cNvSpPr>
                  <p:nvPr/>
                </p:nvSpPr>
                <p:spPr bwMode="auto">
                  <a:xfrm>
                    <a:off x="4224" y="2058"/>
                    <a:ext cx="0" cy="309"/>
                  </a:xfrm>
                  <a:prstGeom prst="line">
                    <a:avLst/>
                  </a:prstGeom>
                  <a:noFill/>
                  <a:ln w="127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823" name="Line 331"/>
                  <p:cNvSpPr>
                    <a:spLocks noChangeShapeType="1"/>
                  </p:cNvSpPr>
                  <p:nvPr/>
                </p:nvSpPr>
                <p:spPr bwMode="auto">
                  <a:xfrm flipH="1">
                    <a:off x="3788" y="2234"/>
                    <a:ext cx="104" cy="133"/>
                  </a:xfrm>
                  <a:prstGeom prst="line">
                    <a:avLst/>
                  </a:prstGeom>
                  <a:noFill/>
                  <a:ln w="12700">
                    <a:solidFill>
                      <a:srgbClr val="0000FF"/>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824" name="Line 332"/>
                  <p:cNvSpPr>
                    <a:spLocks noChangeShapeType="1"/>
                  </p:cNvSpPr>
                  <p:nvPr/>
                </p:nvSpPr>
                <p:spPr bwMode="auto">
                  <a:xfrm flipV="1">
                    <a:off x="4704" y="2050"/>
                    <a:ext cx="0" cy="114"/>
                  </a:xfrm>
                  <a:prstGeom prst="line">
                    <a:avLst/>
                  </a:prstGeom>
                  <a:noFill/>
                  <a:ln w="127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158804" name="Rectangle 333"/>
                <p:cNvSpPr>
                  <a:spLocks noChangeArrowheads="1"/>
                </p:cNvSpPr>
                <p:nvPr/>
              </p:nvSpPr>
              <p:spPr bwMode="auto">
                <a:xfrm>
                  <a:off x="3895" y="1680"/>
                  <a:ext cx="816" cy="1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000" b="1">
                      <a:solidFill>
                        <a:srgbClr val="0000FF"/>
                      </a:solidFill>
                      <a:latin typeface="Tahoma" panose="020B0604030504040204" pitchFamily="34" charset="0"/>
                      <a:cs typeface="Angsana New" panose="02020603050405020304" pitchFamily="18" charset="-34"/>
                    </a:rPr>
                    <a:t>GREEN LIQUOR</a:t>
                  </a:r>
                </a:p>
              </p:txBody>
            </p:sp>
            <p:sp>
              <p:nvSpPr>
                <p:cNvPr id="158805" name="Line 334"/>
                <p:cNvSpPr>
                  <a:spLocks noChangeShapeType="1"/>
                </p:cNvSpPr>
                <p:nvPr/>
              </p:nvSpPr>
              <p:spPr bwMode="auto">
                <a:xfrm>
                  <a:off x="3438" y="2200"/>
                  <a:ext cx="0" cy="17"/>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806" name="Line 335"/>
                <p:cNvSpPr>
                  <a:spLocks noChangeShapeType="1"/>
                </p:cNvSpPr>
                <p:nvPr/>
              </p:nvSpPr>
              <p:spPr bwMode="auto">
                <a:xfrm>
                  <a:off x="3526" y="2200"/>
                  <a:ext cx="0" cy="17"/>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158807" name="Group 336"/>
                <p:cNvGrpSpPr>
                  <a:grpSpLocks/>
                </p:cNvGrpSpPr>
                <p:nvPr/>
              </p:nvGrpSpPr>
              <p:grpSpPr bwMode="auto">
                <a:xfrm>
                  <a:off x="3467" y="1413"/>
                  <a:ext cx="230" cy="581"/>
                  <a:chOff x="3848" y="1802"/>
                  <a:chExt cx="250" cy="608"/>
                </a:xfrm>
              </p:grpSpPr>
              <p:sp>
                <p:nvSpPr>
                  <p:cNvPr id="158810" name="AutoShape 337"/>
                  <p:cNvSpPr>
                    <a:spLocks noChangeArrowheads="1"/>
                  </p:cNvSpPr>
                  <p:nvPr/>
                </p:nvSpPr>
                <p:spPr bwMode="auto">
                  <a:xfrm rot="-5400000" flipH="1" flipV="1">
                    <a:off x="3850" y="2150"/>
                    <a:ext cx="52" cy="56"/>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69 w 21600"/>
                      <a:gd name="T13" fmla="*/ 4629 h 21600"/>
                      <a:gd name="T14" fmla="*/ 17031 w 21600"/>
                      <a:gd name="T15" fmla="*/ 16971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lnTo>
                          <a:pt x="0" y="0"/>
                        </a:lnTo>
                        <a:close/>
                      </a:path>
                    </a:pathLst>
                  </a:custGeom>
                  <a:gradFill rotWithShape="0">
                    <a:gsLst>
                      <a:gs pos="0">
                        <a:srgbClr val="2B2B2B"/>
                      </a:gs>
                      <a:gs pos="50000">
                        <a:srgbClr val="919191"/>
                      </a:gs>
                      <a:gs pos="100000">
                        <a:srgbClr val="2B2B2B"/>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811" name="Oval 338"/>
                  <p:cNvSpPr>
                    <a:spLocks noChangeArrowheads="1"/>
                  </p:cNvSpPr>
                  <p:nvPr/>
                </p:nvSpPr>
                <p:spPr bwMode="auto">
                  <a:xfrm>
                    <a:off x="3913" y="1802"/>
                    <a:ext cx="100" cy="115"/>
                  </a:xfrm>
                  <a:prstGeom prst="ellipse">
                    <a:avLst/>
                  </a:prstGeom>
                  <a:gradFill rotWithShape="0">
                    <a:gsLst>
                      <a:gs pos="0">
                        <a:srgbClr val="2B2B2B"/>
                      </a:gs>
                      <a:gs pos="50000">
                        <a:srgbClr val="919191"/>
                      </a:gs>
                      <a:gs pos="100000">
                        <a:srgbClr val="2B2B2B"/>
                      </a:gs>
                    </a:gsLst>
                    <a:lin ang="0" scaled="1"/>
                  </a:gra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812" name="Rectangle 339"/>
                  <p:cNvSpPr>
                    <a:spLocks noChangeArrowheads="1"/>
                  </p:cNvSpPr>
                  <p:nvPr/>
                </p:nvSpPr>
                <p:spPr bwMode="auto">
                  <a:xfrm>
                    <a:off x="3913" y="1863"/>
                    <a:ext cx="100" cy="363"/>
                  </a:xfrm>
                  <a:prstGeom prst="rect">
                    <a:avLst/>
                  </a:pr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813" name="Rectangle 340"/>
                  <p:cNvSpPr>
                    <a:spLocks noChangeArrowheads="1"/>
                  </p:cNvSpPr>
                  <p:nvPr/>
                </p:nvSpPr>
                <p:spPr bwMode="auto">
                  <a:xfrm>
                    <a:off x="3891" y="1842"/>
                    <a:ext cx="142" cy="13"/>
                  </a:xfrm>
                  <a:prstGeom prst="rect">
                    <a:avLst/>
                  </a:pr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814" name="Freeform 341"/>
                  <p:cNvSpPr>
                    <a:spLocks/>
                  </p:cNvSpPr>
                  <p:nvPr/>
                </p:nvSpPr>
                <p:spPr bwMode="auto">
                  <a:xfrm>
                    <a:off x="3909" y="2230"/>
                    <a:ext cx="109" cy="42"/>
                  </a:xfrm>
                  <a:custGeom>
                    <a:avLst/>
                    <a:gdLst>
                      <a:gd name="T0" fmla="*/ 0 w 109"/>
                      <a:gd name="T1" fmla="*/ 0 h 42"/>
                      <a:gd name="T2" fmla="*/ 43 w 109"/>
                      <a:gd name="T3" fmla="*/ 41 h 42"/>
                      <a:gd name="T4" fmla="*/ 108 w 109"/>
                      <a:gd name="T5" fmla="*/ 41 h 42"/>
                      <a:gd name="T6" fmla="*/ 108 w 109"/>
                      <a:gd name="T7" fmla="*/ 0 h 42"/>
                      <a:gd name="T8" fmla="*/ 0 w 109"/>
                      <a:gd name="T9" fmla="*/ 0 h 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9" h="42">
                        <a:moveTo>
                          <a:pt x="0" y="0"/>
                        </a:moveTo>
                        <a:lnTo>
                          <a:pt x="43" y="41"/>
                        </a:lnTo>
                        <a:lnTo>
                          <a:pt x="108" y="41"/>
                        </a:lnTo>
                        <a:lnTo>
                          <a:pt x="108" y="0"/>
                        </a:lnTo>
                        <a:lnTo>
                          <a:pt x="0" y="0"/>
                        </a:lnTo>
                      </a:path>
                    </a:pathLst>
                  </a:custGeom>
                  <a:gradFill rotWithShape="0">
                    <a:gsLst>
                      <a:gs pos="0">
                        <a:srgbClr val="2B2B2B"/>
                      </a:gs>
                      <a:gs pos="50000">
                        <a:srgbClr val="919191"/>
                      </a:gs>
                      <a:gs pos="100000">
                        <a:srgbClr val="2B2B2B"/>
                      </a:gs>
                    </a:gsLst>
                    <a:lin ang="0" scaled="1"/>
                  </a:gradFill>
                  <a:ln w="12700" cap="rnd" cmpd="sng">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8815" name="Oval 342"/>
                  <p:cNvSpPr>
                    <a:spLocks noChangeArrowheads="1"/>
                  </p:cNvSpPr>
                  <p:nvPr/>
                </p:nvSpPr>
                <p:spPr bwMode="auto">
                  <a:xfrm>
                    <a:off x="3998" y="2172"/>
                    <a:ext cx="35" cy="32"/>
                  </a:xfrm>
                  <a:prstGeom prst="ellipse">
                    <a:avLst/>
                  </a:prstGeom>
                  <a:gradFill rotWithShape="0">
                    <a:gsLst>
                      <a:gs pos="0">
                        <a:srgbClr val="2B2B2B"/>
                      </a:gs>
                      <a:gs pos="50000">
                        <a:srgbClr val="919191"/>
                      </a:gs>
                      <a:gs pos="100000">
                        <a:srgbClr val="2B2B2B"/>
                      </a:gs>
                    </a:gsLst>
                    <a:lin ang="0" scaled="1"/>
                  </a:gra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816" name="Rectangle 343"/>
                  <p:cNvSpPr>
                    <a:spLocks noChangeArrowheads="1"/>
                  </p:cNvSpPr>
                  <p:nvPr/>
                </p:nvSpPr>
                <p:spPr bwMode="auto">
                  <a:xfrm>
                    <a:off x="4021" y="2174"/>
                    <a:ext cx="34" cy="29"/>
                  </a:xfrm>
                  <a:prstGeom prst="rect">
                    <a:avLst/>
                  </a:pr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817" name="Rectangle 344"/>
                  <p:cNvSpPr>
                    <a:spLocks noChangeArrowheads="1"/>
                  </p:cNvSpPr>
                  <p:nvPr/>
                </p:nvSpPr>
                <p:spPr bwMode="auto">
                  <a:xfrm>
                    <a:off x="4063" y="2182"/>
                    <a:ext cx="35" cy="13"/>
                  </a:xfrm>
                  <a:prstGeom prst="rect">
                    <a:avLst/>
                  </a:pr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818" name="Rectangle 345"/>
                  <p:cNvSpPr>
                    <a:spLocks noChangeArrowheads="1"/>
                  </p:cNvSpPr>
                  <p:nvPr/>
                </p:nvSpPr>
                <p:spPr bwMode="auto">
                  <a:xfrm>
                    <a:off x="3955" y="2275"/>
                    <a:ext cx="58" cy="115"/>
                  </a:xfrm>
                  <a:prstGeom prst="rect">
                    <a:avLst/>
                  </a:pr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58819" name="Rectangle 346"/>
                  <p:cNvSpPr>
                    <a:spLocks noChangeArrowheads="1"/>
                  </p:cNvSpPr>
                  <p:nvPr/>
                </p:nvSpPr>
                <p:spPr bwMode="auto">
                  <a:xfrm>
                    <a:off x="3934" y="2398"/>
                    <a:ext cx="99" cy="12"/>
                  </a:xfrm>
                  <a:prstGeom prst="rect">
                    <a:avLst/>
                  </a:pr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sp>
              <p:nvSpPr>
                <p:cNvPr id="158808" name="Rectangle 347"/>
                <p:cNvSpPr>
                  <a:spLocks noChangeArrowheads="1"/>
                </p:cNvSpPr>
                <p:nvPr/>
              </p:nvSpPr>
              <p:spPr bwMode="auto">
                <a:xfrm>
                  <a:off x="3840" y="2260"/>
                  <a:ext cx="698" cy="105"/>
                </a:xfrm>
                <a:prstGeom prst="rect">
                  <a:avLst/>
                </a:prstGeom>
                <a:noFill/>
                <a:ln>
                  <a:noFill/>
                </a:ln>
                <a:effectLst/>
                <a:extLst>
                  <a:ext uri="{909E8E84-426E-40DD-AFC4-6F175D3DCCD1}">
                    <a14:hiddenFill xmlns:a14="http://schemas.microsoft.com/office/drawing/2010/main">
                      <a:solidFill>
                        <a:srgbClr val="EAEC5E"/>
                      </a:solidFill>
                    </a14:hiddenFill>
                  </a:ext>
                  <a:ext uri="{91240B29-F687-4F45-9708-019B960494DF}">
                    <a14:hiddenLine xmlns:a14="http://schemas.microsoft.com/office/drawing/2010/main" w="127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45000"/>
                    </a:lnSpc>
                    <a:spcBef>
                      <a:spcPct val="0"/>
                    </a:spcBef>
                    <a:buFontTx/>
                    <a:buNone/>
                  </a:pPr>
                  <a:r>
                    <a:rPr lang="en-US" altLang="en-US" sz="1000" b="1">
                      <a:solidFill>
                        <a:srgbClr val="0000FF"/>
                      </a:solidFill>
                      <a:latin typeface="Tahoma" panose="020B0604030504040204" pitchFamily="34" charset="0"/>
                      <a:cs typeface="Angsana New" panose="02020603050405020304" pitchFamily="18" charset="-34"/>
                    </a:rPr>
                    <a:t>DEFIBRATOR</a:t>
                  </a:r>
                </a:p>
              </p:txBody>
            </p:sp>
            <p:sp>
              <p:nvSpPr>
                <p:cNvPr id="158809" name="Rectangle 348"/>
                <p:cNvSpPr>
                  <a:spLocks noChangeArrowheads="1"/>
                </p:cNvSpPr>
                <p:nvPr/>
              </p:nvSpPr>
              <p:spPr bwMode="auto">
                <a:xfrm>
                  <a:off x="4767" y="1535"/>
                  <a:ext cx="769" cy="125"/>
                </a:xfrm>
                <a:prstGeom prst="rect">
                  <a:avLst/>
                </a:prstGeom>
                <a:noFill/>
                <a:ln>
                  <a:noFill/>
                </a:ln>
                <a:effectLst/>
                <a:extLst>
                  <a:ext uri="{909E8E84-426E-40DD-AFC4-6F175D3DCCD1}">
                    <a14:hiddenFill xmlns:a14="http://schemas.microsoft.com/office/drawing/2010/main">
                      <a:solidFill>
                        <a:srgbClr val="EAEC5E"/>
                      </a:solidFill>
                    </a14:hiddenFill>
                  </a:ext>
                  <a:ext uri="{91240B29-F687-4F45-9708-019B960494DF}">
                    <a14:hiddenLine xmlns:a14="http://schemas.microsoft.com/office/drawing/2010/main" w="127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65000"/>
                    </a:lnSpc>
                    <a:spcBef>
                      <a:spcPct val="0"/>
                    </a:spcBef>
                    <a:buFontTx/>
                    <a:buNone/>
                  </a:pPr>
                  <a:r>
                    <a:rPr lang="en-US" altLang="en-US" sz="1000" b="1">
                      <a:solidFill>
                        <a:srgbClr val="0000FF"/>
                      </a:solidFill>
                      <a:latin typeface="Tahoma" panose="020B0604030504040204" pitchFamily="34" charset="0"/>
                      <a:cs typeface="Angsana New" panose="02020603050405020304" pitchFamily="18" charset="-34"/>
                    </a:rPr>
                    <a:t>STEAM TO AIR</a:t>
                  </a:r>
                </a:p>
              </p:txBody>
            </p:sp>
          </p:grpSp>
        </p:grpSp>
      </p:grpSp>
      <p:grpSp>
        <p:nvGrpSpPr>
          <p:cNvPr id="54621" name="Group 349"/>
          <p:cNvGrpSpPr>
            <a:grpSpLocks/>
          </p:cNvGrpSpPr>
          <p:nvPr/>
        </p:nvGrpSpPr>
        <p:grpSpPr bwMode="auto">
          <a:xfrm>
            <a:off x="3527425" y="1412875"/>
            <a:ext cx="5510213" cy="3324225"/>
            <a:chOff x="2222" y="890"/>
            <a:chExt cx="3471" cy="2094"/>
          </a:xfrm>
        </p:grpSpPr>
        <p:sp>
          <p:nvSpPr>
            <p:cNvPr id="158731" name="Freeform 350"/>
            <p:cNvSpPr>
              <a:spLocks/>
            </p:cNvSpPr>
            <p:nvPr/>
          </p:nvSpPr>
          <p:spPr bwMode="auto">
            <a:xfrm>
              <a:off x="2222" y="1417"/>
              <a:ext cx="2669" cy="1567"/>
            </a:xfrm>
            <a:custGeom>
              <a:avLst/>
              <a:gdLst>
                <a:gd name="T0" fmla="*/ 887 w 2669"/>
                <a:gd name="T1" fmla="*/ 9 h 1567"/>
                <a:gd name="T2" fmla="*/ 603 w 2669"/>
                <a:gd name="T3" fmla="*/ 64 h 1567"/>
                <a:gd name="T4" fmla="*/ 503 w 2669"/>
                <a:gd name="T5" fmla="*/ 110 h 1567"/>
                <a:gd name="T6" fmla="*/ 356 w 2669"/>
                <a:gd name="T7" fmla="*/ 165 h 1567"/>
                <a:gd name="T8" fmla="*/ 283 w 2669"/>
                <a:gd name="T9" fmla="*/ 284 h 1567"/>
                <a:gd name="T10" fmla="*/ 237 w 2669"/>
                <a:gd name="T11" fmla="*/ 375 h 1567"/>
                <a:gd name="T12" fmla="*/ 164 w 2669"/>
                <a:gd name="T13" fmla="*/ 448 h 1567"/>
                <a:gd name="T14" fmla="*/ 82 w 2669"/>
                <a:gd name="T15" fmla="*/ 549 h 1567"/>
                <a:gd name="T16" fmla="*/ 45 w 2669"/>
                <a:gd name="T17" fmla="*/ 604 h 1567"/>
                <a:gd name="T18" fmla="*/ 27 w 2669"/>
                <a:gd name="T19" fmla="*/ 631 h 1567"/>
                <a:gd name="T20" fmla="*/ 45 w 2669"/>
                <a:gd name="T21" fmla="*/ 978 h 1567"/>
                <a:gd name="T22" fmla="*/ 82 w 2669"/>
                <a:gd name="T23" fmla="*/ 1097 h 1567"/>
                <a:gd name="T24" fmla="*/ 128 w 2669"/>
                <a:gd name="T25" fmla="*/ 1143 h 1567"/>
                <a:gd name="T26" fmla="*/ 192 w 2669"/>
                <a:gd name="T27" fmla="*/ 1234 h 1567"/>
                <a:gd name="T28" fmla="*/ 237 w 2669"/>
                <a:gd name="T29" fmla="*/ 1298 h 1567"/>
                <a:gd name="T30" fmla="*/ 256 w 2669"/>
                <a:gd name="T31" fmla="*/ 1335 h 1567"/>
                <a:gd name="T32" fmla="*/ 283 w 2669"/>
                <a:gd name="T33" fmla="*/ 1344 h 1567"/>
                <a:gd name="T34" fmla="*/ 329 w 2669"/>
                <a:gd name="T35" fmla="*/ 1399 h 1567"/>
                <a:gd name="T36" fmla="*/ 429 w 2669"/>
                <a:gd name="T37" fmla="*/ 1436 h 1567"/>
                <a:gd name="T38" fmla="*/ 795 w 2669"/>
                <a:gd name="T39" fmla="*/ 1509 h 1567"/>
                <a:gd name="T40" fmla="*/ 1380 w 2669"/>
                <a:gd name="T41" fmla="*/ 1445 h 1567"/>
                <a:gd name="T42" fmla="*/ 1600 w 2669"/>
                <a:gd name="T43" fmla="*/ 1417 h 1567"/>
                <a:gd name="T44" fmla="*/ 1655 w 2669"/>
                <a:gd name="T45" fmla="*/ 1362 h 1567"/>
                <a:gd name="T46" fmla="*/ 1673 w 2669"/>
                <a:gd name="T47" fmla="*/ 1335 h 1567"/>
                <a:gd name="T48" fmla="*/ 1709 w 2669"/>
                <a:gd name="T49" fmla="*/ 1326 h 1567"/>
                <a:gd name="T50" fmla="*/ 1746 w 2669"/>
                <a:gd name="T51" fmla="*/ 1289 h 1567"/>
                <a:gd name="T52" fmla="*/ 1755 w 2669"/>
                <a:gd name="T53" fmla="*/ 1262 h 1567"/>
                <a:gd name="T54" fmla="*/ 1773 w 2669"/>
                <a:gd name="T55" fmla="*/ 1225 h 1567"/>
                <a:gd name="T56" fmla="*/ 1828 w 2669"/>
                <a:gd name="T57" fmla="*/ 1161 h 1567"/>
                <a:gd name="T58" fmla="*/ 1883 w 2669"/>
                <a:gd name="T59" fmla="*/ 1079 h 1567"/>
                <a:gd name="T60" fmla="*/ 1920 w 2669"/>
                <a:gd name="T61" fmla="*/ 960 h 1567"/>
                <a:gd name="T62" fmla="*/ 1984 w 2669"/>
                <a:gd name="T63" fmla="*/ 823 h 1567"/>
                <a:gd name="T64" fmla="*/ 2057 w 2669"/>
                <a:gd name="T65" fmla="*/ 777 h 1567"/>
                <a:gd name="T66" fmla="*/ 2514 w 2669"/>
                <a:gd name="T67" fmla="*/ 796 h 1567"/>
                <a:gd name="T68" fmla="*/ 2642 w 2669"/>
                <a:gd name="T69" fmla="*/ 759 h 1567"/>
                <a:gd name="T70" fmla="*/ 2669 w 2669"/>
                <a:gd name="T71" fmla="*/ 695 h 1567"/>
                <a:gd name="T72" fmla="*/ 2578 w 2669"/>
                <a:gd name="T73" fmla="*/ 494 h 1567"/>
                <a:gd name="T74" fmla="*/ 2496 w 2669"/>
                <a:gd name="T75" fmla="*/ 430 h 1567"/>
                <a:gd name="T76" fmla="*/ 2432 w 2669"/>
                <a:gd name="T77" fmla="*/ 375 h 1567"/>
                <a:gd name="T78" fmla="*/ 2368 w 2669"/>
                <a:gd name="T79" fmla="*/ 357 h 1567"/>
                <a:gd name="T80" fmla="*/ 2231 w 2669"/>
                <a:gd name="T81" fmla="*/ 293 h 1567"/>
                <a:gd name="T82" fmla="*/ 1965 w 2669"/>
                <a:gd name="T83" fmla="*/ 201 h 1567"/>
                <a:gd name="T84" fmla="*/ 1856 w 2669"/>
                <a:gd name="T85" fmla="*/ 174 h 1567"/>
                <a:gd name="T86" fmla="*/ 1645 w 2669"/>
                <a:gd name="T87" fmla="*/ 101 h 1567"/>
                <a:gd name="T88" fmla="*/ 1563 w 2669"/>
                <a:gd name="T89" fmla="*/ 73 h 1567"/>
                <a:gd name="T90" fmla="*/ 1225 w 2669"/>
                <a:gd name="T91" fmla="*/ 0 h 1567"/>
                <a:gd name="T92" fmla="*/ 941 w 2669"/>
                <a:gd name="T93" fmla="*/ 28 h 1567"/>
                <a:gd name="T94" fmla="*/ 905 w 2669"/>
                <a:gd name="T95" fmla="*/ 37 h 1567"/>
                <a:gd name="T96" fmla="*/ 887 w 2669"/>
                <a:gd name="T97" fmla="*/ 9 h 1567"/>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2669" h="1567">
                  <a:moveTo>
                    <a:pt x="887" y="9"/>
                  </a:moveTo>
                  <a:cubicBezTo>
                    <a:pt x="805" y="91"/>
                    <a:pt x="762" y="52"/>
                    <a:pt x="603" y="64"/>
                  </a:cubicBezTo>
                  <a:cubicBezTo>
                    <a:pt x="564" y="74"/>
                    <a:pt x="541" y="97"/>
                    <a:pt x="503" y="110"/>
                  </a:cubicBezTo>
                  <a:cubicBezTo>
                    <a:pt x="466" y="145"/>
                    <a:pt x="405" y="149"/>
                    <a:pt x="356" y="165"/>
                  </a:cubicBezTo>
                  <a:cubicBezTo>
                    <a:pt x="333" y="200"/>
                    <a:pt x="297" y="242"/>
                    <a:pt x="283" y="284"/>
                  </a:cubicBezTo>
                  <a:cubicBezTo>
                    <a:pt x="254" y="373"/>
                    <a:pt x="290" y="341"/>
                    <a:pt x="237" y="375"/>
                  </a:cubicBezTo>
                  <a:cubicBezTo>
                    <a:pt x="216" y="406"/>
                    <a:pt x="187" y="420"/>
                    <a:pt x="164" y="448"/>
                  </a:cubicBezTo>
                  <a:cubicBezTo>
                    <a:pt x="137" y="481"/>
                    <a:pt x="108" y="514"/>
                    <a:pt x="82" y="549"/>
                  </a:cubicBezTo>
                  <a:cubicBezTo>
                    <a:pt x="69" y="567"/>
                    <a:pt x="57" y="586"/>
                    <a:pt x="45" y="604"/>
                  </a:cubicBezTo>
                  <a:cubicBezTo>
                    <a:pt x="39" y="613"/>
                    <a:pt x="27" y="631"/>
                    <a:pt x="27" y="631"/>
                  </a:cubicBezTo>
                  <a:cubicBezTo>
                    <a:pt x="0" y="744"/>
                    <a:pt x="24" y="865"/>
                    <a:pt x="45" y="978"/>
                  </a:cubicBezTo>
                  <a:cubicBezTo>
                    <a:pt x="53" y="1019"/>
                    <a:pt x="69" y="1058"/>
                    <a:pt x="82" y="1097"/>
                  </a:cubicBezTo>
                  <a:cubicBezTo>
                    <a:pt x="89" y="1118"/>
                    <a:pt x="128" y="1143"/>
                    <a:pt x="128" y="1143"/>
                  </a:cubicBezTo>
                  <a:cubicBezTo>
                    <a:pt x="140" y="1178"/>
                    <a:pt x="165" y="1208"/>
                    <a:pt x="192" y="1234"/>
                  </a:cubicBezTo>
                  <a:cubicBezTo>
                    <a:pt x="239" y="1330"/>
                    <a:pt x="179" y="1217"/>
                    <a:pt x="237" y="1298"/>
                  </a:cubicBezTo>
                  <a:cubicBezTo>
                    <a:pt x="245" y="1309"/>
                    <a:pt x="246" y="1325"/>
                    <a:pt x="256" y="1335"/>
                  </a:cubicBezTo>
                  <a:cubicBezTo>
                    <a:pt x="263" y="1342"/>
                    <a:pt x="274" y="1341"/>
                    <a:pt x="283" y="1344"/>
                  </a:cubicBezTo>
                  <a:cubicBezTo>
                    <a:pt x="300" y="1361"/>
                    <a:pt x="311" y="1384"/>
                    <a:pt x="329" y="1399"/>
                  </a:cubicBezTo>
                  <a:cubicBezTo>
                    <a:pt x="354" y="1420"/>
                    <a:pt x="398" y="1427"/>
                    <a:pt x="429" y="1436"/>
                  </a:cubicBezTo>
                  <a:cubicBezTo>
                    <a:pt x="506" y="1509"/>
                    <a:pt x="713" y="1505"/>
                    <a:pt x="795" y="1509"/>
                  </a:cubicBezTo>
                  <a:cubicBezTo>
                    <a:pt x="1029" y="1567"/>
                    <a:pt x="1172" y="1496"/>
                    <a:pt x="1380" y="1445"/>
                  </a:cubicBezTo>
                  <a:cubicBezTo>
                    <a:pt x="1446" y="1429"/>
                    <a:pt x="1532" y="1425"/>
                    <a:pt x="1600" y="1417"/>
                  </a:cubicBezTo>
                  <a:cubicBezTo>
                    <a:pt x="1618" y="1399"/>
                    <a:pt x="1641" y="1384"/>
                    <a:pt x="1655" y="1362"/>
                  </a:cubicBezTo>
                  <a:cubicBezTo>
                    <a:pt x="1661" y="1353"/>
                    <a:pt x="1664" y="1341"/>
                    <a:pt x="1673" y="1335"/>
                  </a:cubicBezTo>
                  <a:cubicBezTo>
                    <a:pt x="1683" y="1328"/>
                    <a:pt x="1697" y="1329"/>
                    <a:pt x="1709" y="1326"/>
                  </a:cubicBezTo>
                  <a:cubicBezTo>
                    <a:pt x="1714" y="1321"/>
                    <a:pt x="1743" y="1295"/>
                    <a:pt x="1746" y="1289"/>
                  </a:cubicBezTo>
                  <a:cubicBezTo>
                    <a:pt x="1751" y="1281"/>
                    <a:pt x="1751" y="1271"/>
                    <a:pt x="1755" y="1262"/>
                  </a:cubicBezTo>
                  <a:cubicBezTo>
                    <a:pt x="1760" y="1249"/>
                    <a:pt x="1765" y="1236"/>
                    <a:pt x="1773" y="1225"/>
                  </a:cubicBezTo>
                  <a:cubicBezTo>
                    <a:pt x="1788" y="1203"/>
                    <a:pt x="1810" y="1180"/>
                    <a:pt x="1828" y="1161"/>
                  </a:cubicBezTo>
                  <a:cubicBezTo>
                    <a:pt x="1839" y="1127"/>
                    <a:pt x="1863" y="1109"/>
                    <a:pt x="1883" y="1079"/>
                  </a:cubicBezTo>
                  <a:cubicBezTo>
                    <a:pt x="1893" y="1038"/>
                    <a:pt x="1907" y="1000"/>
                    <a:pt x="1920" y="960"/>
                  </a:cubicBezTo>
                  <a:cubicBezTo>
                    <a:pt x="1930" y="892"/>
                    <a:pt x="1927" y="860"/>
                    <a:pt x="1984" y="823"/>
                  </a:cubicBezTo>
                  <a:cubicBezTo>
                    <a:pt x="2006" y="790"/>
                    <a:pt x="2020" y="789"/>
                    <a:pt x="2057" y="777"/>
                  </a:cubicBezTo>
                  <a:cubicBezTo>
                    <a:pt x="2252" y="798"/>
                    <a:pt x="2304" y="804"/>
                    <a:pt x="2514" y="796"/>
                  </a:cubicBezTo>
                  <a:cubicBezTo>
                    <a:pt x="2558" y="780"/>
                    <a:pt x="2602" y="786"/>
                    <a:pt x="2642" y="759"/>
                  </a:cubicBezTo>
                  <a:cubicBezTo>
                    <a:pt x="2645" y="753"/>
                    <a:pt x="2669" y="708"/>
                    <a:pt x="2669" y="695"/>
                  </a:cubicBezTo>
                  <a:cubicBezTo>
                    <a:pt x="2669" y="625"/>
                    <a:pt x="2652" y="519"/>
                    <a:pt x="2578" y="494"/>
                  </a:cubicBezTo>
                  <a:cubicBezTo>
                    <a:pt x="2482" y="398"/>
                    <a:pt x="2576" y="482"/>
                    <a:pt x="2496" y="430"/>
                  </a:cubicBezTo>
                  <a:cubicBezTo>
                    <a:pt x="2471" y="414"/>
                    <a:pt x="2461" y="387"/>
                    <a:pt x="2432" y="375"/>
                  </a:cubicBezTo>
                  <a:cubicBezTo>
                    <a:pt x="2412" y="366"/>
                    <a:pt x="2389" y="364"/>
                    <a:pt x="2368" y="357"/>
                  </a:cubicBezTo>
                  <a:cubicBezTo>
                    <a:pt x="2331" y="320"/>
                    <a:pt x="2279" y="309"/>
                    <a:pt x="2231" y="293"/>
                  </a:cubicBezTo>
                  <a:cubicBezTo>
                    <a:pt x="2166" y="249"/>
                    <a:pt x="2040" y="220"/>
                    <a:pt x="1965" y="201"/>
                  </a:cubicBezTo>
                  <a:cubicBezTo>
                    <a:pt x="1932" y="193"/>
                    <a:pt x="1887" y="189"/>
                    <a:pt x="1856" y="174"/>
                  </a:cubicBezTo>
                  <a:cubicBezTo>
                    <a:pt x="1790" y="142"/>
                    <a:pt x="1715" y="118"/>
                    <a:pt x="1645" y="101"/>
                  </a:cubicBezTo>
                  <a:cubicBezTo>
                    <a:pt x="1617" y="94"/>
                    <a:pt x="1591" y="80"/>
                    <a:pt x="1563" y="73"/>
                  </a:cubicBezTo>
                  <a:cubicBezTo>
                    <a:pt x="1451" y="46"/>
                    <a:pt x="1339" y="19"/>
                    <a:pt x="1225" y="0"/>
                  </a:cubicBezTo>
                  <a:cubicBezTo>
                    <a:pt x="1130" y="10"/>
                    <a:pt x="1035" y="16"/>
                    <a:pt x="941" y="28"/>
                  </a:cubicBezTo>
                  <a:cubicBezTo>
                    <a:pt x="929" y="30"/>
                    <a:pt x="917" y="41"/>
                    <a:pt x="905" y="37"/>
                  </a:cubicBezTo>
                  <a:cubicBezTo>
                    <a:pt x="895" y="33"/>
                    <a:pt x="893" y="18"/>
                    <a:pt x="887" y="9"/>
                  </a:cubicBezTo>
                  <a:close/>
                </a:path>
              </a:pathLst>
            </a:custGeom>
            <a:solidFill>
              <a:srgbClr val="FFFF00">
                <a:alpha val="30196"/>
              </a:srgbClr>
            </a:solidFill>
            <a:ln>
              <a:noFill/>
            </a:ln>
            <a:effectLst/>
            <a:extLst>
              <a:ext uri="{91240B29-F687-4F45-9708-019B960494DF}">
                <a14:hiddenLine xmlns:a14="http://schemas.microsoft.com/office/drawing/2010/main" w="63500" cap="flat">
                  <a:solidFill>
                    <a:srgbClr val="FF0000"/>
                  </a:solidFill>
                  <a:prstDash val="sysDot"/>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8732" name="Text Box 351"/>
            <p:cNvSpPr txBox="1">
              <a:spLocks noChangeArrowheads="1"/>
            </p:cNvSpPr>
            <p:nvPr/>
          </p:nvSpPr>
          <p:spPr bwMode="auto">
            <a:xfrm>
              <a:off x="3198" y="890"/>
              <a:ext cx="2495" cy="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600" b="1">
                  <a:solidFill>
                    <a:srgbClr val="FF0000"/>
                  </a:solidFill>
                  <a:latin typeface="Tahoma" panose="020B0604030504040204" pitchFamily="34" charset="0"/>
                  <a:cs typeface="Tahoma" panose="020B0604030504040204" pitchFamily="34" charset="0"/>
                </a:rPr>
                <a:t>Presteaming &amp; Partial Digestion</a:t>
              </a:r>
              <a:r>
                <a:rPr lang="th-TH" altLang="en-US" sz="1600" b="1">
                  <a:solidFill>
                    <a:srgbClr val="FF0000"/>
                  </a:solidFill>
                  <a:latin typeface="Tahoma" panose="020B0604030504040204" pitchFamily="34" charset="0"/>
                  <a:cs typeface="Tahoma" panose="020B0604030504040204" pitchFamily="34" charset="0"/>
                </a:rPr>
                <a:t>    (อุ่นด้วยไอน้ำ และ ต้มย่อยด้วยสารเคมีเพื่อแยกลิกนินออกบางส่วน)</a:t>
              </a:r>
            </a:p>
          </p:txBody>
        </p:sp>
      </p:grpSp>
      <p:grpSp>
        <p:nvGrpSpPr>
          <p:cNvPr id="54624" name="Group 352"/>
          <p:cNvGrpSpPr>
            <a:grpSpLocks/>
          </p:cNvGrpSpPr>
          <p:nvPr/>
        </p:nvGrpSpPr>
        <p:grpSpPr bwMode="auto">
          <a:xfrm>
            <a:off x="53975" y="2816225"/>
            <a:ext cx="9163050" cy="4049713"/>
            <a:chOff x="34" y="1774"/>
            <a:chExt cx="5772" cy="2551"/>
          </a:xfrm>
        </p:grpSpPr>
        <p:sp>
          <p:nvSpPr>
            <p:cNvPr id="158729" name="Text Box 354"/>
            <p:cNvSpPr txBox="1">
              <a:spLocks noChangeArrowheads="1"/>
            </p:cNvSpPr>
            <p:nvPr/>
          </p:nvSpPr>
          <p:spPr bwMode="auto">
            <a:xfrm>
              <a:off x="34" y="3959"/>
              <a:ext cx="3629" cy="36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600" b="1">
                  <a:solidFill>
                    <a:srgbClr val="006600"/>
                  </a:solidFill>
                  <a:latin typeface="Tahoma" panose="020B0604030504040204" pitchFamily="34" charset="0"/>
                  <a:cs typeface="Tahoma" panose="020B0604030504040204" pitchFamily="34" charset="0"/>
                </a:rPr>
                <a:t>Mechanical Separation + Pulp Washing 		             (</a:t>
              </a:r>
              <a:r>
                <a:rPr lang="th-TH" altLang="en-US" sz="1600" b="1">
                  <a:solidFill>
                    <a:srgbClr val="006600"/>
                  </a:solidFill>
                  <a:latin typeface="Tahoma" panose="020B0604030504040204" pitchFamily="34" charset="0"/>
                  <a:cs typeface="Tahoma" panose="020B0604030504040204" pitchFamily="34" charset="0"/>
                </a:rPr>
                <a:t>ใช้พลังงานกลบดแยกให้เป็นเส้นใย (เยื่อ) และล้างเยื่อ)</a:t>
              </a:r>
            </a:p>
          </p:txBody>
        </p:sp>
        <p:sp>
          <p:nvSpPr>
            <p:cNvPr id="158730" name="Freeform 353"/>
            <p:cNvSpPr>
              <a:spLocks/>
            </p:cNvSpPr>
            <p:nvPr/>
          </p:nvSpPr>
          <p:spPr bwMode="auto">
            <a:xfrm>
              <a:off x="87" y="1774"/>
              <a:ext cx="5719" cy="2304"/>
            </a:xfrm>
            <a:custGeom>
              <a:avLst/>
              <a:gdLst>
                <a:gd name="T0" fmla="*/ 215 w 5719"/>
                <a:gd name="T1" fmla="*/ 640 h 2304"/>
                <a:gd name="T2" fmla="*/ 471 w 5719"/>
                <a:gd name="T3" fmla="*/ 521 h 2304"/>
                <a:gd name="T4" fmla="*/ 1358 w 5719"/>
                <a:gd name="T5" fmla="*/ 493 h 2304"/>
                <a:gd name="T6" fmla="*/ 1943 w 5719"/>
                <a:gd name="T7" fmla="*/ 466 h 2304"/>
                <a:gd name="T8" fmla="*/ 2071 w 5719"/>
                <a:gd name="T9" fmla="*/ 503 h 2304"/>
                <a:gd name="T10" fmla="*/ 2126 w 5719"/>
                <a:gd name="T11" fmla="*/ 567 h 2304"/>
                <a:gd name="T12" fmla="*/ 2226 w 5719"/>
                <a:gd name="T13" fmla="*/ 731 h 2304"/>
                <a:gd name="T14" fmla="*/ 2318 w 5719"/>
                <a:gd name="T15" fmla="*/ 841 h 2304"/>
                <a:gd name="T16" fmla="*/ 2766 w 5719"/>
                <a:gd name="T17" fmla="*/ 1133 h 2304"/>
                <a:gd name="T18" fmla="*/ 3268 w 5719"/>
                <a:gd name="T19" fmla="*/ 1188 h 2304"/>
                <a:gd name="T20" fmla="*/ 3570 w 5719"/>
                <a:gd name="T21" fmla="*/ 1106 h 2304"/>
                <a:gd name="T22" fmla="*/ 3826 w 5719"/>
                <a:gd name="T23" fmla="*/ 978 h 2304"/>
                <a:gd name="T24" fmla="*/ 3872 w 5719"/>
                <a:gd name="T25" fmla="*/ 941 h 2304"/>
                <a:gd name="T26" fmla="*/ 3982 w 5719"/>
                <a:gd name="T27" fmla="*/ 813 h 2304"/>
                <a:gd name="T28" fmla="*/ 4110 w 5719"/>
                <a:gd name="T29" fmla="*/ 621 h 2304"/>
                <a:gd name="T30" fmla="*/ 4494 w 5719"/>
                <a:gd name="T31" fmla="*/ 402 h 2304"/>
                <a:gd name="T32" fmla="*/ 4804 w 5719"/>
                <a:gd name="T33" fmla="*/ 429 h 2304"/>
                <a:gd name="T34" fmla="*/ 4887 w 5719"/>
                <a:gd name="T35" fmla="*/ 265 h 2304"/>
                <a:gd name="T36" fmla="*/ 5006 w 5719"/>
                <a:gd name="T37" fmla="*/ 73 h 2304"/>
                <a:gd name="T38" fmla="*/ 5124 w 5719"/>
                <a:gd name="T39" fmla="*/ 0 h 2304"/>
                <a:gd name="T40" fmla="*/ 5417 w 5719"/>
                <a:gd name="T41" fmla="*/ 100 h 2304"/>
                <a:gd name="T42" fmla="*/ 5582 w 5719"/>
                <a:gd name="T43" fmla="*/ 146 h 2304"/>
                <a:gd name="T44" fmla="*/ 5710 w 5719"/>
                <a:gd name="T45" fmla="*/ 274 h 2304"/>
                <a:gd name="T46" fmla="*/ 5655 w 5719"/>
                <a:gd name="T47" fmla="*/ 466 h 2304"/>
                <a:gd name="T48" fmla="*/ 5618 w 5719"/>
                <a:gd name="T49" fmla="*/ 603 h 2304"/>
                <a:gd name="T50" fmla="*/ 5655 w 5719"/>
                <a:gd name="T51" fmla="*/ 1225 h 2304"/>
                <a:gd name="T52" fmla="*/ 5563 w 5719"/>
                <a:gd name="T53" fmla="*/ 1837 h 2304"/>
                <a:gd name="T54" fmla="*/ 5508 w 5719"/>
                <a:gd name="T55" fmla="*/ 2011 h 2304"/>
                <a:gd name="T56" fmla="*/ 5362 w 5719"/>
                <a:gd name="T57" fmla="*/ 2194 h 2304"/>
                <a:gd name="T58" fmla="*/ 4969 w 5719"/>
                <a:gd name="T59" fmla="*/ 2304 h 2304"/>
                <a:gd name="T60" fmla="*/ 4137 w 5719"/>
                <a:gd name="T61" fmla="*/ 2231 h 2304"/>
                <a:gd name="T62" fmla="*/ 2948 w 5719"/>
                <a:gd name="T63" fmla="*/ 2112 h 2304"/>
                <a:gd name="T64" fmla="*/ 2199 w 5719"/>
                <a:gd name="T65" fmla="*/ 2212 h 2304"/>
                <a:gd name="T66" fmla="*/ 1577 w 5719"/>
                <a:gd name="T67" fmla="*/ 2240 h 2304"/>
                <a:gd name="T68" fmla="*/ 718 w 5719"/>
                <a:gd name="T69" fmla="*/ 2167 h 2304"/>
                <a:gd name="T70" fmla="*/ 434 w 5719"/>
                <a:gd name="T71" fmla="*/ 2093 h 2304"/>
                <a:gd name="T72" fmla="*/ 379 w 5719"/>
                <a:gd name="T73" fmla="*/ 2066 h 2304"/>
                <a:gd name="T74" fmla="*/ 251 w 5719"/>
                <a:gd name="T75" fmla="*/ 1965 h 2304"/>
                <a:gd name="T76" fmla="*/ 87 w 5719"/>
                <a:gd name="T77" fmla="*/ 1773 h 2304"/>
                <a:gd name="T78" fmla="*/ 23 w 5719"/>
                <a:gd name="T79" fmla="*/ 1554 h 2304"/>
                <a:gd name="T80" fmla="*/ 41 w 5719"/>
                <a:gd name="T81" fmla="*/ 1088 h 2304"/>
                <a:gd name="T82" fmla="*/ 59 w 5719"/>
                <a:gd name="T83" fmla="*/ 795 h 230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5719" h="2304">
                  <a:moveTo>
                    <a:pt x="87" y="749"/>
                  </a:moveTo>
                  <a:cubicBezTo>
                    <a:pt x="151" y="728"/>
                    <a:pt x="151" y="660"/>
                    <a:pt x="215" y="640"/>
                  </a:cubicBezTo>
                  <a:cubicBezTo>
                    <a:pt x="242" y="612"/>
                    <a:pt x="259" y="603"/>
                    <a:pt x="297" y="594"/>
                  </a:cubicBezTo>
                  <a:cubicBezTo>
                    <a:pt x="353" y="556"/>
                    <a:pt x="406" y="537"/>
                    <a:pt x="471" y="521"/>
                  </a:cubicBezTo>
                  <a:cubicBezTo>
                    <a:pt x="554" y="480"/>
                    <a:pt x="654" y="468"/>
                    <a:pt x="745" y="457"/>
                  </a:cubicBezTo>
                  <a:cubicBezTo>
                    <a:pt x="974" y="462"/>
                    <a:pt x="1144" y="477"/>
                    <a:pt x="1358" y="493"/>
                  </a:cubicBezTo>
                  <a:cubicBezTo>
                    <a:pt x="1439" y="536"/>
                    <a:pt x="1485" y="518"/>
                    <a:pt x="1586" y="512"/>
                  </a:cubicBezTo>
                  <a:cubicBezTo>
                    <a:pt x="1707" y="484"/>
                    <a:pt x="1816" y="473"/>
                    <a:pt x="1943" y="466"/>
                  </a:cubicBezTo>
                  <a:cubicBezTo>
                    <a:pt x="1983" y="469"/>
                    <a:pt x="2024" y="464"/>
                    <a:pt x="2062" y="475"/>
                  </a:cubicBezTo>
                  <a:cubicBezTo>
                    <a:pt x="2071" y="478"/>
                    <a:pt x="2066" y="494"/>
                    <a:pt x="2071" y="503"/>
                  </a:cubicBezTo>
                  <a:cubicBezTo>
                    <a:pt x="2078" y="516"/>
                    <a:pt x="2088" y="528"/>
                    <a:pt x="2098" y="539"/>
                  </a:cubicBezTo>
                  <a:cubicBezTo>
                    <a:pt x="2107" y="549"/>
                    <a:pt x="2118" y="556"/>
                    <a:pt x="2126" y="567"/>
                  </a:cubicBezTo>
                  <a:cubicBezTo>
                    <a:pt x="2154" y="606"/>
                    <a:pt x="2154" y="651"/>
                    <a:pt x="2190" y="685"/>
                  </a:cubicBezTo>
                  <a:cubicBezTo>
                    <a:pt x="2208" y="740"/>
                    <a:pt x="2185" y="689"/>
                    <a:pt x="2226" y="731"/>
                  </a:cubicBezTo>
                  <a:cubicBezTo>
                    <a:pt x="2246" y="751"/>
                    <a:pt x="2263" y="781"/>
                    <a:pt x="2281" y="804"/>
                  </a:cubicBezTo>
                  <a:cubicBezTo>
                    <a:pt x="2329" y="865"/>
                    <a:pt x="2269" y="781"/>
                    <a:pt x="2318" y="841"/>
                  </a:cubicBezTo>
                  <a:cubicBezTo>
                    <a:pt x="2407" y="949"/>
                    <a:pt x="2485" y="998"/>
                    <a:pt x="2610" y="1060"/>
                  </a:cubicBezTo>
                  <a:cubicBezTo>
                    <a:pt x="2662" y="1086"/>
                    <a:pt x="2708" y="1119"/>
                    <a:pt x="2766" y="1133"/>
                  </a:cubicBezTo>
                  <a:cubicBezTo>
                    <a:pt x="2810" y="1179"/>
                    <a:pt x="2883" y="1178"/>
                    <a:pt x="2939" y="1207"/>
                  </a:cubicBezTo>
                  <a:cubicBezTo>
                    <a:pt x="3049" y="1199"/>
                    <a:pt x="3159" y="1199"/>
                    <a:pt x="3268" y="1188"/>
                  </a:cubicBezTo>
                  <a:cubicBezTo>
                    <a:pt x="3374" y="1177"/>
                    <a:pt x="3308" y="1169"/>
                    <a:pt x="3396" y="1152"/>
                  </a:cubicBezTo>
                  <a:cubicBezTo>
                    <a:pt x="3455" y="1140"/>
                    <a:pt x="3513" y="1125"/>
                    <a:pt x="3570" y="1106"/>
                  </a:cubicBezTo>
                  <a:cubicBezTo>
                    <a:pt x="3635" y="1085"/>
                    <a:pt x="3686" y="1054"/>
                    <a:pt x="3744" y="1015"/>
                  </a:cubicBezTo>
                  <a:cubicBezTo>
                    <a:pt x="3769" y="998"/>
                    <a:pt x="3826" y="978"/>
                    <a:pt x="3826" y="978"/>
                  </a:cubicBezTo>
                  <a:cubicBezTo>
                    <a:pt x="3832" y="969"/>
                    <a:pt x="3836" y="958"/>
                    <a:pt x="3844" y="951"/>
                  </a:cubicBezTo>
                  <a:cubicBezTo>
                    <a:pt x="3852" y="945"/>
                    <a:pt x="3865" y="948"/>
                    <a:pt x="3872" y="941"/>
                  </a:cubicBezTo>
                  <a:cubicBezTo>
                    <a:pt x="3881" y="932"/>
                    <a:pt x="3882" y="916"/>
                    <a:pt x="3890" y="905"/>
                  </a:cubicBezTo>
                  <a:cubicBezTo>
                    <a:pt x="3915" y="870"/>
                    <a:pt x="3948" y="838"/>
                    <a:pt x="3982" y="813"/>
                  </a:cubicBezTo>
                  <a:cubicBezTo>
                    <a:pt x="3995" y="773"/>
                    <a:pt x="4016" y="741"/>
                    <a:pt x="4046" y="713"/>
                  </a:cubicBezTo>
                  <a:cubicBezTo>
                    <a:pt x="4087" y="630"/>
                    <a:pt x="4060" y="655"/>
                    <a:pt x="4110" y="621"/>
                  </a:cubicBezTo>
                  <a:cubicBezTo>
                    <a:pt x="4128" y="585"/>
                    <a:pt x="4135" y="541"/>
                    <a:pt x="4164" y="512"/>
                  </a:cubicBezTo>
                  <a:cubicBezTo>
                    <a:pt x="4237" y="439"/>
                    <a:pt x="4396" y="412"/>
                    <a:pt x="4494" y="402"/>
                  </a:cubicBezTo>
                  <a:cubicBezTo>
                    <a:pt x="4544" y="412"/>
                    <a:pt x="4591" y="428"/>
                    <a:pt x="4640" y="439"/>
                  </a:cubicBezTo>
                  <a:cubicBezTo>
                    <a:pt x="4695" y="436"/>
                    <a:pt x="4752" y="446"/>
                    <a:pt x="4804" y="429"/>
                  </a:cubicBezTo>
                  <a:cubicBezTo>
                    <a:pt x="4825" y="422"/>
                    <a:pt x="4841" y="375"/>
                    <a:pt x="4841" y="375"/>
                  </a:cubicBezTo>
                  <a:cubicBezTo>
                    <a:pt x="4871" y="282"/>
                    <a:pt x="4851" y="316"/>
                    <a:pt x="4887" y="265"/>
                  </a:cubicBezTo>
                  <a:cubicBezTo>
                    <a:pt x="4894" y="238"/>
                    <a:pt x="4937" y="145"/>
                    <a:pt x="4960" y="119"/>
                  </a:cubicBezTo>
                  <a:cubicBezTo>
                    <a:pt x="4974" y="103"/>
                    <a:pt x="4994" y="91"/>
                    <a:pt x="5006" y="73"/>
                  </a:cubicBezTo>
                  <a:cubicBezTo>
                    <a:pt x="5012" y="64"/>
                    <a:pt x="5016" y="53"/>
                    <a:pt x="5024" y="45"/>
                  </a:cubicBezTo>
                  <a:cubicBezTo>
                    <a:pt x="5050" y="19"/>
                    <a:pt x="5090" y="8"/>
                    <a:pt x="5124" y="0"/>
                  </a:cubicBezTo>
                  <a:cubicBezTo>
                    <a:pt x="5187" y="25"/>
                    <a:pt x="5250" y="46"/>
                    <a:pt x="5316" y="64"/>
                  </a:cubicBezTo>
                  <a:cubicBezTo>
                    <a:pt x="5351" y="74"/>
                    <a:pt x="5381" y="91"/>
                    <a:pt x="5417" y="100"/>
                  </a:cubicBezTo>
                  <a:cubicBezTo>
                    <a:pt x="5466" y="152"/>
                    <a:pt x="5410" y="102"/>
                    <a:pt x="5554" y="128"/>
                  </a:cubicBezTo>
                  <a:cubicBezTo>
                    <a:pt x="5565" y="130"/>
                    <a:pt x="5572" y="142"/>
                    <a:pt x="5582" y="146"/>
                  </a:cubicBezTo>
                  <a:cubicBezTo>
                    <a:pt x="5623" y="163"/>
                    <a:pt x="5675" y="178"/>
                    <a:pt x="5719" y="192"/>
                  </a:cubicBezTo>
                  <a:cubicBezTo>
                    <a:pt x="5716" y="219"/>
                    <a:pt x="5716" y="247"/>
                    <a:pt x="5710" y="274"/>
                  </a:cubicBezTo>
                  <a:cubicBezTo>
                    <a:pt x="5707" y="287"/>
                    <a:pt x="5695" y="298"/>
                    <a:pt x="5691" y="311"/>
                  </a:cubicBezTo>
                  <a:cubicBezTo>
                    <a:pt x="5676" y="364"/>
                    <a:pt x="5672" y="413"/>
                    <a:pt x="5655" y="466"/>
                  </a:cubicBezTo>
                  <a:cubicBezTo>
                    <a:pt x="5629" y="545"/>
                    <a:pt x="5670" y="416"/>
                    <a:pt x="5636" y="548"/>
                  </a:cubicBezTo>
                  <a:cubicBezTo>
                    <a:pt x="5631" y="567"/>
                    <a:pt x="5618" y="603"/>
                    <a:pt x="5618" y="603"/>
                  </a:cubicBezTo>
                  <a:cubicBezTo>
                    <a:pt x="5637" y="682"/>
                    <a:pt x="5600" y="864"/>
                    <a:pt x="5591" y="951"/>
                  </a:cubicBezTo>
                  <a:cubicBezTo>
                    <a:pt x="5596" y="1054"/>
                    <a:pt x="5564" y="1166"/>
                    <a:pt x="5655" y="1225"/>
                  </a:cubicBezTo>
                  <a:cubicBezTo>
                    <a:pt x="5649" y="1369"/>
                    <a:pt x="5644" y="1515"/>
                    <a:pt x="5609" y="1655"/>
                  </a:cubicBezTo>
                  <a:cubicBezTo>
                    <a:pt x="5594" y="1716"/>
                    <a:pt x="5578" y="1776"/>
                    <a:pt x="5563" y="1837"/>
                  </a:cubicBezTo>
                  <a:cubicBezTo>
                    <a:pt x="5558" y="1856"/>
                    <a:pt x="5545" y="1892"/>
                    <a:pt x="5545" y="1892"/>
                  </a:cubicBezTo>
                  <a:cubicBezTo>
                    <a:pt x="5537" y="1939"/>
                    <a:pt x="5535" y="1972"/>
                    <a:pt x="5508" y="2011"/>
                  </a:cubicBezTo>
                  <a:cubicBezTo>
                    <a:pt x="5483" y="2088"/>
                    <a:pt x="5471" y="2091"/>
                    <a:pt x="5417" y="2139"/>
                  </a:cubicBezTo>
                  <a:cubicBezTo>
                    <a:pt x="5398" y="2156"/>
                    <a:pt x="5380" y="2176"/>
                    <a:pt x="5362" y="2194"/>
                  </a:cubicBezTo>
                  <a:cubicBezTo>
                    <a:pt x="5338" y="2218"/>
                    <a:pt x="5283" y="2222"/>
                    <a:pt x="5252" y="2231"/>
                  </a:cubicBezTo>
                  <a:cubicBezTo>
                    <a:pt x="5174" y="2289"/>
                    <a:pt x="5063" y="2295"/>
                    <a:pt x="4969" y="2304"/>
                  </a:cubicBezTo>
                  <a:cubicBezTo>
                    <a:pt x="4789" y="2299"/>
                    <a:pt x="4660" y="2294"/>
                    <a:pt x="4494" y="2276"/>
                  </a:cubicBezTo>
                  <a:cubicBezTo>
                    <a:pt x="4379" y="2248"/>
                    <a:pt x="4255" y="2241"/>
                    <a:pt x="4137" y="2231"/>
                  </a:cubicBezTo>
                  <a:cubicBezTo>
                    <a:pt x="3849" y="2179"/>
                    <a:pt x="3541" y="2198"/>
                    <a:pt x="3250" y="2185"/>
                  </a:cubicBezTo>
                  <a:cubicBezTo>
                    <a:pt x="3148" y="2160"/>
                    <a:pt x="3053" y="2125"/>
                    <a:pt x="2948" y="2112"/>
                  </a:cubicBezTo>
                  <a:cubicBezTo>
                    <a:pt x="2816" y="2118"/>
                    <a:pt x="2718" y="2129"/>
                    <a:pt x="2592" y="2139"/>
                  </a:cubicBezTo>
                  <a:cubicBezTo>
                    <a:pt x="2466" y="2170"/>
                    <a:pt x="2328" y="2198"/>
                    <a:pt x="2199" y="2212"/>
                  </a:cubicBezTo>
                  <a:cubicBezTo>
                    <a:pt x="2046" y="2247"/>
                    <a:pt x="1928" y="2244"/>
                    <a:pt x="1760" y="2249"/>
                  </a:cubicBezTo>
                  <a:cubicBezTo>
                    <a:pt x="1699" y="2246"/>
                    <a:pt x="1638" y="2245"/>
                    <a:pt x="1577" y="2240"/>
                  </a:cubicBezTo>
                  <a:cubicBezTo>
                    <a:pt x="1516" y="2235"/>
                    <a:pt x="1394" y="2221"/>
                    <a:pt x="1394" y="2221"/>
                  </a:cubicBezTo>
                  <a:cubicBezTo>
                    <a:pt x="1166" y="2164"/>
                    <a:pt x="966" y="2172"/>
                    <a:pt x="718" y="2167"/>
                  </a:cubicBezTo>
                  <a:cubicBezTo>
                    <a:pt x="647" y="2142"/>
                    <a:pt x="749" y="2176"/>
                    <a:pt x="626" y="2148"/>
                  </a:cubicBezTo>
                  <a:cubicBezTo>
                    <a:pt x="560" y="2133"/>
                    <a:pt x="501" y="2105"/>
                    <a:pt x="434" y="2093"/>
                  </a:cubicBezTo>
                  <a:cubicBezTo>
                    <a:pt x="425" y="2087"/>
                    <a:pt x="417" y="2080"/>
                    <a:pt x="407" y="2075"/>
                  </a:cubicBezTo>
                  <a:cubicBezTo>
                    <a:pt x="398" y="2071"/>
                    <a:pt x="388" y="2071"/>
                    <a:pt x="379" y="2066"/>
                  </a:cubicBezTo>
                  <a:cubicBezTo>
                    <a:pt x="360" y="2055"/>
                    <a:pt x="324" y="2029"/>
                    <a:pt x="324" y="2029"/>
                  </a:cubicBezTo>
                  <a:cubicBezTo>
                    <a:pt x="281" y="1964"/>
                    <a:pt x="309" y="1981"/>
                    <a:pt x="251" y="1965"/>
                  </a:cubicBezTo>
                  <a:cubicBezTo>
                    <a:pt x="219" y="1917"/>
                    <a:pt x="161" y="1877"/>
                    <a:pt x="123" y="1828"/>
                  </a:cubicBezTo>
                  <a:cubicBezTo>
                    <a:pt x="110" y="1811"/>
                    <a:pt x="87" y="1773"/>
                    <a:pt x="87" y="1773"/>
                  </a:cubicBezTo>
                  <a:cubicBezTo>
                    <a:pt x="77" y="1734"/>
                    <a:pt x="62" y="1724"/>
                    <a:pt x="41" y="1691"/>
                  </a:cubicBezTo>
                  <a:cubicBezTo>
                    <a:pt x="16" y="1564"/>
                    <a:pt x="53" y="1761"/>
                    <a:pt x="23" y="1554"/>
                  </a:cubicBezTo>
                  <a:cubicBezTo>
                    <a:pt x="18" y="1520"/>
                    <a:pt x="4" y="1453"/>
                    <a:pt x="4" y="1453"/>
                  </a:cubicBezTo>
                  <a:cubicBezTo>
                    <a:pt x="9" y="1310"/>
                    <a:pt x="0" y="1212"/>
                    <a:pt x="41" y="1088"/>
                  </a:cubicBezTo>
                  <a:cubicBezTo>
                    <a:pt x="62" y="959"/>
                    <a:pt x="71" y="1013"/>
                    <a:pt x="41" y="923"/>
                  </a:cubicBezTo>
                  <a:cubicBezTo>
                    <a:pt x="45" y="880"/>
                    <a:pt x="39" y="833"/>
                    <a:pt x="59" y="795"/>
                  </a:cubicBezTo>
                  <a:cubicBezTo>
                    <a:pt x="72" y="769"/>
                    <a:pt x="128" y="772"/>
                    <a:pt x="87" y="749"/>
                  </a:cubicBezTo>
                  <a:close/>
                </a:path>
              </a:pathLst>
            </a:custGeom>
            <a:solidFill>
              <a:srgbClr val="00FF00">
                <a:alpha val="30196"/>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54627" name="Group 355"/>
          <p:cNvGrpSpPr>
            <a:grpSpLocks/>
          </p:cNvGrpSpPr>
          <p:nvPr/>
        </p:nvGrpSpPr>
        <p:grpSpPr bwMode="auto">
          <a:xfrm>
            <a:off x="28575" y="1052513"/>
            <a:ext cx="4668838" cy="2546350"/>
            <a:chOff x="18" y="663"/>
            <a:chExt cx="2941" cy="1604"/>
          </a:xfrm>
        </p:grpSpPr>
        <p:sp>
          <p:nvSpPr>
            <p:cNvPr id="158727" name="Freeform 356"/>
            <p:cNvSpPr>
              <a:spLocks/>
            </p:cNvSpPr>
            <p:nvPr/>
          </p:nvSpPr>
          <p:spPr bwMode="auto">
            <a:xfrm>
              <a:off x="18" y="830"/>
              <a:ext cx="2941" cy="1437"/>
            </a:xfrm>
            <a:custGeom>
              <a:avLst/>
              <a:gdLst>
                <a:gd name="T0" fmla="*/ 28 w 2941"/>
                <a:gd name="T1" fmla="*/ 203 h 1437"/>
                <a:gd name="T2" fmla="*/ 128 w 2941"/>
                <a:gd name="T3" fmla="*/ 231 h 1437"/>
                <a:gd name="T4" fmla="*/ 265 w 2941"/>
                <a:gd name="T5" fmla="*/ 276 h 1437"/>
                <a:gd name="T6" fmla="*/ 302 w 2941"/>
                <a:gd name="T7" fmla="*/ 285 h 1437"/>
                <a:gd name="T8" fmla="*/ 732 w 2941"/>
                <a:gd name="T9" fmla="*/ 258 h 1437"/>
                <a:gd name="T10" fmla="*/ 905 w 2941"/>
                <a:gd name="T11" fmla="*/ 240 h 1437"/>
                <a:gd name="T12" fmla="*/ 1033 w 2941"/>
                <a:gd name="T13" fmla="*/ 203 h 1437"/>
                <a:gd name="T14" fmla="*/ 1244 w 2941"/>
                <a:gd name="T15" fmla="*/ 185 h 1437"/>
                <a:gd name="T16" fmla="*/ 1408 w 2941"/>
                <a:gd name="T17" fmla="*/ 148 h 1437"/>
                <a:gd name="T18" fmla="*/ 1500 w 2941"/>
                <a:gd name="T19" fmla="*/ 121 h 1437"/>
                <a:gd name="T20" fmla="*/ 1673 w 2941"/>
                <a:gd name="T21" fmla="*/ 66 h 1437"/>
                <a:gd name="T22" fmla="*/ 1865 w 2941"/>
                <a:gd name="T23" fmla="*/ 48 h 1437"/>
                <a:gd name="T24" fmla="*/ 2030 w 2941"/>
                <a:gd name="T25" fmla="*/ 2 h 1437"/>
                <a:gd name="T26" fmla="*/ 2551 w 2941"/>
                <a:gd name="T27" fmla="*/ 11 h 1437"/>
                <a:gd name="T28" fmla="*/ 2661 w 2941"/>
                <a:gd name="T29" fmla="*/ 66 h 1437"/>
                <a:gd name="T30" fmla="*/ 2752 w 2941"/>
                <a:gd name="T31" fmla="*/ 93 h 1437"/>
                <a:gd name="T32" fmla="*/ 2780 w 2941"/>
                <a:gd name="T33" fmla="*/ 112 h 1437"/>
                <a:gd name="T34" fmla="*/ 2835 w 2941"/>
                <a:gd name="T35" fmla="*/ 167 h 1437"/>
                <a:gd name="T36" fmla="*/ 2871 w 2941"/>
                <a:gd name="T37" fmla="*/ 221 h 1437"/>
                <a:gd name="T38" fmla="*/ 2880 w 2941"/>
                <a:gd name="T39" fmla="*/ 249 h 1437"/>
                <a:gd name="T40" fmla="*/ 2899 w 2941"/>
                <a:gd name="T41" fmla="*/ 276 h 1437"/>
                <a:gd name="T42" fmla="*/ 2752 w 2941"/>
                <a:gd name="T43" fmla="*/ 651 h 1437"/>
                <a:gd name="T44" fmla="*/ 2579 w 2941"/>
                <a:gd name="T45" fmla="*/ 679 h 1437"/>
                <a:gd name="T46" fmla="*/ 2515 w 2941"/>
                <a:gd name="T47" fmla="*/ 706 h 1437"/>
                <a:gd name="T48" fmla="*/ 2414 w 2941"/>
                <a:gd name="T49" fmla="*/ 807 h 1437"/>
                <a:gd name="T50" fmla="*/ 2377 w 2941"/>
                <a:gd name="T51" fmla="*/ 861 h 1437"/>
                <a:gd name="T52" fmla="*/ 2313 w 2941"/>
                <a:gd name="T53" fmla="*/ 962 h 1437"/>
                <a:gd name="T54" fmla="*/ 2249 w 2941"/>
                <a:gd name="T55" fmla="*/ 1053 h 1437"/>
                <a:gd name="T56" fmla="*/ 2185 w 2941"/>
                <a:gd name="T57" fmla="*/ 1136 h 1437"/>
                <a:gd name="T58" fmla="*/ 2039 w 2941"/>
                <a:gd name="T59" fmla="*/ 1282 h 1437"/>
                <a:gd name="T60" fmla="*/ 1975 w 2941"/>
                <a:gd name="T61" fmla="*/ 1337 h 1437"/>
                <a:gd name="T62" fmla="*/ 1893 w 2941"/>
                <a:gd name="T63" fmla="*/ 1373 h 1437"/>
                <a:gd name="T64" fmla="*/ 1747 w 2941"/>
                <a:gd name="T65" fmla="*/ 1437 h 1437"/>
                <a:gd name="T66" fmla="*/ 1454 w 2941"/>
                <a:gd name="T67" fmla="*/ 1410 h 1437"/>
                <a:gd name="T68" fmla="*/ 942 w 2941"/>
                <a:gd name="T69" fmla="*/ 1410 h 1437"/>
                <a:gd name="T70" fmla="*/ 659 w 2941"/>
                <a:gd name="T71" fmla="*/ 1392 h 1437"/>
                <a:gd name="T72" fmla="*/ 403 w 2941"/>
                <a:gd name="T73" fmla="*/ 1346 h 1437"/>
                <a:gd name="T74" fmla="*/ 265 w 2941"/>
                <a:gd name="T75" fmla="*/ 1300 h 1437"/>
                <a:gd name="T76" fmla="*/ 211 w 2941"/>
                <a:gd name="T77" fmla="*/ 1282 h 1437"/>
                <a:gd name="T78" fmla="*/ 183 w 2941"/>
                <a:gd name="T79" fmla="*/ 1273 h 1437"/>
                <a:gd name="T80" fmla="*/ 101 w 2941"/>
                <a:gd name="T81" fmla="*/ 1218 h 1437"/>
                <a:gd name="T82" fmla="*/ 64 w 2941"/>
                <a:gd name="T83" fmla="*/ 1154 h 1437"/>
                <a:gd name="T84" fmla="*/ 28 w 2941"/>
                <a:gd name="T85" fmla="*/ 999 h 1437"/>
                <a:gd name="T86" fmla="*/ 83 w 2941"/>
                <a:gd name="T87" fmla="*/ 743 h 1437"/>
                <a:gd name="T88" fmla="*/ 55 w 2941"/>
                <a:gd name="T89" fmla="*/ 541 h 1437"/>
                <a:gd name="T90" fmla="*/ 28 w 2941"/>
                <a:gd name="T91" fmla="*/ 477 h 1437"/>
                <a:gd name="T92" fmla="*/ 0 w 2941"/>
                <a:gd name="T93" fmla="*/ 359 h 1437"/>
                <a:gd name="T94" fmla="*/ 19 w 2941"/>
                <a:gd name="T95" fmla="*/ 295 h 1437"/>
                <a:gd name="T96" fmla="*/ 37 w 2941"/>
                <a:gd name="T97" fmla="*/ 276 h 1437"/>
                <a:gd name="T98" fmla="*/ 28 w 2941"/>
                <a:gd name="T99" fmla="*/ 203 h 143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2941" h="1437">
                  <a:moveTo>
                    <a:pt x="28" y="203"/>
                  </a:moveTo>
                  <a:cubicBezTo>
                    <a:pt x="61" y="214"/>
                    <a:pt x="95" y="222"/>
                    <a:pt x="128" y="231"/>
                  </a:cubicBezTo>
                  <a:cubicBezTo>
                    <a:pt x="162" y="263"/>
                    <a:pt x="221" y="265"/>
                    <a:pt x="265" y="276"/>
                  </a:cubicBezTo>
                  <a:cubicBezTo>
                    <a:pt x="277" y="279"/>
                    <a:pt x="302" y="285"/>
                    <a:pt x="302" y="285"/>
                  </a:cubicBezTo>
                  <a:cubicBezTo>
                    <a:pt x="474" y="257"/>
                    <a:pt x="440" y="266"/>
                    <a:pt x="732" y="258"/>
                  </a:cubicBezTo>
                  <a:cubicBezTo>
                    <a:pt x="790" y="251"/>
                    <a:pt x="848" y="248"/>
                    <a:pt x="905" y="240"/>
                  </a:cubicBezTo>
                  <a:cubicBezTo>
                    <a:pt x="949" y="234"/>
                    <a:pt x="989" y="211"/>
                    <a:pt x="1033" y="203"/>
                  </a:cubicBezTo>
                  <a:cubicBezTo>
                    <a:pt x="1108" y="189"/>
                    <a:pt x="1161" y="190"/>
                    <a:pt x="1244" y="185"/>
                  </a:cubicBezTo>
                  <a:cubicBezTo>
                    <a:pt x="1299" y="171"/>
                    <a:pt x="1352" y="157"/>
                    <a:pt x="1408" y="148"/>
                  </a:cubicBezTo>
                  <a:cubicBezTo>
                    <a:pt x="1479" y="114"/>
                    <a:pt x="1408" y="144"/>
                    <a:pt x="1500" y="121"/>
                  </a:cubicBezTo>
                  <a:cubicBezTo>
                    <a:pt x="1559" y="107"/>
                    <a:pt x="1613" y="75"/>
                    <a:pt x="1673" y="66"/>
                  </a:cubicBezTo>
                  <a:cubicBezTo>
                    <a:pt x="1718" y="59"/>
                    <a:pt x="1826" y="51"/>
                    <a:pt x="1865" y="48"/>
                  </a:cubicBezTo>
                  <a:cubicBezTo>
                    <a:pt x="1922" y="34"/>
                    <a:pt x="1972" y="11"/>
                    <a:pt x="2030" y="2"/>
                  </a:cubicBezTo>
                  <a:cubicBezTo>
                    <a:pt x="2204" y="16"/>
                    <a:pt x="2377" y="0"/>
                    <a:pt x="2551" y="11"/>
                  </a:cubicBezTo>
                  <a:cubicBezTo>
                    <a:pt x="2591" y="24"/>
                    <a:pt x="2623" y="49"/>
                    <a:pt x="2661" y="66"/>
                  </a:cubicBezTo>
                  <a:cubicBezTo>
                    <a:pt x="2689" y="78"/>
                    <a:pt x="2722" y="86"/>
                    <a:pt x="2752" y="93"/>
                  </a:cubicBezTo>
                  <a:cubicBezTo>
                    <a:pt x="2761" y="99"/>
                    <a:pt x="2772" y="104"/>
                    <a:pt x="2780" y="112"/>
                  </a:cubicBezTo>
                  <a:cubicBezTo>
                    <a:pt x="2799" y="129"/>
                    <a:pt x="2835" y="167"/>
                    <a:pt x="2835" y="167"/>
                  </a:cubicBezTo>
                  <a:cubicBezTo>
                    <a:pt x="2857" y="233"/>
                    <a:pt x="2825" y="151"/>
                    <a:pt x="2871" y="221"/>
                  </a:cubicBezTo>
                  <a:cubicBezTo>
                    <a:pt x="2876" y="229"/>
                    <a:pt x="2876" y="240"/>
                    <a:pt x="2880" y="249"/>
                  </a:cubicBezTo>
                  <a:cubicBezTo>
                    <a:pt x="2885" y="259"/>
                    <a:pt x="2893" y="267"/>
                    <a:pt x="2899" y="276"/>
                  </a:cubicBezTo>
                  <a:cubicBezTo>
                    <a:pt x="2941" y="407"/>
                    <a:pt x="2896" y="598"/>
                    <a:pt x="2752" y="651"/>
                  </a:cubicBezTo>
                  <a:cubicBezTo>
                    <a:pt x="2701" y="670"/>
                    <a:pt x="2632" y="672"/>
                    <a:pt x="2579" y="679"/>
                  </a:cubicBezTo>
                  <a:cubicBezTo>
                    <a:pt x="2558" y="689"/>
                    <a:pt x="2533" y="692"/>
                    <a:pt x="2515" y="706"/>
                  </a:cubicBezTo>
                  <a:cubicBezTo>
                    <a:pt x="2474" y="738"/>
                    <a:pt x="2455" y="778"/>
                    <a:pt x="2414" y="807"/>
                  </a:cubicBezTo>
                  <a:cubicBezTo>
                    <a:pt x="2402" y="825"/>
                    <a:pt x="2384" y="840"/>
                    <a:pt x="2377" y="861"/>
                  </a:cubicBezTo>
                  <a:cubicBezTo>
                    <a:pt x="2360" y="912"/>
                    <a:pt x="2358" y="933"/>
                    <a:pt x="2313" y="962"/>
                  </a:cubicBezTo>
                  <a:cubicBezTo>
                    <a:pt x="2301" y="997"/>
                    <a:pt x="2276" y="1027"/>
                    <a:pt x="2249" y="1053"/>
                  </a:cubicBezTo>
                  <a:cubicBezTo>
                    <a:pt x="2226" y="1124"/>
                    <a:pt x="2262" y="1026"/>
                    <a:pt x="2185" y="1136"/>
                  </a:cubicBezTo>
                  <a:cubicBezTo>
                    <a:pt x="2142" y="1197"/>
                    <a:pt x="2102" y="1242"/>
                    <a:pt x="2039" y="1282"/>
                  </a:cubicBezTo>
                  <a:cubicBezTo>
                    <a:pt x="2018" y="1313"/>
                    <a:pt x="2011" y="1325"/>
                    <a:pt x="1975" y="1337"/>
                  </a:cubicBezTo>
                  <a:cubicBezTo>
                    <a:pt x="1906" y="1388"/>
                    <a:pt x="1975" y="1345"/>
                    <a:pt x="1893" y="1373"/>
                  </a:cubicBezTo>
                  <a:cubicBezTo>
                    <a:pt x="1842" y="1390"/>
                    <a:pt x="1798" y="1420"/>
                    <a:pt x="1747" y="1437"/>
                  </a:cubicBezTo>
                  <a:cubicBezTo>
                    <a:pt x="1640" y="1431"/>
                    <a:pt x="1556" y="1423"/>
                    <a:pt x="1454" y="1410"/>
                  </a:cubicBezTo>
                  <a:cubicBezTo>
                    <a:pt x="887" y="1423"/>
                    <a:pt x="1221" y="1429"/>
                    <a:pt x="942" y="1410"/>
                  </a:cubicBezTo>
                  <a:cubicBezTo>
                    <a:pt x="848" y="1404"/>
                    <a:pt x="659" y="1392"/>
                    <a:pt x="659" y="1392"/>
                  </a:cubicBezTo>
                  <a:cubicBezTo>
                    <a:pt x="573" y="1380"/>
                    <a:pt x="489" y="1358"/>
                    <a:pt x="403" y="1346"/>
                  </a:cubicBezTo>
                  <a:cubicBezTo>
                    <a:pt x="357" y="1331"/>
                    <a:pt x="312" y="1315"/>
                    <a:pt x="265" y="1300"/>
                  </a:cubicBezTo>
                  <a:cubicBezTo>
                    <a:pt x="247" y="1294"/>
                    <a:pt x="229" y="1288"/>
                    <a:pt x="211" y="1282"/>
                  </a:cubicBezTo>
                  <a:cubicBezTo>
                    <a:pt x="202" y="1279"/>
                    <a:pt x="183" y="1273"/>
                    <a:pt x="183" y="1273"/>
                  </a:cubicBezTo>
                  <a:cubicBezTo>
                    <a:pt x="153" y="1253"/>
                    <a:pt x="133" y="1234"/>
                    <a:pt x="101" y="1218"/>
                  </a:cubicBezTo>
                  <a:cubicBezTo>
                    <a:pt x="90" y="1196"/>
                    <a:pt x="73" y="1177"/>
                    <a:pt x="64" y="1154"/>
                  </a:cubicBezTo>
                  <a:cubicBezTo>
                    <a:pt x="47" y="1108"/>
                    <a:pt x="38" y="1047"/>
                    <a:pt x="28" y="999"/>
                  </a:cubicBezTo>
                  <a:cubicBezTo>
                    <a:pt x="45" y="912"/>
                    <a:pt x="52" y="827"/>
                    <a:pt x="83" y="743"/>
                  </a:cubicBezTo>
                  <a:cubicBezTo>
                    <a:pt x="76" y="675"/>
                    <a:pt x="66" y="608"/>
                    <a:pt x="55" y="541"/>
                  </a:cubicBezTo>
                  <a:cubicBezTo>
                    <a:pt x="46" y="487"/>
                    <a:pt x="50" y="522"/>
                    <a:pt x="28" y="477"/>
                  </a:cubicBezTo>
                  <a:cubicBezTo>
                    <a:pt x="10" y="441"/>
                    <a:pt x="10" y="397"/>
                    <a:pt x="0" y="359"/>
                  </a:cubicBezTo>
                  <a:cubicBezTo>
                    <a:pt x="6" y="338"/>
                    <a:pt x="10" y="315"/>
                    <a:pt x="19" y="295"/>
                  </a:cubicBezTo>
                  <a:cubicBezTo>
                    <a:pt x="23" y="287"/>
                    <a:pt x="34" y="284"/>
                    <a:pt x="37" y="276"/>
                  </a:cubicBezTo>
                  <a:cubicBezTo>
                    <a:pt x="56" y="232"/>
                    <a:pt x="49" y="235"/>
                    <a:pt x="28" y="203"/>
                  </a:cubicBezTo>
                  <a:close/>
                </a:path>
              </a:pathLst>
            </a:custGeom>
            <a:solidFill>
              <a:srgbClr val="0000FF">
                <a:alpha val="14902"/>
              </a:srgbClr>
            </a:solidFill>
            <a:ln>
              <a:noFill/>
            </a:ln>
            <a:effectLst/>
            <a:extLst>
              <a:ext uri="{91240B29-F687-4F45-9708-019B960494DF}">
                <a14:hiddenLine xmlns:a14="http://schemas.microsoft.com/office/drawing/2010/main" w="63500" cap="flat">
                  <a:solidFill>
                    <a:srgbClr val="0000FF"/>
                  </a:solidFill>
                  <a:prstDash val="sysDot"/>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8728" name="Text Box 357"/>
            <p:cNvSpPr txBox="1">
              <a:spLocks noChangeArrowheads="1"/>
            </p:cNvSpPr>
            <p:nvPr/>
          </p:nvSpPr>
          <p:spPr bwMode="auto">
            <a:xfrm>
              <a:off x="158" y="663"/>
              <a:ext cx="1293"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600" b="1">
                  <a:solidFill>
                    <a:srgbClr val="0000FF"/>
                  </a:solidFill>
                  <a:latin typeface="Tahoma" panose="020B0604030504040204" pitchFamily="34" charset="0"/>
                  <a:cs typeface="Tahoma" panose="020B0604030504040204" pitchFamily="34" charset="0"/>
                </a:rPr>
                <a:t>Chip Washing 	                         (</a:t>
              </a:r>
              <a:r>
                <a:rPr lang="th-TH" altLang="en-US" sz="1600" b="1">
                  <a:solidFill>
                    <a:srgbClr val="0000FF"/>
                  </a:solidFill>
                  <a:latin typeface="Tahoma" panose="020B0604030504040204" pitchFamily="34" charset="0"/>
                  <a:cs typeface="Tahoma" panose="020B0604030504040204" pitchFamily="34" charset="0"/>
                </a:rPr>
                <a:t>ล้างชิ้นไม้สับ)</a:t>
              </a:r>
            </a:p>
          </p:txBody>
        </p:sp>
      </p:gr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54627"/>
                                        </p:tgtEl>
                                        <p:attrNameLst>
                                          <p:attrName>style.visibility</p:attrName>
                                        </p:attrNameLst>
                                      </p:cBhvr>
                                      <p:to>
                                        <p:strVal val="visible"/>
                                      </p:to>
                                    </p:set>
                                    <p:animEffect transition="in" filter="wipe(down)">
                                      <p:cBhvr>
                                        <p:cTn id="7" dur="1000"/>
                                        <p:tgtEl>
                                          <p:spTgt spid="5462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54621"/>
                                        </p:tgtEl>
                                        <p:attrNameLst>
                                          <p:attrName>style.visibility</p:attrName>
                                        </p:attrNameLst>
                                      </p:cBhvr>
                                      <p:to>
                                        <p:strVal val="visible"/>
                                      </p:to>
                                    </p:set>
                                    <p:animEffect transition="in" filter="wipe(down)">
                                      <p:cBhvr>
                                        <p:cTn id="12" dur="1000"/>
                                        <p:tgtEl>
                                          <p:spTgt spid="5462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54624"/>
                                        </p:tgtEl>
                                        <p:attrNameLst>
                                          <p:attrName>style.visibility</p:attrName>
                                        </p:attrNameLst>
                                      </p:cBhvr>
                                      <p:to>
                                        <p:strVal val="visible"/>
                                      </p:to>
                                    </p:set>
                                    <p:animEffect transition="in" filter="wipe(up)">
                                      <p:cBhvr>
                                        <p:cTn id="17" dur="2000"/>
                                        <p:tgtEl>
                                          <p:spTgt spid="546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p:cNvSpPr>
            <a:spLocks noChangeArrowheads="1"/>
          </p:cNvSpPr>
          <p:nvPr/>
        </p:nvSpPr>
        <p:spPr bwMode="auto">
          <a:xfrm>
            <a:off x="0" y="0"/>
            <a:ext cx="9144000" cy="728663"/>
          </a:xfrm>
          <a:prstGeom prst="rect">
            <a:avLst/>
          </a:prstGeom>
          <a:noFill/>
          <a:ln>
            <a:noFill/>
          </a:ln>
          <a:effectLst/>
          <a:extLst>
            <a:ext uri="{909E8E84-426E-40DD-AFC4-6F175D3DCCD1}">
              <a14:hiddenFill xmlns:a14="http://schemas.microsoft.com/office/drawing/2010/main">
                <a:solidFill>
                  <a:srgbClr val="00008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b="1">
                <a:solidFill>
                  <a:srgbClr val="FF0000"/>
                </a:solidFill>
                <a:latin typeface="Tahoma" panose="020B0604030504040204" pitchFamily="34" charset="0"/>
                <a:cs typeface="Tahoma" panose="020B0604030504040204" pitchFamily="34" charset="0"/>
              </a:rPr>
              <a:t>SCP Process Diagram (Wangsala Mill)</a:t>
            </a:r>
            <a:endParaRPr lang="th-TH" altLang="en-US" b="1">
              <a:solidFill>
                <a:srgbClr val="FF0000"/>
              </a:solidFill>
              <a:latin typeface="Tahoma" panose="020B0604030504040204" pitchFamily="34" charset="0"/>
              <a:cs typeface="Tahoma" panose="020B0604030504040204" pitchFamily="34" charset="0"/>
            </a:endParaRPr>
          </a:p>
        </p:txBody>
      </p:sp>
      <p:pic>
        <p:nvPicPr>
          <p:cNvPr id="16077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908050"/>
            <a:ext cx="9145588" cy="5616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ustDataLst>
      <p:tags r:id="rId1"/>
    </p:custDataLst>
  </p:cSld>
  <p:clrMapOvr>
    <a:masterClrMapping/>
  </p:clrMapOvr>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p:cNvSpPr>
            <a:spLocks noGrp="1" noChangeArrowheads="1"/>
          </p:cNvSpPr>
          <p:nvPr>
            <p:ph type="title"/>
          </p:nvPr>
        </p:nvSpPr>
        <p:spPr>
          <a:xfrm>
            <a:off x="107950" y="0"/>
            <a:ext cx="9036050" cy="561975"/>
          </a:xfrm>
          <a:noFill/>
        </p:spPr>
        <p:txBody>
          <a:bodyPr/>
          <a:lstStyle/>
          <a:p>
            <a:pPr algn="l" eaLnBrk="1" hangingPunct="1"/>
            <a:r>
              <a:rPr lang="en-US" altLang="en-US" sz="3200" b="1" smtClean="0">
                <a:solidFill>
                  <a:srgbClr val="FF0000"/>
                </a:solidFill>
                <a:latin typeface="Tahoma" panose="020B0604030504040204" pitchFamily="34" charset="0"/>
                <a:cs typeface="Tahoma" panose="020B0604030504040204" pitchFamily="34" charset="0"/>
              </a:rPr>
              <a:t>SCP – Chip Washing</a:t>
            </a:r>
            <a:endParaRPr lang="th-TH" altLang="en-US" sz="3200" b="1" smtClean="0">
              <a:solidFill>
                <a:srgbClr val="FF0000"/>
              </a:solidFill>
              <a:latin typeface="Tahoma" panose="020B0604030504040204" pitchFamily="34" charset="0"/>
              <a:cs typeface="Tahoma" panose="020B0604030504040204" pitchFamily="34" charset="0"/>
            </a:endParaRPr>
          </a:p>
        </p:txBody>
      </p:sp>
      <p:pic>
        <p:nvPicPr>
          <p:cNvPr id="162819" name="Picture 3" descr="Chip Conveyo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4575" y="1060450"/>
            <a:ext cx="6948488" cy="5213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4" name="Text Box 4"/>
          <p:cNvSpPr txBox="1">
            <a:spLocks noChangeArrowheads="1"/>
          </p:cNvSpPr>
          <p:nvPr/>
        </p:nvSpPr>
        <p:spPr bwMode="auto">
          <a:xfrm>
            <a:off x="1116013" y="765175"/>
            <a:ext cx="67691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th-TH" sz="2000" b="1" u="sng" dirty="0">
                <a:solidFill>
                  <a:srgbClr val="0000FF"/>
                </a:solidFill>
                <a:latin typeface="+mj-lt"/>
                <a:cs typeface="Tahoma" pitchFamily="34" charset="0"/>
              </a:rPr>
              <a:t>ระบบลำเลียง </a:t>
            </a:r>
            <a:r>
              <a:rPr lang="en-US" sz="2000" b="1" u="sng" dirty="0">
                <a:solidFill>
                  <a:srgbClr val="0000FF"/>
                </a:solidFill>
                <a:latin typeface="+mj-lt"/>
                <a:cs typeface="Tahoma" pitchFamily="34" charset="0"/>
              </a:rPr>
              <a:t>Chips </a:t>
            </a:r>
            <a:r>
              <a:rPr lang="th-TH" sz="2000" b="1" u="sng" dirty="0">
                <a:solidFill>
                  <a:srgbClr val="0000FF"/>
                </a:solidFill>
                <a:latin typeface="+mj-lt"/>
                <a:cs typeface="Tahoma" pitchFamily="34" charset="0"/>
              </a:rPr>
              <a:t>เข้าสู่กระบวนการผลิต</a:t>
            </a:r>
          </a:p>
        </p:txBody>
      </p:sp>
    </p:spTree>
  </p:cSld>
  <p:clrMapOvr>
    <a:masterClrMapping/>
  </p:clrMapOvr>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p:cNvSpPr>
            <a:spLocks noGrp="1" noChangeArrowheads="1"/>
          </p:cNvSpPr>
          <p:nvPr>
            <p:ph type="title"/>
          </p:nvPr>
        </p:nvSpPr>
        <p:spPr>
          <a:xfrm>
            <a:off x="107950" y="44450"/>
            <a:ext cx="9036050" cy="561975"/>
          </a:xfrm>
          <a:noFill/>
        </p:spPr>
        <p:txBody>
          <a:bodyPr/>
          <a:lstStyle/>
          <a:p>
            <a:pPr algn="l" eaLnBrk="1" hangingPunct="1"/>
            <a:r>
              <a:rPr lang="en-US" altLang="en-US" sz="3200" b="1" smtClean="0">
                <a:solidFill>
                  <a:srgbClr val="FF0000"/>
                </a:solidFill>
                <a:latin typeface="Tahoma" panose="020B0604030504040204" pitchFamily="34" charset="0"/>
              </a:rPr>
              <a:t>SCP – Chip Washing</a:t>
            </a:r>
            <a:endParaRPr lang="th-TH" altLang="en-US" sz="3200" b="1" smtClean="0">
              <a:solidFill>
                <a:srgbClr val="FF0000"/>
              </a:solidFill>
              <a:latin typeface="Tahoma" panose="020B0604030504040204" pitchFamily="34" charset="0"/>
            </a:endParaRPr>
          </a:p>
        </p:txBody>
      </p:sp>
      <p:pic>
        <p:nvPicPr>
          <p:cNvPr id="164867" name="Picture 4" descr="Rock Trapper"/>
          <p:cNvPicPr>
            <a:picLocks noChangeAspect="1" noChangeArrowheads="1"/>
          </p:cNvPicPr>
          <p:nvPr/>
        </p:nvPicPr>
        <p:blipFill>
          <a:blip r:embed="rId3">
            <a:lum bright="6000" contrast="12000"/>
            <a:extLst>
              <a:ext uri="{28A0092B-C50C-407E-A947-70E740481C1C}">
                <a14:useLocalDpi xmlns:a14="http://schemas.microsoft.com/office/drawing/2010/main" val="0"/>
              </a:ext>
            </a:extLst>
          </a:blip>
          <a:srcRect/>
          <a:stretch>
            <a:fillRect/>
          </a:stretch>
        </p:blipFill>
        <p:spPr bwMode="auto">
          <a:xfrm>
            <a:off x="1368425" y="1520825"/>
            <a:ext cx="3041650" cy="172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3" name="Text Box 5"/>
          <p:cNvSpPr txBox="1">
            <a:spLocks noChangeArrowheads="1"/>
          </p:cNvSpPr>
          <p:nvPr/>
        </p:nvSpPr>
        <p:spPr bwMode="auto">
          <a:xfrm>
            <a:off x="1565275" y="3343275"/>
            <a:ext cx="23780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th-TH" altLang="en-US" sz="2000" b="1">
                <a:solidFill>
                  <a:srgbClr val="FF3300"/>
                </a:solidFill>
                <a:latin typeface="Tahoma" panose="020B0604030504040204" pitchFamily="34" charset="0"/>
                <a:cs typeface="Tahoma" panose="020B0604030504040204" pitchFamily="34" charset="0"/>
              </a:rPr>
              <a:t>ดักหิน </a:t>
            </a:r>
            <a:r>
              <a:rPr lang="en-US" altLang="en-US" sz="2000" b="1">
                <a:solidFill>
                  <a:srgbClr val="FF3300"/>
                </a:solidFill>
                <a:latin typeface="Tahoma" panose="020B0604030504040204" pitchFamily="34" charset="0"/>
                <a:cs typeface="Tahoma" panose="020B0604030504040204" pitchFamily="34" charset="0"/>
              </a:rPr>
              <a:t>(QC)</a:t>
            </a:r>
            <a:endParaRPr lang="th-TH" altLang="en-US" sz="2000" b="1">
              <a:solidFill>
                <a:srgbClr val="FF3300"/>
              </a:solidFill>
              <a:latin typeface="Tahoma" panose="020B0604030504040204" pitchFamily="34" charset="0"/>
              <a:cs typeface="Tahoma" panose="020B0604030504040204" pitchFamily="34" charset="0"/>
            </a:endParaRPr>
          </a:p>
        </p:txBody>
      </p:sp>
      <p:sp>
        <p:nvSpPr>
          <p:cNvPr id="58374" name="Freeform 6"/>
          <p:cNvSpPr>
            <a:spLocks/>
          </p:cNvSpPr>
          <p:nvPr/>
        </p:nvSpPr>
        <p:spPr bwMode="auto">
          <a:xfrm>
            <a:off x="2565400" y="2595563"/>
            <a:ext cx="454025" cy="796925"/>
          </a:xfrm>
          <a:custGeom>
            <a:avLst/>
            <a:gdLst>
              <a:gd name="T0" fmla="*/ 0 w 420"/>
              <a:gd name="T1" fmla="*/ 2147483646 h 972"/>
              <a:gd name="T2" fmla="*/ 2147483646 w 420"/>
              <a:gd name="T3" fmla="*/ 2147483646 h 972"/>
              <a:gd name="T4" fmla="*/ 2147483646 w 420"/>
              <a:gd name="T5" fmla="*/ 2147483646 h 972"/>
              <a:gd name="T6" fmla="*/ 2147483646 w 420"/>
              <a:gd name="T7" fmla="*/ 2147483646 h 972"/>
              <a:gd name="T8" fmla="*/ 2147483646 w 420"/>
              <a:gd name="T9" fmla="*/ 2147483646 h 972"/>
              <a:gd name="T10" fmla="*/ 2147483646 w 420"/>
              <a:gd name="T11" fmla="*/ 2147483646 h 972"/>
              <a:gd name="T12" fmla="*/ 2147483646 w 420"/>
              <a:gd name="T13" fmla="*/ 2147483646 h 972"/>
              <a:gd name="T14" fmla="*/ 2147483646 w 420"/>
              <a:gd name="T15" fmla="*/ 2147483646 h 972"/>
              <a:gd name="T16" fmla="*/ 2147483646 w 420"/>
              <a:gd name="T17" fmla="*/ 2147483646 h 972"/>
              <a:gd name="T18" fmla="*/ 2147483646 w 420"/>
              <a:gd name="T19" fmla="*/ 2147483646 h 972"/>
              <a:gd name="T20" fmla="*/ 2147483646 w 420"/>
              <a:gd name="T21" fmla="*/ 2147483646 h 972"/>
              <a:gd name="T22" fmla="*/ 2147483646 w 420"/>
              <a:gd name="T23" fmla="*/ 0 h 97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20" h="972">
                <a:moveTo>
                  <a:pt x="0" y="972"/>
                </a:moveTo>
                <a:cubicBezTo>
                  <a:pt x="41" y="958"/>
                  <a:pt x="79" y="938"/>
                  <a:pt x="120" y="924"/>
                </a:cubicBezTo>
                <a:cubicBezTo>
                  <a:pt x="184" y="876"/>
                  <a:pt x="261" y="825"/>
                  <a:pt x="288" y="744"/>
                </a:cubicBezTo>
                <a:cubicBezTo>
                  <a:pt x="303" y="700"/>
                  <a:pt x="309" y="656"/>
                  <a:pt x="324" y="612"/>
                </a:cubicBezTo>
                <a:cubicBezTo>
                  <a:pt x="315" y="474"/>
                  <a:pt x="343" y="402"/>
                  <a:pt x="216" y="360"/>
                </a:cubicBezTo>
                <a:cubicBezTo>
                  <a:pt x="147" y="377"/>
                  <a:pt x="119" y="400"/>
                  <a:pt x="96" y="468"/>
                </a:cubicBezTo>
                <a:cubicBezTo>
                  <a:pt x="100" y="488"/>
                  <a:pt x="98" y="510"/>
                  <a:pt x="108" y="528"/>
                </a:cubicBezTo>
                <a:cubicBezTo>
                  <a:pt x="117" y="544"/>
                  <a:pt x="197" y="575"/>
                  <a:pt x="216" y="588"/>
                </a:cubicBezTo>
                <a:cubicBezTo>
                  <a:pt x="297" y="576"/>
                  <a:pt x="354" y="571"/>
                  <a:pt x="384" y="480"/>
                </a:cubicBezTo>
                <a:cubicBezTo>
                  <a:pt x="398" y="437"/>
                  <a:pt x="420" y="348"/>
                  <a:pt x="420" y="348"/>
                </a:cubicBezTo>
                <a:cubicBezTo>
                  <a:pt x="409" y="252"/>
                  <a:pt x="390" y="175"/>
                  <a:pt x="360" y="84"/>
                </a:cubicBezTo>
                <a:cubicBezTo>
                  <a:pt x="347" y="46"/>
                  <a:pt x="339" y="19"/>
                  <a:pt x="300" y="0"/>
                </a:cubicBezTo>
              </a:path>
            </a:pathLst>
          </a:custGeom>
          <a:noFill/>
          <a:ln w="88900">
            <a:solidFill>
              <a:srgbClr val="FF0000"/>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164870" name="Picture 7" descr="Image 24_5"/>
          <p:cNvPicPr>
            <a:picLocks noChangeAspect="1" noChangeArrowheads="1"/>
          </p:cNvPicPr>
          <p:nvPr/>
        </p:nvPicPr>
        <p:blipFill>
          <a:blip r:embed="rId4">
            <a:lum bright="18000" contrast="18000"/>
            <a:extLst>
              <a:ext uri="{28A0092B-C50C-407E-A947-70E740481C1C}">
                <a14:useLocalDpi xmlns:a14="http://schemas.microsoft.com/office/drawing/2010/main" val="0"/>
              </a:ext>
            </a:extLst>
          </a:blip>
          <a:srcRect/>
          <a:stretch>
            <a:fillRect/>
          </a:stretch>
        </p:blipFill>
        <p:spPr bwMode="auto">
          <a:xfrm>
            <a:off x="4483100" y="1520825"/>
            <a:ext cx="3041650" cy="172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7" name="Text Box 9"/>
          <p:cNvSpPr txBox="1">
            <a:spLocks noChangeArrowheads="1"/>
          </p:cNvSpPr>
          <p:nvPr/>
        </p:nvSpPr>
        <p:spPr bwMode="auto">
          <a:xfrm>
            <a:off x="4827588" y="3341688"/>
            <a:ext cx="2379662" cy="915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th-TH" altLang="en-US" sz="1800" b="1">
                <a:solidFill>
                  <a:srgbClr val="008000"/>
                </a:solidFill>
                <a:latin typeface="Tahoma" panose="020B0604030504040204" pitchFamily="34" charset="0"/>
                <a:cs typeface="Tahoma" panose="020B0604030504040204" pitchFamily="34" charset="0"/>
              </a:rPr>
              <a:t>แยกเศษเหล็กด้วยแม่เหล็กถาวร (ความแรง </a:t>
            </a:r>
            <a:r>
              <a:rPr lang="en-US" altLang="en-US" sz="1800" b="1">
                <a:solidFill>
                  <a:srgbClr val="008000"/>
                </a:solidFill>
                <a:latin typeface="Tahoma" panose="020B0604030504040204" pitchFamily="34" charset="0"/>
                <a:cs typeface="Tahoma" panose="020B0604030504040204" pitchFamily="34" charset="0"/>
              </a:rPr>
              <a:t>~</a:t>
            </a:r>
            <a:r>
              <a:rPr lang="th-TH" altLang="en-US" sz="1800" b="1">
                <a:solidFill>
                  <a:srgbClr val="008000"/>
                </a:solidFill>
                <a:latin typeface="Tahoma" panose="020B0604030504040204" pitchFamily="34" charset="0"/>
                <a:cs typeface="Tahoma" panose="020B0604030504040204" pitchFamily="34" charset="0"/>
              </a:rPr>
              <a:t>1500 </a:t>
            </a:r>
            <a:r>
              <a:rPr lang="en-US" altLang="en-US" sz="1800" b="1">
                <a:solidFill>
                  <a:srgbClr val="008000"/>
                </a:solidFill>
                <a:latin typeface="Tahoma" panose="020B0604030504040204" pitchFamily="34" charset="0"/>
                <a:cs typeface="Tahoma" panose="020B0604030504040204" pitchFamily="34" charset="0"/>
              </a:rPr>
              <a:t>Gauss)</a:t>
            </a:r>
            <a:endParaRPr lang="th-TH" altLang="en-US" sz="1800" b="1">
              <a:solidFill>
                <a:srgbClr val="008000"/>
              </a:solidFill>
              <a:latin typeface="Tahoma" panose="020B0604030504040204" pitchFamily="34" charset="0"/>
              <a:cs typeface="Tahoma" panose="020B0604030504040204" pitchFamily="34" charset="0"/>
            </a:endParaRPr>
          </a:p>
        </p:txBody>
      </p:sp>
      <p:sp>
        <p:nvSpPr>
          <p:cNvPr id="58378" name="Freeform 10"/>
          <p:cNvSpPr>
            <a:spLocks/>
          </p:cNvSpPr>
          <p:nvPr/>
        </p:nvSpPr>
        <p:spPr bwMode="auto">
          <a:xfrm>
            <a:off x="5694363" y="2389188"/>
            <a:ext cx="638175" cy="1022350"/>
          </a:xfrm>
          <a:custGeom>
            <a:avLst/>
            <a:gdLst>
              <a:gd name="T0" fmla="*/ 2147483646 w 591"/>
              <a:gd name="T1" fmla="*/ 2147483646 h 1248"/>
              <a:gd name="T2" fmla="*/ 2147483646 w 591"/>
              <a:gd name="T3" fmla="*/ 2147483646 h 1248"/>
              <a:gd name="T4" fmla="*/ 2147483646 w 591"/>
              <a:gd name="T5" fmla="*/ 2147483646 h 1248"/>
              <a:gd name="T6" fmla="*/ 2147483646 w 591"/>
              <a:gd name="T7" fmla="*/ 2147483646 h 1248"/>
              <a:gd name="T8" fmla="*/ 2147483646 w 591"/>
              <a:gd name="T9" fmla="*/ 2147483646 h 1248"/>
              <a:gd name="T10" fmla="*/ 2147483646 w 591"/>
              <a:gd name="T11" fmla="*/ 2147483646 h 1248"/>
              <a:gd name="T12" fmla="*/ 0 w 591"/>
              <a:gd name="T13" fmla="*/ 2147483646 h 1248"/>
              <a:gd name="T14" fmla="*/ 2147483646 w 591"/>
              <a:gd name="T15" fmla="*/ 2147483646 h 1248"/>
              <a:gd name="T16" fmla="*/ 2147483646 w 591"/>
              <a:gd name="T17" fmla="*/ 2147483646 h 1248"/>
              <a:gd name="T18" fmla="*/ 2147483646 w 591"/>
              <a:gd name="T19" fmla="*/ 2147483646 h 1248"/>
              <a:gd name="T20" fmla="*/ 2147483646 w 591"/>
              <a:gd name="T21" fmla="*/ 2147483646 h 1248"/>
              <a:gd name="T22" fmla="*/ 2147483646 w 591"/>
              <a:gd name="T23" fmla="*/ 2147483646 h 1248"/>
              <a:gd name="T24" fmla="*/ 2147483646 w 591"/>
              <a:gd name="T25" fmla="*/ 2147483646 h 1248"/>
              <a:gd name="T26" fmla="*/ 2147483646 w 591"/>
              <a:gd name="T27" fmla="*/ 0 h 124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591" h="1248">
                <a:moveTo>
                  <a:pt x="84" y="1248"/>
                </a:moveTo>
                <a:cubicBezTo>
                  <a:pt x="146" y="1227"/>
                  <a:pt x="164" y="1175"/>
                  <a:pt x="216" y="1140"/>
                </a:cubicBezTo>
                <a:cubicBezTo>
                  <a:pt x="258" y="1077"/>
                  <a:pt x="282" y="1011"/>
                  <a:pt x="324" y="948"/>
                </a:cubicBezTo>
                <a:cubicBezTo>
                  <a:pt x="336" y="899"/>
                  <a:pt x="350" y="853"/>
                  <a:pt x="360" y="804"/>
                </a:cubicBezTo>
                <a:cubicBezTo>
                  <a:pt x="353" y="628"/>
                  <a:pt x="417" y="487"/>
                  <a:pt x="252" y="432"/>
                </a:cubicBezTo>
                <a:cubicBezTo>
                  <a:pt x="187" y="440"/>
                  <a:pt x="133" y="448"/>
                  <a:pt x="72" y="468"/>
                </a:cubicBezTo>
                <a:cubicBezTo>
                  <a:pt x="36" y="504"/>
                  <a:pt x="16" y="528"/>
                  <a:pt x="0" y="576"/>
                </a:cubicBezTo>
                <a:cubicBezTo>
                  <a:pt x="24" y="697"/>
                  <a:pt x="48" y="728"/>
                  <a:pt x="168" y="768"/>
                </a:cubicBezTo>
                <a:cubicBezTo>
                  <a:pt x="298" y="760"/>
                  <a:pt x="343" y="779"/>
                  <a:pt x="432" y="720"/>
                </a:cubicBezTo>
                <a:cubicBezTo>
                  <a:pt x="482" y="645"/>
                  <a:pt x="524" y="589"/>
                  <a:pt x="552" y="504"/>
                </a:cubicBezTo>
                <a:cubicBezTo>
                  <a:pt x="566" y="461"/>
                  <a:pt x="588" y="372"/>
                  <a:pt x="588" y="372"/>
                </a:cubicBezTo>
                <a:cubicBezTo>
                  <a:pt x="584" y="284"/>
                  <a:pt x="591" y="195"/>
                  <a:pt x="576" y="108"/>
                </a:cubicBezTo>
                <a:cubicBezTo>
                  <a:pt x="571" y="80"/>
                  <a:pt x="544" y="60"/>
                  <a:pt x="528" y="36"/>
                </a:cubicBezTo>
                <a:cubicBezTo>
                  <a:pt x="521" y="25"/>
                  <a:pt x="516" y="0"/>
                  <a:pt x="516" y="0"/>
                </a:cubicBezTo>
              </a:path>
            </a:pathLst>
          </a:custGeom>
          <a:noFill/>
          <a:ln w="88900">
            <a:solidFill>
              <a:srgbClr val="00FF00"/>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4873" name="Text Box 11"/>
          <p:cNvSpPr txBox="1">
            <a:spLocks noChangeArrowheads="1"/>
          </p:cNvSpPr>
          <p:nvPr/>
        </p:nvSpPr>
        <p:spPr bwMode="auto">
          <a:xfrm>
            <a:off x="1116013" y="765175"/>
            <a:ext cx="67691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th-TH" altLang="en-US" sz="2000" b="1" u="sng">
                <a:solidFill>
                  <a:srgbClr val="0000FF"/>
                </a:solidFill>
                <a:latin typeface="Tahoma" panose="020B0604030504040204" pitchFamily="34" charset="0"/>
                <a:cs typeface="Tahoma" panose="020B0604030504040204" pitchFamily="34" charset="0"/>
              </a:rPr>
              <a:t>แยกหิน</a:t>
            </a:r>
            <a:r>
              <a:rPr lang="en-US" altLang="en-US" sz="2000" b="1" u="sng">
                <a:solidFill>
                  <a:srgbClr val="0000FF"/>
                </a:solidFill>
                <a:latin typeface="Tahoma" panose="020B0604030504040204" pitchFamily="34" charset="0"/>
                <a:cs typeface="Tahoma" panose="020B0604030504040204" pitchFamily="34" charset="0"/>
              </a:rPr>
              <a:t> / </a:t>
            </a:r>
            <a:r>
              <a:rPr lang="th-TH" altLang="en-US" sz="2000" b="1" u="sng">
                <a:solidFill>
                  <a:srgbClr val="0000FF"/>
                </a:solidFill>
                <a:latin typeface="Tahoma" panose="020B0604030504040204" pitchFamily="34" charset="0"/>
                <a:cs typeface="Tahoma" panose="020B0604030504040204" pitchFamily="34" charset="0"/>
              </a:rPr>
              <a:t>เหล็กออกจาก </a:t>
            </a:r>
            <a:r>
              <a:rPr lang="en-US" altLang="en-US" sz="2000" b="1" u="sng">
                <a:solidFill>
                  <a:srgbClr val="0000FF"/>
                </a:solidFill>
                <a:latin typeface="Tahoma" panose="020B0604030504040204" pitchFamily="34" charset="0"/>
                <a:cs typeface="Tahoma" panose="020B0604030504040204" pitchFamily="34" charset="0"/>
              </a:rPr>
              <a:t>Chips</a:t>
            </a:r>
            <a:endParaRPr lang="th-TH" altLang="en-US" sz="2000" b="1" u="sng">
              <a:solidFill>
                <a:srgbClr val="0000FF"/>
              </a:solidFill>
              <a:latin typeface="Tahoma" panose="020B0604030504040204" pitchFamily="34" charset="0"/>
              <a:cs typeface="Tahoma" panose="020B0604030504040204" pitchFamily="34" charset="0"/>
            </a:endParaRPr>
          </a:p>
        </p:txBody>
      </p:sp>
      <p:pic>
        <p:nvPicPr>
          <p:cNvPr id="58380" name="Picture 12" descr="Image 2_7"/>
          <p:cNvPicPr>
            <a:picLocks noChangeAspect="1" noChangeArrowheads="1"/>
          </p:cNvPicPr>
          <p:nvPr/>
        </p:nvPicPr>
        <p:blipFill>
          <a:blip r:embed="rId5">
            <a:lum bright="6000" contrast="12000"/>
            <a:extLst>
              <a:ext uri="{28A0092B-C50C-407E-A947-70E740481C1C}">
                <a14:useLocalDpi xmlns:a14="http://schemas.microsoft.com/office/drawing/2010/main" val="0"/>
              </a:ext>
            </a:extLst>
          </a:blip>
          <a:srcRect/>
          <a:stretch>
            <a:fillRect/>
          </a:stretch>
        </p:blipFill>
        <p:spPr bwMode="auto">
          <a:xfrm>
            <a:off x="5040313" y="4257675"/>
            <a:ext cx="203835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81" name="Text Box 13"/>
          <p:cNvSpPr txBox="1">
            <a:spLocks noChangeArrowheads="1"/>
          </p:cNvSpPr>
          <p:nvPr/>
        </p:nvSpPr>
        <p:spPr bwMode="auto">
          <a:xfrm>
            <a:off x="4964113" y="6251575"/>
            <a:ext cx="2133600" cy="396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th-TH" altLang="en-US" sz="2000" b="1">
                <a:latin typeface="Tahoma" panose="020B0604030504040204" pitchFamily="34" charset="0"/>
                <a:cs typeface="Tahoma" panose="020B0604030504040204" pitchFamily="34" charset="0"/>
              </a:rPr>
              <a:t>เหล็กเส้น</a:t>
            </a:r>
          </a:p>
        </p:txBody>
      </p:sp>
      <p:pic>
        <p:nvPicPr>
          <p:cNvPr id="58382" name="Picture 14" descr="Image 4_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31913" y="3833813"/>
            <a:ext cx="3168650" cy="237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83" name="Text Box 15"/>
          <p:cNvSpPr txBox="1">
            <a:spLocks noChangeArrowheads="1"/>
          </p:cNvSpPr>
          <p:nvPr/>
        </p:nvSpPr>
        <p:spPr bwMode="auto">
          <a:xfrm>
            <a:off x="1652588" y="6183313"/>
            <a:ext cx="2133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th-TH" altLang="en-US" sz="2000" b="1">
                <a:latin typeface="Tahoma" panose="020B0604030504040204" pitchFamily="34" charset="0"/>
                <a:cs typeface="Tahoma" panose="020B0604030504040204" pitchFamily="34" charset="0"/>
              </a:rPr>
              <a:t>ก้อนหิน</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8373"/>
                                        </p:tgtEl>
                                        <p:attrNameLst>
                                          <p:attrName>style.visibility</p:attrName>
                                        </p:attrNameLst>
                                      </p:cBhvr>
                                      <p:to>
                                        <p:strVal val="visible"/>
                                      </p:to>
                                    </p:set>
                                    <p:animEffect transition="in" filter="wipe(down)">
                                      <p:cBhvr>
                                        <p:cTn id="7" dur="500"/>
                                        <p:tgtEl>
                                          <p:spTgt spid="58373"/>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58374"/>
                                        </p:tgtEl>
                                        <p:attrNameLst>
                                          <p:attrName>style.visibility</p:attrName>
                                        </p:attrNameLst>
                                      </p:cBhvr>
                                      <p:to>
                                        <p:strVal val="visible"/>
                                      </p:to>
                                    </p:set>
                                    <p:animEffect transition="in" filter="wipe(down)">
                                      <p:cBhvr>
                                        <p:cTn id="10" dur="500"/>
                                        <p:tgtEl>
                                          <p:spTgt spid="58374"/>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838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8383"/>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58377"/>
                                        </p:tgtEl>
                                        <p:attrNameLst>
                                          <p:attrName>style.visibility</p:attrName>
                                        </p:attrNameLst>
                                      </p:cBhvr>
                                      <p:to>
                                        <p:strVal val="visible"/>
                                      </p:to>
                                    </p:set>
                                    <p:animEffect transition="in" filter="wipe(down)">
                                      <p:cBhvr>
                                        <p:cTn id="21" dur="500"/>
                                        <p:tgtEl>
                                          <p:spTgt spid="58377"/>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58378"/>
                                        </p:tgtEl>
                                        <p:attrNameLst>
                                          <p:attrName>style.visibility</p:attrName>
                                        </p:attrNameLst>
                                      </p:cBhvr>
                                      <p:to>
                                        <p:strVal val="visible"/>
                                      </p:to>
                                    </p:set>
                                    <p:animEffect transition="in" filter="wipe(down)">
                                      <p:cBhvr>
                                        <p:cTn id="24" dur="500"/>
                                        <p:tgtEl>
                                          <p:spTgt spid="58378"/>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5838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83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3" grpId="0"/>
      <p:bldP spid="58374" grpId="0" animBg="1"/>
      <p:bldP spid="58377" grpId="0"/>
      <p:bldP spid="58378" grpId="0" animBg="1"/>
      <p:bldP spid="58381" grpId="0" animBg="1"/>
      <p:bldP spid="58383"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p:cNvSpPr>
            <a:spLocks noGrp="1" noChangeArrowheads="1"/>
          </p:cNvSpPr>
          <p:nvPr>
            <p:ph type="title"/>
          </p:nvPr>
        </p:nvSpPr>
        <p:spPr>
          <a:xfrm>
            <a:off x="107950" y="44450"/>
            <a:ext cx="9036050" cy="561975"/>
          </a:xfrm>
          <a:noFill/>
        </p:spPr>
        <p:txBody>
          <a:bodyPr/>
          <a:lstStyle/>
          <a:p>
            <a:pPr algn="l" eaLnBrk="1" hangingPunct="1"/>
            <a:r>
              <a:rPr lang="en-US" altLang="en-US" sz="3200" b="1" smtClean="0">
                <a:solidFill>
                  <a:srgbClr val="FF0000"/>
                </a:solidFill>
                <a:latin typeface="Tahoma" panose="020B0604030504040204" pitchFamily="34" charset="0"/>
              </a:rPr>
              <a:t>SCP – Chip Washing</a:t>
            </a:r>
            <a:endParaRPr lang="th-TH" altLang="en-US" sz="3200" b="1" smtClean="0">
              <a:solidFill>
                <a:srgbClr val="FF0000"/>
              </a:solidFill>
              <a:latin typeface="Tahoma" panose="020B0604030504040204" pitchFamily="34" charset="0"/>
            </a:endParaRPr>
          </a:p>
        </p:txBody>
      </p:sp>
      <p:grpSp>
        <p:nvGrpSpPr>
          <p:cNvPr id="60419" name="Group 3"/>
          <p:cNvGrpSpPr>
            <a:grpSpLocks/>
          </p:cNvGrpSpPr>
          <p:nvPr/>
        </p:nvGrpSpPr>
        <p:grpSpPr bwMode="auto">
          <a:xfrm>
            <a:off x="71438" y="2538413"/>
            <a:ext cx="6083300" cy="3349625"/>
            <a:chOff x="0" y="459"/>
            <a:chExt cx="5648" cy="3861"/>
          </a:xfrm>
        </p:grpSpPr>
        <p:pic>
          <p:nvPicPr>
            <p:cNvPr id="166922" name="Picture 4" descr="refining00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02" y="459"/>
              <a:ext cx="3560" cy="2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6923" name="AutoShape 5"/>
            <p:cNvSpPr>
              <a:spLocks noChangeArrowheads="1"/>
            </p:cNvSpPr>
            <p:nvPr/>
          </p:nvSpPr>
          <p:spPr bwMode="auto">
            <a:xfrm>
              <a:off x="1338" y="1003"/>
              <a:ext cx="272" cy="317"/>
            </a:xfrm>
            <a:prstGeom prst="downArrow">
              <a:avLst>
                <a:gd name="adj1" fmla="val 50000"/>
                <a:gd name="adj2" fmla="val 29136"/>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66924" name="Text Box 6"/>
            <p:cNvSpPr txBox="1">
              <a:spLocks noChangeArrowheads="1"/>
            </p:cNvSpPr>
            <p:nvPr/>
          </p:nvSpPr>
          <p:spPr bwMode="auto">
            <a:xfrm>
              <a:off x="1226" y="662"/>
              <a:ext cx="998" cy="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600" b="1">
                  <a:solidFill>
                    <a:srgbClr val="0000FF"/>
                  </a:solidFill>
                  <a:latin typeface="Arial" panose="020B0604020202020204" pitchFamily="34" charset="0"/>
                  <a:cs typeface="Angsana New" panose="02020603050405020304" pitchFamily="18" charset="-34"/>
                </a:rPr>
                <a:t>Chips</a:t>
              </a:r>
              <a:endParaRPr lang="th-TH" altLang="en-US" sz="1600" b="1">
                <a:solidFill>
                  <a:srgbClr val="0000FF"/>
                </a:solidFill>
                <a:latin typeface="Arial" panose="020B0604020202020204" pitchFamily="34" charset="0"/>
                <a:cs typeface="Angsana New" panose="02020603050405020304" pitchFamily="18" charset="-34"/>
              </a:endParaRPr>
            </a:p>
          </p:txBody>
        </p:sp>
        <p:sp>
          <p:nvSpPr>
            <p:cNvPr id="166925" name="Text Box 7"/>
            <p:cNvSpPr txBox="1">
              <a:spLocks noChangeArrowheads="1"/>
            </p:cNvSpPr>
            <p:nvPr/>
          </p:nvSpPr>
          <p:spPr bwMode="auto">
            <a:xfrm>
              <a:off x="3969" y="1683"/>
              <a:ext cx="1405" cy="6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600" b="1">
                  <a:solidFill>
                    <a:srgbClr val="0000FF"/>
                  </a:solidFill>
                  <a:latin typeface="Arial" panose="020B0604020202020204" pitchFamily="34" charset="0"/>
                  <a:cs typeface="Angsana New" panose="02020603050405020304" pitchFamily="18" charset="-34"/>
                </a:rPr>
                <a:t>Washed Chips</a:t>
              </a:r>
              <a:endParaRPr lang="th-TH" altLang="en-US" sz="1600" b="1">
                <a:solidFill>
                  <a:srgbClr val="0000FF"/>
                </a:solidFill>
                <a:latin typeface="Arial" panose="020B0604020202020204" pitchFamily="34" charset="0"/>
                <a:cs typeface="Angsana New" panose="02020603050405020304" pitchFamily="18" charset="-34"/>
              </a:endParaRPr>
            </a:p>
          </p:txBody>
        </p:sp>
        <p:sp>
          <p:nvSpPr>
            <p:cNvPr id="166926" name="AutoShape 8"/>
            <p:cNvSpPr>
              <a:spLocks noChangeArrowheads="1"/>
            </p:cNvSpPr>
            <p:nvPr/>
          </p:nvSpPr>
          <p:spPr bwMode="auto">
            <a:xfrm>
              <a:off x="4263" y="1275"/>
              <a:ext cx="272" cy="317"/>
            </a:xfrm>
            <a:prstGeom prst="downArrow">
              <a:avLst>
                <a:gd name="adj1" fmla="val 50000"/>
                <a:gd name="adj2" fmla="val 29136"/>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nvGrpSpPr>
            <p:cNvPr id="166927" name="Group 9"/>
            <p:cNvGrpSpPr>
              <a:grpSpLocks/>
            </p:cNvGrpSpPr>
            <p:nvPr/>
          </p:nvGrpSpPr>
          <p:grpSpPr bwMode="auto">
            <a:xfrm>
              <a:off x="3628" y="1457"/>
              <a:ext cx="2020" cy="1483"/>
              <a:chOff x="3264" y="1368"/>
              <a:chExt cx="2020" cy="1483"/>
            </a:xfrm>
          </p:grpSpPr>
          <p:sp>
            <p:nvSpPr>
              <p:cNvPr id="166961" name="Text Box 10"/>
              <p:cNvSpPr txBox="1">
                <a:spLocks noChangeArrowheads="1"/>
              </p:cNvSpPr>
              <p:nvPr/>
            </p:nvSpPr>
            <p:spPr bwMode="auto">
              <a:xfrm>
                <a:off x="3741" y="2182"/>
                <a:ext cx="1543" cy="6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th-TH" altLang="en-US" sz="1600" b="1">
                    <a:solidFill>
                      <a:srgbClr val="FF3300"/>
                    </a:solidFill>
                    <a:latin typeface="Tahoma" panose="020B0604030504040204" pitchFamily="34" charset="0"/>
                    <a:cs typeface="Tahoma" panose="020B0604030504040204" pitchFamily="34" charset="0"/>
                  </a:rPr>
                  <a:t>แยกของขนาดเล็ก</a:t>
                </a:r>
              </a:p>
            </p:txBody>
          </p:sp>
          <p:sp>
            <p:nvSpPr>
              <p:cNvPr id="166962" name="Freeform 11"/>
              <p:cNvSpPr>
                <a:spLocks/>
              </p:cNvSpPr>
              <p:nvPr/>
            </p:nvSpPr>
            <p:spPr bwMode="auto">
              <a:xfrm>
                <a:off x="3264" y="1368"/>
                <a:ext cx="444" cy="972"/>
              </a:xfrm>
              <a:custGeom>
                <a:avLst/>
                <a:gdLst>
                  <a:gd name="T0" fmla="*/ 444 w 444"/>
                  <a:gd name="T1" fmla="*/ 960 h 972"/>
                  <a:gd name="T2" fmla="*/ 300 w 444"/>
                  <a:gd name="T3" fmla="*/ 972 h 972"/>
                  <a:gd name="T4" fmla="*/ 168 w 444"/>
                  <a:gd name="T5" fmla="*/ 924 h 972"/>
                  <a:gd name="T6" fmla="*/ 84 w 444"/>
                  <a:gd name="T7" fmla="*/ 768 h 972"/>
                  <a:gd name="T8" fmla="*/ 72 w 444"/>
                  <a:gd name="T9" fmla="*/ 732 h 972"/>
                  <a:gd name="T10" fmla="*/ 60 w 444"/>
                  <a:gd name="T11" fmla="*/ 696 h 972"/>
                  <a:gd name="T12" fmla="*/ 180 w 444"/>
                  <a:gd name="T13" fmla="*/ 552 h 972"/>
                  <a:gd name="T14" fmla="*/ 216 w 444"/>
                  <a:gd name="T15" fmla="*/ 576 h 972"/>
                  <a:gd name="T16" fmla="*/ 168 w 444"/>
                  <a:gd name="T17" fmla="*/ 648 h 972"/>
                  <a:gd name="T18" fmla="*/ 48 w 444"/>
                  <a:gd name="T19" fmla="*/ 600 h 972"/>
                  <a:gd name="T20" fmla="*/ 36 w 444"/>
                  <a:gd name="T21" fmla="*/ 276 h 972"/>
                  <a:gd name="T22" fmla="*/ 96 w 444"/>
                  <a:gd name="T23" fmla="*/ 0 h 97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44" h="972">
                    <a:moveTo>
                      <a:pt x="444" y="960"/>
                    </a:moveTo>
                    <a:cubicBezTo>
                      <a:pt x="396" y="964"/>
                      <a:pt x="348" y="972"/>
                      <a:pt x="300" y="972"/>
                    </a:cubicBezTo>
                    <a:cubicBezTo>
                      <a:pt x="254" y="972"/>
                      <a:pt x="210" y="938"/>
                      <a:pt x="168" y="924"/>
                    </a:cubicBezTo>
                    <a:cubicBezTo>
                      <a:pt x="126" y="867"/>
                      <a:pt x="107" y="837"/>
                      <a:pt x="84" y="768"/>
                    </a:cubicBezTo>
                    <a:cubicBezTo>
                      <a:pt x="80" y="756"/>
                      <a:pt x="76" y="744"/>
                      <a:pt x="72" y="732"/>
                    </a:cubicBezTo>
                    <a:cubicBezTo>
                      <a:pt x="68" y="720"/>
                      <a:pt x="60" y="696"/>
                      <a:pt x="60" y="696"/>
                    </a:cubicBezTo>
                    <a:cubicBezTo>
                      <a:pt x="73" y="550"/>
                      <a:pt x="43" y="529"/>
                      <a:pt x="180" y="552"/>
                    </a:cubicBezTo>
                    <a:cubicBezTo>
                      <a:pt x="192" y="560"/>
                      <a:pt x="211" y="562"/>
                      <a:pt x="216" y="576"/>
                    </a:cubicBezTo>
                    <a:cubicBezTo>
                      <a:pt x="230" y="618"/>
                      <a:pt x="192" y="632"/>
                      <a:pt x="168" y="648"/>
                    </a:cubicBezTo>
                    <a:cubicBezTo>
                      <a:pt x="120" y="636"/>
                      <a:pt x="89" y="627"/>
                      <a:pt x="48" y="600"/>
                    </a:cubicBezTo>
                    <a:cubicBezTo>
                      <a:pt x="0" y="455"/>
                      <a:pt x="16" y="532"/>
                      <a:pt x="36" y="276"/>
                    </a:cubicBezTo>
                    <a:cubicBezTo>
                      <a:pt x="44" y="171"/>
                      <a:pt x="96" y="118"/>
                      <a:pt x="96" y="0"/>
                    </a:cubicBezTo>
                  </a:path>
                </a:pathLst>
              </a:custGeom>
              <a:noFill/>
              <a:ln w="63500">
                <a:solidFill>
                  <a:srgbClr val="FF0000"/>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166928" name="Line 12"/>
            <p:cNvSpPr>
              <a:spLocks noChangeShapeType="1"/>
            </p:cNvSpPr>
            <p:nvPr/>
          </p:nvSpPr>
          <p:spPr bwMode="auto">
            <a:xfrm flipV="1">
              <a:off x="793" y="1865"/>
              <a:ext cx="590" cy="0"/>
            </a:xfrm>
            <a:prstGeom prst="line">
              <a:avLst/>
            </a:prstGeom>
            <a:noFill/>
            <a:ln w="635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166929" name="Group 13"/>
            <p:cNvGrpSpPr>
              <a:grpSpLocks/>
            </p:cNvGrpSpPr>
            <p:nvPr/>
          </p:nvGrpSpPr>
          <p:grpSpPr bwMode="auto">
            <a:xfrm>
              <a:off x="0" y="935"/>
              <a:ext cx="1344" cy="669"/>
              <a:chOff x="0" y="935"/>
              <a:chExt cx="1344" cy="669"/>
            </a:xfrm>
          </p:grpSpPr>
          <p:sp>
            <p:nvSpPr>
              <p:cNvPr id="166959" name="Text Box 14"/>
              <p:cNvSpPr txBox="1">
                <a:spLocks noChangeArrowheads="1"/>
              </p:cNvSpPr>
              <p:nvPr/>
            </p:nvSpPr>
            <p:spPr bwMode="auto">
              <a:xfrm>
                <a:off x="0" y="935"/>
                <a:ext cx="1155" cy="6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th-TH" altLang="en-US" sz="1600" b="1">
                    <a:solidFill>
                      <a:srgbClr val="FF3300"/>
                    </a:solidFill>
                    <a:latin typeface="Tahoma" panose="020B0604030504040204" pitchFamily="34" charset="0"/>
                    <a:cs typeface="Tahoma" panose="020B0604030504040204" pitchFamily="34" charset="0"/>
                  </a:rPr>
                  <a:t>แยกของหนัก</a:t>
                </a:r>
              </a:p>
            </p:txBody>
          </p:sp>
          <p:sp>
            <p:nvSpPr>
              <p:cNvPr id="166960" name="Freeform 15"/>
              <p:cNvSpPr>
                <a:spLocks/>
              </p:cNvSpPr>
              <p:nvPr/>
            </p:nvSpPr>
            <p:spPr bwMode="auto">
              <a:xfrm>
                <a:off x="960" y="1164"/>
                <a:ext cx="384" cy="399"/>
              </a:xfrm>
              <a:custGeom>
                <a:avLst/>
                <a:gdLst>
                  <a:gd name="T0" fmla="*/ 0 w 384"/>
                  <a:gd name="T1" fmla="*/ 0 h 399"/>
                  <a:gd name="T2" fmla="*/ 132 w 384"/>
                  <a:gd name="T3" fmla="*/ 72 h 399"/>
                  <a:gd name="T4" fmla="*/ 204 w 384"/>
                  <a:gd name="T5" fmla="*/ 120 h 399"/>
                  <a:gd name="T6" fmla="*/ 276 w 384"/>
                  <a:gd name="T7" fmla="*/ 108 h 399"/>
                  <a:gd name="T8" fmla="*/ 240 w 384"/>
                  <a:gd name="T9" fmla="*/ 0 h 399"/>
                  <a:gd name="T10" fmla="*/ 108 w 384"/>
                  <a:gd name="T11" fmla="*/ 84 h 399"/>
                  <a:gd name="T12" fmla="*/ 240 w 384"/>
                  <a:gd name="T13" fmla="*/ 288 h 399"/>
                  <a:gd name="T14" fmla="*/ 384 w 384"/>
                  <a:gd name="T15" fmla="*/ 336 h 39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84" h="399">
                    <a:moveTo>
                      <a:pt x="0" y="0"/>
                    </a:moveTo>
                    <a:cubicBezTo>
                      <a:pt x="58" y="15"/>
                      <a:pt x="83" y="38"/>
                      <a:pt x="132" y="72"/>
                    </a:cubicBezTo>
                    <a:cubicBezTo>
                      <a:pt x="156" y="89"/>
                      <a:pt x="204" y="120"/>
                      <a:pt x="204" y="120"/>
                    </a:cubicBezTo>
                    <a:cubicBezTo>
                      <a:pt x="228" y="116"/>
                      <a:pt x="255" y="120"/>
                      <a:pt x="276" y="108"/>
                    </a:cubicBezTo>
                    <a:cubicBezTo>
                      <a:pt x="324" y="80"/>
                      <a:pt x="254" y="14"/>
                      <a:pt x="240" y="0"/>
                    </a:cubicBezTo>
                    <a:cubicBezTo>
                      <a:pt x="142" y="12"/>
                      <a:pt x="136" y="1"/>
                      <a:pt x="108" y="84"/>
                    </a:cubicBezTo>
                    <a:cubicBezTo>
                      <a:pt x="127" y="216"/>
                      <a:pt x="127" y="213"/>
                      <a:pt x="240" y="288"/>
                    </a:cubicBezTo>
                    <a:cubicBezTo>
                      <a:pt x="250" y="295"/>
                      <a:pt x="384" y="399"/>
                      <a:pt x="384" y="336"/>
                    </a:cubicBezTo>
                  </a:path>
                </a:pathLst>
              </a:custGeom>
              <a:noFill/>
              <a:ln w="63500">
                <a:solidFill>
                  <a:srgbClr val="FF0000"/>
                </a:solidFill>
                <a:round/>
                <a:headEnd/>
                <a:tailEnd type="triangle" w="med" len="med"/>
              </a:ln>
              <a:effectLst/>
              <a:extLst>
                <a:ext uri="{909E8E84-426E-40DD-AFC4-6F175D3DCCD1}">
                  <a14:hiddenFill xmlns:a14="http://schemas.microsoft.com/office/drawing/2010/main">
                    <a:solidFill>
                      <a:srgbClr val="FF00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166930" name="Line 16"/>
            <p:cNvSpPr>
              <a:spLocks noChangeShapeType="1"/>
            </p:cNvSpPr>
            <p:nvPr/>
          </p:nvSpPr>
          <p:spPr bwMode="auto">
            <a:xfrm>
              <a:off x="793" y="1865"/>
              <a:ext cx="0" cy="2087"/>
            </a:xfrm>
            <a:prstGeom prst="line">
              <a:avLst/>
            </a:prstGeom>
            <a:noFill/>
            <a:ln w="635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6931" name="Line 17"/>
            <p:cNvSpPr>
              <a:spLocks noChangeShapeType="1"/>
            </p:cNvSpPr>
            <p:nvPr/>
          </p:nvSpPr>
          <p:spPr bwMode="auto">
            <a:xfrm>
              <a:off x="793" y="3952"/>
              <a:ext cx="2473" cy="0"/>
            </a:xfrm>
            <a:prstGeom prst="line">
              <a:avLst/>
            </a:prstGeom>
            <a:noFill/>
            <a:ln w="635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6932" name="Rectangle 18"/>
            <p:cNvSpPr>
              <a:spLocks noChangeArrowheads="1"/>
            </p:cNvSpPr>
            <p:nvPr/>
          </p:nvSpPr>
          <p:spPr bwMode="auto">
            <a:xfrm>
              <a:off x="3266" y="3226"/>
              <a:ext cx="657" cy="839"/>
            </a:xfrm>
            <a:prstGeom prst="rect">
              <a:avLst/>
            </a:prstGeom>
            <a:gradFill rotWithShape="1">
              <a:gsLst>
                <a:gs pos="0">
                  <a:srgbClr val="5F5F5F"/>
                </a:gs>
                <a:gs pos="50000">
                  <a:srgbClr val="C9C9C9"/>
                </a:gs>
                <a:gs pos="100000">
                  <a:srgbClr val="5F5F5F"/>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66933" name="Line 19"/>
            <p:cNvSpPr>
              <a:spLocks noChangeShapeType="1"/>
            </p:cNvSpPr>
            <p:nvPr/>
          </p:nvSpPr>
          <p:spPr bwMode="auto">
            <a:xfrm>
              <a:off x="3470" y="1865"/>
              <a:ext cx="0" cy="1361"/>
            </a:xfrm>
            <a:prstGeom prst="line">
              <a:avLst/>
            </a:prstGeom>
            <a:noFill/>
            <a:ln w="635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6934" name="Line 20"/>
            <p:cNvSpPr>
              <a:spLocks noChangeShapeType="1"/>
            </p:cNvSpPr>
            <p:nvPr/>
          </p:nvSpPr>
          <p:spPr bwMode="auto">
            <a:xfrm>
              <a:off x="3923" y="3952"/>
              <a:ext cx="1180" cy="0"/>
            </a:xfrm>
            <a:prstGeom prst="line">
              <a:avLst/>
            </a:prstGeom>
            <a:noFill/>
            <a:ln w="635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6935" name="Line 21"/>
            <p:cNvSpPr>
              <a:spLocks noChangeShapeType="1"/>
            </p:cNvSpPr>
            <p:nvPr/>
          </p:nvSpPr>
          <p:spPr bwMode="auto">
            <a:xfrm flipV="1">
              <a:off x="5148" y="1071"/>
              <a:ext cx="23" cy="2858"/>
            </a:xfrm>
            <a:prstGeom prst="line">
              <a:avLst/>
            </a:prstGeom>
            <a:noFill/>
            <a:ln w="635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6936" name="Line 22"/>
            <p:cNvSpPr>
              <a:spLocks noChangeShapeType="1"/>
            </p:cNvSpPr>
            <p:nvPr/>
          </p:nvSpPr>
          <p:spPr bwMode="auto">
            <a:xfrm flipH="1">
              <a:off x="4513" y="1071"/>
              <a:ext cx="680" cy="0"/>
            </a:xfrm>
            <a:prstGeom prst="line">
              <a:avLst/>
            </a:prstGeom>
            <a:noFill/>
            <a:ln w="635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6937" name="Line 23"/>
            <p:cNvSpPr>
              <a:spLocks noChangeShapeType="1"/>
            </p:cNvSpPr>
            <p:nvPr/>
          </p:nvSpPr>
          <p:spPr bwMode="auto">
            <a:xfrm>
              <a:off x="4150" y="3317"/>
              <a:ext cx="0" cy="272"/>
            </a:xfrm>
            <a:prstGeom prst="line">
              <a:avLst/>
            </a:prstGeom>
            <a:noFill/>
            <a:ln w="101600">
              <a:solidFill>
                <a:srgbClr val="8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6938" name="Line 24"/>
            <p:cNvSpPr>
              <a:spLocks noChangeShapeType="1"/>
            </p:cNvSpPr>
            <p:nvPr/>
          </p:nvSpPr>
          <p:spPr bwMode="auto">
            <a:xfrm>
              <a:off x="3923" y="3317"/>
              <a:ext cx="227" cy="0"/>
            </a:xfrm>
            <a:prstGeom prst="line">
              <a:avLst/>
            </a:prstGeom>
            <a:noFill/>
            <a:ln w="101600">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6939" name="Freeform 25"/>
            <p:cNvSpPr>
              <a:spLocks/>
            </p:cNvSpPr>
            <p:nvPr/>
          </p:nvSpPr>
          <p:spPr bwMode="auto">
            <a:xfrm>
              <a:off x="5035" y="3612"/>
              <a:ext cx="204" cy="544"/>
            </a:xfrm>
            <a:custGeom>
              <a:avLst/>
              <a:gdLst>
                <a:gd name="T0" fmla="*/ 0 w 476"/>
                <a:gd name="T1" fmla="*/ 1 h 907"/>
                <a:gd name="T2" fmla="*/ 0 w 476"/>
                <a:gd name="T3" fmla="*/ 4 h 907"/>
                <a:gd name="T4" fmla="*/ 0 w 476"/>
                <a:gd name="T5" fmla="*/ 0 h 907"/>
                <a:gd name="T6" fmla="*/ 0 w 476"/>
                <a:gd name="T7" fmla="*/ 1 h 90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76" h="907">
                  <a:moveTo>
                    <a:pt x="0" y="23"/>
                  </a:moveTo>
                  <a:lnTo>
                    <a:pt x="250" y="907"/>
                  </a:lnTo>
                  <a:lnTo>
                    <a:pt x="476" y="0"/>
                  </a:lnTo>
                  <a:lnTo>
                    <a:pt x="0" y="23"/>
                  </a:lnTo>
                  <a:close/>
                </a:path>
              </a:pathLst>
            </a:cu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6940" name="Line 26"/>
            <p:cNvSpPr>
              <a:spLocks noChangeShapeType="1"/>
            </p:cNvSpPr>
            <p:nvPr/>
          </p:nvSpPr>
          <p:spPr bwMode="auto">
            <a:xfrm flipH="1">
              <a:off x="3129" y="3045"/>
              <a:ext cx="2019" cy="0"/>
            </a:xfrm>
            <a:prstGeom prst="line">
              <a:avLst/>
            </a:prstGeom>
            <a:noFill/>
            <a:ln w="635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6941" name="Line 27"/>
            <p:cNvSpPr>
              <a:spLocks noChangeShapeType="1"/>
            </p:cNvSpPr>
            <p:nvPr/>
          </p:nvSpPr>
          <p:spPr bwMode="auto">
            <a:xfrm>
              <a:off x="3129" y="3045"/>
              <a:ext cx="0" cy="907"/>
            </a:xfrm>
            <a:prstGeom prst="line">
              <a:avLst/>
            </a:prstGeom>
            <a:noFill/>
            <a:ln w="635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166942" name="Group 28"/>
            <p:cNvGrpSpPr>
              <a:grpSpLocks/>
            </p:cNvGrpSpPr>
            <p:nvPr/>
          </p:nvGrpSpPr>
          <p:grpSpPr bwMode="auto">
            <a:xfrm>
              <a:off x="1497" y="2704"/>
              <a:ext cx="273" cy="998"/>
              <a:chOff x="1497" y="2704"/>
              <a:chExt cx="273" cy="998"/>
            </a:xfrm>
          </p:grpSpPr>
          <p:grpSp>
            <p:nvGrpSpPr>
              <p:cNvPr id="166953" name="Group 29"/>
              <p:cNvGrpSpPr>
                <a:grpSpLocks/>
              </p:cNvGrpSpPr>
              <p:nvPr/>
            </p:nvGrpSpPr>
            <p:grpSpPr bwMode="auto">
              <a:xfrm>
                <a:off x="1497" y="3430"/>
                <a:ext cx="273" cy="272"/>
                <a:chOff x="158" y="2931"/>
                <a:chExt cx="454" cy="386"/>
              </a:xfrm>
            </p:grpSpPr>
            <p:sp>
              <p:nvSpPr>
                <p:cNvPr id="166955" name="Line 30"/>
                <p:cNvSpPr>
                  <a:spLocks noChangeShapeType="1"/>
                </p:cNvSpPr>
                <p:nvPr/>
              </p:nvSpPr>
              <p:spPr bwMode="auto">
                <a:xfrm>
                  <a:off x="158" y="2931"/>
                  <a:ext cx="454" cy="0"/>
                </a:xfrm>
                <a:prstGeom prst="line">
                  <a:avLst/>
                </a:prstGeom>
                <a:noFill/>
                <a:ln w="63500">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6956" name="Line 31"/>
                <p:cNvSpPr>
                  <a:spLocks noChangeShapeType="1"/>
                </p:cNvSpPr>
                <p:nvPr/>
              </p:nvSpPr>
              <p:spPr bwMode="auto">
                <a:xfrm>
                  <a:off x="249" y="3067"/>
                  <a:ext cx="250" cy="0"/>
                </a:xfrm>
                <a:prstGeom prst="line">
                  <a:avLst/>
                </a:prstGeom>
                <a:noFill/>
                <a:ln w="63500">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6957" name="Line 32"/>
                <p:cNvSpPr>
                  <a:spLocks noChangeShapeType="1"/>
                </p:cNvSpPr>
                <p:nvPr/>
              </p:nvSpPr>
              <p:spPr bwMode="auto">
                <a:xfrm>
                  <a:off x="317" y="3203"/>
                  <a:ext cx="113" cy="0"/>
                </a:xfrm>
                <a:prstGeom prst="line">
                  <a:avLst/>
                </a:prstGeom>
                <a:noFill/>
                <a:ln w="63500">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6958" name="Line 33"/>
                <p:cNvSpPr>
                  <a:spLocks noChangeShapeType="1"/>
                </p:cNvSpPr>
                <p:nvPr/>
              </p:nvSpPr>
              <p:spPr bwMode="auto">
                <a:xfrm>
                  <a:off x="340" y="3317"/>
                  <a:ext cx="45" cy="0"/>
                </a:xfrm>
                <a:prstGeom prst="line">
                  <a:avLst/>
                </a:prstGeom>
                <a:noFill/>
                <a:ln w="63500">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166954" name="Line 34"/>
              <p:cNvSpPr>
                <a:spLocks noChangeShapeType="1"/>
              </p:cNvSpPr>
              <p:nvPr/>
            </p:nvSpPr>
            <p:spPr bwMode="auto">
              <a:xfrm>
                <a:off x="1610" y="2704"/>
                <a:ext cx="0" cy="703"/>
              </a:xfrm>
              <a:prstGeom prst="line">
                <a:avLst/>
              </a:prstGeom>
              <a:noFill/>
              <a:ln w="63500">
                <a:solidFill>
                  <a:srgbClr val="8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66943" name="Group 35"/>
            <p:cNvGrpSpPr>
              <a:grpSpLocks/>
            </p:cNvGrpSpPr>
            <p:nvPr/>
          </p:nvGrpSpPr>
          <p:grpSpPr bwMode="auto">
            <a:xfrm>
              <a:off x="3152" y="2251"/>
              <a:ext cx="273" cy="272"/>
              <a:chOff x="158" y="2931"/>
              <a:chExt cx="454" cy="386"/>
            </a:xfrm>
          </p:grpSpPr>
          <p:sp>
            <p:nvSpPr>
              <p:cNvPr id="166949" name="Line 36"/>
              <p:cNvSpPr>
                <a:spLocks noChangeShapeType="1"/>
              </p:cNvSpPr>
              <p:nvPr/>
            </p:nvSpPr>
            <p:spPr bwMode="auto">
              <a:xfrm>
                <a:off x="158" y="2931"/>
                <a:ext cx="454" cy="0"/>
              </a:xfrm>
              <a:prstGeom prst="line">
                <a:avLst/>
              </a:prstGeom>
              <a:noFill/>
              <a:ln w="63500">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6950" name="Line 37"/>
              <p:cNvSpPr>
                <a:spLocks noChangeShapeType="1"/>
              </p:cNvSpPr>
              <p:nvPr/>
            </p:nvSpPr>
            <p:spPr bwMode="auto">
              <a:xfrm>
                <a:off x="249" y="3067"/>
                <a:ext cx="250" cy="0"/>
              </a:xfrm>
              <a:prstGeom prst="line">
                <a:avLst/>
              </a:prstGeom>
              <a:noFill/>
              <a:ln w="63500">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6951" name="Line 38"/>
              <p:cNvSpPr>
                <a:spLocks noChangeShapeType="1"/>
              </p:cNvSpPr>
              <p:nvPr/>
            </p:nvSpPr>
            <p:spPr bwMode="auto">
              <a:xfrm>
                <a:off x="317" y="3203"/>
                <a:ext cx="113" cy="0"/>
              </a:xfrm>
              <a:prstGeom prst="line">
                <a:avLst/>
              </a:prstGeom>
              <a:noFill/>
              <a:ln w="63500">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6952" name="Line 39"/>
              <p:cNvSpPr>
                <a:spLocks noChangeShapeType="1"/>
              </p:cNvSpPr>
              <p:nvPr/>
            </p:nvSpPr>
            <p:spPr bwMode="auto">
              <a:xfrm>
                <a:off x="340" y="3317"/>
                <a:ext cx="45" cy="0"/>
              </a:xfrm>
              <a:prstGeom prst="line">
                <a:avLst/>
              </a:prstGeom>
              <a:noFill/>
              <a:ln w="63500">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66944" name="Group 40"/>
            <p:cNvGrpSpPr>
              <a:grpSpLocks/>
            </p:cNvGrpSpPr>
            <p:nvPr/>
          </p:nvGrpSpPr>
          <p:grpSpPr bwMode="auto">
            <a:xfrm>
              <a:off x="5012" y="4048"/>
              <a:ext cx="273" cy="272"/>
              <a:chOff x="158" y="2931"/>
              <a:chExt cx="454" cy="386"/>
            </a:xfrm>
          </p:grpSpPr>
          <p:sp>
            <p:nvSpPr>
              <p:cNvPr id="166945" name="Line 41"/>
              <p:cNvSpPr>
                <a:spLocks noChangeShapeType="1"/>
              </p:cNvSpPr>
              <p:nvPr/>
            </p:nvSpPr>
            <p:spPr bwMode="auto">
              <a:xfrm>
                <a:off x="158" y="2931"/>
                <a:ext cx="454" cy="0"/>
              </a:xfrm>
              <a:prstGeom prst="line">
                <a:avLst/>
              </a:prstGeom>
              <a:noFill/>
              <a:ln w="63500">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6946" name="Line 42"/>
              <p:cNvSpPr>
                <a:spLocks noChangeShapeType="1"/>
              </p:cNvSpPr>
              <p:nvPr/>
            </p:nvSpPr>
            <p:spPr bwMode="auto">
              <a:xfrm>
                <a:off x="249" y="3067"/>
                <a:ext cx="250" cy="0"/>
              </a:xfrm>
              <a:prstGeom prst="line">
                <a:avLst/>
              </a:prstGeom>
              <a:noFill/>
              <a:ln w="63500">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6947" name="Line 43"/>
              <p:cNvSpPr>
                <a:spLocks noChangeShapeType="1"/>
              </p:cNvSpPr>
              <p:nvPr/>
            </p:nvSpPr>
            <p:spPr bwMode="auto">
              <a:xfrm>
                <a:off x="317" y="3203"/>
                <a:ext cx="113" cy="0"/>
              </a:xfrm>
              <a:prstGeom prst="line">
                <a:avLst/>
              </a:prstGeom>
              <a:noFill/>
              <a:ln w="63500">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6948" name="Line 44"/>
              <p:cNvSpPr>
                <a:spLocks noChangeShapeType="1"/>
              </p:cNvSpPr>
              <p:nvPr/>
            </p:nvSpPr>
            <p:spPr bwMode="auto">
              <a:xfrm>
                <a:off x="340" y="3317"/>
                <a:ext cx="45" cy="0"/>
              </a:xfrm>
              <a:prstGeom prst="line">
                <a:avLst/>
              </a:prstGeom>
              <a:noFill/>
              <a:ln w="63500">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sp>
        <p:nvSpPr>
          <p:cNvPr id="166916" name="Text Box 45"/>
          <p:cNvSpPr txBox="1">
            <a:spLocks noChangeArrowheads="1"/>
          </p:cNvSpPr>
          <p:nvPr/>
        </p:nvSpPr>
        <p:spPr bwMode="auto">
          <a:xfrm>
            <a:off x="971550" y="692150"/>
            <a:ext cx="7488238" cy="1604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th-TH" altLang="en-US" sz="1800" b="1" u="sng">
                <a:solidFill>
                  <a:srgbClr val="0000FF"/>
                </a:solidFill>
                <a:latin typeface="Tahoma" panose="020B0604030504040204" pitchFamily="34" charset="0"/>
                <a:cs typeface="Tahoma" panose="020B0604030504040204" pitchFamily="34" charset="0"/>
              </a:rPr>
              <a:t>ล้างวัตถุดิบ</a:t>
            </a:r>
          </a:p>
          <a:p>
            <a:pPr eaLnBrk="1" hangingPunct="1">
              <a:spcBef>
                <a:spcPct val="50000"/>
              </a:spcBef>
              <a:buFontTx/>
              <a:buNone/>
            </a:pPr>
            <a:r>
              <a:rPr lang="th-TH" altLang="en-US" sz="1800" b="1">
                <a:solidFill>
                  <a:srgbClr val="0000FF"/>
                </a:solidFill>
                <a:latin typeface="Tahoma" panose="020B0604030504040204" pitchFamily="34" charset="0"/>
                <a:cs typeface="Tahoma" panose="020B0604030504040204" pitchFamily="34" charset="0"/>
              </a:rPr>
              <a:t>1. ลด-</a:t>
            </a:r>
            <a:r>
              <a:rPr lang="th-TH" altLang="en-US" sz="1800" b="1">
                <a:solidFill>
                  <a:srgbClr val="FF3300"/>
                </a:solidFill>
                <a:latin typeface="Tahoma" panose="020B0604030504040204" pitchFamily="34" charset="0"/>
                <a:cs typeface="Tahoma" panose="020B0604030504040204" pitchFamily="34" charset="0"/>
              </a:rPr>
              <a:t>แยกสิ่งเจือปน</a:t>
            </a:r>
            <a:r>
              <a:rPr lang="th-TH" altLang="en-US" sz="1800" b="1">
                <a:solidFill>
                  <a:srgbClr val="0000FF"/>
                </a:solidFill>
                <a:latin typeface="Tahoma" panose="020B0604030504040204" pitchFamily="34" charset="0"/>
                <a:cs typeface="Tahoma" panose="020B0604030504040204" pitchFamily="34" charset="0"/>
              </a:rPr>
              <a:t> (ของหนัก</a:t>
            </a:r>
            <a:r>
              <a:rPr lang="en-US" altLang="en-US" sz="1800" b="1">
                <a:solidFill>
                  <a:srgbClr val="0000FF"/>
                </a:solidFill>
                <a:latin typeface="Tahoma" panose="020B0604030504040204" pitchFamily="34" charset="0"/>
                <a:cs typeface="Tahoma" panose="020B0604030504040204" pitchFamily="34" charset="0"/>
              </a:rPr>
              <a:t>, </a:t>
            </a:r>
            <a:r>
              <a:rPr lang="th-TH" altLang="en-US" sz="1800" b="1">
                <a:solidFill>
                  <a:srgbClr val="0000FF"/>
                </a:solidFill>
                <a:latin typeface="Tahoma" panose="020B0604030504040204" pitchFamily="34" charset="0"/>
                <a:cs typeface="Tahoma" panose="020B0604030504040204" pitchFamily="34" charset="0"/>
              </a:rPr>
              <a:t>เศษ-กากยูคาฯ</a:t>
            </a:r>
            <a:r>
              <a:rPr lang="en-US" altLang="en-US" sz="1800" b="1">
                <a:solidFill>
                  <a:srgbClr val="0000FF"/>
                </a:solidFill>
                <a:latin typeface="Tahoma" panose="020B0604030504040204" pitchFamily="34" charset="0"/>
                <a:cs typeface="Tahoma" panose="020B0604030504040204" pitchFamily="34" charset="0"/>
              </a:rPr>
              <a:t>,</a:t>
            </a:r>
            <a:r>
              <a:rPr lang="th-TH" altLang="en-US" sz="1800" b="1">
                <a:solidFill>
                  <a:srgbClr val="0000FF"/>
                </a:solidFill>
                <a:latin typeface="Tahoma" panose="020B0604030504040204" pitchFamily="34" charset="0"/>
                <a:cs typeface="Tahoma" panose="020B0604030504040204" pitchFamily="34" charset="0"/>
              </a:rPr>
              <a:t> ทราย)</a:t>
            </a:r>
          </a:p>
          <a:p>
            <a:pPr eaLnBrk="1" hangingPunct="1">
              <a:spcBef>
                <a:spcPct val="50000"/>
              </a:spcBef>
              <a:buFontTx/>
              <a:buNone/>
            </a:pPr>
            <a:r>
              <a:rPr lang="th-TH" altLang="en-US" sz="1800" b="1">
                <a:solidFill>
                  <a:srgbClr val="0000FF"/>
                </a:solidFill>
                <a:latin typeface="Tahoma" panose="020B0604030504040204" pitchFamily="34" charset="0"/>
                <a:cs typeface="Tahoma" panose="020B0604030504040204" pitchFamily="34" charset="0"/>
              </a:rPr>
              <a:t>2. ทำให้</a:t>
            </a:r>
            <a:r>
              <a:rPr lang="th-TH" altLang="en-US" sz="1800" b="1">
                <a:solidFill>
                  <a:srgbClr val="FF3300"/>
                </a:solidFill>
                <a:latin typeface="Tahoma" panose="020B0604030504040204" pitchFamily="34" charset="0"/>
                <a:cs typeface="Tahoma" panose="020B0604030504040204" pitchFamily="34" charset="0"/>
              </a:rPr>
              <a:t>ความชื้น</a:t>
            </a:r>
            <a:r>
              <a:rPr lang="th-TH" altLang="en-US" sz="1800" b="1">
                <a:solidFill>
                  <a:srgbClr val="0000FF"/>
                </a:solidFill>
                <a:latin typeface="Tahoma" panose="020B0604030504040204" pitchFamily="34" charset="0"/>
                <a:cs typeface="Tahoma" panose="020B0604030504040204" pitchFamily="34" charset="0"/>
              </a:rPr>
              <a:t>ของ </a:t>
            </a:r>
            <a:r>
              <a:rPr lang="en-US" altLang="en-US" sz="1800" b="1">
                <a:solidFill>
                  <a:srgbClr val="0000FF"/>
                </a:solidFill>
                <a:latin typeface="Tahoma" panose="020B0604030504040204" pitchFamily="34" charset="0"/>
                <a:cs typeface="Tahoma" panose="020B0604030504040204" pitchFamily="34" charset="0"/>
              </a:rPr>
              <a:t>Chips </a:t>
            </a:r>
            <a:r>
              <a:rPr lang="th-TH" altLang="en-US" sz="1800" b="1">
                <a:solidFill>
                  <a:srgbClr val="0000FF"/>
                </a:solidFill>
                <a:latin typeface="Tahoma" panose="020B0604030504040204" pitchFamily="34" charset="0"/>
                <a:cs typeface="Tahoma" panose="020B0604030504040204" pitchFamily="34" charset="0"/>
              </a:rPr>
              <a:t>สม่ำเสมอ</a:t>
            </a:r>
          </a:p>
          <a:p>
            <a:pPr eaLnBrk="1" hangingPunct="1">
              <a:spcBef>
                <a:spcPct val="50000"/>
              </a:spcBef>
              <a:buFontTx/>
              <a:buNone/>
            </a:pPr>
            <a:r>
              <a:rPr lang="th-TH" altLang="en-US" sz="1800" b="1">
                <a:solidFill>
                  <a:srgbClr val="0000FF"/>
                </a:solidFill>
                <a:latin typeface="Tahoma" panose="020B0604030504040204" pitchFamily="34" charset="0"/>
                <a:cs typeface="Tahoma" panose="020B0604030504040204" pitchFamily="34" charset="0"/>
              </a:rPr>
              <a:t>3. </a:t>
            </a:r>
            <a:r>
              <a:rPr lang="th-TH" altLang="en-US" sz="1800" b="1">
                <a:solidFill>
                  <a:srgbClr val="FF3300"/>
                </a:solidFill>
                <a:latin typeface="Tahoma" panose="020B0604030504040204" pitchFamily="34" charset="0"/>
                <a:cs typeface="Tahoma" panose="020B0604030504040204" pitchFamily="34" charset="0"/>
              </a:rPr>
              <a:t>อุ่น</a:t>
            </a:r>
            <a:r>
              <a:rPr lang="th-TH" altLang="en-US" sz="1800" b="1">
                <a:solidFill>
                  <a:srgbClr val="0000FF"/>
                </a:solidFill>
                <a:latin typeface="Tahoma" panose="020B0604030504040204" pitchFamily="34" charset="0"/>
                <a:cs typeface="Tahoma" panose="020B0604030504040204" pitchFamily="34" charset="0"/>
              </a:rPr>
              <a:t> </a:t>
            </a:r>
            <a:r>
              <a:rPr lang="en-US" altLang="en-US" sz="1800" b="1">
                <a:solidFill>
                  <a:srgbClr val="0000FF"/>
                </a:solidFill>
                <a:latin typeface="Tahoma" panose="020B0604030504040204" pitchFamily="34" charset="0"/>
                <a:cs typeface="Tahoma" panose="020B0604030504040204" pitchFamily="34" charset="0"/>
              </a:rPr>
              <a:t>Chips </a:t>
            </a:r>
            <a:r>
              <a:rPr lang="th-TH" altLang="en-US" sz="1800" b="1">
                <a:solidFill>
                  <a:srgbClr val="0000FF"/>
                </a:solidFill>
                <a:latin typeface="Tahoma" panose="020B0604030504040204" pitchFamily="34" charset="0"/>
                <a:cs typeface="Tahoma" panose="020B0604030504040204" pitchFamily="34" charset="0"/>
              </a:rPr>
              <a:t>ให้ร้อน (อุณหภูมิ </a:t>
            </a:r>
            <a:r>
              <a:rPr lang="en-US" altLang="en-US" sz="1800" b="1">
                <a:solidFill>
                  <a:srgbClr val="0000FF"/>
                </a:solidFill>
                <a:latin typeface="Tahoma" panose="020B0604030504040204" pitchFamily="34" charset="0"/>
                <a:cs typeface="Tahoma" panose="020B0604030504040204" pitchFamily="34" charset="0"/>
              </a:rPr>
              <a:t>~70-80 c)</a:t>
            </a:r>
            <a:endParaRPr lang="th-TH" altLang="en-US" sz="1800" b="1">
              <a:solidFill>
                <a:srgbClr val="0000FF"/>
              </a:solidFill>
              <a:latin typeface="Tahoma" panose="020B0604030504040204" pitchFamily="34" charset="0"/>
              <a:cs typeface="Tahoma" panose="020B0604030504040204" pitchFamily="34" charset="0"/>
            </a:endParaRPr>
          </a:p>
        </p:txBody>
      </p:sp>
      <p:pic>
        <p:nvPicPr>
          <p:cNvPr id="60462" name="Picture 46" descr="Image 9_3"/>
          <p:cNvPicPr>
            <a:picLocks noChangeAspect="1" noChangeArrowheads="1"/>
          </p:cNvPicPr>
          <p:nvPr/>
        </p:nvPicPr>
        <p:blipFill>
          <a:blip r:embed="rId4">
            <a:lum contrast="30000"/>
            <a:extLst>
              <a:ext uri="{28A0092B-C50C-407E-A947-70E740481C1C}">
                <a14:useLocalDpi xmlns:a14="http://schemas.microsoft.com/office/drawing/2010/main" val="0"/>
              </a:ext>
            </a:extLst>
          </a:blip>
          <a:srcRect/>
          <a:stretch>
            <a:fillRect/>
          </a:stretch>
        </p:blipFill>
        <p:spPr bwMode="auto">
          <a:xfrm>
            <a:off x="6048375" y="2935288"/>
            <a:ext cx="2916238" cy="270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63" name="Text Box 47"/>
          <p:cNvSpPr txBox="1">
            <a:spLocks noChangeArrowheads="1"/>
          </p:cNvSpPr>
          <p:nvPr/>
        </p:nvSpPr>
        <p:spPr bwMode="auto">
          <a:xfrm>
            <a:off x="6300788" y="5745163"/>
            <a:ext cx="2411412" cy="8540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th-TH" altLang="en-US" sz="2000" b="1">
                <a:latin typeface="Tahoma" panose="020B0604030504040204" pitchFamily="34" charset="0"/>
                <a:cs typeface="Tahoma" panose="020B0604030504040204" pitchFamily="34" charset="0"/>
              </a:rPr>
              <a:t>กากยูคาลิปตัสที่</a:t>
            </a:r>
          </a:p>
          <a:p>
            <a:pPr algn="ctr" eaLnBrk="1" hangingPunct="1">
              <a:spcBef>
                <a:spcPct val="50000"/>
              </a:spcBef>
              <a:buFontTx/>
              <a:buNone/>
            </a:pPr>
            <a:r>
              <a:rPr lang="th-TH" altLang="en-US" sz="2000" b="1">
                <a:latin typeface="Tahoma" panose="020B0604030504040204" pitchFamily="34" charset="0"/>
                <a:cs typeface="Tahoma" panose="020B0604030504040204" pitchFamily="34" charset="0"/>
              </a:rPr>
              <a:t>แยกออก</a:t>
            </a:r>
          </a:p>
        </p:txBody>
      </p:sp>
      <p:sp>
        <p:nvSpPr>
          <p:cNvPr id="166919" name="Text Box 6"/>
          <p:cNvSpPr txBox="1">
            <a:spLocks noChangeArrowheads="1"/>
          </p:cNvSpPr>
          <p:nvPr/>
        </p:nvSpPr>
        <p:spPr bwMode="auto">
          <a:xfrm>
            <a:off x="854075" y="3927475"/>
            <a:ext cx="1074738"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1600" b="1">
                <a:solidFill>
                  <a:srgbClr val="0000FF"/>
                </a:solidFill>
                <a:latin typeface="Arial" panose="020B0604020202020204" pitchFamily="34" charset="0"/>
                <a:cs typeface="Angsana New" panose="02020603050405020304" pitchFamily="18" charset="-34"/>
              </a:rPr>
              <a:t>Chip Washer</a:t>
            </a:r>
            <a:endParaRPr lang="th-TH" altLang="en-US" sz="1600" b="1">
              <a:solidFill>
                <a:srgbClr val="0000FF"/>
              </a:solidFill>
              <a:latin typeface="Arial" panose="020B0604020202020204" pitchFamily="34" charset="0"/>
              <a:cs typeface="Angsana New" panose="02020603050405020304" pitchFamily="18" charset="-34"/>
            </a:endParaRPr>
          </a:p>
        </p:txBody>
      </p:sp>
      <p:sp>
        <p:nvSpPr>
          <p:cNvPr id="166920" name="Text Box 6"/>
          <p:cNvSpPr txBox="1">
            <a:spLocks noChangeArrowheads="1"/>
          </p:cNvSpPr>
          <p:nvPr/>
        </p:nvSpPr>
        <p:spPr bwMode="auto">
          <a:xfrm>
            <a:off x="1982788" y="4843463"/>
            <a:ext cx="1074737"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1600" b="1">
                <a:solidFill>
                  <a:srgbClr val="0000FF"/>
                </a:solidFill>
                <a:latin typeface="Arial" panose="020B0604020202020204" pitchFamily="34" charset="0"/>
                <a:cs typeface="Angsana New" panose="02020603050405020304" pitchFamily="18" charset="-34"/>
              </a:rPr>
              <a:t>Chip Sump</a:t>
            </a:r>
            <a:endParaRPr lang="th-TH" altLang="en-US" sz="1600" b="1">
              <a:solidFill>
                <a:srgbClr val="0000FF"/>
              </a:solidFill>
              <a:latin typeface="Arial" panose="020B0604020202020204" pitchFamily="34" charset="0"/>
              <a:cs typeface="Angsana New" panose="02020603050405020304" pitchFamily="18" charset="-34"/>
            </a:endParaRPr>
          </a:p>
        </p:txBody>
      </p:sp>
      <p:sp>
        <p:nvSpPr>
          <p:cNvPr id="166921" name="Text Box 6"/>
          <p:cNvSpPr txBox="1">
            <a:spLocks noChangeArrowheads="1"/>
          </p:cNvSpPr>
          <p:nvPr/>
        </p:nvSpPr>
        <p:spPr bwMode="auto">
          <a:xfrm>
            <a:off x="3130550" y="2493963"/>
            <a:ext cx="1074738"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1600" b="1">
                <a:solidFill>
                  <a:srgbClr val="0000FF"/>
                </a:solidFill>
                <a:latin typeface="Arial" panose="020B0604020202020204" pitchFamily="34" charset="0"/>
                <a:cs typeface="Angsana New" panose="02020603050405020304" pitchFamily="18" charset="-34"/>
              </a:rPr>
              <a:t>Screw Drainer</a:t>
            </a:r>
            <a:endParaRPr lang="th-TH" altLang="en-US" sz="1600" b="1">
              <a:solidFill>
                <a:srgbClr val="0000FF"/>
              </a:solidFill>
              <a:latin typeface="Arial" panose="020B0604020202020204" pitchFamily="34" charset="0"/>
              <a:cs typeface="Angsana New" panose="02020603050405020304" pitchFamily="18" charset="-34"/>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60419"/>
                                        </p:tgtEl>
                                        <p:attrNameLst>
                                          <p:attrName>style.visibility</p:attrName>
                                        </p:attrNameLst>
                                      </p:cBhvr>
                                      <p:to>
                                        <p:strVal val="visible"/>
                                      </p:to>
                                    </p:set>
                                    <p:animEffect transition="in" filter="dissolve">
                                      <p:cBhvr>
                                        <p:cTn id="7" dur="500"/>
                                        <p:tgtEl>
                                          <p:spTgt spid="6041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60462"/>
                                        </p:tgtEl>
                                        <p:attrNameLst>
                                          <p:attrName>style.visibility</p:attrName>
                                        </p:attrNameLst>
                                      </p:cBhvr>
                                      <p:to>
                                        <p:strVal val="visible"/>
                                      </p:to>
                                    </p:set>
                                    <p:animEffect transition="in" filter="dissolve">
                                      <p:cBhvr>
                                        <p:cTn id="12" dur="500"/>
                                        <p:tgtEl>
                                          <p:spTgt spid="60462"/>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60463"/>
                                        </p:tgtEl>
                                        <p:attrNameLst>
                                          <p:attrName>style.visibility</p:attrName>
                                        </p:attrNameLst>
                                      </p:cBhvr>
                                      <p:to>
                                        <p:strVal val="visible"/>
                                      </p:to>
                                    </p:set>
                                    <p:animEffect transition="in" filter="dissolve">
                                      <p:cBhvr>
                                        <p:cTn id="15" dur="500"/>
                                        <p:tgtEl>
                                          <p:spTgt spid="604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63"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Text Box 2"/>
          <p:cNvSpPr txBox="1">
            <a:spLocks noChangeArrowheads="1"/>
          </p:cNvSpPr>
          <p:nvPr/>
        </p:nvSpPr>
        <p:spPr bwMode="auto">
          <a:xfrm>
            <a:off x="360363" y="4241800"/>
            <a:ext cx="7667625"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th-TH" altLang="en-US" sz="2000" b="1" u="sng">
                <a:solidFill>
                  <a:srgbClr val="0000FF"/>
                </a:solidFill>
                <a:latin typeface="Tahoma" panose="020B0604030504040204" pitchFamily="34" charset="0"/>
                <a:cs typeface="Tahoma" panose="020B0604030504040204" pitchFamily="34" charset="0"/>
              </a:rPr>
              <a:t>การควบคุมเครื่องจักร</a:t>
            </a:r>
          </a:p>
          <a:p>
            <a:pPr eaLnBrk="1" hangingPunct="1">
              <a:spcBef>
                <a:spcPct val="50000"/>
              </a:spcBef>
              <a:buFontTx/>
              <a:buNone/>
            </a:pPr>
            <a:r>
              <a:rPr lang="th-TH" altLang="en-US" sz="2000" b="1">
                <a:solidFill>
                  <a:srgbClr val="0000FF"/>
                </a:solidFill>
                <a:latin typeface="Tahoma" panose="020B0604030504040204" pitchFamily="34" charset="0"/>
                <a:cs typeface="Tahoma" panose="020B0604030504040204" pitchFamily="34" charset="0"/>
              </a:rPr>
              <a:t>1. ประสิทธิภาพในการแยกสิ่งเจือปน</a:t>
            </a:r>
          </a:p>
          <a:p>
            <a:pPr eaLnBrk="1" hangingPunct="1">
              <a:spcBef>
                <a:spcPct val="50000"/>
              </a:spcBef>
              <a:buFontTx/>
              <a:buNone/>
            </a:pPr>
            <a:r>
              <a:rPr lang="th-TH" altLang="en-US" sz="2000" b="1">
                <a:solidFill>
                  <a:srgbClr val="0000FF"/>
                </a:solidFill>
                <a:latin typeface="Tahoma" panose="020B0604030504040204" pitchFamily="34" charset="0"/>
                <a:cs typeface="Tahoma" panose="020B0604030504040204" pitchFamily="34" charset="0"/>
              </a:rPr>
              <a:t>2. การแยกน้ำส่วนเกินออกจาก </a:t>
            </a:r>
            <a:r>
              <a:rPr lang="en-US" altLang="en-US" sz="2000" b="1">
                <a:solidFill>
                  <a:srgbClr val="0000FF"/>
                </a:solidFill>
                <a:latin typeface="Tahoma" panose="020B0604030504040204" pitchFamily="34" charset="0"/>
                <a:cs typeface="Tahoma" panose="020B0604030504040204" pitchFamily="34" charset="0"/>
              </a:rPr>
              <a:t>Chips</a:t>
            </a:r>
            <a:endParaRPr lang="th-TH" altLang="en-US" sz="2000" b="1">
              <a:solidFill>
                <a:srgbClr val="0000FF"/>
              </a:solidFill>
              <a:latin typeface="Tahoma" panose="020B0604030504040204" pitchFamily="34" charset="0"/>
              <a:cs typeface="Tahoma" panose="020B0604030504040204" pitchFamily="34" charset="0"/>
            </a:endParaRPr>
          </a:p>
        </p:txBody>
      </p:sp>
      <p:grpSp>
        <p:nvGrpSpPr>
          <p:cNvPr id="168963" name="Group 3"/>
          <p:cNvGrpSpPr>
            <a:grpSpLocks/>
          </p:cNvGrpSpPr>
          <p:nvPr/>
        </p:nvGrpSpPr>
        <p:grpSpPr bwMode="auto">
          <a:xfrm>
            <a:off x="1295400" y="692150"/>
            <a:ext cx="6083300" cy="3349625"/>
            <a:chOff x="0" y="459"/>
            <a:chExt cx="5648" cy="3861"/>
          </a:xfrm>
        </p:grpSpPr>
        <p:pic>
          <p:nvPicPr>
            <p:cNvPr id="168965" name="Picture 4" descr="refining00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02" y="459"/>
              <a:ext cx="3560" cy="2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8966" name="AutoShape 5"/>
            <p:cNvSpPr>
              <a:spLocks noChangeArrowheads="1"/>
            </p:cNvSpPr>
            <p:nvPr/>
          </p:nvSpPr>
          <p:spPr bwMode="auto">
            <a:xfrm>
              <a:off x="1338" y="1003"/>
              <a:ext cx="272" cy="317"/>
            </a:xfrm>
            <a:prstGeom prst="downArrow">
              <a:avLst>
                <a:gd name="adj1" fmla="val 50000"/>
                <a:gd name="adj2" fmla="val 29136"/>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68967" name="Text Box 6"/>
            <p:cNvSpPr txBox="1">
              <a:spLocks noChangeArrowheads="1"/>
            </p:cNvSpPr>
            <p:nvPr/>
          </p:nvSpPr>
          <p:spPr bwMode="auto">
            <a:xfrm>
              <a:off x="1226" y="662"/>
              <a:ext cx="998" cy="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600" b="1">
                  <a:solidFill>
                    <a:srgbClr val="0000FF"/>
                  </a:solidFill>
                  <a:latin typeface="Arial" panose="020B0604020202020204" pitchFamily="34" charset="0"/>
                  <a:cs typeface="Angsana New" panose="02020603050405020304" pitchFamily="18" charset="-34"/>
                </a:rPr>
                <a:t>Chips</a:t>
              </a:r>
              <a:endParaRPr lang="th-TH" altLang="en-US" sz="1600" b="1">
                <a:solidFill>
                  <a:srgbClr val="0000FF"/>
                </a:solidFill>
                <a:latin typeface="Arial" panose="020B0604020202020204" pitchFamily="34" charset="0"/>
                <a:cs typeface="Angsana New" panose="02020603050405020304" pitchFamily="18" charset="-34"/>
              </a:endParaRPr>
            </a:p>
          </p:txBody>
        </p:sp>
        <p:sp>
          <p:nvSpPr>
            <p:cNvPr id="168968" name="Text Box 7"/>
            <p:cNvSpPr txBox="1">
              <a:spLocks noChangeArrowheads="1"/>
            </p:cNvSpPr>
            <p:nvPr/>
          </p:nvSpPr>
          <p:spPr bwMode="auto">
            <a:xfrm>
              <a:off x="3969" y="1683"/>
              <a:ext cx="1405" cy="6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600" b="1">
                  <a:solidFill>
                    <a:srgbClr val="0000FF"/>
                  </a:solidFill>
                  <a:latin typeface="Arial" panose="020B0604020202020204" pitchFamily="34" charset="0"/>
                  <a:cs typeface="Angsana New" panose="02020603050405020304" pitchFamily="18" charset="-34"/>
                </a:rPr>
                <a:t>Washed Chips</a:t>
              </a:r>
              <a:endParaRPr lang="th-TH" altLang="en-US" sz="1600" b="1">
                <a:solidFill>
                  <a:srgbClr val="0000FF"/>
                </a:solidFill>
                <a:latin typeface="Arial" panose="020B0604020202020204" pitchFamily="34" charset="0"/>
                <a:cs typeface="Angsana New" panose="02020603050405020304" pitchFamily="18" charset="-34"/>
              </a:endParaRPr>
            </a:p>
          </p:txBody>
        </p:sp>
        <p:sp>
          <p:nvSpPr>
            <p:cNvPr id="168969" name="AutoShape 8"/>
            <p:cNvSpPr>
              <a:spLocks noChangeArrowheads="1"/>
            </p:cNvSpPr>
            <p:nvPr/>
          </p:nvSpPr>
          <p:spPr bwMode="auto">
            <a:xfrm>
              <a:off x="4263" y="1275"/>
              <a:ext cx="272" cy="317"/>
            </a:xfrm>
            <a:prstGeom prst="downArrow">
              <a:avLst>
                <a:gd name="adj1" fmla="val 50000"/>
                <a:gd name="adj2" fmla="val 29136"/>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nvGrpSpPr>
            <p:cNvPr id="168970" name="Group 9"/>
            <p:cNvGrpSpPr>
              <a:grpSpLocks/>
            </p:cNvGrpSpPr>
            <p:nvPr/>
          </p:nvGrpSpPr>
          <p:grpSpPr bwMode="auto">
            <a:xfrm>
              <a:off x="3628" y="1457"/>
              <a:ext cx="2020" cy="1483"/>
              <a:chOff x="3264" y="1368"/>
              <a:chExt cx="2020" cy="1483"/>
            </a:xfrm>
          </p:grpSpPr>
          <p:sp>
            <p:nvSpPr>
              <p:cNvPr id="169004" name="Text Box 10"/>
              <p:cNvSpPr txBox="1">
                <a:spLocks noChangeArrowheads="1"/>
              </p:cNvSpPr>
              <p:nvPr/>
            </p:nvSpPr>
            <p:spPr bwMode="auto">
              <a:xfrm>
                <a:off x="3741" y="2182"/>
                <a:ext cx="1543" cy="6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th-TH" altLang="en-US" sz="1600" b="1">
                    <a:solidFill>
                      <a:srgbClr val="FF3300"/>
                    </a:solidFill>
                    <a:latin typeface="Tahoma" panose="020B0604030504040204" pitchFamily="34" charset="0"/>
                    <a:cs typeface="Tahoma" panose="020B0604030504040204" pitchFamily="34" charset="0"/>
                  </a:rPr>
                  <a:t>แยกของขนาดเล็ก</a:t>
                </a:r>
              </a:p>
            </p:txBody>
          </p:sp>
          <p:sp>
            <p:nvSpPr>
              <p:cNvPr id="169005" name="Freeform 11"/>
              <p:cNvSpPr>
                <a:spLocks/>
              </p:cNvSpPr>
              <p:nvPr/>
            </p:nvSpPr>
            <p:spPr bwMode="auto">
              <a:xfrm>
                <a:off x="3264" y="1368"/>
                <a:ext cx="444" cy="972"/>
              </a:xfrm>
              <a:custGeom>
                <a:avLst/>
                <a:gdLst>
                  <a:gd name="T0" fmla="*/ 444 w 444"/>
                  <a:gd name="T1" fmla="*/ 960 h 972"/>
                  <a:gd name="T2" fmla="*/ 300 w 444"/>
                  <a:gd name="T3" fmla="*/ 972 h 972"/>
                  <a:gd name="T4" fmla="*/ 168 w 444"/>
                  <a:gd name="T5" fmla="*/ 924 h 972"/>
                  <a:gd name="T6" fmla="*/ 84 w 444"/>
                  <a:gd name="T7" fmla="*/ 768 h 972"/>
                  <a:gd name="T8" fmla="*/ 72 w 444"/>
                  <a:gd name="T9" fmla="*/ 732 h 972"/>
                  <a:gd name="T10" fmla="*/ 60 w 444"/>
                  <a:gd name="T11" fmla="*/ 696 h 972"/>
                  <a:gd name="T12" fmla="*/ 180 w 444"/>
                  <a:gd name="T13" fmla="*/ 552 h 972"/>
                  <a:gd name="T14" fmla="*/ 216 w 444"/>
                  <a:gd name="T15" fmla="*/ 576 h 972"/>
                  <a:gd name="T16" fmla="*/ 168 w 444"/>
                  <a:gd name="T17" fmla="*/ 648 h 972"/>
                  <a:gd name="T18" fmla="*/ 48 w 444"/>
                  <a:gd name="T19" fmla="*/ 600 h 972"/>
                  <a:gd name="T20" fmla="*/ 36 w 444"/>
                  <a:gd name="T21" fmla="*/ 276 h 972"/>
                  <a:gd name="T22" fmla="*/ 96 w 444"/>
                  <a:gd name="T23" fmla="*/ 0 h 97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44" h="972">
                    <a:moveTo>
                      <a:pt x="444" y="960"/>
                    </a:moveTo>
                    <a:cubicBezTo>
                      <a:pt x="396" y="964"/>
                      <a:pt x="348" y="972"/>
                      <a:pt x="300" y="972"/>
                    </a:cubicBezTo>
                    <a:cubicBezTo>
                      <a:pt x="254" y="972"/>
                      <a:pt x="210" y="938"/>
                      <a:pt x="168" y="924"/>
                    </a:cubicBezTo>
                    <a:cubicBezTo>
                      <a:pt x="126" y="867"/>
                      <a:pt x="107" y="837"/>
                      <a:pt x="84" y="768"/>
                    </a:cubicBezTo>
                    <a:cubicBezTo>
                      <a:pt x="80" y="756"/>
                      <a:pt x="76" y="744"/>
                      <a:pt x="72" y="732"/>
                    </a:cubicBezTo>
                    <a:cubicBezTo>
                      <a:pt x="68" y="720"/>
                      <a:pt x="60" y="696"/>
                      <a:pt x="60" y="696"/>
                    </a:cubicBezTo>
                    <a:cubicBezTo>
                      <a:pt x="73" y="550"/>
                      <a:pt x="43" y="529"/>
                      <a:pt x="180" y="552"/>
                    </a:cubicBezTo>
                    <a:cubicBezTo>
                      <a:pt x="192" y="560"/>
                      <a:pt x="211" y="562"/>
                      <a:pt x="216" y="576"/>
                    </a:cubicBezTo>
                    <a:cubicBezTo>
                      <a:pt x="230" y="618"/>
                      <a:pt x="192" y="632"/>
                      <a:pt x="168" y="648"/>
                    </a:cubicBezTo>
                    <a:cubicBezTo>
                      <a:pt x="120" y="636"/>
                      <a:pt x="89" y="627"/>
                      <a:pt x="48" y="600"/>
                    </a:cubicBezTo>
                    <a:cubicBezTo>
                      <a:pt x="0" y="455"/>
                      <a:pt x="16" y="532"/>
                      <a:pt x="36" y="276"/>
                    </a:cubicBezTo>
                    <a:cubicBezTo>
                      <a:pt x="44" y="171"/>
                      <a:pt x="96" y="118"/>
                      <a:pt x="96" y="0"/>
                    </a:cubicBezTo>
                  </a:path>
                </a:pathLst>
              </a:custGeom>
              <a:noFill/>
              <a:ln w="63500">
                <a:solidFill>
                  <a:srgbClr val="FF0000"/>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168971" name="Line 12"/>
            <p:cNvSpPr>
              <a:spLocks noChangeShapeType="1"/>
            </p:cNvSpPr>
            <p:nvPr/>
          </p:nvSpPr>
          <p:spPr bwMode="auto">
            <a:xfrm flipV="1">
              <a:off x="793" y="1865"/>
              <a:ext cx="590" cy="0"/>
            </a:xfrm>
            <a:prstGeom prst="line">
              <a:avLst/>
            </a:prstGeom>
            <a:noFill/>
            <a:ln w="635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168972" name="Group 13"/>
            <p:cNvGrpSpPr>
              <a:grpSpLocks/>
            </p:cNvGrpSpPr>
            <p:nvPr/>
          </p:nvGrpSpPr>
          <p:grpSpPr bwMode="auto">
            <a:xfrm>
              <a:off x="0" y="935"/>
              <a:ext cx="1344" cy="669"/>
              <a:chOff x="0" y="935"/>
              <a:chExt cx="1344" cy="669"/>
            </a:xfrm>
          </p:grpSpPr>
          <p:sp>
            <p:nvSpPr>
              <p:cNvPr id="169002" name="Text Box 14"/>
              <p:cNvSpPr txBox="1">
                <a:spLocks noChangeArrowheads="1"/>
              </p:cNvSpPr>
              <p:nvPr/>
            </p:nvSpPr>
            <p:spPr bwMode="auto">
              <a:xfrm>
                <a:off x="0" y="935"/>
                <a:ext cx="1155" cy="6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th-TH" altLang="en-US" sz="1600" b="1">
                    <a:solidFill>
                      <a:srgbClr val="FF3300"/>
                    </a:solidFill>
                    <a:latin typeface="Tahoma" panose="020B0604030504040204" pitchFamily="34" charset="0"/>
                    <a:cs typeface="Tahoma" panose="020B0604030504040204" pitchFamily="34" charset="0"/>
                  </a:rPr>
                  <a:t>แยกของหนัก</a:t>
                </a:r>
              </a:p>
            </p:txBody>
          </p:sp>
          <p:sp>
            <p:nvSpPr>
              <p:cNvPr id="169003" name="Freeform 15"/>
              <p:cNvSpPr>
                <a:spLocks/>
              </p:cNvSpPr>
              <p:nvPr/>
            </p:nvSpPr>
            <p:spPr bwMode="auto">
              <a:xfrm>
                <a:off x="960" y="1164"/>
                <a:ext cx="384" cy="399"/>
              </a:xfrm>
              <a:custGeom>
                <a:avLst/>
                <a:gdLst>
                  <a:gd name="T0" fmla="*/ 0 w 384"/>
                  <a:gd name="T1" fmla="*/ 0 h 399"/>
                  <a:gd name="T2" fmla="*/ 132 w 384"/>
                  <a:gd name="T3" fmla="*/ 72 h 399"/>
                  <a:gd name="T4" fmla="*/ 204 w 384"/>
                  <a:gd name="T5" fmla="*/ 120 h 399"/>
                  <a:gd name="T6" fmla="*/ 276 w 384"/>
                  <a:gd name="T7" fmla="*/ 108 h 399"/>
                  <a:gd name="T8" fmla="*/ 240 w 384"/>
                  <a:gd name="T9" fmla="*/ 0 h 399"/>
                  <a:gd name="T10" fmla="*/ 108 w 384"/>
                  <a:gd name="T11" fmla="*/ 84 h 399"/>
                  <a:gd name="T12" fmla="*/ 240 w 384"/>
                  <a:gd name="T13" fmla="*/ 288 h 399"/>
                  <a:gd name="T14" fmla="*/ 384 w 384"/>
                  <a:gd name="T15" fmla="*/ 336 h 39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84" h="399">
                    <a:moveTo>
                      <a:pt x="0" y="0"/>
                    </a:moveTo>
                    <a:cubicBezTo>
                      <a:pt x="58" y="15"/>
                      <a:pt x="83" y="38"/>
                      <a:pt x="132" y="72"/>
                    </a:cubicBezTo>
                    <a:cubicBezTo>
                      <a:pt x="156" y="89"/>
                      <a:pt x="204" y="120"/>
                      <a:pt x="204" y="120"/>
                    </a:cubicBezTo>
                    <a:cubicBezTo>
                      <a:pt x="228" y="116"/>
                      <a:pt x="255" y="120"/>
                      <a:pt x="276" y="108"/>
                    </a:cubicBezTo>
                    <a:cubicBezTo>
                      <a:pt x="324" y="80"/>
                      <a:pt x="254" y="14"/>
                      <a:pt x="240" y="0"/>
                    </a:cubicBezTo>
                    <a:cubicBezTo>
                      <a:pt x="142" y="12"/>
                      <a:pt x="136" y="1"/>
                      <a:pt x="108" y="84"/>
                    </a:cubicBezTo>
                    <a:cubicBezTo>
                      <a:pt x="127" y="216"/>
                      <a:pt x="127" y="213"/>
                      <a:pt x="240" y="288"/>
                    </a:cubicBezTo>
                    <a:cubicBezTo>
                      <a:pt x="250" y="295"/>
                      <a:pt x="384" y="399"/>
                      <a:pt x="384" y="336"/>
                    </a:cubicBezTo>
                  </a:path>
                </a:pathLst>
              </a:custGeom>
              <a:noFill/>
              <a:ln w="63500">
                <a:solidFill>
                  <a:srgbClr val="FF0000"/>
                </a:solidFill>
                <a:round/>
                <a:headEnd/>
                <a:tailEnd type="triangle" w="med" len="med"/>
              </a:ln>
              <a:effectLst/>
              <a:extLst>
                <a:ext uri="{909E8E84-426E-40DD-AFC4-6F175D3DCCD1}">
                  <a14:hiddenFill xmlns:a14="http://schemas.microsoft.com/office/drawing/2010/main">
                    <a:solidFill>
                      <a:srgbClr val="FF00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168973" name="Line 16"/>
            <p:cNvSpPr>
              <a:spLocks noChangeShapeType="1"/>
            </p:cNvSpPr>
            <p:nvPr/>
          </p:nvSpPr>
          <p:spPr bwMode="auto">
            <a:xfrm>
              <a:off x="793" y="1865"/>
              <a:ext cx="0" cy="2087"/>
            </a:xfrm>
            <a:prstGeom prst="line">
              <a:avLst/>
            </a:prstGeom>
            <a:noFill/>
            <a:ln w="635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8974" name="Line 17"/>
            <p:cNvSpPr>
              <a:spLocks noChangeShapeType="1"/>
            </p:cNvSpPr>
            <p:nvPr/>
          </p:nvSpPr>
          <p:spPr bwMode="auto">
            <a:xfrm>
              <a:off x="793" y="3952"/>
              <a:ext cx="2473" cy="0"/>
            </a:xfrm>
            <a:prstGeom prst="line">
              <a:avLst/>
            </a:prstGeom>
            <a:noFill/>
            <a:ln w="635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8975" name="Rectangle 18"/>
            <p:cNvSpPr>
              <a:spLocks noChangeArrowheads="1"/>
            </p:cNvSpPr>
            <p:nvPr/>
          </p:nvSpPr>
          <p:spPr bwMode="auto">
            <a:xfrm>
              <a:off x="3266" y="3226"/>
              <a:ext cx="657" cy="839"/>
            </a:xfrm>
            <a:prstGeom prst="rect">
              <a:avLst/>
            </a:prstGeom>
            <a:gradFill rotWithShape="1">
              <a:gsLst>
                <a:gs pos="0">
                  <a:srgbClr val="5F5F5F"/>
                </a:gs>
                <a:gs pos="50000">
                  <a:srgbClr val="C9C9C9"/>
                </a:gs>
                <a:gs pos="100000">
                  <a:srgbClr val="5F5F5F"/>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68976" name="Line 19"/>
            <p:cNvSpPr>
              <a:spLocks noChangeShapeType="1"/>
            </p:cNvSpPr>
            <p:nvPr/>
          </p:nvSpPr>
          <p:spPr bwMode="auto">
            <a:xfrm>
              <a:off x="3470" y="1865"/>
              <a:ext cx="0" cy="1361"/>
            </a:xfrm>
            <a:prstGeom prst="line">
              <a:avLst/>
            </a:prstGeom>
            <a:noFill/>
            <a:ln w="635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8977" name="Line 20"/>
            <p:cNvSpPr>
              <a:spLocks noChangeShapeType="1"/>
            </p:cNvSpPr>
            <p:nvPr/>
          </p:nvSpPr>
          <p:spPr bwMode="auto">
            <a:xfrm>
              <a:off x="3923" y="3952"/>
              <a:ext cx="1180" cy="0"/>
            </a:xfrm>
            <a:prstGeom prst="line">
              <a:avLst/>
            </a:prstGeom>
            <a:noFill/>
            <a:ln w="635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8978" name="Line 21"/>
            <p:cNvSpPr>
              <a:spLocks noChangeShapeType="1"/>
            </p:cNvSpPr>
            <p:nvPr/>
          </p:nvSpPr>
          <p:spPr bwMode="auto">
            <a:xfrm flipV="1">
              <a:off x="5148" y="1071"/>
              <a:ext cx="23" cy="2858"/>
            </a:xfrm>
            <a:prstGeom prst="line">
              <a:avLst/>
            </a:prstGeom>
            <a:noFill/>
            <a:ln w="635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8979" name="Line 22"/>
            <p:cNvSpPr>
              <a:spLocks noChangeShapeType="1"/>
            </p:cNvSpPr>
            <p:nvPr/>
          </p:nvSpPr>
          <p:spPr bwMode="auto">
            <a:xfrm flipH="1">
              <a:off x="4513" y="1071"/>
              <a:ext cx="680" cy="0"/>
            </a:xfrm>
            <a:prstGeom prst="line">
              <a:avLst/>
            </a:prstGeom>
            <a:noFill/>
            <a:ln w="635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8980" name="Line 23"/>
            <p:cNvSpPr>
              <a:spLocks noChangeShapeType="1"/>
            </p:cNvSpPr>
            <p:nvPr/>
          </p:nvSpPr>
          <p:spPr bwMode="auto">
            <a:xfrm>
              <a:off x="4150" y="3317"/>
              <a:ext cx="0" cy="272"/>
            </a:xfrm>
            <a:prstGeom prst="line">
              <a:avLst/>
            </a:prstGeom>
            <a:noFill/>
            <a:ln w="101600">
              <a:solidFill>
                <a:srgbClr val="8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8981" name="Line 24"/>
            <p:cNvSpPr>
              <a:spLocks noChangeShapeType="1"/>
            </p:cNvSpPr>
            <p:nvPr/>
          </p:nvSpPr>
          <p:spPr bwMode="auto">
            <a:xfrm>
              <a:off x="3923" y="3317"/>
              <a:ext cx="227" cy="0"/>
            </a:xfrm>
            <a:prstGeom prst="line">
              <a:avLst/>
            </a:prstGeom>
            <a:noFill/>
            <a:ln w="101600">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8982" name="Freeform 25"/>
            <p:cNvSpPr>
              <a:spLocks/>
            </p:cNvSpPr>
            <p:nvPr/>
          </p:nvSpPr>
          <p:spPr bwMode="auto">
            <a:xfrm>
              <a:off x="5035" y="3612"/>
              <a:ext cx="204" cy="544"/>
            </a:xfrm>
            <a:custGeom>
              <a:avLst/>
              <a:gdLst>
                <a:gd name="T0" fmla="*/ 0 w 476"/>
                <a:gd name="T1" fmla="*/ 1 h 907"/>
                <a:gd name="T2" fmla="*/ 0 w 476"/>
                <a:gd name="T3" fmla="*/ 4 h 907"/>
                <a:gd name="T4" fmla="*/ 0 w 476"/>
                <a:gd name="T5" fmla="*/ 0 h 907"/>
                <a:gd name="T6" fmla="*/ 0 w 476"/>
                <a:gd name="T7" fmla="*/ 1 h 90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76" h="907">
                  <a:moveTo>
                    <a:pt x="0" y="23"/>
                  </a:moveTo>
                  <a:lnTo>
                    <a:pt x="250" y="907"/>
                  </a:lnTo>
                  <a:lnTo>
                    <a:pt x="476" y="0"/>
                  </a:lnTo>
                  <a:lnTo>
                    <a:pt x="0" y="23"/>
                  </a:lnTo>
                  <a:close/>
                </a:path>
              </a:pathLst>
            </a:cu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8983" name="Line 26"/>
            <p:cNvSpPr>
              <a:spLocks noChangeShapeType="1"/>
            </p:cNvSpPr>
            <p:nvPr/>
          </p:nvSpPr>
          <p:spPr bwMode="auto">
            <a:xfrm flipH="1">
              <a:off x="3129" y="3045"/>
              <a:ext cx="2019" cy="0"/>
            </a:xfrm>
            <a:prstGeom prst="line">
              <a:avLst/>
            </a:prstGeom>
            <a:noFill/>
            <a:ln w="635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8984" name="Line 27"/>
            <p:cNvSpPr>
              <a:spLocks noChangeShapeType="1"/>
            </p:cNvSpPr>
            <p:nvPr/>
          </p:nvSpPr>
          <p:spPr bwMode="auto">
            <a:xfrm>
              <a:off x="3129" y="3045"/>
              <a:ext cx="0" cy="907"/>
            </a:xfrm>
            <a:prstGeom prst="line">
              <a:avLst/>
            </a:prstGeom>
            <a:noFill/>
            <a:ln w="635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168985" name="Group 28"/>
            <p:cNvGrpSpPr>
              <a:grpSpLocks/>
            </p:cNvGrpSpPr>
            <p:nvPr/>
          </p:nvGrpSpPr>
          <p:grpSpPr bwMode="auto">
            <a:xfrm>
              <a:off x="1497" y="2704"/>
              <a:ext cx="273" cy="998"/>
              <a:chOff x="1497" y="2704"/>
              <a:chExt cx="273" cy="998"/>
            </a:xfrm>
          </p:grpSpPr>
          <p:grpSp>
            <p:nvGrpSpPr>
              <p:cNvPr id="168996" name="Group 29"/>
              <p:cNvGrpSpPr>
                <a:grpSpLocks/>
              </p:cNvGrpSpPr>
              <p:nvPr/>
            </p:nvGrpSpPr>
            <p:grpSpPr bwMode="auto">
              <a:xfrm>
                <a:off x="1497" y="3430"/>
                <a:ext cx="273" cy="272"/>
                <a:chOff x="158" y="2931"/>
                <a:chExt cx="454" cy="386"/>
              </a:xfrm>
            </p:grpSpPr>
            <p:sp>
              <p:nvSpPr>
                <p:cNvPr id="168998" name="Line 30"/>
                <p:cNvSpPr>
                  <a:spLocks noChangeShapeType="1"/>
                </p:cNvSpPr>
                <p:nvPr/>
              </p:nvSpPr>
              <p:spPr bwMode="auto">
                <a:xfrm>
                  <a:off x="158" y="2931"/>
                  <a:ext cx="454" cy="0"/>
                </a:xfrm>
                <a:prstGeom prst="line">
                  <a:avLst/>
                </a:prstGeom>
                <a:noFill/>
                <a:ln w="63500">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8999" name="Line 31"/>
                <p:cNvSpPr>
                  <a:spLocks noChangeShapeType="1"/>
                </p:cNvSpPr>
                <p:nvPr/>
              </p:nvSpPr>
              <p:spPr bwMode="auto">
                <a:xfrm>
                  <a:off x="249" y="3067"/>
                  <a:ext cx="250" cy="0"/>
                </a:xfrm>
                <a:prstGeom prst="line">
                  <a:avLst/>
                </a:prstGeom>
                <a:noFill/>
                <a:ln w="63500">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9000" name="Line 32"/>
                <p:cNvSpPr>
                  <a:spLocks noChangeShapeType="1"/>
                </p:cNvSpPr>
                <p:nvPr/>
              </p:nvSpPr>
              <p:spPr bwMode="auto">
                <a:xfrm>
                  <a:off x="317" y="3203"/>
                  <a:ext cx="113" cy="0"/>
                </a:xfrm>
                <a:prstGeom prst="line">
                  <a:avLst/>
                </a:prstGeom>
                <a:noFill/>
                <a:ln w="63500">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9001" name="Line 33"/>
                <p:cNvSpPr>
                  <a:spLocks noChangeShapeType="1"/>
                </p:cNvSpPr>
                <p:nvPr/>
              </p:nvSpPr>
              <p:spPr bwMode="auto">
                <a:xfrm>
                  <a:off x="340" y="3317"/>
                  <a:ext cx="45" cy="0"/>
                </a:xfrm>
                <a:prstGeom prst="line">
                  <a:avLst/>
                </a:prstGeom>
                <a:noFill/>
                <a:ln w="63500">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168997" name="Line 34"/>
              <p:cNvSpPr>
                <a:spLocks noChangeShapeType="1"/>
              </p:cNvSpPr>
              <p:nvPr/>
            </p:nvSpPr>
            <p:spPr bwMode="auto">
              <a:xfrm>
                <a:off x="1610" y="2704"/>
                <a:ext cx="0" cy="703"/>
              </a:xfrm>
              <a:prstGeom prst="line">
                <a:avLst/>
              </a:prstGeom>
              <a:noFill/>
              <a:ln w="63500">
                <a:solidFill>
                  <a:srgbClr val="8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68986" name="Group 35"/>
            <p:cNvGrpSpPr>
              <a:grpSpLocks/>
            </p:cNvGrpSpPr>
            <p:nvPr/>
          </p:nvGrpSpPr>
          <p:grpSpPr bwMode="auto">
            <a:xfrm>
              <a:off x="3152" y="2251"/>
              <a:ext cx="273" cy="272"/>
              <a:chOff x="158" y="2931"/>
              <a:chExt cx="454" cy="386"/>
            </a:xfrm>
          </p:grpSpPr>
          <p:sp>
            <p:nvSpPr>
              <p:cNvPr id="168992" name="Line 36"/>
              <p:cNvSpPr>
                <a:spLocks noChangeShapeType="1"/>
              </p:cNvSpPr>
              <p:nvPr/>
            </p:nvSpPr>
            <p:spPr bwMode="auto">
              <a:xfrm>
                <a:off x="158" y="2931"/>
                <a:ext cx="454" cy="0"/>
              </a:xfrm>
              <a:prstGeom prst="line">
                <a:avLst/>
              </a:prstGeom>
              <a:noFill/>
              <a:ln w="63500">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8993" name="Line 37"/>
              <p:cNvSpPr>
                <a:spLocks noChangeShapeType="1"/>
              </p:cNvSpPr>
              <p:nvPr/>
            </p:nvSpPr>
            <p:spPr bwMode="auto">
              <a:xfrm>
                <a:off x="249" y="3067"/>
                <a:ext cx="250" cy="0"/>
              </a:xfrm>
              <a:prstGeom prst="line">
                <a:avLst/>
              </a:prstGeom>
              <a:noFill/>
              <a:ln w="63500">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8994" name="Line 38"/>
              <p:cNvSpPr>
                <a:spLocks noChangeShapeType="1"/>
              </p:cNvSpPr>
              <p:nvPr/>
            </p:nvSpPr>
            <p:spPr bwMode="auto">
              <a:xfrm>
                <a:off x="317" y="3203"/>
                <a:ext cx="113" cy="0"/>
              </a:xfrm>
              <a:prstGeom prst="line">
                <a:avLst/>
              </a:prstGeom>
              <a:noFill/>
              <a:ln w="63500">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8995" name="Line 39"/>
              <p:cNvSpPr>
                <a:spLocks noChangeShapeType="1"/>
              </p:cNvSpPr>
              <p:nvPr/>
            </p:nvSpPr>
            <p:spPr bwMode="auto">
              <a:xfrm>
                <a:off x="340" y="3317"/>
                <a:ext cx="45" cy="0"/>
              </a:xfrm>
              <a:prstGeom prst="line">
                <a:avLst/>
              </a:prstGeom>
              <a:noFill/>
              <a:ln w="63500">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68987" name="Group 40"/>
            <p:cNvGrpSpPr>
              <a:grpSpLocks/>
            </p:cNvGrpSpPr>
            <p:nvPr/>
          </p:nvGrpSpPr>
          <p:grpSpPr bwMode="auto">
            <a:xfrm>
              <a:off x="5012" y="4048"/>
              <a:ext cx="273" cy="272"/>
              <a:chOff x="158" y="2931"/>
              <a:chExt cx="454" cy="386"/>
            </a:xfrm>
          </p:grpSpPr>
          <p:sp>
            <p:nvSpPr>
              <p:cNvPr id="168988" name="Line 41"/>
              <p:cNvSpPr>
                <a:spLocks noChangeShapeType="1"/>
              </p:cNvSpPr>
              <p:nvPr/>
            </p:nvSpPr>
            <p:spPr bwMode="auto">
              <a:xfrm>
                <a:off x="158" y="2931"/>
                <a:ext cx="454" cy="0"/>
              </a:xfrm>
              <a:prstGeom prst="line">
                <a:avLst/>
              </a:prstGeom>
              <a:noFill/>
              <a:ln w="63500">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8989" name="Line 42"/>
              <p:cNvSpPr>
                <a:spLocks noChangeShapeType="1"/>
              </p:cNvSpPr>
              <p:nvPr/>
            </p:nvSpPr>
            <p:spPr bwMode="auto">
              <a:xfrm>
                <a:off x="249" y="3067"/>
                <a:ext cx="250" cy="0"/>
              </a:xfrm>
              <a:prstGeom prst="line">
                <a:avLst/>
              </a:prstGeom>
              <a:noFill/>
              <a:ln w="63500">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8990" name="Line 43"/>
              <p:cNvSpPr>
                <a:spLocks noChangeShapeType="1"/>
              </p:cNvSpPr>
              <p:nvPr/>
            </p:nvSpPr>
            <p:spPr bwMode="auto">
              <a:xfrm>
                <a:off x="317" y="3203"/>
                <a:ext cx="113" cy="0"/>
              </a:xfrm>
              <a:prstGeom prst="line">
                <a:avLst/>
              </a:prstGeom>
              <a:noFill/>
              <a:ln w="63500">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8991" name="Line 44"/>
              <p:cNvSpPr>
                <a:spLocks noChangeShapeType="1"/>
              </p:cNvSpPr>
              <p:nvPr/>
            </p:nvSpPr>
            <p:spPr bwMode="auto">
              <a:xfrm>
                <a:off x="340" y="3317"/>
                <a:ext cx="45" cy="0"/>
              </a:xfrm>
              <a:prstGeom prst="line">
                <a:avLst/>
              </a:prstGeom>
              <a:noFill/>
              <a:ln w="63500">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sp>
        <p:nvSpPr>
          <p:cNvPr id="168964" name="Rectangle 45"/>
          <p:cNvSpPr>
            <a:spLocks noGrp="1" noChangeArrowheads="1"/>
          </p:cNvSpPr>
          <p:nvPr>
            <p:ph type="title"/>
          </p:nvPr>
        </p:nvSpPr>
        <p:spPr>
          <a:xfrm>
            <a:off x="107950" y="44450"/>
            <a:ext cx="9036050" cy="561975"/>
          </a:xfrm>
          <a:noFill/>
        </p:spPr>
        <p:txBody>
          <a:bodyPr/>
          <a:lstStyle/>
          <a:p>
            <a:pPr algn="l" eaLnBrk="1" hangingPunct="1"/>
            <a:r>
              <a:rPr lang="en-US" altLang="en-US" sz="3200" b="1" smtClean="0">
                <a:solidFill>
                  <a:srgbClr val="FF0000"/>
                </a:solidFill>
                <a:latin typeface="Tahoma" panose="020B0604030504040204" pitchFamily="34" charset="0"/>
              </a:rPr>
              <a:t>SCP – Chip Washing</a:t>
            </a:r>
            <a:endParaRPr lang="th-TH" altLang="en-US" sz="3200" b="1" smtClean="0">
              <a:solidFill>
                <a:srgbClr val="FF0000"/>
              </a:solidFill>
              <a:latin typeface="Tahoma" panose="020B0604030504040204" pitchFamily="34" charset="0"/>
            </a:endParaRPr>
          </a:p>
        </p:txBody>
      </p:sp>
    </p:spTree>
  </p:cSld>
  <p:clrMapOvr>
    <a:masterClrMapping/>
  </p:clrMapOvr>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Oval 2"/>
          <p:cNvSpPr>
            <a:spLocks noChangeArrowheads="1"/>
          </p:cNvSpPr>
          <p:nvPr/>
        </p:nvSpPr>
        <p:spPr bwMode="auto">
          <a:xfrm>
            <a:off x="4870450" y="2547938"/>
            <a:ext cx="223838" cy="295275"/>
          </a:xfrm>
          <a:prstGeom prst="ellipse">
            <a:avLst/>
          </a:prstGeom>
          <a:gradFill rotWithShape="0">
            <a:gsLst>
              <a:gs pos="0">
                <a:srgbClr val="2B2B2B"/>
              </a:gs>
              <a:gs pos="50000">
                <a:srgbClr val="919191"/>
              </a:gs>
              <a:gs pos="100000">
                <a:srgbClr val="2B2B2B"/>
              </a:gs>
            </a:gsLst>
            <a:lin ang="0" scaled="1"/>
          </a:gra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nvGrpSpPr>
          <p:cNvPr id="171011" name="Group 3"/>
          <p:cNvGrpSpPr>
            <a:grpSpLocks/>
          </p:cNvGrpSpPr>
          <p:nvPr/>
        </p:nvGrpSpPr>
        <p:grpSpPr bwMode="auto">
          <a:xfrm>
            <a:off x="1538288" y="2651125"/>
            <a:ext cx="4257675" cy="2805113"/>
            <a:chOff x="969" y="1670"/>
            <a:chExt cx="2682" cy="1767"/>
          </a:xfrm>
        </p:grpSpPr>
        <p:sp>
          <p:nvSpPr>
            <p:cNvPr id="171033" name="Line 4"/>
            <p:cNvSpPr>
              <a:spLocks noChangeShapeType="1"/>
            </p:cNvSpPr>
            <p:nvPr/>
          </p:nvSpPr>
          <p:spPr bwMode="auto">
            <a:xfrm>
              <a:off x="3424" y="2024"/>
              <a:ext cx="227" cy="0"/>
            </a:xfrm>
            <a:prstGeom prst="line">
              <a:avLst/>
            </a:prstGeom>
            <a:noFill/>
            <a:ln w="127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1034" name="Line 5"/>
            <p:cNvSpPr>
              <a:spLocks noChangeShapeType="1"/>
            </p:cNvSpPr>
            <p:nvPr/>
          </p:nvSpPr>
          <p:spPr bwMode="auto">
            <a:xfrm flipH="1">
              <a:off x="1466" y="2978"/>
              <a:ext cx="1646" cy="0"/>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1035" name="Line 6"/>
            <p:cNvSpPr>
              <a:spLocks noChangeShapeType="1"/>
            </p:cNvSpPr>
            <p:nvPr/>
          </p:nvSpPr>
          <p:spPr bwMode="auto">
            <a:xfrm flipH="1">
              <a:off x="1466" y="3373"/>
              <a:ext cx="1308" cy="0"/>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1036" name="Line 7"/>
            <p:cNvSpPr>
              <a:spLocks noChangeShapeType="1"/>
            </p:cNvSpPr>
            <p:nvPr/>
          </p:nvSpPr>
          <p:spPr bwMode="auto">
            <a:xfrm flipV="1">
              <a:off x="1478" y="2679"/>
              <a:ext cx="0" cy="706"/>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1037" name="Rectangle 8"/>
            <p:cNvSpPr>
              <a:spLocks noChangeArrowheads="1"/>
            </p:cNvSpPr>
            <p:nvPr/>
          </p:nvSpPr>
          <p:spPr bwMode="auto">
            <a:xfrm>
              <a:off x="2128" y="2565"/>
              <a:ext cx="19" cy="286"/>
            </a:xfrm>
            <a:prstGeom prst="rect">
              <a:avLst/>
            </a:prstGeom>
            <a:gradFill rotWithShape="0">
              <a:gsLst>
                <a:gs pos="0">
                  <a:srgbClr val="2B2B2B"/>
                </a:gs>
                <a:gs pos="50000">
                  <a:srgbClr val="919191"/>
                </a:gs>
                <a:gs pos="100000">
                  <a:srgbClr val="2B2B2B"/>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1038" name="Line 9"/>
            <p:cNvSpPr>
              <a:spLocks noChangeShapeType="1"/>
            </p:cNvSpPr>
            <p:nvPr/>
          </p:nvSpPr>
          <p:spPr bwMode="auto">
            <a:xfrm>
              <a:off x="2660" y="2934"/>
              <a:ext cx="0" cy="29"/>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1039" name="Line 10"/>
            <p:cNvSpPr>
              <a:spLocks noChangeShapeType="1"/>
            </p:cNvSpPr>
            <p:nvPr/>
          </p:nvSpPr>
          <p:spPr bwMode="auto">
            <a:xfrm>
              <a:off x="2799" y="2934"/>
              <a:ext cx="0" cy="29"/>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1040" name="Line 11"/>
            <p:cNvSpPr>
              <a:spLocks noChangeShapeType="1"/>
            </p:cNvSpPr>
            <p:nvPr/>
          </p:nvSpPr>
          <p:spPr bwMode="auto">
            <a:xfrm>
              <a:off x="2324" y="3329"/>
              <a:ext cx="0" cy="31"/>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1041" name="Line 12"/>
            <p:cNvSpPr>
              <a:spLocks noChangeShapeType="1"/>
            </p:cNvSpPr>
            <p:nvPr/>
          </p:nvSpPr>
          <p:spPr bwMode="auto">
            <a:xfrm>
              <a:off x="2458" y="3329"/>
              <a:ext cx="0" cy="31"/>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1042" name="Line 13"/>
            <p:cNvSpPr>
              <a:spLocks noChangeShapeType="1"/>
            </p:cNvSpPr>
            <p:nvPr/>
          </p:nvSpPr>
          <p:spPr bwMode="auto">
            <a:xfrm>
              <a:off x="2594" y="3329"/>
              <a:ext cx="0" cy="31"/>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1043" name="Line 14"/>
            <p:cNvSpPr>
              <a:spLocks noChangeShapeType="1"/>
            </p:cNvSpPr>
            <p:nvPr/>
          </p:nvSpPr>
          <p:spPr bwMode="auto">
            <a:xfrm>
              <a:off x="2730" y="3329"/>
              <a:ext cx="0" cy="31"/>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171044" name="Group 15"/>
            <p:cNvGrpSpPr>
              <a:grpSpLocks/>
            </p:cNvGrpSpPr>
            <p:nvPr/>
          </p:nvGrpSpPr>
          <p:grpSpPr bwMode="auto">
            <a:xfrm>
              <a:off x="2188" y="2831"/>
              <a:ext cx="229" cy="154"/>
              <a:chOff x="3288" y="2562"/>
              <a:chExt cx="164" cy="96"/>
            </a:xfrm>
          </p:grpSpPr>
          <p:sp>
            <p:nvSpPr>
              <p:cNvPr id="171112" name="Rectangle 16"/>
              <p:cNvSpPr>
                <a:spLocks noChangeArrowheads="1"/>
              </p:cNvSpPr>
              <p:nvPr/>
            </p:nvSpPr>
            <p:spPr bwMode="auto">
              <a:xfrm>
                <a:off x="3309" y="2562"/>
                <a:ext cx="122" cy="34"/>
              </a:xfrm>
              <a:prstGeom prst="rect">
                <a:avLst/>
              </a:pr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1113" name="Rectangle 17"/>
              <p:cNvSpPr>
                <a:spLocks noChangeArrowheads="1"/>
              </p:cNvSpPr>
              <p:nvPr/>
            </p:nvSpPr>
            <p:spPr bwMode="auto">
              <a:xfrm>
                <a:off x="3309" y="2624"/>
                <a:ext cx="122" cy="34"/>
              </a:xfrm>
              <a:prstGeom prst="rect">
                <a:avLst/>
              </a:pr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1114" name="Rectangle 18"/>
              <p:cNvSpPr>
                <a:spLocks noChangeArrowheads="1"/>
              </p:cNvSpPr>
              <p:nvPr/>
            </p:nvSpPr>
            <p:spPr bwMode="auto">
              <a:xfrm>
                <a:off x="3288" y="2604"/>
                <a:ext cx="164" cy="12"/>
              </a:xfrm>
              <a:prstGeom prst="rect">
                <a:avLst/>
              </a:pr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sp>
          <p:nvSpPr>
            <p:cNvPr id="171045" name="Rectangle 19"/>
            <p:cNvSpPr>
              <a:spLocks noChangeArrowheads="1"/>
            </p:cNvSpPr>
            <p:nvPr/>
          </p:nvSpPr>
          <p:spPr bwMode="auto">
            <a:xfrm>
              <a:off x="2128" y="2963"/>
              <a:ext cx="19" cy="287"/>
            </a:xfrm>
            <a:prstGeom prst="rect">
              <a:avLst/>
            </a:prstGeom>
            <a:gradFill rotWithShape="0">
              <a:gsLst>
                <a:gs pos="0">
                  <a:srgbClr val="2B2B2B"/>
                </a:gs>
                <a:gs pos="50000">
                  <a:srgbClr val="919191"/>
                </a:gs>
                <a:gs pos="100000">
                  <a:srgbClr val="2B2B2B"/>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nvGrpSpPr>
            <p:cNvPr id="171046" name="Group 20"/>
            <p:cNvGrpSpPr>
              <a:grpSpLocks/>
            </p:cNvGrpSpPr>
            <p:nvPr/>
          </p:nvGrpSpPr>
          <p:grpSpPr bwMode="auto">
            <a:xfrm>
              <a:off x="2226" y="3209"/>
              <a:ext cx="599" cy="102"/>
              <a:chOff x="3316" y="2798"/>
              <a:chExt cx="424" cy="62"/>
            </a:xfrm>
          </p:grpSpPr>
          <p:sp>
            <p:nvSpPr>
              <p:cNvPr id="171107" name="Rectangle 21"/>
              <p:cNvSpPr>
                <a:spLocks noChangeArrowheads="1"/>
              </p:cNvSpPr>
              <p:nvPr/>
            </p:nvSpPr>
            <p:spPr bwMode="auto">
              <a:xfrm>
                <a:off x="3316" y="2798"/>
                <a:ext cx="424" cy="27"/>
              </a:xfrm>
              <a:prstGeom prst="rect">
                <a:avLst/>
              </a:prstGeom>
              <a:gradFill rotWithShape="0">
                <a:gsLst>
                  <a:gs pos="0">
                    <a:srgbClr val="1F1F1F"/>
                  </a:gs>
                  <a:gs pos="50000">
                    <a:srgbClr val="676767"/>
                  </a:gs>
                  <a:gs pos="100000">
                    <a:srgbClr val="1F1F1F"/>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1108" name="Rectangle 22"/>
              <p:cNvSpPr>
                <a:spLocks noChangeArrowheads="1"/>
              </p:cNvSpPr>
              <p:nvPr/>
            </p:nvSpPr>
            <p:spPr bwMode="auto">
              <a:xfrm>
                <a:off x="3364" y="2833"/>
                <a:ext cx="40" cy="27"/>
              </a:xfrm>
              <a:prstGeom prst="rect">
                <a:avLst/>
              </a:prstGeom>
              <a:gradFill rotWithShape="0">
                <a:gsLst>
                  <a:gs pos="0">
                    <a:srgbClr val="1F1F1F"/>
                  </a:gs>
                  <a:gs pos="50000">
                    <a:srgbClr val="676767"/>
                  </a:gs>
                  <a:gs pos="100000">
                    <a:srgbClr val="1F1F1F"/>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1109" name="Rectangle 23"/>
              <p:cNvSpPr>
                <a:spLocks noChangeArrowheads="1"/>
              </p:cNvSpPr>
              <p:nvPr/>
            </p:nvSpPr>
            <p:spPr bwMode="auto">
              <a:xfrm>
                <a:off x="3460" y="2833"/>
                <a:ext cx="40" cy="27"/>
              </a:xfrm>
              <a:prstGeom prst="rect">
                <a:avLst/>
              </a:prstGeom>
              <a:gradFill rotWithShape="0">
                <a:gsLst>
                  <a:gs pos="0">
                    <a:srgbClr val="1F1F1F"/>
                  </a:gs>
                  <a:gs pos="50000">
                    <a:srgbClr val="676767"/>
                  </a:gs>
                  <a:gs pos="100000">
                    <a:srgbClr val="1F1F1F"/>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1110" name="Rectangle 24"/>
              <p:cNvSpPr>
                <a:spLocks noChangeArrowheads="1"/>
              </p:cNvSpPr>
              <p:nvPr/>
            </p:nvSpPr>
            <p:spPr bwMode="auto">
              <a:xfrm>
                <a:off x="3556" y="2833"/>
                <a:ext cx="40" cy="27"/>
              </a:xfrm>
              <a:prstGeom prst="rect">
                <a:avLst/>
              </a:prstGeom>
              <a:gradFill rotWithShape="0">
                <a:gsLst>
                  <a:gs pos="0">
                    <a:srgbClr val="1F1F1F"/>
                  </a:gs>
                  <a:gs pos="50000">
                    <a:srgbClr val="676767"/>
                  </a:gs>
                  <a:gs pos="100000">
                    <a:srgbClr val="1F1F1F"/>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1111" name="Rectangle 25"/>
              <p:cNvSpPr>
                <a:spLocks noChangeArrowheads="1"/>
              </p:cNvSpPr>
              <p:nvPr/>
            </p:nvSpPr>
            <p:spPr bwMode="auto">
              <a:xfrm>
                <a:off x="3652" y="2833"/>
                <a:ext cx="40" cy="27"/>
              </a:xfrm>
              <a:prstGeom prst="rect">
                <a:avLst/>
              </a:prstGeom>
              <a:gradFill rotWithShape="0">
                <a:gsLst>
                  <a:gs pos="0">
                    <a:srgbClr val="1F1F1F"/>
                  </a:gs>
                  <a:gs pos="50000">
                    <a:srgbClr val="676767"/>
                  </a:gs>
                  <a:gs pos="100000">
                    <a:srgbClr val="1F1F1F"/>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sp>
          <p:nvSpPr>
            <p:cNvPr id="171047" name="Rectangle 26"/>
            <p:cNvSpPr>
              <a:spLocks noChangeArrowheads="1"/>
            </p:cNvSpPr>
            <p:nvPr/>
          </p:nvSpPr>
          <p:spPr bwMode="auto">
            <a:xfrm>
              <a:off x="2159" y="2996"/>
              <a:ext cx="1110" cy="218"/>
            </a:xfrm>
            <a:prstGeom prst="rect">
              <a:avLst/>
            </a:prstGeom>
            <a:gradFill rotWithShape="0">
              <a:gsLst>
                <a:gs pos="0">
                  <a:srgbClr val="2B2B2B"/>
                </a:gs>
                <a:gs pos="50000">
                  <a:srgbClr val="919191"/>
                </a:gs>
                <a:gs pos="100000">
                  <a:srgbClr val="2B2B2B"/>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nvGrpSpPr>
            <p:cNvPr id="171048" name="Group 27"/>
            <p:cNvGrpSpPr>
              <a:grpSpLocks/>
            </p:cNvGrpSpPr>
            <p:nvPr/>
          </p:nvGrpSpPr>
          <p:grpSpPr bwMode="auto">
            <a:xfrm>
              <a:off x="2567" y="2812"/>
              <a:ext cx="597" cy="102"/>
              <a:chOff x="3556" y="2551"/>
              <a:chExt cx="424" cy="63"/>
            </a:xfrm>
          </p:grpSpPr>
          <p:sp>
            <p:nvSpPr>
              <p:cNvPr id="171102" name="Rectangle 28"/>
              <p:cNvSpPr>
                <a:spLocks noChangeArrowheads="1"/>
              </p:cNvSpPr>
              <p:nvPr/>
            </p:nvSpPr>
            <p:spPr bwMode="auto">
              <a:xfrm>
                <a:off x="3556" y="2551"/>
                <a:ext cx="424" cy="27"/>
              </a:xfrm>
              <a:prstGeom prst="rect">
                <a:avLst/>
              </a:prstGeom>
              <a:gradFill rotWithShape="0">
                <a:gsLst>
                  <a:gs pos="0">
                    <a:srgbClr val="1F1F1F"/>
                  </a:gs>
                  <a:gs pos="50000">
                    <a:srgbClr val="676767"/>
                  </a:gs>
                  <a:gs pos="100000">
                    <a:srgbClr val="1F1F1F"/>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1103" name="Rectangle 29"/>
              <p:cNvSpPr>
                <a:spLocks noChangeArrowheads="1"/>
              </p:cNvSpPr>
              <p:nvPr/>
            </p:nvSpPr>
            <p:spPr bwMode="auto">
              <a:xfrm>
                <a:off x="3604" y="2586"/>
                <a:ext cx="40" cy="28"/>
              </a:xfrm>
              <a:prstGeom prst="rect">
                <a:avLst/>
              </a:prstGeom>
              <a:gradFill rotWithShape="0">
                <a:gsLst>
                  <a:gs pos="0">
                    <a:srgbClr val="1F1F1F"/>
                  </a:gs>
                  <a:gs pos="50000">
                    <a:srgbClr val="676767"/>
                  </a:gs>
                  <a:gs pos="100000">
                    <a:srgbClr val="1F1F1F"/>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1104" name="Rectangle 30"/>
              <p:cNvSpPr>
                <a:spLocks noChangeArrowheads="1"/>
              </p:cNvSpPr>
              <p:nvPr/>
            </p:nvSpPr>
            <p:spPr bwMode="auto">
              <a:xfrm>
                <a:off x="3700" y="2586"/>
                <a:ext cx="40" cy="28"/>
              </a:xfrm>
              <a:prstGeom prst="rect">
                <a:avLst/>
              </a:prstGeom>
              <a:gradFill rotWithShape="0">
                <a:gsLst>
                  <a:gs pos="0">
                    <a:srgbClr val="1F1F1F"/>
                  </a:gs>
                  <a:gs pos="50000">
                    <a:srgbClr val="676767"/>
                  </a:gs>
                  <a:gs pos="100000">
                    <a:srgbClr val="1F1F1F"/>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1105" name="Rectangle 31"/>
              <p:cNvSpPr>
                <a:spLocks noChangeArrowheads="1"/>
              </p:cNvSpPr>
              <p:nvPr/>
            </p:nvSpPr>
            <p:spPr bwMode="auto">
              <a:xfrm>
                <a:off x="3796" y="2586"/>
                <a:ext cx="40" cy="28"/>
              </a:xfrm>
              <a:prstGeom prst="rect">
                <a:avLst/>
              </a:prstGeom>
              <a:gradFill rotWithShape="0">
                <a:gsLst>
                  <a:gs pos="0">
                    <a:srgbClr val="1F1F1F"/>
                  </a:gs>
                  <a:gs pos="50000">
                    <a:srgbClr val="676767"/>
                  </a:gs>
                  <a:gs pos="100000">
                    <a:srgbClr val="1F1F1F"/>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1106" name="Rectangle 32"/>
              <p:cNvSpPr>
                <a:spLocks noChangeArrowheads="1"/>
              </p:cNvSpPr>
              <p:nvPr/>
            </p:nvSpPr>
            <p:spPr bwMode="auto">
              <a:xfrm>
                <a:off x="3892" y="2586"/>
                <a:ext cx="40" cy="28"/>
              </a:xfrm>
              <a:prstGeom prst="rect">
                <a:avLst/>
              </a:prstGeom>
              <a:gradFill rotWithShape="0">
                <a:gsLst>
                  <a:gs pos="0">
                    <a:srgbClr val="1F1F1F"/>
                  </a:gs>
                  <a:gs pos="50000">
                    <a:srgbClr val="676767"/>
                  </a:gs>
                  <a:gs pos="100000">
                    <a:srgbClr val="1F1F1F"/>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sp>
          <p:nvSpPr>
            <p:cNvPr id="171049" name="Rectangle 33"/>
            <p:cNvSpPr>
              <a:spLocks noChangeArrowheads="1"/>
            </p:cNvSpPr>
            <p:nvPr/>
          </p:nvSpPr>
          <p:spPr bwMode="auto">
            <a:xfrm>
              <a:off x="2159" y="2598"/>
              <a:ext cx="1110" cy="218"/>
            </a:xfrm>
            <a:prstGeom prst="rect">
              <a:avLst/>
            </a:prstGeom>
            <a:gradFill rotWithShape="0">
              <a:gsLst>
                <a:gs pos="0">
                  <a:srgbClr val="2B2B2B"/>
                </a:gs>
                <a:gs pos="50000">
                  <a:srgbClr val="919191"/>
                </a:gs>
                <a:gs pos="100000">
                  <a:srgbClr val="2B2B2B"/>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1050" name="Rectangle 34"/>
            <p:cNvSpPr>
              <a:spLocks noChangeArrowheads="1"/>
            </p:cNvSpPr>
            <p:nvPr/>
          </p:nvSpPr>
          <p:spPr bwMode="auto">
            <a:xfrm>
              <a:off x="2991" y="3231"/>
              <a:ext cx="169" cy="54"/>
            </a:xfrm>
            <a:prstGeom prst="rect">
              <a:avLst/>
            </a:pr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1051" name="Rectangle 35"/>
            <p:cNvSpPr>
              <a:spLocks noChangeArrowheads="1"/>
            </p:cNvSpPr>
            <p:nvPr/>
          </p:nvSpPr>
          <p:spPr bwMode="auto">
            <a:xfrm>
              <a:off x="2991" y="3331"/>
              <a:ext cx="169" cy="54"/>
            </a:xfrm>
            <a:prstGeom prst="rect">
              <a:avLst/>
            </a:pr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1052" name="Rectangle 36"/>
            <p:cNvSpPr>
              <a:spLocks noChangeArrowheads="1"/>
            </p:cNvSpPr>
            <p:nvPr/>
          </p:nvSpPr>
          <p:spPr bwMode="auto">
            <a:xfrm>
              <a:off x="2960" y="3299"/>
              <a:ext cx="232" cy="16"/>
            </a:xfrm>
            <a:prstGeom prst="rect">
              <a:avLst/>
            </a:pr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1053" name="Rectangle 37"/>
            <p:cNvSpPr>
              <a:spLocks noChangeArrowheads="1"/>
            </p:cNvSpPr>
            <p:nvPr/>
          </p:nvSpPr>
          <p:spPr bwMode="auto">
            <a:xfrm>
              <a:off x="2953" y="3399"/>
              <a:ext cx="444" cy="38"/>
            </a:xfrm>
            <a:prstGeom prst="rect">
              <a:avLst/>
            </a:prstGeom>
            <a:gradFill rotWithShape="0">
              <a:gsLst>
                <a:gs pos="0">
                  <a:srgbClr val="1F1F1F"/>
                </a:gs>
                <a:gs pos="50000">
                  <a:srgbClr val="676767"/>
                </a:gs>
                <a:gs pos="100000">
                  <a:srgbClr val="1F1F1F"/>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1054" name="Line 38"/>
            <p:cNvSpPr>
              <a:spLocks noChangeShapeType="1"/>
            </p:cNvSpPr>
            <p:nvPr/>
          </p:nvSpPr>
          <p:spPr bwMode="auto">
            <a:xfrm>
              <a:off x="2902" y="2522"/>
              <a:ext cx="598" cy="0"/>
            </a:xfrm>
            <a:prstGeom prst="line">
              <a:avLst/>
            </a:prstGeom>
            <a:noFill/>
            <a:ln w="127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1055" name="Line 39"/>
            <p:cNvSpPr>
              <a:spLocks noChangeShapeType="1"/>
            </p:cNvSpPr>
            <p:nvPr/>
          </p:nvSpPr>
          <p:spPr bwMode="auto">
            <a:xfrm>
              <a:off x="2933" y="2934"/>
              <a:ext cx="0" cy="28"/>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1056" name="Line 40"/>
            <p:cNvSpPr>
              <a:spLocks noChangeShapeType="1"/>
            </p:cNvSpPr>
            <p:nvPr/>
          </p:nvSpPr>
          <p:spPr bwMode="auto">
            <a:xfrm>
              <a:off x="3067" y="2934"/>
              <a:ext cx="0" cy="28"/>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1057" name="Rectangle 41"/>
            <p:cNvSpPr>
              <a:spLocks noChangeArrowheads="1"/>
            </p:cNvSpPr>
            <p:nvPr/>
          </p:nvSpPr>
          <p:spPr bwMode="auto">
            <a:xfrm>
              <a:off x="3098" y="2567"/>
              <a:ext cx="139" cy="19"/>
            </a:xfrm>
            <a:prstGeom prst="rect">
              <a:avLst/>
            </a:pr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1058" name="Rectangle 42"/>
            <p:cNvSpPr>
              <a:spLocks noChangeArrowheads="1"/>
            </p:cNvSpPr>
            <p:nvPr/>
          </p:nvSpPr>
          <p:spPr bwMode="auto">
            <a:xfrm>
              <a:off x="3280" y="2566"/>
              <a:ext cx="19" cy="285"/>
            </a:xfrm>
            <a:prstGeom prst="rect">
              <a:avLst/>
            </a:prstGeom>
            <a:gradFill rotWithShape="0">
              <a:gsLst>
                <a:gs pos="0">
                  <a:srgbClr val="2B2B2B"/>
                </a:gs>
                <a:gs pos="50000">
                  <a:srgbClr val="919191"/>
                </a:gs>
                <a:gs pos="100000">
                  <a:srgbClr val="2B2B2B"/>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1059" name="Rectangle 43"/>
            <p:cNvSpPr>
              <a:spLocks noChangeArrowheads="1"/>
            </p:cNvSpPr>
            <p:nvPr/>
          </p:nvSpPr>
          <p:spPr bwMode="auto">
            <a:xfrm>
              <a:off x="3280" y="2962"/>
              <a:ext cx="19" cy="288"/>
            </a:xfrm>
            <a:prstGeom prst="rect">
              <a:avLst/>
            </a:prstGeom>
            <a:gradFill rotWithShape="0">
              <a:gsLst>
                <a:gs pos="0">
                  <a:srgbClr val="2B2B2B"/>
                </a:gs>
                <a:gs pos="50000">
                  <a:srgbClr val="919191"/>
                </a:gs>
                <a:gs pos="100000">
                  <a:srgbClr val="2B2B2B"/>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1060" name="Line 44"/>
            <p:cNvSpPr>
              <a:spLocks noChangeShapeType="1"/>
            </p:cNvSpPr>
            <p:nvPr/>
          </p:nvSpPr>
          <p:spPr bwMode="auto">
            <a:xfrm flipV="1">
              <a:off x="3241" y="2004"/>
              <a:ext cx="192" cy="184"/>
            </a:xfrm>
            <a:prstGeom prst="line">
              <a:avLst/>
            </a:prstGeom>
            <a:noFill/>
            <a:ln w="12700">
              <a:solidFill>
                <a:srgbClr val="0000FF"/>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1061" name="Line 45"/>
            <p:cNvSpPr>
              <a:spLocks noChangeShapeType="1"/>
            </p:cNvSpPr>
            <p:nvPr/>
          </p:nvSpPr>
          <p:spPr bwMode="auto">
            <a:xfrm>
              <a:off x="3506" y="2017"/>
              <a:ext cx="0" cy="499"/>
            </a:xfrm>
            <a:prstGeom prst="line">
              <a:avLst/>
            </a:prstGeom>
            <a:noFill/>
            <a:ln w="127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171062" name="Group 46"/>
            <p:cNvGrpSpPr>
              <a:grpSpLocks/>
            </p:cNvGrpSpPr>
            <p:nvPr/>
          </p:nvGrpSpPr>
          <p:grpSpPr bwMode="auto">
            <a:xfrm>
              <a:off x="969" y="1842"/>
              <a:ext cx="2087" cy="761"/>
              <a:chOff x="969" y="2114"/>
              <a:chExt cx="2087" cy="761"/>
            </a:xfrm>
          </p:grpSpPr>
          <p:sp>
            <p:nvSpPr>
              <p:cNvPr id="171070" name="Rectangle 47"/>
              <p:cNvSpPr>
                <a:spLocks noChangeArrowheads="1"/>
              </p:cNvSpPr>
              <p:nvPr/>
            </p:nvSpPr>
            <p:spPr bwMode="auto">
              <a:xfrm>
                <a:off x="969" y="2423"/>
                <a:ext cx="1276" cy="118"/>
              </a:xfrm>
              <a:prstGeom prst="rect">
                <a:avLst/>
              </a:prstGeom>
              <a:noFill/>
              <a:ln>
                <a:noFill/>
              </a:ln>
              <a:effectLst/>
              <a:extLst>
                <a:ext uri="{909E8E84-426E-40DD-AFC4-6F175D3DCCD1}">
                  <a14:hiddenFill xmlns:a14="http://schemas.microsoft.com/office/drawing/2010/main">
                    <a:solidFill>
                      <a:srgbClr val="EAEC5E"/>
                    </a:solidFill>
                  </a14:hiddenFill>
                </a:ext>
                <a:ext uri="{91240B29-F687-4F45-9708-019B960494DF}">
                  <a14:hiddenLine xmlns:a14="http://schemas.microsoft.com/office/drawing/2010/main" w="127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65000"/>
                  </a:lnSpc>
                  <a:spcBef>
                    <a:spcPct val="0"/>
                  </a:spcBef>
                  <a:buFontTx/>
                  <a:buNone/>
                </a:pPr>
                <a:r>
                  <a:rPr lang="en-US" altLang="en-US" sz="1000" b="1">
                    <a:solidFill>
                      <a:srgbClr val="0000FF"/>
                    </a:solidFill>
                    <a:latin typeface="Tahoma" panose="020B0604030504040204" pitchFamily="34" charset="0"/>
                    <a:cs typeface="Angsana New" panose="02020603050405020304" pitchFamily="18" charset="-34"/>
                  </a:rPr>
                  <a:t>CHIP SCREW FEEDER</a:t>
                </a:r>
              </a:p>
            </p:txBody>
          </p:sp>
          <p:sp>
            <p:nvSpPr>
              <p:cNvPr id="171071" name="Rectangle 48"/>
              <p:cNvSpPr>
                <a:spLocks noChangeArrowheads="1"/>
              </p:cNvSpPr>
              <p:nvPr/>
            </p:nvSpPr>
            <p:spPr bwMode="auto">
              <a:xfrm>
                <a:off x="1139" y="2767"/>
                <a:ext cx="675" cy="108"/>
              </a:xfrm>
              <a:prstGeom prst="rect">
                <a:avLst/>
              </a:prstGeom>
              <a:noFill/>
              <a:ln>
                <a:noFill/>
              </a:ln>
              <a:effectLst/>
              <a:extLst>
                <a:ext uri="{909E8E84-426E-40DD-AFC4-6F175D3DCCD1}">
                  <a14:hiddenFill xmlns:a14="http://schemas.microsoft.com/office/drawing/2010/main">
                    <a:solidFill>
                      <a:srgbClr val="EAEC5E"/>
                    </a:solidFill>
                  </a14:hiddenFill>
                </a:ext>
                <a:ext uri="{91240B29-F687-4F45-9708-019B960494DF}">
                  <a14:hiddenLine xmlns:a14="http://schemas.microsoft.com/office/drawing/2010/main" w="127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45000"/>
                  </a:lnSpc>
                  <a:spcBef>
                    <a:spcPct val="0"/>
                  </a:spcBef>
                  <a:buFontTx/>
                  <a:buNone/>
                </a:pPr>
                <a:r>
                  <a:rPr lang="en-US" altLang="en-US" sz="1200" b="1">
                    <a:solidFill>
                      <a:srgbClr val="0000FF"/>
                    </a:solidFill>
                    <a:latin typeface="Tahoma" panose="020B0604030504040204" pitchFamily="34" charset="0"/>
                    <a:cs typeface="Angsana New" panose="02020603050405020304" pitchFamily="18" charset="-34"/>
                  </a:rPr>
                  <a:t>STEAM</a:t>
                </a:r>
              </a:p>
            </p:txBody>
          </p:sp>
          <p:sp>
            <p:nvSpPr>
              <p:cNvPr id="171072" name="Rectangle 49"/>
              <p:cNvSpPr>
                <a:spLocks noChangeArrowheads="1"/>
              </p:cNvSpPr>
              <p:nvPr/>
            </p:nvSpPr>
            <p:spPr bwMode="auto">
              <a:xfrm>
                <a:off x="2231" y="2528"/>
                <a:ext cx="481" cy="42"/>
              </a:xfrm>
              <a:prstGeom prst="rect">
                <a:avLst/>
              </a:prstGeom>
              <a:gradFill rotWithShape="0">
                <a:gsLst>
                  <a:gs pos="0">
                    <a:srgbClr val="021245"/>
                  </a:gs>
                  <a:gs pos="50000">
                    <a:srgbClr val="063DE8"/>
                  </a:gs>
                  <a:gs pos="100000">
                    <a:srgbClr val="021245"/>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1073" name="Line 50"/>
              <p:cNvSpPr>
                <a:spLocks noChangeShapeType="1"/>
              </p:cNvSpPr>
              <p:nvPr/>
            </p:nvSpPr>
            <p:spPr bwMode="auto">
              <a:xfrm>
                <a:off x="2680" y="2614"/>
                <a:ext cx="122" cy="0"/>
              </a:xfrm>
              <a:prstGeom prst="line">
                <a:avLst/>
              </a:prstGeom>
              <a:noFill/>
              <a:ln w="127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171074" name="Group 51"/>
              <p:cNvGrpSpPr>
                <a:grpSpLocks/>
              </p:cNvGrpSpPr>
              <p:nvPr/>
            </p:nvGrpSpPr>
            <p:grpSpPr bwMode="auto">
              <a:xfrm>
                <a:off x="1954" y="2437"/>
                <a:ext cx="880" cy="117"/>
                <a:chOff x="3122" y="2149"/>
                <a:chExt cx="625" cy="73"/>
              </a:xfrm>
            </p:grpSpPr>
            <p:grpSp>
              <p:nvGrpSpPr>
                <p:cNvPr id="171084" name="Group 52"/>
                <p:cNvGrpSpPr>
                  <a:grpSpLocks/>
                </p:cNvGrpSpPr>
                <p:nvPr/>
              </p:nvGrpSpPr>
              <p:grpSpPr bwMode="auto">
                <a:xfrm>
                  <a:off x="3122" y="2157"/>
                  <a:ext cx="625" cy="57"/>
                  <a:chOff x="3122" y="2157"/>
                  <a:chExt cx="625" cy="57"/>
                </a:xfrm>
              </p:grpSpPr>
              <p:sp>
                <p:nvSpPr>
                  <p:cNvPr id="171099" name="Rectangle 53"/>
                  <p:cNvSpPr>
                    <a:spLocks noChangeArrowheads="1"/>
                  </p:cNvSpPr>
                  <p:nvPr/>
                </p:nvSpPr>
                <p:spPr bwMode="auto">
                  <a:xfrm>
                    <a:off x="3122" y="2178"/>
                    <a:ext cx="62" cy="14"/>
                  </a:xfrm>
                  <a:prstGeom prst="rect">
                    <a:avLst/>
                  </a:prstGeom>
                  <a:gradFill rotWithShape="0">
                    <a:gsLst>
                      <a:gs pos="0">
                        <a:srgbClr val="021245"/>
                      </a:gs>
                      <a:gs pos="50000">
                        <a:srgbClr val="063DE8"/>
                      </a:gs>
                      <a:gs pos="100000">
                        <a:srgbClr val="021245"/>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1100" name="Oval 54"/>
                  <p:cNvSpPr>
                    <a:spLocks noChangeArrowheads="1"/>
                  </p:cNvSpPr>
                  <p:nvPr/>
                </p:nvSpPr>
                <p:spPr bwMode="auto">
                  <a:xfrm>
                    <a:off x="3168" y="2157"/>
                    <a:ext cx="180" cy="57"/>
                  </a:xfrm>
                  <a:prstGeom prst="ellipse">
                    <a:avLst/>
                  </a:prstGeom>
                  <a:gradFill rotWithShape="0">
                    <a:gsLst>
                      <a:gs pos="0">
                        <a:srgbClr val="021245"/>
                      </a:gs>
                      <a:gs pos="50000">
                        <a:srgbClr val="063DE8"/>
                      </a:gs>
                      <a:gs pos="100000">
                        <a:srgbClr val="021245"/>
                      </a:gs>
                    </a:gsLst>
                    <a:lin ang="5400000" scaled="1"/>
                  </a:gra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1101" name="Rectangle 55"/>
                  <p:cNvSpPr>
                    <a:spLocks noChangeArrowheads="1"/>
                  </p:cNvSpPr>
                  <p:nvPr/>
                </p:nvSpPr>
                <p:spPr bwMode="auto">
                  <a:xfrm>
                    <a:off x="3262" y="2157"/>
                    <a:ext cx="485" cy="57"/>
                  </a:xfrm>
                  <a:prstGeom prst="rect">
                    <a:avLst/>
                  </a:prstGeom>
                  <a:gradFill rotWithShape="0">
                    <a:gsLst>
                      <a:gs pos="0">
                        <a:srgbClr val="021245"/>
                      </a:gs>
                      <a:gs pos="50000">
                        <a:srgbClr val="063DE8"/>
                      </a:gs>
                      <a:gs pos="100000">
                        <a:srgbClr val="021245"/>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sp>
              <p:nvSpPr>
                <p:cNvPr id="171085" name="Line 56"/>
                <p:cNvSpPr>
                  <a:spLocks noChangeShapeType="1"/>
                </p:cNvSpPr>
                <p:nvPr/>
              </p:nvSpPr>
              <p:spPr bwMode="auto">
                <a:xfrm>
                  <a:off x="3309" y="2185"/>
                  <a:ext cx="414" cy="0"/>
                </a:xfrm>
                <a:prstGeom prst="line">
                  <a:avLst/>
                </a:prstGeom>
                <a:noFill/>
                <a:ln w="127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171086" name="Group 57"/>
                <p:cNvGrpSpPr>
                  <a:grpSpLocks/>
                </p:cNvGrpSpPr>
                <p:nvPr/>
              </p:nvGrpSpPr>
              <p:grpSpPr bwMode="auto">
                <a:xfrm>
                  <a:off x="3309" y="2149"/>
                  <a:ext cx="86" cy="73"/>
                  <a:chOff x="3309" y="2149"/>
                  <a:chExt cx="86" cy="73"/>
                </a:xfrm>
              </p:grpSpPr>
              <p:sp>
                <p:nvSpPr>
                  <p:cNvPr id="171097" name="Line 58"/>
                  <p:cNvSpPr>
                    <a:spLocks noChangeShapeType="1"/>
                  </p:cNvSpPr>
                  <p:nvPr/>
                </p:nvSpPr>
                <p:spPr bwMode="auto">
                  <a:xfrm flipV="1">
                    <a:off x="3309" y="2149"/>
                    <a:ext cx="39" cy="73"/>
                  </a:xfrm>
                  <a:prstGeom prst="line">
                    <a:avLst/>
                  </a:prstGeom>
                  <a:noFill/>
                  <a:ln w="127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1098" name="Line 59"/>
                  <p:cNvSpPr>
                    <a:spLocks noChangeShapeType="1"/>
                  </p:cNvSpPr>
                  <p:nvPr/>
                </p:nvSpPr>
                <p:spPr bwMode="auto">
                  <a:xfrm>
                    <a:off x="3356" y="2157"/>
                    <a:ext cx="39" cy="57"/>
                  </a:xfrm>
                  <a:prstGeom prst="line">
                    <a:avLst/>
                  </a:prstGeom>
                  <a:noFill/>
                  <a:ln w="127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71087" name="Group 60"/>
                <p:cNvGrpSpPr>
                  <a:grpSpLocks/>
                </p:cNvGrpSpPr>
                <p:nvPr/>
              </p:nvGrpSpPr>
              <p:grpSpPr bwMode="auto">
                <a:xfrm>
                  <a:off x="3403" y="2149"/>
                  <a:ext cx="85" cy="73"/>
                  <a:chOff x="3403" y="2149"/>
                  <a:chExt cx="85" cy="73"/>
                </a:xfrm>
              </p:grpSpPr>
              <p:sp>
                <p:nvSpPr>
                  <p:cNvPr id="171095" name="Line 61"/>
                  <p:cNvSpPr>
                    <a:spLocks noChangeShapeType="1"/>
                  </p:cNvSpPr>
                  <p:nvPr/>
                </p:nvSpPr>
                <p:spPr bwMode="auto">
                  <a:xfrm flipV="1">
                    <a:off x="3403" y="2149"/>
                    <a:ext cx="39" cy="73"/>
                  </a:xfrm>
                  <a:prstGeom prst="line">
                    <a:avLst/>
                  </a:prstGeom>
                  <a:noFill/>
                  <a:ln w="127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1096" name="Line 62"/>
                  <p:cNvSpPr>
                    <a:spLocks noChangeShapeType="1"/>
                  </p:cNvSpPr>
                  <p:nvPr/>
                </p:nvSpPr>
                <p:spPr bwMode="auto">
                  <a:xfrm>
                    <a:off x="3450" y="2157"/>
                    <a:ext cx="38" cy="57"/>
                  </a:xfrm>
                  <a:prstGeom prst="line">
                    <a:avLst/>
                  </a:prstGeom>
                  <a:noFill/>
                  <a:ln w="127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71088" name="Group 63"/>
                <p:cNvGrpSpPr>
                  <a:grpSpLocks/>
                </p:cNvGrpSpPr>
                <p:nvPr/>
              </p:nvGrpSpPr>
              <p:grpSpPr bwMode="auto">
                <a:xfrm>
                  <a:off x="3496" y="2149"/>
                  <a:ext cx="86" cy="73"/>
                  <a:chOff x="3496" y="2149"/>
                  <a:chExt cx="86" cy="73"/>
                </a:xfrm>
              </p:grpSpPr>
              <p:sp>
                <p:nvSpPr>
                  <p:cNvPr id="171093" name="Line 64"/>
                  <p:cNvSpPr>
                    <a:spLocks noChangeShapeType="1"/>
                  </p:cNvSpPr>
                  <p:nvPr/>
                </p:nvSpPr>
                <p:spPr bwMode="auto">
                  <a:xfrm flipV="1">
                    <a:off x="3496" y="2149"/>
                    <a:ext cx="39" cy="73"/>
                  </a:xfrm>
                  <a:prstGeom prst="line">
                    <a:avLst/>
                  </a:prstGeom>
                  <a:noFill/>
                  <a:ln w="127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1094" name="Line 65"/>
                  <p:cNvSpPr>
                    <a:spLocks noChangeShapeType="1"/>
                  </p:cNvSpPr>
                  <p:nvPr/>
                </p:nvSpPr>
                <p:spPr bwMode="auto">
                  <a:xfrm>
                    <a:off x="3543" y="2157"/>
                    <a:ext cx="39" cy="57"/>
                  </a:xfrm>
                  <a:prstGeom prst="line">
                    <a:avLst/>
                  </a:prstGeom>
                  <a:noFill/>
                  <a:ln w="127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71089" name="Group 66"/>
                <p:cNvGrpSpPr>
                  <a:grpSpLocks/>
                </p:cNvGrpSpPr>
                <p:nvPr/>
              </p:nvGrpSpPr>
              <p:grpSpPr bwMode="auto">
                <a:xfrm>
                  <a:off x="3590" y="2149"/>
                  <a:ext cx="86" cy="73"/>
                  <a:chOff x="3590" y="2149"/>
                  <a:chExt cx="86" cy="73"/>
                </a:xfrm>
              </p:grpSpPr>
              <p:sp>
                <p:nvSpPr>
                  <p:cNvPr id="171091" name="Line 67"/>
                  <p:cNvSpPr>
                    <a:spLocks noChangeShapeType="1"/>
                  </p:cNvSpPr>
                  <p:nvPr/>
                </p:nvSpPr>
                <p:spPr bwMode="auto">
                  <a:xfrm flipV="1">
                    <a:off x="3590" y="2149"/>
                    <a:ext cx="39" cy="73"/>
                  </a:xfrm>
                  <a:prstGeom prst="line">
                    <a:avLst/>
                  </a:prstGeom>
                  <a:noFill/>
                  <a:ln w="127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1092" name="Line 68"/>
                  <p:cNvSpPr>
                    <a:spLocks noChangeShapeType="1"/>
                  </p:cNvSpPr>
                  <p:nvPr/>
                </p:nvSpPr>
                <p:spPr bwMode="auto">
                  <a:xfrm>
                    <a:off x="3637" y="2157"/>
                    <a:ext cx="39" cy="57"/>
                  </a:xfrm>
                  <a:prstGeom prst="line">
                    <a:avLst/>
                  </a:prstGeom>
                  <a:noFill/>
                  <a:ln w="127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171090" name="Line 69"/>
                <p:cNvSpPr>
                  <a:spLocks noChangeShapeType="1"/>
                </p:cNvSpPr>
                <p:nvPr/>
              </p:nvSpPr>
              <p:spPr bwMode="auto">
                <a:xfrm flipV="1">
                  <a:off x="3684" y="2181"/>
                  <a:ext cx="16" cy="41"/>
                </a:xfrm>
                <a:prstGeom prst="line">
                  <a:avLst/>
                </a:prstGeom>
                <a:noFill/>
                <a:ln w="127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171075" name="Rectangle 70"/>
              <p:cNvSpPr>
                <a:spLocks noChangeArrowheads="1"/>
              </p:cNvSpPr>
              <p:nvPr/>
            </p:nvSpPr>
            <p:spPr bwMode="auto">
              <a:xfrm>
                <a:off x="1265" y="2150"/>
                <a:ext cx="1310" cy="68"/>
              </a:xfrm>
              <a:prstGeom prst="rect">
                <a:avLst/>
              </a:prstGeom>
              <a:gradFill rotWithShape="0">
                <a:gsLst>
                  <a:gs pos="0">
                    <a:srgbClr val="2B2B2B"/>
                  </a:gs>
                  <a:gs pos="50000">
                    <a:srgbClr val="919191"/>
                  </a:gs>
                  <a:gs pos="100000">
                    <a:srgbClr val="2B2B2B"/>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1076" name="Rectangle 71"/>
              <p:cNvSpPr>
                <a:spLocks noChangeArrowheads="1"/>
              </p:cNvSpPr>
              <p:nvPr/>
            </p:nvSpPr>
            <p:spPr bwMode="auto">
              <a:xfrm>
                <a:off x="2297" y="2123"/>
                <a:ext cx="151" cy="13"/>
              </a:xfrm>
              <a:prstGeom prst="rect">
                <a:avLst/>
              </a:prstGeom>
              <a:gradFill rotWithShape="0">
                <a:gsLst>
                  <a:gs pos="0">
                    <a:srgbClr val="2B2B2B"/>
                  </a:gs>
                  <a:gs pos="50000">
                    <a:srgbClr val="919191"/>
                  </a:gs>
                  <a:gs pos="100000">
                    <a:srgbClr val="2B2B2B"/>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1077" name="Line 72"/>
              <p:cNvSpPr>
                <a:spLocks noChangeShapeType="1"/>
              </p:cNvSpPr>
              <p:nvPr/>
            </p:nvSpPr>
            <p:spPr bwMode="auto">
              <a:xfrm>
                <a:off x="2267" y="2114"/>
                <a:ext cx="213" cy="0"/>
              </a:xfrm>
              <a:prstGeom prst="line">
                <a:avLst/>
              </a:prstGeom>
              <a:noFill/>
              <a:ln w="127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1078" name="Rectangle 73"/>
              <p:cNvSpPr>
                <a:spLocks noChangeArrowheads="1"/>
              </p:cNvSpPr>
              <p:nvPr/>
            </p:nvSpPr>
            <p:spPr bwMode="auto">
              <a:xfrm>
                <a:off x="2427" y="2231"/>
                <a:ext cx="85" cy="152"/>
              </a:xfrm>
              <a:prstGeom prst="rect">
                <a:avLst/>
              </a:pr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1079" name="Rectangle 74"/>
              <p:cNvSpPr>
                <a:spLocks noChangeArrowheads="1"/>
              </p:cNvSpPr>
              <p:nvPr/>
            </p:nvSpPr>
            <p:spPr bwMode="auto">
              <a:xfrm>
                <a:off x="2349" y="2388"/>
                <a:ext cx="252" cy="78"/>
              </a:xfrm>
              <a:prstGeom prst="rect">
                <a:avLst/>
              </a:prstGeom>
              <a:gradFill rotWithShape="0">
                <a:gsLst>
                  <a:gs pos="0">
                    <a:srgbClr val="021245"/>
                  </a:gs>
                  <a:gs pos="50000">
                    <a:srgbClr val="063DE8"/>
                  </a:gs>
                  <a:gs pos="100000">
                    <a:srgbClr val="021245"/>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1080" name="Rectangle 75"/>
              <p:cNvSpPr>
                <a:spLocks noChangeArrowheads="1"/>
              </p:cNvSpPr>
              <p:nvPr/>
            </p:nvSpPr>
            <p:spPr bwMode="auto">
              <a:xfrm>
                <a:off x="2879" y="2529"/>
                <a:ext cx="57" cy="80"/>
              </a:xfrm>
              <a:prstGeom prst="rect">
                <a:avLst/>
              </a:prstGeom>
              <a:gradFill rotWithShape="0">
                <a:gsLst>
                  <a:gs pos="0">
                    <a:srgbClr val="021245"/>
                  </a:gs>
                  <a:gs pos="50000">
                    <a:srgbClr val="063DE8"/>
                  </a:gs>
                  <a:gs pos="100000">
                    <a:srgbClr val="021245"/>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1081" name="Rectangle 76"/>
              <p:cNvSpPr>
                <a:spLocks noChangeArrowheads="1"/>
              </p:cNvSpPr>
              <p:nvPr/>
            </p:nvSpPr>
            <p:spPr bwMode="auto">
              <a:xfrm>
                <a:off x="2844" y="2464"/>
                <a:ext cx="155" cy="61"/>
              </a:xfrm>
              <a:prstGeom prst="rect">
                <a:avLst/>
              </a:prstGeom>
              <a:gradFill rotWithShape="0">
                <a:gsLst>
                  <a:gs pos="0">
                    <a:srgbClr val="021245"/>
                  </a:gs>
                  <a:gs pos="50000">
                    <a:srgbClr val="063DE8"/>
                  </a:gs>
                  <a:gs pos="100000">
                    <a:srgbClr val="021245"/>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1082" name="Line 77"/>
              <p:cNvSpPr>
                <a:spLocks noChangeShapeType="1"/>
              </p:cNvSpPr>
              <p:nvPr/>
            </p:nvSpPr>
            <p:spPr bwMode="auto">
              <a:xfrm flipH="1">
                <a:off x="2891" y="2573"/>
                <a:ext cx="147" cy="215"/>
              </a:xfrm>
              <a:prstGeom prst="line">
                <a:avLst/>
              </a:prstGeom>
              <a:noFill/>
              <a:ln w="12700">
                <a:solidFill>
                  <a:srgbClr val="0000FF"/>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1083" name="AutoShape 78"/>
              <p:cNvSpPr>
                <a:spLocks noChangeArrowheads="1"/>
              </p:cNvSpPr>
              <p:nvPr/>
            </p:nvSpPr>
            <p:spPr bwMode="auto">
              <a:xfrm rot="-5400000" flipH="1" flipV="1">
                <a:off x="2975" y="2444"/>
                <a:ext cx="84" cy="79"/>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629 w 21600"/>
                  <a:gd name="T13" fmla="*/ 4375 h 21600"/>
                  <a:gd name="T14" fmla="*/ 17229 w 21600"/>
                  <a:gd name="T15" fmla="*/ 17225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lnTo>
                      <a:pt x="0" y="0"/>
                    </a:lnTo>
                    <a:close/>
                  </a:path>
                </a:pathLst>
              </a:custGeom>
              <a:gradFill rotWithShape="0">
                <a:gsLst>
                  <a:gs pos="0">
                    <a:srgbClr val="2B2B2B"/>
                  </a:gs>
                  <a:gs pos="50000">
                    <a:srgbClr val="919191"/>
                  </a:gs>
                  <a:gs pos="100000">
                    <a:srgbClr val="2B2B2B"/>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171063" name="Rectangle 79"/>
            <p:cNvSpPr>
              <a:spLocks noChangeArrowheads="1"/>
            </p:cNvSpPr>
            <p:nvPr/>
          </p:nvSpPr>
          <p:spPr bwMode="auto">
            <a:xfrm>
              <a:off x="3068" y="1703"/>
              <a:ext cx="141" cy="586"/>
            </a:xfrm>
            <a:prstGeom prst="rect">
              <a:avLst/>
            </a:pr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1064" name="Rectangle 80"/>
            <p:cNvSpPr>
              <a:spLocks noChangeArrowheads="1"/>
            </p:cNvSpPr>
            <p:nvPr/>
          </p:nvSpPr>
          <p:spPr bwMode="auto">
            <a:xfrm>
              <a:off x="3037" y="1670"/>
              <a:ext cx="200" cy="21"/>
            </a:xfrm>
            <a:prstGeom prst="rect">
              <a:avLst/>
            </a:pr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1065" name="Freeform 81"/>
            <p:cNvSpPr>
              <a:spLocks/>
            </p:cNvSpPr>
            <p:nvPr/>
          </p:nvSpPr>
          <p:spPr bwMode="auto">
            <a:xfrm>
              <a:off x="3063" y="2296"/>
              <a:ext cx="153" cy="67"/>
            </a:xfrm>
            <a:custGeom>
              <a:avLst/>
              <a:gdLst>
                <a:gd name="T0" fmla="*/ 0 w 109"/>
                <a:gd name="T1" fmla="*/ 0 h 42"/>
                <a:gd name="T2" fmla="*/ 1781 w 109"/>
                <a:gd name="T3" fmla="*/ 6976 h 42"/>
                <a:gd name="T4" fmla="*/ 4510 w 109"/>
                <a:gd name="T5" fmla="*/ 6976 h 42"/>
                <a:gd name="T6" fmla="*/ 4510 w 109"/>
                <a:gd name="T7" fmla="*/ 0 h 42"/>
                <a:gd name="T8" fmla="*/ 0 w 109"/>
                <a:gd name="T9" fmla="*/ 0 h 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9" h="42">
                  <a:moveTo>
                    <a:pt x="0" y="0"/>
                  </a:moveTo>
                  <a:lnTo>
                    <a:pt x="43" y="41"/>
                  </a:lnTo>
                  <a:lnTo>
                    <a:pt x="108" y="41"/>
                  </a:lnTo>
                  <a:lnTo>
                    <a:pt x="108" y="0"/>
                  </a:lnTo>
                  <a:lnTo>
                    <a:pt x="0" y="0"/>
                  </a:lnTo>
                </a:path>
              </a:pathLst>
            </a:custGeom>
            <a:gradFill rotWithShape="0">
              <a:gsLst>
                <a:gs pos="0">
                  <a:srgbClr val="2B2B2B"/>
                </a:gs>
                <a:gs pos="50000">
                  <a:srgbClr val="919191"/>
                </a:gs>
                <a:gs pos="100000">
                  <a:srgbClr val="2B2B2B"/>
                </a:gs>
              </a:gsLst>
              <a:lin ang="0" scaled="1"/>
            </a:gradFill>
            <a:ln w="12700" cap="rnd" cmpd="sng">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1066" name="Oval 82"/>
            <p:cNvSpPr>
              <a:spLocks noChangeArrowheads="1"/>
            </p:cNvSpPr>
            <p:nvPr/>
          </p:nvSpPr>
          <p:spPr bwMode="auto">
            <a:xfrm>
              <a:off x="3188" y="2202"/>
              <a:ext cx="49" cy="52"/>
            </a:xfrm>
            <a:prstGeom prst="ellipse">
              <a:avLst/>
            </a:prstGeom>
            <a:gradFill rotWithShape="0">
              <a:gsLst>
                <a:gs pos="0">
                  <a:srgbClr val="2B2B2B"/>
                </a:gs>
                <a:gs pos="50000">
                  <a:srgbClr val="919191"/>
                </a:gs>
                <a:gs pos="100000">
                  <a:srgbClr val="2B2B2B"/>
                </a:gs>
              </a:gsLst>
              <a:lin ang="0" scaled="1"/>
            </a:gra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1067" name="Rectangle 83"/>
            <p:cNvSpPr>
              <a:spLocks noChangeArrowheads="1"/>
            </p:cNvSpPr>
            <p:nvPr/>
          </p:nvSpPr>
          <p:spPr bwMode="auto">
            <a:xfrm>
              <a:off x="3220" y="2205"/>
              <a:ext cx="48" cy="47"/>
            </a:xfrm>
            <a:prstGeom prst="rect">
              <a:avLst/>
            </a:pr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1068" name="Rectangle 84"/>
            <p:cNvSpPr>
              <a:spLocks noChangeArrowheads="1"/>
            </p:cNvSpPr>
            <p:nvPr/>
          </p:nvSpPr>
          <p:spPr bwMode="auto">
            <a:xfrm>
              <a:off x="3279" y="2218"/>
              <a:ext cx="49" cy="21"/>
            </a:xfrm>
            <a:prstGeom prst="rect">
              <a:avLst/>
            </a:pr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1069" name="Rectangle 85"/>
            <p:cNvSpPr>
              <a:spLocks noChangeArrowheads="1"/>
            </p:cNvSpPr>
            <p:nvPr/>
          </p:nvSpPr>
          <p:spPr bwMode="auto">
            <a:xfrm>
              <a:off x="3127" y="2368"/>
              <a:ext cx="82" cy="186"/>
            </a:xfrm>
            <a:prstGeom prst="rect">
              <a:avLst/>
            </a:pr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grpSp>
        <p:nvGrpSpPr>
          <p:cNvPr id="171012" name="Group 86"/>
          <p:cNvGrpSpPr>
            <a:grpSpLocks/>
          </p:cNvGrpSpPr>
          <p:nvPr/>
        </p:nvGrpSpPr>
        <p:grpSpPr bwMode="auto">
          <a:xfrm>
            <a:off x="288925" y="1125538"/>
            <a:ext cx="2382838" cy="1852612"/>
            <a:chOff x="182" y="981"/>
            <a:chExt cx="1501" cy="1167"/>
          </a:xfrm>
        </p:grpSpPr>
        <p:sp>
          <p:nvSpPr>
            <p:cNvPr id="171022" name="Freeform 87"/>
            <p:cNvSpPr>
              <a:spLocks/>
            </p:cNvSpPr>
            <p:nvPr/>
          </p:nvSpPr>
          <p:spPr bwMode="auto">
            <a:xfrm>
              <a:off x="1393" y="1207"/>
              <a:ext cx="290" cy="821"/>
            </a:xfrm>
            <a:custGeom>
              <a:avLst/>
              <a:gdLst>
                <a:gd name="T0" fmla="*/ 2639 w 207"/>
                <a:gd name="T1" fmla="*/ 0 h 510"/>
                <a:gd name="T2" fmla="*/ 5293 w 207"/>
                <a:gd name="T3" fmla="*/ 0 h 510"/>
                <a:gd name="T4" fmla="*/ 8409 w 207"/>
                <a:gd name="T5" fmla="*/ 95700 h 510"/>
                <a:gd name="T6" fmla="*/ 0 w 207"/>
                <a:gd name="T7" fmla="*/ 95700 h 510"/>
                <a:gd name="T8" fmla="*/ 2639 w 207"/>
                <a:gd name="T9" fmla="*/ 0 h 5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7" h="510">
                  <a:moveTo>
                    <a:pt x="65" y="0"/>
                  </a:moveTo>
                  <a:lnTo>
                    <a:pt x="130" y="0"/>
                  </a:lnTo>
                  <a:lnTo>
                    <a:pt x="206" y="509"/>
                  </a:lnTo>
                  <a:lnTo>
                    <a:pt x="0" y="509"/>
                  </a:lnTo>
                  <a:lnTo>
                    <a:pt x="65" y="0"/>
                  </a:lnTo>
                </a:path>
              </a:pathLst>
            </a:custGeom>
            <a:gradFill rotWithShape="0">
              <a:gsLst>
                <a:gs pos="0">
                  <a:srgbClr val="021245"/>
                </a:gs>
                <a:gs pos="50000">
                  <a:srgbClr val="063DE8"/>
                </a:gs>
                <a:gs pos="100000">
                  <a:srgbClr val="021245"/>
                </a:gs>
              </a:gsLst>
              <a:lin ang="0" scaled="1"/>
            </a:gradFill>
            <a:ln w="12700" cap="rnd" cmpd="sng">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1023" name="Rectangle 88"/>
            <p:cNvSpPr>
              <a:spLocks noChangeArrowheads="1"/>
            </p:cNvSpPr>
            <p:nvPr/>
          </p:nvSpPr>
          <p:spPr bwMode="auto">
            <a:xfrm>
              <a:off x="1398" y="2033"/>
              <a:ext cx="279" cy="115"/>
            </a:xfrm>
            <a:prstGeom prst="rect">
              <a:avLst/>
            </a:prstGeom>
            <a:gradFill rotWithShape="0">
              <a:gsLst>
                <a:gs pos="0">
                  <a:srgbClr val="021245"/>
                </a:gs>
                <a:gs pos="50000">
                  <a:srgbClr val="063DE8"/>
                </a:gs>
                <a:gs pos="100000">
                  <a:srgbClr val="021245"/>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1024" name="Oval 89"/>
            <p:cNvSpPr>
              <a:spLocks noChangeArrowheads="1"/>
            </p:cNvSpPr>
            <p:nvPr/>
          </p:nvSpPr>
          <p:spPr bwMode="auto">
            <a:xfrm>
              <a:off x="1460" y="2033"/>
              <a:ext cx="49" cy="115"/>
            </a:xfrm>
            <a:prstGeom prst="ellipse">
              <a:avLst/>
            </a:prstGeom>
            <a:solidFill>
              <a:schemeClr val="accent1"/>
            </a:soli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1025" name="Oval 90"/>
            <p:cNvSpPr>
              <a:spLocks noChangeArrowheads="1"/>
            </p:cNvSpPr>
            <p:nvPr/>
          </p:nvSpPr>
          <p:spPr bwMode="auto">
            <a:xfrm>
              <a:off x="1567" y="2033"/>
              <a:ext cx="48" cy="115"/>
            </a:xfrm>
            <a:prstGeom prst="ellipse">
              <a:avLst/>
            </a:prstGeom>
            <a:solidFill>
              <a:schemeClr val="accent1"/>
            </a:soli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1026" name="Line 91"/>
            <p:cNvSpPr>
              <a:spLocks noChangeShapeType="1"/>
            </p:cNvSpPr>
            <p:nvPr/>
          </p:nvSpPr>
          <p:spPr bwMode="auto">
            <a:xfrm>
              <a:off x="1485" y="2033"/>
              <a:ext cx="0" cy="115"/>
            </a:xfrm>
            <a:prstGeom prst="line">
              <a:avLst/>
            </a:prstGeom>
            <a:noFill/>
            <a:ln w="127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1027" name="Line 92"/>
            <p:cNvSpPr>
              <a:spLocks noChangeShapeType="1"/>
            </p:cNvSpPr>
            <p:nvPr/>
          </p:nvSpPr>
          <p:spPr bwMode="auto">
            <a:xfrm>
              <a:off x="1460" y="2079"/>
              <a:ext cx="49" cy="0"/>
            </a:xfrm>
            <a:prstGeom prst="line">
              <a:avLst/>
            </a:prstGeom>
            <a:noFill/>
            <a:ln w="127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1028" name="Line 93"/>
            <p:cNvSpPr>
              <a:spLocks noChangeShapeType="1"/>
            </p:cNvSpPr>
            <p:nvPr/>
          </p:nvSpPr>
          <p:spPr bwMode="auto">
            <a:xfrm>
              <a:off x="1567" y="2079"/>
              <a:ext cx="48" cy="0"/>
            </a:xfrm>
            <a:prstGeom prst="line">
              <a:avLst/>
            </a:prstGeom>
            <a:noFill/>
            <a:ln w="127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1029" name="Line 94"/>
            <p:cNvSpPr>
              <a:spLocks noChangeShapeType="1"/>
            </p:cNvSpPr>
            <p:nvPr/>
          </p:nvSpPr>
          <p:spPr bwMode="auto">
            <a:xfrm>
              <a:off x="1592" y="2033"/>
              <a:ext cx="0" cy="115"/>
            </a:xfrm>
            <a:prstGeom prst="line">
              <a:avLst/>
            </a:prstGeom>
            <a:noFill/>
            <a:ln w="127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1030" name="Line 95"/>
            <p:cNvSpPr>
              <a:spLocks noChangeShapeType="1"/>
            </p:cNvSpPr>
            <p:nvPr/>
          </p:nvSpPr>
          <p:spPr bwMode="auto">
            <a:xfrm>
              <a:off x="1519" y="981"/>
              <a:ext cx="0" cy="226"/>
            </a:xfrm>
            <a:prstGeom prst="line">
              <a:avLst/>
            </a:prstGeom>
            <a:noFill/>
            <a:ln w="635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1031" name="Line 96"/>
            <p:cNvSpPr>
              <a:spLocks noChangeShapeType="1"/>
            </p:cNvSpPr>
            <p:nvPr/>
          </p:nvSpPr>
          <p:spPr bwMode="auto">
            <a:xfrm>
              <a:off x="612" y="981"/>
              <a:ext cx="907" cy="0"/>
            </a:xfrm>
            <a:prstGeom prst="line">
              <a:avLst/>
            </a:prstGeom>
            <a:noFill/>
            <a:ln w="635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1032" name="Text Box 97"/>
            <p:cNvSpPr txBox="1">
              <a:spLocks noChangeArrowheads="1"/>
            </p:cNvSpPr>
            <p:nvPr/>
          </p:nvSpPr>
          <p:spPr bwMode="auto">
            <a:xfrm>
              <a:off x="182" y="981"/>
              <a:ext cx="1247"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800" b="1">
                  <a:solidFill>
                    <a:srgbClr val="0000FF"/>
                  </a:solidFill>
                  <a:latin typeface="Tahoma" panose="020B0604030504040204" pitchFamily="34" charset="0"/>
                  <a:cs typeface="Tahoma" panose="020B0604030504040204" pitchFamily="34" charset="0"/>
                </a:rPr>
                <a:t>WASHEDCHIP</a:t>
              </a:r>
              <a:endParaRPr lang="th-TH" altLang="en-US" sz="2800" b="1">
                <a:solidFill>
                  <a:srgbClr val="0000FF"/>
                </a:solidFill>
                <a:latin typeface="Tahoma" panose="020B0604030504040204" pitchFamily="34" charset="0"/>
                <a:cs typeface="Tahoma" panose="020B0604030504040204" pitchFamily="34" charset="0"/>
              </a:endParaRPr>
            </a:p>
          </p:txBody>
        </p:sp>
      </p:grpSp>
      <p:sp>
        <p:nvSpPr>
          <p:cNvPr id="64610" name="Oval 98"/>
          <p:cNvSpPr>
            <a:spLocks noChangeArrowheads="1"/>
          </p:cNvSpPr>
          <p:nvPr/>
        </p:nvSpPr>
        <p:spPr bwMode="auto">
          <a:xfrm>
            <a:off x="1800225" y="1376363"/>
            <a:ext cx="1331913" cy="1908175"/>
          </a:xfrm>
          <a:prstGeom prst="ellipse">
            <a:avLst/>
          </a:prstGeom>
          <a:solidFill>
            <a:srgbClr val="FFFF00">
              <a:alpha val="39999"/>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64611" name="Text Box 99"/>
          <p:cNvSpPr txBox="1">
            <a:spLocks noChangeArrowheads="1"/>
          </p:cNvSpPr>
          <p:nvPr/>
        </p:nvSpPr>
        <p:spPr bwMode="auto">
          <a:xfrm>
            <a:off x="3167063" y="1196975"/>
            <a:ext cx="5976937" cy="1004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400" b="1">
                <a:solidFill>
                  <a:srgbClr val="FF0000"/>
                </a:solidFill>
                <a:latin typeface="Tahoma" panose="020B0604030504040204" pitchFamily="34" charset="0"/>
                <a:cs typeface="Tahoma" panose="020B0604030504040204" pitchFamily="34" charset="0"/>
              </a:rPr>
              <a:t>1. Pre-steaming</a:t>
            </a:r>
            <a:endParaRPr lang="th-TH" altLang="en-US" sz="2400" b="1">
              <a:solidFill>
                <a:srgbClr val="FF0000"/>
              </a:solidFill>
              <a:latin typeface="Tahoma" panose="020B0604030504040204" pitchFamily="34" charset="0"/>
              <a:cs typeface="Tahoma" panose="020B0604030504040204" pitchFamily="34" charset="0"/>
            </a:endParaRPr>
          </a:p>
          <a:p>
            <a:pPr eaLnBrk="1" hangingPunct="1">
              <a:spcBef>
                <a:spcPct val="50000"/>
              </a:spcBef>
              <a:buFontTx/>
              <a:buNone/>
            </a:pPr>
            <a:r>
              <a:rPr lang="th-TH" altLang="en-US" sz="2400" b="1">
                <a:solidFill>
                  <a:srgbClr val="FF0000"/>
                </a:solidFill>
                <a:latin typeface="Tahoma" panose="020B0604030504040204" pitchFamily="34" charset="0"/>
                <a:cs typeface="Tahoma" panose="020B0604030504040204" pitchFamily="34" charset="0"/>
              </a:rPr>
              <a:t>(อุ่น</a:t>
            </a:r>
            <a:r>
              <a:rPr lang="en-US" altLang="en-US" sz="2400" b="1">
                <a:solidFill>
                  <a:srgbClr val="FF0000"/>
                </a:solidFill>
                <a:latin typeface="Tahoma" panose="020B0604030504040204" pitchFamily="34" charset="0"/>
                <a:cs typeface="Tahoma" panose="020B0604030504040204" pitchFamily="34" charset="0"/>
              </a:rPr>
              <a:t>+</a:t>
            </a:r>
            <a:r>
              <a:rPr lang="th-TH" altLang="en-US" sz="2400" b="1">
                <a:solidFill>
                  <a:srgbClr val="FF0000"/>
                </a:solidFill>
                <a:latin typeface="Tahoma" panose="020B0604030504040204" pitchFamily="34" charset="0"/>
                <a:cs typeface="Tahoma" panose="020B0604030504040204" pitchFamily="34" charset="0"/>
              </a:rPr>
              <a:t>ไล่อากาศออกจาก </a:t>
            </a:r>
            <a:r>
              <a:rPr lang="en-US" altLang="en-US" sz="2400" b="1">
                <a:solidFill>
                  <a:srgbClr val="FF0000"/>
                </a:solidFill>
                <a:latin typeface="Tahoma" panose="020B0604030504040204" pitchFamily="34" charset="0"/>
                <a:cs typeface="Tahoma" panose="020B0604030504040204" pitchFamily="34" charset="0"/>
              </a:rPr>
              <a:t>Chips </a:t>
            </a:r>
            <a:r>
              <a:rPr lang="th-TH" altLang="en-US" sz="2400" b="1">
                <a:solidFill>
                  <a:srgbClr val="FF0000"/>
                </a:solidFill>
                <a:latin typeface="Tahoma" panose="020B0604030504040204" pitchFamily="34" charset="0"/>
                <a:cs typeface="Tahoma" panose="020B0604030504040204" pitchFamily="34" charset="0"/>
              </a:rPr>
              <a:t>ด้วยไอน้ำ)</a:t>
            </a:r>
          </a:p>
        </p:txBody>
      </p:sp>
      <p:sp>
        <p:nvSpPr>
          <p:cNvPr id="64612" name="Text Box 100"/>
          <p:cNvSpPr txBox="1">
            <a:spLocks noChangeArrowheads="1"/>
          </p:cNvSpPr>
          <p:nvPr/>
        </p:nvSpPr>
        <p:spPr bwMode="auto">
          <a:xfrm>
            <a:off x="5867400" y="3716338"/>
            <a:ext cx="3132138" cy="1004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400" b="1">
                <a:solidFill>
                  <a:srgbClr val="0000FF"/>
                </a:solidFill>
                <a:latin typeface="Tahoma" panose="020B0604030504040204" pitchFamily="34" charset="0"/>
                <a:cs typeface="Tahoma" panose="020B0604030504040204" pitchFamily="34" charset="0"/>
              </a:rPr>
              <a:t>2. Partial Digestion</a:t>
            </a:r>
            <a:endParaRPr lang="th-TH" altLang="en-US" sz="2400" b="1">
              <a:solidFill>
                <a:srgbClr val="0000FF"/>
              </a:solidFill>
              <a:latin typeface="Tahoma" panose="020B0604030504040204" pitchFamily="34" charset="0"/>
              <a:cs typeface="Tahoma" panose="020B0604030504040204" pitchFamily="34" charset="0"/>
            </a:endParaRPr>
          </a:p>
          <a:p>
            <a:pPr eaLnBrk="1" hangingPunct="1">
              <a:spcBef>
                <a:spcPct val="50000"/>
              </a:spcBef>
              <a:buFontTx/>
              <a:buNone/>
            </a:pPr>
            <a:r>
              <a:rPr lang="th-TH" altLang="en-US" sz="2400" b="1">
                <a:solidFill>
                  <a:srgbClr val="0000FF"/>
                </a:solidFill>
                <a:latin typeface="Tahoma" panose="020B0604030504040204" pitchFamily="34" charset="0"/>
                <a:cs typeface="Tahoma" panose="020B0604030504040204" pitchFamily="34" charset="0"/>
              </a:rPr>
              <a:t>(ต้มย่อยด้วยสารเคมี)</a:t>
            </a:r>
            <a:endParaRPr lang="en-US" altLang="en-US" sz="2400" b="1">
              <a:solidFill>
                <a:srgbClr val="0000FF"/>
              </a:solidFill>
              <a:latin typeface="Tahoma" panose="020B0604030504040204" pitchFamily="34" charset="0"/>
              <a:cs typeface="Tahoma" panose="020B0604030504040204" pitchFamily="34" charset="0"/>
            </a:endParaRPr>
          </a:p>
        </p:txBody>
      </p:sp>
      <p:sp>
        <p:nvSpPr>
          <p:cNvPr id="64613" name="Freeform 101"/>
          <p:cNvSpPr>
            <a:spLocks/>
          </p:cNvSpPr>
          <p:nvPr/>
        </p:nvSpPr>
        <p:spPr bwMode="auto">
          <a:xfrm>
            <a:off x="1547813" y="2384425"/>
            <a:ext cx="4319587" cy="4008438"/>
          </a:xfrm>
          <a:custGeom>
            <a:avLst/>
            <a:gdLst>
              <a:gd name="T0" fmla="*/ 2147483646 w 2721"/>
              <a:gd name="T1" fmla="*/ 2147483646 h 2525"/>
              <a:gd name="T2" fmla="*/ 2147483646 w 2721"/>
              <a:gd name="T3" fmla="*/ 2147483646 h 2525"/>
              <a:gd name="T4" fmla="*/ 2147483646 w 2721"/>
              <a:gd name="T5" fmla="*/ 2147483646 h 2525"/>
              <a:gd name="T6" fmla="*/ 2147483646 w 2721"/>
              <a:gd name="T7" fmla="*/ 2147483646 h 2525"/>
              <a:gd name="T8" fmla="*/ 2147483646 w 2721"/>
              <a:gd name="T9" fmla="*/ 2147483646 h 2525"/>
              <a:gd name="T10" fmla="*/ 2147483646 w 2721"/>
              <a:gd name="T11" fmla="*/ 2147483646 h 2525"/>
              <a:gd name="T12" fmla="*/ 2147483646 w 2721"/>
              <a:gd name="T13" fmla="*/ 2147483646 h 2525"/>
              <a:gd name="T14" fmla="*/ 2147483646 w 2721"/>
              <a:gd name="T15" fmla="*/ 2147483646 h 2525"/>
              <a:gd name="T16" fmla="*/ 2147483646 w 2721"/>
              <a:gd name="T17" fmla="*/ 2147483646 h 2525"/>
              <a:gd name="T18" fmla="*/ 2147483646 w 2721"/>
              <a:gd name="T19" fmla="*/ 2147483646 h 2525"/>
              <a:gd name="T20" fmla="*/ 2147483646 w 2721"/>
              <a:gd name="T21" fmla="*/ 2147483646 h 2525"/>
              <a:gd name="T22" fmla="*/ 2147483646 w 2721"/>
              <a:gd name="T23" fmla="*/ 2147483646 h 2525"/>
              <a:gd name="T24" fmla="*/ 2147483646 w 2721"/>
              <a:gd name="T25" fmla="*/ 2147483646 h 2525"/>
              <a:gd name="T26" fmla="*/ 2147483646 w 2721"/>
              <a:gd name="T27" fmla="*/ 2147483646 h 2525"/>
              <a:gd name="T28" fmla="*/ 2147483646 w 2721"/>
              <a:gd name="T29" fmla="*/ 2147483646 h 2525"/>
              <a:gd name="T30" fmla="*/ 2147483646 w 2721"/>
              <a:gd name="T31" fmla="*/ 2147483646 h 2525"/>
              <a:gd name="T32" fmla="*/ 2147483646 w 2721"/>
              <a:gd name="T33" fmla="*/ 2147483646 h 2525"/>
              <a:gd name="T34" fmla="*/ 2147483646 w 2721"/>
              <a:gd name="T35" fmla="*/ 2147483646 h 2525"/>
              <a:gd name="T36" fmla="*/ 2147483646 w 2721"/>
              <a:gd name="T37" fmla="*/ 2147483646 h 2525"/>
              <a:gd name="T38" fmla="*/ 2147483646 w 2721"/>
              <a:gd name="T39" fmla="*/ 2147483646 h 2525"/>
              <a:gd name="T40" fmla="*/ 2147483646 w 2721"/>
              <a:gd name="T41" fmla="*/ 2147483646 h 2525"/>
              <a:gd name="T42" fmla="*/ 2147483646 w 2721"/>
              <a:gd name="T43" fmla="*/ 2147483646 h 2525"/>
              <a:gd name="T44" fmla="*/ 2147483646 w 2721"/>
              <a:gd name="T45" fmla="*/ 2147483646 h 2525"/>
              <a:gd name="T46" fmla="*/ 2147483646 w 2721"/>
              <a:gd name="T47" fmla="*/ 2147483646 h 2525"/>
              <a:gd name="T48" fmla="*/ 2147483646 w 2721"/>
              <a:gd name="T49" fmla="*/ 2147483646 h 2525"/>
              <a:gd name="T50" fmla="*/ 2147483646 w 2721"/>
              <a:gd name="T51" fmla="*/ 2147483646 h 2525"/>
              <a:gd name="T52" fmla="*/ 2147483646 w 2721"/>
              <a:gd name="T53" fmla="*/ 2147483646 h 2525"/>
              <a:gd name="T54" fmla="*/ 2147483646 w 2721"/>
              <a:gd name="T55" fmla="*/ 2147483646 h 2525"/>
              <a:gd name="T56" fmla="*/ 2147483646 w 2721"/>
              <a:gd name="T57" fmla="*/ 2147483646 h 2525"/>
              <a:gd name="T58" fmla="*/ 2147483646 w 2721"/>
              <a:gd name="T59" fmla="*/ 2147483646 h 2525"/>
              <a:gd name="T60" fmla="*/ 2147483646 w 2721"/>
              <a:gd name="T61" fmla="*/ 2147483646 h 2525"/>
              <a:gd name="T62" fmla="*/ 2147483646 w 2721"/>
              <a:gd name="T63" fmla="*/ 2147483646 h 2525"/>
              <a:gd name="T64" fmla="*/ 2147483646 w 2721"/>
              <a:gd name="T65" fmla="*/ 2147483646 h 2525"/>
              <a:gd name="T66" fmla="*/ 2147483646 w 2721"/>
              <a:gd name="T67" fmla="*/ 2147483646 h 2525"/>
              <a:gd name="T68" fmla="*/ 2147483646 w 2721"/>
              <a:gd name="T69" fmla="*/ 2147483646 h 2525"/>
              <a:gd name="T70" fmla="*/ 2147483646 w 2721"/>
              <a:gd name="T71" fmla="*/ 2147483646 h 2525"/>
              <a:gd name="T72" fmla="*/ 2147483646 w 2721"/>
              <a:gd name="T73" fmla="*/ 2147483646 h 2525"/>
              <a:gd name="T74" fmla="*/ 2147483646 w 2721"/>
              <a:gd name="T75" fmla="*/ 2147483646 h 2525"/>
              <a:gd name="T76" fmla="*/ 2147483646 w 2721"/>
              <a:gd name="T77" fmla="*/ 2147483646 h 2525"/>
              <a:gd name="T78" fmla="*/ 2147483646 w 2721"/>
              <a:gd name="T79" fmla="*/ 2147483646 h 2525"/>
              <a:gd name="T80" fmla="*/ 2147483646 w 2721"/>
              <a:gd name="T81" fmla="*/ 2147483646 h 2525"/>
              <a:gd name="T82" fmla="*/ 2147483646 w 2721"/>
              <a:gd name="T83" fmla="*/ 2147483646 h 2525"/>
              <a:gd name="T84" fmla="*/ 2147483646 w 2721"/>
              <a:gd name="T85" fmla="*/ 2147483646 h 2525"/>
              <a:gd name="T86" fmla="*/ 2147483646 w 2721"/>
              <a:gd name="T87" fmla="*/ 2147483646 h 2525"/>
              <a:gd name="T88" fmla="*/ 2147483646 w 2721"/>
              <a:gd name="T89" fmla="*/ 2147483646 h 2525"/>
              <a:gd name="T90" fmla="*/ 2147483646 w 2721"/>
              <a:gd name="T91" fmla="*/ 2147483646 h 2525"/>
              <a:gd name="T92" fmla="*/ 2147483646 w 2721"/>
              <a:gd name="T93" fmla="*/ 2147483646 h 2525"/>
              <a:gd name="T94" fmla="*/ 2147483646 w 2721"/>
              <a:gd name="T95" fmla="*/ 2147483646 h 2525"/>
              <a:gd name="T96" fmla="*/ 2147483646 w 2721"/>
              <a:gd name="T97" fmla="*/ 2147483646 h 2525"/>
              <a:gd name="T98" fmla="*/ 2147483646 w 2721"/>
              <a:gd name="T99" fmla="*/ 2147483646 h 2525"/>
              <a:gd name="T100" fmla="*/ 2147483646 w 2721"/>
              <a:gd name="T101" fmla="*/ 2147483646 h 2525"/>
              <a:gd name="T102" fmla="*/ 2147483646 w 2721"/>
              <a:gd name="T103" fmla="*/ 2147483646 h 2525"/>
              <a:gd name="T104" fmla="*/ 2147483646 w 2721"/>
              <a:gd name="T105" fmla="*/ 2147483646 h 2525"/>
              <a:gd name="T106" fmla="*/ 2147483646 w 2721"/>
              <a:gd name="T107" fmla="*/ 2147483646 h 2525"/>
              <a:gd name="T108" fmla="*/ 2147483646 w 2721"/>
              <a:gd name="T109" fmla="*/ 2147483646 h 2525"/>
              <a:gd name="T110" fmla="*/ 2147483646 w 2721"/>
              <a:gd name="T111" fmla="*/ 2147483646 h 2525"/>
              <a:gd name="T112" fmla="*/ 2147483646 w 2721"/>
              <a:gd name="T113" fmla="*/ 2147483646 h 2525"/>
              <a:gd name="T114" fmla="*/ 2147483646 w 2721"/>
              <a:gd name="T115" fmla="*/ 2147483646 h 2525"/>
              <a:gd name="T116" fmla="*/ 2147483646 w 2721"/>
              <a:gd name="T117" fmla="*/ 2147483646 h 2525"/>
              <a:gd name="T118" fmla="*/ 2147483646 w 2721"/>
              <a:gd name="T119" fmla="*/ 2147483646 h 2525"/>
              <a:gd name="T120" fmla="*/ 2147483646 w 2721"/>
              <a:gd name="T121" fmla="*/ 2147483646 h 2525"/>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2721" h="2525">
                <a:moveTo>
                  <a:pt x="2217" y="10"/>
                </a:moveTo>
                <a:cubicBezTo>
                  <a:pt x="2096" y="0"/>
                  <a:pt x="1980" y="4"/>
                  <a:pt x="1860" y="20"/>
                </a:cubicBezTo>
                <a:cubicBezTo>
                  <a:pt x="1781" y="46"/>
                  <a:pt x="1910" y="6"/>
                  <a:pt x="1723" y="38"/>
                </a:cubicBezTo>
                <a:cubicBezTo>
                  <a:pt x="1678" y="46"/>
                  <a:pt x="1638" y="79"/>
                  <a:pt x="1595" y="93"/>
                </a:cubicBezTo>
                <a:cubicBezTo>
                  <a:pt x="1530" y="141"/>
                  <a:pt x="1445" y="149"/>
                  <a:pt x="1376" y="193"/>
                </a:cubicBezTo>
                <a:cubicBezTo>
                  <a:pt x="1363" y="201"/>
                  <a:pt x="1353" y="215"/>
                  <a:pt x="1339" y="221"/>
                </a:cubicBezTo>
                <a:cubicBezTo>
                  <a:pt x="1316" y="231"/>
                  <a:pt x="1266" y="239"/>
                  <a:pt x="1266" y="239"/>
                </a:cubicBezTo>
                <a:cubicBezTo>
                  <a:pt x="1236" y="258"/>
                  <a:pt x="1220" y="270"/>
                  <a:pt x="1184" y="285"/>
                </a:cubicBezTo>
                <a:cubicBezTo>
                  <a:pt x="1166" y="293"/>
                  <a:pt x="1129" y="303"/>
                  <a:pt x="1129" y="303"/>
                </a:cubicBezTo>
                <a:cubicBezTo>
                  <a:pt x="1085" y="345"/>
                  <a:pt x="1026" y="359"/>
                  <a:pt x="973" y="385"/>
                </a:cubicBezTo>
                <a:cubicBezTo>
                  <a:pt x="947" y="413"/>
                  <a:pt x="905" y="428"/>
                  <a:pt x="873" y="449"/>
                </a:cubicBezTo>
                <a:cubicBezTo>
                  <a:pt x="801" y="496"/>
                  <a:pt x="884" y="464"/>
                  <a:pt x="818" y="486"/>
                </a:cubicBezTo>
                <a:cubicBezTo>
                  <a:pt x="797" y="501"/>
                  <a:pt x="776" y="517"/>
                  <a:pt x="754" y="532"/>
                </a:cubicBezTo>
                <a:cubicBezTo>
                  <a:pt x="745" y="538"/>
                  <a:pt x="735" y="544"/>
                  <a:pt x="726" y="550"/>
                </a:cubicBezTo>
                <a:cubicBezTo>
                  <a:pt x="717" y="556"/>
                  <a:pt x="699" y="568"/>
                  <a:pt x="699" y="568"/>
                </a:cubicBezTo>
                <a:cubicBezTo>
                  <a:pt x="635" y="655"/>
                  <a:pt x="706" y="573"/>
                  <a:pt x="644" y="614"/>
                </a:cubicBezTo>
                <a:cubicBezTo>
                  <a:pt x="633" y="621"/>
                  <a:pt x="627" y="633"/>
                  <a:pt x="617" y="641"/>
                </a:cubicBezTo>
                <a:cubicBezTo>
                  <a:pt x="603" y="653"/>
                  <a:pt x="555" y="681"/>
                  <a:pt x="544" y="687"/>
                </a:cubicBezTo>
                <a:cubicBezTo>
                  <a:pt x="517" y="725"/>
                  <a:pt x="469" y="754"/>
                  <a:pt x="425" y="769"/>
                </a:cubicBezTo>
                <a:cubicBezTo>
                  <a:pt x="392" y="792"/>
                  <a:pt x="372" y="821"/>
                  <a:pt x="333" y="833"/>
                </a:cubicBezTo>
                <a:cubicBezTo>
                  <a:pt x="280" y="886"/>
                  <a:pt x="230" y="946"/>
                  <a:pt x="169" y="989"/>
                </a:cubicBezTo>
                <a:cubicBezTo>
                  <a:pt x="132" y="1041"/>
                  <a:pt x="105" y="1097"/>
                  <a:pt x="77" y="1153"/>
                </a:cubicBezTo>
                <a:cubicBezTo>
                  <a:pt x="58" y="1192"/>
                  <a:pt x="59" y="1168"/>
                  <a:pt x="50" y="1208"/>
                </a:cubicBezTo>
                <a:cubicBezTo>
                  <a:pt x="43" y="1238"/>
                  <a:pt x="38" y="1269"/>
                  <a:pt x="32" y="1300"/>
                </a:cubicBezTo>
                <a:cubicBezTo>
                  <a:pt x="29" y="1318"/>
                  <a:pt x="22" y="1354"/>
                  <a:pt x="22" y="1354"/>
                </a:cubicBezTo>
                <a:cubicBezTo>
                  <a:pt x="16" y="1439"/>
                  <a:pt x="0" y="1525"/>
                  <a:pt x="4" y="1610"/>
                </a:cubicBezTo>
                <a:cubicBezTo>
                  <a:pt x="5" y="1644"/>
                  <a:pt x="17" y="1677"/>
                  <a:pt x="22" y="1711"/>
                </a:cubicBezTo>
                <a:cubicBezTo>
                  <a:pt x="38" y="1813"/>
                  <a:pt x="38" y="1819"/>
                  <a:pt x="86" y="1903"/>
                </a:cubicBezTo>
                <a:cubicBezTo>
                  <a:pt x="108" y="1941"/>
                  <a:pt x="112" y="1986"/>
                  <a:pt x="141" y="2022"/>
                </a:cubicBezTo>
                <a:cubicBezTo>
                  <a:pt x="168" y="2056"/>
                  <a:pt x="208" y="2077"/>
                  <a:pt x="242" y="2104"/>
                </a:cubicBezTo>
                <a:cubicBezTo>
                  <a:pt x="297" y="2148"/>
                  <a:pt x="351" y="2197"/>
                  <a:pt x="416" y="2223"/>
                </a:cubicBezTo>
                <a:cubicBezTo>
                  <a:pt x="475" y="2282"/>
                  <a:pt x="412" y="2226"/>
                  <a:pt x="470" y="2260"/>
                </a:cubicBezTo>
                <a:cubicBezTo>
                  <a:pt x="559" y="2312"/>
                  <a:pt x="567" y="2337"/>
                  <a:pt x="653" y="2351"/>
                </a:cubicBezTo>
                <a:cubicBezTo>
                  <a:pt x="756" y="2425"/>
                  <a:pt x="885" y="2459"/>
                  <a:pt x="1010" y="2479"/>
                </a:cubicBezTo>
                <a:cubicBezTo>
                  <a:pt x="1046" y="2503"/>
                  <a:pt x="1088" y="2512"/>
                  <a:pt x="1129" y="2525"/>
                </a:cubicBezTo>
                <a:cubicBezTo>
                  <a:pt x="1348" y="2519"/>
                  <a:pt x="1407" y="2511"/>
                  <a:pt x="1586" y="2497"/>
                </a:cubicBezTo>
                <a:cubicBezTo>
                  <a:pt x="1663" y="2484"/>
                  <a:pt x="1738" y="2480"/>
                  <a:pt x="1814" y="2461"/>
                </a:cubicBezTo>
                <a:cubicBezTo>
                  <a:pt x="1844" y="2441"/>
                  <a:pt x="1875" y="2434"/>
                  <a:pt x="1906" y="2415"/>
                </a:cubicBezTo>
                <a:cubicBezTo>
                  <a:pt x="1958" y="2384"/>
                  <a:pt x="2018" y="2346"/>
                  <a:pt x="2061" y="2305"/>
                </a:cubicBezTo>
                <a:cubicBezTo>
                  <a:pt x="2115" y="2254"/>
                  <a:pt x="2178" y="2201"/>
                  <a:pt x="2244" y="2168"/>
                </a:cubicBezTo>
                <a:cubicBezTo>
                  <a:pt x="2273" y="2125"/>
                  <a:pt x="2341" y="2064"/>
                  <a:pt x="2390" y="2040"/>
                </a:cubicBezTo>
                <a:cubicBezTo>
                  <a:pt x="2413" y="1978"/>
                  <a:pt x="2378" y="2048"/>
                  <a:pt x="2454" y="2004"/>
                </a:cubicBezTo>
                <a:cubicBezTo>
                  <a:pt x="2463" y="1999"/>
                  <a:pt x="2460" y="1985"/>
                  <a:pt x="2464" y="1976"/>
                </a:cubicBezTo>
                <a:cubicBezTo>
                  <a:pt x="2479" y="1946"/>
                  <a:pt x="2482" y="1949"/>
                  <a:pt x="2509" y="1930"/>
                </a:cubicBezTo>
                <a:cubicBezTo>
                  <a:pt x="2512" y="1921"/>
                  <a:pt x="2511" y="1910"/>
                  <a:pt x="2518" y="1903"/>
                </a:cubicBezTo>
                <a:cubicBezTo>
                  <a:pt x="2537" y="1884"/>
                  <a:pt x="2582" y="1857"/>
                  <a:pt x="2582" y="1857"/>
                </a:cubicBezTo>
                <a:cubicBezTo>
                  <a:pt x="2624" y="1798"/>
                  <a:pt x="2651" y="1725"/>
                  <a:pt x="2674" y="1656"/>
                </a:cubicBezTo>
                <a:cubicBezTo>
                  <a:pt x="2677" y="1647"/>
                  <a:pt x="2680" y="1638"/>
                  <a:pt x="2683" y="1629"/>
                </a:cubicBezTo>
                <a:cubicBezTo>
                  <a:pt x="2686" y="1620"/>
                  <a:pt x="2689" y="1610"/>
                  <a:pt x="2692" y="1601"/>
                </a:cubicBezTo>
                <a:cubicBezTo>
                  <a:pt x="2695" y="1592"/>
                  <a:pt x="2701" y="1574"/>
                  <a:pt x="2701" y="1574"/>
                </a:cubicBezTo>
                <a:cubicBezTo>
                  <a:pt x="2721" y="1431"/>
                  <a:pt x="2716" y="1391"/>
                  <a:pt x="2710" y="1208"/>
                </a:cubicBezTo>
                <a:cubicBezTo>
                  <a:pt x="2705" y="1026"/>
                  <a:pt x="2720" y="724"/>
                  <a:pt x="2656" y="532"/>
                </a:cubicBezTo>
                <a:cubicBezTo>
                  <a:pt x="2646" y="469"/>
                  <a:pt x="2647" y="413"/>
                  <a:pt x="2601" y="367"/>
                </a:cubicBezTo>
                <a:cubicBezTo>
                  <a:pt x="2579" y="300"/>
                  <a:pt x="2611" y="380"/>
                  <a:pt x="2564" y="321"/>
                </a:cubicBezTo>
                <a:cubicBezTo>
                  <a:pt x="2514" y="259"/>
                  <a:pt x="2606" y="328"/>
                  <a:pt x="2528" y="276"/>
                </a:cubicBezTo>
                <a:cubicBezTo>
                  <a:pt x="2519" y="251"/>
                  <a:pt x="2518" y="242"/>
                  <a:pt x="2500" y="221"/>
                </a:cubicBezTo>
                <a:cubicBezTo>
                  <a:pt x="2486" y="205"/>
                  <a:pt x="2454" y="175"/>
                  <a:pt x="2454" y="175"/>
                </a:cubicBezTo>
                <a:cubicBezTo>
                  <a:pt x="2433" y="111"/>
                  <a:pt x="2463" y="184"/>
                  <a:pt x="2418" y="129"/>
                </a:cubicBezTo>
                <a:cubicBezTo>
                  <a:pt x="2399" y="106"/>
                  <a:pt x="2388" y="67"/>
                  <a:pt x="2363" y="47"/>
                </a:cubicBezTo>
                <a:cubicBezTo>
                  <a:pt x="2356" y="41"/>
                  <a:pt x="2345" y="42"/>
                  <a:pt x="2336" y="38"/>
                </a:cubicBezTo>
                <a:cubicBezTo>
                  <a:pt x="2273" y="11"/>
                  <a:pt x="2222" y="1"/>
                  <a:pt x="2153" y="1"/>
                </a:cubicBezTo>
              </a:path>
            </a:pathLst>
          </a:custGeom>
          <a:solidFill>
            <a:srgbClr val="0000FF">
              <a:alpha val="20000"/>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1017" name="Rectangle 102"/>
          <p:cNvSpPr>
            <a:spLocks noGrp="1" noChangeArrowheads="1"/>
          </p:cNvSpPr>
          <p:nvPr>
            <p:ph type="title"/>
          </p:nvPr>
        </p:nvSpPr>
        <p:spPr>
          <a:xfrm>
            <a:off x="107950" y="44450"/>
            <a:ext cx="9036050" cy="561975"/>
          </a:xfrm>
          <a:noFill/>
        </p:spPr>
        <p:txBody>
          <a:bodyPr/>
          <a:lstStyle/>
          <a:p>
            <a:pPr algn="l" eaLnBrk="1" hangingPunct="1"/>
            <a:r>
              <a:rPr lang="en-US" altLang="en-US" sz="3200" b="1" smtClean="0">
                <a:solidFill>
                  <a:srgbClr val="FF0000"/>
                </a:solidFill>
                <a:latin typeface="Tahoma" panose="020B0604030504040204" pitchFamily="34" charset="0"/>
              </a:rPr>
              <a:t>SCP – Partial Digestion</a:t>
            </a:r>
            <a:endParaRPr lang="th-TH" altLang="en-US" sz="3200" b="1" smtClean="0">
              <a:solidFill>
                <a:srgbClr val="FF0000"/>
              </a:solidFill>
              <a:latin typeface="Tahoma" panose="020B0604030504040204" pitchFamily="34" charset="0"/>
            </a:endParaRPr>
          </a:p>
        </p:txBody>
      </p:sp>
      <p:sp>
        <p:nvSpPr>
          <p:cNvPr id="171018" name="Rectangle 47"/>
          <p:cNvSpPr>
            <a:spLocks noChangeArrowheads="1"/>
          </p:cNvSpPr>
          <p:nvPr/>
        </p:nvSpPr>
        <p:spPr bwMode="auto">
          <a:xfrm>
            <a:off x="5854700" y="3108325"/>
            <a:ext cx="2678113" cy="190500"/>
          </a:xfrm>
          <a:prstGeom prst="rect">
            <a:avLst/>
          </a:prstGeom>
          <a:noFill/>
          <a:ln>
            <a:noFill/>
          </a:ln>
          <a:effectLst/>
          <a:extLst>
            <a:ext uri="{909E8E84-426E-40DD-AFC4-6F175D3DCCD1}">
              <a14:hiddenFill xmlns:a14="http://schemas.microsoft.com/office/drawing/2010/main">
                <a:solidFill>
                  <a:srgbClr val="EAEC5E"/>
                </a:solidFill>
              </a14:hiddenFill>
            </a:ext>
            <a:ext uri="{91240B29-F687-4F45-9708-019B960494DF}">
              <a14:hiddenLine xmlns:a14="http://schemas.microsoft.com/office/drawing/2010/main" w="127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65000"/>
              </a:lnSpc>
              <a:spcBef>
                <a:spcPct val="0"/>
              </a:spcBef>
              <a:buFontTx/>
              <a:buNone/>
            </a:pPr>
            <a:r>
              <a:rPr lang="en-US" altLang="en-US" sz="1000" b="1">
                <a:solidFill>
                  <a:srgbClr val="0000FF"/>
                </a:solidFill>
                <a:latin typeface="Tahoma" panose="020B0604030504040204" pitchFamily="34" charset="0"/>
                <a:cs typeface="Angsana New" panose="02020603050405020304" pitchFamily="18" charset="-34"/>
              </a:rPr>
              <a:t>GREEN LIQUOR + WHITE LIQUOR</a:t>
            </a:r>
          </a:p>
        </p:txBody>
      </p:sp>
      <p:sp>
        <p:nvSpPr>
          <p:cNvPr id="171019" name="Rectangle 47"/>
          <p:cNvSpPr>
            <a:spLocks noChangeArrowheads="1"/>
          </p:cNvSpPr>
          <p:nvPr/>
        </p:nvSpPr>
        <p:spPr bwMode="auto">
          <a:xfrm>
            <a:off x="4316413" y="2327275"/>
            <a:ext cx="2678112" cy="188913"/>
          </a:xfrm>
          <a:prstGeom prst="rect">
            <a:avLst/>
          </a:prstGeom>
          <a:noFill/>
          <a:ln>
            <a:noFill/>
          </a:ln>
          <a:effectLst/>
          <a:extLst>
            <a:ext uri="{909E8E84-426E-40DD-AFC4-6F175D3DCCD1}">
              <a14:hiddenFill xmlns:a14="http://schemas.microsoft.com/office/drawing/2010/main">
                <a:solidFill>
                  <a:srgbClr val="EAEC5E"/>
                </a:solidFill>
              </a14:hiddenFill>
            </a:ext>
            <a:ext uri="{91240B29-F687-4F45-9708-019B960494DF}">
              <a14:hiddenLine xmlns:a14="http://schemas.microsoft.com/office/drawing/2010/main" w="127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65000"/>
              </a:lnSpc>
              <a:spcBef>
                <a:spcPct val="0"/>
              </a:spcBef>
              <a:buFontTx/>
              <a:buNone/>
            </a:pPr>
            <a:r>
              <a:rPr lang="en-US" altLang="en-US" sz="1000" b="1">
                <a:solidFill>
                  <a:srgbClr val="0000FF"/>
                </a:solidFill>
                <a:latin typeface="Tahoma" panose="020B0604030504040204" pitchFamily="34" charset="0"/>
                <a:cs typeface="Angsana New" panose="02020603050405020304" pitchFamily="18" charset="-34"/>
              </a:rPr>
              <a:t>IMPREGNATOR</a:t>
            </a:r>
          </a:p>
        </p:txBody>
      </p:sp>
      <p:sp>
        <p:nvSpPr>
          <p:cNvPr id="171020" name="Text Box 6"/>
          <p:cNvSpPr txBox="1">
            <a:spLocks noChangeArrowheads="1"/>
          </p:cNvSpPr>
          <p:nvPr/>
        </p:nvSpPr>
        <p:spPr bwMode="auto">
          <a:xfrm>
            <a:off x="644525" y="2168525"/>
            <a:ext cx="1631950" cy="261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1100" b="1">
                <a:solidFill>
                  <a:srgbClr val="0000FF"/>
                </a:solidFill>
                <a:latin typeface="Tahoma" panose="020B0604030504040204" pitchFamily="34" charset="0"/>
                <a:cs typeface="Tahoma" panose="020B0604030504040204" pitchFamily="34" charset="0"/>
              </a:rPr>
              <a:t>PRE-STEAMING BIN</a:t>
            </a:r>
            <a:endParaRPr lang="th-TH" altLang="en-US" sz="1100" b="1">
              <a:solidFill>
                <a:srgbClr val="0000FF"/>
              </a:solidFill>
              <a:latin typeface="Tahoma" panose="020B0604030504040204" pitchFamily="34" charset="0"/>
              <a:cs typeface="Tahoma" panose="020B0604030504040204" pitchFamily="34" charset="0"/>
            </a:endParaRPr>
          </a:p>
        </p:txBody>
      </p:sp>
      <p:sp>
        <p:nvSpPr>
          <p:cNvPr id="171021" name="Text Box 6"/>
          <p:cNvSpPr txBox="1">
            <a:spLocks noChangeArrowheads="1"/>
          </p:cNvSpPr>
          <p:nvPr/>
        </p:nvSpPr>
        <p:spPr bwMode="auto">
          <a:xfrm>
            <a:off x="3284538" y="5456238"/>
            <a:ext cx="1630362" cy="261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1100" b="1">
                <a:solidFill>
                  <a:srgbClr val="0000FF"/>
                </a:solidFill>
                <a:latin typeface="Tahoma" panose="020B0604030504040204" pitchFamily="34" charset="0"/>
                <a:cs typeface="Tahoma" panose="020B0604030504040204" pitchFamily="34" charset="0"/>
              </a:rPr>
              <a:t>DIGESTER</a:t>
            </a:r>
            <a:endParaRPr lang="th-TH" altLang="en-US" sz="1100" b="1">
              <a:solidFill>
                <a:srgbClr val="0000FF"/>
              </a:solidFill>
              <a:latin typeface="Tahoma" panose="020B0604030504040204" pitchFamily="34" charset="0"/>
              <a:cs typeface="Tahoma" panose="020B060403050404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4610"/>
                                        </p:tgtEl>
                                        <p:attrNameLst>
                                          <p:attrName>style.visibility</p:attrName>
                                        </p:attrNameLst>
                                      </p:cBhvr>
                                      <p:to>
                                        <p:strVal val="visible"/>
                                      </p:to>
                                    </p:set>
                                    <p:animEffect transition="in" filter="wipe(left)">
                                      <p:cBhvr>
                                        <p:cTn id="7" dur="500"/>
                                        <p:tgtEl>
                                          <p:spTgt spid="646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64611"/>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64613"/>
                                        </p:tgtEl>
                                        <p:attrNameLst>
                                          <p:attrName>style.visibility</p:attrName>
                                        </p:attrNameLst>
                                      </p:cBhvr>
                                      <p:to>
                                        <p:strVal val="visible"/>
                                      </p:to>
                                    </p:set>
                                    <p:animEffect transition="in" filter="blinds(horizontal)">
                                      <p:cBhvr>
                                        <p:cTn id="16" dur="500"/>
                                        <p:tgtEl>
                                          <p:spTgt spid="6461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46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610" grpId="0" animBg="1"/>
      <p:bldP spid="64611" grpId="0"/>
      <p:bldP spid="64612" grpId="0"/>
      <p:bldP spid="64613"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Text Box 2"/>
          <p:cNvSpPr txBox="1">
            <a:spLocks noChangeArrowheads="1"/>
          </p:cNvSpPr>
          <p:nvPr/>
        </p:nvSpPr>
        <p:spPr bwMode="auto">
          <a:xfrm>
            <a:off x="684213" y="4664075"/>
            <a:ext cx="8101012" cy="17684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000" b="1" u="sng">
                <a:solidFill>
                  <a:srgbClr val="0000FF"/>
                </a:solidFill>
                <a:latin typeface="Tahoma" panose="020B0604030504040204" pitchFamily="34" charset="0"/>
                <a:cs typeface="Tahoma" panose="020B0604030504040204" pitchFamily="34" charset="0"/>
              </a:rPr>
              <a:t>Pre-Steaming Bin</a:t>
            </a:r>
            <a:endParaRPr lang="th-TH" altLang="en-US" sz="2000" b="1" u="sng">
              <a:solidFill>
                <a:srgbClr val="0000FF"/>
              </a:solidFill>
              <a:latin typeface="Tahoma" panose="020B0604030504040204" pitchFamily="34" charset="0"/>
              <a:cs typeface="Tahoma" panose="020B0604030504040204" pitchFamily="34" charset="0"/>
            </a:endParaRPr>
          </a:p>
          <a:p>
            <a:pPr eaLnBrk="1" hangingPunct="1">
              <a:spcBef>
                <a:spcPct val="50000"/>
              </a:spcBef>
              <a:buFontTx/>
              <a:buAutoNum type="arabicPeriod"/>
            </a:pPr>
            <a:r>
              <a:rPr lang="th-TH" altLang="en-US" sz="2000" b="1">
                <a:solidFill>
                  <a:srgbClr val="0000FF"/>
                </a:solidFill>
                <a:latin typeface="Tahoma" panose="020B0604030504040204" pitchFamily="34" charset="0"/>
                <a:cs typeface="Tahoma" panose="020B0604030504040204" pitchFamily="34" charset="0"/>
              </a:rPr>
              <a:t>อุณหภูมิ (</a:t>
            </a:r>
            <a:r>
              <a:rPr lang="en-US" altLang="en-US" sz="2000" b="1">
                <a:solidFill>
                  <a:srgbClr val="0000FF"/>
                </a:solidFill>
                <a:latin typeface="Tahoma" panose="020B0604030504040204" pitchFamily="34" charset="0"/>
                <a:cs typeface="Tahoma" panose="020B0604030504040204" pitchFamily="34" charset="0"/>
              </a:rPr>
              <a:t>~</a:t>
            </a:r>
            <a:r>
              <a:rPr lang="th-TH" altLang="en-US" sz="2000" b="1">
                <a:solidFill>
                  <a:srgbClr val="0000FF"/>
                </a:solidFill>
                <a:latin typeface="Tahoma" panose="020B0604030504040204" pitchFamily="34" charset="0"/>
                <a:cs typeface="Tahoma" panose="020B0604030504040204" pitchFamily="34" charset="0"/>
              </a:rPr>
              <a:t>90-100 </a:t>
            </a:r>
            <a:r>
              <a:rPr lang="en-US" altLang="en-US" sz="2000" b="1">
                <a:solidFill>
                  <a:srgbClr val="0000FF"/>
                </a:solidFill>
                <a:latin typeface="Tahoma" panose="020B0604030504040204" pitchFamily="34" charset="0"/>
                <a:cs typeface="Tahoma" panose="020B0604030504040204" pitchFamily="34" charset="0"/>
              </a:rPr>
              <a:t>c)</a:t>
            </a:r>
            <a:endParaRPr lang="th-TH" altLang="en-US" sz="2000" b="1">
              <a:solidFill>
                <a:srgbClr val="0000FF"/>
              </a:solidFill>
              <a:latin typeface="Tahoma" panose="020B0604030504040204" pitchFamily="34" charset="0"/>
              <a:cs typeface="Tahoma" panose="020B0604030504040204" pitchFamily="34" charset="0"/>
            </a:endParaRPr>
          </a:p>
          <a:p>
            <a:pPr eaLnBrk="1" hangingPunct="1">
              <a:spcBef>
                <a:spcPct val="50000"/>
              </a:spcBef>
              <a:buFontTx/>
              <a:buAutoNum type="arabicPeriod"/>
            </a:pPr>
            <a:r>
              <a:rPr lang="th-TH" altLang="en-US" sz="2000" b="1">
                <a:solidFill>
                  <a:srgbClr val="0000FF"/>
                </a:solidFill>
                <a:latin typeface="Tahoma" panose="020B0604030504040204" pitchFamily="34" charset="0"/>
                <a:cs typeface="Tahoma" panose="020B0604030504040204" pitchFamily="34" charset="0"/>
              </a:rPr>
              <a:t>ระดับ </a:t>
            </a:r>
            <a:r>
              <a:rPr lang="en-US" altLang="en-US" sz="2000" b="1">
                <a:solidFill>
                  <a:srgbClr val="0000FF"/>
                </a:solidFill>
                <a:latin typeface="Tahoma" panose="020B0604030504040204" pitchFamily="34" charset="0"/>
                <a:cs typeface="Tahoma" panose="020B0604030504040204" pitchFamily="34" charset="0"/>
              </a:rPr>
              <a:t>(Level) </a:t>
            </a:r>
            <a:r>
              <a:rPr lang="th-TH" altLang="en-US" sz="2000" b="1">
                <a:solidFill>
                  <a:srgbClr val="0000FF"/>
                </a:solidFill>
                <a:latin typeface="Tahoma" panose="020B0604030504040204" pitchFamily="34" charset="0"/>
                <a:cs typeface="Tahoma" panose="020B0604030504040204" pitchFamily="34" charset="0"/>
              </a:rPr>
              <a:t>ของ </a:t>
            </a:r>
            <a:r>
              <a:rPr lang="en-US" altLang="en-US" sz="2000" b="1">
                <a:solidFill>
                  <a:srgbClr val="0000FF"/>
                </a:solidFill>
                <a:latin typeface="Tahoma" panose="020B0604030504040204" pitchFamily="34" charset="0"/>
                <a:cs typeface="Tahoma" panose="020B0604030504040204" pitchFamily="34" charset="0"/>
              </a:rPr>
              <a:t>Chips (&gt;50%)</a:t>
            </a:r>
          </a:p>
          <a:p>
            <a:pPr eaLnBrk="1" hangingPunct="1">
              <a:spcBef>
                <a:spcPct val="50000"/>
              </a:spcBef>
              <a:buFontTx/>
              <a:buAutoNum type="arabicPeriod"/>
            </a:pPr>
            <a:r>
              <a:rPr lang="th-TH" altLang="en-US" sz="2000" b="1">
                <a:solidFill>
                  <a:srgbClr val="0000FF"/>
                </a:solidFill>
                <a:latin typeface="Tahoma" panose="020B0604030504040204" pitchFamily="34" charset="0"/>
                <a:cs typeface="Tahoma" panose="020B0604030504040204" pitchFamily="34" charset="0"/>
              </a:rPr>
              <a:t>ความเร็วรอบของ </a:t>
            </a:r>
            <a:r>
              <a:rPr lang="en-US" altLang="en-US" sz="2000" b="1">
                <a:solidFill>
                  <a:srgbClr val="0000FF"/>
                </a:solidFill>
                <a:latin typeface="Tahoma" panose="020B0604030504040204" pitchFamily="34" charset="0"/>
                <a:cs typeface="Tahoma" panose="020B0604030504040204" pitchFamily="34" charset="0"/>
              </a:rPr>
              <a:t>Discharge Screw</a:t>
            </a:r>
            <a:endParaRPr lang="th-TH" altLang="en-US" sz="2000" b="1">
              <a:solidFill>
                <a:srgbClr val="0000FF"/>
              </a:solidFill>
              <a:latin typeface="Tahoma" panose="020B0604030504040204" pitchFamily="34" charset="0"/>
              <a:cs typeface="Tahoma" panose="020B0604030504040204" pitchFamily="34" charset="0"/>
            </a:endParaRPr>
          </a:p>
        </p:txBody>
      </p:sp>
      <p:pic>
        <p:nvPicPr>
          <p:cNvPr id="173059" name="Picture 3" descr="Chip Bin"/>
          <p:cNvPicPr>
            <a:picLocks noChangeAspect="1" noChangeArrowheads="1"/>
          </p:cNvPicPr>
          <p:nvPr/>
        </p:nvPicPr>
        <p:blipFill>
          <a:blip r:embed="rId3">
            <a:lum bright="30000" contrast="30000"/>
            <a:extLst>
              <a:ext uri="{28A0092B-C50C-407E-A947-70E740481C1C}">
                <a14:useLocalDpi xmlns:a14="http://schemas.microsoft.com/office/drawing/2010/main" val="0"/>
              </a:ext>
            </a:extLst>
          </a:blip>
          <a:srcRect/>
          <a:stretch>
            <a:fillRect/>
          </a:stretch>
        </p:blipFill>
        <p:spPr bwMode="auto">
          <a:xfrm>
            <a:off x="5364163" y="1412875"/>
            <a:ext cx="2430462" cy="324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3060" name="Text Box 4"/>
          <p:cNvSpPr txBox="1">
            <a:spLocks noChangeArrowheads="1"/>
          </p:cNvSpPr>
          <p:nvPr/>
        </p:nvSpPr>
        <p:spPr bwMode="auto">
          <a:xfrm>
            <a:off x="4103688" y="4652963"/>
            <a:ext cx="23399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000" b="1">
                <a:solidFill>
                  <a:srgbClr val="0000FF"/>
                </a:solidFill>
                <a:latin typeface="Arial" panose="020B0604020202020204" pitchFamily="34" charset="0"/>
                <a:cs typeface="Angsana New" panose="02020603050405020304" pitchFamily="18" charset="-34"/>
              </a:rPr>
              <a:t>Presteaming Bin</a:t>
            </a:r>
            <a:endParaRPr lang="th-TH" altLang="en-US" sz="2000" b="1">
              <a:solidFill>
                <a:srgbClr val="0000FF"/>
              </a:solidFill>
              <a:latin typeface="Arial" panose="020B0604020202020204" pitchFamily="34" charset="0"/>
              <a:cs typeface="Angsana New" panose="02020603050405020304" pitchFamily="18" charset="-34"/>
            </a:endParaRPr>
          </a:p>
        </p:txBody>
      </p:sp>
      <p:sp>
        <p:nvSpPr>
          <p:cNvPr id="173061" name="Oval 5"/>
          <p:cNvSpPr>
            <a:spLocks noChangeArrowheads="1"/>
          </p:cNvSpPr>
          <p:nvPr/>
        </p:nvSpPr>
        <p:spPr bwMode="auto">
          <a:xfrm>
            <a:off x="2879725" y="3862388"/>
            <a:ext cx="612775" cy="57626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3062" name="Oval 6"/>
          <p:cNvSpPr>
            <a:spLocks noChangeArrowheads="1"/>
          </p:cNvSpPr>
          <p:nvPr/>
        </p:nvSpPr>
        <p:spPr bwMode="auto">
          <a:xfrm>
            <a:off x="3563938" y="3862388"/>
            <a:ext cx="612775" cy="57626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3063" name="Line 7"/>
          <p:cNvSpPr>
            <a:spLocks noChangeShapeType="1"/>
          </p:cNvSpPr>
          <p:nvPr/>
        </p:nvSpPr>
        <p:spPr bwMode="auto">
          <a:xfrm flipV="1">
            <a:off x="2808288" y="1557338"/>
            <a:ext cx="323850" cy="2303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3064" name="Line 8"/>
          <p:cNvSpPr>
            <a:spLocks noChangeShapeType="1"/>
          </p:cNvSpPr>
          <p:nvPr/>
        </p:nvSpPr>
        <p:spPr bwMode="auto">
          <a:xfrm>
            <a:off x="3887788" y="1522413"/>
            <a:ext cx="360362" cy="23764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3065" name="Rectangle 9"/>
          <p:cNvSpPr>
            <a:spLocks noChangeArrowheads="1"/>
          </p:cNvSpPr>
          <p:nvPr/>
        </p:nvSpPr>
        <p:spPr bwMode="auto">
          <a:xfrm>
            <a:off x="2808288" y="3825875"/>
            <a:ext cx="1439862" cy="7191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3066" name="Line 10"/>
          <p:cNvSpPr>
            <a:spLocks noChangeShapeType="1"/>
          </p:cNvSpPr>
          <p:nvPr/>
        </p:nvSpPr>
        <p:spPr bwMode="auto">
          <a:xfrm>
            <a:off x="3455988" y="1557338"/>
            <a:ext cx="0" cy="971550"/>
          </a:xfrm>
          <a:prstGeom prst="line">
            <a:avLst/>
          </a:prstGeom>
          <a:noFill/>
          <a:ln w="127000">
            <a:solidFill>
              <a:srgbClr val="8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3067" name="Text Box 11"/>
          <p:cNvSpPr txBox="1">
            <a:spLocks noChangeArrowheads="1"/>
          </p:cNvSpPr>
          <p:nvPr/>
        </p:nvSpPr>
        <p:spPr bwMode="auto">
          <a:xfrm>
            <a:off x="3167063" y="1125538"/>
            <a:ext cx="11525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000" b="1">
                <a:solidFill>
                  <a:srgbClr val="800000"/>
                </a:solidFill>
                <a:latin typeface="Arial" panose="020B0604020202020204" pitchFamily="34" charset="0"/>
                <a:cs typeface="Angsana New" panose="02020603050405020304" pitchFamily="18" charset="-34"/>
              </a:rPr>
              <a:t>Chips</a:t>
            </a:r>
            <a:endParaRPr lang="th-TH" altLang="en-US" sz="2000" b="1">
              <a:solidFill>
                <a:srgbClr val="800000"/>
              </a:solidFill>
              <a:latin typeface="Arial" panose="020B0604020202020204" pitchFamily="34" charset="0"/>
              <a:cs typeface="Angsana New" panose="02020603050405020304" pitchFamily="18" charset="-34"/>
            </a:endParaRPr>
          </a:p>
        </p:txBody>
      </p:sp>
      <p:sp>
        <p:nvSpPr>
          <p:cNvPr id="173068" name="Line 12"/>
          <p:cNvSpPr>
            <a:spLocks noChangeShapeType="1"/>
          </p:cNvSpPr>
          <p:nvPr/>
        </p:nvSpPr>
        <p:spPr bwMode="auto">
          <a:xfrm>
            <a:off x="1943100" y="3392488"/>
            <a:ext cx="158432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3069" name="Text Box 13"/>
          <p:cNvSpPr txBox="1">
            <a:spLocks noChangeArrowheads="1"/>
          </p:cNvSpPr>
          <p:nvPr/>
        </p:nvSpPr>
        <p:spPr bwMode="auto">
          <a:xfrm>
            <a:off x="1042988" y="2538413"/>
            <a:ext cx="2160587"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000">
                <a:latin typeface="Tahoma" panose="020B0604030504040204" pitchFamily="34" charset="0"/>
                <a:cs typeface="Tahoma" panose="020B0604030504040204" pitchFamily="34" charset="0"/>
              </a:rPr>
              <a:t>Steam</a:t>
            </a:r>
          </a:p>
          <a:p>
            <a:pPr eaLnBrk="1" hangingPunct="1">
              <a:spcBef>
                <a:spcPct val="50000"/>
              </a:spcBef>
              <a:buFontTx/>
              <a:buNone/>
            </a:pPr>
            <a:r>
              <a:rPr lang="th-TH" altLang="en-US" sz="2000">
                <a:latin typeface="Tahoma" panose="020B0604030504040204" pitchFamily="34" charset="0"/>
                <a:cs typeface="Tahoma" panose="020B0604030504040204" pitchFamily="34" charset="0"/>
              </a:rPr>
              <a:t>(ใช้แรงดันต่ำได้)</a:t>
            </a:r>
          </a:p>
        </p:txBody>
      </p:sp>
      <p:sp>
        <p:nvSpPr>
          <p:cNvPr id="173070" name="Freeform 14"/>
          <p:cNvSpPr>
            <a:spLocks/>
          </p:cNvSpPr>
          <p:nvPr/>
        </p:nvSpPr>
        <p:spPr bwMode="auto">
          <a:xfrm>
            <a:off x="3719513" y="1397000"/>
            <a:ext cx="336550" cy="1814513"/>
          </a:xfrm>
          <a:custGeom>
            <a:avLst/>
            <a:gdLst>
              <a:gd name="T0" fmla="*/ 2147483646 w 212"/>
              <a:gd name="T1" fmla="*/ 2147483646 h 1143"/>
              <a:gd name="T2" fmla="*/ 2147483646 w 212"/>
              <a:gd name="T3" fmla="*/ 2147483646 h 1143"/>
              <a:gd name="T4" fmla="*/ 2147483646 w 212"/>
              <a:gd name="T5" fmla="*/ 2147483646 h 1143"/>
              <a:gd name="T6" fmla="*/ 2147483646 w 212"/>
              <a:gd name="T7" fmla="*/ 2147483646 h 1143"/>
              <a:gd name="T8" fmla="*/ 2147483646 w 212"/>
              <a:gd name="T9" fmla="*/ 2147483646 h 1143"/>
              <a:gd name="T10" fmla="*/ 2147483646 w 212"/>
              <a:gd name="T11" fmla="*/ 2147483646 h 1143"/>
              <a:gd name="T12" fmla="*/ 2147483646 w 212"/>
              <a:gd name="T13" fmla="*/ 2147483646 h 1143"/>
              <a:gd name="T14" fmla="*/ 2147483646 w 212"/>
              <a:gd name="T15" fmla="*/ 2147483646 h 1143"/>
              <a:gd name="T16" fmla="*/ 2147483646 w 212"/>
              <a:gd name="T17" fmla="*/ 2147483646 h 1143"/>
              <a:gd name="T18" fmla="*/ 2147483646 w 212"/>
              <a:gd name="T19" fmla="*/ 2147483646 h 1143"/>
              <a:gd name="T20" fmla="*/ 2147483646 w 212"/>
              <a:gd name="T21" fmla="*/ 2147483646 h 1143"/>
              <a:gd name="T22" fmla="*/ 2147483646 w 212"/>
              <a:gd name="T23" fmla="*/ 2147483646 h 1143"/>
              <a:gd name="T24" fmla="*/ 2147483646 w 212"/>
              <a:gd name="T25" fmla="*/ 2147483646 h 1143"/>
              <a:gd name="T26" fmla="*/ 2147483646 w 212"/>
              <a:gd name="T27" fmla="*/ 2147483646 h 1143"/>
              <a:gd name="T28" fmla="*/ 2147483646 w 212"/>
              <a:gd name="T29" fmla="*/ 0 h 11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212" h="1143">
                <a:moveTo>
                  <a:pt x="30" y="1143"/>
                </a:moveTo>
                <a:cubicBezTo>
                  <a:pt x="43" y="1103"/>
                  <a:pt x="30" y="1089"/>
                  <a:pt x="11" y="1052"/>
                </a:cubicBezTo>
                <a:cubicBezTo>
                  <a:pt x="0" y="1007"/>
                  <a:pt x="4" y="989"/>
                  <a:pt x="30" y="951"/>
                </a:cubicBezTo>
                <a:cubicBezTo>
                  <a:pt x="43" y="911"/>
                  <a:pt x="62" y="911"/>
                  <a:pt x="48" y="869"/>
                </a:cubicBezTo>
                <a:cubicBezTo>
                  <a:pt x="34" y="771"/>
                  <a:pt x="61" y="674"/>
                  <a:pt x="30" y="576"/>
                </a:cubicBezTo>
                <a:cubicBezTo>
                  <a:pt x="44" y="503"/>
                  <a:pt x="58" y="433"/>
                  <a:pt x="11" y="366"/>
                </a:cubicBezTo>
                <a:cubicBezTo>
                  <a:pt x="14" y="357"/>
                  <a:pt x="11" y="341"/>
                  <a:pt x="20" y="338"/>
                </a:cubicBezTo>
                <a:cubicBezTo>
                  <a:pt x="29" y="335"/>
                  <a:pt x="32" y="362"/>
                  <a:pt x="39" y="357"/>
                </a:cubicBezTo>
                <a:cubicBezTo>
                  <a:pt x="57" y="345"/>
                  <a:pt x="75" y="302"/>
                  <a:pt x="75" y="302"/>
                </a:cubicBezTo>
                <a:cubicBezTo>
                  <a:pt x="69" y="290"/>
                  <a:pt x="64" y="277"/>
                  <a:pt x="57" y="265"/>
                </a:cubicBezTo>
                <a:cubicBezTo>
                  <a:pt x="52" y="256"/>
                  <a:pt x="41" y="249"/>
                  <a:pt x="39" y="238"/>
                </a:cubicBezTo>
                <a:cubicBezTo>
                  <a:pt x="37" y="227"/>
                  <a:pt x="64" y="178"/>
                  <a:pt x="66" y="174"/>
                </a:cubicBezTo>
                <a:cubicBezTo>
                  <a:pt x="79" y="119"/>
                  <a:pt x="117" y="77"/>
                  <a:pt x="158" y="37"/>
                </a:cubicBezTo>
                <a:cubicBezTo>
                  <a:pt x="168" y="28"/>
                  <a:pt x="183" y="26"/>
                  <a:pt x="194" y="18"/>
                </a:cubicBezTo>
                <a:cubicBezTo>
                  <a:pt x="201" y="13"/>
                  <a:pt x="206" y="6"/>
                  <a:pt x="212" y="0"/>
                </a:cubicBezTo>
              </a:path>
            </a:pathLst>
          </a:custGeom>
          <a:noFill/>
          <a:ln w="9525" cap="flat">
            <a:solidFill>
              <a:schemeClr val="tx1"/>
            </a:solidFill>
            <a:prstDash val="dash"/>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3071" name="Freeform 15"/>
          <p:cNvSpPr>
            <a:spLocks/>
          </p:cNvSpPr>
          <p:nvPr/>
        </p:nvSpPr>
        <p:spPr bwMode="auto">
          <a:xfrm>
            <a:off x="3059113" y="1304925"/>
            <a:ext cx="227012" cy="1863725"/>
          </a:xfrm>
          <a:custGeom>
            <a:avLst/>
            <a:gdLst>
              <a:gd name="T0" fmla="*/ 2147483646 w 109"/>
              <a:gd name="T1" fmla="*/ 2147483646 h 1099"/>
              <a:gd name="T2" fmla="*/ 2147483646 w 109"/>
              <a:gd name="T3" fmla="*/ 2147483646 h 1099"/>
              <a:gd name="T4" fmla="*/ 2147483646 w 109"/>
              <a:gd name="T5" fmla="*/ 2147483646 h 1099"/>
              <a:gd name="T6" fmla="*/ 2147483646 w 109"/>
              <a:gd name="T7" fmla="*/ 2147483646 h 1099"/>
              <a:gd name="T8" fmla="*/ 2147483646 w 109"/>
              <a:gd name="T9" fmla="*/ 2147483646 h 1099"/>
              <a:gd name="T10" fmla="*/ 2147483646 w 109"/>
              <a:gd name="T11" fmla="*/ 2147483646 h 1099"/>
              <a:gd name="T12" fmla="*/ 2147483646 w 109"/>
              <a:gd name="T13" fmla="*/ 2147483646 h 1099"/>
              <a:gd name="T14" fmla="*/ 0 w 109"/>
              <a:gd name="T15" fmla="*/ 2147483646 h 109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9" h="1099">
                <a:moveTo>
                  <a:pt x="82" y="1099"/>
                </a:moveTo>
                <a:cubicBezTo>
                  <a:pt x="91" y="1072"/>
                  <a:pt x="109" y="978"/>
                  <a:pt x="55" y="1035"/>
                </a:cubicBezTo>
                <a:cubicBezTo>
                  <a:pt x="43" y="1032"/>
                  <a:pt x="21" y="1037"/>
                  <a:pt x="18" y="1025"/>
                </a:cubicBezTo>
                <a:cubicBezTo>
                  <a:pt x="5" y="974"/>
                  <a:pt x="38" y="868"/>
                  <a:pt x="55" y="815"/>
                </a:cubicBezTo>
                <a:cubicBezTo>
                  <a:pt x="58" y="669"/>
                  <a:pt x="43" y="386"/>
                  <a:pt x="101" y="212"/>
                </a:cubicBezTo>
                <a:cubicBezTo>
                  <a:pt x="95" y="163"/>
                  <a:pt x="95" y="113"/>
                  <a:pt x="82" y="65"/>
                </a:cubicBezTo>
                <a:cubicBezTo>
                  <a:pt x="79" y="55"/>
                  <a:pt x="62" y="55"/>
                  <a:pt x="55" y="47"/>
                </a:cubicBezTo>
                <a:cubicBezTo>
                  <a:pt x="16" y="0"/>
                  <a:pt x="65" y="11"/>
                  <a:pt x="0" y="11"/>
                </a:cubicBezTo>
              </a:path>
            </a:pathLst>
          </a:custGeom>
          <a:noFill/>
          <a:ln w="9525" cap="flat">
            <a:solidFill>
              <a:schemeClr val="tx1"/>
            </a:solidFill>
            <a:prstDash val="dash"/>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3072" name="Rectangle 16"/>
          <p:cNvSpPr>
            <a:spLocks noGrp="1" noChangeArrowheads="1"/>
          </p:cNvSpPr>
          <p:nvPr>
            <p:ph type="title"/>
          </p:nvPr>
        </p:nvSpPr>
        <p:spPr>
          <a:xfrm>
            <a:off x="157163" y="80963"/>
            <a:ext cx="9036050" cy="561975"/>
          </a:xfrm>
          <a:noFill/>
        </p:spPr>
        <p:txBody>
          <a:bodyPr/>
          <a:lstStyle/>
          <a:p>
            <a:pPr algn="l" eaLnBrk="1" hangingPunct="1"/>
            <a:r>
              <a:rPr lang="en-US" altLang="en-US" sz="3200" b="1" smtClean="0">
                <a:solidFill>
                  <a:srgbClr val="FF0000"/>
                </a:solidFill>
                <a:latin typeface="Tahoma" panose="020B0604030504040204" pitchFamily="34" charset="0"/>
              </a:rPr>
              <a:t>SCP – Partial Digestion</a:t>
            </a:r>
            <a:endParaRPr lang="th-TH" altLang="en-US" sz="3200" b="1" smtClean="0">
              <a:solidFill>
                <a:srgbClr val="FF0000"/>
              </a:solidFill>
              <a:latin typeface="Tahoma" panose="020B0604030504040204" pitchFamily="34" charset="0"/>
            </a:endParaRPr>
          </a:p>
        </p:txBody>
      </p:sp>
      <p:sp>
        <p:nvSpPr>
          <p:cNvPr id="173073" name="Rectangle 17"/>
          <p:cNvSpPr>
            <a:spLocks noChangeArrowheads="1"/>
          </p:cNvSpPr>
          <p:nvPr/>
        </p:nvSpPr>
        <p:spPr bwMode="auto">
          <a:xfrm>
            <a:off x="684213" y="657225"/>
            <a:ext cx="7883525" cy="576263"/>
          </a:xfrm>
          <a:prstGeom prst="rect">
            <a:avLst/>
          </a:prstGeom>
          <a:noFill/>
          <a:ln>
            <a:noFill/>
          </a:ln>
          <a:effectLst/>
          <a:extLst>
            <a:ext uri="{909E8E84-426E-40DD-AFC4-6F175D3DCCD1}">
              <a14:hiddenFill xmlns:a14="http://schemas.microsoft.com/office/drawing/2010/main">
                <a:solidFill>
                  <a:srgbClr val="00008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400" b="1" u="sng">
                <a:solidFill>
                  <a:srgbClr val="0000FF"/>
                </a:solidFill>
                <a:latin typeface="Tahoma" panose="020B0604030504040204" pitchFamily="34" charset="0"/>
                <a:cs typeface="Tahoma" panose="020B0604030504040204" pitchFamily="34" charset="0"/>
              </a:rPr>
              <a:t>Pre-steaming</a:t>
            </a:r>
            <a:r>
              <a:rPr lang="th-TH" altLang="en-US" sz="2400" b="1" u="sng">
                <a:solidFill>
                  <a:srgbClr val="0000FF"/>
                </a:solidFill>
                <a:latin typeface="Tahoma" panose="020B0604030504040204" pitchFamily="34" charset="0"/>
                <a:cs typeface="Tahoma" panose="020B0604030504040204" pitchFamily="34" charset="0"/>
              </a:rPr>
              <a:t> (อุ่น </a:t>
            </a:r>
            <a:r>
              <a:rPr lang="en-US" altLang="en-US" sz="2400" b="1" u="sng">
                <a:solidFill>
                  <a:srgbClr val="0000FF"/>
                </a:solidFill>
                <a:latin typeface="Tahoma" panose="020B0604030504040204" pitchFamily="34" charset="0"/>
                <a:cs typeface="Tahoma" panose="020B0604030504040204" pitchFamily="34" charset="0"/>
              </a:rPr>
              <a:t>+ </a:t>
            </a:r>
            <a:r>
              <a:rPr lang="th-TH" altLang="en-US" sz="2400" b="1" u="sng">
                <a:solidFill>
                  <a:srgbClr val="0000FF"/>
                </a:solidFill>
                <a:latin typeface="Tahoma" panose="020B0604030504040204" pitchFamily="34" charset="0"/>
                <a:cs typeface="Tahoma" panose="020B0604030504040204" pitchFamily="34" charset="0"/>
              </a:rPr>
              <a:t>ไล่อากาศออกจาก </a:t>
            </a:r>
            <a:r>
              <a:rPr lang="en-US" altLang="en-US" sz="2400" b="1" u="sng">
                <a:solidFill>
                  <a:srgbClr val="0000FF"/>
                </a:solidFill>
                <a:latin typeface="Tahoma" panose="020B0604030504040204" pitchFamily="34" charset="0"/>
                <a:cs typeface="Tahoma" panose="020B0604030504040204" pitchFamily="34" charset="0"/>
              </a:rPr>
              <a:t>Chips)</a:t>
            </a:r>
            <a:endParaRPr lang="th-TH" altLang="en-US" sz="2400" b="1" u="sng">
              <a:solidFill>
                <a:srgbClr val="0000FF"/>
              </a:solidFill>
              <a:latin typeface="Tahoma" panose="020B0604030504040204" pitchFamily="34" charset="0"/>
              <a:cs typeface="Tahoma" panose="020B0604030504040204" pitchFamily="34" charset="0"/>
            </a:endParaRPr>
          </a:p>
        </p:txBody>
      </p:sp>
    </p:spTree>
  </p:cSld>
  <p:clrMapOvr>
    <a:masterClrMapping/>
  </p:clrMapOvr>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5106" name="Picture 2" descr="Drawing-005#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0325" y="2763838"/>
            <a:ext cx="2628900" cy="106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5107" name="Picture 3" descr="Drawing-008#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37000" y="547688"/>
            <a:ext cx="1751013" cy="349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612" name="Text Box 4"/>
          <p:cNvSpPr txBox="1">
            <a:spLocks noChangeArrowheads="1"/>
          </p:cNvSpPr>
          <p:nvPr/>
        </p:nvSpPr>
        <p:spPr bwMode="auto">
          <a:xfrm>
            <a:off x="1835150" y="2097088"/>
            <a:ext cx="20875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000" b="1">
                <a:solidFill>
                  <a:srgbClr val="800000"/>
                </a:solidFill>
                <a:latin typeface="Arial" panose="020B0604020202020204" pitchFamily="34" charset="0"/>
                <a:cs typeface="Angsana New" panose="02020603050405020304" pitchFamily="18" charset="-34"/>
              </a:rPr>
              <a:t>Chips</a:t>
            </a:r>
            <a:endParaRPr lang="th-TH" altLang="en-US" sz="2000" b="1">
              <a:solidFill>
                <a:srgbClr val="800000"/>
              </a:solidFill>
              <a:latin typeface="Arial" panose="020B0604020202020204" pitchFamily="34" charset="0"/>
              <a:cs typeface="Angsana New" panose="02020603050405020304" pitchFamily="18" charset="-34"/>
            </a:endParaRPr>
          </a:p>
        </p:txBody>
      </p:sp>
      <p:sp>
        <p:nvSpPr>
          <p:cNvPr id="68613" name="Line 5"/>
          <p:cNvSpPr>
            <a:spLocks noChangeShapeType="1"/>
          </p:cNvSpPr>
          <p:nvPr/>
        </p:nvSpPr>
        <p:spPr bwMode="auto">
          <a:xfrm>
            <a:off x="2627313" y="2522538"/>
            <a:ext cx="0" cy="576262"/>
          </a:xfrm>
          <a:prstGeom prst="line">
            <a:avLst/>
          </a:prstGeom>
          <a:noFill/>
          <a:ln w="63500">
            <a:solidFill>
              <a:srgbClr val="8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8614" name="Line 6"/>
          <p:cNvSpPr>
            <a:spLocks noChangeShapeType="1"/>
          </p:cNvSpPr>
          <p:nvPr/>
        </p:nvSpPr>
        <p:spPr bwMode="auto">
          <a:xfrm flipV="1">
            <a:off x="2627313" y="3248025"/>
            <a:ext cx="1620837" cy="0"/>
          </a:xfrm>
          <a:prstGeom prst="line">
            <a:avLst/>
          </a:prstGeom>
          <a:noFill/>
          <a:ln w="63500">
            <a:solidFill>
              <a:srgbClr val="8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8615" name="Line 7"/>
          <p:cNvSpPr>
            <a:spLocks noChangeShapeType="1"/>
          </p:cNvSpPr>
          <p:nvPr/>
        </p:nvSpPr>
        <p:spPr bwMode="auto">
          <a:xfrm flipV="1">
            <a:off x="4464050" y="1736725"/>
            <a:ext cx="0" cy="1620838"/>
          </a:xfrm>
          <a:prstGeom prst="line">
            <a:avLst/>
          </a:prstGeom>
          <a:noFill/>
          <a:ln w="63500">
            <a:solidFill>
              <a:srgbClr val="8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8616" name="Freeform 8"/>
          <p:cNvSpPr>
            <a:spLocks/>
          </p:cNvSpPr>
          <p:nvPr/>
        </p:nvSpPr>
        <p:spPr bwMode="auto">
          <a:xfrm>
            <a:off x="4464050" y="1411288"/>
            <a:ext cx="358775" cy="252412"/>
          </a:xfrm>
          <a:custGeom>
            <a:avLst/>
            <a:gdLst>
              <a:gd name="T0" fmla="*/ 2147483646 w 267"/>
              <a:gd name="T1" fmla="*/ 2147483646 h 156"/>
              <a:gd name="T2" fmla="*/ 2147483646 w 267"/>
              <a:gd name="T3" fmla="*/ 2147483646 h 156"/>
              <a:gd name="T4" fmla="*/ 2147483646 w 267"/>
              <a:gd name="T5" fmla="*/ 0 h 156"/>
              <a:gd name="T6" fmla="*/ 2147483646 w 267"/>
              <a:gd name="T7" fmla="*/ 2147483646 h 156"/>
              <a:gd name="T8" fmla="*/ 2147483646 w 267"/>
              <a:gd name="T9" fmla="*/ 2147483646 h 156"/>
              <a:gd name="T10" fmla="*/ 2147483646 w 267"/>
              <a:gd name="T11" fmla="*/ 2147483646 h 156"/>
              <a:gd name="T12" fmla="*/ 2147483646 w 267"/>
              <a:gd name="T13" fmla="*/ 2147483646 h 15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67" h="156">
                <a:moveTo>
                  <a:pt x="1" y="156"/>
                </a:moveTo>
                <a:cubicBezTo>
                  <a:pt x="4" y="135"/>
                  <a:pt x="0" y="47"/>
                  <a:pt x="37" y="24"/>
                </a:cubicBezTo>
                <a:cubicBezTo>
                  <a:pt x="58" y="11"/>
                  <a:pt x="109" y="0"/>
                  <a:pt x="109" y="0"/>
                </a:cubicBezTo>
                <a:cubicBezTo>
                  <a:pt x="157" y="12"/>
                  <a:pt x="188" y="21"/>
                  <a:pt x="229" y="48"/>
                </a:cubicBezTo>
                <a:cubicBezTo>
                  <a:pt x="233" y="60"/>
                  <a:pt x="235" y="73"/>
                  <a:pt x="241" y="84"/>
                </a:cubicBezTo>
                <a:cubicBezTo>
                  <a:pt x="247" y="97"/>
                  <a:pt x="263" y="106"/>
                  <a:pt x="265" y="120"/>
                </a:cubicBezTo>
                <a:cubicBezTo>
                  <a:pt x="267" y="132"/>
                  <a:pt x="253" y="156"/>
                  <a:pt x="253" y="156"/>
                </a:cubicBezTo>
              </a:path>
            </a:pathLst>
          </a:custGeom>
          <a:noFill/>
          <a:ln w="63500">
            <a:solidFill>
              <a:srgbClr val="800000"/>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8617" name="Line 9"/>
          <p:cNvSpPr>
            <a:spLocks noChangeShapeType="1"/>
          </p:cNvSpPr>
          <p:nvPr/>
        </p:nvSpPr>
        <p:spPr bwMode="auto">
          <a:xfrm>
            <a:off x="4787900" y="2132013"/>
            <a:ext cx="0" cy="1476375"/>
          </a:xfrm>
          <a:prstGeom prst="line">
            <a:avLst/>
          </a:prstGeom>
          <a:noFill/>
          <a:ln w="63500">
            <a:solidFill>
              <a:srgbClr val="8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8618" name="Line 10"/>
          <p:cNvSpPr>
            <a:spLocks noChangeShapeType="1"/>
          </p:cNvSpPr>
          <p:nvPr/>
        </p:nvSpPr>
        <p:spPr bwMode="auto">
          <a:xfrm flipV="1">
            <a:off x="3706813" y="3248025"/>
            <a:ext cx="541337" cy="468313"/>
          </a:xfrm>
          <a:prstGeom prst="line">
            <a:avLst/>
          </a:prstGeom>
          <a:noFill/>
          <a:ln w="63500">
            <a:solidFill>
              <a:srgbClr val="3399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8619" name="Text Box 11"/>
          <p:cNvSpPr txBox="1">
            <a:spLocks noChangeArrowheads="1"/>
          </p:cNvSpPr>
          <p:nvPr/>
        </p:nvSpPr>
        <p:spPr bwMode="auto">
          <a:xfrm>
            <a:off x="2159000" y="3643313"/>
            <a:ext cx="20875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000" b="1">
                <a:solidFill>
                  <a:srgbClr val="008000"/>
                </a:solidFill>
                <a:latin typeface="Arial" panose="020B0604020202020204" pitchFamily="34" charset="0"/>
                <a:cs typeface="Angsana New" panose="02020603050405020304" pitchFamily="18" charset="-34"/>
              </a:rPr>
              <a:t>Green Liquor</a:t>
            </a:r>
            <a:endParaRPr lang="th-TH" altLang="en-US" sz="2000" b="1">
              <a:solidFill>
                <a:srgbClr val="008000"/>
              </a:solidFill>
              <a:latin typeface="Arial" panose="020B0604020202020204" pitchFamily="34" charset="0"/>
              <a:cs typeface="Angsana New" panose="02020603050405020304" pitchFamily="18" charset="-34"/>
            </a:endParaRPr>
          </a:p>
        </p:txBody>
      </p:sp>
      <p:pic>
        <p:nvPicPr>
          <p:cNvPr id="175116" name="Picture 12" descr="Digester"/>
          <p:cNvPicPr>
            <a:picLocks noChangeAspect="1" noChangeArrowheads="1"/>
          </p:cNvPicPr>
          <p:nvPr/>
        </p:nvPicPr>
        <p:blipFill>
          <a:blip r:embed="rId5">
            <a:lum bright="-18000" contrast="24000"/>
            <a:extLst>
              <a:ext uri="{28A0092B-C50C-407E-A947-70E740481C1C}">
                <a14:useLocalDpi xmlns:a14="http://schemas.microsoft.com/office/drawing/2010/main" val="0"/>
              </a:ext>
            </a:extLst>
          </a:blip>
          <a:srcRect/>
          <a:stretch>
            <a:fillRect/>
          </a:stretch>
        </p:blipFill>
        <p:spPr bwMode="auto">
          <a:xfrm>
            <a:off x="-36513" y="4040188"/>
            <a:ext cx="5653088"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5117" name="Picture 13" descr="Digester#2"/>
          <p:cNvPicPr>
            <a:picLocks noChangeAspect="1" noChangeArrowheads="1"/>
          </p:cNvPicPr>
          <p:nvPr/>
        </p:nvPicPr>
        <p:blipFill>
          <a:blip r:embed="rId6">
            <a:lum bright="-12000" contrast="12000"/>
            <a:extLst>
              <a:ext uri="{28A0092B-C50C-407E-A947-70E740481C1C}">
                <a14:useLocalDpi xmlns:a14="http://schemas.microsoft.com/office/drawing/2010/main" val="0"/>
              </a:ext>
            </a:extLst>
          </a:blip>
          <a:srcRect/>
          <a:stretch>
            <a:fillRect/>
          </a:stretch>
        </p:blipFill>
        <p:spPr bwMode="auto">
          <a:xfrm>
            <a:off x="215900" y="5156200"/>
            <a:ext cx="5759450"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622" name="Line 14"/>
          <p:cNvSpPr>
            <a:spLocks noChangeShapeType="1"/>
          </p:cNvSpPr>
          <p:nvPr/>
        </p:nvSpPr>
        <p:spPr bwMode="auto">
          <a:xfrm flipH="1">
            <a:off x="1906588" y="4543425"/>
            <a:ext cx="2700337" cy="0"/>
          </a:xfrm>
          <a:prstGeom prst="line">
            <a:avLst/>
          </a:prstGeom>
          <a:noFill/>
          <a:ln w="63500">
            <a:solidFill>
              <a:srgbClr val="8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8623" name="Line 15"/>
          <p:cNvSpPr>
            <a:spLocks noChangeShapeType="1"/>
          </p:cNvSpPr>
          <p:nvPr/>
        </p:nvSpPr>
        <p:spPr bwMode="auto">
          <a:xfrm>
            <a:off x="1187450" y="4795838"/>
            <a:ext cx="0" cy="936625"/>
          </a:xfrm>
          <a:prstGeom prst="line">
            <a:avLst/>
          </a:prstGeom>
          <a:noFill/>
          <a:ln w="63500">
            <a:solidFill>
              <a:srgbClr val="8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8624" name="Line 16"/>
          <p:cNvSpPr>
            <a:spLocks noChangeShapeType="1"/>
          </p:cNvSpPr>
          <p:nvPr/>
        </p:nvSpPr>
        <p:spPr bwMode="auto">
          <a:xfrm>
            <a:off x="1403350" y="5767388"/>
            <a:ext cx="2987675" cy="0"/>
          </a:xfrm>
          <a:prstGeom prst="line">
            <a:avLst/>
          </a:prstGeom>
          <a:noFill/>
          <a:ln w="63500">
            <a:solidFill>
              <a:srgbClr val="8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8625" name="Line 17"/>
          <p:cNvSpPr>
            <a:spLocks noChangeShapeType="1"/>
          </p:cNvSpPr>
          <p:nvPr/>
        </p:nvSpPr>
        <p:spPr bwMode="auto">
          <a:xfrm flipH="1">
            <a:off x="4787900" y="5876925"/>
            <a:ext cx="0" cy="790575"/>
          </a:xfrm>
          <a:prstGeom prst="line">
            <a:avLst/>
          </a:prstGeom>
          <a:noFill/>
          <a:ln w="63500">
            <a:solidFill>
              <a:srgbClr val="8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8626" name="Text Box 18"/>
          <p:cNvSpPr txBox="1">
            <a:spLocks noChangeArrowheads="1"/>
          </p:cNvSpPr>
          <p:nvPr/>
        </p:nvSpPr>
        <p:spPr bwMode="auto">
          <a:xfrm>
            <a:off x="5003800" y="6380163"/>
            <a:ext cx="2087563" cy="396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000" b="1">
                <a:solidFill>
                  <a:srgbClr val="800000"/>
                </a:solidFill>
                <a:latin typeface="Arial" panose="020B0604020202020204" pitchFamily="34" charset="0"/>
                <a:cs typeface="Angsana New" panose="02020603050405020304" pitchFamily="18" charset="-34"/>
              </a:rPr>
              <a:t>Softened Chips</a:t>
            </a:r>
            <a:endParaRPr lang="th-TH" altLang="en-US" sz="2000" b="1">
              <a:solidFill>
                <a:srgbClr val="800000"/>
              </a:solidFill>
              <a:latin typeface="Arial" panose="020B0604020202020204" pitchFamily="34" charset="0"/>
              <a:cs typeface="Angsana New" panose="02020603050405020304" pitchFamily="18" charset="-34"/>
            </a:endParaRPr>
          </a:p>
        </p:txBody>
      </p:sp>
      <p:sp>
        <p:nvSpPr>
          <p:cNvPr id="68627" name="Text Box 19"/>
          <p:cNvSpPr txBox="1">
            <a:spLocks noChangeArrowheads="1"/>
          </p:cNvSpPr>
          <p:nvPr/>
        </p:nvSpPr>
        <p:spPr bwMode="auto">
          <a:xfrm>
            <a:off x="6011863" y="944563"/>
            <a:ext cx="3132137" cy="160972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70000"/>
              </a:lnSpc>
              <a:spcBef>
                <a:spcPct val="50000"/>
              </a:spcBef>
              <a:buFontTx/>
              <a:buNone/>
            </a:pPr>
            <a:r>
              <a:rPr lang="en-US" altLang="en-US" sz="1600" b="1" u="sng">
                <a:solidFill>
                  <a:srgbClr val="0000FF"/>
                </a:solidFill>
                <a:latin typeface="Tahoma" panose="020B0604030504040204" pitchFamily="34" charset="0"/>
                <a:cs typeface="Tahoma" panose="020B0604030504040204" pitchFamily="34" charset="0"/>
              </a:rPr>
              <a:t>Impregnator Condition</a:t>
            </a:r>
            <a:endParaRPr lang="th-TH" altLang="en-US" sz="1600" b="1" u="sng">
              <a:solidFill>
                <a:srgbClr val="0000FF"/>
              </a:solidFill>
              <a:latin typeface="Tahoma" panose="020B0604030504040204" pitchFamily="34" charset="0"/>
              <a:cs typeface="Tahoma" panose="020B0604030504040204" pitchFamily="34" charset="0"/>
            </a:endParaRPr>
          </a:p>
          <a:p>
            <a:pPr eaLnBrk="1" hangingPunct="1">
              <a:lnSpc>
                <a:spcPct val="70000"/>
              </a:lnSpc>
              <a:spcBef>
                <a:spcPct val="50000"/>
              </a:spcBef>
              <a:buFontTx/>
              <a:buAutoNum type="arabicPeriod"/>
            </a:pPr>
            <a:r>
              <a:rPr lang="th-TH" altLang="en-US" sz="1600" b="1">
                <a:solidFill>
                  <a:srgbClr val="0000FF"/>
                </a:solidFill>
                <a:latin typeface="Tahoma" panose="020B0604030504040204" pitchFamily="34" charset="0"/>
                <a:cs typeface="Tahoma" panose="020B0604030504040204" pitchFamily="34" charset="0"/>
              </a:rPr>
              <a:t>อุณหภูมิ</a:t>
            </a:r>
            <a:r>
              <a:rPr lang="en-US" altLang="en-US" sz="1600" b="1">
                <a:solidFill>
                  <a:srgbClr val="0000FF"/>
                </a:solidFill>
                <a:latin typeface="Tahoma" panose="020B0604030504040204" pitchFamily="34" charset="0"/>
                <a:cs typeface="Tahoma" panose="020B0604030504040204" pitchFamily="34" charset="0"/>
              </a:rPr>
              <a:t> (175c)</a:t>
            </a:r>
            <a:endParaRPr lang="th-TH" altLang="en-US" sz="1600" b="1">
              <a:solidFill>
                <a:srgbClr val="0000FF"/>
              </a:solidFill>
              <a:latin typeface="Tahoma" panose="020B0604030504040204" pitchFamily="34" charset="0"/>
              <a:cs typeface="Tahoma" panose="020B0604030504040204" pitchFamily="34" charset="0"/>
            </a:endParaRPr>
          </a:p>
          <a:p>
            <a:pPr eaLnBrk="1" hangingPunct="1">
              <a:lnSpc>
                <a:spcPct val="70000"/>
              </a:lnSpc>
              <a:spcBef>
                <a:spcPct val="50000"/>
              </a:spcBef>
              <a:buFontTx/>
              <a:buAutoNum type="arabicPeriod"/>
            </a:pPr>
            <a:r>
              <a:rPr lang="th-TH" altLang="en-US" sz="1600" b="1">
                <a:solidFill>
                  <a:srgbClr val="0000FF"/>
                </a:solidFill>
                <a:latin typeface="Tahoma" panose="020B0604030504040204" pitchFamily="34" charset="0"/>
                <a:cs typeface="Tahoma" panose="020B0604030504040204" pitchFamily="34" charset="0"/>
              </a:rPr>
              <a:t>เวลา </a:t>
            </a:r>
            <a:r>
              <a:rPr lang="en-US" altLang="en-US" sz="1600" b="1">
                <a:solidFill>
                  <a:srgbClr val="0000FF"/>
                </a:solidFill>
                <a:latin typeface="Tahoma" panose="020B0604030504040204" pitchFamily="34" charset="0"/>
                <a:cs typeface="Tahoma" panose="020B0604030504040204" pitchFamily="34" charset="0"/>
              </a:rPr>
              <a:t>(~30 sec)</a:t>
            </a:r>
            <a:endParaRPr lang="th-TH" altLang="en-US" sz="1600" b="1">
              <a:solidFill>
                <a:srgbClr val="0000FF"/>
              </a:solidFill>
              <a:latin typeface="Tahoma" panose="020B0604030504040204" pitchFamily="34" charset="0"/>
              <a:cs typeface="Tahoma" panose="020B0604030504040204" pitchFamily="34" charset="0"/>
            </a:endParaRPr>
          </a:p>
          <a:p>
            <a:pPr eaLnBrk="1" hangingPunct="1">
              <a:lnSpc>
                <a:spcPct val="70000"/>
              </a:lnSpc>
              <a:spcBef>
                <a:spcPct val="50000"/>
              </a:spcBef>
              <a:buFontTx/>
              <a:buAutoNum type="arabicPeriod"/>
            </a:pPr>
            <a:r>
              <a:rPr lang="en-US" altLang="en-US" sz="1600" b="1">
                <a:solidFill>
                  <a:srgbClr val="0000FF"/>
                </a:solidFill>
                <a:latin typeface="Tahoma" panose="020B0604030504040204" pitchFamily="34" charset="0"/>
                <a:cs typeface="Tahoma" panose="020B0604030504040204" pitchFamily="34" charset="0"/>
              </a:rPr>
              <a:t>Liquor Level (&lt;90%)</a:t>
            </a:r>
          </a:p>
          <a:p>
            <a:pPr eaLnBrk="1" hangingPunct="1">
              <a:lnSpc>
                <a:spcPct val="70000"/>
              </a:lnSpc>
              <a:spcBef>
                <a:spcPct val="50000"/>
              </a:spcBef>
              <a:buFontTx/>
              <a:buNone/>
            </a:pPr>
            <a:r>
              <a:rPr lang="en-US" altLang="en-US" sz="1600" b="1">
                <a:solidFill>
                  <a:srgbClr val="0000FF"/>
                </a:solidFill>
                <a:latin typeface="Tahoma" panose="020B0604030504040204" pitchFamily="34" charset="0"/>
                <a:cs typeface="Tahoma" panose="020B0604030504040204" pitchFamily="34" charset="0"/>
              </a:rPr>
              <a:t>	(</a:t>
            </a:r>
            <a:r>
              <a:rPr lang="th-TH" altLang="en-US" sz="1600" b="1">
                <a:solidFill>
                  <a:srgbClr val="0000FF"/>
                </a:solidFill>
                <a:latin typeface="Tahoma" panose="020B0604030504040204" pitchFamily="34" charset="0"/>
                <a:cs typeface="Tahoma" panose="020B0604030504040204" pitchFamily="34" charset="0"/>
              </a:rPr>
              <a:t>ระดับสารเคมีใน </a:t>
            </a:r>
            <a:r>
              <a:rPr lang="en-US" altLang="en-US" sz="1600" b="1">
                <a:solidFill>
                  <a:srgbClr val="0000FF"/>
                </a:solidFill>
                <a:latin typeface="Tahoma" panose="020B0604030504040204" pitchFamily="34" charset="0"/>
                <a:cs typeface="Tahoma" panose="020B0604030504040204" pitchFamily="34" charset="0"/>
              </a:rPr>
              <a:t>Impregnator)</a:t>
            </a:r>
          </a:p>
        </p:txBody>
      </p:sp>
      <p:sp>
        <p:nvSpPr>
          <p:cNvPr id="68628" name="Text Box 20"/>
          <p:cNvSpPr txBox="1">
            <a:spLocks noChangeArrowheads="1"/>
          </p:cNvSpPr>
          <p:nvPr/>
        </p:nvSpPr>
        <p:spPr bwMode="auto">
          <a:xfrm>
            <a:off x="6011863" y="4508500"/>
            <a:ext cx="2736850" cy="1144588"/>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70000"/>
              </a:lnSpc>
              <a:spcBef>
                <a:spcPct val="50000"/>
              </a:spcBef>
              <a:buFontTx/>
              <a:buNone/>
            </a:pPr>
            <a:r>
              <a:rPr lang="en-US" altLang="en-US" sz="1600" b="1" u="sng">
                <a:solidFill>
                  <a:srgbClr val="0000FF"/>
                </a:solidFill>
                <a:latin typeface="Tahoma" panose="020B0604030504040204" pitchFamily="34" charset="0"/>
                <a:cs typeface="Tahoma" panose="020B0604030504040204" pitchFamily="34" charset="0"/>
              </a:rPr>
              <a:t>Digester Condition</a:t>
            </a:r>
            <a:endParaRPr lang="th-TH" altLang="en-US" sz="1600" b="1" u="sng">
              <a:solidFill>
                <a:srgbClr val="0000FF"/>
              </a:solidFill>
              <a:latin typeface="Tahoma" panose="020B0604030504040204" pitchFamily="34" charset="0"/>
              <a:cs typeface="Tahoma" panose="020B0604030504040204" pitchFamily="34" charset="0"/>
            </a:endParaRPr>
          </a:p>
          <a:p>
            <a:pPr eaLnBrk="1" hangingPunct="1">
              <a:lnSpc>
                <a:spcPct val="70000"/>
              </a:lnSpc>
              <a:spcBef>
                <a:spcPct val="50000"/>
              </a:spcBef>
              <a:buFontTx/>
              <a:buAutoNum type="arabicPeriod"/>
            </a:pPr>
            <a:r>
              <a:rPr lang="th-TH" altLang="en-US" sz="1600" b="1">
                <a:solidFill>
                  <a:srgbClr val="0000FF"/>
                </a:solidFill>
                <a:latin typeface="Tahoma" panose="020B0604030504040204" pitchFamily="34" charset="0"/>
                <a:cs typeface="Tahoma" panose="020B0604030504040204" pitchFamily="34" charset="0"/>
              </a:rPr>
              <a:t>อุณหภูมิ</a:t>
            </a:r>
            <a:r>
              <a:rPr lang="en-US" altLang="en-US" sz="1600" b="1">
                <a:solidFill>
                  <a:srgbClr val="0000FF"/>
                </a:solidFill>
                <a:latin typeface="Tahoma" panose="020B0604030504040204" pitchFamily="34" charset="0"/>
                <a:cs typeface="Tahoma" panose="020B0604030504040204" pitchFamily="34" charset="0"/>
              </a:rPr>
              <a:t> (175c)</a:t>
            </a:r>
            <a:endParaRPr lang="th-TH" altLang="en-US" sz="1600" b="1">
              <a:solidFill>
                <a:srgbClr val="0000FF"/>
              </a:solidFill>
              <a:latin typeface="Tahoma" panose="020B0604030504040204" pitchFamily="34" charset="0"/>
              <a:cs typeface="Tahoma" panose="020B0604030504040204" pitchFamily="34" charset="0"/>
            </a:endParaRPr>
          </a:p>
          <a:p>
            <a:pPr eaLnBrk="1" hangingPunct="1">
              <a:lnSpc>
                <a:spcPct val="70000"/>
              </a:lnSpc>
              <a:spcBef>
                <a:spcPct val="50000"/>
              </a:spcBef>
              <a:buFontTx/>
              <a:buAutoNum type="arabicPeriod"/>
            </a:pPr>
            <a:r>
              <a:rPr lang="th-TH" altLang="en-US" sz="1600" b="1">
                <a:solidFill>
                  <a:srgbClr val="0000FF"/>
                </a:solidFill>
                <a:latin typeface="Tahoma" panose="020B0604030504040204" pitchFamily="34" charset="0"/>
                <a:cs typeface="Tahoma" panose="020B0604030504040204" pitchFamily="34" charset="0"/>
              </a:rPr>
              <a:t>เวลา </a:t>
            </a:r>
            <a:r>
              <a:rPr lang="en-US" altLang="en-US" sz="1600" b="1">
                <a:solidFill>
                  <a:srgbClr val="0000FF"/>
                </a:solidFill>
                <a:latin typeface="Tahoma" panose="020B0604030504040204" pitchFamily="34" charset="0"/>
                <a:cs typeface="Tahoma" panose="020B0604030504040204" pitchFamily="34" charset="0"/>
              </a:rPr>
              <a:t>(~25 min)</a:t>
            </a:r>
            <a:endParaRPr lang="th-TH" altLang="en-US" sz="1600" b="1">
              <a:solidFill>
                <a:srgbClr val="0000FF"/>
              </a:solidFill>
              <a:latin typeface="Tahoma" panose="020B0604030504040204" pitchFamily="34" charset="0"/>
              <a:cs typeface="Tahoma" panose="020B0604030504040204" pitchFamily="34" charset="0"/>
            </a:endParaRPr>
          </a:p>
          <a:p>
            <a:pPr eaLnBrk="1" hangingPunct="1">
              <a:lnSpc>
                <a:spcPct val="70000"/>
              </a:lnSpc>
              <a:spcBef>
                <a:spcPct val="50000"/>
              </a:spcBef>
              <a:buFontTx/>
              <a:buAutoNum type="arabicPeriod"/>
            </a:pPr>
            <a:r>
              <a:rPr lang="en-US" altLang="en-US" sz="1600" b="1">
                <a:solidFill>
                  <a:srgbClr val="0000FF"/>
                </a:solidFill>
                <a:latin typeface="Tahoma" panose="020B0604030504040204" pitchFamily="34" charset="0"/>
                <a:cs typeface="Tahoma" panose="020B0604030504040204" pitchFamily="34" charset="0"/>
              </a:rPr>
              <a:t>% Load Motor</a:t>
            </a:r>
          </a:p>
        </p:txBody>
      </p:sp>
      <p:sp>
        <p:nvSpPr>
          <p:cNvPr id="68629" name="Text Box 21"/>
          <p:cNvSpPr txBox="1">
            <a:spLocks noChangeArrowheads="1"/>
          </p:cNvSpPr>
          <p:nvPr/>
        </p:nvSpPr>
        <p:spPr bwMode="auto">
          <a:xfrm>
            <a:off x="179388" y="728663"/>
            <a:ext cx="3671887" cy="1144587"/>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70000"/>
              </a:lnSpc>
              <a:spcBef>
                <a:spcPct val="50000"/>
              </a:spcBef>
              <a:buFontTx/>
              <a:buNone/>
            </a:pPr>
            <a:r>
              <a:rPr lang="th-TH" altLang="en-US" sz="1600" b="1" u="sng">
                <a:solidFill>
                  <a:srgbClr val="0000FF"/>
                </a:solidFill>
                <a:latin typeface="Tahoma" panose="020B0604030504040204" pitchFamily="34" charset="0"/>
                <a:cs typeface="Tahoma" panose="020B0604030504040204" pitchFamily="34" charset="0"/>
              </a:rPr>
              <a:t>การป้อนสารเคมี </a:t>
            </a:r>
          </a:p>
          <a:p>
            <a:pPr eaLnBrk="1" hangingPunct="1">
              <a:lnSpc>
                <a:spcPct val="70000"/>
              </a:lnSpc>
              <a:spcBef>
                <a:spcPct val="50000"/>
              </a:spcBef>
              <a:buFontTx/>
              <a:buNone/>
            </a:pPr>
            <a:r>
              <a:rPr lang="th-TH" altLang="en-US" sz="1600" b="1" u="sng">
                <a:solidFill>
                  <a:srgbClr val="0000FF"/>
                </a:solidFill>
                <a:latin typeface="Tahoma" panose="020B0604030504040204" pitchFamily="34" charset="0"/>
                <a:cs typeface="Tahoma" panose="020B0604030504040204" pitchFamily="34" charset="0"/>
              </a:rPr>
              <a:t>(</a:t>
            </a:r>
            <a:r>
              <a:rPr lang="en-US" altLang="en-US" sz="1600" b="1" u="sng">
                <a:solidFill>
                  <a:srgbClr val="0000FF"/>
                </a:solidFill>
                <a:latin typeface="Tahoma" panose="020B0604030504040204" pitchFamily="34" charset="0"/>
                <a:cs typeface="Tahoma" panose="020B0604030504040204" pitchFamily="34" charset="0"/>
              </a:rPr>
              <a:t>Green Liquor Na</a:t>
            </a:r>
            <a:r>
              <a:rPr lang="en-US" altLang="en-US" sz="1600" b="1" u="sng" baseline="-25000">
                <a:solidFill>
                  <a:srgbClr val="0000FF"/>
                </a:solidFill>
                <a:latin typeface="Tahoma" panose="020B0604030504040204" pitchFamily="34" charset="0"/>
                <a:cs typeface="Tahoma" panose="020B0604030504040204" pitchFamily="34" charset="0"/>
              </a:rPr>
              <a:t>2</a:t>
            </a:r>
            <a:r>
              <a:rPr lang="en-US" altLang="en-US" sz="1600" b="1" u="sng">
                <a:solidFill>
                  <a:srgbClr val="0000FF"/>
                </a:solidFill>
                <a:latin typeface="Tahoma" panose="020B0604030504040204" pitchFamily="34" charset="0"/>
                <a:cs typeface="Tahoma" panose="020B0604030504040204" pitchFamily="34" charset="0"/>
              </a:rPr>
              <a:t>CO</a:t>
            </a:r>
            <a:r>
              <a:rPr lang="en-US" altLang="en-US" sz="1600" b="1" u="sng" baseline="-25000">
                <a:solidFill>
                  <a:srgbClr val="0000FF"/>
                </a:solidFill>
                <a:latin typeface="Tahoma" panose="020B0604030504040204" pitchFamily="34" charset="0"/>
                <a:cs typeface="Tahoma" panose="020B0604030504040204" pitchFamily="34" charset="0"/>
              </a:rPr>
              <a:t>3</a:t>
            </a:r>
            <a:r>
              <a:rPr lang="en-US" altLang="en-US" sz="1600" b="1" u="sng">
                <a:solidFill>
                  <a:srgbClr val="0000FF"/>
                </a:solidFill>
                <a:latin typeface="Tahoma" panose="020B0604030504040204" pitchFamily="34" charset="0"/>
                <a:cs typeface="Tahoma" panose="020B0604030504040204" pitchFamily="34" charset="0"/>
              </a:rPr>
              <a:t>+NaOH)</a:t>
            </a:r>
            <a:endParaRPr lang="th-TH" altLang="en-US" sz="1600" b="1" u="sng">
              <a:solidFill>
                <a:srgbClr val="0000FF"/>
              </a:solidFill>
              <a:latin typeface="Tahoma" panose="020B0604030504040204" pitchFamily="34" charset="0"/>
              <a:cs typeface="Tahoma" panose="020B0604030504040204" pitchFamily="34" charset="0"/>
            </a:endParaRPr>
          </a:p>
          <a:p>
            <a:pPr eaLnBrk="1" hangingPunct="1">
              <a:lnSpc>
                <a:spcPct val="70000"/>
              </a:lnSpc>
              <a:spcBef>
                <a:spcPct val="50000"/>
              </a:spcBef>
              <a:buFontTx/>
              <a:buAutoNum type="arabicPeriod"/>
            </a:pPr>
            <a:r>
              <a:rPr lang="en-US" altLang="en-US" sz="1600" b="1">
                <a:solidFill>
                  <a:srgbClr val="0000FF"/>
                </a:solidFill>
                <a:latin typeface="Tahoma" panose="020B0604030504040204" pitchFamily="34" charset="0"/>
                <a:cs typeface="Tahoma" panose="020B0604030504040204" pitchFamily="34" charset="0"/>
              </a:rPr>
              <a:t>%Charge</a:t>
            </a:r>
            <a:r>
              <a:rPr lang="th-TH" altLang="en-US" sz="1600" b="1">
                <a:solidFill>
                  <a:srgbClr val="0000FF"/>
                </a:solidFill>
                <a:latin typeface="Tahoma" panose="020B0604030504040204" pitchFamily="34" charset="0"/>
                <a:cs typeface="Tahoma" panose="020B0604030504040204" pitchFamily="34" charset="0"/>
              </a:rPr>
              <a:t> (</a:t>
            </a:r>
            <a:r>
              <a:rPr lang="en-US" altLang="en-US" sz="1600" b="1">
                <a:solidFill>
                  <a:srgbClr val="0000FF"/>
                </a:solidFill>
                <a:latin typeface="Tahoma" panose="020B0604030504040204" pitchFamily="34" charset="0"/>
                <a:cs typeface="Tahoma" panose="020B0604030504040204" pitchFamily="34" charset="0"/>
              </a:rPr>
              <a:t>1.3 m3/ADT)</a:t>
            </a:r>
            <a:endParaRPr lang="th-TH" altLang="en-US" sz="1600" b="1">
              <a:solidFill>
                <a:srgbClr val="0000FF"/>
              </a:solidFill>
              <a:latin typeface="Tahoma" panose="020B0604030504040204" pitchFamily="34" charset="0"/>
              <a:cs typeface="Tahoma" panose="020B0604030504040204" pitchFamily="34" charset="0"/>
            </a:endParaRPr>
          </a:p>
          <a:p>
            <a:pPr eaLnBrk="1" hangingPunct="1">
              <a:lnSpc>
                <a:spcPct val="70000"/>
              </a:lnSpc>
              <a:spcBef>
                <a:spcPct val="50000"/>
              </a:spcBef>
              <a:buFontTx/>
              <a:buAutoNum type="arabicPeriod"/>
            </a:pPr>
            <a:r>
              <a:rPr lang="en-US" altLang="en-US" sz="1600" b="1">
                <a:solidFill>
                  <a:srgbClr val="0000FF"/>
                </a:solidFill>
                <a:latin typeface="Tahoma" panose="020B0604030504040204" pitchFamily="34" charset="0"/>
                <a:cs typeface="Tahoma" panose="020B0604030504040204" pitchFamily="34" charset="0"/>
              </a:rPr>
              <a:t>TA (100-110 g (Na</a:t>
            </a:r>
            <a:r>
              <a:rPr lang="en-US" altLang="en-US" sz="1600" b="1" baseline="-25000">
                <a:solidFill>
                  <a:srgbClr val="0000FF"/>
                </a:solidFill>
                <a:latin typeface="Tahoma" panose="020B0604030504040204" pitchFamily="34" charset="0"/>
                <a:cs typeface="Tahoma" panose="020B0604030504040204" pitchFamily="34" charset="0"/>
              </a:rPr>
              <a:t>2</a:t>
            </a:r>
            <a:r>
              <a:rPr lang="en-US" altLang="en-US" sz="1600" b="1">
                <a:solidFill>
                  <a:srgbClr val="0000FF"/>
                </a:solidFill>
                <a:latin typeface="Tahoma" panose="020B0604030504040204" pitchFamily="34" charset="0"/>
                <a:cs typeface="Tahoma" panose="020B0604030504040204" pitchFamily="34" charset="0"/>
              </a:rPr>
              <a:t>O)/l</a:t>
            </a:r>
          </a:p>
        </p:txBody>
      </p:sp>
      <p:sp>
        <p:nvSpPr>
          <p:cNvPr id="175126" name="Rectangle 22"/>
          <p:cNvSpPr>
            <a:spLocks noGrp="1" noChangeArrowheads="1"/>
          </p:cNvSpPr>
          <p:nvPr>
            <p:ph type="title"/>
          </p:nvPr>
        </p:nvSpPr>
        <p:spPr>
          <a:xfrm>
            <a:off x="107950" y="44450"/>
            <a:ext cx="9036050" cy="561975"/>
          </a:xfrm>
          <a:noFill/>
        </p:spPr>
        <p:txBody>
          <a:bodyPr/>
          <a:lstStyle/>
          <a:p>
            <a:pPr algn="l" eaLnBrk="1" hangingPunct="1"/>
            <a:r>
              <a:rPr lang="en-US" altLang="en-US" sz="3200" b="1" smtClean="0">
                <a:solidFill>
                  <a:srgbClr val="FF0000"/>
                </a:solidFill>
                <a:latin typeface="Tahoma" panose="020B0604030504040204" pitchFamily="34" charset="0"/>
              </a:rPr>
              <a:t>SCP – Partial Digestion</a:t>
            </a:r>
            <a:endParaRPr lang="th-TH" altLang="en-US" sz="3200" b="1" smtClean="0">
              <a:solidFill>
                <a:srgbClr val="FF0000"/>
              </a:solidFill>
              <a:latin typeface="Tahoma" panose="020B060403050404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8612"/>
                                        </p:tgtEl>
                                        <p:attrNameLst>
                                          <p:attrName>style.visibility</p:attrName>
                                        </p:attrNameLst>
                                      </p:cBhvr>
                                      <p:to>
                                        <p:strVal val="visible"/>
                                      </p:to>
                                    </p:set>
                                    <p:animEffect transition="in" filter="wipe(up)">
                                      <p:cBhvr>
                                        <p:cTn id="7" dur="500"/>
                                        <p:tgtEl>
                                          <p:spTgt spid="68612"/>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68613"/>
                                        </p:tgtEl>
                                        <p:attrNameLst>
                                          <p:attrName>style.visibility</p:attrName>
                                        </p:attrNameLst>
                                      </p:cBhvr>
                                      <p:to>
                                        <p:strVal val="visible"/>
                                      </p:to>
                                    </p:set>
                                    <p:animEffect transition="in" filter="wipe(up)">
                                      <p:cBhvr>
                                        <p:cTn id="10" dur="500"/>
                                        <p:tgtEl>
                                          <p:spTgt spid="68613"/>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68614"/>
                                        </p:tgtEl>
                                        <p:attrNameLst>
                                          <p:attrName>style.visibility</p:attrName>
                                        </p:attrNameLst>
                                      </p:cBhvr>
                                      <p:to>
                                        <p:strVal val="visible"/>
                                      </p:to>
                                    </p:set>
                                    <p:animEffect transition="in" filter="wipe(left)">
                                      <p:cBhvr>
                                        <p:cTn id="15" dur="500"/>
                                        <p:tgtEl>
                                          <p:spTgt spid="68614"/>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68618"/>
                                        </p:tgtEl>
                                        <p:attrNameLst>
                                          <p:attrName>style.visibility</p:attrName>
                                        </p:attrNameLst>
                                      </p:cBhvr>
                                      <p:to>
                                        <p:strVal val="visible"/>
                                      </p:to>
                                    </p:set>
                                    <p:animEffect transition="in" filter="wipe(down)">
                                      <p:cBhvr>
                                        <p:cTn id="20" dur="500"/>
                                        <p:tgtEl>
                                          <p:spTgt spid="68618"/>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68619"/>
                                        </p:tgtEl>
                                        <p:attrNameLst>
                                          <p:attrName>style.visibility</p:attrName>
                                        </p:attrNameLst>
                                      </p:cBhvr>
                                      <p:to>
                                        <p:strVal val="visible"/>
                                      </p:to>
                                    </p:set>
                                    <p:animEffect transition="in" filter="wipe(down)">
                                      <p:cBhvr>
                                        <p:cTn id="23" dur="500"/>
                                        <p:tgtEl>
                                          <p:spTgt spid="68619"/>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68629"/>
                                        </p:tgtEl>
                                        <p:attrNameLst>
                                          <p:attrName>style.visibility</p:attrName>
                                        </p:attrNameLst>
                                      </p:cBhvr>
                                      <p:to>
                                        <p:strVal val="visible"/>
                                      </p:to>
                                    </p:set>
                                    <p:animEffect transition="in" filter="dissolve">
                                      <p:cBhvr>
                                        <p:cTn id="28" dur="500"/>
                                        <p:tgtEl>
                                          <p:spTgt spid="68629"/>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68615"/>
                                        </p:tgtEl>
                                        <p:attrNameLst>
                                          <p:attrName>style.visibility</p:attrName>
                                        </p:attrNameLst>
                                      </p:cBhvr>
                                      <p:to>
                                        <p:strVal val="visible"/>
                                      </p:to>
                                    </p:set>
                                    <p:animEffect transition="in" filter="wipe(down)">
                                      <p:cBhvr>
                                        <p:cTn id="33" dur="500"/>
                                        <p:tgtEl>
                                          <p:spTgt spid="68615"/>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68616"/>
                                        </p:tgtEl>
                                        <p:attrNameLst>
                                          <p:attrName>style.visibility</p:attrName>
                                        </p:attrNameLst>
                                      </p:cBhvr>
                                      <p:to>
                                        <p:strVal val="visible"/>
                                      </p:to>
                                    </p:set>
                                    <p:animEffect transition="in" filter="wipe(left)">
                                      <p:cBhvr>
                                        <p:cTn id="38" dur="500"/>
                                        <p:tgtEl>
                                          <p:spTgt spid="68616"/>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1" fill="hold" grpId="0" nodeType="clickEffect">
                                  <p:stCondLst>
                                    <p:cond delay="0"/>
                                  </p:stCondLst>
                                  <p:childTnLst>
                                    <p:set>
                                      <p:cBhvr>
                                        <p:cTn id="42" dur="1" fill="hold">
                                          <p:stCondLst>
                                            <p:cond delay="0"/>
                                          </p:stCondLst>
                                        </p:cTn>
                                        <p:tgtEl>
                                          <p:spTgt spid="68617"/>
                                        </p:tgtEl>
                                        <p:attrNameLst>
                                          <p:attrName>style.visibility</p:attrName>
                                        </p:attrNameLst>
                                      </p:cBhvr>
                                      <p:to>
                                        <p:strVal val="visible"/>
                                      </p:to>
                                    </p:set>
                                    <p:animEffect transition="in" filter="wipe(up)">
                                      <p:cBhvr>
                                        <p:cTn id="43" dur="500"/>
                                        <p:tgtEl>
                                          <p:spTgt spid="68617"/>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9" presetClass="entr" presetSubtype="0" fill="hold" grpId="0" nodeType="clickEffect">
                                  <p:stCondLst>
                                    <p:cond delay="0"/>
                                  </p:stCondLst>
                                  <p:childTnLst>
                                    <p:set>
                                      <p:cBhvr>
                                        <p:cTn id="47" dur="1" fill="hold">
                                          <p:stCondLst>
                                            <p:cond delay="0"/>
                                          </p:stCondLst>
                                        </p:cTn>
                                        <p:tgtEl>
                                          <p:spTgt spid="68627"/>
                                        </p:tgtEl>
                                        <p:attrNameLst>
                                          <p:attrName>style.visibility</p:attrName>
                                        </p:attrNameLst>
                                      </p:cBhvr>
                                      <p:to>
                                        <p:strVal val="visible"/>
                                      </p:to>
                                    </p:set>
                                    <p:animEffect transition="in" filter="dissolve">
                                      <p:cBhvr>
                                        <p:cTn id="48" dur="500"/>
                                        <p:tgtEl>
                                          <p:spTgt spid="68627"/>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2" fill="hold" grpId="0" nodeType="clickEffect">
                                  <p:stCondLst>
                                    <p:cond delay="0"/>
                                  </p:stCondLst>
                                  <p:childTnLst>
                                    <p:set>
                                      <p:cBhvr>
                                        <p:cTn id="52" dur="1" fill="hold">
                                          <p:stCondLst>
                                            <p:cond delay="0"/>
                                          </p:stCondLst>
                                        </p:cTn>
                                        <p:tgtEl>
                                          <p:spTgt spid="68622"/>
                                        </p:tgtEl>
                                        <p:attrNameLst>
                                          <p:attrName>style.visibility</p:attrName>
                                        </p:attrNameLst>
                                      </p:cBhvr>
                                      <p:to>
                                        <p:strVal val="visible"/>
                                      </p:to>
                                    </p:set>
                                    <p:animEffect transition="in" filter="wipe(right)">
                                      <p:cBhvr>
                                        <p:cTn id="53" dur="500"/>
                                        <p:tgtEl>
                                          <p:spTgt spid="68622"/>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1" fill="hold" grpId="0" nodeType="clickEffect">
                                  <p:stCondLst>
                                    <p:cond delay="0"/>
                                  </p:stCondLst>
                                  <p:childTnLst>
                                    <p:set>
                                      <p:cBhvr>
                                        <p:cTn id="57" dur="1" fill="hold">
                                          <p:stCondLst>
                                            <p:cond delay="0"/>
                                          </p:stCondLst>
                                        </p:cTn>
                                        <p:tgtEl>
                                          <p:spTgt spid="68623"/>
                                        </p:tgtEl>
                                        <p:attrNameLst>
                                          <p:attrName>style.visibility</p:attrName>
                                        </p:attrNameLst>
                                      </p:cBhvr>
                                      <p:to>
                                        <p:strVal val="visible"/>
                                      </p:to>
                                    </p:set>
                                    <p:animEffect transition="in" filter="wipe(up)">
                                      <p:cBhvr>
                                        <p:cTn id="58" dur="500"/>
                                        <p:tgtEl>
                                          <p:spTgt spid="68623"/>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68624"/>
                                        </p:tgtEl>
                                        <p:attrNameLst>
                                          <p:attrName>style.visibility</p:attrName>
                                        </p:attrNameLst>
                                      </p:cBhvr>
                                      <p:to>
                                        <p:strVal val="visible"/>
                                      </p:to>
                                    </p:set>
                                    <p:animEffect transition="in" filter="wipe(left)">
                                      <p:cBhvr>
                                        <p:cTn id="63" dur="500"/>
                                        <p:tgtEl>
                                          <p:spTgt spid="68624"/>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1" fill="hold" grpId="0" nodeType="clickEffect">
                                  <p:stCondLst>
                                    <p:cond delay="0"/>
                                  </p:stCondLst>
                                  <p:childTnLst>
                                    <p:set>
                                      <p:cBhvr>
                                        <p:cTn id="67" dur="1" fill="hold">
                                          <p:stCondLst>
                                            <p:cond delay="0"/>
                                          </p:stCondLst>
                                        </p:cTn>
                                        <p:tgtEl>
                                          <p:spTgt spid="68625"/>
                                        </p:tgtEl>
                                        <p:attrNameLst>
                                          <p:attrName>style.visibility</p:attrName>
                                        </p:attrNameLst>
                                      </p:cBhvr>
                                      <p:to>
                                        <p:strVal val="visible"/>
                                      </p:to>
                                    </p:set>
                                    <p:animEffect transition="in" filter="wipe(up)">
                                      <p:cBhvr>
                                        <p:cTn id="68" dur="500"/>
                                        <p:tgtEl>
                                          <p:spTgt spid="68625"/>
                                        </p:tgtEl>
                                      </p:cBhvr>
                                    </p:animEffect>
                                  </p:childTnLst>
                                </p:cTn>
                              </p:par>
                              <p:par>
                                <p:cTn id="69" presetID="9" presetClass="entr" presetSubtype="0" fill="hold" grpId="0" nodeType="withEffect">
                                  <p:stCondLst>
                                    <p:cond delay="0"/>
                                  </p:stCondLst>
                                  <p:childTnLst>
                                    <p:set>
                                      <p:cBhvr>
                                        <p:cTn id="70" dur="1" fill="hold">
                                          <p:stCondLst>
                                            <p:cond delay="0"/>
                                          </p:stCondLst>
                                        </p:cTn>
                                        <p:tgtEl>
                                          <p:spTgt spid="68626"/>
                                        </p:tgtEl>
                                        <p:attrNameLst>
                                          <p:attrName>style.visibility</p:attrName>
                                        </p:attrNameLst>
                                      </p:cBhvr>
                                      <p:to>
                                        <p:strVal val="visible"/>
                                      </p:to>
                                    </p:set>
                                    <p:animEffect transition="in" filter="dissolve">
                                      <p:cBhvr>
                                        <p:cTn id="71" dur="500"/>
                                        <p:tgtEl>
                                          <p:spTgt spid="68626"/>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9" presetClass="entr" presetSubtype="0" fill="hold" grpId="0" nodeType="clickEffect">
                                  <p:stCondLst>
                                    <p:cond delay="0"/>
                                  </p:stCondLst>
                                  <p:childTnLst>
                                    <p:set>
                                      <p:cBhvr>
                                        <p:cTn id="75" dur="1" fill="hold">
                                          <p:stCondLst>
                                            <p:cond delay="0"/>
                                          </p:stCondLst>
                                        </p:cTn>
                                        <p:tgtEl>
                                          <p:spTgt spid="68628"/>
                                        </p:tgtEl>
                                        <p:attrNameLst>
                                          <p:attrName>style.visibility</p:attrName>
                                        </p:attrNameLst>
                                      </p:cBhvr>
                                      <p:to>
                                        <p:strVal val="visible"/>
                                      </p:to>
                                    </p:set>
                                    <p:animEffect transition="in" filter="dissolve">
                                      <p:cBhvr>
                                        <p:cTn id="76" dur="500"/>
                                        <p:tgtEl>
                                          <p:spTgt spid="686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2" grpId="0"/>
      <p:bldP spid="68613" grpId="0" animBg="1"/>
      <p:bldP spid="68614" grpId="0" animBg="1"/>
      <p:bldP spid="68615" grpId="0" animBg="1"/>
      <p:bldP spid="68616" grpId="0" animBg="1"/>
      <p:bldP spid="68617" grpId="0" animBg="1"/>
      <p:bldP spid="68618" grpId="0" animBg="1"/>
      <p:bldP spid="68619" grpId="0"/>
      <p:bldP spid="68622" grpId="0" animBg="1"/>
      <p:bldP spid="68623" grpId="0" animBg="1"/>
      <p:bldP spid="68624" grpId="0" animBg="1"/>
      <p:bldP spid="68625" grpId="0" animBg="1"/>
      <p:bldP spid="68626" grpId="0" animBg="1"/>
      <p:bldP spid="68627" grpId="0"/>
      <p:bldP spid="68628" grpId="0"/>
      <p:bldP spid="68629"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p:cNvSpPr>
            <a:spLocks noChangeArrowheads="1"/>
          </p:cNvSpPr>
          <p:nvPr/>
        </p:nvSpPr>
        <p:spPr bwMode="auto">
          <a:xfrm>
            <a:off x="0" y="-26988"/>
            <a:ext cx="9144000" cy="755651"/>
          </a:xfrm>
          <a:prstGeom prst="rect">
            <a:avLst/>
          </a:prstGeom>
          <a:noFill/>
          <a:ln>
            <a:noFill/>
          </a:ln>
          <a:effectLst/>
          <a:extLst>
            <a:ext uri="{909E8E84-426E-40DD-AFC4-6F175D3DCCD1}">
              <a14:hiddenFill xmlns:a14="http://schemas.microsoft.com/office/drawing/2010/main">
                <a:solidFill>
                  <a:srgbClr val="00008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b="1">
                <a:solidFill>
                  <a:srgbClr val="FF0000"/>
                </a:solidFill>
                <a:latin typeface="Tahoma" panose="020B0604030504040204" pitchFamily="34" charset="0"/>
                <a:cs typeface="Tahoma" panose="020B0604030504040204" pitchFamily="34" charset="0"/>
              </a:rPr>
              <a:t>SCP Refining Process</a:t>
            </a:r>
            <a:endParaRPr lang="th-TH" altLang="en-US" b="1">
              <a:solidFill>
                <a:srgbClr val="FF0000"/>
              </a:solidFill>
              <a:latin typeface="Tahoma" panose="020B0604030504040204" pitchFamily="34" charset="0"/>
              <a:cs typeface="Tahoma" panose="020B0604030504040204" pitchFamily="34" charset="0"/>
            </a:endParaRPr>
          </a:p>
        </p:txBody>
      </p:sp>
      <p:sp>
        <p:nvSpPr>
          <p:cNvPr id="177155" name="Line 3"/>
          <p:cNvSpPr>
            <a:spLocks noChangeShapeType="1"/>
          </p:cNvSpPr>
          <p:nvPr/>
        </p:nvSpPr>
        <p:spPr bwMode="auto">
          <a:xfrm flipH="1">
            <a:off x="8856663" y="3105150"/>
            <a:ext cx="36512" cy="2232025"/>
          </a:xfrm>
          <a:prstGeom prst="line">
            <a:avLst/>
          </a:prstGeom>
          <a:noFill/>
          <a:ln w="254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177156" name="Group 4"/>
          <p:cNvGrpSpPr>
            <a:grpSpLocks/>
          </p:cNvGrpSpPr>
          <p:nvPr/>
        </p:nvGrpSpPr>
        <p:grpSpPr bwMode="auto">
          <a:xfrm>
            <a:off x="34925" y="1412875"/>
            <a:ext cx="8858250" cy="2060575"/>
            <a:chOff x="22" y="890"/>
            <a:chExt cx="5580" cy="1298"/>
          </a:xfrm>
        </p:grpSpPr>
        <p:sp>
          <p:nvSpPr>
            <p:cNvPr id="177194" name="Line 5"/>
            <p:cNvSpPr>
              <a:spLocks noChangeShapeType="1"/>
            </p:cNvSpPr>
            <p:nvPr/>
          </p:nvSpPr>
          <p:spPr bwMode="auto">
            <a:xfrm flipV="1">
              <a:off x="2154" y="1933"/>
              <a:ext cx="681" cy="0"/>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7195" name="Line 6"/>
            <p:cNvSpPr>
              <a:spLocks noChangeShapeType="1"/>
            </p:cNvSpPr>
            <p:nvPr/>
          </p:nvSpPr>
          <p:spPr bwMode="auto">
            <a:xfrm flipH="1">
              <a:off x="1928" y="1933"/>
              <a:ext cx="127" cy="0"/>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7196" name="Line 7"/>
            <p:cNvSpPr>
              <a:spLocks noChangeShapeType="1"/>
            </p:cNvSpPr>
            <p:nvPr/>
          </p:nvSpPr>
          <p:spPr bwMode="auto">
            <a:xfrm flipV="1">
              <a:off x="784" y="1303"/>
              <a:ext cx="172" cy="449"/>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7197" name="Line 8"/>
            <p:cNvSpPr>
              <a:spLocks noChangeShapeType="1"/>
            </p:cNvSpPr>
            <p:nvPr/>
          </p:nvSpPr>
          <p:spPr bwMode="auto">
            <a:xfrm>
              <a:off x="971" y="1309"/>
              <a:ext cx="584" cy="0"/>
            </a:xfrm>
            <a:prstGeom prst="line">
              <a:avLst/>
            </a:prstGeom>
            <a:noFill/>
            <a:ln w="254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177198" name="Group 9"/>
            <p:cNvGrpSpPr>
              <a:grpSpLocks/>
            </p:cNvGrpSpPr>
            <p:nvPr/>
          </p:nvGrpSpPr>
          <p:grpSpPr bwMode="auto">
            <a:xfrm>
              <a:off x="1565" y="1254"/>
              <a:ext cx="180" cy="428"/>
              <a:chOff x="5094" y="2274"/>
              <a:chExt cx="199" cy="475"/>
            </a:xfrm>
          </p:grpSpPr>
          <p:sp>
            <p:nvSpPr>
              <p:cNvPr id="177306" name="Rectangle 10"/>
              <p:cNvSpPr>
                <a:spLocks noChangeArrowheads="1"/>
              </p:cNvSpPr>
              <p:nvPr/>
            </p:nvSpPr>
            <p:spPr bwMode="auto">
              <a:xfrm>
                <a:off x="5113" y="2328"/>
                <a:ext cx="48" cy="39"/>
              </a:xfrm>
              <a:prstGeom prst="rect">
                <a:avLst/>
              </a:prstGeom>
              <a:gradFill rotWithShape="0">
                <a:gsLst>
                  <a:gs pos="0">
                    <a:srgbClr val="2B2B2B"/>
                  </a:gs>
                  <a:gs pos="50000">
                    <a:srgbClr val="919191"/>
                  </a:gs>
                  <a:gs pos="100000">
                    <a:srgbClr val="2B2B2B"/>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7307" name="Rectangle 11"/>
              <p:cNvSpPr>
                <a:spLocks noChangeArrowheads="1"/>
              </p:cNvSpPr>
              <p:nvPr/>
            </p:nvSpPr>
            <p:spPr bwMode="auto">
              <a:xfrm>
                <a:off x="5094" y="2305"/>
                <a:ext cx="11" cy="86"/>
              </a:xfrm>
              <a:prstGeom prst="rect">
                <a:avLst/>
              </a:prstGeom>
              <a:gradFill rotWithShape="0">
                <a:gsLst>
                  <a:gs pos="0">
                    <a:srgbClr val="2B2B2B"/>
                  </a:gs>
                  <a:gs pos="50000">
                    <a:srgbClr val="919191"/>
                  </a:gs>
                  <a:gs pos="100000">
                    <a:srgbClr val="2B2B2B"/>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7308" name="Rectangle 12"/>
              <p:cNvSpPr>
                <a:spLocks noChangeArrowheads="1"/>
              </p:cNvSpPr>
              <p:nvPr/>
            </p:nvSpPr>
            <p:spPr bwMode="auto">
              <a:xfrm>
                <a:off x="5169" y="2305"/>
                <a:ext cx="124" cy="148"/>
              </a:xfrm>
              <a:prstGeom prst="rect">
                <a:avLst/>
              </a:pr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7309" name="Rectangle 13"/>
              <p:cNvSpPr>
                <a:spLocks noChangeArrowheads="1"/>
              </p:cNvSpPr>
              <p:nvPr/>
            </p:nvSpPr>
            <p:spPr bwMode="auto">
              <a:xfrm>
                <a:off x="5198" y="2289"/>
                <a:ext cx="67" cy="8"/>
              </a:xfrm>
              <a:prstGeom prst="rect">
                <a:avLst/>
              </a:pr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7310" name="Rectangle 14"/>
              <p:cNvSpPr>
                <a:spLocks noChangeArrowheads="1"/>
              </p:cNvSpPr>
              <p:nvPr/>
            </p:nvSpPr>
            <p:spPr bwMode="auto">
              <a:xfrm>
                <a:off x="5188" y="2274"/>
                <a:ext cx="86" cy="7"/>
              </a:xfrm>
              <a:prstGeom prst="rect">
                <a:avLst/>
              </a:pr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7311" name="AutoShape 15"/>
              <p:cNvSpPr>
                <a:spLocks noChangeArrowheads="1"/>
              </p:cNvSpPr>
              <p:nvPr/>
            </p:nvSpPr>
            <p:spPr bwMode="auto">
              <a:xfrm rot="10800000" flipH="1" flipV="1">
                <a:off x="5169" y="2461"/>
                <a:ext cx="124" cy="24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5400 w 21600"/>
                  <a:gd name="T13" fmla="*/ 5467 h 21600"/>
                  <a:gd name="T14" fmla="*/ 16200 w 21600"/>
                  <a:gd name="T15" fmla="*/ 16133 h 21600"/>
                </a:gdLst>
                <a:ahLst/>
                <a:cxnLst>
                  <a:cxn ang="T8">
                    <a:pos x="T0" y="T1"/>
                  </a:cxn>
                  <a:cxn ang="T9">
                    <a:pos x="T2" y="T3"/>
                  </a:cxn>
                  <a:cxn ang="T10">
                    <a:pos x="T4" y="T5"/>
                  </a:cxn>
                  <a:cxn ang="T11">
                    <a:pos x="T6" y="T7"/>
                  </a:cxn>
                </a:cxnLst>
                <a:rect l="T12" t="T13" r="T14" b="T15"/>
                <a:pathLst>
                  <a:path w="21600" h="21600">
                    <a:moveTo>
                      <a:pt x="0" y="0"/>
                    </a:moveTo>
                    <a:lnTo>
                      <a:pt x="7328" y="21600"/>
                    </a:lnTo>
                    <a:lnTo>
                      <a:pt x="14272" y="21600"/>
                    </a:lnTo>
                    <a:lnTo>
                      <a:pt x="21600" y="0"/>
                    </a:lnTo>
                    <a:lnTo>
                      <a:pt x="0" y="0"/>
                    </a:lnTo>
                    <a:close/>
                  </a:path>
                </a:pathLst>
              </a:cu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7312" name="Rectangle 16"/>
              <p:cNvSpPr>
                <a:spLocks noChangeArrowheads="1"/>
              </p:cNvSpPr>
              <p:nvPr/>
            </p:nvSpPr>
            <p:spPr bwMode="auto">
              <a:xfrm>
                <a:off x="5179" y="2710"/>
                <a:ext cx="105" cy="8"/>
              </a:xfrm>
              <a:prstGeom prst="rect">
                <a:avLst/>
              </a:pr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7313" name="Rectangle 17"/>
              <p:cNvSpPr>
                <a:spLocks noChangeArrowheads="1"/>
              </p:cNvSpPr>
              <p:nvPr/>
            </p:nvSpPr>
            <p:spPr bwMode="auto">
              <a:xfrm>
                <a:off x="5207" y="2726"/>
                <a:ext cx="48" cy="23"/>
              </a:xfrm>
              <a:prstGeom prst="rect">
                <a:avLst/>
              </a:pr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grpSp>
          <p:nvGrpSpPr>
            <p:cNvPr id="177199" name="Group 18"/>
            <p:cNvGrpSpPr>
              <a:grpSpLocks/>
            </p:cNvGrpSpPr>
            <p:nvPr/>
          </p:nvGrpSpPr>
          <p:grpSpPr bwMode="auto">
            <a:xfrm>
              <a:off x="1565" y="1661"/>
              <a:ext cx="405" cy="310"/>
              <a:chOff x="5094" y="2725"/>
              <a:chExt cx="448" cy="346"/>
            </a:xfrm>
          </p:grpSpPr>
          <p:sp>
            <p:nvSpPr>
              <p:cNvPr id="177299" name="AutoShape 19"/>
              <p:cNvSpPr>
                <a:spLocks noChangeArrowheads="1"/>
              </p:cNvSpPr>
              <p:nvPr/>
            </p:nvSpPr>
            <p:spPr bwMode="auto">
              <a:xfrm>
                <a:off x="5162" y="2725"/>
                <a:ext cx="340" cy="46"/>
              </a:xfrm>
              <a:prstGeom prst="triangle">
                <a:avLst>
                  <a:gd name="adj" fmla="val 49995"/>
                </a:avLst>
              </a:pr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7300" name="Rectangle 20"/>
              <p:cNvSpPr>
                <a:spLocks noChangeArrowheads="1"/>
              </p:cNvSpPr>
              <p:nvPr/>
            </p:nvSpPr>
            <p:spPr bwMode="auto">
              <a:xfrm>
                <a:off x="5162" y="2779"/>
                <a:ext cx="340" cy="264"/>
              </a:xfrm>
              <a:prstGeom prst="rect">
                <a:avLst/>
              </a:pr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7301" name="Rectangle 21"/>
              <p:cNvSpPr>
                <a:spLocks noChangeArrowheads="1"/>
              </p:cNvSpPr>
              <p:nvPr/>
            </p:nvSpPr>
            <p:spPr bwMode="auto">
              <a:xfrm>
                <a:off x="5121" y="3051"/>
                <a:ext cx="421" cy="20"/>
              </a:xfrm>
              <a:prstGeom prst="rect">
                <a:avLst/>
              </a:pr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7302" name="Rectangle 22"/>
              <p:cNvSpPr>
                <a:spLocks noChangeArrowheads="1"/>
              </p:cNvSpPr>
              <p:nvPr/>
            </p:nvSpPr>
            <p:spPr bwMode="auto">
              <a:xfrm>
                <a:off x="5094" y="2963"/>
                <a:ext cx="99" cy="6"/>
              </a:xfrm>
              <a:prstGeom prst="rect">
                <a:avLst/>
              </a:prstGeom>
              <a:gradFill rotWithShape="0">
                <a:gsLst>
                  <a:gs pos="0">
                    <a:srgbClr val="2B2B2B"/>
                  </a:gs>
                  <a:gs pos="50000">
                    <a:srgbClr val="919191"/>
                  </a:gs>
                  <a:gs pos="100000">
                    <a:srgbClr val="2B2B2B"/>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nvGrpSpPr>
              <p:cNvPr id="177303" name="Group 23"/>
              <p:cNvGrpSpPr>
                <a:grpSpLocks/>
              </p:cNvGrpSpPr>
              <p:nvPr/>
            </p:nvGrpSpPr>
            <p:grpSpPr bwMode="auto">
              <a:xfrm>
                <a:off x="5175" y="2916"/>
                <a:ext cx="18" cy="101"/>
                <a:chOff x="5175" y="2916"/>
                <a:chExt cx="18" cy="101"/>
              </a:xfrm>
            </p:grpSpPr>
            <p:sp>
              <p:nvSpPr>
                <p:cNvPr id="177304" name="Oval 24"/>
                <p:cNvSpPr>
                  <a:spLocks noChangeArrowheads="1"/>
                </p:cNvSpPr>
                <p:nvPr/>
              </p:nvSpPr>
              <p:spPr bwMode="auto">
                <a:xfrm>
                  <a:off x="5175" y="2970"/>
                  <a:ext cx="18" cy="47"/>
                </a:xfrm>
                <a:prstGeom prst="ellipse">
                  <a:avLst/>
                </a:prstGeom>
                <a:gradFill rotWithShape="0">
                  <a:gsLst>
                    <a:gs pos="0">
                      <a:srgbClr val="2B2B2B"/>
                    </a:gs>
                    <a:gs pos="50000">
                      <a:srgbClr val="919191"/>
                    </a:gs>
                    <a:gs pos="100000">
                      <a:srgbClr val="2B2B2B"/>
                    </a:gs>
                  </a:gsLst>
                  <a:lin ang="5400000" scaled="1"/>
                </a:gra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7305" name="Oval 25"/>
                <p:cNvSpPr>
                  <a:spLocks noChangeArrowheads="1"/>
                </p:cNvSpPr>
                <p:nvPr/>
              </p:nvSpPr>
              <p:spPr bwMode="auto">
                <a:xfrm>
                  <a:off x="5175" y="2916"/>
                  <a:ext cx="18" cy="46"/>
                </a:xfrm>
                <a:prstGeom prst="ellipse">
                  <a:avLst/>
                </a:prstGeom>
                <a:gradFill rotWithShape="0">
                  <a:gsLst>
                    <a:gs pos="0">
                      <a:srgbClr val="2B2B2B"/>
                    </a:gs>
                    <a:gs pos="50000">
                      <a:srgbClr val="919191"/>
                    </a:gs>
                    <a:gs pos="100000">
                      <a:srgbClr val="2B2B2B"/>
                    </a:gs>
                  </a:gsLst>
                  <a:lin ang="5400000" scaled="1"/>
                </a:gra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grpSp>
        <p:grpSp>
          <p:nvGrpSpPr>
            <p:cNvPr id="177200" name="Group 26"/>
            <p:cNvGrpSpPr>
              <a:grpSpLocks/>
            </p:cNvGrpSpPr>
            <p:nvPr/>
          </p:nvGrpSpPr>
          <p:grpSpPr bwMode="auto">
            <a:xfrm>
              <a:off x="2061" y="1888"/>
              <a:ext cx="93" cy="91"/>
              <a:chOff x="5606" y="2955"/>
              <a:chExt cx="102" cy="102"/>
            </a:xfrm>
          </p:grpSpPr>
          <p:sp>
            <p:nvSpPr>
              <p:cNvPr id="177297" name="Oval 27"/>
              <p:cNvSpPr>
                <a:spLocks noChangeArrowheads="1"/>
              </p:cNvSpPr>
              <p:nvPr/>
            </p:nvSpPr>
            <p:spPr bwMode="auto">
              <a:xfrm>
                <a:off x="5606" y="2955"/>
                <a:ext cx="102" cy="102"/>
              </a:xfrm>
              <a:prstGeom prst="ellipse">
                <a:avLst/>
              </a:prstGeom>
              <a:solidFill>
                <a:srgbClr val="00279F"/>
              </a:soli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7298" name="AutoShape 28"/>
              <p:cNvSpPr>
                <a:spLocks noChangeArrowheads="1"/>
              </p:cNvSpPr>
              <p:nvPr/>
            </p:nvSpPr>
            <p:spPr bwMode="auto">
              <a:xfrm rot="5400000">
                <a:off x="5630" y="2968"/>
                <a:ext cx="78" cy="76"/>
              </a:xfrm>
              <a:prstGeom prst="triangle">
                <a:avLst>
                  <a:gd name="adj" fmla="val 49995"/>
                </a:avLst>
              </a:prstGeom>
              <a:solidFill>
                <a:schemeClr val="hlink"/>
              </a:soli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sp>
          <p:nvSpPr>
            <p:cNvPr id="177201" name="Line 29"/>
            <p:cNvSpPr>
              <a:spLocks noChangeShapeType="1"/>
            </p:cNvSpPr>
            <p:nvPr/>
          </p:nvSpPr>
          <p:spPr bwMode="auto">
            <a:xfrm flipV="1">
              <a:off x="1691" y="1026"/>
              <a:ext cx="10" cy="228"/>
            </a:xfrm>
            <a:prstGeom prst="line">
              <a:avLst/>
            </a:prstGeom>
            <a:noFill/>
            <a:ln w="25400">
              <a:solidFill>
                <a:srgbClr val="0000FF"/>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7202" name="Rectangle 30"/>
            <p:cNvSpPr>
              <a:spLocks noChangeArrowheads="1"/>
            </p:cNvSpPr>
            <p:nvPr/>
          </p:nvSpPr>
          <p:spPr bwMode="auto">
            <a:xfrm>
              <a:off x="806" y="1629"/>
              <a:ext cx="682" cy="99"/>
            </a:xfrm>
            <a:prstGeom prst="rect">
              <a:avLst/>
            </a:prstGeom>
            <a:noFill/>
            <a:ln>
              <a:noFill/>
            </a:ln>
            <a:effectLst/>
            <a:extLst>
              <a:ext uri="{909E8E84-426E-40DD-AFC4-6F175D3DCCD1}">
                <a14:hiddenFill xmlns:a14="http://schemas.microsoft.com/office/drawing/2010/main">
                  <a:solidFill>
                    <a:srgbClr val="EAEC5E"/>
                  </a:solidFill>
                </a14:hiddenFill>
              </a:ext>
              <a:ext uri="{91240B29-F687-4F45-9708-019B960494DF}">
                <a14:hiddenLine xmlns:a14="http://schemas.microsoft.com/office/drawing/2010/main" w="127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45000"/>
                </a:lnSpc>
                <a:spcBef>
                  <a:spcPct val="0"/>
                </a:spcBef>
                <a:buFontTx/>
                <a:buNone/>
              </a:pPr>
              <a:r>
                <a:rPr lang="en-US" altLang="en-US" sz="1000" b="1">
                  <a:solidFill>
                    <a:srgbClr val="0000FF"/>
                  </a:solidFill>
                  <a:latin typeface="Tahoma" panose="020B0604030504040204" pitchFamily="34" charset="0"/>
                  <a:cs typeface="Angsana New" panose="02020603050405020304" pitchFamily="18" charset="-34"/>
                </a:rPr>
                <a:t>DEFIBRATOR</a:t>
              </a:r>
            </a:p>
          </p:txBody>
        </p:sp>
        <p:sp>
          <p:nvSpPr>
            <p:cNvPr id="177203" name="Rectangle 31"/>
            <p:cNvSpPr>
              <a:spLocks noChangeArrowheads="1"/>
            </p:cNvSpPr>
            <p:nvPr/>
          </p:nvSpPr>
          <p:spPr bwMode="auto">
            <a:xfrm>
              <a:off x="1565" y="890"/>
              <a:ext cx="453" cy="118"/>
            </a:xfrm>
            <a:prstGeom prst="rect">
              <a:avLst/>
            </a:prstGeom>
            <a:noFill/>
            <a:ln>
              <a:noFill/>
            </a:ln>
            <a:effectLst/>
            <a:extLst>
              <a:ext uri="{909E8E84-426E-40DD-AFC4-6F175D3DCCD1}">
                <a14:hiddenFill xmlns:a14="http://schemas.microsoft.com/office/drawing/2010/main">
                  <a:solidFill>
                    <a:srgbClr val="EAEC5E"/>
                  </a:solidFill>
                </a14:hiddenFill>
              </a:ext>
              <a:ext uri="{91240B29-F687-4F45-9708-019B960494DF}">
                <a14:hiddenLine xmlns:a14="http://schemas.microsoft.com/office/drawing/2010/main" w="127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65000"/>
                </a:lnSpc>
                <a:spcBef>
                  <a:spcPct val="0"/>
                </a:spcBef>
                <a:buFontTx/>
                <a:buNone/>
              </a:pPr>
              <a:r>
                <a:rPr lang="en-US" altLang="en-US" sz="1000" b="1">
                  <a:solidFill>
                    <a:srgbClr val="0000FF"/>
                  </a:solidFill>
                  <a:latin typeface="Tahoma" panose="020B0604030504040204" pitchFamily="34" charset="0"/>
                  <a:cs typeface="Angsana New" panose="02020603050405020304" pitchFamily="18" charset="-34"/>
                </a:rPr>
                <a:t>STEAM</a:t>
              </a:r>
            </a:p>
          </p:txBody>
        </p:sp>
        <p:sp>
          <p:nvSpPr>
            <p:cNvPr id="177204" name="Rectangle 32"/>
            <p:cNvSpPr>
              <a:spLocks noChangeArrowheads="1"/>
            </p:cNvSpPr>
            <p:nvPr/>
          </p:nvSpPr>
          <p:spPr bwMode="auto">
            <a:xfrm>
              <a:off x="4558" y="2036"/>
              <a:ext cx="930" cy="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000" b="1">
                  <a:solidFill>
                    <a:srgbClr val="0000FF"/>
                  </a:solidFill>
                  <a:latin typeface="Tahoma" panose="020B0604030504040204" pitchFamily="34" charset="0"/>
                  <a:cs typeface="Angsana New" panose="02020603050405020304" pitchFamily="18" charset="-34"/>
                </a:rPr>
                <a:t>MC. STAND PIPE</a:t>
              </a:r>
            </a:p>
          </p:txBody>
        </p:sp>
        <p:sp>
          <p:nvSpPr>
            <p:cNvPr id="177205" name="Line 33"/>
            <p:cNvSpPr>
              <a:spLocks noChangeShapeType="1"/>
            </p:cNvSpPr>
            <p:nvPr/>
          </p:nvSpPr>
          <p:spPr bwMode="auto">
            <a:xfrm>
              <a:off x="5239" y="1956"/>
              <a:ext cx="363" cy="0"/>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177206" name="Group 34"/>
            <p:cNvGrpSpPr>
              <a:grpSpLocks/>
            </p:cNvGrpSpPr>
            <p:nvPr/>
          </p:nvGrpSpPr>
          <p:grpSpPr bwMode="auto">
            <a:xfrm>
              <a:off x="2608" y="1298"/>
              <a:ext cx="425" cy="184"/>
              <a:chOff x="436" y="2481"/>
              <a:chExt cx="472" cy="203"/>
            </a:xfrm>
          </p:grpSpPr>
          <p:sp>
            <p:nvSpPr>
              <p:cNvPr id="177287" name="Rectangle 35"/>
              <p:cNvSpPr>
                <a:spLocks noChangeArrowheads="1"/>
              </p:cNvSpPr>
              <p:nvPr/>
            </p:nvSpPr>
            <p:spPr bwMode="auto">
              <a:xfrm>
                <a:off x="628" y="2639"/>
                <a:ext cx="90" cy="32"/>
              </a:xfrm>
              <a:prstGeom prst="rect">
                <a:avLst/>
              </a:pr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7288" name="Oval 36"/>
              <p:cNvSpPr>
                <a:spLocks noChangeArrowheads="1"/>
              </p:cNvSpPr>
              <p:nvPr/>
            </p:nvSpPr>
            <p:spPr bwMode="auto">
              <a:xfrm>
                <a:off x="460" y="2507"/>
                <a:ext cx="430" cy="75"/>
              </a:xfrm>
              <a:prstGeom prst="ellipse">
                <a:avLst/>
              </a:prstGeom>
              <a:noFill/>
              <a:ln w="1270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7289" name="Oval 37"/>
              <p:cNvSpPr>
                <a:spLocks noChangeArrowheads="1"/>
              </p:cNvSpPr>
              <p:nvPr/>
            </p:nvSpPr>
            <p:spPr bwMode="auto">
              <a:xfrm>
                <a:off x="461" y="2537"/>
                <a:ext cx="422" cy="106"/>
              </a:xfrm>
              <a:prstGeom prst="ellipse">
                <a:avLst/>
              </a:prstGeom>
              <a:gradFill rotWithShape="0">
                <a:gsLst>
                  <a:gs pos="0">
                    <a:srgbClr val="021245"/>
                  </a:gs>
                  <a:gs pos="50000">
                    <a:srgbClr val="063DE8"/>
                  </a:gs>
                  <a:gs pos="100000">
                    <a:srgbClr val="021245"/>
                  </a:gs>
                </a:gsLst>
                <a:lin ang="5400000" scaled="1"/>
              </a:gra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7290" name="AutoShape 38"/>
              <p:cNvSpPr>
                <a:spLocks noChangeArrowheads="1"/>
              </p:cNvSpPr>
              <p:nvPr/>
            </p:nvSpPr>
            <p:spPr bwMode="auto">
              <a:xfrm>
                <a:off x="436" y="2548"/>
                <a:ext cx="472" cy="48"/>
              </a:xfrm>
              <a:prstGeom prst="roundRect">
                <a:avLst>
                  <a:gd name="adj" fmla="val 12495"/>
                </a:avLst>
              </a:prstGeom>
              <a:gradFill rotWithShape="0">
                <a:gsLst>
                  <a:gs pos="0">
                    <a:srgbClr val="021245"/>
                  </a:gs>
                  <a:gs pos="50000">
                    <a:srgbClr val="063DE8"/>
                  </a:gs>
                  <a:gs pos="100000">
                    <a:srgbClr val="021245"/>
                  </a:gs>
                </a:gsLst>
                <a:lin ang="5400000" scaled="1"/>
              </a:gra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7291" name="Rectangle 39"/>
              <p:cNvSpPr>
                <a:spLocks noChangeArrowheads="1"/>
              </p:cNvSpPr>
              <p:nvPr/>
            </p:nvSpPr>
            <p:spPr bwMode="auto">
              <a:xfrm>
                <a:off x="608" y="2679"/>
                <a:ext cx="128" cy="5"/>
              </a:xfrm>
              <a:prstGeom prst="rect">
                <a:avLst/>
              </a:pr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7292" name="Oval 40"/>
              <p:cNvSpPr>
                <a:spLocks noChangeArrowheads="1"/>
              </p:cNvSpPr>
              <p:nvPr/>
            </p:nvSpPr>
            <p:spPr bwMode="auto">
              <a:xfrm>
                <a:off x="634" y="2481"/>
                <a:ext cx="72" cy="59"/>
              </a:xfrm>
              <a:prstGeom prst="ellipse">
                <a:avLst/>
              </a:prstGeom>
              <a:gradFill rotWithShape="0">
                <a:gsLst>
                  <a:gs pos="0">
                    <a:srgbClr val="4B000C"/>
                  </a:gs>
                  <a:gs pos="50000">
                    <a:srgbClr val="FC0128"/>
                  </a:gs>
                  <a:gs pos="100000">
                    <a:srgbClr val="4B000C"/>
                  </a:gs>
                </a:gsLst>
                <a:lin ang="5400000" scaled="1"/>
              </a:gra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7293" name="Oval 41"/>
              <p:cNvSpPr>
                <a:spLocks noChangeArrowheads="1"/>
              </p:cNvSpPr>
              <p:nvPr/>
            </p:nvSpPr>
            <p:spPr bwMode="auto">
              <a:xfrm>
                <a:off x="554" y="2535"/>
                <a:ext cx="112" cy="73"/>
              </a:xfrm>
              <a:prstGeom prst="ellipse">
                <a:avLst/>
              </a:prstGeom>
              <a:gradFill rotWithShape="0">
                <a:gsLst>
                  <a:gs pos="0">
                    <a:srgbClr val="003400"/>
                  </a:gs>
                  <a:gs pos="50000">
                    <a:srgbClr val="00AE00"/>
                  </a:gs>
                  <a:gs pos="100000">
                    <a:srgbClr val="003400"/>
                  </a:gs>
                </a:gsLst>
                <a:lin ang="5400000" scaled="1"/>
              </a:gra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7294" name="Oval 42"/>
              <p:cNvSpPr>
                <a:spLocks noChangeArrowheads="1"/>
              </p:cNvSpPr>
              <p:nvPr/>
            </p:nvSpPr>
            <p:spPr bwMode="auto">
              <a:xfrm>
                <a:off x="674" y="2535"/>
                <a:ext cx="114" cy="73"/>
              </a:xfrm>
              <a:prstGeom prst="ellipse">
                <a:avLst/>
              </a:prstGeom>
              <a:gradFill rotWithShape="0">
                <a:gsLst>
                  <a:gs pos="0">
                    <a:srgbClr val="003400"/>
                  </a:gs>
                  <a:gs pos="50000">
                    <a:srgbClr val="00AE00"/>
                  </a:gs>
                  <a:gs pos="100000">
                    <a:srgbClr val="003400"/>
                  </a:gs>
                </a:gsLst>
                <a:lin ang="5400000" scaled="1"/>
              </a:gra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7295" name="Oval 43"/>
              <p:cNvSpPr>
                <a:spLocks noChangeArrowheads="1"/>
              </p:cNvSpPr>
              <p:nvPr/>
            </p:nvSpPr>
            <p:spPr bwMode="auto">
              <a:xfrm>
                <a:off x="578" y="2496"/>
                <a:ext cx="34" cy="19"/>
              </a:xfrm>
              <a:prstGeom prst="ellipse">
                <a:avLst/>
              </a:prstGeom>
              <a:solidFill>
                <a:schemeClr val="tx1"/>
              </a:soli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7296" name="Oval 44"/>
              <p:cNvSpPr>
                <a:spLocks noChangeArrowheads="1"/>
              </p:cNvSpPr>
              <p:nvPr/>
            </p:nvSpPr>
            <p:spPr bwMode="auto">
              <a:xfrm>
                <a:off x="730" y="2496"/>
                <a:ext cx="34" cy="19"/>
              </a:xfrm>
              <a:prstGeom prst="ellipse">
                <a:avLst/>
              </a:prstGeom>
              <a:solidFill>
                <a:schemeClr val="tx1"/>
              </a:soli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sp>
          <p:nvSpPr>
            <p:cNvPr id="177207" name="Line 45"/>
            <p:cNvSpPr>
              <a:spLocks noChangeShapeType="1"/>
            </p:cNvSpPr>
            <p:nvPr/>
          </p:nvSpPr>
          <p:spPr bwMode="auto">
            <a:xfrm flipV="1">
              <a:off x="2835" y="1480"/>
              <a:ext cx="0" cy="459"/>
            </a:xfrm>
            <a:prstGeom prst="line">
              <a:avLst/>
            </a:prstGeom>
            <a:noFill/>
            <a:ln w="254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177208" name="Group 46"/>
            <p:cNvGrpSpPr>
              <a:grpSpLocks/>
            </p:cNvGrpSpPr>
            <p:nvPr/>
          </p:nvGrpSpPr>
          <p:grpSpPr bwMode="auto">
            <a:xfrm>
              <a:off x="3107" y="1207"/>
              <a:ext cx="858" cy="282"/>
              <a:chOff x="1012" y="3255"/>
              <a:chExt cx="952" cy="314"/>
            </a:xfrm>
          </p:grpSpPr>
          <p:grpSp>
            <p:nvGrpSpPr>
              <p:cNvPr id="177266" name="Group 47"/>
              <p:cNvGrpSpPr>
                <a:grpSpLocks/>
              </p:cNvGrpSpPr>
              <p:nvPr/>
            </p:nvGrpSpPr>
            <p:grpSpPr bwMode="auto">
              <a:xfrm>
                <a:off x="1012" y="3326"/>
                <a:ext cx="143" cy="44"/>
                <a:chOff x="1012" y="3326"/>
                <a:chExt cx="143" cy="44"/>
              </a:xfrm>
            </p:grpSpPr>
            <p:sp>
              <p:nvSpPr>
                <p:cNvPr id="177285" name="Rectangle 48"/>
                <p:cNvSpPr>
                  <a:spLocks noChangeArrowheads="1"/>
                </p:cNvSpPr>
                <p:nvPr/>
              </p:nvSpPr>
              <p:spPr bwMode="auto">
                <a:xfrm>
                  <a:off x="1033" y="3343"/>
                  <a:ext cx="99" cy="27"/>
                </a:xfrm>
                <a:prstGeom prst="rect">
                  <a:avLst/>
                </a:prstGeom>
                <a:gradFill rotWithShape="0">
                  <a:gsLst>
                    <a:gs pos="0">
                      <a:srgbClr val="1F1F1F"/>
                    </a:gs>
                    <a:gs pos="50000">
                      <a:srgbClr val="676767"/>
                    </a:gs>
                    <a:gs pos="100000">
                      <a:srgbClr val="1F1F1F"/>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7286" name="Rectangle 49"/>
                <p:cNvSpPr>
                  <a:spLocks noChangeArrowheads="1"/>
                </p:cNvSpPr>
                <p:nvPr/>
              </p:nvSpPr>
              <p:spPr bwMode="auto">
                <a:xfrm>
                  <a:off x="1012" y="3326"/>
                  <a:ext cx="143" cy="9"/>
                </a:xfrm>
                <a:prstGeom prst="rect">
                  <a:avLst/>
                </a:prstGeom>
                <a:gradFill rotWithShape="0">
                  <a:gsLst>
                    <a:gs pos="0">
                      <a:srgbClr val="1F1F1F"/>
                    </a:gs>
                    <a:gs pos="50000">
                      <a:srgbClr val="676767"/>
                    </a:gs>
                    <a:gs pos="100000">
                      <a:srgbClr val="1F1F1F"/>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sp>
            <p:nvSpPr>
              <p:cNvPr id="177267" name="Rectangle 50"/>
              <p:cNvSpPr>
                <a:spLocks noChangeArrowheads="1"/>
              </p:cNvSpPr>
              <p:nvPr/>
            </p:nvSpPr>
            <p:spPr bwMode="auto">
              <a:xfrm>
                <a:off x="1012" y="3365"/>
                <a:ext cx="228" cy="33"/>
              </a:xfrm>
              <a:prstGeom prst="rect">
                <a:avLst/>
              </a:prstGeom>
              <a:gradFill rotWithShape="0">
                <a:gsLst>
                  <a:gs pos="0">
                    <a:srgbClr val="1F1F1F"/>
                  </a:gs>
                  <a:gs pos="50000">
                    <a:srgbClr val="676767"/>
                  </a:gs>
                  <a:gs pos="100000">
                    <a:srgbClr val="1F1F1F"/>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nvGrpSpPr>
              <p:cNvPr id="177268" name="Group 51"/>
              <p:cNvGrpSpPr>
                <a:grpSpLocks/>
              </p:cNvGrpSpPr>
              <p:nvPr/>
            </p:nvGrpSpPr>
            <p:grpSpPr bwMode="auto">
              <a:xfrm>
                <a:off x="1248" y="3255"/>
                <a:ext cx="92" cy="250"/>
                <a:chOff x="1248" y="3255"/>
                <a:chExt cx="92" cy="250"/>
              </a:xfrm>
            </p:grpSpPr>
            <p:sp>
              <p:nvSpPr>
                <p:cNvPr id="177282" name="Oval 52"/>
                <p:cNvSpPr>
                  <a:spLocks noChangeArrowheads="1"/>
                </p:cNvSpPr>
                <p:nvPr/>
              </p:nvSpPr>
              <p:spPr bwMode="auto">
                <a:xfrm>
                  <a:off x="1248" y="3395"/>
                  <a:ext cx="92" cy="110"/>
                </a:xfrm>
                <a:prstGeom prst="ellipse">
                  <a:avLst/>
                </a:prstGeom>
                <a:gradFill rotWithShape="0">
                  <a:gsLst>
                    <a:gs pos="0">
                      <a:srgbClr val="003400"/>
                    </a:gs>
                    <a:gs pos="50000">
                      <a:srgbClr val="00AE00"/>
                    </a:gs>
                    <a:gs pos="100000">
                      <a:srgbClr val="003400"/>
                    </a:gs>
                  </a:gsLst>
                  <a:lin ang="0" scaled="1"/>
                </a:gra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7283" name="Oval 53"/>
                <p:cNvSpPr>
                  <a:spLocks noChangeArrowheads="1"/>
                </p:cNvSpPr>
                <p:nvPr/>
              </p:nvSpPr>
              <p:spPr bwMode="auto">
                <a:xfrm>
                  <a:off x="1248" y="3255"/>
                  <a:ext cx="92" cy="112"/>
                </a:xfrm>
                <a:prstGeom prst="ellipse">
                  <a:avLst/>
                </a:prstGeom>
                <a:gradFill rotWithShape="0">
                  <a:gsLst>
                    <a:gs pos="0">
                      <a:srgbClr val="003400"/>
                    </a:gs>
                    <a:gs pos="50000">
                      <a:srgbClr val="00AE00"/>
                    </a:gs>
                    <a:gs pos="100000">
                      <a:srgbClr val="003400"/>
                    </a:gs>
                  </a:gsLst>
                  <a:lin ang="0" scaled="1"/>
                </a:gra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7284" name="Rectangle 54"/>
                <p:cNvSpPr>
                  <a:spLocks noChangeArrowheads="1"/>
                </p:cNvSpPr>
                <p:nvPr/>
              </p:nvSpPr>
              <p:spPr bwMode="auto">
                <a:xfrm>
                  <a:off x="1248" y="3315"/>
                  <a:ext cx="92" cy="131"/>
                </a:xfrm>
                <a:prstGeom prst="rect">
                  <a:avLst/>
                </a:prstGeom>
                <a:gradFill rotWithShape="0">
                  <a:gsLst>
                    <a:gs pos="0">
                      <a:srgbClr val="003400"/>
                    </a:gs>
                    <a:gs pos="50000">
                      <a:srgbClr val="00AE00"/>
                    </a:gs>
                    <a:gs pos="100000">
                      <a:srgbClr val="003400"/>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grpSp>
            <p:nvGrpSpPr>
              <p:cNvPr id="177269" name="Group 55"/>
              <p:cNvGrpSpPr>
                <a:grpSpLocks/>
              </p:cNvGrpSpPr>
              <p:nvPr/>
            </p:nvGrpSpPr>
            <p:grpSpPr bwMode="auto">
              <a:xfrm>
                <a:off x="1348" y="3275"/>
                <a:ext cx="213" cy="230"/>
                <a:chOff x="1348" y="3275"/>
                <a:chExt cx="213" cy="230"/>
              </a:xfrm>
            </p:grpSpPr>
            <p:sp>
              <p:nvSpPr>
                <p:cNvPr id="177277" name="Oval 56"/>
                <p:cNvSpPr>
                  <a:spLocks noChangeArrowheads="1"/>
                </p:cNvSpPr>
                <p:nvPr/>
              </p:nvSpPr>
              <p:spPr bwMode="auto">
                <a:xfrm>
                  <a:off x="1388" y="3275"/>
                  <a:ext cx="113" cy="131"/>
                </a:xfrm>
                <a:prstGeom prst="ellipse">
                  <a:avLst/>
                </a:prstGeom>
                <a:gradFill rotWithShape="0">
                  <a:gsLst>
                    <a:gs pos="0">
                      <a:srgbClr val="003400"/>
                    </a:gs>
                    <a:gs pos="50000">
                      <a:srgbClr val="00AE00"/>
                    </a:gs>
                    <a:gs pos="100000">
                      <a:srgbClr val="003400"/>
                    </a:gs>
                  </a:gsLst>
                  <a:lin ang="5400000" scaled="1"/>
                </a:gra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7278" name="Rectangle 57"/>
                <p:cNvSpPr>
                  <a:spLocks noChangeArrowheads="1"/>
                </p:cNvSpPr>
                <p:nvPr/>
              </p:nvSpPr>
              <p:spPr bwMode="auto">
                <a:xfrm>
                  <a:off x="1348" y="3315"/>
                  <a:ext cx="194" cy="190"/>
                </a:xfrm>
                <a:prstGeom prst="rect">
                  <a:avLst/>
                </a:prstGeom>
                <a:gradFill rotWithShape="0">
                  <a:gsLst>
                    <a:gs pos="0">
                      <a:srgbClr val="003400"/>
                    </a:gs>
                    <a:gs pos="50000">
                      <a:srgbClr val="00AE00"/>
                    </a:gs>
                    <a:gs pos="100000">
                      <a:srgbClr val="003400"/>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7279" name="Rectangle 58"/>
                <p:cNvSpPr>
                  <a:spLocks noChangeArrowheads="1"/>
                </p:cNvSpPr>
                <p:nvPr/>
              </p:nvSpPr>
              <p:spPr bwMode="auto">
                <a:xfrm>
                  <a:off x="1368" y="3296"/>
                  <a:ext cx="12" cy="11"/>
                </a:xfrm>
                <a:prstGeom prst="rect">
                  <a:avLst/>
                </a:prstGeom>
                <a:gradFill rotWithShape="0">
                  <a:gsLst>
                    <a:gs pos="0">
                      <a:srgbClr val="003400"/>
                    </a:gs>
                    <a:gs pos="50000">
                      <a:srgbClr val="00AE00"/>
                    </a:gs>
                    <a:gs pos="100000">
                      <a:srgbClr val="003400"/>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7280" name="Rectangle 59"/>
                <p:cNvSpPr>
                  <a:spLocks noChangeArrowheads="1"/>
                </p:cNvSpPr>
                <p:nvPr/>
              </p:nvSpPr>
              <p:spPr bwMode="auto">
                <a:xfrm>
                  <a:off x="1509" y="3296"/>
                  <a:ext cx="12" cy="11"/>
                </a:xfrm>
                <a:prstGeom prst="rect">
                  <a:avLst/>
                </a:prstGeom>
                <a:gradFill rotWithShape="0">
                  <a:gsLst>
                    <a:gs pos="0">
                      <a:srgbClr val="003400"/>
                    </a:gs>
                    <a:gs pos="50000">
                      <a:srgbClr val="00AE00"/>
                    </a:gs>
                    <a:gs pos="100000">
                      <a:srgbClr val="003400"/>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7281" name="Rectangle 60"/>
                <p:cNvSpPr>
                  <a:spLocks noChangeArrowheads="1"/>
                </p:cNvSpPr>
                <p:nvPr/>
              </p:nvSpPr>
              <p:spPr bwMode="auto">
                <a:xfrm>
                  <a:off x="1550" y="3296"/>
                  <a:ext cx="11" cy="209"/>
                </a:xfrm>
                <a:prstGeom prst="rect">
                  <a:avLst/>
                </a:prstGeom>
                <a:gradFill rotWithShape="0">
                  <a:gsLst>
                    <a:gs pos="0">
                      <a:srgbClr val="003400"/>
                    </a:gs>
                    <a:gs pos="50000">
                      <a:srgbClr val="00AE00"/>
                    </a:gs>
                    <a:gs pos="100000">
                      <a:srgbClr val="003400"/>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sp>
            <p:nvSpPr>
              <p:cNvPr id="177270" name="Freeform 61"/>
              <p:cNvSpPr>
                <a:spLocks/>
              </p:cNvSpPr>
              <p:nvPr/>
            </p:nvSpPr>
            <p:spPr bwMode="auto">
              <a:xfrm>
                <a:off x="1203" y="3489"/>
                <a:ext cx="747" cy="80"/>
              </a:xfrm>
              <a:custGeom>
                <a:avLst/>
                <a:gdLst>
                  <a:gd name="T0" fmla="*/ 81 w 747"/>
                  <a:gd name="T1" fmla="*/ 20 h 80"/>
                  <a:gd name="T2" fmla="*/ 464 w 747"/>
                  <a:gd name="T3" fmla="*/ 20 h 80"/>
                  <a:gd name="T4" fmla="*/ 464 w 747"/>
                  <a:gd name="T5" fmla="*/ 0 h 80"/>
                  <a:gd name="T6" fmla="*/ 746 w 747"/>
                  <a:gd name="T7" fmla="*/ 0 h 80"/>
                  <a:gd name="T8" fmla="*/ 746 w 747"/>
                  <a:gd name="T9" fmla="*/ 79 h 80"/>
                  <a:gd name="T10" fmla="*/ 0 w 747"/>
                  <a:gd name="T11" fmla="*/ 79 h 80"/>
                  <a:gd name="T12" fmla="*/ 0 w 747"/>
                  <a:gd name="T13" fmla="*/ 20 h 80"/>
                  <a:gd name="T14" fmla="*/ 121 w 747"/>
                  <a:gd name="T15" fmla="*/ 20 h 80"/>
                  <a:gd name="T16" fmla="*/ 141 w 747"/>
                  <a:gd name="T17" fmla="*/ 20 h 8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7" h="80">
                    <a:moveTo>
                      <a:pt x="81" y="20"/>
                    </a:moveTo>
                    <a:lnTo>
                      <a:pt x="464" y="20"/>
                    </a:lnTo>
                    <a:lnTo>
                      <a:pt x="464" y="0"/>
                    </a:lnTo>
                    <a:lnTo>
                      <a:pt x="746" y="0"/>
                    </a:lnTo>
                    <a:lnTo>
                      <a:pt x="746" y="79"/>
                    </a:lnTo>
                    <a:lnTo>
                      <a:pt x="0" y="79"/>
                    </a:lnTo>
                    <a:lnTo>
                      <a:pt x="0" y="20"/>
                    </a:lnTo>
                    <a:lnTo>
                      <a:pt x="121" y="20"/>
                    </a:lnTo>
                    <a:lnTo>
                      <a:pt x="141" y="20"/>
                    </a:lnTo>
                  </a:path>
                </a:pathLst>
              </a:custGeom>
              <a:gradFill rotWithShape="0">
                <a:gsLst>
                  <a:gs pos="0">
                    <a:srgbClr val="0F0F0F"/>
                  </a:gs>
                  <a:gs pos="50000">
                    <a:srgbClr val="333333"/>
                  </a:gs>
                  <a:gs pos="100000">
                    <a:srgbClr val="0F0F0F"/>
                  </a:gs>
                </a:gsLst>
                <a:lin ang="5400000" scaled="1"/>
              </a:gradFill>
              <a:ln w="12700" cap="rnd" cmpd="sng">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7271" name="Rectangle 62"/>
              <p:cNvSpPr>
                <a:spLocks noChangeArrowheads="1"/>
              </p:cNvSpPr>
              <p:nvPr/>
            </p:nvSpPr>
            <p:spPr bwMode="auto">
              <a:xfrm>
                <a:off x="1691" y="3275"/>
                <a:ext cx="234" cy="210"/>
              </a:xfrm>
              <a:prstGeom prst="rect">
                <a:avLst/>
              </a:prstGeom>
              <a:gradFill rotWithShape="0">
                <a:gsLst>
                  <a:gs pos="0">
                    <a:srgbClr val="021245"/>
                  </a:gs>
                  <a:gs pos="50000">
                    <a:srgbClr val="063DE8"/>
                  </a:gs>
                  <a:gs pos="100000">
                    <a:srgbClr val="021245"/>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7272" name="Rectangle 63"/>
              <p:cNvSpPr>
                <a:spLocks noChangeArrowheads="1"/>
              </p:cNvSpPr>
              <p:nvPr/>
            </p:nvSpPr>
            <p:spPr bwMode="auto">
              <a:xfrm>
                <a:off x="1591" y="3365"/>
                <a:ext cx="71" cy="33"/>
              </a:xfrm>
              <a:prstGeom prst="rect">
                <a:avLst/>
              </a:prstGeom>
              <a:gradFill rotWithShape="0">
                <a:gsLst>
                  <a:gs pos="0">
                    <a:srgbClr val="021245"/>
                  </a:gs>
                  <a:gs pos="50000">
                    <a:srgbClr val="063DE8"/>
                  </a:gs>
                  <a:gs pos="100000">
                    <a:srgbClr val="021245"/>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7273" name="Rectangle 64"/>
              <p:cNvSpPr>
                <a:spLocks noChangeArrowheads="1"/>
              </p:cNvSpPr>
              <p:nvPr/>
            </p:nvSpPr>
            <p:spPr bwMode="auto">
              <a:xfrm>
                <a:off x="1670" y="3334"/>
                <a:ext cx="13" cy="92"/>
              </a:xfrm>
              <a:prstGeom prst="rect">
                <a:avLst/>
              </a:prstGeom>
              <a:gradFill rotWithShape="0">
                <a:gsLst>
                  <a:gs pos="0">
                    <a:srgbClr val="021245"/>
                  </a:gs>
                  <a:gs pos="50000">
                    <a:srgbClr val="063DE8"/>
                  </a:gs>
                  <a:gs pos="100000">
                    <a:srgbClr val="021245"/>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7274" name="Rectangle 65"/>
              <p:cNvSpPr>
                <a:spLocks noChangeArrowheads="1"/>
              </p:cNvSpPr>
              <p:nvPr/>
            </p:nvSpPr>
            <p:spPr bwMode="auto">
              <a:xfrm>
                <a:off x="1569" y="3345"/>
                <a:ext cx="14" cy="72"/>
              </a:xfrm>
              <a:prstGeom prst="rect">
                <a:avLst/>
              </a:prstGeom>
              <a:gradFill rotWithShape="0">
                <a:gsLst>
                  <a:gs pos="0">
                    <a:srgbClr val="021245"/>
                  </a:gs>
                  <a:gs pos="50000">
                    <a:srgbClr val="063DE8"/>
                  </a:gs>
                  <a:gs pos="100000">
                    <a:srgbClr val="021245"/>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7275" name="Rectangle 66"/>
              <p:cNvSpPr>
                <a:spLocks noChangeArrowheads="1"/>
              </p:cNvSpPr>
              <p:nvPr/>
            </p:nvSpPr>
            <p:spPr bwMode="auto">
              <a:xfrm>
                <a:off x="1933" y="3334"/>
                <a:ext cx="12" cy="92"/>
              </a:xfrm>
              <a:prstGeom prst="rect">
                <a:avLst/>
              </a:prstGeom>
              <a:gradFill rotWithShape="0">
                <a:gsLst>
                  <a:gs pos="0">
                    <a:srgbClr val="021245"/>
                  </a:gs>
                  <a:gs pos="50000">
                    <a:srgbClr val="063DE8"/>
                  </a:gs>
                  <a:gs pos="100000">
                    <a:srgbClr val="021245"/>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7276" name="Rectangle 67"/>
              <p:cNvSpPr>
                <a:spLocks noChangeArrowheads="1"/>
              </p:cNvSpPr>
              <p:nvPr/>
            </p:nvSpPr>
            <p:spPr bwMode="auto">
              <a:xfrm>
                <a:off x="1953" y="3355"/>
                <a:ext cx="11" cy="51"/>
              </a:xfrm>
              <a:prstGeom prst="rect">
                <a:avLst/>
              </a:prstGeom>
              <a:gradFill rotWithShape="0">
                <a:gsLst>
                  <a:gs pos="0">
                    <a:srgbClr val="021245"/>
                  </a:gs>
                  <a:gs pos="50000">
                    <a:srgbClr val="063DE8"/>
                  </a:gs>
                  <a:gs pos="100000">
                    <a:srgbClr val="021245"/>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grpSp>
          <p:nvGrpSpPr>
            <p:cNvPr id="177209" name="Group 68"/>
            <p:cNvGrpSpPr>
              <a:grpSpLocks/>
            </p:cNvGrpSpPr>
            <p:nvPr/>
          </p:nvGrpSpPr>
          <p:grpSpPr bwMode="auto">
            <a:xfrm>
              <a:off x="3243" y="1525"/>
              <a:ext cx="404" cy="511"/>
              <a:chOff x="1247" y="3548"/>
              <a:chExt cx="404" cy="511"/>
            </a:xfrm>
          </p:grpSpPr>
          <p:sp>
            <p:nvSpPr>
              <p:cNvPr id="177257" name="Rectangle 69"/>
              <p:cNvSpPr>
                <a:spLocks noChangeArrowheads="1"/>
              </p:cNvSpPr>
              <p:nvPr/>
            </p:nvSpPr>
            <p:spPr bwMode="auto">
              <a:xfrm>
                <a:off x="1338" y="3548"/>
                <a:ext cx="36" cy="247"/>
              </a:xfrm>
              <a:prstGeom prst="rect">
                <a:avLst/>
              </a:pr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nvGrpSpPr>
              <p:cNvPr id="177258" name="Group 70"/>
              <p:cNvGrpSpPr>
                <a:grpSpLocks/>
              </p:cNvGrpSpPr>
              <p:nvPr/>
            </p:nvGrpSpPr>
            <p:grpSpPr bwMode="auto">
              <a:xfrm>
                <a:off x="1247" y="3748"/>
                <a:ext cx="404" cy="311"/>
                <a:chOff x="1158" y="3781"/>
                <a:chExt cx="448" cy="346"/>
              </a:xfrm>
            </p:grpSpPr>
            <p:sp>
              <p:nvSpPr>
                <p:cNvPr id="177259" name="AutoShape 71"/>
                <p:cNvSpPr>
                  <a:spLocks noChangeArrowheads="1"/>
                </p:cNvSpPr>
                <p:nvPr/>
              </p:nvSpPr>
              <p:spPr bwMode="auto">
                <a:xfrm>
                  <a:off x="1226" y="3781"/>
                  <a:ext cx="340" cy="46"/>
                </a:xfrm>
                <a:prstGeom prst="triangle">
                  <a:avLst>
                    <a:gd name="adj" fmla="val 49995"/>
                  </a:avLst>
                </a:pr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7260" name="Rectangle 72"/>
                <p:cNvSpPr>
                  <a:spLocks noChangeArrowheads="1"/>
                </p:cNvSpPr>
                <p:nvPr/>
              </p:nvSpPr>
              <p:spPr bwMode="auto">
                <a:xfrm>
                  <a:off x="1226" y="3835"/>
                  <a:ext cx="340" cy="264"/>
                </a:xfrm>
                <a:prstGeom prst="rect">
                  <a:avLst/>
                </a:pr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7261" name="Rectangle 73"/>
                <p:cNvSpPr>
                  <a:spLocks noChangeArrowheads="1"/>
                </p:cNvSpPr>
                <p:nvPr/>
              </p:nvSpPr>
              <p:spPr bwMode="auto">
                <a:xfrm>
                  <a:off x="1185" y="4107"/>
                  <a:ext cx="421" cy="20"/>
                </a:xfrm>
                <a:prstGeom prst="rect">
                  <a:avLst/>
                </a:pr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7262" name="Rectangle 74"/>
                <p:cNvSpPr>
                  <a:spLocks noChangeArrowheads="1"/>
                </p:cNvSpPr>
                <p:nvPr/>
              </p:nvSpPr>
              <p:spPr bwMode="auto">
                <a:xfrm>
                  <a:off x="1158" y="4019"/>
                  <a:ext cx="99" cy="6"/>
                </a:xfrm>
                <a:prstGeom prst="rect">
                  <a:avLst/>
                </a:prstGeom>
                <a:gradFill rotWithShape="0">
                  <a:gsLst>
                    <a:gs pos="0">
                      <a:srgbClr val="2B2B2B"/>
                    </a:gs>
                    <a:gs pos="50000">
                      <a:srgbClr val="919191"/>
                    </a:gs>
                    <a:gs pos="100000">
                      <a:srgbClr val="2B2B2B"/>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nvGrpSpPr>
                <p:cNvPr id="177263" name="Group 75"/>
                <p:cNvGrpSpPr>
                  <a:grpSpLocks/>
                </p:cNvGrpSpPr>
                <p:nvPr/>
              </p:nvGrpSpPr>
              <p:grpSpPr bwMode="auto">
                <a:xfrm>
                  <a:off x="1239" y="3972"/>
                  <a:ext cx="18" cy="101"/>
                  <a:chOff x="1239" y="3972"/>
                  <a:chExt cx="18" cy="101"/>
                </a:xfrm>
              </p:grpSpPr>
              <p:sp>
                <p:nvSpPr>
                  <p:cNvPr id="177264" name="Oval 76"/>
                  <p:cNvSpPr>
                    <a:spLocks noChangeArrowheads="1"/>
                  </p:cNvSpPr>
                  <p:nvPr/>
                </p:nvSpPr>
                <p:spPr bwMode="auto">
                  <a:xfrm>
                    <a:off x="1239" y="4026"/>
                    <a:ext cx="18" cy="47"/>
                  </a:xfrm>
                  <a:prstGeom prst="ellipse">
                    <a:avLst/>
                  </a:prstGeom>
                  <a:gradFill rotWithShape="0">
                    <a:gsLst>
                      <a:gs pos="0">
                        <a:srgbClr val="2B2B2B"/>
                      </a:gs>
                      <a:gs pos="50000">
                        <a:srgbClr val="919191"/>
                      </a:gs>
                      <a:gs pos="100000">
                        <a:srgbClr val="2B2B2B"/>
                      </a:gs>
                    </a:gsLst>
                    <a:lin ang="5400000" scaled="1"/>
                  </a:gra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7265" name="Oval 77"/>
                  <p:cNvSpPr>
                    <a:spLocks noChangeArrowheads="1"/>
                  </p:cNvSpPr>
                  <p:nvPr/>
                </p:nvSpPr>
                <p:spPr bwMode="auto">
                  <a:xfrm>
                    <a:off x="1239" y="3972"/>
                    <a:ext cx="18" cy="46"/>
                  </a:xfrm>
                  <a:prstGeom prst="ellipse">
                    <a:avLst/>
                  </a:prstGeom>
                  <a:gradFill rotWithShape="0">
                    <a:gsLst>
                      <a:gs pos="0">
                        <a:srgbClr val="2B2B2B"/>
                      </a:gs>
                      <a:gs pos="50000">
                        <a:srgbClr val="919191"/>
                      </a:gs>
                      <a:gs pos="100000">
                        <a:srgbClr val="2B2B2B"/>
                      </a:gs>
                    </a:gsLst>
                    <a:lin ang="5400000" scaled="1"/>
                  </a:gra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grpSp>
        </p:grpSp>
        <p:grpSp>
          <p:nvGrpSpPr>
            <p:cNvPr id="177210" name="Group 78"/>
            <p:cNvGrpSpPr>
              <a:grpSpLocks/>
            </p:cNvGrpSpPr>
            <p:nvPr/>
          </p:nvGrpSpPr>
          <p:grpSpPr bwMode="auto">
            <a:xfrm>
              <a:off x="5397" y="1911"/>
              <a:ext cx="92" cy="93"/>
              <a:chOff x="1718" y="4011"/>
              <a:chExt cx="102" cy="102"/>
            </a:xfrm>
          </p:grpSpPr>
          <p:sp>
            <p:nvSpPr>
              <p:cNvPr id="177255" name="Oval 79"/>
              <p:cNvSpPr>
                <a:spLocks noChangeArrowheads="1"/>
              </p:cNvSpPr>
              <p:nvPr/>
            </p:nvSpPr>
            <p:spPr bwMode="auto">
              <a:xfrm>
                <a:off x="1718" y="4011"/>
                <a:ext cx="102" cy="102"/>
              </a:xfrm>
              <a:prstGeom prst="ellipse">
                <a:avLst/>
              </a:prstGeom>
              <a:solidFill>
                <a:srgbClr val="00279F"/>
              </a:soli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7256" name="AutoShape 80"/>
              <p:cNvSpPr>
                <a:spLocks noChangeArrowheads="1"/>
              </p:cNvSpPr>
              <p:nvPr/>
            </p:nvSpPr>
            <p:spPr bwMode="auto">
              <a:xfrm rot="5400000">
                <a:off x="1743" y="4024"/>
                <a:ext cx="78" cy="76"/>
              </a:xfrm>
              <a:prstGeom prst="triangle">
                <a:avLst>
                  <a:gd name="adj" fmla="val 49995"/>
                </a:avLst>
              </a:prstGeom>
              <a:solidFill>
                <a:schemeClr val="hlink"/>
              </a:soli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sp>
          <p:nvSpPr>
            <p:cNvPr id="177211" name="Rectangle 81"/>
            <p:cNvSpPr>
              <a:spLocks noChangeArrowheads="1"/>
            </p:cNvSpPr>
            <p:nvPr/>
          </p:nvSpPr>
          <p:spPr bwMode="auto">
            <a:xfrm>
              <a:off x="3334" y="1071"/>
              <a:ext cx="519" cy="99"/>
            </a:xfrm>
            <a:prstGeom prst="rect">
              <a:avLst/>
            </a:prstGeom>
            <a:noFill/>
            <a:ln>
              <a:noFill/>
            </a:ln>
            <a:effectLst/>
            <a:extLst>
              <a:ext uri="{909E8E84-426E-40DD-AFC4-6F175D3DCCD1}">
                <a14:hiddenFill xmlns:a14="http://schemas.microsoft.com/office/drawing/2010/main">
                  <a:solidFill>
                    <a:srgbClr val="EAEC5E"/>
                  </a:solidFill>
                </a14:hiddenFill>
              </a:ext>
              <a:ext uri="{91240B29-F687-4F45-9708-019B960494DF}">
                <a14:hiddenLine xmlns:a14="http://schemas.microsoft.com/office/drawing/2010/main" w="127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45000"/>
                </a:lnSpc>
                <a:spcBef>
                  <a:spcPct val="0"/>
                </a:spcBef>
                <a:buFontTx/>
                <a:buNone/>
              </a:pPr>
              <a:r>
                <a:rPr lang="en-US" altLang="en-US" sz="1000" b="1">
                  <a:solidFill>
                    <a:srgbClr val="0000FF"/>
                  </a:solidFill>
                  <a:latin typeface="Tahoma" panose="020B0604030504040204" pitchFamily="34" charset="0"/>
                  <a:cs typeface="Angsana New" panose="02020603050405020304" pitchFamily="18" charset="-34"/>
                </a:rPr>
                <a:t>REFINER</a:t>
              </a:r>
            </a:p>
          </p:txBody>
        </p:sp>
        <p:sp>
          <p:nvSpPr>
            <p:cNvPr id="177212" name="Rectangle 82"/>
            <p:cNvSpPr>
              <a:spLocks noChangeArrowheads="1"/>
            </p:cNvSpPr>
            <p:nvPr/>
          </p:nvSpPr>
          <p:spPr bwMode="auto">
            <a:xfrm>
              <a:off x="2517" y="1117"/>
              <a:ext cx="530" cy="99"/>
            </a:xfrm>
            <a:prstGeom prst="rect">
              <a:avLst/>
            </a:prstGeom>
            <a:noFill/>
            <a:ln>
              <a:noFill/>
            </a:ln>
            <a:effectLst/>
            <a:extLst>
              <a:ext uri="{909E8E84-426E-40DD-AFC4-6F175D3DCCD1}">
                <a14:hiddenFill xmlns:a14="http://schemas.microsoft.com/office/drawing/2010/main">
                  <a:solidFill>
                    <a:srgbClr val="EAEC5E"/>
                  </a:solidFill>
                </a14:hiddenFill>
              </a:ext>
              <a:ext uri="{91240B29-F687-4F45-9708-019B960494DF}">
                <a14:hiddenLine xmlns:a14="http://schemas.microsoft.com/office/drawing/2010/main" w="127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45000"/>
                </a:lnSpc>
                <a:spcBef>
                  <a:spcPct val="0"/>
                </a:spcBef>
                <a:buFontTx/>
                <a:buNone/>
              </a:pPr>
              <a:r>
                <a:rPr lang="en-US" altLang="en-US" sz="1000" b="1">
                  <a:solidFill>
                    <a:srgbClr val="0000FF"/>
                  </a:solidFill>
                  <a:latin typeface="Tahoma" panose="020B0604030504040204" pitchFamily="34" charset="0"/>
                  <a:cs typeface="Angsana New" panose="02020603050405020304" pitchFamily="18" charset="-34"/>
                </a:rPr>
                <a:t>Press #1</a:t>
              </a:r>
            </a:p>
          </p:txBody>
        </p:sp>
        <p:sp>
          <p:nvSpPr>
            <p:cNvPr id="177213" name="Line 83"/>
            <p:cNvSpPr>
              <a:spLocks noChangeShapeType="1"/>
            </p:cNvSpPr>
            <p:nvPr/>
          </p:nvSpPr>
          <p:spPr bwMode="auto">
            <a:xfrm flipH="1">
              <a:off x="4785" y="1298"/>
              <a:ext cx="408" cy="0"/>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177214" name="Group 84"/>
            <p:cNvGrpSpPr>
              <a:grpSpLocks/>
            </p:cNvGrpSpPr>
            <p:nvPr/>
          </p:nvGrpSpPr>
          <p:grpSpPr bwMode="auto">
            <a:xfrm>
              <a:off x="4586" y="1296"/>
              <a:ext cx="426" cy="184"/>
              <a:chOff x="2500" y="3361"/>
              <a:chExt cx="472" cy="203"/>
            </a:xfrm>
          </p:grpSpPr>
          <p:sp>
            <p:nvSpPr>
              <p:cNvPr id="177245" name="Rectangle 85"/>
              <p:cNvSpPr>
                <a:spLocks noChangeArrowheads="1"/>
              </p:cNvSpPr>
              <p:nvPr/>
            </p:nvSpPr>
            <p:spPr bwMode="auto">
              <a:xfrm>
                <a:off x="2692" y="3519"/>
                <a:ext cx="90" cy="32"/>
              </a:xfrm>
              <a:prstGeom prst="rect">
                <a:avLst/>
              </a:pr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7246" name="Oval 86"/>
              <p:cNvSpPr>
                <a:spLocks noChangeArrowheads="1"/>
              </p:cNvSpPr>
              <p:nvPr/>
            </p:nvSpPr>
            <p:spPr bwMode="auto">
              <a:xfrm>
                <a:off x="2524" y="3387"/>
                <a:ext cx="430" cy="75"/>
              </a:xfrm>
              <a:prstGeom prst="ellipse">
                <a:avLst/>
              </a:prstGeom>
              <a:noFill/>
              <a:ln w="1270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7247" name="Oval 87"/>
              <p:cNvSpPr>
                <a:spLocks noChangeArrowheads="1"/>
              </p:cNvSpPr>
              <p:nvPr/>
            </p:nvSpPr>
            <p:spPr bwMode="auto">
              <a:xfrm>
                <a:off x="2525" y="3417"/>
                <a:ext cx="422" cy="106"/>
              </a:xfrm>
              <a:prstGeom prst="ellipse">
                <a:avLst/>
              </a:prstGeom>
              <a:gradFill rotWithShape="0">
                <a:gsLst>
                  <a:gs pos="0">
                    <a:srgbClr val="021245"/>
                  </a:gs>
                  <a:gs pos="50000">
                    <a:srgbClr val="063DE8"/>
                  </a:gs>
                  <a:gs pos="100000">
                    <a:srgbClr val="021245"/>
                  </a:gs>
                </a:gsLst>
                <a:lin ang="5400000" scaled="1"/>
              </a:gra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7248" name="AutoShape 88"/>
              <p:cNvSpPr>
                <a:spLocks noChangeArrowheads="1"/>
              </p:cNvSpPr>
              <p:nvPr/>
            </p:nvSpPr>
            <p:spPr bwMode="auto">
              <a:xfrm>
                <a:off x="2500" y="3428"/>
                <a:ext cx="472" cy="48"/>
              </a:xfrm>
              <a:prstGeom prst="roundRect">
                <a:avLst>
                  <a:gd name="adj" fmla="val 12495"/>
                </a:avLst>
              </a:prstGeom>
              <a:gradFill rotWithShape="0">
                <a:gsLst>
                  <a:gs pos="0">
                    <a:srgbClr val="021245"/>
                  </a:gs>
                  <a:gs pos="50000">
                    <a:srgbClr val="063DE8"/>
                  </a:gs>
                  <a:gs pos="100000">
                    <a:srgbClr val="021245"/>
                  </a:gs>
                </a:gsLst>
                <a:lin ang="5400000" scaled="1"/>
              </a:gra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7249" name="Rectangle 89"/>
              <p:cNvSpPr>
                <a:spLocks noChangeArrowheads="1"/>
              </p:cNvSpPr>
              <p:nvPr/>
            </p:nvSpPr>
            <p:spPr bwMode="auto">
              <a:xfrm>
                <a:off x="2672" y="3559"/>
                <a:ext cx="128" cy="5"/>
              </a:xfrm>
              <a:prstGeom prst="rect">
                <a:avLst/>
              </a:pr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7250" name="Oval 90"/>
              <p:cNvSpPr>
                <a:spLocks noChangeArrowheads="1"/>
              </p:cNvSpPr>
              <p:nvPr/>
            </p:nvSpPr>
            <p:spPr bwMode="auto">
              <a:xfrm>
                <a:off x="2698" y="3361"/>
                <a:ext cx="72" cy="59"/>
              </a:xfrm>
              <a:prstGeom prst="ellipse">
                <a:avLst/>
              </a:prstGeom>
              <a:gradFill rotWithShape="0">
                <a:gsLst>
                  <a:gs pos="0">
                    <a:srgbClr val="4B000C"/>
                  </a:gs>
                  <a:gs pos="50000">
                    <a:srgbClr val="FC0128"/>
                  </a:gs>
                  <a:gs pos="100000">
                    <a:srgbClr val="4B000C"/>
                  </a:gs>
                </a:gsLst>
                <a:lin ang="5400000" scaled="1"/>
              </a:gra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7251" name="Oval 91"/>
              <p:cNvSpPr>
                <a:spLocks noChangeArrowheads="1"/>
              </p:cNvSpPr>
              <p:nvPr/>
            </p:nvSpPr>
            <p:spPr bwMode="auto">
              <a:xfrm>
                <a:off x="2618" y="3415"/>
                <a:ext cx="112" cy="73"/>
              </a:xfrm>
              <a:prstGeom prst="ellipse">
                <a:avLst/>
              </a:prstGeom>
              <a:gradFill rotWithShape="0">
                <a:gsLst>
                  <a:gs pos="0">
                    <a:srgbClr val="003400"/>
                  </a:gs>
                  <a:gs pos="50000">
                    <a:srgbClr val="00AE00"/>
                  </a:gs>
                  <a:gs pos="100000">
                    <a:srgbClr val="003400"/>
                  </a:gs>
                </a:gsLst>
                <a:lin ang="5400000" scaled="1"/>
              </a:gra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7252" name="Oval 92"/>
              <p:cNvSpPr>
                <a:spLocks noChangeArrowheads="1"/>
              </p:cNvSpPr>
              <p:nvPr/>
            </p:nvSpPr>
            <p:spPr bwMode="auto">
              <a:xfrm>
                <a:off x="2738" y="3415"/>
                <a:ext cx="114" cy="73"/>
              </a:xfrm>
              <a:prstGeom prst="ellipse">
                <a:avLst/>
              </a:prstGeom>
              <a:gradFill rotWithShape="0">
                <a:gsLst>
                  <a:gs pos="0">
                    <a:srgbClr val="003400"/>
                  </a:gs>
                  <a:gs pos="50000">
                    <a:srgbClr val="00AE00"/>
                  </a:gs>
                  <a:gs pos="100000">
                    <a:srgbClr val="003400"/>
                  </a:gs>
                </a:gsLst>
                <a:lin ang="5400000" scaled="1"/>
              </a:gra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7253" name="Oval 93"/>
              <p:cNvSpPr>
                <a:spLocks noChangeArrowheads="1"/>
              </p:cNvSpPr>
              <p:nvPr/>
            </p:nvSpPr>
            <p:spPr bwMode="auto">
              <a:xfrm>
                <a:off x="2642" y="3376"/>
                <a:ext cx="34" cy="19"/>
              </a:xfrm>
              <a:prstGeom prst="ellipse">
                <a:avLst/>
              </a:prstGeom>
              <a:solidFill>
                <a:schemeClr val="tx1"/>
              </a:soli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7254" name="Oval 94"/>
              <p:cNvSpPr>
                <a:spLocks noChangeArrowheads="1"/>
              </p:cNvSpPr>
              <p:nvPr/>
            </p:nvSpPr>
            <p:spPr bwMode="auto">
              <a:xfrm>
                <a:off x="2794" y="3376"/>
                <a:ext cx="34" cy="19"/>
              </a:xfrm>
              <a:prstGeom prst="ellipse">
                <a:avLst/>
              </a:prstGeom>
              <a:solidFill>
                <a:schemeClr val="tx1"/>
              </a:soli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sp>
          <p:nvSpPr>
            <p:cNvPr id="177215" name="Rectangle 95"/>
            <p:cNvSpPr>
              <a:spLocks noChangeArrowheads="1"/>
            </p:cNvSpPr>
            <p:nvPr/>
          </p:nvSpPr>
          <p:spPr bwMode="auto">
            <a:xfrm>
              <a:off x="4988" y="2024"/>
              <a:ext cx="296" cy="19"/>
            </a:xfrm>
            <a:prstGeom prst="rect">
              <a:avLst/>
            </a:prstGeom>
            <a:gradFill rotWithShape="0">
              <a:gsLst>
                <a:gs pos="0">
                  <a:srgbClr val="1F1F1F"/>
                </a:gs>
                <a:gs pos="50000">
                  <a:srgbClr val="676767"/>
                </a:gs>
                <a:gs pos="100000">
                  <a:srgbClr val="1F1F1F"/>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7216" name="Rectangle 96"/>
            <p:cNvSpPr>
              <a:spLocks noChangeArrowheads="1"/>
            </p:cNvSpPr>
            <p:nvPr/>
          </p:nvSpPr>
          <p:spPr bwMode="auto">
            <a:xfrm>
              <a:off x="5150" y="1457"/>
              <a:ext cx="89" cy="567"/>
            </a:xfrm>
            <a:prstGeom prst="rect">
              <a:avLst/>
            </a:pr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7217" name="Line 97"/>
            <p:cNvSpPr>
              <a:spLocks noChangeShapeType="1"/>
            </p:cNvSpPr>
            <p:nvPr/>
          </p:nvSpPr>
          <p:spPr bwMode="auto">
            <a:xfrm>
              <a:off x="5193" y="1298"/>
              <a:ext cx="0" cy="176"/>
            </a:xfrm>
            <a:prstGeom prst="line">
              <a:avLst/>
            </a:prstGeom>
            <a:noFill/>
            <a:ln w="254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7218" name="Line 98"/>
            <p:cNvSpPr>
              <a:spLocks noChangeShapeType="1"/>
            </p:cNvSpPr>
            <p:nvPr/>
          </p:nvSpPr>
          <p:spPr bwMode="auto">
            <a:xfrm>
              <a:off x="385" y="1842"/>
              <a:ext cx="318" cy="0"/>
            </a:xfrm>
            <a:prstGeom prst="line">
              <a:avLst/>
            </a:prstGeom>
            <a:noFill/>
            <a:ln w="635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7219" name="Text Box 99"/>
            <p:cNvSpPr txBox="1">
              <a:spLocks noChangeArrowheads="1"/>
            </p:cNvSpPr>
            <p:nvPr/>
          </p:nvSpPr>
          <p:spPr bwMode="auto">
            <a:xfrm>
              <a:off x="22" y="1386"/>
              <a:ext cx="907"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th-TH" altLang="en-US" sz="1600" b="1">
                  <a:solidFill>
                    <a:srgbClr val="0000FF"/>
                  </a:solidFill>
                  <a:latin typeface="Tahoma" panose="020B0604030504040204" pitchFamily="34" charset="0"/>
                  <a:cs typeface="Tahoma" panose="020B0604030504040204" pitchFamily="34" charset="0"/>
                </a:rPr>
                <a:t>ชิ้นไม้สับที่ผ่านการต้ม</a:t>
              </a:r>
            </a:p>
          </p:txBody>
        </p:sp>
        <p:sp>
          <p:nvSpPr>
            <p:cNvPr id="177220" name="Line 100"/>
            <p:cNvSpPr>
              <a:spLocks noChangeShapeType="1"/>
            </p:cNvSpPr>
            <p:nvPr/>
          </p:nvSpPr>
          <p:spPr bwMode="auto">
            <a:xfrm>
              <a:off x="2835" y="1298"/>
              <a:ext cx="272" cy="0"/>
            </a:xfrm>
            <a:prstGeom prst="line">
              <a:avLst/>
            </a:prstGeom>
            <a:noFill/>
            <a:ln w="254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7221" name="Line 101"/>
            <p:cNvSpPr>
              <a:spLocks noChangeShapeType="1"/>
            </p:cNvSpPr>
            <p:nvPr/>
          </p:nvSpPr>
          <p:spPr bwMode="auto">
            <a:xfrm flipV="1">
              <a:off x="4785" y="1480"/>
              <a:ext cx="0" cy="459"/>
            </a:xfrm>
            <a:prstGeom prst="line">
              <a:avLst/>
            </a:prstGeom>
            <a:noFill/>
            <a:ln w="254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7222" name="Line 102"/>
            <p:cNvSpPr>
              <a:spLocks noChangeShapeType="1"/>
            </p:cNvSpPr>
            <p:nvPr/>
          </p:nvSpPr>
          <p:spPr bwMode="auto">
            <a:xfrm flipV="1">
              <a:off x="3877" y="1933"/>
              <a:ext cx="908" cy="0"/>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7223" name="Line 103"/>
            <p:cNvSpPr>
              <a:spLocks noChangeShapeType="1"/>
            </p:cNvSpPr>
            <p:nvPr/>
          </p:nvSpPr>
          <p:spPr bwMode="auto">
            <a:xfrm flipH="1">
              <a:off x="3606" y="1933"/>
              <a:ext cx="172" cy="0"/>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177224" name="Group 104"/>
            <p:cNvGrpSpPr>
              <a:grpSpLocks/>
            </p:cNvGrpSpPr>
            <p:nvPr/>
          </p:nvGrpSpPr>
          <p:grpSpPr bwMode="auto">
            <a:xfrm>
              <a:off x="3784" y="1888"/>
              <a:ext cx="93" cy="91"/>
              <a:chOff x="5606" y="2955"/>
              <a:chExt cx="102" cy="102"/>
            </a:xfrm>
          </p:grpSpPr>
          <p:sp>
            <p:nvSpPr>
              <p:cNvPr id="177243" name="Oval 105"/>
              <p:cNvSpPr>
                <a:spLocks noChangeArrowheads="1"/>
              </p:cNvSpPr>
              <p:nvPr/>
            </p:nvSpPr>
            <p:spPr bwMode="auto">
              <a:xfrm>
                <a:off x="5606" y="2955"/>
                <a:ext cx="102" cy="102"/>
              </a:xfrm>
              <a:prstGeom prst="ellipse">
                <a:avLst/>
              </a:prstGeom>
              <a:solidFill>
                <a:srgbClr val="00279F"/>
              </a:soli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7244" name="AutoShape 106"/>
              <p:cNvSpPr>
                <a:spLocks noChangeArrowheads="1"/>
              </p:cNvSpPr>
              <p:nvPr/>
            </p:nvSpPr>
            <p:spPr bwMode="auto">
              <a:xfrm rot="5400000">
                <a:off x="5630" y="2968"/>
                <a:ext cx="78" cy="76"/>
              </a:xfrm>
              <a:prstGeom prst="triangle">
                <a:avLst>
                  <a:gd name="adj" fmla="val 49995"/>
                </a:avLst>
              </a:prstGeom>
              <a:solidFill>
                <a:schemeClr val="hlink"/>
              </a:soli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sp>
          <p:nvSpPr>
            <p:cNvPr id="177225" name="Rectangle 107"/>
            <p:cNvSpPr>
              <a:spLocks noChangeArrowheads="1"/>
            </p:cNvSpPr>
            <p:nvPr/>
          </p:nvSpPr>
          <p:spPr bwMode="auto">
            <a:xfrm>
              <a:off x="4527" y="1154"/>
              <a:ext cx="530" cy="99"/>
            </a:xfrm>
            <a:prstGeom prst="rect">
              <a:avLst/>
            </a:prstGeom>
            <a:noFill/>
            <a:ln>
              <a:noFill/>
            </a:ln>
            <a:effectLst/>
            <a:extLst>
              <a:ext uri="{909E8E84-426E-40DD-AFC4-6F175D3DCCD1}">
                <a14:hiddenFill xmlns:a14="http://schemas.microsoft.com/office/drawing/2010/main">
                  <a:solidFill>
                    <a:srgbClr val="EAEC5E"/>
                  </a:solidFill>
                </a14:hiddenFill>
              </a:ext>
              <a:ext uri="{91240B29-F687-4F45-9708-019B960494DF}">
                <a14:hiddenLine xmlns:a14="http://schemas.microsoft.com/office/drawing/2010/main" w="127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45000"/>
                </a:lnSpc>
                <a:spcBef>
                  <a:spcPct val="0"/>
                </a:spcBef>
                <a:buFontTx/>
                <a:buNone/>
              </a:pPr>
              <a:r>
                <a:rPr lang="en-US" altLang="en-US" sz="1000" b="1">
                  <a:solidFill>
                    <a:srgbClr val="0000FF"/>
                  </a:solidFill>
                  <a:latin typeface="Tahoma" panose="020B0604030504040204" pitchFamily="34" charset="0"/>
                  <a:cs typeface="Angsana New" panose="02020603050405020304" pitchFamily="18" charset="-34"/>
                </a:rPr>
                <a:t>Press #2</a:t>
              </a:r>
            </a:p>
          </p:txBody>
        </p:sp>
        <p:grpSp>
          <p:nvGrpSpPr>
            <p:cNvPr id="177226" name="Group 108"/>
            <p:cNvGrpSpPr>
              <a:grpSpLocks/>
            </p:cNvGrpSpPr>
            <p:nvPr/>
          </p:nvGrpSpPr>
          <p:grpSpPr bwMode="auto">
            <a:xfrm>
              <a:off x="734" y="1729"/>
              <a:ext cx="83" cy="225"/>
              <a:chOff x="1248" y="3255"/>
              <a:chExt cx="92" cy="250"/>
            </a:xfrm>
          </p:grpSpPr>
          <p:sp>
            <p:nvSpPr>
              <p:cNvPr id="177240" name="Oval 109"/>
              <p:cNvSpPr>
                <a:spLocks noChangeArrowheads="1"/>
              </p:cNvSpPr>
              <p:nvPr/>
            </p:nvSpPr>
            <p:spPr bwMode="auto">
              <a:xfrm>
                <a:off x="1248" y="3395"/>
                <a:ext cx="92" cy="110"/>
              </a:xfrm>
              <a:prstGeom prst="ellipse">
                <a:avLst/>
              </a:prstGeom>
              <a:gradFill rotWithShape="0">
                <a:gsLst>
                  <a:gs pos="0">
                    <a:srgbClr val="003400"/>
                  </a:gs>
                  <a:gs pos="50000">
                    <a:srgbClr val="00AE00"/>
                  </a:gs>
                  <a:gs pos="100000">
                    <a:srgbClr val="003400"/>
                  </a:gs>
                </a:gsLst>
                <a:lin ang="0" scaled="1"/>
              </a:gra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7241" name="Oval 110"/>
              <p:cNvSpPr>
                <a:spLocks noChangeArrowheads="1"/>
              </p:cNvSpPr>
              <p:nvPr/>
            </p:nvSpPr>
            <p:spPr bwMode="auto">
              <a:xfrm>
                <a:off x="1248" y="3255"/>
                <a:ext cx="92" cy="112"/>
              </a:xfrm>
              <a:prstGeom prst="ellipse">
                <a:avLst/>
              </a:prstGeom>
              <a:gradFill rotWithShape="0">
                <a:gsLst>
                  <a:gs pos="0">
                    <a:srgbClr val="003400"/>
                  </a:gs>
                  <a:gs pos="50000">
                    <a:srgbClr val="00AE00"/>
                  </a:gs>
                  <a:gs pos="100000">
                    <a:srgbClr val="003400"/>
                  </a:gs>
                </a:gsLst>
                <a:lin ang="0" scaled="1"/>
              </a:gra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7242" name="Rectangle 111"/>
              <p:cNvSpPr>
                <a:spLocks noChangeArrowheads="1"/>
              </p:cNvSpPr>
              <p:nvPr/>
            </p:nvSpPr>
            <p:spPr bwMode="auto">
              <a:xfrm>
                <a:off x="1248" y="3315"/>
                <a:ext cx="92" cy="131"/>
              </a:xfrm>
              <a:prstGeom prst="rect">
                <a:avLst/>
              </a:prstGeom>
              <a:gradFill rotWithShape="0">
                <a:gsLst>
                  <a:gs pos="0">
                    <a:srgbClr val="003400"/>
                  </a:gs>
                  <a:gs pos="50000">
                    <a:srgbClr val="00AE00"/>
                  </a:gs>
                  <a:gs pos="100000">
                    <a:srgbClr val="003400"/>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grpSp>
          <p:nvGrpSpPr>
            <p:cNvPr id="177227" name="Group 112"/>
            <p:cNvGrpSpPr>
              <a:grpSpLocks/>
            </p:cNvGrpSpPr>
            <p:nvPr/>
          </p:nvGrpSpPr>
          <p:grpSpPr bwMode="auto">
            <a:xfrm>
              <a:off x="824" y="1747"/>
              <a:ext cx="192" cy="207"/>
              <a:chOff x="1348" y="3275"/>
              <a:chExt cx="213" cy="230"/>
            </a:xfrm>
          </p:grpSpPr>
          <p:sp>
            <p:nvSpPr>
              <p:cNvPr id="177235" name="Oval 113"/>
              <p:cNvSpPr>
                <a:spLocks noChangeArrowheads="1"/>
              </p:cNvSpPr>
              <p:nvPr/>
            </p:nvSpPr>
            <p:spPr bwMode="auto">
              <a:xfrm>
                <a:off x="1388" y="3275"/>
                <a:ext cx="113" cy="131"/>
              </a:xfrm>
              <a:prstGeom prst="ellipse">
                <a:avLst/>
              </a:prstGeom>
              <a:gradFill rotWithShape="0">
                <a:gsLst>
                  <a:gs pos="0">
                    <a:srgbClr val="003400"/>
                  </a:gs>
                  <a:gs pos="50000">
                    <a:srgbClr val="00AE00"/>
                  </a:gs>
                  <a:gs pos="100000">
                    <a:srgbClr val="003400"/>
                  </a:gs>
                </a:gsLst>
                <a:lin ang="5400000" scaled="1"/>
              </a:gra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7236" name="Rectangle 114"/>
              <p:cNvSpPr>
                <a:spLocks noChangeArrowheads="1"/>
              </p:cNvSpPr>
              <p:nvPr/>
            </p:nvSpPr>
            <p:spPr bwMode="auto">
              <a:xfrm>
                <a:off x="1348" y="3315"/>
                <a:ext cx="194" cy="190"/>
              </a:xfrm>
              <a:prstGeom prst="rect">
                <a:avLst/>
              </a:prstGeom>
              <a:gradFill rotWithShape="0">
                <a:gsLst>
                  <a:gs pos="0">
                    <a:srgbClr val="003400"/>
                  </a:gs>
                  <a:gs pos="50000">
                    <a:srgbClr val="00AE00"/>
                  </a:gs>
                  <a:gs pos="100000">
                    <a:srgbClr val="003400"/>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7237" name="Rectangle 115"/>
              <p:cNvSpPr>
                <a:spLocks noChangeArrowheads="1"/>
              </p:cNvSpPr>
              <p:nvPr/>
            </p:nvSpPr>
            <p:spPr bwMode="auto">
              <a:xfrm>
                <a:off x="1368" y="3296"/>
                <a:ext cx="12" cy="11"/>
              </a:xfrm>
              <a:prstGeom prst="rect">
                <a:avLst/>
              </a:prstGeom>
              <a:gradFill rotWithShape="0">
                <a:gsLst>
                  <a:gs pos="0">
                    <a:srgbClr val="003400"/>
                  </a:gs>
                  <a:gs pos="50000">
                    <a:srgbClr val="00AE00"/>
                  </a:gs>
                  <a:gs pos="100000">
                    <a:srgbClr val="003400"/>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7238" name="Rectangle 116"/>
              <p:cNvSpPr>
                <a:spLocks noChangeArrowheads="1"/>
              </p:cNvSpPr>
              <p:nvPr/>
            </p:nvSpPr>
            <p:spPr bwMode="auto">
              <a:xfrm>
                <a:off x="1509" y="3296"/>
                <a:ext cx="12" cy="11"/>
              </a:xfrm>
              <a:prstGeom prst="rect">
                <a:avLst/>
              </a:prstGeom>
              <a:gradFill rotWithShape="0">
                <a:gsLst>
                  <a:gs pos="0">
                    <a:srgbClr val="003400"/>
                  </a:gs>
                  <a:gs pos="50000">
                    <a:srgbClr val="00AE00"/>
                  </a:gs>
                  <a:gs pos="100000">
                    <a:srgbClr val="003400"/>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7239" name="Rectangle 117"/>
              <p:cNvSpPr>
                <a:spLocks noChangeArrowheads="1"/>
              </p:cNvSpPr>
              <p:nvPr/>
            </p:nvSpPr>
            <p:spPr bwMode="auto">
              <a:xfrm>
                <a:off x="1550" y="3296"/>
                <a:ext cx="11" cy="209"/>
              </a:xfrm>
              <a:prstGeom prst="rect">
                <a:avLst/>
              </a:prstGeom>
              <a:gradFill rotWithShape="0">
                <a:gsLst>
                  <a:gs pos="0">
                    <a:srgbClr val="003400"/>
                  </a:gs>
                  <a:gs pos="50000">
                    <a:srgbClr val="00AE00"/>
                  </a:gs>
                  <a:gs pos="100000">
                    <a:srgbClr val="003400"/>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sp>
          <p:nvSpPr>
            <p:cNvPr id="177228" name="Freeform 118"/>
            <p:cNvSpPr>
              <a:spLocks/>
            </p:cNvSpPr>
            <p:nvPr/>
          </p:nvSpPr>
          <p:spPr bwMode="auto">
            <a:xfrm>
              <a:off x="693" y="1939"/>
              <a:ext cx="673" cy="72"/>
            </a:xfrm>
            <a:custGeom>
              <a:avLst/>
              <a:gdLst>
                <a:gd name="T0" fmla="*/ 26 w 747"/>
                <a:gd name="T1" fmla="*/ 6 h 80"/>
                <a:gd name="T2" fmla="*/ 148 w 747"/>
                <a:gd name="T3" fmla="*/ 6 h 80"/>
                <a:gd name="T4" fmla="*/ 148 w 747"/>
                <a:gd name="T5" fmla="*/ 0 h 80"/>
                <a:gd name="T6" fmla="*/ 236 w 747"/>
                <a:gd name="T7" fmla="*/ 0 h 80"/>
                <a:gd name="T8" fmla="*/ 236 w 747"/>
                <a:gd name="T9" fmla="*/ 25 h 80"/>
                <a:gd name="T10" fmla="*/ 0 w 747"/>
                <a:gd name="T11" fmla="*/ 25 h 80"/>
                <a:gd name="T12" fmla="*/ 0 w 747"/>
                <a:gd name="T13" fmla="*/ 6 h 80"/>
                <a:gd name="T14" fmla="*/ 38 w 747"/>
                <a:gd name="T15" fmla="*/ 6 h 80"/>
                <a:gd name="T16" fmla="*/ 45 w 747"/>
                <a:gd name="T17" fmla="*/ 6 h 8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7" h="80">
                  <a:moveTo>
                    <a:pt x="81" y="20"/>
                  </a:moveTo>
                  <a:lnTo>
                    <a:pt x="464" y="20"/>
                  </a:lnTo>
                  <a:lnTo>
                    <a:pt x="464" y="0"/>
                  </a:lnTo>
                  <a:lnTo>
                    <a:pt x="746" y="0"/>
                  </a:lnTo>
                  <a:lnTo>
                    <a:pt x="746" y="79"/>
                  </a:lnTo>
                  <a:lnTo>
                    <a:pt x="0" y="79"/>
                  </a:lnTo>
                  <a:lnTo>
                    <a:pt x="0" y="20"/>
                  </a:lnTo>
                  <a:lnTo>
                    <a:pt x="121" y="20"/>
                  </a:lnTo>
                  <a:lnTo>
                    <a:pt x="141" y="20"/>
                  </a:lnTo>
                </a:path>
              </a:pathLst>
            </a:custGeom>
            <a:gradFill rotWithShape="0">
              <a:gsLst>
                <a:gs pos="0">
                  <a:srgbClr val="0F0F0F"/>
                </a:gs>
                <a:gs pos="50000">
                  <a:srgbClr val="333333"/>
                </a:gs>
                <a:gs pos="100000">
                  <a:srgbClr val="0F0F0F"/>
                </a:gs>
              </a:gsLst>
              <a:lin ang="5400000" scaled="1"/>
            </a:gradFill>
            <a:ln w="12700" cap="rnd" cmpd="sng">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7229" name="Rectangle 119"/>
            <p:cNvSpPr>
              <a:spLocks noChangeArrowheads="1"/>
            </p:cNvSpPr>
            <p:nvPr/>
          </p:nvSpPr>
          <p:spPr bwMode="auto">
            <a:xfrm>
              <a:off x="1133" y="1747"/>
              <a:ext cx="211" cy="189"/>
            </a:xfrm>
            <a:prstGeom prst="rect">
              <a:avLst/>
            </a:prstGeom>
            <a:gradFill rotWithShape="0">
              <a:gsLst>
                <a:gs pos="0">
                  <a:srgbClr val="021245"/>
                </a:gs>
                <a:gs pos="50000">
                  <a:srgbClr val="063DE8"/>
                </a:gs>
                <a:gs pos="100000">
                  <a:srgbClr val="021245"/>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7230" name="Rectangle 120"/>
            <p:cNvSpPr>
              <a:spLocks noChangeArrowheads="1"/>
            </p:cNvSpPr>
            <p:nvPr/>
          </p:nvSpPr>
          <p:spPr bwMode="auto">
            <a:xfrm>
              <a:off x="1043" y="1828"/>
              <a:ext cx="64" cy="29"/>
            </a:xfrm>
            <a:prstGeom prst="rect">
              <a:avLst/>
            </a:prstGeom>
            <a:gradFill rotWithShape="0">
              <a:gsLst>
                <a:gs pos="0">
                  <a:srgbClr val="021245"/>
                </a:gs>
                <a:gs pos="50000">
                  <a:srgbClr val="063DE8"/>
                </a:gs>
                <a:gs pos="100000">
                  <a:srgbClr val="021245"/>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7231" name="Rectangle 121"/>
            <p:cNvSpPr>
              <a:spLocks noChangeArrowheads="1"/>
            </p:cNvSpPr>
            <p:nvPr/>
          </p:nvSpPr>
          <p:spPr bwMode="auto">
            <a:xfrm>
              <a:off x="1114" y="1800"/>
              <a:ext cx="12" cy="83"/>
            </a:xfrm>
            <a:prstGeom prst="rect">
              <a:avLst/>
            </a:prstGeom>
            <a:gradFill rotWithShape="0">
              <a:gsLst>
                <a:gs pos="0">
                  <a:srgbClr val="021245"/>
                </a:gs>
                <a:gs pos="50000">
                  <a:srgbClr val="063DE8"/>
                </a:gs>
                <a:gs pos="100000">
                  <a:srgbClr val="021245"/>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7232" name="Rectangle 122"/>
            <p:cNvSpPr>
              <a:spLocks noChangeArrowheads="1"/>
            </p:cNvSpPr>
            <p:nvPr/>
          </p:nvSpPr>
          <p:spPr bwMode="auto">
            <a:xfrm>
              <a:off x="1023" y="1810"/>
              <a:ext cx="13" cy="64"/>
            </a:xfrm>
            <a:prstGeom prst="rect">
              <a:avLst/>
            </a:prstGeom>
            <a:gradFill rotWithShape="0">
              <a:gsLst>
                <a:gs pos="0">
                  <a:srgbClr val="021245"/>
                </a:gs>
                <a:gs pos="50000">
                  <a:srgbClr val="063DE8"/>
                </a:gs>
                <a:gs pos="100000">
                  <a:srgbClr val="021245"/>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7233" name="Rectangle 123"/>
            <p:cNvSpPr>
              <a:spLocks noChangeArrowheads="1"/>
            </p:cNvSpPr>
            <p:nvPr/>
          </p:nvSpPr>
          <p:spPr bwMode="auto">
            <a:xfrm>
              <a:off x="1351" y="1800"/>
              <a:ext cx="11" cy="83"/>
            </a:xfrm>
            <a:prstGeom prst="rect">
              <a:avLst/>
            </a:prstGeom>
            <a:gradFill rotWithShape="0">
              <a:gsLst>
                <a:gs pos="0">
                  <a:srgbClr val="021245"/>
                </a:gs>
                <a:gs pos="50000">
                  <a:srgbClr val="063DE8"/>
                </a:gs>
                <a:gs pos="100000">
                  <a:srgbClr val="021245"/>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7234" name="Rectangle 124"/>
            <p:cNvSpPr>
              <a:spLocks noChangeArrowheads="1"/>
            </p:cNvSpPr>
            <p:nvPr/>
          </p:nvSpPr>
          <p:spPr bwMode="auto">
            <a:xfrm>
              <a:off x="1369" y="1819"/>
              <a:ext cx="10" cy="46"/>
            </a:xfrm>
            <a:prstGeom prst="rect">
              <a:avLst/>
            </a:prstGeom>
            <a:gradFill rotWithShape="0">
              <a:gsLst>
                <a:gs pos="0">
                  <a:srgbClr val="021245"/>
                </a:gs>
                <a:gs pos="50000">
                  <a:srgbClr val="063DE8"/>
                </a:gs>
                <a:gs pos="100000">
                  <a:srgbClr val="021245"/>
                </a:gs>
              </a:gsLst>
              <a:lin ang="540000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grpSp>
        <p:nvGrpSpPr>
          <p:cNvPr id="177157" name="Group 125"/>
          <p:cNvGrpSpPr>
            <a:grpSpLocks/>
          </p:cNvGrpSpPr>
          <p:nvPr/>
        </p:nvGrpSpPr>
        <p:grpSpPr bwMode="auto">
          <a:xfrm>
            <a:off x="3240088" y="4076700"/>
            <a:ext cx="1290637" cy="2263775"/>
            <a:chOff x="3748" y="3396"/>
            <a:chExt cx="472" cy="802"/>
          </a:xfrm>
        </p:grpSpPr>
        <p:sp>
          <p:nvSpPr>
            <p:cNvPr id="177189" name="Rectangle 126"/>
            <p:cNvSpPr>
              <a:spLocks noChangeArrowheads="1"/>
            </p:cNvSpPr>
            <p:nvPr/>
          </p:nvSpPr>
          <p:spPr bwMode="auto">
            <a:xfrm>
              <a:off x="3748" y="3458"/>
              <a:ext cx="472" cy="475"/>
            </a:xfrm>
            <a:prstGeom prst="rect">
              <a:avLst/>
            </a:pr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7190" name="AutoShape 127"/>
            <p:cNvSpPr>
              <a:spLocks noChangeArrowheads="1"/>
            </p:cNvSpPr>
            <p:nvPr/>
          </p:nvSpPr>
          <p:spPr bwMode="auto">
            <a:xfrm>
              <a:off x="3748" y="3396"/>
              <a:ext cx="472" cy="54"/>
            </a:xfrm>
            <a:prstGeom prst="triangle">
              <a:avLst>
                <a:gd name="adj" fmla="val 49995"/>
              </a:avLst>
            </a:pr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7191" name="AutoShape 128"/>
            <p:cNvSpPr>
              <a:spLocks noChangeArrowheads="1"/>
            </p:cNvSpPr>
            <p:nvPr/>
          </p:nvSpPr>
          <p:spPr bwMode="auto">
            <a:xfrm rot="10800000" flipH="1" flipV="1">
              <a:off x="3748" y="3941"/>
              <a:ext cx="472" cy="114"/>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073 w 21600"/>
                <a:gd name="T13" fmla="*/ 4168 h 21600"/>
                <a:gd name="T14" fmla="*/ 17527 w 21600"/>
                <a:gd name="T15" fmla="*/ 17432 h 21600"/>
              </a:gdLst>
              <a:ahLst/>
              <a:cxnLst>
                <a:cxn ang="T8">
                  <a:pos x="T0" y="T1"/>
                </a:cxn>
                <a:cxn ang="T9">
                  <a:pos x="T2" y="T3"/>
                </a:cxn>
                <a:cxn ang="T10">
                  <a:pos x="T4" y="T5"/>
                </a:cxn>
                <a:cxn ang="T11">
                  <a:pos x="T6" y="T7"/>
                </a:cxn>
              </a:cxnLst>
              <a:rect l="T12" t="T13" r="T14" b="T15"/>
              <a:pathLst>
                <a:path w="21600" h="21600">
                  <a:moveTo>
                    <a:pt x="0" y="0"/>
                  </a:moveTo>
                  <a:lnTo>
                    <a:pt x="4589" y="21600"/>
                  </a:lnTo>
                  <a:lnTo>
                    <a:pt x="17011" y="21600"/>
                  </a:lnTo>
                  <a:lnTo>
                    <a:pt x="21600" y="0"/>
                  </a:lnTo>
                  <a:lnTo>
                    <a:pt x="0" y="0"/>
                  </a:lnTo>
                  <a:close/>
                </a:path>
              </a:pathLst>
            </a:cu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7192" name="Rectangle 129"/>
            <p:cNvSpPr>
              <a:spLocks noChangeArrowheads="1"/>
            </p:cNvSpPr>
            <p:nvPr/>
          </p:nvSpPr>
          <p:spPr bwMode="auto">
            <a:xfrm>
              <a:off x="3852" y="4063"/>
              <a:ext cx="265" cy="135"/>
            </a:xfrm>
            <a:prstGeom prst="rect">
              <a:avLst/>
            </a:pr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7193" name="Rectangle 130"/>
            <p:cNvSpPr>
              <a:spLocks noChangeArrowheads="1"/>
            </p:cNvSpPr>
            <p:nvPr/>
          </p:nvSpPr>
          <p:spPr bwMode="auto">
            <a:xfrm>
              <a:off x="3803" y="4176"/>
              <a:ext cx="362" cy="22"/>
            </a:xfrm>
            <a:prstGeom prst="rect">
              <a:avLst/>
            </a:pr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sp>
        <p:nvSpPr>
          <p:cNvPr id="177158" name="Rectangle 131"/>
          <p:cNvSpPr>
            <a:spLocks noChangeArrowheads="1"/>
          </p:cNvSpPr>
          <p:nvPr/>
        </p:nvSpPr>
        <p:spPr bwMode="auto">
          <a:xfrm>
            <a:off x="3336925" y="3789363"/>
            <a:ext cx="1030288" cy="157162"/>
          </a:xfrm>
          <a:prstGeom prst="rect">
            <a:avLst/>
          </a:prstGeom>
          <a:noFill/>
          <a:ln>
            <a:noFill/>
          </a:ln>
          <a:effectLst/>
          <a:extLst>
            <a:ext uri="{909E8E84-426E-40DD-AFC4-6F175D3DCCD1}">
              <a14:hiddenFill xmlns:a14="http://schemas.microsoft.com/office/drawing/2010/main">
                <a:solidFill>
                  <a:srgbClr val="EAEC5E"/>
                </a:solidFill>
              </a14:hiddenFill>
            </a:ext>
            <a:ext uri="{91240B29-F687-4F45-9708-019B960494DF}">
              <a14:hiddenLine xmlns:a14="http://schemas.microsoft.com/office/drawing/2010/main" w="127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45000"/>
              </a:lnSpc>
              <a:spcBef>
                <a:spcPct val="0"/>
              </a:spcBef>
              <a:buFontTx/>
              <a:buNone/>
            </a:pPr>
            <a:r>
              <a:rPr lang="en-US" altLang="en-US" sz="1000" b="1">
                <a:solidFill>
                  <a:srgbClr val="0000FF"/>
                </a:solidFill>
                <a:latin typeface="Tahoma" panose="020B0604030504040204" pitchFamily="34" charset="0"/>
                <a:cs typeface="Angsana New" panose="02020603050405020304" pitchFamily="18" charset="-34"/>
              </a:rPr>
              <a:t>HD. TOWER</a:t>
            </a:r>
          </a:p>
        </p:txBody>
      </p:sp>
      <p:sp>
        <p:nvSpPr>
          <p:cNvPr id="177159" name="Line 132"/>
          <p:cNvSpPr>
            <a:spLocks noChangeShapeType="1"/>
          </p:cNvSpPr>
          <p:nvPr/>
        </p:nvSpPr>
        <p:spPr bwMode="auto">
          <a:xfrm flipH="1">
            <a:off x="4356100" y="4005263"/>
            <a:ext cx="2411413" cy="0"/>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7160" name="Line 133"/>
          <p:cNvSpPr>
            <a:spLocks noChangeShapeType="1"/>
          </p:cNvSpPr>
          <p:nvPr/>
        </p:nvSpPr>
        <p:spPr bwMode="auto">
          <a:xfrm>
            <a:off x="4392613" y="4005263"/>
            <a:ext cx="0" cy="179387"/>
          </a:xfrm>
          <a:prstGeom prst="line">
            <a:avLst/>
          </a:prstGeom>
          <a:noFill/>
          <a:ln w="254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177161" name="Picture 134" descr="Picture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67625" y="5984875"/>
            <a:ext cx="212725" cy="217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7162" name="Line 135"/>
          <p:cNvSpPr>
            <a:spLocks noChangeShapeType="1"/>
          </p:cNvSpPr>
          <p:nvPr/>
        </p:nvSpPr>
        <p:spPr bwMode="auto">
          <a:xfrm flipH="1">
            <a:off x="7885113" y="6092825"/>
            <a:ext cx="179387" cy="0"/>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177163" name="Picture 147" descr="Picture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60700" y="5984875"/>
            <a:ext cx="212725" cy="217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7164" name="Line 148"/>
          <p:cNvSpPr>
            <a:spLocks noChangeShapeType="1"/>
          </p:cNvSpPr>
          <p:nvPr/>
        </p:nvSpPr>
        <p:spPr bwMode="auto">
          <a:xfrm flipH="1">
            <a:off x="3278188" y="6092825"/>
            <a:ext cx="179387" cy="0"/>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7165" name="Line 149"/>
          <p:cNvSpPr>
            <a:spLocks noChangeShapeType="1"/>
          </p:cNvSpPr>
          <p:nvPr/>
        </p:nvSpPr>
        <p:spPr bwMode="auto">
          <a:xfrm flipH="1">
            <a:off x="2592388" y="6092825"/>
            <a:ext cx="468312" cy="0"/>
          </a:xfrm>
          <a:prstGeom prst="line">
            <a:avLst/>
          </a:prstGeom>
          <a:noFill/>
          <a:ln w="635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7166" name="Text Box 150"/>
          <p:cNvSpPr txBox="1">
            <a:spLocks noChangeArrowheads="1"/>
          </p:cNvSpPr>
          <p:nvPr/>
        </p:nvSpPr>
        <p:spPr bwMode="auto">
          <a:xfrm>
            <a:off x="1692275" y="5842000"/>
            <a:ext cx="1116013"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th-TH" altLang="en-US" sz="1600" b="1">
                <a:solidFill>
                  <a:srgbClr val="0000FF"/>
                </a:solidFill>
                <a:latin typeface="Tahoma" panose="020B0604030504040204" pitchFamily="34" charset="0"/>
                <a:cs typeface="Tahoma" panose="020B0604030504040204" pitchFamily="34" charset="0"/>
              </a:rPr>
              <a:t>เยื่อ </a:t>
            </a:r>
            <a:r>
              <a:rPr lang="en-US" altLang="en-US" sz="1600" b="1">
                <a:solidFill>
                  <a:srgbClr val="0000FF"/>
                </a:solidFill>
                <a:latin typeface="Tahoma" panose="020B0604030504040204" pitchFamily="34" charset="0"/>
                <a:cs typeface="Tahoma" panose="020B0604030504040204" pitchFamily="34" charset="0"/>
              </a:rPr>
              <a:t>SCP</a:t>
            </a:r>
            <a:endParaRPr lang="th-TH" altLang="en-US" sz="1600" b="1">
              <a:solidFill>
                <a:srgbClr val="0000FF"/>
              </a:solidFill>
              <a:latin typeface="Tahoma" panose="020B0604030504040204" pitchFamily="34" charset="0"/>
              <a:cs typeface="Tahoma" panose="020B0604030504040204" pitchFamily="34" charset="0"/>
            </a:endParaRPr>
          </a:p>
        </p:txBody>
      </p:sp>
      <p:grpSp>
        <p:nvGrpSpPr>
          <p:cNvPr id="70807" name="Group 151"/>
          <p:cNvGrpSpPr>
            <a:grpSpLocks/>
          </p:cNvGrpSpPr>
          <p:nvPr/>
        </p:nvGrpSpPr>
        <p:grpSpPr bwMode="auto">
          <a:xfrm>
            <a:off x="682625" y="2241550"/>
            <a:ext cx="2590800" cy="2393950"/>
            <a:chOff x="430" y="1412"/>
            <a:chExt cx="1632" cy="1508"/>
          </a:xfrm>
        </p:grpSpPr>
        <p:sp>
          <p:nvSpPr>
            <p:cNvPr id="177187" name="Oval 152"/>
            <p:cNvSpPr>
              <a:spLocks noChangeArrowheads="1"/>
            </p:cNvSpPr>
            <p:nvPr/>
          </p:nvSpPr>
          <p:spPr bwMode="auto">
            <a:xfrm>
              <a:off x="499" y="1412"/>
              <a:ext cx="1111" cy="839"/>
            </a:xfrm>
            <a:prstGeom prst="ellipse">
              <a:avLst/>
            </a:prstGeom>
            <a:noFill/>
            <a:ln w="635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7188" name="Text Box 153"/>
            <p:cNvSpPr txBox="1">
              <a:spLocks noChangeArrowheads="1"/>
            </p:cNvSpPr>
            <p:nvPr/>
          </p:nvSpPr>
          <p:spPr bwMode="auto">
            <a:xfrm>
              <a:off x="430" y="2251"/>
              <a:ext cx="1632" cy="6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800" b="1">
                  <a:solidFill>
                    <a:srgbClr val="FF3300"/>
                  </a:solidFill>
                  <a:latin typeface="Arial" panose="020B0604020202020204" pitchFamily="34" charset="0"/>
                  <a:cs typeface="Angsana New" panose="02020603050405020304" pitchFamily="18" charset="-34"/>
                </a:rPr>
                <a:t>Pressurized </a:t>
              </a:r>
            </a:p>
            <a:p>
              <a:pPr eaLnBrk="1" hangingPunct="1">
                <a:spcBef>
                  <a:spcPct val="50000"/>
                </a:spcBef>
                <a:buFontTx/>
                <a:buNone/>
              </a:pPr>
              <a:r>
                <a:rPr lang="en-US" altLang="en-US" sz="1800" b="1">
                  <a:solidFill>
                    <a:srgbClr val="FF3300"/>
                  </a:solidFill>
                  <a:latin typeface="Arial" panose="020B0604020202020204" pitchFamily="34" charset="0"/>
                  <a:cs typeface="Angsana New" panose="02020603050405020304" pitchFamily="18" charset="-34"/>
                </a:rPr>
                <a:t>High Consistency Refining</a:t>
              </a:r>
              <a:endParaRPr lang="th-TH" altLang="en-US" sz="1800" b="1">
                <a:solidFill>
                  <a:srgbClr val="FF3300"/>
                </a:solidFill>
                <a:latin typeface="Arial" panose="020B0604020202020204" pitchFamily="34" charset="0"/>
                <a:cs typeface="Angsana New" panose="02020603050405020304" pitchFamily="18" charset="-34"/>
              </a:endParaRPr>
            </a:p>
          </p:txBody>
        </p:sp>
      </p:grpSp>
      <p:grpSp>
        <p:nvGrpSpPr>
          <p:cNvPr id="70810" name="Group 154"/>
          <p:cNvGrpSpPr>
            <a:grpSpLocks/>
          </p:cNvGrpSpPr>
          <p:nvPr/>
        </p:nvGrpSpPr>
        <p:grpSpPr bwMode="auto">
          <a:xfrm>
            <a:off x="5040313" y="1089025"/>
            <a:ext cx="3995737" cy="1547813"/>
            <a:chOff x="3175" y="686"/>
            <a:chExt cx="2517" cy="975"/>
          </a:xfrm>
        </p:grpSpPr>
        <p:sp>
          <p:nvSpPr>
            <p:cNvPr id="177185" name="Oval 155"/>
            <p:cNvSpPr>
              <a:spLocks noChangeArrowheads="1"/>
            </p:cNvSpPr>
            <p:nvPr/>
          </p:nvSpPr>
          <p:spPr bwMode="auto">
            <a:xfrm>
              <a:off x="3175" y="958"/>
              <a:ext cx="884" cy="703"/>
            </a:xfrm>
            <a:prstGeom prst="ellipse">
              <a:avLst/>
            </a:prstGeom>
            <a:noFill/>
            <a:ln w="635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7186" name="Text Box 156"/>
            <p:cNvSpPr txBox="1">
              <a:spLocks noChangeArrowheads="1"/>
            </p:cNvSpPr>
            <p:nvPr/>
          </p:nvSpPr>
          <p:spPr bwMode="auto">
            <a:xfrm>
              <a:off x="3878" y="686"/>
              <a:ext cx="1814"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000" b="1">
                  <a:solidFill>
                    <a:srgbClr val="FF3300"/>
                  </a:solidFill>
                  <a:latin typeface="Arial" panose="020B0604020202020204" pitchFamily="34" charset="0"/>
                  <a:cs typeface="Angsana New" panose="02020603050405020304" pitchFamily="18" charset="-34"/>
                </a:rPr>
                <a:t>Atmospheric  High Consistency Refining</a:t>
              </a:r>
              <a:endParaRPr lang="th-TH" altLang="en-US" sz="2000" b="1">
                <a:solidFill>
                  <a:srgbClr val="FF3300"/>
                </a:solidFill>
                <a:latin typeface="Arial" panose="020B0604020202020204" pitchFamily="34" charset="0"/>
                <a:cs typeface="Angsana New" panose="02020603050405020304" pitchFamily="18" charset="-34"/>
              </a:endParaRPr>
            </a:p>
          </p:txBody>
        </p:sp>
      </p:grpSp>
      <p:grpSp>
        <p:nvGrpSpPr>
          <p:cNvPr id="70813" name="Group 157"/>
          <p:cNvGrpSpPr>
            <a:grpSpLocks/>
          </p:cNvGrpSpPr>
          <p:nvPr/>
        </p:nvGrpSpPr>
        <p:grpSpPr bwMode="auto">
          <a:xfrm>
            <a:off x="4803775" y="4329113"/>
            <a:ext cx="3043238" cy="2432050"/>
            <a:chOff x="3026" y="2727"/>
            <a:chExt cx="1917" cy="1532"/>
          </a:xfrm>
        </p:grpSpPr>
        <p:sp>
          <p:nvSpPr>
            <p:cNvPr id="177183" name="Text Box 158"/>
            <p:cNvSpPr txBox="1">
              <a:spLocks noChangeArrowheads="1"/>
            </p:cNvSpPr>
            <p:nvPr/>
          </p:nvSpPr>
          <p:spPr bwMode="auto">
            <a:xfrm>
              <a:off x="3026" y="3852"/>
              <a:ext cx="1610" cy="40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800" b="1">
                  <a:solidFill>
                    <a:srgbClr val="FF3300"/>
                  </a:solidFill>
                  <a:latin typeface="Arial" panose="020B0604020202020204" pitchFamily="34" charset="0"/>
                  <a:cs typeface="Angsana New" panose="02020603050405020304" pitchFamily="18" charset="-34"/>
                </a:rPr>
                <a:t>Atmospheric Low Consistency Refining</a:t>
              </a:r>
              <a:endParaRPr lang="th-TH" altLang="en-US" sz="1800" b="1">
                <a:solidFill>
                  <a:srgbClr val="FF3300"/>
                </a:solidFill>
                <a:latin typeface="Arial" panose="020B0604020202020204" pitchFamily="34" charset="0"/>
                <a:cs typeface="Angsana New" panose="02020603050405020304" pitchFamily="18" charset="-34"/>
              </a:endParaRPr>
            </a:p>
          </p:txBody>
        </p:sp>
        <p:sp>
          <p:nvSpPr>
            <p:cNvPr id="177184" name="Oval 159"/>
            <p:cNvSpPr>
              <a:spLocks noChangeArrowheads="1"/>
            </p:cNvSpPr>
            <p:nvPr/>
          </p:nvSpPr>
          <p:spPr bwMode="auto">
            <a:xfrm>
              <a:off x="3492" y="2727"/>
              <a:ext cx="1451" cy="1166"/>
            </a:xfrm>
            <a:prstGeom prst="ellipse">
              <a:avLst/>
            </a:prstGeom>
            <a:noFill/>
            <a:ln w="635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sp>
        <p:nvSpPr>
          <p:cNvPr id="177170" name="Rectangle 160"/>
          <p:cNvSpPr>
            <a:spLocks noChangeArrowheads="1"/>
          </p:cNvSpPr>
          <p:nvPr/>
        </p:nvSpPr>
        <p:spPr bwMode="auto">
          <a:xfrm>
            <a:off x="8064500" y="5337175"/>
            <a:ext cx="895350" cy="1089025"/>
          </a:xfrm>
          <a:prstGeom prst="rect">
            <a:avLst/>
          </a:pr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77171" name="Rectangle 161"/>
          <p:cNvSpPr>
            <a:spLocks noChangeArrowheads="1"/>
          </p:cNvSpPr>
          <p:nvPr/>
        </p:nvSpPr>
        <p:spPr bwMode="auto">
          <a:xfrm>
            <a:off x="8004175" y="6459538"/>
            <a:ext cx="989013" cy="61912"/>
          </a:xfrm>
          <a:prstGeom prst="rect">
            <a:avLst/>
          </a:prstGeom>
          <a:gradFill rotWithShape="0">
            <a:gsLst>
              <a:gs pos="0">
                <a:srgbClr val="2B2B2B"/>
              </a:gs>
              <a:gs pos="50000">
                <a:srgbClr val="919191"/>
              </a:gs>
              <a:gs pos="100000">
                <a:srgbClr val="2B2B2B"/>
              </a:gs>
            </a:gsLst>
            <a:lin ang="0" scaled="1"/>
          </a:gra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nvGrpSpPr>
          <p:cNvPr id="177172" name="Group 136"/>
          <p:cNvGrpSpPr>
            <a:grpSpLocks/>
          </p:cNvGrpSpPr>
          <p:nvPr/>
        </p:nvGrpSpPr>
        <p:grpSpPr bwMode="auto">
          <a:xfrm>
            <a:off x="5578475" y="4005263"/>
            <a:ext cx="2089150" cy="2087562"/>
            <a:chOff x="3514" y="2523"/>
            <a:chExt cx="1316" cy="1315"/>
          </a:xfrm>
        </p:grpSpPr>
        <p:sp>
          <p:nvSpPr>
            <p:cNvPr id="177173" name="Rectangle 137"/>
            <p:cNvSpPr>
              <a:spLocks noChangeArrowheads="1"/>
            </p:cNvSpPr>
            <p:nvPr/>
          </p:nvSpPr>
          <p:spPr bwMode="auto">
            <a:xfrm>
              <a:off x="4104" y="3566"/>
              <a:ext cx="613"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000" b="1">
                  <a:solidFill>
                    <a:srgbClr val="0000FF"/>
                  </a:solidFill>
                  <a:latin typeface="Tahoma" panose="020B0604030504040204" pitchFamily="34" charset="0"/>
                  <a:cs typeface="Angsana New" panose="02020603050405020304" pitchFamily="18" charset="-34"/>
                </a:rPr>
                <a:t>CONFLO </a:t>
              </a:r>
            </a:p>
            <a:p>
              <a:pPr>
                <a:spcBef>
                  <a:spcPct val="0"/>
                </a:spcBef>
                <a:buFontTx/>
                <a:buNone/>
              </a:pPr>
              <a:r>
                <a:rPr lang="en-US" altLang="en-US" sz="1000" b="1">
                  <a:solidFill>
                    <a:srgbClr val="0000FF"/>
                  </a:solidFill>
                  <a:latin typeface="Tahoma" panose="020B0604030504040204" pitchFamily="34" charset="0"/>
                  <a:cs typeface="Angsana New" panose="02020603050405020304" pitchFamily="18" charset="-34"/>
                </a:rPr>
                <a:t>REFINER#1</a:t>
              </a:r>
            </a:p>
          </p:txBody>
        </p:sp>
        <p:pic>
          <p:nvPicPr>
            <p:cNvPr id="177174" name="Picture 138" descr="Picture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33" y="2908"/>
              <a:ext cx="544"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7175" name="Line 139"/>
            <p:cNvSpPr>
              <a:spLocks noChangeShapeType="1"/>
            </p:cNvSpPr>
            <p:nvPr/>
          </p:nvSpPr>
          <p:spPr bwMode="auto">
            <a:xfrm flipH="1">
              <a:off x="4694" y="3838"/>
              <a:ext cx="136" cy="0"/>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7176" name="Line 140"/>
            <p:cNvSpPr>
              <a:spLocks noChangeShapeType="1"/>
            </p:cNvSpPr>
            <p:nvPr/>
          </p:nvSpPr>
          <p:spPr bwMode="auto">
            <a:xfrm flipV="1">
              <a:off x="4694" y="3407"/>
              <a:ext cx="0" cy="431"/>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7177" name="Line 141"/>
            <p:cNvSpPr>
              <a:spLocks noChangeShapeType="1"/>
            </p:cNvSpPr>
            <p:nvPr/>
          </p:nvSpPr>
          <p:spPr bwMode="auto">
            <a:xfrm flipH="1">
              <a:off x="4604" y="3407"/>
              <a:ext cx="90" cy="0"/>
            </a:xfrm>
            <a:prstGeom prst="line">
              <a:avLst/>
            </a:prstGeom>
            <a:noFill/>
            <a:ln w="254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7178" name="Line 142"/>
            <p:cNvSpPr>
              <a:spLocks noChangeShapeType="1"/>
            </p:cNvSpPr>
            <p:nvPr/>
          </p:nvSpPr>
          <p:spPr bwMode="auto">
            <a:xfrm flipH="1" flipV="1">
              <a:off x="4354" y="2999"/>
              <a:ext cx="159" cy="0"/>
            </a:xfrm>
            <a:prstGeom prst="line">
              <a:avLst/>
            </a:prstGeom>
            <a:noFill/>
            <a:ln w="254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7179" name="Line 143"/>
            <p:cNvSpPr>
              <a:spLocks noChangeShapeType="1"/>
            </p:cNvSpPr>
            <p:nvPr/>
          </p:nvSpPr>
          <p:spPr bwMode="auto">
            <a:xfrm flipV="1">
              <a:off x="4513" y="2999"/>
              <a:ext cx="0" cy="295"/>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7180" name="Rectangle 144"/>
            <p:cNvSpPr>
              <a:spLocks noChangeArrowheads="1"/>
            </p:cNvSpPr>
            <p:nvPr/>
          </p:nvSpPr>
          <p:spPr bwMode="auto">
            <a:xfrm>
              <a:off x="3514" y="3159"/>
              <a:ext cx="613"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000" b="1">
                  <a:solidFill>
                    <a:srgbClr val="0000FF"/>
                  </a:solidFill>
                  <a:latin typeface="Tahoma" panose="020B0604030504040204" pitchFamily="34" charset="0"/>
                  <a:cs typeface="Angsana New" panose="02020603050405020304" pitchFamily="18" charset="-34"/>
                </a:rPr>
                <a:t>CONFLO </a:t>
              </a:r>
            </a:p>
            <a:p>
              <a:pPr>
                <a:spcBef>
                  <a:spcPct val="0"/>
                </a:spcBef>
                <a:buFontTx/>
                <a:buNone/>
              </a:pPr>
              <a:r>
                <a:rPr lang="en-US" altLang="en-US" sz="1000" b="1">
                  <a:solidFill>
                    <a:srgbClr val="0000FF"/>
                  </a:solidFill>
                  <a:latin typeface="Tahoma" panose="020B0604030504040204" pitchFamily="34" charset="0"/>
                  <a:cs typeface="Angsana New" panose="02020603050405020304" pitchFamily="18" charset="-34"/>
                </a:rPr>
                <a:t>REFINER#2</a:t>
              </a:r>
            </a:p>
          </p:txBody>
        </p:sp>
        <p:sp>
          <p:nvSpPr>
            <p:cNvPr id="177181" name="Line 145"/>
            <p:cNvSpPr>
              <a:spLocks noChangeShapeType="1"/>
            </p:cNvSpPr>
            <p:nvPr/>
          </p:nvSpPr>
          <p:spPr bwMode="auto">
            <a:xfrm flipV="1">
              <a:off x="4263" y="2523"/>
              <a:ext cx="0" cy="363"/>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177182" name="Picture 146" descr="Picture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82" y="3296"/>
              <a:ext cx="544"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70807"/>
                                        </p:tgtEl>
                                        <p:attrNameLst>
                                          <p:attrName>style.visibility</p:attrName>
                                        </p:attrNameLst>
                                      </p:cBhvr>
                                      <p:to>
                                        <p:strVal val="visible"/>
                                      </p:to>
                                    </p:set>
                                    <p:animEffect transition="in" filter="dissolve">
                                      <p:cBhvr>
                                        <p:cTn id="7" dur="500"/>
                                        <p:tgtEl>
                                          <p:spTgt spid="7080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70810"/>
                                        </p:tgtEl>
                                        <p:attrNameLst>
                                          <p:attrName>style.visibility</p:attrName>
                                        </p:attrNameLst>
                                      </p:cBhvr>
                                      <p:to>
                                        <p:strVal val="visible"/>
                                      </p:to>
                                    </p:set>
                                    <p:animEffect transition="in" filter="dissolve">
                                      <p:cBhvr>
                                        <p:cTn id="12" dur="500"/>
                                        <p:tgtEl>
                                          <p:spTgt spid="7081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70813"/>
                                        </p:tgtEl>
                                        <p:attrNameLst>
                                          <p:attrName>style.visibility</p:attrName>
                                        </p:attrNameLst>
                                      </p:cBhvr>
                                      <p:to>
                                        <p:strVal val="visible"/>
                                      </p:to>
                                    </p:set>
                                    <p:animEffect transition="in" filter="dissolve">
                                      <p:cBhvr>
                                        <p:cTn id="17" dur="500"/>
                                        <p:tgtEl>
                                          <p:spTgt spid="708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6" descr="JC03SF"/>
          <p:cNvPicPr>
            <a:picLocks noChangeAspect="1" noChangeArrowheads="1"/>
          </p:cNvPicPr>
          <p:nvPr/>
        </p:nvPicPr>
        <p:blipFill>
          <a:blip r:embed="rId3">
            <a:extLst>
              <a:ext uri="{28A0092B-C50C-407E-A947-70E740481C1C}">
                <a14:useLocalDpi xmlns:a14="http://schemas.microsoft.com/office/drawing/2010/main" val="0"/>
              </a:ext>
            </a:extLst>
          </a:blip>
          <a:srcRect t="19270" b="29817"/>
          <a:stretch>
            <a:fillRect/>
          </a:stretch>
        </p:blipFill>
        <p:spPr bwMode="auto">
          <a:xfrm>
            <a:off x="5584825" y="801688"/>
            <a:ext cx="3559175" cy="248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7" descr="JC03SF"/>
          <p:cNvPicPr>
            <a:picLocks noChangeAspect="1" noChangeArrowheads="1"/>
          </p:cNvPicPr>
          <p:nvPr/>
        </p:nvPicPr>
        <p:blipFill>
          <a:blip r:embed="rId3">
            <a:extLst>
              <a:ext uri="{28A0092B-C50C-407E-A947-70E740481C1C}">
                <a14:useLocalDpi xmlns:a14="http://schemas.microsoft.com/office/drawing/2010/main" val="0"/>
              </a:ext>
            </a:extLst>
          </a:blip>
          <a:srcRect t="19270" b="29817"/>
          <a:stretch>
            <a:fillRect/>
          </a:stretch>
        </p:blipFill>
        <p:spPr bwMode="auto">
          <a:xfrm>
            <a:off x="5543550" y="3251200"/>
            <a:ext cx="3559175" cy="248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9204" name="Rectangle 2"/>
          <p:cNvSpPr>
            <a:spLocks noChangeArrowheads="1"/>
          </p:cNvSpPr>
          <p:nvPr/>
        </p:nvSpPr>
        <p:spPr bwMode="auto">
          <a:xfrm>
            <a:off x="0" y="-26988"/>
            <a:ext cx="9144000" cy="755651"/>
          </a:xfrm>
          <a:prstGeom prst="rect">
            <a:avLst/>
          </a:prstGeom>
          <a:noFill/>
          <a:ln>
            <a:noFill/>
          </a:ln>
          <a:effectLst/>
          <a:extLst>
            <a:ext uri="{909E8E84-426E-40DD-AFC4-6F175D3DCCD1}">
              <a14:hiddenFill xmlns:a14="http://schemas.microsoft.com/office/drawing/2010/main">
                <a:solidFill>
                  <a:srgbClr val="00008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b="1">
                <a:solidFill>
                  <a:srgbClr val="FF0000"/>
                </a:solidFill>
                <a:latin typeface="Tahoma" panose="020B0604030504040204" pitchFamily="34" charset="0"/>
                <a:cs typeface="Tahoma" panose="020B0604030504040204" pitchFamily="34" charset="0"/>
              </a:rPr>
              <a:t>SCP Refining Process</a:t>
            </a:r>
            <a:endParaRPr lang="th-TH" altLang="en-US" b="1">
              <a:solidFill>
                <a:srgbClr val="FF0000"/>
              </a:solidFill>
              <a:latin typeface="Tahoma" panose="020B0604030504040204" pitchFamily="34" charset="0"/>
              <a:cs typeface="Tahoma" panose="020B0604030504040204" pitchFamily="34" charset="0"/>
            </a:endParaRPr>
          </a:p>
        </p:txBody>
      </p:sp>
      <p:sp>
        <p:nvSpPr>
          <p:cNvPr id="179205" name="Text Box 3"/>
          <p:cNvSpPr txBox="1">
            <a:spLocks noChangeArrowheads="1"/>
          </p:cNvSpPr>
          <p:nvPr/>
        </p:nvSpPr>
        <p:spPr bwMode="auto">
          <a:xfrm>
            <a:off x="215900" y="692150"/>
            <a:ext cx="41036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400" b="1" u="sng">
                <a:solidFill>
                  <a:srgbClr val="0000FF"/>
                </a:solidFill>
                <a:latin typeface="Comic Sans MS" panose="030F0702030302020204" pitchFamily="66" charset="0"/>
                <a:cs typeface="Angsana New" panose="02020603050405020304" pitchFamily="18" charset="-34"/>
              </a:rPr>
              <a:t>Plate Pattern</a:t>
            </a:r>
            <a:endParaRPr lang="th-TH" altLang="en-US" sz="2400" b="1" u="sng">
              <a:solidFill>
                <a:srgbClr val="0000FF"/>
              </a:solidFill>
              <a:latin typeface="Comic Sans MS" panose="030F0702030302020204" pitchFamily="66" charset="0"/>
              <a:cs typeface="Angsana New" panose="02020603050405020304" pitchFamily="18" charset="-34"/>
            </a:endParaRPr>
          </a:p>
        </p:txBody>
      </p:sp>
      <p:pic>
        <p:nvPicPr>
          <p:cNvPr id="179206" name="Picture 4" descr="Refiner Plate 03"/>
          <p:cNvPicPr>
            <a:picLocks noChangeAspect="1" noChangeArrowheads="1"/>
          </p:cNvPicPr>
          <p:nvPr/>
        </p:nvPicPr>
        <p:blipFill>
          <a:blip r:embed="rId4">
            <a:extLst>
              <a:ext uri="{28A0092B-C50C-407E-A947-70E740481C1C}">
                <a14:useLocalDpi xmlns:a14="http://schemas.microsoft.com/office/drawing/2010/main" val="0"/>
              </a:ext>
            </a:extLst>
          </a:blip>
          <a:srcRect b="30400"/>
          <a:stretch>
            <a:fillRect/>
          </a:stretch>
        </p:blipFill>
        <p:spPr bwMode="auto">
          <a:xfrm>
            <a:off x="0" y="1160463"/>
            <a:ext cx="2735263" cy="166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709" name="Line 5"/>
          <p:cNvSpPr>
            <a:spLocks noChangeShapeType="1"/>
          </p:cNvSpPr>
          <p:nvPr/>
        </p:nvSpPr>
        <p:spPr bwMode="auto">
          <a:xfrm flipV="1">
            <a:off x="3924300" y="2349500"/>
            <a:ext cx="1692275" cy="1511300"/>
          </a:xfrm>
          <a:prstGeom prst="line">
            <a:avLst/>
          </a:prstGeom>
          <a:noFill/>
          <a:ln w="1524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712" name="Line 8"/>
          <p:cNvSpPr>
            <a:spLocks noChangeShapeType="1"/>
          </p:cNvSpPr>
          <p:nvPr/>
        </p:nvSpPr>
        <p:spPr bwMode="auto">
          <a:xfrm>
            <a:off x="7056438" y="2457450"/>
            <a:ext cx="0" cy="827088"/>
          </a:xfrm>
          <a:prstGeom prst="line">
            <a:avLst/>
          </a:prstGeom>
          <a:noFill/>
          <a:ln w="1524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713" name="Line 9"/>
          <p:cNvSpPr>
            <a:spLocks noChangeShapeType="1"/>
          </p:cNvSpPr>
          <p:nvPr/>
        </p:nvSpPr>
        <p:spPr bwMode="auto">
          <a:xfrm>
            <a:off x="2268538" y="3033713"/>
            <a:ext cx="0" cy="935037"/>
          </a:xfrm>
          <a:prstGeom prst="line">
            <a:avLst/>
          </a:prstGeom>
          <a:noFill/>
          <a:ln w="1524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714" name="Text Box 10"/>
          <p:cNvSpPr txBox="1">
            <a:spLocks noChangeArrowheads="1"/>
          </p:cNvSpPr>
          <p:nvPr/>
        </p:nvSpPr>
        <p:spPr bwMode="auto">
          <a:xfrm>
            <a:off x="2843213" y="4365625"/>
            <a:ext cx="2916237" cy="77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60000"/>
              </a:lnSpc>
              <a:spcBef>
                <a:spcPct val="50000"/>
              </a:spcBef>
              <a:buFontTx/>
              <a:buNone/>
            </a:pPr>
            <a:r>
              <a:rPr lang="en-US" altLang="en-US" sz="1600" b="1" u="sng">
                <a:solidFill>
                  <a:srgbClr val="0000FF"/>
                </a:solidFill>
                <a:latin typeface="Comic Sans MS" panose="030F0702030302020204" pitchFamily="66" charset="0"/>
                <a:cs typeface="Angsana New" panose="02020603050405020304" pitchFamily="18" charset="-34"/>
              </a:rPr>
              <a:t>Refiner 11979s* </a:t>
            </a:r>
          </a:p>
          <a:p>
            <a:pPr eaLnBrk="1" hangingPunct="1">
              <a:lnSpc>
                <a:spcPct val="60000"/>
              </a:lnSpc>
              <a:spcBef>
                <a:spcPct val="50000"/>
              </a:spcBef>
              <a:buFontTx/>
              <a:buNone/>
            </a:pPr>
            <a:r>
              <a:rPr lang="en-US" altLang="en-US" sz="1600" b="1">
                <a:solidFill>
                  <a:srgbClr val="0000FF"/>
                </a:solidFill>
                <a:latin typeface="Comic Sans MS" panose="030F0702030302020204" pitchFamily="66" charset="0"/>
                <a:cs typeface="Angsana New" panose="02020603050405020304" pitchFamily="18" charset="-34"/>
              </a:rPr>
              <a:t>Fine Zone 	2-3-6</a:t>
            </a:r>
          </a:p>
          <a:p>
            <a:pPr eaLnBrk="1" hangingPunct="1">
              <a:lnSpc>
                <a:spcPct val="60000"/>
              </a:lnSpc>
              <a:spcBef>
                <a:spcPct val="50000"/>
              </a:spcBef>
              <a:buFontTx/>
              <a:buNone/>
            </a:pPr>
            <a:r>
              <a:rPr lang="en-US" altLang="en-US" sz="1600" b="1">
                <a:solidFill>
                  <a:srgbClr val="0000FF"/>
                </a:solidFill>
                <a:latin typeface="Comic Sans MS" panose="030F0702030302020204" pitchFamily="66" charset="0"/>
                <a:cs typeface="Angsana New" panose="02020603050405020304" pitchFamily="18" charset="-34"/>
              </a:rPr>
              <a:t>Middle Zone	2-4-10</a:t>
            </a:r>
          </a:p>
        </p:txBody>
      </p:sp>
      <p:sp>
        <p:nvSpPr>
          <p:cNvPr id="179211" name="Text Box 11"/>
          <p:cNvSpPr txBox="1">
            <a:spLocks noChangeArrowheads="1"/>
          </p:cNvSpPr>
          <p:nvPr/>
        </p:nvSpPr>
        <p:spPr bwMode="auto">
          <a:xfrm>
            <a:off x="2592388" y="1449388"/>
            <a:ext cx="3384550" cy="77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60000"/>
              </a:lnSpc>
              <a:spcBef>
                <a:spcPct val="50000"/>
              </a:spcBef>
              <a:buFontTx/>
              <a:buNone/>
            </a:pPr>
            <a:r>
              <a:rPr lang="en-US" altLang="en-US" sz="1600" b="1" u="sng">
                <a:solidFill>
                  <a:srgbClr val="0000FF"/>
                </a:solidFill>
                <a:latin typeface="Comic Sans MS" panose="030F0702030302020204" pitchFamily="66" charset="0"/>
                <a:cs typeface="Angsana New" panose="02020603050405020304" pitchFamily="18" charset="-34"/>
              </a:rPr>
              <a:t>Defibrator</a:t>
            </a:r>
          </a:p>
          <a:p>
            <a:pPr eaLnBrk="1" hangingPunct="1">
              <a:lnSpc>
                <a:spcPct val="60000"/>
              </a:lnSpc>
              <a:spcBef>
                <a:spcPct val="50000"/>
              </a:spcBef>
              <a:buFontTx/>
              <a:buNone/>
            </a:pPr>
            <a:r>
              <a:rPr lang="en-US" altLang="en-US" sz="1600" b="1">
                <a:solidFill>
                  <a:srgbClr val="0000FF"/>
                </a:solidFill>
                <a:latin typeface="Comic Sans MS" panose="030F0702030302020204" pitchFamily="66" charset="0"/>
                <a:cs typeface="Angsana New" panose="02020603050405020304" pitchFamily="18" charset="-34"/>
              </a:rPr>
              <a:t>Refining Zone 2.5-8.5-10</a:t>
            </a:r>
          </a:p>
          <a:p>
            <a:pPr eaLnBrk="1" hangingPunct="1">
              <a:lnSpc>
                <a:spcPct val="60000"/>
              </a:lnSpc>
              <a:spcBef>
                <a:spcPct val="50000"/>
              </a:spcBef>
              <a:buFontTx/>
              <a:buNone/>
            </a:pPr>
            <a:r>
              <a:rPr lang="en-US" altLang="en-US" sz="1600" b="1">
                <a:solidFill>
                  <a:srgbClr val="0000FF"/>
                </a:solidFill>
                <a:latin typeface="Comic Sans MS" panose="030F0702030302020204" pitchFamily="66" charset="0"/>
                <a:cs typeface="Angsana New" panose="02020603050405020304" pitchFamily="18" charset="-34"/>
              </a:rPr>
              <a:t>Cutting Length ~10.5 km/rev</a:t>
            </a:r>
            <a:endParaRPr lang="th-TH" altLang="en-US" sz="1600" b="1">
              <a:solidFill>
                <a:srgbClr val="0000FF"/>
              </a:solidFill>
              <a:latin typeface="Comic Sans MS" panose="030F0702030302020204" pitchFamily="66" charset="0"/>
              <a:cs typeface="Angsana New" panose="02020603050405020304" pitchFamily="18" charset="-34"/>
            </a:endParaRPr>
          </a:p>
        </p:txBody>
      </p:sp>
      <p:sp>
        <p:nvSpPr>
          <p:cNvPr id="72716" name="Text Box 12"/>
          <p:cNvSpPr txBox="1">
            <a:spLocks noChangeArrowheads="1"/>
          </p:cNvSpPr>
          <p:nvPr/>
        </p:nvSpPr>
        <p:spPr bwMode="auto">
          <a:xfrm>
            <a:off x="5686425" y="5624513"/>
            <a:ext cx="3349625" cy="11445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70000"/>
              </a:lnSpc>
              <a:spcBef>
                <a:spcPct val="50000"/>
              </a:spcBef>
              <a:buFontTx/>
              <a:buNone/>
            </a:pPr>
            <a:r>
              <a:rPr lang="en-US" altLang="en-US" sz="1600" b="1" u="sng">
                <a:solidFill>
                  <a:srgbClr val="0000FF"/>
                </a:solidFill>
                <a:latin typeface="Comic Sans MS" panose="030F0702030302020204" pitchFamily="66" charset="0"/>
                <a:cs typeface="Angsana New" panose="02020603050405020304" pitchFamily="18" charset="-34"/>
              </a:rPr>
              <a:t>Conflo Refiner#2</a:t>
            </a:r>
            <a:r>
              <a:rPr lang="en-US" altLang="en-US" sz="1600" b="1">
                <a:solidFill>
                  <a:srgbClr val="0000FF"/>
                </a:solidFill>
                <a:latin typeface="Comic Sans MS" panose="030F0702030302020204" pitchFamily="66" charset="0"/>
                <a:cs typeface="Angsana New" panose="02020603050405020304" pitchFamily="18" charset="-34"/>
              </a:rPr>
              <a:t> JC03SF  </a:t>
            </a:r>
          </a:p>
          <a:p>
            <a:pPr eaLnBrk="1" hangingPunct="1">
              <a:lnSpc>
                <a:spcPct val="70000"/>
              </a:lnSpc>
              <a:spcBef>
                <a:spcPct val="50000"/>
              </a:spcBef>
              <a:buFontTx/>
              <a:buNone/>
            </a:pPr>
            <a:r>
              <a:rPr lang="en-US" altLang="en-US" sz="1600" b="1">
                <a:solidFill>
                  <a:srgbClr val="0000FF"/>
                </a:solidFill>
                <a:latin typeface="Comic Sans MS" panose="030F0702030302020204" pitchFamily="66" charset="0"/>
                <a:cs typeface="Angsana New" panose="02020603050405020304" pitchFamily="18" charset="-34"/>
              </a:rPr>
              <a:t>Refining Zone 2-3-7</a:t>
            </a:r>
          </a:p>
          <a:p>
            <a:pPr eaLnBrk="1" hangingPunct="1">
              <a:lnSpc>
                <a:spcPct val="70000"/>
              </a:lnSpc>
              <a:spcBef>
                <a:spcPct val="50000"/>
              </a:spcBef>
              <a:buFontTx/>
              <a:buNone/>
            </a:pPr>
            <a:r>
              <a:rPr lang="en-US" altLang="en-US" sz="1600" b="1">
                <a:solidFill>
                  <a:srgbClr val="0000FF"/>
                </a:solidFill>
                <a:latin typeface="Comic Sans MS" panose="030F0702030302020204" pitchFamily="66" charset="0"/>
                <a:cs typeface="Angsana New" panose="02020603050405020304" pitchFamily="18" charset="-34"/>
              </a:rPr>
              <a:t>Bar Angle 10 mm</a:t>
            </a:r>
          </a:p>
          <a:p>
            <a:pPr eaLnBrk="1" hangingPunct="1">
              <a:lnSpc>
                <a:spcPct val="70000"/>
              </a:lnSpc>
              <a:spcBef>
                <a:spcPct val="50000"/>
              </a:spcBef>
              <a:buFontTx/>
              <a:buNone/>
            </a:pPr>
            <a:r>
              <a:rPr lang="en-US" altLang="en-US" sz="1600" b="1">
                <a:solidFill>
                  <a:srgbClr val="0000FF"/>
                </a:solidFill>
                <a:latin typeface="Comic Sans MS" panose="030F0702030302020204" pitchFamily="66" charset="0"/>
                <a:cs typeface="Angsana New" panose="02020603050405020304" pitchFamily="18" charset="-34"/>
              </a:rPr>
              <a:t>Cutting Length 45.7 km/rev</a:t>
            </a:r>
          </a:p>
        </p:txBody>
      </p:sp>
      <p:pic>
        <p:nvPicPr>
          <p:cNvPr id="72717" name="Picture 13" descr="Pattern 11979S"/>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3850" y="4257675"/>
            <a:ext cx="2555875" cy="169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718" name="Text Box 14"/>
          <p:cNvSpPr txBox="1">
            <a:spLocks noChangeArrowheads="1"/>
          </p:cNvSpPr>
          <p:nvPr/>
        </p:nvSpPr>
        <p:spPr bwMode="auto">
          <a:xfrm>
            <a:off x="5794375" y="728663"/>
            <a:ext cx="3349625" cy="263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70000"/>
              </a:lnSpc>
              <a:spcBef>
                <a:spcPct val="50000"/>
              </a:spcBef>
              <a:buFontTx/>
              <a:buNone/>
            </a:pPr>
            <a:r>
              <a:rPr lang="en-US" altLang="en-US" sz="1600" b="1" u="sng">
                <a:solidFill>
                  <a:srgbClr val="0000FF"/>
                </a:solidFill>
                <a:latin typeface="Comic Sans MS" panose="030F0702030302020204" pitchFamily="66" charset="0"/>
                <a:cs typeface="Angsana New" panose="02020603050405020304" pitchFamily="18" charset="-34"/>
              </a:rPr>
              <a:t>Conflo Refiner#1</a:t>
            </a:r>
            <a:r>
              <a:rPr lang="en-US" altLang="en-US" sz="1600" b="1">
                <a:solidFill>
                  <a:srgbClr val="0000FF"/>
                </a:solidFill>
                <a:latin typeface="Comic Sans MS" panose="030F0702030302020204" pitchFamily="66" charset="0"/>
                <a:cs typeface="Angsana New" panose="02020603050405020304" pitchFamily="18" charset="-34"/>
              </a:rPr>
              <a:t> JC03SF</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2713"/>
                                        </p:tgtEl>
                                        <p:attrNameLst>
                                          <p:attrName>style.visibility</p:attrName>
                                        </p:attrNameLst>
                                      </p:cBhvr>
                                      <p:to>
                                        <p:strVal val="visible"/>
                                      </p:to>
                                    </p:set>
                                    <p:animEffect transition="in" filter="dissolve">
                                      <p:cBhvr>
                                        <p:cTn id="7" dur="500"/>
                                        <p:tgtEl>
                                          <p:spTgt spid="7271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72714"/>
                                        </p:tgtEl>
                                        <p:attrNameLst>
                                          <p:attrName>style.visibility</p:attrName>
                                        </p:attrNameLst>
                                      </p:cBhvr>
                                      <p:to>
                                        <p:strVal val="visible"/>
                                      </p:to>
                                    </p:set>
                                    <p:animEffect transition="in" filter="dissolve">
                                      <p:cBhvr>
                                        <p:cTn id="10" dur="500"/>
                                        <p:tgtEl>
                                          <p:spTgt spid="72714"/>
                                        </p:tgtEl>
                                      </p:cBhvr>
                                    </p:animEffect>
                                  </p:childTnLst>
                                </p:cTn>
                              </p:par>
                              <p:par>
                                <p:cTn id="11" presetID="9" presetClass="entr" presetSubtype="0" fill="hold" nodeType="withEffect">
                                  <p:stCondLst>
                                    <p:cond delay="0"/>
                                  </p:stCondLst>
                                  <p:childTnLst>
                                    <p:set>
                                      <p:cBhvr>
                                        <p:cTn id="12" dur="1" fill="hold">
                                          <p:stCondLst>
                                            <p:cond delay="0"/>
                                          </p:stCondLst>
                                        </p:cTn>
                                        <p:tgtEl>
                                          <p:spTgt spid="72717"/>
                                        </p:tgtEl>
                                        <p:attrNameLst>
                                          <p:attrName>style.visibility</p:attrName>
                                        </p:attrNameLst>
                                      </p:cBhvr>
                                      <p:to>
                                        <p:strVal val="visible"/>
                                      </p:to>
                                    </p:set>
                                    <p:animEffect transition="in" filter="dissolve">
                                      <p:cBhvr>
                                        <p:cTn id="13" dur="500"/>
                                        <p:tgtEl>
                                          <p:spTgt spid="72717"/>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72709"/>
                                        </p:tgtEl>
                                        <p:attrNameLst>
                                          <p:attrName>style.visibility</p:attrName>
                                        </p:attrNameLst>
                                      </p:cBhvr>
                                      <p:to>
                                        <p:strVal val="visible"/>
                                      </p:to>
                                    </p:set>
                                    <p:animEffect transition="in" filter="dissolve">
                                      <p:cBhvr>
                                        <p:cTn id="18" dur="500"/>
                                        <p:tgtEl>
                                          <p:spTgt spid="72709"/>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72712"/>
                                        </p:tgtEl>
                                        <p:attrNameLst>
                                          <p:attrName>style.visibility</p:attrName>
                                        </p:attrNameLst>
                                      </p:cBhvr>
                                      <p:to>
                                        <p:strVal val="visible"/>
                                      </p:to>
                                    </p:set>
                                    <p:animEffect transition="in" filter="dissolve">
                                      <p:cBhvr>
                                        <p:cTn id="21" dur="500"/>
                                        <p:tgtEl>
                                          <p:spTgt spid="72712"/>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72716"/>
                                        </p:tgtEl>
                                        <p:attrNameLst>
                                          <p:attrName>style.visibility</p:attrName>
                                        </p:attrNameLst>
                                      </p:cBhvr>
                                      <p:to>
                                        <p:strVal val="visible"/>
                                      </p:to>
                                    </p:set>
                                    <p:animEffect transition="in" filter="dissolve">
                                      <p:cBhvr>
                                        <p:cTn id="24" dur="500"/>
                                        <p:tgtEl>
                                          <p:spTgt spid="72716"/>
                                        </p:tgtEl>
                                      </p:cBhvr>
                                    </p:animEffect>
                                  </p:childTnLst>
                                </p:cTn>
                              </p:par>
                              <p:par>
                                <p:cTn id="25" presetID="9" presetClass="entr" presetSubtype="0" fill="hold" grpId="0" nodeType="withEffect">
                                  <p:stCondLst>
                                    <p:cond delay="0"/>
                                  </p:stCondLst>
                                  <p:childTnLst>
                                    <p:set>
                                      <p:cBhvr>
                                        <p:cTn id="26" dur="1" fill="hold">
                                          <p:stCondLst>
                                            <p:cond delay="0"/>
                                          </p:stCondLst>
                                        </p:cTn>
                                        <p:tgtEl>
                                          <p:spTgt spid="72718"/>
                                        </p:tgtEl>
                                        <p:attrNameLst>
                                          <p:attrName>style.visibility</p:attrName>
                                        </p:attrNameLst>
                                      </p:cBhvr>
                                      <p:to>
                                        <p:strVal val="visible"/>
                                      </p:to>
                                    </p:set>
                                    <p:animEffect transition="in" filter="dissolve">
                                      <p:cBhvr>
                                        <p:cTn id="27" dur="500"/>
                                        <p:tgtEl>
                                          <p:spTgt spid="72718"/>
                                        </p:tgtEl>
                                      </p:cBhvr>
                                    </p:animEffect>
                                  </p:childTnLst>
                                </p:cTn>
                              </p:par>
                              <p:par>
                                <p:cTn id="28" presetID="9" presetClass="entr" presetSubtype="0" fill="hold" nodeType="with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dissolve">
                                      <p:cBhvr>
                                        <p:cTn id="30" dur="500"/>
                                        <p:tgtEl>
                                          <p:spTgt spid="17"/>
                                        </p:tgtEl>
                                      </p:cBhvr>
                                    </p:animEffect>
                                  </p:childTnLst>
                                </p:cTn>
                              </p:par>
                              <p:par>
                                <p:cTn id="31" presetID="9" presetClass="entr" presetSubtype="0" fill="hold" nodeType="with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dissolve">
                                      <p:cBhvr>
                                        <p:cTn id="3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9" grpId="0" animBg="1"/>
      <p:bldP spid="72712" grpId="0" animBg="1"/>
      <p:bldP spid="72713" grpId="0" animBg="1"/>
      <p:bldP spid="72714" grpId="0"/>
      <p:bldP spid="72716" grpId="0" animBg="1"/>
      <p:bldP spid="72718"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1250" name="Picture 6" descr="JC03SF"/>
          <p:cNvPicPr>
            <a:picLocks noChangeAspect="1" noChangeArrowheads="1"/>
          </p:cNvPicPr>
          <p:nvPr/>
        </p:nvPicPr>
        <p:blipFill>
          <a:blip r:embed="rId3">
            <a:extLst>
              <a:ext uri="{28A0092B-C50C-407E-A947-70E740481C1C}">
                <a14:useLocalDpi xmlns:a14="http://schemas.microsoft.com/office/drawing/2010/main" val="0"/>
              </a:ext>
            </a:extLst>
          </a:blip>
          <a:srcRect t="19270" b="29817"/>
          <a:stretch>
            <a:fillRect/>
          </a:stretch>
        </p:blipFill>
        <p:spPr bwMode="auto">
          <a:xfrm>
            <a:off x="5584825" y="801688"/>
            <a:ext cx="3559175" cy="248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1251" name="Picture 7" descr="JC03SF"/>
          <p:cNvPicPr>
            <a:picLocks noChangeAspect="1" noChangeArrowheads="1"/>
          </p:cNvPicPr>
          <p:nvPr/>
        </p:nvPicPr>
        <p:blipFill>
          <a:blip r:embed="rId3">
            <a:extLst>
              <a:ext uri="{28A0092B-C50C-407E-A947-70E740481C1C}">
                <a14:useLocalDpi xmlns:a14="http://schemas.microsoft.com/office/drawing/2010/main" val="0"/>
              </a:ext>
            </a:extLst>
          </a:blip>
          <a:srcRect t="19270" b="29817"/>
          <a:stretch>
            <a:fillRect/>
          </a:stretch>
        </p:blipFill>
        <p:spPr bwMode="auto">
          <a:xfrm>
            <a:off x="5543550" y="3225800"/>
            <a:ext cx="3559175" cy="248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1252" name="Rectangle 2"/>
          <p:cNvSpPr>
            <a:spLocks noChangeArrowheads="1"/>
          </p:cNvSpPr>
          <p:nvPr/>
        </p:nvSpPr>
        <p:spPr bwMode="auto">
          <a:xfrm>
            <a:off x="0" y="-26988"/>
            <a:ext cx="9144000" cy="755651"/>
          </a:xfrm>
          <a:prstGeom prst="rect">
            <a:avLst/>
          </a:prstGeom>
          <a:noFill/>
          <a:ln>
            <a:noFill/>
          </a:ln>
          <a:effectLst/>
          <a:extLst>
            <a:ext uri="{909E8E84-426E-40DD-AFC4-6F175D3DCCD1}">
              <a14:hiddenFill xmlns:a14="http://schemas.microsoft.com/office/drawing/2010/main">
                <a:solidFill>
                  <a:srgbClr val="00008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b="1">
                <a:solidFill>
                  <a:srgbClr val="FF0000"/>
                </a:solidFill>
                <a:latin typeface="Tahoma" panose="020B0604030504040204" pitchFamily="34" charset="0"/>
                <a:cs typeface="Tahoma" panose="020B0604030504040204" pitchFamily="34" charset="0"/>
              </a:rPr>
              <a:t>SCP Refining Process</a:t>
            </a:r>
            <a:endParaRPr lang="th-TH" altLang="en-US" b="1">
              <a:solidFill>
                <a:srgbClr val="FF0000"/>
              </a:solidFill>
              <a:latin typeface="Tahoma" panose="020B0604030504040204" pitchFamily="34" charset="0"/>
              <a:cs typeface="Tahoma" panose="020B0604030504040204" pitchFamily="34" charset="0"/>
            </a:endParaRPr>
          </a:p>
        </p:txBody>
      </p:sp>
      <p:sp>
        <p:nvSpPr>
          <p:cNvPr id="181253" name="Text Box 3"/>
          <p:cNvSpPr txBox="1">
            <a:spLocks noChangeArrowheads="1"/>
          </p:cNvSpPr>
          <p:nvPr/>
        </p:nvSpPr>
        <p:spPr bwMode="auto">
          <a:xfrm>
            <a:off x="215900" y="692150"/>
            <a:ext cx="41036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400" b="1" u="sng">
                <a:solidFill>
                  <a:srgbClr val="0000FF"/>
                </a:solidFill>
                <a:latin typeface="Comic Sans MS" panose="030F0702030302020204" pitchFamily="66" charset="0"/>
                <a:cs typeface="Angsana New" panose="02020603050405020304" pitchFamily="18" charset="-34"/>
              </a:rPr>
              <a:t>Plate Pattern</a:t>
            </a:r>
            <a:endParaRPr lang="th-TH" altLang="en-US" sz="2400" b="1" u="sng">
              <a:solidFill>
                <a:srgbClr val="0000FF"/>
              </a:solidFill>
              <a:latin typeface="Comic Sans MS" panose="030F0702030302020204" pitchFamily="66" charset="0"/>
              <a:cs typeface="Angsana New" panose="02020603050405020304" pitchFamily="18" charset="-34"/>
            </a:endParaRPr>
          </a:p>
        </p:txBody>
      </p:sp>
      <p:pic>
        <p:nvPicPr>
          <p:cNvPr id="181254" name="Picture 4" descr="Refiner Plate 03"/>
          <p:cNvPicPr>
            <a:picLocks noChangeAspect="1" noChangeArrowheads="1"/>
          </p:cNvPicPr>
          <p:nvPr/>
        </p:nvPicPr>
        <p:blipFill>
          <a:blip r:embed="rId4">
            <a:extLst>
              <a:ext uri="{28A0092B-C50C-407E-A947-70E740481C1C}">
                <a14:useLocalDpi xmlns:a14="http://schemas.microsoft.com/office/drawing/2010/main" val="0"/>
              </a:ext>
            </a:extLst>
          </a:blip>
          <a:srcRect b="30400"/>
          <a:stretch>
            <a:fillRect/>
          </a:stretch>
        </p:blipFill>
        <p:spPr bwMode="auto">
          <a:xfrm>
            <a:off x="0" y="1160463"/>
            <a:ext cx="2735263" cy="166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1255" name="Text Box 10"/>
          <p:cNvSpPr txBox="1">
            <a:spLocks noChangeArrowheads="1"/>
          </p:cNvSpPr>
          <p:nvPr/>
        </p:nvSpPr>
        <p:spPr bwMode="auto">
          <a:xfrm>
            <a:off x="2843213" y="4365625"/>
            <a:ext cx="2916237" cy="77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60000"/>
              </a:lnSpc>
              <a:spcBef>
                <a:spcPct val="50000"/>
              </a:spcBef>
              <a:buFontTx/>
              <a:buNone/>
            </a:pPr>
            <a:r>
              <a:rPr lang="en-US" altLang="en-US" sz="1600" b="1" u="sng">
                <a:solidFill>
                  <a:srgbClr val="0000FF"/>
                </a:solidFill>
                <a:latin typeface="Comic Sans MS" panose="030F0702030302020204" pitchFamily="66" charset="0"/>
                <a:cs typeface="Angsana New" panose="02020603050405020304" pitchFamily="18" charset="-34"/>
              </a:rPr>
              <a:t>Refiner 11979s* </a:t>
            </a:r>
          </a:p>
          <a:p>
            <a:pPr eaLnBrk="1" hangingPunct="1">
              <a:lnSpc>
                <a:spcPct val="60000"/>
              </a:lnSpc>
              <a:spcBef>
                <a:spcPct val="50000"/>
              </a:spcBef>
              <a:buFontTx/>
              <a:buNone/>
            </a:pPr>
            <a:r>
              <a:rPr lang="en-US" altLang="en-US" sz="1600" b="1">
                <a:solidFill>
                  <a:srgbClr val="0000FF"/>
                </a:solidFill>
                <a:latin typeface="Comic Sans MS" panose="030F0702030302020204" pitchFamily="66" charset="0"/>
                <a:cs typeface="Angsana New" panose="02020603050405020304" pitchFamily="18" charset="-34"/>
              </a:rPr>
              <a:t>Fine Zone 	2-3-6</a:t>
            </a:r>
          </a:p>
          <a:p>
            <a:pPr eaLnBrk="1" hangingPunct="1">
              <a:lnSpc>
                <a:spcPct val="60000"/>
              </a:lnSpc>
              <a:spcBef>
                <a:spcPct val="50000"/>
              </a:spcBef>
              <a:buFontTx/>
              <a:buNone/>
            </a:pPr>
            <a:r>
              <a:rPr lang="en-US" altLang="en-US" sz="1600" b="1">
                <a:solidFill>
                  <a:srgbClr val="0000FF"/>
                </a:solidFill>
                <a:latin typeface="Comic Sans MS" panose="030F0702030302020204" pitchFamily="66" charset="0"/>
                <a:cs typeface="Angsana New" panose="02020603050405020304" pitchFamily="18" charset="-34"/>
              </a:rPr>
              <a:t>Middle Zone	2-4-10</a:t>
            </a:r>
          </a:p>
        </p:txBody>
      </p:sp>
      <p:sp>
        <p:nvSpPr>
          <p:cNvPr id="181256" name="Text Box 11"/>
          <p:cNvSpPr txBox="1">
            <a:spLocks noChangeArrowheads="1"/>
          </p:cNvSpPr>
          <p:nvPr/>
        </p:nvSpPr>
        <p:spPr bwMode="auto">
          <a:xfrm>
            <a:off x="2592388" y="1449388"/>
            <a:ext cx="3384550" cy="77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60000"/>
              </a:lnSpc>
              <a:spcBef>
                <a:spcPct val="50000"/>
              </a:spcBef>
              <a:buFontTx/>
              <a:buNone/>
            </a:pPr>
            <a:r>
              <a:rPr lang="en-US" altLang="en-US" sz="1600" b="1" u="sng">
                <a:solidFill>
                  <a:srgbClr val="0000FF"/>
                </a:solidFill>
                <a:latin typeface="Comic Sans MS" panose="030F0702030302020204" pitchFamily="66" charset="0"/>
                <a:cs typeface="Angsana New" panose="02020603050405020304" pitchFamily="18" charset="-34"/>
              </a:rPr>
              <a:t>Defibrator</a:t>
            </a:r>
          </a:p>
          <a:p>
            <a:pPr eaLnBrk="1" hangingPunct="1">
              <a:lnSpc>
                <a:spcPct val="60000"/>
              </a:lnSpc>
              <a:spcBef>
                <a:spcPct val="50000"/>
              </a:spcBef>
              <a:buFontTx/>
              <a:buNone/>
            </a:pPr>
            <a:r>
              <a:rPr lang="en-US" altLang="en-US" sz="1600" b="1">
                <a:solidFill>
                  <a:srgbClr val="0000FF"/>
                </a:solidFill>
                <a:latin typeface="Comic Sans MS" panose="030F0702030302020204" pitchFamily="66" charset="0"/>
                <a:cs typeface="Angsana New" panose="02020603050405020304" pitchFamily="18" charset="-34"/>
              </a:rPr>
              <a:t>Refining Zone 2.5-8.5-10</a:t>
            </a:r>
          </a:p>
          <a:p>
            <a:pPr eaLnBrk="1" hangingPunct="1">
              <a:lnSpc>
                <a:spcPct val="60000"/>
              </a:lnSpc>
              <a:spcBef>
                <a:spcPct val="50000"/>
              </a:spcBef>
              <a:buFontTx/>
              <a:buNone/>
            </a:pPr>
            <a:r>
              <a:rPr lang="en-US" altLang="en-US" sz="1600" b="1">
                <a:solidFill>
                  <a:srgbClr val="0000FF"/>
                </a:solidFill>
                <a:latin typeface="Comic Sans MS" panose="030F0702030302020204" pitchFamily="66" charset="0"/>
                <a:cs typeface="Angsana New" panose="02020603050405020304" pitchFamily="18" charset="-34"/>
              </a:rPr>
              <a:t>Cutting Length ~10.5 km/rev</a:t>
            </a:r>
            <a:endParaRPr lang="th-TH" altLang="en-US" sz="1600" b="1">
              <a:solidFill>
                <a:srgbClr val="0000FF"/>
              </a:solidFill>
              <a:latin typeface="Comic Sans MS" panose="030F0702030302020204" pitchFamily="66" charset="0"/>
              <a:cs typeface="Angsana New" panose="02020603050405020304" pitchFamily="18" charset="-34"/>
            </a:endParaRPr>
          </a:p>
        </p:txBody>
      </p:sp>
      <p:sp>
        <p:nvSpPr>
          <p:cNvPr id="181257" name="Text Box 12"/>
          <p:cNvSpPr txBox="1">
            <a:spLocks noChangeArrowheads="1"/>
          </p:cNvSpPr>
          <p:nvPr/>
        </p:nvSpPr>
        <p:spPr bwMode="auto">
          <a:xfrm>
            <a:off x="5686425" y="5624513"/>
            <a:ext cx="3349625" cy="11445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70000"/>
              </a:lnSpc>
              <a:spcBef>
                <a:spcPct val="50000"/>
              </a:spcBef>
              <a:buFontTx/>
              <a:buNone/>
            </a:pPr>
            <a:r>
              <a:rPr lang="en-US" altLang="en-US" sz="1600" b="1" u="sng">
                <a:solidFill>
                  <a:srgbClr val="0000FF"/>
                </a:solidFill>
                <a:latin typeface="Comic Sans MS" panose="030F0702030302020204" pitchFamily="66" charset="0"/>
                <a:cs typeface="Angsana New" panose="02020603050405020304" pitchFamily="18" charset="-34"/>
              </a:rPr>
              <a:t>Conflo Refiner#2</a:t>
            </a:r>
            <a:r>
              <a:rPr lang="en-US" altLang="en-US" sz="1600" b="1">
                <a:solidFill>
                  <a:srgbClr val="0000FF"/>
                </a:solidFill>
                <a:latin typeface="Comic Sans MS" panose="030F0702030302020204" pitchFamily="66" charset="0"/>
                <a:cs typeface="Angsana New" panose="02020603050405020304" pitchFamily="18" charset="-34"/>
              </a:rPr>
              <a:t> JC03SF  </a:t>
            </a:r>
          </a:p>
          <a:p>
            <a:pPr eaLnBrk="1" hangingPunct="1">
              <a:lnSpc>
                <a:spcPct val="70000"/>
              </a:lnSpc>
              <a:spcBef>
                <a:spcPct val="50000"/>
              </a:spcBef>
              <a:buFontTx/>
              <a:buNone/>
            </a:pPr>
            <a:r>
              <a:rPr lang="en-US" altLang="en-US" sz="1600" b="1">
                <a:solidFill>
                  <a:srgbClr val="0000FF"/>
                </a:solidFill>
                <a:latin typeface="Comic Sans MS" panose="030F0702030302020204" pitchFamily="66" charset="0"/>
                <a:cs typeface="Angsana New" panose="02020603050405020304" pitchFamily="18" charset="-34"/>
              </a:rPr>
              <a:t>Refining Zone 2-3-7</a:t>
            </a:r>
          </a:p>
          <a:p>
            <a:pPr eaLnBrk="1" hangingPunct="1">
              <a:lnSpc>
                <a:spcPct val="70000"/>
              </a:lnSpc>
              <a:spcBef>
                <a:spcPct val="50000"/>
              </a:spcBef>
              <a:buFontTx/>
              <a:buNone/>
            </a:pPr>
            <a:r>
              <a:rPr lang="en-US" altLang="en-US" sz="1600" b="1">
                <a:solidFill>
                  <a:srgbClr val="0000FF"/>
                </a:solidFill>
                <a:latin typeface="Comic Sans MS" panose="030F0702030302020204" pitchFamily="66" charset="0"/>
                <a:cs typeface="Angsana New" panose="02020603050405020304" pitchFamily="18" charset="-34"/>
              </a:rPr>
              <a:t>Bar Angle 10 mm</a:t>
            </a:r>
          </a:p>
          <a:p>
            <a:pPr eaLnBrk="1" hangingPunct="1">
              <a:lnSpc>
                <a:spcPct val="70000"/>
              </a:lnSpc>
              <a:spcBef>
                <a:spcPct val="50000"/>
              </a:spcBef>
              <a:buFontTx/>
              <a:buNone/>
            </a:pPr>
            <a:r>
              <a:rPr lang="en-US" altLang="en-US" sz="1600" b="1">
                <a:solidFill>
                  <a:srgbClr val="0000FF"/>
                </a:solidFill>
                <a:latin typeface="Comic Sans MS" panose="030F0702030302020204" pitchFamily="66" charset="0"/>
                <a:cs typeface="Angsana New" panose="02020603050405020304" pitchFamily="18" charset="-34"/>
              </a:rPr>
              <a:t>Cutting Length 45.7 km/rev</a:t>
            </a:r>
          </a:p>
        </p:txBody>
      </p:sp>
      <p:pic>
        <p:nvPicPr>
          <p:cNvPr id="181258" name="Picture 13" descr="Pattern 11979S"/>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3850" y="4257675"/>
            <a:ext cx="2555875" cy="169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1259" name="Text Box 14"/>
          <p:cNvSpPr txBox="1">
            <a:spLocks noChangeArrowheads="1"/>
          </p:cNvSpPr>
          <p:nvPr/>
        </p:nvSpPr>
        <p:spPr bwMode="auto">
          <a:xfrm>
            <a:off x="5794375" y="728663"/>
            <a:ext cx="3349625" cy="263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70000"/>
              </a:lnSpc>
              <a:spcBef>
                <a:spcPct val="50000"/>
              </a:spcBef>
              <a:buFontTx/>
              <a:buNone/>
            </a:pPr>
            <a:r>
              <a:rPr lang="en-US" altLang="en-US" sz="1600" b="1" u="sng">
                <a:solidFill>
                  <a:srgbClr val="0000FF"/>
                </a:solidFill>
                <a:latin typeface="Comic Sans MS" panose="030F0702030302020204" pitchFamily="66" charset="0"/>
                <a:cs typeface="Angsana New" panose="02020603050405020304" pitchFamily="18" charset="-34"/>
              </a:rPr>
              <a:t>Conflo Refiner#1</a:t>
            </a:r>
            <a:r>
              <a:rPr lang="en-US" altLang="en-US" sz="1600" b="1">
                <a:solidFill>
                  <a:srgbClr val="0000FF"/>
                </a:solidFill>
                <a:latin typeface="Comic Sans MS" panose="030F0702030302020204" pitchFamily="66" charset="0"/>
                <a:cs typeface="Angsana New" panose="02020603050405020304" pitchFamily="18" charset="-34"/>
              </a:rPr>
              <a:t> JC03SF</a:t>
            </a:r>
          </a:p>
        </p:txBody>
      </p:sp>
      <p:sp>
        <p:nvSpPr>
          <p:cNvPr id="93199" name="Text Box 15"/>
          <p:cNvSpPr txBox="1">
            <a:spLocks noChangeArrowheads="1"/>
          </p:cNvSpPr>
          <p:nvPr/>
        </p:nvSpPr>
        <p:spPr bwMode="auto">
          <a:xfrm>
            <a:off x="2268538" y="2420938"/>
            <a:ext cx="3384550" cy="1077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th-TH" altLang="en-US" sz="1600" b="1">
                <a:solidFill>
                  <a:srgbClr val="FF0000"/>
                </a:solidFill>
                <a:latin typeface="Tahoma" panose="020B0604030504040204" pitchFamily="34" charset="0"/>
                <a:cs typeface="Tahoma" panose="020B0604030504040204" pitchFamily="34" charset="0"/>
              </a:rPr>
              <a:t>ทดลองใช้ </a:t>
            </a:r>
            <a:r>
              <a:rPr lang="en-US" altLang="en-US" sz="1600" b="1">
                <a:solidFill>
                  <a:srgbClr val="FF0000"/>
                </a:solidFill>
                <a:latin typeface="Tahoma" panose="020B0604030504040204" pitchFamily="34" charset="0"/>
                <a:cs typeface="Tahoma" panose="020B0604030504040204" pitchFamily="34" charset="0"/>
              </a:rPr>
              <a:t>New Patturn Design </a:t>
            </a:r>
            <a:r>
              <a:rPr lang="th-TH" altLang="en-US" sz="1600" b="1">
                <a:solidFill>
                  <a:srgbClr val="FF0000"/>
                </a:solidFill>
                <a:latin typeface="Tahoma" panose="020B0604030504040204" pitchFamily="34" charset="0"/>
                <a:cs typeface="Tahoma" panose="020B0604030504040204" pitchFamily="34" charset="0"/>
              </a:rPr>
              <a:t>ของ </a:t>
            </a:r>
            <a:r>
              <a:rPr lang="en-US" altLang="en-US" sz="1600" b="1">
                <a:solidFill>
                  <a:srgbClr val="FF0000"/>
                </a:solidFill>
                <a:latin typeface="Tahoma" panose="020B0604030504040204" pitchFamily="34" charset="0"/>
                <a:cs typeface="Tahoma" panose="020B0604030504040204" pitchFamily="34" charset="0"/>
              </a:rPr>
              <a:t>Dura </a:t>
            </a:r>
            <a:r>
              <a:rPr lang="th-TH" altLang="en-US" sz="1600" b="1">
                <a:solidFill>
                  <a:srgbClr val="FF0000"/>
                </a:solidFill>
                <a:latin typeface="Tahoma" panose="020B0604030504040204" pitchFamily="34" charset="0"/>
                <a:cs typeface="Tahoma" panose="020B0604030504040204" pitchFamily="34" charset="0"/>
              </a:rPr>
              <a:t>สามารถช่วยลด </a:t>
            </a:r>
            <a:r>
              <a:rPr lang="en-US" altLang="en-US" sz="1600" b="1">
                <a:solidFill>
                  <a:srgbClr val="FF0000"/>
                </a:solidFill>
                <a:latin typeface="Tahoma" panose="020B0604030504040204" pitchFamily="34" charset="0"/>
                <a:cs typeface="Tahoma" panose="020B0604030504040204" pitchFamily="34" charset="0"/>
              </a:rPr>
              <a:t>Load </a:t>
            </a:r>
            <a:r>
              <a:rPr lang="th-TH" altLang="en-US" sz="1600" b="1">
                <a:solidFill>
                  <a:srgbClr val="FF0000"/>
                </a:solidFill>
                <a:latin typeface="Tahoma" panose="020B0604030504040204" pitchFamily="34" charset="0"/>
                <a:cs typeface="Tahoma" panose="020B0604030504040204" pitchFamily="34" charset="0"/>
              </a:rPr>
              <a:t>ที่ </a:t>
            </a:r>
            <a:r>
              <a:rPr lang="en-US" altLang="en-US" sz="1600" b="1">
                <a:solidFill>
                  <a:srgbClr val="FF0000"/>
                </a:solidFill>
                <a:latin typeface="Tahoma" panose="020B0604030504040204" pitchFamily="34" charset="0"/>
                <a:cs typeface="Tahoma" panose="020B0604030504040204" pitchFamily="34" charset="0"/>
              </a:rPr>
              <a:t>Swing </a:t>
            </a:r>
            <a:r>
              <a:rPr lang="th-TH" altLang="en-US" sz="1600" b="1">
                <a:solidFill>
                  <a:srgbClr val="FF0000"/>
                </a:solidFill>
                <a:latin typeface="Tahoma" panose="020B0604030504040204" pitchFamily="34" charset="0"/>
                <a:cs typeface="Tahoma" panose="020B0604030504040204" pitchFamily="34" charset="0"/>
              </a:rPr>
              <a:t>ได้ (</a:t>
            </a:r>
            <a:r>
              <a:rPr lang="en-US" altLang="en-US" sz="1600" b="1">
                <a:solidFill>
                  <a:srgbClr val="FF0000"/>
                </a:solidFill>
                <a:latin typeface="Tahoma" panose="020B0604030504040204" pitchFamily="34" charset="0"/>
                <a:cs typeface="Tahoma" panose="020B0604030504040204" pitchFamily="34" charset="0"/>
              </a:rPr>
              <a:t>horizontal steaming Tube) </a:t>
            </a:r>
            <a:endParaRPr lang="th-TH" altLang="en-US" sz="1600" b="1">
              <a:solidFill>
                <a:srgbClr val="FF0000"/>
              </a:solidFill>
              <a:latin typeface="Tahoma" panose="020B0604030504040204" pitchFamily="34" charset="0"/>
              <a:cs typeface="Tahoma" panose="020B0604030504040204" pitchFamily="34" charset="0"/>
            </a:endParaRPr>
          </a:p>
        </p:txBody>
      </p:sp>
      <p:sp>
        <p:nvSpPr>
          <p:cNvPr id="93200" name="Text Box 16"/>
          <p:cNvSpPr txBox="1">
            <a:spLocks noChangeArrowheads="1"/>
          </p:cNvSpPr>
          <p:nvPr/>
        </p:nvSpPr>
        <p:spPr bwMode="auto">
          <a:xfrm>
            <a:off x="2555875" y="5229225"/>
            <a:ext cx="3095625" cy="1042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60000"/>
              </a:lnSpc>
              <a:spcBef>
                <a:spcPct val="50000"/>
              </a:spcBef>
              <a:buFontTx/>
              <a:buNone/>
            </a:pPr>
            <a:r>
              <a:rPr lang="th-TH" altLang="en-US" sz="1600" b="1">
                <a:solidFill>
                  <a:srgbClr val="FF0000"/>
                </a:solidFill>
                <a:latin typeface="Tahoma" panose="020B0604030504040204" pitchFamily="34" charset="0"/>
                <a:cs typeface="Tahoma" panose="020B0604030504040204" pitchFamily="34" charset="0"/>
              </a:rPr>
              <a:t>เปลี่ยนเป็นรุ่น </a:t>
            </a:r>
            <a:r>
              <a:rPr lang="en-US" altLang="en-US" sz="1600" b="1">
                <a:solidFill>
                  <a:srgbClr val="FF0000"/>
                </a:solidFill>
                <a:latin typeface="Tahoma" panose="020B0604030504040204" pitchFamily="34" charset="0"/>
                <a:cs typeface="Tahoma" panose="020B0604030504040204" pitchFamily="34" charset="0"/>
              </a:rPr>
              <a:t>11979VT</a:t>
            </a:r>
          </a:p>
          <a:p>
            <a:pPr eaLnBrk="1" hangingPunct="1">
              <a:lnSpc>
                <a:spcPct val="60000"/>
              </a:lnSpc>
              <a:spcBef>
                <a:spcPct val="50000"/>
              </a:spcBef>
              <a:buFontTx/>
              <a:buNone/>
            </a:pPr>
            <a:r>
              <a:rPr lang="th-TH" altLang="en-US" sz="1600" b="1">
                <a:solidFill>
                  <a:srgbClr val="FF0000"/>
                </a:solidFill>
                <a:latin typeface="Tahoma" panose="020B0604030504040204" pitchFamily="34" charset="0"/>
                <a:cs typeface="Tahoma" panose="020B0604030504040204" pitchFamily="34" charset="0"/>
              </a:rPr>
              <a:t>ปรับ </a:t>
            </a:r>
            <a:r>
              <a:rPr lang="en-US" altLang="en-US" sz="1600" b="1">
                <a:solidFill>
                  <a:srgbClr val="FF0000"/>
                </a:solidFill>
                <a:latin typeface="Tahoma" panose="020B0604030504040204" pitchFamily="34" charset="0"/>
                <a:cs typeface="Tahoma" panose="020B0604030504040204" pitchFamily="34" charset="0"/>
              </a:rPr>
              <a:t>Groove width</a:t>
            </a:r>
          </a:p>
          <a:p>
            <a:pPr eaLnBrk="1" hangingPunct="1">
              <a:lnSpc>
                <a:spcPct val="60000"/>
              </a:lnSpc>
              <a:spcBef>
                <a:spcPct val="50000"/>
              </a:spcBef>
              <a:buFontTx/>
              <a:buNone/>
            </a:pPr>
            <a:r>
              <a:rPr lang="en-US" altLang="en-US" sz="1600" b="1">
                <a:solidFill>
                  <a:srgbClr val="FF0000"/>
                </a:solidFill>
                <a:latin typeface="Tahoma" panose="020B0604030504040204" pitchFamily="34" charset="0"/>
                <a:cs typeface="Tahoma" panose="020B0604030504040204" pitchFamily="34" charset="0"/>
              </a:rPr>
              <a:t>Fine zone	2-2.5-6</a:t>
            </a:r>
          </a:p>
          <a:p>
            <a:pPr eaLnBrk="1" hangingPunct="1">
              <a:lnSpc>
                <a:spcPct val="60000"/>
              </a:lnSpc>
              <a:spcBef>
                <a:spcPct val="50000"/>
              </a:spcBef>
              <a:buFontTx/>
              <a:buNone/>
            </a:pPr>
            <a:r>
              <a:rPr lang="en-US" altLang="en-US" sz="1600" b="1">
                <a:solidFill>
                  <a:srgbClr val="FF0000"/>
                </a:solidFill>
                <a:latin typeface="Tahoma" panose="020B0604030504040204" pitchFamily="34" charset="0"/>
                <a:cs typeface="Tahoma" panose="020B0604030504040204" pitchFamily="34" charset="0"/>
              </a:rPr>
              <a:t>Middle zone	2-3.5-10</a:t>
            </a:r>
            <a:endParaRPr lang="th-TH" altLang="en-US" sz="1600" b="1">
              <a:solidFill>
                <a:srgbClr val="FF0000"/>
              </a:solidFill>
              <a:latin typeface="Tahoma" panose="020B0604030504040204" pitchFamily="34" charset="0"/>
              <a:cs typeface="Tahoma" panose="020B0604030504040204" pitchFamily="34" charset="0"/>
            </a:endParaRPr>
          </a:p>
        </p:txBody>
      </p:sp>
      <p:sp>
        <p:nvSpPr>
          <p:cNvPr id="93201" name="Text Box 17"/>
          <p:cNvSpPr txBox="1">
            <a:spLocks noChangeArrowheads="1"/>
          </p:cNvSpPr>
          <p:nvPr/>
        </p:nvSpPr>
        <p:spPr bwMode="auto">
          <a:xfrm>
            <a:off x="5735638" y="1809750"/>
            <a:ext cx="2849562" cy="5064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lnSpc>
                <a:spcPct val="60000"/>
              </a:lnSpc>
              <a:spcBef>
                <a:spcPct val="50000"/>
              </a:spcBef>
              <a:buFontTx/>
              <a:buNone/>
            </a:pPr>
            <a:r>
              <a:rPr lang="th-TH" altLang="en-US" sz="1600" b="1">
                <a:solidFill>
                  <a:srgbClr val="FF0000"/>
                </a:solidFill>
                <a:latin typeface="Tahoma" panose="020B0604030504040204" pitchFamily="34" charset="0"/>
                <a:cs typeface="Tahoma" panose="020B0604030504040204" pitchFamily="34" charset="0"/>
              </a:rPr>
              <a:t>ปรับปรุงเป็นรุ่น </a:t>
            </a:r>
            <a:r>
              <a:rPr lang="en-US" altLang="en-US" sz="1600" b="1">
                <a:solidFill>
                  <a:srgbClr val="FF0000"/>
                </a:solidFill>
                <a:latin typeface="Tahoma" panose="020B0604030504040204" pitchFamily="34" charset="0"/>
                <a:cs typeface="Tahoma" panose="020B0604030504040204" pitchFamily="34" charset="0"/>
              </a:rPr>
              <a:t>-2G-SJ</a:t>
            </a:r>
            <a:endParaRPr lang="th-TH" altLang="en-US" sz="1600" b="1">
              <a:solidFill>
                <a:srgbClr val="FF0000"/>
              </a:solidFill>
              <a:latin typeface="Tahoma" panose="020B0604030504040204" pitchFamily="34" charset="0"/>
              <a:cs typeface="Tahoma" panose="020B0604030504040204" pitchFamily="34" charset="0"/>
            </a:endParaRPr>
          </a:p>
          <a:p>
            <a:pPr algn="ctr" eaLnBrk="1" hangingPunct="1">
              <a:lnSpc>
                <a:spcPct val="60000"/>
              </a:lnSpc>
              <a:spcBef>
                <a:spcPct val="50000"/>
              </a:spcBef>
              <a:buFontTx/>
              <a:buNone/>
            </a:pPr>
            <a:r>
              <a:rPr lang="th-TH" altLang="en-US" sz="1600" b="1">
                <a:solidFill>
                  <a:srgbClr val="FF0000"/>
                </a:solidFill>
                <a:latin typeface="Tahoma" panose="020B0604030504040204" pitchFamily="34" charset="0"/>
                <a:cs typeface="Tahoma" panose="020B0604030504040204" pitchFamily="34" charset="0"/>
              </a:rPr>
              <a:t>เพิ่มขอบของ </a:t>
            </a:r>
            <a:r>
              <a:rPr lang="en-US" altLang="en-US" sz="1600" b="1">
                <a:solidFill>
                  <a:srgbClr val="FF0000"/>
                </a:solidFill>
                <a:latin typeface="Tahoma" panose="020B0604030504040204" pitchFamily="34" charset="0"/>
                <a:cs typeface="Tahoma" panose="020B0604030504040204" pitchFamily="34" charset="0"/>
              </a:rPr>
              <a:t>Bar </a:t>
            </a:r>
            <a:r>
              <a:rPr lang="th-TH" altLang="en-US" sz="1600" b="1">
                <a:solidFill>
                  <a:srgbClr val="FF0000"/>
                </a:solidFill>
                <a:latin typeface="Tahoma" panose="020B0604030504040204" pitchFamily="34" charset="0"/>
                <a:cs typeface="Tahoma" panose="020B0604030504040204" pitchFamily="34" charset="0"/>
              </a:rPr>
              <a:t>ให้สูงขึ้น</a:t>
            </a:r>
          </a:p>
        </p:txBody>
      </p:sp>
      <p:sp>
        <p:nvSpPr>
          <p:cNvPr id="93202" name="Text Box 18"/>
          <p:cNvSpPr txBox="1">
            <a:spLocks noChangeArrowheads="1"/>
          </p:cNvSpPr>
          <p:nvPr/>
        </p:nvSpPr>
        <p:spPr bwMode="auto">
          <a:xfrm>
            <a:off x="5867400" y="4233863"/>
            <a:ext cx="2446338" cy="5064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lnSpc>
                <a:spcPct val="60000"/>
              </a:lnSpc>
              <a:spcBef>
                <a:spcPct val="50000"/>
              </a:spcBef>
              <a:buFontTx/>
              <a:buNone/>
            </a:pPr>
            <a:r>
              <a:rPr lang="th-TH" altLang="en-US" sz="1600" b="1">
                <a:solidFill>
                  <a:srgbClr val="FF0000"/>
                </a:solidFill>
                <a:latin typeface="Tahoma" panose="020B0604030504040204" pitchFamily="34" charset="0"/>
                <a:cs typeface="Tahoma" panose="020B0604030504040204" pitchFamily="34" charset="0"/>
              </a:rPr>
              <a:t>ปรับปรุงเป็นรุ่น </a:t>
            </a:r>
            <a:r>
              <a:rPr lang="en-US" altLang="en-US" sz="1600" b="1">
                <a:solidFill>
                  <a:srgbClr val="FF0000"/>
                </a:solidFill>
                <a:latin typeface="Tahoma" panose="020B0604030504040204" pitchFamily="34" charset="0"/>
                <a:cs typeface="Tahoma" panose="020B0604030504040204" pitchFamily="34" charset="0"/>
              </a:rPr>
              <a:t>-G-JH</a:t>
            </a:r>
            <a:endParaRPr lang="th-TH" altLang="en-US" sz="1600" b="1">
              <a:solidFill>
                <a:srgbClr val="FF0000"/>
              </a:solidFill>
              <a:latin typeface="Tahoma" panose="020B0604030504040204" pitchFamily="34" charset="0"/>
              <a:cs typeface="Tahoma" panose="020B0604030504040204" pitchFamily="34" charset="0"/>
            </a:endParaRPr>
          </a:p>
          <a:p>
            <a:pPr algn="ctr" eaLnBrk="1" hangingPunct="1">
              <a:lnSpc>
                <a:spcPct val="60000"/>
              </a:lnSpc>
              <a:spcBef>
                <a:spcPct val="50000"/>
              </a:spcBef>
              <a:buFontTx/>
              <a:buNone/>
            </a:pPr>
            <a:r>
              <a:rPr lang="th-TH" altLang="en-US" sz="1600" b="1">
                <a:solidFill>
                  <a:srgbClr val="FF0000"/>
                </a:solidFill>
                <a:latin typeface="Tahoma" panose="020B0604030504040204" pitchFamily="34" charset="0"/>
                <a:cs typeface="Tahoma" panose="020B0604030504040204" pitchFamily="34" charset="0"/>
              </a:rPr>
              <a:t>เพิ่มความแข็งแรง</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3199"/>
                                        </p:tgtEl>
                                        <p:attrNameLst>
                                          <p:attrName>style.visibility</p:attrName>
                                        </p:attrNameLst>
                                      </p:cBhvr>
                                      <p:to>
                                        <p:strVal val="visible"/>
                                      </p:to>
                                    </p:set>
                                    <p:animEffect transition="in" filter="blinds(horizontal)">
                                      <p:cBhvr>
                                        <p:cTn id="7" dur="500"/>
                                        <p:tgtEl>
                                          <p:spTgt spid="9319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3200"/>
                                        </p:tgtEl>
                                        <p:attrNameLst>
                                          <p:attrName>style.visibility</p:attrName>
                                        </p:attrNameLst>
                                      </p:cBhvr>
                                      <p:to>
                                        <p:strVal val="visible"/>
                                      </p:to>
                                    </p:set>
                                    <p:animEffect transition="in" filter="blinds(horizontal)">
                                      <p:cBhvr>
                                        <p:cTn id="12" dur="500"/>
                                        <p:tgtEl>
                                          <p:spTgt spid="9320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3201"/>
                                        </p:tgtEl>
                                        <p:attrNameLst>
                                          <p:attrName>style.visibility</p:attrName>
                                        </p:attrNameLst>
                                      </p:cBhvr>
                                      <p:to>
                                        <p:strVal val="visible"/>
                                      </p:to>
                                    </p:set>
                                    <p:animEffect transition="in" filter="blinds(horizontal)">
                                      <p:cBhvr>
                                        <p:cTn id="17" dur="500"/>
                                        <p:tgtEl>
                                          <p:spTgt spid="9320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93202"/>
                                        </p:tgtEl>
                                        <p:attrNameLst>
                                          <p:attrName>style.visibility</p:attrName>
                                        </p:attrNameLst>
                                      </p:cBhvr>
                                      <p:to>
                                        <p:strVal val="visible"/>
                                      </p:to>
                                    </p:set>
                                    <p:animEffect transition="in" filter="blinds(horizontal)">
                                      <p:cBhvr>
                                        <p:cTn id="22" dur="500"/>
                                        <p:tgtEl>
                                          <p:spTgt spid="932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99" grpId="0"/>
      <p:bldP spid="93200" grpId="0"/>
      <p:bldP spid="93201" grpId="0" animBg="1"/>
      <p:bldP spid="93202"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p:cNvSpPr>
            <a:spLocks noChangeArrowheads="1"/>
          </p:cNvSpPr>
          <p:nvPr/>
        </p:nvSpPr>
        <p:spPr bwMode="auto">
          <a:xfrm>
            <a:off x="0" y="-26988"/>
            <a:ext cx="9144000" cy="755651"/>
          </a:xfrm>
          <a:prstGeom prst="rect">
            <a:avLst/>
          </a:prstGeom>
          <a:noFill/>
          <a:ln>
            <a:noFill/>
          </a:ln>
          <a:effectLst/>
          <a:extLst>
            <a:ext uri="{909E8E84-426E-40DD-AFC4-6F175D3DCCD1}">
              <a14:hiddenFill xmlns:a14="http://schemas.microsoft.com/office/drawing/2010/main">
                <a:solidFill>
                  <a:srgbClr val="00008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b="1">
                <a:solidFill>
                  <a:srgbClr val="FF0000"/>
                </a:solidFill>
                <a:latin typeface="Tahoma" panose="020B0604030504040204" pitchFamily="34" charset="0"/>
                <a:cs typeface="Tahoma" panose="020B0604030504040204" pitchFamily="34" charset="0"/>
              </a:rPr>
              <a:t>SCP Refining Process</a:t>
            </a:r>
            <a:endParaRPr lang="th-TH" altLang="en-US" b="1">
              <a:solidFill>
                <a:srgbClr val="FF0000"/>
              </a:solidFill>
              <a:latin typeface="Tahoma" panose="020B0604030504040204" pitchFamily="34" charset="0"/>
              <a:cs typeface="Tahoma" panose="020B0604030504040204" pitchFamily="34" charset="0"/>
            </a:endParaRPr>
          </a:p>
        </p:txBody>
      </p:sp>
      <p:graphicFrame>
        <p:nvGraphicFramePr>
          <p:cNvPr id="74817" name="Group 65"/>
          <p:cNvGraphicFramePr>
            <a:graphicFrameLocks noGrp="1"/>
          </p:cNvGraphicFramePr>
          <p:nvPr>
            <p:ph/>
          </p:nvPr>
        </p:nvGraphicFramePr>
        <p:xfrm>
          <a:off x="215900" y="1246188"/>
          <a:ext cx="8748713" cy="5535616"/>
        </p:xfrm>
        <a:graphic>
          <a:graphicData uri="http://schemas.openxmlformats.org/drawingml/2006/table">
            <a:tbl>
              <a:tblPr/>
              <a:tblGrid>
                <a:gridCol w="1749425"/>
                <a:gridCol w="1778000"/>
                <a:gridCol w="1720850"/>
                <a:gridCol w="1751013"/>
                <a:gridCol w="1749425"/>
              </a:tblGrid>
              <a:tr h="44124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sv-SE" sz="2000" b="1" i="0" u="none" strike="noStrike" cap="none" normalizeH="0" baseline="0" dirty="0" smtClean="0">
                        <a:ln>
                          <a:noFill/>
                        </a:ln>
                        <a:solidFill>
                          <a:srgbClr val="0000FF"/>
                        </a:solidFill>
                        <a:effectLst/>
                        <a:latin typeface="Comic Sans MS" pitchFamily="66" charset="0"/>
                        <a:cs typeface="Angsana New" pitchFamily="18" charset="-34"/>
                      </a:endParaRPr>
                    </a:p>
                  </a:txBody>
                  <a:tcPr marT="45712" marB="45712" horzOverflow="overflow">
                    <a:lnL cap="flat">
                      <a:noFill/>
                    </a:lnL>
                    <a:lnR w="38100" cap="flat" cmpd="sng" algn="ctr">
                      <a:solidFill>
                        <a:srgbClr val="CC00CC"/>
                      </a:solidFill>
                      <a:prstDash val="solid"/>
                      <a:round/>
                      <a:headEnd type="none" w="med" len="med"/>
                      <a:tailEnd type="none" w="med" len="med"/>
                    </a:lnR>
                    <a:lnT cap="flat">
                      <a:noFill/>
                    </a:lnT>
                    <a:lnB w="38100" cap="flat" cmpd="sng" algn="ctr">
                      <a:solidFill>
                        <a:srgbClr val="CC00C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rgbClr val="FF0000"/>
                          </a:solidFill>
                          <a:effectLst/>
                          <a:latin typeface="Comic Sans MS" pitchFamily="66" charset="0"/>
                          <a:cs typeface="Angsana New" pitchFamily="18" charset="-34"/>
                        </a:rPr>
                        <a:t>Defibrator</a:t>
                      </a:r>
                      <a:endParaRPr kumimoji="0" lang="th-TH" sz="2000" b="1" i="0" u="none" strike="noStrike" cap="none" normalizeH="0" baseline="0" smtClean="0">
                        <a:ln>
                          <a:noFill/>
                        </a:ln>
                        <a:solidFill>
                          <a:srgbClr val="FF0000"/>
                        </a:solidFill>
                        <a:effectLst/>
                        <a:latin typeface="Comic Sans MS" pitchFamily="66" charset="0"/>
                        <a:cs typeface="Angsana New" pitchFamily="18" charset="-34"/>
                      </a:endParaRPr>
                    </a:p>
                  </a:txBody>
                  <a:tcPr marT="45712" marB="45712" horzOverflow="overflow">
                    <a:lnL w="38100" cap="flat" cmpd="sng" algn="ctr">
                      <a:solidFill>
                        <a:srgbClr val="CC00CC"/>
                      </a:solidFill>
                      <a:prstDash val="solid"/>
                      <a:round/>
                      <a:headEnd type="none" w="med" len="med"/>
                      <a:tailEnd type="none" w="med" len="med"/>
                    </a:lnL>
                    <a:lnR w="38100" cap="flat" cmpd="sng" algn="ctr">
                      <a:solidFill>
                        <a:srgbClr val="CC00CC"/>
                      </a:solidFill>
                      <a:prstDash val="solid"/>
                      <a:round/>
                      <a:headEnd type="none" w="med" len="med"/>
                      <a:tailEnd type="none" w="med" len="med"/>
                    </a:lnR>
                    <a:lnT w="38100" cap="flat" cmpd="sng" algn="ctr">
                      <a:solidFill>
                        <a:srgbClr val="CC00CC"/>
                      </a:solidFill>
                      <a:prstDash val="solid"/>
                      <a:round/>
                      <a:headEnd type="none" w="med" len="med"/>
                      <a:tailEnd type="none" w="med" len="med"/>
                    </a:lnT>
                    <a:lnB w="38100" cap="flat" cmpd="sng" algn="ctr">
                      <a:solidFill>
                        <a:srgbClr val="CC00C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rgbClr val="FF0000"/>
                          </a:solidFill>
                          <a:effectLst/>
                          <a:latin typeface="Comic Sans MS" pitchFamily="66" charset="0"/>
                          <a:cs typeface="Angsana New" pitchFamily="18" charset="-34"/>
                        </a:rPr>
                        <a:t>Refiner</a:t>
                      </a:r>
                      <a:endParaRPr kumimoji="0" lang="th-TH" sz="2000" b="1" i="0" u="none" strike="noStrike" cap="none" normalizeH="0" baseline="0" smtClean="0">
                        <a:ln>
                          <a:noFill/>
                        </a:ln>
                        <a:solidFill>
                          <a:srgbClr val="FF0000"/>
                        </a:solidFill>
                        <a:effectLst/>
                        <a:latin typeface="Comic Sans MS" pitchFamily="66" charset="0"/>
                        <a:cs typeface="Angsana New" pitchFamily="18" charset="-34"/>
                      </a:endParaRPr>
                    </a:p>
                  </a:txBody>
                  <a:tcPr marT="45712" marB="45712" horzOverflow="overflow">
                    <a:lnL w="38100" cap="flat" cmpd="sng" algn="ctr">
                      <a:solidFill>
                        <a:srgbClr val="CC00CC"/>
                      </a:solidFill>
                      <a:prstDash val="solid"/>
                      <a:round/>
                      <a:headEnd type="none" w="med" len="med"/>
                      <a:tailEnd type="none" w="med" len="med"/>
                    </a:lnL>
                    <a:lnR w="38100" cap="flat" cmpd="sng" algn="ctr">
                      <a:solidFill>
                        <a:srgbClr val="CC00CC"/>
                      </a:solidFill>
                      <a:prstDash val="solid"/>
                      <a:round/>
                      <a:headEnd type="none" w="med" len="med"/>
                      <a:tailEnd type="none" w="med" len="med"/>
                    </a:lnR>
                    <a:lnT w="38100" cap="flat" cmpd="sng" algn="ctr">
                      <a:solidFill>
                        <a:srgbClr val="CC00CC"/>
                      </a:solidFill>
                      <a:prstDash val="solid"/>
                      <a:round/>
                      <a:headEnd type="none" w="med" len="med"/>
                      <a:tailEnd type="none" w="med" len="med"/>
                    </a:lnT>
                    <a:lnB w="38100" cap="flat" cmpd="sng" algn="ctr">
                      <a:solidFill>
                        <a:srgbClr val="CC00C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rgbClr val="FF0000"/>
                          </a:solidFill>
                          <a:effectLst/>
                          <a:latin typeface="Comic Sans MS" pitchFamily="66" charset="0"/>
                          <a:cs typeface="Angsana New" pitchFamily="18" charset="-34"/>
                        </a:rPr>
                        <a:t>Conflo#1</a:t>
                      </a:r>
                      <a:endParaRPr kumimoji="0" lang="th-TH" sz="2000" b="1" i="0" u="none" strike="noStrike" cap="none" normalizeH="0" baseline="0" smtClean="0">
                        <a:ln>
                          <a:noFill/>
                        </a:ln>
                        <a:solidFill>
                          <a:srgbClr val="FF0000"/>
                        </a:solidFill>
                        <a:effectLst/>
                        <a:latin typeface="Comic Sans MS" pitchFamily="66" charset="0"/>
                        <a:cs typeface="Angsana New" pitchFamily="18" charset="-34"/>
                      </a:endParaRPr>
                    </a:p>
                  </a:txBody>
                  <a:tcPr marT="45712" marB="45712" horzOverflow="overflow">
                    <a:lnL w="38100" cap="flat" cmpd="sng" algn="ctr">
                      <a:solidFill>
                        <a:srgbClr val="CC00CC"/>
                      </a:solidFill>
                      <a:prstDash val="solid"/>
                      <a:round/>
                      <a:headEnd type="none" w="med" len="med"/>
                      <a:tailEnd type="none" w="med" len="med"/>
                    </a:lnL>
                    <a:lnR w="38100" cap="flat" cmpd="sng" algn="ctr">
                      <a:solidFill>
                        <a:srgbClr val="CC00CC"/>
                      </a:solidFill>
                      <a:prstDash val="solid"/>
                      <a:round/>
                      <a:headEnd type="none" w="med" len="med"/>
                      <a:tailEnd type="none" w="med" len="med"/>
                    </a:lnR>
                    <a:lnT w="38100" cap="flat" cmpd="sng" algn="ctr">
                      <a:solidFill>
                        <a:srgbClr val="CC00CC"/>
                      </a:solidFill>
                      <a:prstDash val="solid"/>
                      <a:round/>
                      <a:headEnd type="none" w="med" len="med"/>
                      <a:tailEnd type="none" w="med" len="med"/>
                    </a:lnT>
                    <a:lnB w="38100" cap="flat" cmpd="sng" algn="ctr">
                      <a:solidFill>
                        <a:srgbClr val="CC00C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rgbClr val="FF0000"/>
                          </a:solidFill>
                          <a:effectLst/>
                          <a:latin typeface="Comic Sans MS" pitchFamily="66" charset="0"/>
                          <a:cs typeface="Angsana New" pitchFamily="18" charset="-34"/>
                        </a:rPr>
                        <a:t>Conflo#2</a:t>
                      </a:r>
                      <a:endParaRPr kumimoji="0" lang="th-TH" sz="2000" b="1" i="0" u="none" strike="noStrike" cap="none" normalizeH="0" baseline="0" smtClean="0">
                        <a:ln>
                          <a:noFill/>
                        </a:ln>
                        <a:solidFill>
                          <a:srgbClr val="FF0000"/>
                        </a:solidFill>
                        <a:effectLst/>
                        <a:latin typeface="Comic Sans MS" pitchFamily="66" charset="0"/>
                        <a:cs typeface="Angsana New" pitchFamily="18" charset="-34"/>
                      </a:endParaRPr>
                    </a:p>
                  </a:txBody>
                  <a:tcPr marT="45712" marB="45712" horzOverflow="overflow">
                    <a:lnL w="38100" cap="flat" cmpd="sng" algn="ctr">
                      <a:solidFill>
                        <a:srgbClr val="CC00CC"/>
                      </a:solidFill>
                      <a:prstDash val="solid"/>
                      <a:round/>
                      <a:headEnd type="none" w="med" len="med"/>
                      <a:tailEnd type="none" w="med" len="med"/>
                    </a:lnL>
                    <a:lnR w="38100" cap="flat" cmpd="sng" algn="ctr">
                      <a:solidFill>
                        <a:srgbClr val="CC00CC"/>
                      </a:solidFill>
                      <a:prstDash val="solid"/>
                      <a:round/>
                      <a:headEnd type="none" w="med" len="med"/>
                      <a:tailEnd type="none" w="med" len="med"/>
                    </a:lnR>
                    <a:lnT w="38100" cap="flat" cmpd="sng" algn="ctr">
                      <a:solidFill>
                        <a:srgbClr val="CC00CC"/>
                      </a:solidFill>
                      <a:prstDash val="solid"/>
                      <a:round/>
                      <a:headEnd type="none" w="med" len="med"/>
                      <a:tailEnd type="none" w="med" len="med"/>
                    </a:lnT>
                    <a:lnB w="38100" cap="flat" cmpd="sng" algn="ctr">
                      <a:solidFill>
                        <a:srgbClr val="CC00CC"/>
                      </a:solidFill>
                      <a:prstDash val="solid"/>
                      <a:round/>
                      <a:headEnd type="none" w="med" len="med"/>
                      <a:tailEnd type="none" w="med" len="med"/>
                    </a:lnB>
                    <a:lnTlToBr>
                      <a:noFill/>
                    </a:lnTlToBr>
                    <a:lnBlToTr>
                      <a:noFill/>
                    </a:lnBlToTr>
                    <a:solidFill>
                      <a:schemeClr val="bg1"/>
                    </a:solidFill>
                  </a:tcPr>
                </a:tc>
              </a:tr>
              <a:tr h="49520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rgbClr val="0000FF"/>
                          </a:solidFill>
                          <a:effectLst/>
                          <a:latin typeface="Comic Sans MS" pitchFamily="66" charset="0"/>
                          <a:cs typeface="Angsana New" pitchFamily="18" charset="-34"/>
                        </a:rPr>
                        <a:t>Type</a:t>
                      </a:r>
                      <a:endParaRPr kumimoji="0" lang="th-TH" sz="2000" b="1" i="0" u="none" strike="noStrike" cap="none" normalizeH="0" baseline="0" smtClean="0">
                        <a:ln>
                          <a:noFill/>
                        </a:ln>
                        <a:solidFill>
                          <a:srgbClr val="0000FF"/>
                        </a:solidFill>
                        <a:effectLst/>
                        <a:latin typeface="Comic Sans MS" pitchFamily="66" charset="0"/>
                        <a:cs typeface="Angsana New" pitchFamily="18" charset="-34"/>
                      </a:endParaRPr>
                    </a:p>
                  </a:txBody>
                  <a:tcPr marT="45712" marB="45712" horzOverflow="overflow">
                    <a:lnL w="38100" cap="flat" cmpd="sng" algn="ctr">
                      <a:solidFill>
                        <a:srgbClr val="CC00CC"/>
                      </a:solidFill>
                      <a:prstDash val="solid"/>
                      <a:round/>
                      <a:headEnd type="none" w="med" len="med"/>
                      <a:tailEnd type="none" w="med" len="med"/>
                    </a:lnL>
                    <a:lnR w="38100" cap="flat" cmpd="sng" algn="ctr">
                      <a:solidFill>
                        <a:srgbClr val="CC00CC"/>
                      </a:solidFill>
                      <a:prstDash val="solid"/>
                      <a:round/>
                      <a:headEnd type="none" w="med" len="med"/>
                      <a:tailEnd type="none" w="med" len="med"/>
                    </a:lnR>
                    <a:lnT w="38100" cap="flat" cmpd="sng" algn="ctr">
                      <a:solidFill>
                        <a:srgbClr val="CC00CC"/>
                      </a:solidFill>
                      <a:prstDash val="solid"/>
                      <a:round/>
                      <a:headEnd type="none" w="med" len="med"/>
                      <a:tailEnd type="none" w="med" len="med"/>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rgbClr val="0000FF"/>
                          </a:solidFill>
                          <a:effectLst/>
                          <a:latin typeface="Comic Sans MS" pitchFamily="66" charset="0"/>
                          <a:cs typeface="Angsana New" pitchFamily="18" charset="-34"/>
                        </a:rPr>
                        <a:t>Single Disc</a:t>
                      </a:r>
                      <a:endParaRPr kumimoji="0" lang="th-TH" sz="2000" b="1" i="0" u="none" strike="noStrike" cap="none" normalizeH="0" baseline="0" smtClean="0">
                        <a:ln>
                          <a:noFill/>
                        </a:ln>
                        <a:solidFill>
                          <a:srgbClr val="0000FF"/>
                        </a:solidFill>
                        <a:effectLst/>
                        <a:latin typeface="Comic Sans MS" pitchFamily="66" charset="0"/>
                        <a:cs typeface="Angsana New" pitchFamily="18" charset="-34"/>
                      </a:endParaRPr>
                    </a:p>
                  </a:txBody>
                  <a:tcPr marT="45712" marB="45712" horzOverflow="overflow">
                    <a:lnL w="38100" cap="flat" cmpd="sng" algn="ctr">
                      <a:solidFill>
                        <a:srgbClr val="CC00CC"/>
                      </a:solidFill>
                      <a:prstDash val="solid"/>
                      <a:round/>
                      <a:headEnd type="none" w="med" len="med"/>
                      <a:tailEnd type="none" w="med" len="med"/>
                    </a:lnL>
                    <a:lnR w="38100" cap="flat" cmpd="sng" algn="ctr">
                      <a:solidFill>
                        <a:srgbClr val="CC00CC"/>
                      </a:solidFill>
                      <a:prstDash val="solid"/>
                      <a:round/>
                      <a:headEnd type="none" w="med" len="med"/>
                      <a:tailEnd type="none" w="med" len="med"/>
                    </a:lnR>
                    <a:lnT w="38100" cap="flat" cmpd="sng" algn="ctr">
                      <a:solidFill>
                        <a:srgbClr val="CC00CC"/>
                      </a:solidFill>
                      <a:prstDash val="solid"/>
                      <a:round/>
                      <a:headEnd type="none" w="med" len="med"/>
                      <a:tailEnd type="none" w="med" len="med"/>
                    </a:lnT>
                    <a:lnB w="38100" cap="flat" cmpd="sng" algn="ctr">
                      <a:solidFill>
                        <a:srgbClr val="CC00C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rgbClr val="0000FF"/>
                          </a:solidFill>
                          <a:effectLst/>
                          <a:latin typeface="Comic Sans MS" pitchFamily="66" charset="0"/>
                          <a:cs typeface="Angsana New" pitchFamily="18" charset="-34"/>
                        </a:rPr>
                        <a:t>Single Disc</a:t>
                      </a:r>
                      <a:endParaRPr kumimoji="0" lang="th-TH" sz="2000" b="1" i="0" u="none" strike="noStrike" cap="none" normalizeH="0" baseline="0" smtClean="0">
                        <a:ln>
                          <a:noFill/>
                        </a:ln>
                        <a:solidFill>
                          <a:srgbClr val="0000FF"/>
                        </a:solidFill>
                        <a:effectLst/>
                        <a:latin typeface="Comic Sans MS" pitchFamily="66" charset="0"/>
                        <a:cs typeface="Angsana New" pitchFamily="18" charset="-34"/>
                      </a:endParaRPr>
                    </a:p>
                  </a:txBody>
                  <a:tcPr marT="45712" marB="45712" horzOverflow="overflow">
                    <a:lnL w="38100" cap="flat" cmpd="sng" algn="ctr">
                      <a:solidFill>
                        <a:srgbClr val="CC00CC"/>
                      </a:solidFill>
                      <a:prstDash val="solid"/>
                      <a:round/>
                      <a:headEnd type="none" w="med" len="med"/>
                      <a:tailEnd type="none" w="med" len="med"/>
                    </a:lnL>
                    <a:lnR w="38100" cap="flat" cmpd="sng" algn="ctr">
                      <a:solidFill>
                        <a:srgbClr val="CC00CC"/>
                      </a:solidFill>
                      <a:prstDash val="solid"/>
                      <a:round/>
                      <a:headEnd type="none" w="med" len="med"/>
                      <a:tailEnd type="none" w="med" len="med"/>
                    </a:lnR>
                    <a:lnT w="38100" cap="flat" cmpd="sng" algn="ctr">
                      <a:solidFill>
                        <a:srgbClr val="CC00CC"/>
                      </a:solidFill>
                      <a:prstDash val="solid"/>
                      <a:round/>
                      <a:headEnd type="none" w="med" len="med"/>
                      <a:tailEnd type="none" w="med" len="med"/>
                    </a:lnT>
                    <a:lnB w="38100" cap="flat" cmpd="sng" algn="ctr">
                      <a:solidFill>
                        <a:srgbClr val="CC00C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rgbClr val="0000FF"/>
                          </a:solidFill>
                          <a:effectLst/>
                          <a:latin typeface="Comic Sans MS" pitchFamily="66" charset="0"/>
                          <a:cs typeface="Angsana New" pitchFamily="18" charset="-34"/>
                        </a:rPr>
                        <a:t>Conical</a:t>
                      </a:r>
                      <a:endParaRPr kumimoji="0" lang="th-TH" sz="2000" b="1" i="0" u="none" strike="noStrike" cap="none" normalizeH="0" baseline="0" smtClean="0">
                        <a:ln>
                          <a:noFill/>
                        </a:ln>
                        <a:solidFill>
                          <a:srgbClr val="0000FF"/>
                        </a:solidFill>
                        <a:effectLst/>
                        <a:latin typeface="Comic Sans MS" pitchFamily="66" charset="0"/>
                        <a:cs typeface="Angsana New" pitchFamily="18" charset="-34"/>
                      </a:endParaRPr>
                    </a:p>
                  </a:txBody>
                  <a:tcPr marT="45712" marB="45712" horzOverflow="overflow">
                    <a:lnL w="38100" cap="flat" cmpd="sng" algn="ctr">
                      <a:solidFill>
                        <a:srgbClr val="CC00CC"/>
                      </a:solidFill>
                      <a:prstDash val="solid"/>
                      <a:round/>
                      <a:headEnd type="none" w="med" len="med"/>
                      <a:tailEnd type="none" w="med" len="med"/>
                    </a:lnL>
                    <a:lnR w="38100" cap="flat" cmpd="sng" algn="ctr">
                      <a:solidFill>
                        <a:srgbClr val="CC00CC"/>
                      </a:solidFill>
                      <a:prstDash val="solid"/>
                      <a:round/>
                      <a:headEnd type="none" w="med" len="med"/>
                      <a:tailEnd type="none" w="med" len="med"/>
                    </a:lnR>
                    <a:lnT w="38100" cap="flat" cmpd="sng" algn="ctr">
                      <a:solidFill>
                        <a:srgbClr val="CC00CC"/>
                      </a:solidFill>
                      <a:prstDash val="solid"/>
                      <a:round/>
                      <a:headEnd type="none" w="med" len="med"/>
                      <a:tailEnd type="none" w="med" len="med"/>
                    </a:lnT>
                    <a:lnB w="38100" cap="flat" cmpd="sng" algn="ctr">
                      <a:solidFill>
                        <a:srgbClr val="CC00C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rgbClr val="0000FF"/>
                          </a:solidFill>
                          <a:effectLst/>
                          <a:latin typeface="Comic Sans MS" pitchFamily="66" charset="0"/>
                          <a:cs typeface="Angsana New" pitchFamily="18" charset="-34"/>
                        </a:rPr>
                        <a:t>Conical</a:t>
                      </a:r>
                      <a:endParaRPr kumimoji="0" lang="th-TH" sz="2000" b="1" i="0" u="none" strike="noStrike" cap="none" normalizeH="0" baseline="0" smtClean="0">
                        <a:ln>
                          <a:noFill/>
                        </a:ln>
                        <a:solidFill>
                          <a:srgbClr val="0000FF"/>
                        </a:solidFill>
                        <a:effectLst/>
                        <a:latin typeface="Comic Sans MS" pitchFamily="66" charset="0"/>
                        <a:cs typeface="Angsana New" pitchFamily="18" charset="-34"/>
                      </a:endParaRPr>
                    </a:p>
                  </a:txBody>
                  <a:tcPr marT="45712" marB="45712" horzOverflow="overflow">
                    <a:lnL w="38100" cap="flat" cmpd="sng" algn="ctr">
                      <a:solidFill>
                        <a:srgbClr val="CC00CC"/>
                      </a:solidFill>
                      <a:prstDash val="solid"/>
                      <a:round/>
                      <a:headEnd type="none" w="med" len="med"/>
                      <a:tailEnd type="none" w="med" len="med"/>
                    </a:lnL>
                    <a:lnR w="38100" cap="flat" cmpd="sng" algn="ctr">
                      <a:solidFill>
                        <a:srgbClr val="CC00CC"/>
                      </a:solidFill>
                      <a:prstDash val="solid"/>
                      <a:round/>
                      <a:headEnd type="none" w="med" len="med"/>
                      <a:tailEnd type="none" w="med" len="med"/>
                    </a:lnR>
                    <a:lnT w="38100" cap="flat" cmpd="sng" algn="ctr">
                      <a:solidFill>
                        <a:srgbClr val="CC00CC"/>
                      </a:solidFill>
                      <a:prstDash val="solid"/>
                      <a:round/>
                      <a:headEnd type="none" w="med" len="med"/>
                      <a:tailEnd type="none" w="med" len="med"/>
                    </a:lnT>
                    <a:lnB w="38100" cap="flat" cmpd="sng" algn="ctr">
                      <a:solidFill>
                        <a:srgbClr val="CC00CC"/>
                      </a:solidFill>
                      <a:prstDash val="solid"/>
                      <a:round/>
                      <a:headEnd type="none" w="med" len="med"/>
                      <a:tailEnd type="none" w="med" len="med"/>
                    </a:lnB>
                    <a:lnTlToBr>
                      <a:noFill/>
                    </a:lnTlToBr>
                    <a:lnBlToTr>
                      <a:noFill/>
                    </a:lnBlToTr>
                    <a:solidFill>
                      <a:schemeClr val="bg1"/>
                    </a:solidFill>
                  </a:tcPr>
                </a:tc>
              </a:tr>
              <a:tr h="100582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sv-SE" sz="1200" b="1" i="0" u="none" strike="noStrike" cap="none" normalizeH="0" baseline="0" dirty="0" smtClean="0">
                        <a:ln>
                          <a:noFill/>
                        </a:ln>
                        <a:solidFill>
                          <a:srgbClr val="0000FF"/>
                        </a:solidFill>
                        <a:effectLst/>
                        <a:latin typeface="Comic Sans MS" pitchFamily="66" charset="0"/>
                        <a:cs typeface="Angsana New" pitchFamily="18" charset="-34"/>
                      </a:endParaRPr>
                    </a:p>
                  </a:txBody>
                  <a:tcPr marT="45712" marB="45712" horzOverflow="overflow">
                    <a:lnL w="38100" cap="flat" cmpd="sng" algn="ctr">
                      <a:solidFill>
                        <a:srgbClr val="CC00CC"/>
                      </a:solidFill>
                      <a:prstDash val="solid"/>
                      <a:round/>
                      <a:headEnd type="none" w="med" len="med"/>
                      <a:tailEnd type="none" w="med" len="med"/>
                    </a:lnL>
                    <a:lnR w="38100" cap="flat" cmpd="sng" algn="ctr">
                      <a:solidFill>
                        <a:srgbClr val="CC00CC"/>
                      </a:solidFill>
                      <a:prstDash val="solid"/>
                      <a:round/>
                      <a:headEnd type="none" w="med" len="med"/>
                      <a:tailEnd type="none" w="med" len="med"/>
                    </a:lnR>
                    <a:lnT>
                      <a:noFill/>
                    </a:lnT>
                    <a:lnB w="38100" cap="flat" cmpd="sng" algn="ctr">
                      <a:solidFill>
                        <a:srgbClr val="CC00C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rgbClr val="FF0000"/>
                          </a:solidFill>
                          <a:effectLst/>
                          <a:latin typeface="Comic Sans MS" pitchFamily="66" charset="0"/>
                          <a:cs typeface="Angsana New" pitchFamily="18" charset="-34"/>
                        </a:rPr>
                        <a:t>Pressurized</a:t>
                      </a:r>
                      <a:endParaRPr kumimoji="0" lang="th-TH" sz="2000" b="1" i="0" u="none" strike="noStrike" cap="none" normalizeH="0" baseline="0" smtClean="0">
                        <a:ln>
                          <a:noFill/>
                        </a:ln>
                        <a:solidFill>
                          <a:srgbClr val="FF0000"/>
                        </a:solidFill>
                        <a:effectLst/>
                        <a:latin typeface="Comic Sans MS" pitchFamily="66" charset="0"/>
                        <a:cs typeface="Angsana New" pitchFamily="18" charset="-34"/>
                      </a:endParaRPr>
                    </a:p>
                  </a:txBody>
                  <a:tcPr marT="45712" marB="45712" horzOverflow="overflow">
                    <a:lnL w="38100" cap="flat" cmpd="sng" algn="ctr">
                      <a:solidFill>
                        <a:srgbClr val="CC00CC"/>
                      </a:solidFill>
                      <a:prstDash val="solid"/>
                      <a:round/>
                      <a:headEnd type="none" w="med" len="med"/>
                      <a:tailEnd type="none" w="med" len="med"/>
                    </a:lnL>
                    <a:lnR w="38100" cap="flat" cmpd="sng" algn="ctr">
                      <a:solidFill>
                        <a:srgbClr val="CC00CC"/>
                      </a:solidFill>
                      <a:prstDash val="solid"/>
                      <a:round/>
                      <a:headEnd type="none" w="med" len="med"/>
                      <a:tailEnd type="none" w="med" len="med"/>
                    </a:lnR>
                    <a:lnT w="38100" cap="flat" cmpd="sng" algn="ctr">
                      <a:solidFill>
                        <a:srgbClr val="CC00CC"/>
                      </a:solidFill>
                      <a:prstDash val="solid"/>
                      <a:round/>
                      <a:headEnd type="none" w="med" len="med"/>
                      <a:tailEnd type="none" w="med" len="med"/>
                    </a:lnT>
                    <a:lnB w="38100" cap="flat" cmpd="sng" algn="ctr">
                      <a:solidFill>
                        <a:srgbClr val="CC00C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rgbClr val="FF0000"/>
                          </a:solidFill>
                          <a:effectLst/>
                          <a:latin typeface="Comic Sans MS" pitchFamily="66" charset="0"/>
                          <a:cs typeface="Angsana New" pitchFamily="18" charset="-34"/>
                        </a:rPr>
                        <a:t>Atmospheric/High Consistency</a:t>
                      </a:r>
                      <a:endParaRPr kumimoji="0" lang="th-TH" sz="2000" b="1" i="0" u="none" strike="noStrike" cap="none" normalizeH="0" baseline="0" smtClean="0">
                        <a:ln>
                          <a:noFill/>
                        </a:ln>
                        <a:solidFill>
                          <a:srgbClr val="FF0000"/>
                        </a:solidFill>
                        <a:effectLst/>
                        <a:latin typeface="Comic Sans MS" pitchFamily="66" charset="0"/>
                        <a:cs typeface="Angsana New" pitchFamily="18" charset="-34"/>
                      </a:endParaRPr>
                    </a:p>
                  </a:txBody>
                  <a:tcPr marT="45712" marB="45712" horzOverflow="overflow">
                    <a:lnL w="38100" cap="flat" cmpd="sng" algn="ctr">
                      <a:solidFill>
                        <a:srgbClr val="CC00CC"/>
                      </a:solidFill>
                      <a:prstDash val="solid"/>
                      <a:round/>
                      <a:headEnd type="none" w="med" len="med"/>
                      <a:tailEnd type="none" w="med" len="med"/>
                    </a:lnL>
                    <a:lnR w="38100" cap="flat" cmpd="sng" algn="ctr">
                      <a:solidFill>
                        <a:srgbClr val="CC00CC"/>
                      </a:solidFill>
                      <a:prstDash val="solid"/>
                      <a:round/>
                      <a:headEnd type="none" w="med" len="med"/>
                      <a:tailEnd type="none" w="med" len="med"/>
                    </a:lnR>
                    <a:lnT w="38100" cap="flat" cmpd="sng" algn="ctr">
                      <a:solidFill>
                        <a:srgbClr val="CC00CC"/>
                      </a:solidFill>
                      <a:prstDash val="solid"/>
                      <a:round/>
                      <a:headEnd type="none" w="med" len="med"/>
                      <a:tailEnd type="none" w="med" len="med"/>
                    </a:lnT>
                    <a:lnB w="38100" cap="flat" cmpd="sng" algn="ctr">
                      <a:solidFill>
                        <a:srgbClr val="CC00C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rgbClr val="0000FF"/>
                          </a:solidFill>
                          <a:effectLst/>
                          <a:latin typeface="Comic Sans MS" pitchFamily="66" charset="0"/>
                          <a:cs typeface="Angsana New" pitchFamily="18" charset="-34"/>
                        </a:rPr>
                        <a:t>Low Consistency</a:t>
                      </a:r>
                      <a:endParaRPr kumimoji="0" lang="th-TH" sz="2000" b="1" i="0" u="none" strike="noStrike" cap="none" normalizeH="0" baseline="0" smtClean="0">
                        <a:ln>
                          <a:noFill/>
                        </a:ln>
                        <a:solidFill>
                          <a:srgbClr val="0000FF"/>
                        </a:solidFill>
                        <a:effectLst/>
                        <a:latin typeface="Comic Sans MS" pitchFamily="66" charset="0"/>
                        <a:cs typeface="Angsana New" pitchFamily="18" charset="-34"/>
                      </a:endParaRPr>
                    </a:p>
                  </a:txBody>
                  <a:tcPr marT="45712" marB="45712" horzOverflow="overflow">
                    <a:lnL w="38100" cap="flat" cmpd="sng" algn="ctr">
                      <a:solidFill>
                        <a:srgbClr val="CC00CC"/>
                      </a:solidFill>
                      <a:prstDash val="solid"/>
                      <a:round/>
                      <a:headEnd type="none" w="med" len="med"/>
                      <a:tailEnd type="none" w="med" len="med"/>
                    </a:lnL>
                    <a:lnR w="38100" cap="flat" cmpd="sng" algn="ctr">
                      <a:solidFill>
                        <a:srgbClr val="CC00CC"/>
                      </a:solidFill>
                      <a:prstDash val="solid"/>
                      <a:round/>
                      <a:headEnd type="none" w="med" len="med"/>
                      <a:tailEnd type="none" w="med" len="med"/>
                    </a:lnR>
                    <a:lnT w="38100" cap="flat" cmpd="sng" algn="ctr">
                      <a:solidFill>
                        <a:srgbClr val="CC00CC"/>
                      </a:solidFill>
                      <a:prstDash val="solid"/>
                      <a:round/>
                      <a:headEnd type="none" w="med" len="med"/>
                      <a:tailEnd type="none" w="med" len="med"/>
                    </a:lnT>
                    <a:lnB w="38100" cap="flat" cmpd="sng" algn="ctr">
                      <a:solidFill>
                        <a:srgbClr val="CC00C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rgbClr val="0000FF"/>
                          </a:solidFill>
                          <a:effectLst/>
                          <a:latin typeface="Comic Sans MS" pitchFamily="66" charset="0"/>
                          <a:cs typeface="Angsana New" pitchFamily="18" charset="-34"/>
                        </a:rPr>
                        <a:t>Low Consistency</a:t>
                      </a:r>
                      <a:endParaRPr kumimoji="0" lang="th-TH" sz="2000" b="1" i="0" u="none" strike="noStrike" cap="none" normalizeH="0" baseline="0" smtClean="0">
                        <a:ln>
                          <a:noFill/>
                        </a:ln>
                        <a:solidFill>
                          <a:srgbClr val="0000FF"/>
                        </a:solidFill>
                        <a:effectLst/>
                        <a:latin typeface="Comic Sans MS" pitchFamily="66" charset="0"/>
                        <a:cs typeface="Angsana New" pitchFamily="18" charset="-34"/>
                      </a:endParaRPr>
                    </a:p>
                  </a:txBody>
                  <a:tcPr marT="45712" marB="45712" horzOverflow="overflow">
                    <a:lnL w="38100" cap="flat" cmpd="sng" algn="ctr">
                      <a:solidFill>
                        <a:srgbClr val="CC00CC"/>
                      </a:solidFill>
                      <a:prstDash val="solid"/>
                      <a:round/>
                      <a:headEnd type="none" w="med" len="med"/>
                      <a:tailEnd type="none" w="med" len="med"/>
                    </a:lnL>
                    <a:lnR w="38100" cap="flat" cmpd="sng" algn="ctr">
                      <a:solidFill>
                        <a:srgbClr val="CC00CC"/>
                      </a:solidFill>
                      <a:prstDash val="solid"/>
                      <a:round/>
                      <a:headEnd type="none" w="med" len="med"/>
                      <a:tailEnd type="none" w="med" len="med"/>
                    </a:lnR>
                    <a:lnT w="38100" cap="flat" cmpd="sng" algn="ctr">
                      <a:solidFill>
                        <a:srgbClr val="CC00CC"/>
                      </a:solidFill>
                      <a:prstDash val="solid"/>
                      <a:round/>
                      <a:headEnd type="none" w="med" len="med"/>
                      <a:tailEnd type="none" w="med" len="med"/>
                    </a:lnT>
                    <a:lnB w="38100" cap="flat" cmpd="sng" algn="ctr">
                      <a:solidFill>
                        <a:srgbClr val="CC00CC"/>
                      </a:solidFill>
                      <a:prstDash val="solid"/>
                      <a:round/>
                      <a:headEnd type="none" w="med" len="med"/>
                      <a:tailEnd type="none" w="med" len="med"/>
                    </a:lnB>
                    <a:lnTlToBr>
                      <a:noFill/>
                    </a:lnTlToBr>
                    <a:lnBlToTr>
                      <a:noFill/>
                    </a:lnBlToTr>
                    <a:solidFill>
                      <a:schemeClr val="bg1"/>
                    </a:solidFill>
                  </a:tcPr>
                </a:tc>
              </a:tr>
              <a:tr h="1103359">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rgbClr val="0000FF"/>
                          </a:solidFill>
                          <a:effectLst/>
                          <a:latin typeface="Comic Sans MS" pitchFamily="66" charset="0"/>
                          <a:cs typeface="Angsana New" pitchFamily="18" charset="-34"/>
                        </a:rPr>
                        <a:t>Plate Pattern</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1" i="0" u="none" strike="noStrike" cap="none" normalizeH="0" baseline="0" smtClean="0">
                          <a:ln>
                            <a:noFill/>
                          </a:ln>
                          <a:solidFill>
                            <a:srgbClr val="0000FF"/>
                          </a:solidFill>
                          <a:effectLst/>
                          <a:latin typeface="Comic Sans MS" pitchFamily="66" charset="0"/>
                          <a:cs typeface="Angsana New" pitchFamily="18" charset="-34"/>
                        </a:rPr>
                        <a:t>(Bar Width-Groove Width-Bar Height)</a:t>
                      </a:r>
                      <a:endParaRPr kumimoji="0" lang="th-TH" sz="1200" b="1" i="0" u="none" strike="noStrike" cap="none" normalizeH="0" baseline="0" smtClean="0">
                        <a:ln>
                          <a:noFill/>
                        </a:ln>
                        <a:solidFill>
                          <a:srgbClr val="0000FF"/>
                        </a:solidFill>
                        <a:effectLst/>
                        <a:latin typeface="Comic Sans MS" pitchFamily="66" charset="0"/>
                        <a:cs typeface="Angsana New" pitchFamily="18" charset="-34"/>
                      </a:endParaRPr>
                    </a:p>
                  </a:txBody>
                  <a:tcPr marT="45712" marB="45712" horzOverflow="overflow">
                    <a:lnL w="38100" cap="flat" cmpd="sng" algn="ctr">
                      <a:solidFill>
                        <a:srgbClr val="CC00CC"/>
                      </a:solidFill>
                      <a:prstDash val="solid"/>
                      <a:round/>
                      <a:headEnd type="none" w="med" len="med"/>
                      <a:tailEnd type="none" w="med" len="med"/>
                    </a:lnL>
                    <a:lnR w="38100" cap="flat" cmpd="sng" algn="ctr">
                      <a:solidFill>
                        <a:srgbClr val="CC00CC"/>
                      </a:solidFill>
                      <a:prstDash val="solid"/>
                      <a:round/>
                      <a:headEnd type="none" w="med" len="med"/>
                      <a:tailEnd type="none" w="med" len="med"/>
                    </a:lnR>
                    <a:lnT w="38100" cap="flat" cmpd="sng" algn="ctr">
                      <a:solidFill>
                        <a:srgbClr val="CC00CC"/>
                      </a:solidFill>
                      <a:prstDash val="solid"/>
                      <a:round/>
                      <a:headEnd type="none" w="med" len="med"/>
                      <a:tailEnd type="none" w="med" len="med"/>
                    </a:lnT>
                    <a:lnB w="38100" cap="flat" cmpd="sng" algn="ctr">
                      <a:solidFill>
                        <a:srgbClr val="CC00C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rgbClr val="0000FF"/>
                          </a:solidFill>
                          <a:effectLst/>
                          <a:latin typeface="Comic Sans MS" pitchFamily="66" charset="0"/>
                          <a:cs typeface="Angsana New" pitchFamily="18" charset="-34"/>
                        </a:rPr>
                        <a:t>2-8.5-10</a:t>
                      </a:r>
                      <a:endParaRPr kumimoji="0" lang="th-TH" sz="2000" b="1" i="0" u="none" strike="noStrike" cap="none" normalizeH="0" baseline="0" smtClean="0">
                        <a:ln>
                          <a:noFill/>
                        </a:ln>
                        <a:solidFill>
                          <a:srgbClr val="0000FF"/>
                        </a:solidFill>
                        <a:effectLst/>
                        <a:latin typeface="Comic Sans MS" pitchFamily="66" charset="0"/>
                        <a:cs typeface="Angsana New" pitchFamily="18" charset="-34"/>
                      </a:endParaRPr>
                    </a:p>
                  </a:txBody>
                  <a:tcPr marT="45712" marB="45712" horzOverflow="overflow">
                    <a:lnL w="38100" cap="flat" cmpd="sng" algn="ctr">
                      <a:solidFill>
                        <a:srgbClr val="CC00CC"/>
                      </a:solidFill>
                      <a:prstDash val="solid"/>
                      <a:round/>
                      <a:headEnd type="none" w="med" len="med"/>
                      <a:tailEnd type="none" w="med" len="med"/>
                    </a:lnL>
                    <a:lnR w="38100" cap="flat" cmpd="sng" algn="ctr">
                      <a:solidFill>
                        <a:srgbClr val="CC00CC"/>
                      </a:solidFill>
                      <a:prstDash val="solid"/>
                      <a:round/>
                      <a:headEnd type="none" w="med" len="med"/>
                      <a:tailEnd type="none" w="med" len="med"/>
                    </a:lnR>
                    <a:lnT w="38100" cap="flat" cmpd="sng" algn="ctr">
                      <a:solidFill>
                        <a:srgbClr val="CC00CC"/>
                      </a:solidFill>
                      <a:prstDash val="solid"/>
                      <a:round/>
                      <a:headEnd type="none" w="med" len="med"/>
                      <a:tailEnd type="none" w="med" len="med"/>
                    </a:lnT>
                    <a:lnB w="38100" cap="flat" cmpd="sng" algn="ctr">
                      <a:solidFill>
                        <a:srgbClr val="CC00C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rgbClr val="0000FF"/>
                          </a:solidFill>
                          <a:effectLst/>
                          <a:latin typeface="Comic Sans MS" pitchFamily="66" charset="0"/>
                          <a:cs typeface="Angsana New" pitchFamily="18" charset="-34"/>
                        </a:rPr>
                        <a:t>2-2.5-6</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rgbClr val="0000FF"/>
                          </a:solidFill>
                          <a:effectLst/>
                          <a:latin typeface="Comic Sans MS" pitchFamily="66" charset="0"/>
                          <a:cs typeface="Angsana New" pitchFamily="18" charset="-34"/>
                        </a:rPr>
                        <a:t>2-3.5-10</a:t>
                      </a:r>
                      <a:endParaRPr kumimoji="0" lang="th-TH" sz="2000" b="1" i="0" u="none" strike="noStrike" cap="none" normalizeH="0" baseline="0" smtClean="0">
                        <a:ln>
                          <a:noFill/>
                        </a:ln>
                        <a:solidFill>
                          <a:srgbClr val="0000FF"/>
                        </a:solidFill>
                        <a:effectLst/>
                        <a:latin typeface="Comic Sans MS" pitchFamily="66" charset="0"/>
                        <a:cs typeface="Angsana New" pitchFamily="18" charset="-34"/>
                      </a:endParaRPr>
                    </a:p>
                  </a:txBody>
                  <a:tcPr marT="45712" marB="45712" horzOverflow="overflow">
                    <a:lnL w="38100" cap="flat" cmpd="sng" algn="ctr">
                      <a:solidFill>
                        <a:srgbClr val="CC00CC"/>
                      </a:solidFill>
                      <a:prstDash val="solid"/>
                      <a:round/>
                      <a:headEnd type="none" w="med" len="med"/>
                      <a:tailEnd type="none" w="med" len="med"/>
                    </a:lnL>
                    <a:lnR w="38100" cap="flat" cmpd="sng" algn="ctr">
                      <a:solidFill>
                        <a:srgbClr val="CC00CC"/>
                      </a:solidFill>
                      <a:prstDash val="solid"/>
                      <a:round/>
                      <a:headEnd type="none" w="med" len="med"/>
                      <a:tailEnd type="none" w="med" len="med"/>
                    </a:lnR>
                    <a:lnT w="38100" cap="flat" cmpd="sng" algn="ctr">
                      <a:solidFill>
                        <a:srgbClr val="CC00CC"/>
                      </a:solidFill>
                      <a:prstDash val="solid"/>
                      <a:round/>
                      <a:headEnd type="none" w="med" len="med"/>
                      <a:tailEnd type="none" w="med" len="med"/>
                    </a:lnT>
                    <a:lnB w="38100" cap="flat" cmpd="sng" algn="ctr">
                      <a:solidFill>
                        <a:srgbClr val="CC00C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rgbClr val="0000FF"/>
                          </a:solidFill>
                          <a:effectLst/>
                          <a:latin typeface="Comic Sans MS" pitchFamily="66" charset="0"/>
                          <a:cs typeface="Angsana New" pitchFamily="18" charset="-34"/>
                        </a:rPr>
                        <a:t>2-3-7</a:t>
                      </a:r>
                      <a:endParaRPr kumimoji="0" lang="th-TH" sz="2000" b="1" i="0" u="none" strike="noStrike" cap="none" normalizeH="0" baseline="0" smtClean="0">
                        <a:ln>
                          <a:noFill/>
                        </a:ln>
                        <a:solidFill>
                          <a:srgbClr val="0000FF"/>
                        </a:solidFill>
                        <a:effectLst/>
                        <a:latin typeface="Comic Sans MS" pitchFamily="66" charset="0"/>
                        <a:cs typeface="Angsana New" pitchFamily="18" charset="-34"/>
                      </a:endParaRPr>
                    </a:p>
                  </a:txBody>
                  <a:tcPr marT="45712" marB="45712" horzOverflow="overflow">
                    <a:lnL w="38100" cap="flat" cmpd="sng" algn="ctr">
                      <a:solidFill>
                        <a:srgbClr val="CC00CC"/>
                      </a:solidFill>
                      <a:prstDash val="solid"/>
                      <a:round/>
                      <a:headEnd type="none" w="med" len="med"/>
                      <a:tailEnd type="none" w="med" len="med"/>
                    </a:lnL>
                    <a:lnR w="38100" cap="flat" cmpd="sng" algn="ctr">
                      <a:solidFill>
                        <a:srgbClr val="CC00CC"/>
                      </a:solidFill>
                      <a:prstDash val="solid"/>
                      <a:round/>
                      <a:headEnd type="none" w="med" len="med"/>
                      <a:tailEnd type="none" w="med" len="med"/>
                    </a:lnR>
                    <a:lnT w="38100" cap="flat" cmpd="sng" algn="ctr">
                      <a:solidFill>
                        <a:srgbClr val="CC00CC"/>
                      </a:solidFill>
                      <a:prstDash val="solid"/>
                      <a:round/>
                      <a:headEnd type="none" w="med" len="med"/>
                      <a:tailEnd type="none" w="med" len="med"/>
                    </a:lnT>
                    <a:lnB w="38100" cap="flat" cmpd="sng" algn="ctr">
                      <a:solidFill>
                        <a:srgbClr val="CC00C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rgbClr val="0000FF"/>
                          </a:solidFill>
                          <a:effectLst/>
                          <a:latin typeface="Comic Sans MS" pitchFamily="66" charset="0"/>
                          <a:cs typeface="Angsana New" pitchFamily="18" charset="-34"/>
                        </a:rPr>
                        <a:t>2-3-7</a:t>
                      </a:r>
                      <a:endParaRPr kumimoji="0" lang="th-TH" sz="2000" b="1" i="0" u="none" strike="noStrike" cap="none" normalizeH="0" baseline="0" smtClean="0">
                        <a:ln>
                          <a:noFill/>
                        </a:ln>
                        <a:solidFill>
                          <a:srgbClr val="0000FF"/>
                        </a:solidFill>
                        <a:effectLst/>
                        <a:latin typeface="Comic Sans MS" pitchFamily="66" charset="0"/>
                        <a:cs typeface="Angsana New" pitchFamily="18" charset="-34"/>
                      </a:endParaRPr>
                    </a:p>
                  </a:txBody>
                  <a:tcPr marT="45712" marB="45712" horzOverflow="overflow">
                    <a:lnL w="38100" cap="flat" cmpd="sng" algn="ctr">
                      <a:solidFill>
                        <a:srgbClr val="CC00CC"/>
                      </a:solidFill>
                      <a:prstDash val="solid"/>
                      <a:round/>
                      <a:headEnd type="none" w="med" len="med"/>
                      <a:tailEnd type="none" w="med" len="med"/>
                    </a:lnL>
                    <a:lnR w="38100" cap="flat" cmpd="sng" algn="ctr">
                      <a:solidFill>
                        <a:srgbClr val="CC00CC"/>
                      </a:solidFill>
                      <a:prstDash val="solid"/>
                      <a:round/>
                      <a:headEnd type="none" w="med" len="med"/>
                      <a:tailEnd type="none" w="med" len="med"/>
                    </a:lnR>
                    <a:lnT w="38100" cap="flat" cmpd="sng" algn="ctr">
                      <a:solidFill>
                        <a:srgbClr val="CC00CC"/>
                      </a:solidFill>
                      <a:prstDash val="solid"/>
                      <a:round/>
                      <a:headEnd type="none" w="med" len="med"/>
                      <a:tailEnd type="none" w="med" len="med"/>
                    </a:lnT>
                    <a:lnB w="38100" cap="flat" cmpd="sng" algn="ctr">
                      <a:solidFill>
                        <a:srgbClr val="CC00CC"/>
                      </a:solidFill>
                      <a:prstDash val="solid"/>
                      <a:round/>
                      <a:headEnd type="none" w="med" len="med"/>
                      <a:tailEnd type="none" w="med" len="med"/>
                    </a:lnB>
                    <a:lnTlToBr>
                      <a:noFill/>
                    </a:lnTlToBr>
                    <a:lnBlToTr>
                      <a:noFill/>
                    </a:lnBlToTr>
                    <a:solidFill>
                      <a:schemeClr val="bg1"/>
                    </a:solidFill>
                  </a:tcPr>
                </a:tc>
              </a:tr>
              <a:tr h="70102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rgbClr val="0000FF"/>
                          </a:solidFill>
                          <a:effectLst/>
                          <a:latin typeface="Comic Sans MS" pitchFamily="66" charset="0"/>
                          <a:cs typeface="Angsana New" pitchFamily="18" charset="-34"/>
                        </a:rPr>
                        <a:t>% Pulp Consistency</a:t>
                      </a:r>
                      <a:endParaRPr kumimoji="0" lang="th-TH" sz="2000" b="1" i="0" u="none" strike="noStrike" cap="none" normalizeH="0" baseline="0" smtClean="0">
                        <a:ln>
                          <a:noFill/>
                        </a:ln>
                        <a:solidFill>
                          <a:srgbClr val="0000FF"/>
                        </a:solidFill>
                        <a:effectLst/>
                        <a:latin typeface="Comic Sans MS" pitchFamily="66" charset="0"/>
                        <a:cs typeface="Angsana New" pitchFamily="18" charset="-34"/>
                      </a:endParaRPr>
                    </a:p>
                  </a:txBody>
                  <a:tcPr marT="45712" marB="45712" horzOverflow="overflow">
                    <a:lnL w="38100" cap="flat" cmpd="sng" algn="ctr">
                      <a:solidFill>
                        <a:srgbClr val="CC00CC"/>
                      </a:solidFill>
                      <a:prstDash val="solid"/>
                      <a:round/>
                      <a:headEnd type="none" w="med" len="med"/>
                      <a:tailEnd type="none" w="med" len="med"/>
                    </a:lnL>
                    <a:lnR w="38100" cap="flat" cmpd="sng" algn="ctr">
                      <a:solidFill>
                        <a:srgbClr val="CC00CC"/>
                      </a:solidFill>
                      <a:prstDash val="solid"/>
                      <a:round/>
                      <a:headEnd type="none" w="med" len="med"/>
                      <a:tailEnd type="none" w="med" len="med"/>
                    </a:lnR>
                    <a:lnT w="38100" cap="flat" cmpd="sng" algn="ctr">
                      <a:solidFill>
                        <a:srgbClr val="CC00CC"/>
                      </a:solidFill>
                      <a:prstDash val="solid"/>
                      <a:round/>
                      <a:headEnd type="none" w="med" len="med"/>
                      <a:tailEnd type="none" w="med" len="med"/>
                    </a:lnT>
                    <a:lnB w="38100" cap="flat" cmpd="sng" algn="ctr">
                      <a:solidFill>
                        <a:srgbClr val="CC00C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rgbClr val="0000FF"/>
                          </a:solidFill>
                          <a:effectLst/>
                          <a:latin typeface="Comic Sans MS" pitchFamily="66" charset="0"/>
                          <a:cs typeface="Angsana New" pitchFamily="18" charset="-34"/>
                        </a:rPr>
                        <a:t>~20%</a:t>
                      </a:r>
                      <a:endParaRPr kumimoji="0" lang="th-TH" sz="2000" b="1" i="0" u="none" strike="noStrike" cap="none" normalizeH="0" baseline="0" smtClean="0">
                        <a:ln>
                          <a:noFill/>
                        </a:ln>
                        <a:solidFill>
                          <a:srgbClr val="0000FF"/>
                        </a:solidFill>
                        <a:effectLst/>
                        <a:latin typeface="Comic Sans MS" pitchFamily="66" charset="0"/>
                        <a:cs typeface="Angsana New" pitchFamily="18" charset="-34"/>
                      </a:endParaRPr>
                    </a:p>
                  </a:txBody>
                  <a:tcPr marT="45712" marB="45712" horzOverflow="overflow">
                    <a:lnL w="38100" cap="flat" cmpd="sng" algn="ctr">
                      <a:solidFill>
                        <a:srgbClr val="CC00CC"/>
                      </a:solidFill>
                      <a:prstDash val="solid"/>
                      <a:round/>
                      <a:headEnd type="none" w="med" len="med"/>
                      <a:tailEnd type="none" w="med" len="med"/>
                    </a:lnL>
                    <a:lnR w="38100" cap="flat" cmpd="sng" algn="ctr">
                      <a:solidFill>
                        <a:srgbClr val="CC00CC"/>
                      </a:solidFill>
                      <a:prstDash val="solid"/>
                      <a:round/>
                      <a:headEnd type="none" w="med" len="med"/>
                      <a:tailEnd type="none" w="med" len="med"/>
                    </a:lnR>
                    <a:lnT w="38100" cap="flat" cmpd="sng" algn="ctr">
                      <a:solidFill>
                        <a:srgbClr val="CC00CC"/>
                      </a:solidFill>
                      <a:prstDash val="solid"/>
                      <a:round/>
                      <a:headEnd type="none" w="med" len="med"/>
                      <a:tailEnd type="none" w="med" len="med"/>
                    </a:lnT>
                    <a:lnB w="38100" cap="flat" cmpd="sng" algn="ctr">
                      <a:solidFill>
                        <a:srgbClr val="CC00C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rgbClr val="FF0000"/>
                          </a:solidFill>
                          <a:effectLst/>
                          <a:latin typeface="Comic Sans MS" pitchFamily="66" charset="0"/>
                          <a:cs typeface="Angsana New" pitchFamily="18" charset="-34"/>
                        </a:rPr>
                        <a:t>~30-35%</a:t>
                      </a:r>
                      <a:endParaRPr kumimoji="0" lang="th-TH" sz="2000" b="1" i="0" u="none" strike="noStrike" cap="none" normalizeH="0" baseline="0" smtClean="0">
                        <a:ln>
                          <a:noFill/>
                        </a:ln>
                        <a:solidFill>
                          <a:srgbClr val="FF0000"/>
                        </a:solidFill>
                        <a:effectLst/>
                        <a:latin typeface="Comic Sans MS" pitchFamily="66" charset="0"/>
                        <a:cs typeface="Angsana New" pitchFamily="18" charset="-34"/>
                      </a:endParaRPr>
                    </a:p>
                  </a:txBody>
                  <a:tcPr marT="45712" marB="45712" horzOverflow="overflow">
                    <a:lnL w="38100" cap="flat" cmpd="sng" algn="ctr">
                      <a:solidFill>
                        <a:srgbClr val="CC00CC"/>
                      </a:solidFill>
                      <a:prstDash val="solid"/>
                      <a:round/>
                      <a:headEnd type="none" w="med" len="med"/>
                      <a:tailEnd type="none" w="med" len="med"/>
                    </a:lnL>
                    <a:lnR w="38100" cap="flat" cmpd="sng" algn="ctr">
                      <a:solidFill>
                        <a:srgbClr val="CC00CC"/>
                      </a:solidFill>
                      <a:prstDash val="solid"/>
                      <a:round/>
                      <a:headEnd type="none" w="med" len="med"/>
                      <a:tailEnd type="none" w="med" len="med"/>
                    </a:lnR>
                    <a:lnT w="38100" cap="flat" cmpd="sng" algn="ctr">
                      <a:solidFill>
                        <a:srgbClr val="CC00CC"/>
                      </a:solidFill>
                      <a:prstDash val="solid"/>
                      <a:round/>
                      <a:headEnd type="none" w="med" len="med"/>
                      <a:tailEnd type="none" w="med" len="med"/>
                    </a:lnT>
                    <a:lnB w="38100" cap="flat" cmpd="sng" algn="ctr">
                      <a:solidFill>
                        <a:srgbClr val="CC00C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rgbClr val="0000FF"/>
                          </a:solidFill>
                          <a:effectLst/>
                          <a:latin typeface="Comic Sans MS" pitchFamily="66" charset="0"/>
                          <a:cs typeface="Angsana New" pitchFamily="18" charset="-34"/>
                        </a:rPr>
                        <a:t>~5.0-5.5%</a:t>
                      </a:r>
                      <a:endParaRPr kumimoji="0" lang="th-TH" sz="2000" b="1" i="0" u="none" strike="noStrike" cap="none" normalizeH="0" baseline="0" smtClean="0">
                        <a:ln>
                          <a:noFill/>
                        </a:ln>
                        <a:solidFill>
                          <a:srgbClr val="0000FF"/>
                        </a:solidFill>
                        <a:effectLst/>
                        <a:latin typeface="Comic Sans MS" pitchFamily="66" charset="0"/>
                        <a:cs typeface="Angsana New" pitchFamily="18" charset="-34"/>
                      </a:endParaRPr>
                    </a:p>
                  </a:txBody>
                  <a:tcPr marT="45712" marB="45712" horzOverflow="overflow">
                    <a:lnL w="38100" cap="flat" cmpd="sng" algn="ctr">
                      <a:solidFill>
                        <a:srgbClr val="CC00CC"/>
                      </a:solidFill>
                      <a:prstDash val="solid"/>
                      <a:round/>
                      <a:headEnd type="none" w="med" len="med"/>
                      <a:tailEnd type="none" w="med" len="med"/>
                    </a:lnL>
                    <a:lnR w="38100" cap="flat" cmpd="sng" algn="ctr">
                      <a:solidFill>
                        <a:srgbClr val="CC00CC"/>
                      </a:solidFill>
                      <a:prstDash val="solid"/>
                      <a:round/>
                      <a:headEnd type="none" w="med" len="med"/>
                      <a:tailEnd type="none" w="med" len="med"/>
                    </a:lnR>
                    <a:lnT w="38100" cap="flat" cmpd="sng" algn="ctr">
                      <a:solidFill>
                        <a:srgbClr val="CC00CC"/>
                      </a:solidFill>
                      <a:prstDash val="solid"/>
                      <a:round/>
                      <a:headEnd type="none" w="med" len="med"/>
                      <a:tailEnd type="none" w="med" len="med"/>
                    </a:lnT>
                    <a:lnB w="38100" cap="flat" cmpd="sng" algn="ctr">
                      <a:solidFill>
                        <a:srgbClr val="CC00C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rgbClr val="0000FF"/>
                          </a:solidFill>
                          <a:effectLst/>
                          <a:latin typeface="Comic Sans MS" pitchFamily="66" charset="0"/>
                          <a:cs typeface="Angsana New" pitchFamily="18" charset="-34"/>
                        </a:rPr>
                        <a:t>~5.0-5.5%</a:t>
                      </a:r>
                      <a:endParaRPr kumimoji="0" lang="th-TH" sz="2000" b="1" i="0" u="none" strike="noStrike" cap="none" normalizeH="0" baseline="0" smtClean="0">
                        <a:ln>
                          <a:noFill/>
                        </a:ln>
                        <a:solidFill>
                          <a:srgbClr val="0000FF"/>
                        </a:solidFill>
                        <a:effectLst/>
                        <a:latin typeface="Comic Sans MS" pitchFamily="66" charset="0"/>
                        <a:cs typeface="Angsana New" pitchFamily="18" charset="-34"/>
                      </a:endParaRPr>
                    </a:p>
                  </a:txBody>
                  <a:tcPr marT="45712" marB="45712" horzOverflow="overflow">
                    <a:lnL w="38100" cap="flat" cmpd="sng" algn="ctr">
                      <a:solidFill>
                        <a:srgbClr val="CC00CC"/>
                      </a:solidFill>
                      <a:prstDash val="solid"/>
                      <a:round/>
                      <a:headEnd type="none" w="med" len="med"/>
                      <a:tailEnd type="none" w="med" len="med"/>
                    </a:lnL>
                    <a:lnR w="38100" cap="flat" cmpd="sng" algn="ctr">
                      <a:solidFill>
                        <a:srgbClr val="CC00CC"/>
                      </a:solidFill>
                      <a:prstDash val="solid"/>
                      <a:round/>
                      <a:headEnd type="none" w="med" len="med"/>
                      <a:tailEnd type="none" w="med" len="med"/>
                    </a:lnR>
                    <a:lnT w="38100" cap="flat" cmpd="sng" algn="ctr">
                      <a:solidFill>
                        <a:srgbClr val="CC00CC"/>
                      </a:solidFill>
                      <a:prstDash val="solid"/>
                      <a:round/>
                      <a:headEnd type="none" w="med" len="med"/>
                      <a:tailEnd type="none" w="med" len="med"/>
                    </a:lnT>
                    <a:lnB w="38100" cap="flat" cmpd="sng" algn="ctr">
                      <a:solidFill>
                        <a:srgbClr val="CC00CC"/>
                      </a:solidFill>
                      <a:prstDash val="solid"/>
                      <a:round/>
                      <a:headEnd type="none" w="med" len="med"/>
                      <a:tailEnd type="none" w="med" len="med"/>
                    </a:lnB>
                    <a:lnTlToBr>
                      <a:noFill/>
                    </a:lnTlToBr>
                    <a:lnBlToTr>
                      <a:noFill/>
                    </a:lnBlToTr>
                    <a:solidFill>
                      <a:schemeClr val="bg1"/>
                    </a:solidFill>
                  </a:tcPr>
                </a:tc>
              </a:tr>
              <a:tr h="72217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rgbClr val="0000FF"/>
                          </a:solidFill>
                          <a:effectLst/>
                          <a:latin typeface="Comic Sans MS" pitchFamily="66" charset="0"/>
                          <a:cs typeface="Angsana New" pitchFamily="18" charset="-34"/>
                        </a:rPr>
                        <a:t>SEC (kWh/ADT)</a:t>
                      </a:r>
                      <a:endParaRPr kumimoji="0" lang="th-TH" sz="2000" b="1" i="0" u="none" strike="noStrike" cap="none" normalizeH="0" baseline="0" smtClean="0">
                        <a:ln>
                          <a:noFill/>
                        </a:ln>
                        <a:solidFill>
                          <a:srgbClr val="0000FF"/>
                        </a:solidFill>
                        <a:effectLst/>
                        <a:latin typeface="Comic Sans MS" pitchFamily="66" charset="0"/>
                        <a:cs typeface="Angsana New" pitchFamily="18" charset="-34"/>
                      </a:endParaRPr>
                    </a:p>
                  </a:txBody>
                  <a:tcPr marT="45712" marB="45712" horzOverflow="overflow">
                    <a:lnL w="38100" cap="flat" cmpd="sng" algn="ctr">
                      <a:solidFill>
                        <a:srgbClr val="CC00CC"/>
                      </a:solidFill>
                      <a:prstDash val="solid"/>
                      <a:round/>
                      <a:headEnd type="none" w="med" len="med"/>
                      <a:tailEnd type="none" w="med" len="med"/>
                    </a:lnL>
                    <a:lnR w="38100" cap="flat" cmpd="sng" algn="ctr">
                      <a:solidFill>
                        <a:srgbClr val="CC00CC"/>
                      </a:solidFill>
                      <a:prstDash val="solid"/>
                      <a:round/>
                      <a:headEnd type="none" w="med" len="med"/>
                      <a:tailEnd type="none" w="med" len="med"/>
                    </a:lnR>
                    <a:lnT w="38100" cap="flat" cmpd="sng" algn="ctr">
                      <a:solidFill>
                        <a:srgbClr val="CC00CC"/>
                      </a:solidFill>
                      <a:prstDash val="solid"/>
                      <a:round/>
                      <a:headEnd type="none" w="med" len="med"/>
                      <a:tailEnd type="none" w="med" len="med"/>
                    </a:lnT>
                    <a:lnB w="38100" cap="flat" cmpd="sng" algn="ctr">
                      <a:solidFill>
                        <a:srgbClr val="CC00C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rgbClr val="0000FF"/>
                          </a:solidFill>
                          <a:effectLst/>
                          <a:latin typeface="Comic Sans MS" pitchFamily="66" charset="0"/>
                          <a:cs typeface="Angsana New" pitchFamily="18" charset="-34"/>
                        </a:rPr>
                        <a:t>50-100</a:t>
                      </a:r>
                      <a:endParaRPr kumimoji="0" lang="th-TH" sz="2000" b="1" i="0" u="none" strike="noStrike" cap="none" normalizeH="0" baseline="0" smtClean="0">
                        <a:ln>
                          <a:noFill/>
                        </a:ln>
                        <a:solidFill>
                          <a:srgbClr val="0000FF"/>
                        </a:solidFill>
                        <a:effectLst/>
                        <a:latin typeface="Comic Sans MS" pitchFamily="66" charset="0"/>
                        <a:cs typeface="Angsana New" pitchFamily="18" charset="-34"/>
                      </a:endParaRPr>
                    </a:p>
                  </a:txBody>
                  <a:tcPr marT="45712" marB="45712" horzOverflow="overflow">
                    <a:lnL w="38100" cap="flat" cmpd="sng" algn="ctr">
                      <a:solidFill>
                        <a:srgbClr val="CC00CC"/>
                      </a:solidFill>
                      <a:prstDash val="solid"/>
                      <a:round/>
                      <a:headEnd type="none" w="med" len="med"/>
                      <a:tailEnd type="none" w="med" len="med"/>
                    </a:lnL>
                    <a:lnR w="38100" cap="flat" cmpd="sng" algn="ctr">
                      <a:solidFill>
                        <a:srgbClr val="CC00CC"/>
                      </a:solidFill>
                      <a:prstDash val="solid"/>
                      <a:round/>
                      <a:headEnd type="none" w="med" len="med"/>
                      <a:tailEnd type="none" w="med" len="med"/>
                    </a:lnR>
                    <a:lnT w="38100" cap="flat" cmpd="sng" algn="ctr">
                      <a:solidFill>
                        <a:srgbClr val="CC00CC"/>
                      </a:solidFill>
                      <a:prstDash val="solid"/>
                      <a:round/>
                      <a:headEnd type="none" w="med" len="med"/>
                      <a:tailEnd type="none" w="med" len="med"/>
                    </a:lnT>
                    <a:lnB w="38100" cap="flat" cmpd="sng" algn="ctr">
                      <a:solidFill>
                        <a:srgbClr val="CC00C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rgbClr val="0000FF"/>
                          </a:solidFill>
                          <a:effectLst/>
                          <a:latin typeface="Comic Sans MS" pitchFamily="66" charset="0"/>
                          <a:cs typeface="Angsana New" pitchFamily="18" charset="-34"/>
                        </a:rPr>
                        <a:t>150-250</a:t>
                      </a:r>
                      <a:endParaRPr kumimoji="0" lang="th-TH" sz="2000" b="1" i="0" u="none" strike="noStrike" cap="none" normalizeH="0" baseline="0" smtClean="0">
                        <a:ln>
                          <a:noFill/>
                        </a:ln>
                        <a:solidFill>
                          <a:srgbClr val="0000FF"/>
                        </a:solidFill>
                        <a:effectLst/>
                        <a:latin typeface="Comic Sans MS" pitchFamily="66" charset="0"/>
                        <a:cs typeface="Angsana New" pitchFamily="18" charset="-34"/>
                      </a:endParaRPr>
                    </a:p>
                  </a:txBody>
                  <a:tcPr marT="45712" marB="45712" horzOverflow="overflow">
                    <a:lnL w="38100" cap="flat" cmpd="sng" algn="ctr">
                      <a:solidFill>
                        <a:srgbClr val="CC00CC"/>
                      </a:solidFill>
                      <a:prstDash val="solid"/>
                      <a:round/>
                      <a:headEnd type="none" w="med" len="med"/>
                      <a:tailEnd type="none" w="med" len="med"/>
                    </a:lnL>
                    <a:lnR w="38100" cap="flat" cmpd="sng" algn="ctr">
                      <a:solidFill>
                        <a:srgbClr val="CC00CC"/>
                      </a:solidFill>
                      <a:prstDash val="solid"/>
                      <a:round/>
                      <a:headEnd type="none" w="med" len="med"/>
                      <a:tailEnd type="none" w="med" len="med"/>
                    </a:lnR>
                    <a:lnT w="38100" cap="flat" cmpd="sng" algn="ctr">
                      <a:solidFill>
                        <a:srgbClr val="CC00CC"/>
                      </a:solidFill>
                      <a:prstDash val="solid"/>
                      <a:round/>
                      <a:headEnd type="none" w="med" len="med"/>
                      <a:tailEnd type="none" w="med" len="med"/>
                    </a:lnT>
                    <a:lnB w="38100" cap="flat" cmpd="sng" algn="ctr">
                      <a:solidFill>
                        <a:srgbClr val="CC00C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rgbClr val="0000FF"/>
                          </a:solidFill>
                          <a:effectLst/>
                          <a:latin typeface="Comic Sans MS" pitchFamily="66" charset="0"/>
                          <a:cs typeface="Angsana New" pitchFamily="18" charset="-34"/>
                        </a:rPr>
                        <a:t>80-120</a:t>
                      </a:r>
                      <a:endParaRPr kumimoji="0" lang="th-TH" sz="2000" b="1" i="0" u="none" strike="noStrike" cap="none" normalizeH="0" baseline="0" smtClean="0">
                        <a:ln>
                          <a:noFill/>
                        </a:ln>
                        <a:solidFill>
                          <a:srgbClr val="0000FF"/>
                        </a:solidFill>
                        <a:effectLst/>
                        <a:latin typeface="Comic Sans MS" pitchFamily="66" charset="0"/>
                        <a:cs typeface="Angsana New" pitchFamily="18" charset="-34"/>
                      </a:endParaRPr>
                    </a:p>
                  </a:txBody>
                  <a:tcPr marT="45712" marB="45712" horzOverflow="overflow">
                    <a:lnL w="38100" cap="flat" cmpd="sng" algn="ctr">
                      <a:solidFill>
                        <a:srgbClr val="CC00CC"/>
                      </a:solidFill>
                      <a:prstDash val="solid"/>
                      <a:round/>
                      <a:headEnd type="none" w="med" len="med"/>
                      <a:tailEnd type="none" w="med" len="med"/>
                    </a:lnL>
                    <a:lnR w="38100" cap="flat" cmpd="sng" algn="ctr">
                      <a:solidFill>
                        <a:srgbClr val="CC00CC"/>
                      </a:solidFill>
                      <a:prstDash val="solid"/>
                      <a:round/>
                      <a:headEnd type="none" w="med" len="med"/>
                      <a:tailEnd type="none" w="med" len="med"/>
                    </a:lnR>
                    <a:lnT w="38100" cap="flat" cmpd="sng" algn="ctr">
                      <a:solidFill>
                        <a:srgbClr val="CC00CC"/>
                      </a:solidFill>
                      <a:prstDash val="solid"/>
                      <a:round/>
                      <a:headEnd type="none" w="med" len="med"/>
                      <a:tailEnd type="none" w="med" len="med"/>
                    </a:lnT>
                    <a:lnB w="38100" cap="flat" cmpd="sng" algn="ctr">
                      <a:solidFill>
                        <a:srgbClr val="CC00C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rgbClr val="0000FF"/>
                          </a:solidFill>
                          <a:effectLst/>
                          <a:latin typeface="Comic Sans MS" pitchFamily="66" charset="0"/>
                          <a:cs typeface="Angsana New" pitchFamily="18" charset="-34"/>
                        </a:rPr>
                        <a:t>80-120</a:t>
                      </a:r>
                      <a:endParaRPr kumimoji="0" lang="th-TH" sz="2000" b="1" i="0" u="none" strike="noStrike" cap="none" normalizeH="0" baseline="0" smtClean="0">
                        <a:ln>
                          <a:noFill/>
                        </a:ln>
                        <a:solidFill>
                          <a:srgbClr val="0000FF"/>
                        </a:solidFill>
                        <a:effectLst/>
                        <a:latin typeface="Comic Sans MS" pitchFamily="66" charset="0"/>
                        <a:cs typeface="Angsana New" pitchFamily="18" charset="-34"/>
                      </a:endParaRPr>
                    </a:p>
                  </a:txBody>
                  <a:tcPr marT="45712" marB="45712" horzOverflow="overflow">
                    <a:lnL w="38100" cap="flat" cmpd="sng" algn="ctr">
                      <a:solidFill>
                        <a:srgbClr val="CC00CC"/>
                      </a:solidFill>
                      <a:prstDash val="solid"/>
                      <a:round/>
                      <a:headEnd type="none" w="med" len="med"/>
                      <a:tailEnd type="none" w="med" len="med"/>
                    </a:lnL>
                    <a:lnR w="38100" cap="flat" cmpd="sng" algn="ctr">
                      <a:solidFill>
                        <a:srgbClr val="CC00CC"/>
                      </a:solidFill>
                      <a:prstDash val="solid"/>
                      <a:round/>
                      <a:headEnd type="none" w="med" len="med"/>
                      <a:tailEnd type="none" w="med" len="med"/>
                    </a:lnR>
                    <a:lnT w="38100" cap="flat" cmpd="sng" algn="ctr">
                      <a:solidFill>
                        <a:srgbClr val="CC00CC"/>
                      </a:solidFill>
                      <a:prstDash val="solid"/>
                      <a:round/>
                      <a:headEnd type="none" w="med" len="med"/>
                      <a:tailEnd type="none" w="med" len="med"/>
                    </a:lnT>
                    <a:lnB w="38100" cap="flat" cmpd="sng" algn="ctr">
                      <a:solidFill>
                        <a:srgbClr val="CC00CC"/>
                      </a:solidFill>
                      <a:prstDash val="solid"/>
                      <a:round/>
                      <a:headEnd type="none" w="med" len="med"/>
                      <a:tailEnd type="none" w="med" len="med"/>
                    </a:lnB>
                    <a:lnTlToBr>
                      <a:noFill/>
                    </a:lnTlToBr>
                    <a:lnBlToTr>
                      <a:noFill/>
                    </a:lnBlToTr>
                    <a:solidFill>
                      <a:schemeClr val="bg1"/>
                    </a:solidFill>
                  </a:tcPr>
                </a:tc>
              </a:tr>
              <a:tr h="106678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rgbClr val="0000FF"/>
                          </a:solidFill>
                          <a:effectLst/>
                          <a:latin typeface="Comic Sans MS" pitchFamily="66" charset="0"/>
                          <a:cs typeface="Angsana New" pitchFamily="18" charset="-34"/>
                        </a:rPr>
                        <a:t>Pulp Quality Control</a:t>
                      </a:r>
                      <a:endParaRPr kumimoji="0" lang="th-TH" sz="2000" b="1" i="0" u="none" strike="noStrike" cap="none" normalizeH="0" baseline="0" smtClean="0">
                        <a:ln>
                          <a:noFill/>
                        </a:ln>
                        <a:solidFill>
                          <a:srgbClr val="0000FF"/>
                        </a:solidFill>
                        <a:effectLst/>
                        <a:latin typeface="Comic Sans MS" pitchFamily="66" charset="0"/>
                        <a:cs typeface="Angsana New" pitchFamily="18" charset="-34"/>
                      </a:endParaRPr>
                    </a:p>
                  </a:txBody>
                  <a:tcPr marT="45712" marB="45712" horzOverflow="overflow">
                    <a:lnL w="38100" cap="flat" cmpd="sng" algn="ctr">
                      <a:solidFill>
                        <a:srgbClr val="CC00CC"/>
                      </a:solidFill>
                      <a:prstDash val="solid"/>
                      <a:round/>
                      <a:headEnd type="none" w="med" len="med"/>
                      <a:tailEnd type="none" w="med" len="med"/>
                    </a:lnL>
                    <a:lnR w="38100" cap="flat" cmpd="sng" algn="ctr">
                      <a:solidFill>
                        <a:srgbClr val="CC00CC"/>
                      </a:solidFill>
                      <a:prstDash val="solid"/>
                      <a:round/>
                      <a:headEnd type="none" w="med" len="med"/>
                      <a:tailEnd type="none" w="med" len="med"/>
                    </a:lnR>
                    <a:lnT w="38100" cap="flat" cmpd="sng" algn="ctr">
                      <a:solidFill>
                        <a:srgbClr val="CC00CC"/>
                      </a:solidFill>
                      <a:prstDash val="solid"/>
                      <a:round/>
                      <a:headEnd type="none" w="med" len="med"/>
                      <a:tailEnd type="none" w="med" len="med"/>
                    </a:lnT>
                    <a:lnB w="38100" cap="flat" cmpd="sng" algn="ctr">
                      <a:solidFill>
                        <a:srgbClr val="CC00C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rgbClr val="0000FF"/>
                          </a:solidFill>
                          <a:effectLst/>
                          <a:latin typeface="Comic Sans MS" pitchFamily="66" charset="0"/>
                          <a:cs typeface="Angsana New" pitchFamily="18" charset="-34"/>
                        </a:rPr>
                        <a:t>%Shive &lt;70%</a:t>
                      </a:r>
                      <a:endParaRPr kumimoji="0" lang="th-TH" sz="2000" b="1" i="0" u="none" strike="noStrike" cap="none" normalizeH="0" baseline="0" smtClean="0">
                        <a:ln>
                          <a:noFill/>
                        </a:ln>
                        <a:solidFill>
                          <a:srgbClr val="0000FF"/>
                        </a:solidFill>
                        <a:effectLst/>
                        <a:latin typeface="Comic Sans MS" pitchFamily="66" charset="0"/>
                        <a:cs typeface="Angsana New" pitchFamily="18" charset="-34"/>
                      </a:endParaRPr>
                    </a:p>
                  </a:txBody>
                  <a:tcPr marT="45712" marB="45712" horzOverflow="overflow">
                    <a:lnL w="38100" cap="flat" cmpd="sng" algn="ctr">
                      <a:solidFill>
                        <a:srgbClr val="CC00CC"/>
                      </a:solidFill>
                      <a:prstDash val="solid"/>
                      <a:round/>
                      <a:headEnd type="none" w="med" len="med"/>
                      <a:tailEnd type="none" w="med" len="med"/>
                    </a:lnL>
                    <a:lnR w="38100" cap="flat" cmpd="sng" algn="ctr">
                      <a:solidFill>
                        <a:srgbClr val="CC00CC"/>
                      </a:solidFill>
                      <a:prstDash val="solid"/>
                      <a:round/>
                      <a:headEnd type="none" w="med" len="med"/>
                      <a:tailEnd type="none" w="med" len="med"/>
                    </a:lnR>
                    <a:lnT w="38100" cap="flat" cmpd="sng" algn="ctr">
                      <a:solidFill>
                        <a:srgbClr val="CC00CC"/>
                      </a:solidFill>
                      <a:prstDash val="solid"/>
                      <a:round/>
                      <a:headEnd type="none" w="med" len="med"/>
                      <a:tailEnd type="none" w="med" len="med"/>
                    </a:lnT>
                    <a:lnB w="38100" cap="flat" cmpd="sng" algn="ctr">
                      <a:solidFill>
                        <a:srgbClr val="CC00C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rgbClr val="0000FF"/>
                          </a:solidFill>
                          <a:effectLst/>
                          <a:latin typeface="Comic Sans MS" pitchFamily="66" charset="0"/>
                          <a:cs typeface="Angsana New" pitchFamily="18" charset="-34"/>
                        </a:rPr>
                        <a:t>Freeness</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rgbClr val="0000FF"/>
                          </a:solidFill>
                          <a:effectLst/>
                          <a:latin typeface="Comic Sans MS" pitchFamily="66" charset="0"/>
                          <a:cs typeface="Angsana New" pitchFamily="18" charset="-34"/>
                        </a:rPr>
                        <a:t>500-700 ml CSF </a:t>
                      </a:r>
                      <a:r>
                        <a:rPr kumimoji="0" lang="en-US" sz="1000" b="1" i="0" u="none" strike="noStrike" cap="none" normalizeH="0" baseline="0" smtClean="0">
                          <a:ln>
                            <a:noFill/>
                          </a:ln>
                          <a:solidFill>
                            <a:srgbClr val="0000FF"/>
                          </a:solidFill>
                          <a:effectLst/>
                          <a:latin typeface="Comic Sans MS" pitchFamily="66" charset="0"/>
                          <a:cs typeface="Angsana New" pitchFamily="18" charset="-34"/>
                        </a:rPr>
                        <a:t>(Shive &lt;30%)</a:t>
                      </a:r>
                      <a:endParaRPr kumimoji="0" lang="th-TH" sz="1000" b="1" i="0" u="none" strike="noStrike" cap="none" normalizeH="0" baseline="0" smtClean="0">
                        <a:ln>
                          <a:noFill/>
                        </a:ln>
                        <a:solidFill>
                          <a:srgbClr val="0000FF"/>
                        </a:solidFill>
                        <a:effectLst/>
                        <a:latin typeface="Comic Sans MS" pitchFamily="66" charset="0"/>
                        <a:cs typeface="Angsana New" pitchFamily="18" charset="-34"/>
                      </a:endParaRPr>
                    </a:p>
                  </a:txBody>
                  <a:tcPr marT="45712" marB="45712" horzOverflow="overflow">
                    <a:lnL w="38100" cap="flat" cmpd="sng" algn="ctr">
                      <a:solidFill>
                        <a:srgbClr val="CC00CC"/>
                      </a:solidFill>
                      <a:prstDash val="solid"/>
                      <a:round/>
                      <a:headEnd type="none" w="med" len="med"/>
                      <a:tailEnd type="none" w="med" len="med"/>
                    </a:lnL>
                    <a:lnR w="38100" cap="flat" cmpd="sng" algn="ctr">
                      <a:solidFill>
                        <a:srgbClr val="CC00CC"/>
                      </a:solidFill>
                      <a:prstDash val="solid"/>
                      <a:round/>
                      <a:headEnd type="none" w="med" len="med"/>
                      <a:tailEnd type="none" w="med" len="med"/>
                    </a:lnR>
                    <a:lnT w="38100" cap="flat" cmpd="sng" algn="ctr">
                      <a:solidFill>
                        <a:srgbClr val="CC00CC"/>
                      </a:solidFill>
                      <a:prstDash val="solid"/>
                      <a:round/>
                      <a:headEnd type="none" w="med" len="med"/>
                      <a:tailEnd type="none" w="med" len="med"/>
                    </a:lnT>
                    <a:lnB w="38100" cap="flat" cmpd="sng" algn="ctr">
                      <a:solidFill>
                        <a:srgbClr val="CC00C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rgbClr val="0000FF"/>
                          </a:solidFill>
                          <a:effectLst/>
                          <a:latin typeface="Comic Sans MS" pitchFamily="66" charset="0"/>
                          <a:cs typeface="Angsana New" pitchFamily="18" charset="-34"/>
                        </a:rPr>
                        <a:t>Freeness</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rgbClr val="0000FF"/>
                          </a:solidFill>
                          <a:effectLst/>
                          <a:latin typeface="Comic Sans MS" pitchFamily="66" charset="0"/>
                          <a:cs typeface="Angsana New" pitchFamily="18" charset="-34"/>
                        </a:rPr>
                        <a:t>500-530 ml CSF</a:t>
                      </a:r>
                      <a:endParaRPr kumimoji="0" lang="th-TH" sz="2000" b="1" i="0" u="none" strike="noStrike" cap="none" normalizeH="0" baseline="0" smtClean="0">
                        <a:ln>
                          <a:noFill/>
                        </a:ln>
                        <a:solidFill>
                          <a:srgbClr val="0000FF"/>
                        </a:solidFill>
                        <a:effectLst/>
                        <a:latin typeface="Comic Sans MS" pitchFamily="66" charset="0"/>
                        <a:cs typeface="Angsana New" pitchFamily="18" charset="-34"/>
                      </a:endParaRPr>
                    </a:p>
                  </a:txBody>
                  <a:tcPr marT="45712" marB="45712" horzOverflow="overflow">
                    <a:lnL w="38100" cap="flat" cmpd="sng" algn="ctr">
                      <a:solidFill>
                        <a:srgbClr val="CC00CC"/>
                      </a:solidFill>
                      <a:prstDash val="solid"/>
                      <a:round/>
                      <a:headEnd type="none" w="med" len="med"/>
                      <a:tailEnd type="none" w="med" len="med"/>
                    </a:lnL>
                    <a:lnR w="38100" cap="flat" cmpd="sng" algn="ctr">
                      <a:solidFill>
                        <a:srgbClr val="CC00CC"/>
                      </a:solidFill>
                      <a:prstDash val="solid"/>
                      <a:round/>
                      <a:headEnd type="none" w="med" len="med"/>
                      <a:tailEnd type="none" w="med" len="med"/>
                    </a:lnR>
                    <a:lnT w="38100" cap="flat" cmpd="sng" algn="ctr">
                      <a:solidFill>
                        <a:srgbClr val="CC00CC"/>
                      </a:solidFill>
                      <a:prstDash val="solid"/>
                      <a:round/>
                      <a:headEnd type="none" w="med" len="med"/>
                      <a:tailEnd type="none" w="med" len="med"/>
                    </a:lnT>
                    <a:lnB w="38100" cap="flat" cmpd="sng" algn="ctr">
                      <a:solidFill>
                        <a:srgbClr val="CC00C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smtClean="0">
                          <a:ln>
                            <a:noFill/>
                          </a:ln>
                          <a:solidFill>
                            <a:srgbClr val="0000FF"/>
                          </a:solidFill>
                          <a:effectLst/>
                          <a:latin typeface="Comic Sans MS" pitchFamily="66" charset="0"/>
                          <a:cs typeface="Angsana New" pitchFamily="18" charset="-34"/>
                        </a:rPr>
                        <a:t>Freeness</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smtClean="0">
                          <a:ln>
                            <a:noFill/>
                          </a:ln>
                          <a:solidFill>
                            <a:srgbClr val="0000FF"/>
                          </a:solidFill>
                          <a:effectLst/>
                          <a:latin typeface="Comic Sans MS" pitchFamily="66" charset="0"/>
                          <a:cs typeface="Angsana New" pitchFamily="18" charset="-34"/>
                        </a:rPr>
                        <a:t>380-430 ml CSF</a:t>
                      </a:r>
                      <a:endParaRPr kumimoji="0" lang="th-TH" sz="2000" b="1" i="0" u="none" strike="noStrike" cap="none" normalizeH="0" baseline="0" dirty="0" smtClean="0">
                        <a:ln>
                          <a:noFill/>
                        </a:ln>
                        <a:solidFill>
                          <a:srgbClr val="0000FF"/>
                        </a:solidFill>
                        <a:effectLst/>
                        <a:latin typeface="Comic Sans MS" pitchFamily="66" charset="0"/>
                        <a:cs typeface="Angsana New" pitchFamily="18" charset="-34"/>
                      </a:endParaRPr>
                    </a:p>
                  </a:txBody>
                  <a:tcPr marT="45712" marB="45712" horzOverflow="overflow">
                    <a:lnL w="38100" cap="flat" cmpd="sng" algn="ctr">
                      <a:solidFill>
                        <a:srgbClr val="CC00CC"/>
                      </a:solidFill>
                      <a:prstDash val="solid"/>
                      <a:round/>
                      <a:headEnd type="none" w="med" len="med"/>
                      <a:tailEnd type="none" w="med" len="med"/>
                    </a:lnL>
                    <a:lnR w="38100" cap="flat" cmpd="sng" algn="ctr">
                      <a:solidFill>
                        <a:srgbClr val="CC00CC"/>
                      </a:solidFill>
                      <a:prstDash val="solid"/>
                      <a:round/>
                      <a:headEnd type="none" w="med" len="med"/>
                      <a:tailEnd type="none" w="med" len="med"/>
                    </a:lnR>
                    <a:lnT w="38100" cap="flat" cmpd="sng" algn="ctr">
                      <a:solidFill>
                        <a:srgbClr val="CC00CC"/>
                      </a:solidFill>
                      <a:prstDash val="solid"/>
                      <a:round/>
                      <a:headEnd type="none" w="med" len="med"/>
                      <a:tailEnd type="none" w="med" len="med"/>
                    </a:lnT>
                    <a:lnB w="38100" cap="flat" cmpd="sng" algn="ctr">
                      <a:solidFill>
                        <a:srgbClr val="CC00CC"/>
                      </a:solidFill>
                      <a:prstDash val="solid"/>
                      <a:round/>
                      <a:headEnd type="none" w="med" len="med"/>
                      <a:tailEnd type="none" w="med" len="med"/>
                    </a:lnB>
                    <a:lnTlToBr>
                      <a:noFill/>
                    </a:lnTlToBr>
                    <a:lnBlToTr>
                      <a:noFill/>
                    </a:lnBlToTr>
                    <a:solidFill>
                      <a:schemeClr val="bg1"/>
                    </a:solidFill>
                  </a:tcPr>
                </a:tc>
              </a:tr>
            </a:tbl>
          </a:graphicData>
        </a:graphic>
      </p:graphicFrame>
      <p:sp>
        <p:nvSpPr>
          <p:cNvPr id="183349" name="Text Box 59"/>
          <p:cNvSpPr txBox="1">
            <a:spLocks noChangeArrowheads="1"/>
          </p:cNvSpPr>
          <p:nvPr/>
        </p:nvSpPr>
        <p:spPr bwMode="auto">
          <a:xfrm>
            <a:off x="215900" y="692150"/>
            <a:ext cx="41036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400" b="1" u="sng">
                <a:solidFill>
                  <a:srgbClr val="0000FF"/>
                </a:solidFill>
                <a:latin typeface="Comic Sans MS" panose="030F0702030302020204" pitchFamily="66" charset="0"/>
                <a:cs typeface="Angsana New" panose="02020603050405020304" pitchFamily="18" charset="-34"/>
              </a:rPr>
              <a:t>Refining Parameters</a:t>
            </a:r>
            <a:endParaRPr lang="th-TH" altLang="en-US" sz="2400" b="1" u="sng">
              <a:solidFill>
                <a:srgbClr val="0000FF"/>
              </a:solidFill>
              <a:latin typeface="Comic Sans MS" panose="030F0702030302020204" pitchFamily="66" charset="0"/>
              <a:cs typeface="Angsana New" panose="02020603050405020304" pitchFamily="18" charset="-34"/>
            </a:endParaRPr>
          </a:p>
        </p:txBody>
      </p:sp>
    </p:spTree>
  </p:cSld>
  <p:clrMapOvr>
    <a:masterClrMapping/>
  </p:clrMapOvr>
  <p:transition/>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5346" name="Picture 3" descr="Defibrato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981075"/>
            <a:ext cx="4211638" cy="3160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5347" name="Picture 4" descr="Refine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981075"/>
            <a:ext cx="4176713" cy="313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5348" name="Text Box 5"/>
          <p:cNvSpPr txBox="1">
            <a:spLocks noChangeArrowheads="1"/>
          </p:cNvSpPr>
          <p:nvPr/>
        </p:nvSpPr>
        <p:spPr bwMode="auto">
          <a:xfrm>
            <a:off x="647700" y="4400550"/>
            <a:ext cx="3817938"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000" b="1" u="sng">
                <a:latin typeface="Arial" panose="020B0604020202020204" pitchFamily="34" charset="0"/>
                <a:cs typeface="Angsana New" panose="02020603050405020304" pitchFamily="18" charset="-34"/>
              </a:rPr>
              <a:t>1</a:t>
            </a:r>
            <a:r>
              <a:rPr lang="en-US" altLang="en-US" sz="2000" b="1" u="sng" baseline="30000">
                <a:latin typeface="Arial" panose="020B0604020202020204" pitchFamily="34" charset="0"/>
                <a:cs typeface="Angsana New" panose="02020603050405020304" pitchFamily="18" charset="-34"/>
              </a:rPr>
              <a:t>st</a:t>
            </a:r>
            <a:r>
              <a:rPr lang="en-US" altLang="en-US" sz="2000" b="1" u="sng">
                <a:latin typeface="Arial" panose="020B0604020202020204" pitchFamily="34" charset="0"/>
                <a:cs typeface="Angsana New" panose="02020603050405020304" pitchFamily="18" charset="-34"/>
              </a:rPr>
              <a:t> Stage Refiner</a:t>
            </a:r>
          </a:p>
          <a:p>
            <a:pPr eaLnBrk="1" hangingPunct="1">
              <a:spcBef>
                <a:spcPct val="50000"/>
              </a:spcBef>
              <a:buFontTx/>
              <a:buNone/>
            </a:pPr>
            <a:r>
              <a:rPr lang="en-US" altLang="en-US" sz="2000" b="1">
                <a:latin typeface="Arial" panose="020B0604020202020204" pitchFamily="34" charset="0"/>
                <a:cs typeface="Angsana New" panose="02020603050405020304" pitchFamily="18" charset="-34"/>
              </a:rPr>
              <a:t>Pressurized</a:t>
            </a:r>
          </a:p>
          <a:p>
            <a:pPr eaLnBrk="1" hangingPunct="1">
              <a:spcBef>
                <a:spcPct val="50000"/>
              </a:spcBef>
              <a:buFontTx/>
              <a:buNone/>
            </a:pPr>
            <a:r>
              <a:rPr lang="en-US" altLang="en-US" sz="2000" b="1">
                <a:latin typeface="Arial" panose="020B0604020202020204" pitchFamily="34" charset="0"/>
                <a:cs typeface="Angsana New" panose="02020603050405020304" pitchFamily="18" charset="-34"/>
              </a:rPr>
              <a:t>High Consistency</a:t>
            </a:r>
            <a:endParaRPr lang="th-TH" altLang="en-US" sz="2000" b="1">
              <a:latin typeface="Arial" panose="020B0604020202020204" pitchFamily="34" charset="0"/>
              <a:cs typeface="Angsana New" panose="02020603050405020304" pitchFamily="18" charset="-34"/>
            </a:endParaRPr>
          </a:p>
        </p:txBody>
      </p:sp>
      <p:sp>
        <p:nvSpPr>
          <p:cNvPr id="185349" name="Text Box 6"/>
          <p:cNvSpPr txBox="1">
            <a:spLocks noChangeArrowheads="1"/>
          </p:cNvSpPr>
          <p:nvPr/>
        </p:nvSpPr>
        <p:spPr bwMode="auto">
          <a:xfrm>
            <a:off x="4932363" y="4400550"/>
            <a:ext cx="3817937"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000" b="1" u="sng">
                <a:latin typeface="Arial" panose="020B0604020202020204" pitchFamily="34" charset="0"/>
                <a:cs typeface="Angsana New" panose="02020603050405020304" pitchFamily="18" charset="-34"/>
              </a:rPr>
              <a:t>2</a:t>
            </a:r>
            <a:r>
              <a:rPr lang="en-US" altLang="en-US" sz="2000" b="1" u="sng" baseline="30000">
                <a:latin typeface="Arial" panose="020B0604020202020204" pitchFamily="34" charset="0"/>
                <a:cs typeface="Angsana New" panose="02020603050405020304" pitchFamily="18" charset="-34"/>
              </a:rPr>
              <a:t>nd</a:t>
            </a:r>
            <a:r>
              <a:rPr lang="en-US" altLang="en-US" sz="2000" b="1" u="sng">
                <a:latin typeface="Arial" panose="020B0604020202020204" pitchFamily="34" charset="0"/>
                <a:cs typeface="Angsana New" panose="02020603050405020304" pitchFamily="18" charset="-34"/>
              </a:rPr>
              <a:t> Stage Refiner</a:t>
            </a:r>
          </a:p>
          <a:p>
            <a:pPr eaLnBrk="1" hangingPunct="1">
              <a:spcBef>
                <a:spcPct val="50000"/>
              </a:spcBef>
              <a:buFontTx/>
              <a:buNone/>
            </a:pPr>
            <a:r>
              <a:rPr lang="en-US" altLang="en-US" sz="2000" b="1">
                <a:latin typeface="Arial" panose="020B0604020202020204" pitchFamily="34" charset="0"/>
                <a:cs typeface="Angsana New" panose="02020603050405020304" pitchFamily="18" charset="-34"/>
              </a:rPr>
              <a:t>Atmospheric</a:t>
            </a:r>
          </a:p>
          <a:p>
            <a:pPr eaLnBrk="1" hangingPunct="1">
              <a:spcBef>
                <a:spcPct val="50000"/>
              </a:spcBef>
              <a:buFontTx/>
              <a:buNone/>
            </a:pPr>
            <a:r>
              <a:rPr lang="en-US" altLang="en-US" sz="2000" b="1">
                <a:latin typeface="Arial" panose="020B0604020202020204" pitchFamily="34" charset="0"/>
                <a:cs typeface="Angsana New" panose="02020603050405020304" pitchFamily="18" charset="-34"/>
              </a:rPr>
              <a:t>High Consistency</a:t>
            </a:r>
            <a:endParaRPr lang="th-TH" altLang="en-US" sz="2000" b="1">
              <a:latin typeface="Arial" panose="020B0604020202020204" pitchFamily="34" charset="0"/>
              <a:cs typeface="Angsana New" panose="02020603050405020304" pitchFamily="18" charset="-34"/>
            </a:endParaRPr>
          </a:p>
        </p:txBody>
      </p:sp>
      <p:sp>
        <p:nvSpPr>
          <p:cNvPr id="185350" name="Rectangle 2"/>
          <p:cNvSpPr>
            <a:spLocks noChangeArrowheads="1"/>
          </p:cNvSpPr>
          <p:nvPr/>
        </p:nvSpPr>
        <p:spPr bwMode="auto">
          <a:xfrm>
            <a:off x="0" y="-26988"/>
            <a:ext cx="9144000" cy="755651"/>
          </a:xfrm>
          <a:prstGeom prst="rect">
            <a:avLst/>
          </a:prstGeom>
          <a:noFill/>
          <a:ln>
            <a:noFill/>
          </a:ln>
          <a:effectLst/>
          <a:extLst>
            <a:ext uri="{909E8E84-426E-40DD-AFC4-6F175D3DCCD1}">
              <a14:hiddenFill xmlns:a14="http://schemas.microsoft.com/office/drawing/2010/main">
                <a:solidFill>
                  <a:srgbClr val="00008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b="1">
                <a:solidFill>
                  <a:srgbClr val="FF0000"/>
                </a:solidFill>
                <a:latin typeface="Tahoma" panose="020B0604030504040204" pitchFamily="34" charset="0"/>
                <a:cs typeface="Tahoma" panose="020B0604030504040204" pitchFamily="34" charset="0"/>
              </a:rPr>
              <a:t>SCP Refining Process</a:t>
            </a:r>
            <a:endParaRPr lang="th-TH" altLang="en-US" b="1">
              <a:solidFill>
                <a:srgbClr val="FF0000"/>
              </a:solidFill>
              <a:latin typeface="Tahoma" panose="020B0604030504040204" pitchFamily="34" charset="0"/>
              <a:cs typeface="Tahoma" panose="020B0604030504040204" pitchFamily="34" charset="0"/>
            </a:endParaRPr>
          </a:p>
        </p:txBody>
      </p:sp>
    </p:spTree>
  </p:cSld>
  <p:clrMapOvr>
    <a:masterClrMapping/>
  </p:clrMapOvr>
  <p:transition/>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7394" name="Picture 3" descr="Confl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775" y="1592263"/>
            <a:ext cx="4284663" cy="321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7395" name="Text Box 4"/>
          <p:cNvSpPr txBox="1">
            <a:spLocks noChangeArrowheads="1"/>
          </p:cNvSpPr>
          <p:nvPr/>
        </p:nvSpPr>
        <p:spPr bwMode="auto">
          <a:xfrm>
            <a:off x="358775" y="4905375"/>
            <a:ext cx="4608513" cy="1323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000" b="1">
                <a:latin typeface="Arial" panose="020B0604020202020204" pitchFamily="34" charset="0"/>
                <a:cs typeface="Angsana New" panose="02020603050405020304" pitchFamily="18" charset="-34"/>
              </a:rPr>
              <a:t>Atmospheric</a:t>
            </a:r>
          </a:p>
          <a:p>
            <a:pPr eaLnBrk="1" hangingPunct="1">
              <a:spcBef>
                <a:spcPct val="50000"/>
              </a:spcBef>
              <a:buFontTx/>
              <a:buNone/>
            </a:pPr>
            <a:r>
              <a:rPr lang="en-US" altLang="en-US" sz="2000" b="1">
                <a:latin typeface="Arial" panose="020B0604020202020204" pitchFamily="34" charset="0"/>
                <a:cs typeface="Angsana New" panose="02020603050405020304" pitchFamily="18" charset="-34"/>
              </a:rPr>
              <a:t>Low Consistency Refiner</a:t>
            </a:r>
          </a:p>
          <a:p>
            <a:pPr eaLnBrk="1" hangingPunct="1">
              <a:spcBef>
                <a:spcPct val="50000"/>
              </a:spcBef>
              <a:buFontTx/>
              <a:buNone/>
            </a:pPr>
            <a:r>
              <a:rPr lang="en-US" altLang="en-US" sz="2000" b="1">
                <a:latin typeface="Arial" panose="020B0604020202020204" pitchFamily="34" charset="0"/>
                <a:cs typeface="Angsana New" panose="02020603050405020304" pitchFamily="18" charset="-34"/>
              </a:rPr>
              <a:t>(Conflo Refiner; Conical Refiner)</a:t>
            </a:r>
            <a:endParaRPr lang="th-TH" altLang="en-US" sz="2000" b="1">
              <a:latin typeface="Arial" panose="020B0604020202020204" pitchFamily="34" charset="0"/>
              <a:cs typeface="Angsana New" panose="02020603050405020304" pitchFamily="18" charset="-34"/>
            </a:endParaRPr>
          </a:p>
        </p:txBody>
      </p:sp>
      <p:pic>
        <p:nvPicPr>
          <p:cNvPr id="187396" name="Picture 5" descr="Conflo-Segment"/>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73663" y="195263"/>
            <a:ext cx="3757612" cy="281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7397" name="Rectangle 2"/>
          <p:cNvSpPr>
            <a:spLocks noChangeArrowheads="1"/>
          </p:cNvSpPr>
          <p:nvPr/>
        </p:nvSpPr>
        <p:spPr bwMode="auto">
          <a:xfrm>
            <a:off x="0" y="-26988"/>
            <a:ext cx="9144000" cy="755651"/>
          </a:xfrm>
          <a:prstGeom prst="rect">
            <a:avLst/>
          </a:prstGeom>
          <a:noFill/>
          <a:ln>
            <a:noFill/>
          </a:ln>
          <a:effectLst/>
          <a:extLst>
            <a:ext uri="{909E8E84-426E-40DD-AFC4-6F175D3DCCD1}">
              <a14:hiddenFill xmlns:a14="http://schemas.microsoft.com/office/drawing/2010/main">
                <a:solidFill>
                  <a:srgbClr val="00008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b="1">
                <a:solidFill>
                  <a:srgbClr val="FF0000"/>
                </a:solidFill>
                <a:latin typeface="Tahoma" panose="020B0604030504040204" pitchFamily="34" charset="0"/>
                <a:cs typeface="Tahoma" panose="020B0604030504040204" pitchFamily="34" charset="0"/>
              </a:rPr>
              <a:t>SCP Refining Process</a:t>
            </a:r>
            <a:endParaRPr lang="th-TH" altLang="en-US" b="1">
              <a:solidFill>
                <a:srgbClr val="FF0000"/>
              </a:solidFill>
              <a:latin typeface="Tahoma" panose="020B0604030504040204" pitchFamily="34" charset="0"/>
              <a:cs typeface="Tahoma" panose="020B0604030504040204" pitchFamily="34" charset="0"/>
            </a:endParaRPr>
          </a:p>
        </p:txBody>
      </p:sp>
      <p:pic>
        <p:nvPicPr>
          <p:cNvPr id="187398"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88013" y="3233738"/>
            <a:ext cx="2624137" cy="3486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87399" name="Text Box 6"/>
          <p:cNvSpPr txBox="1">
            <a:spLocks noChangeArrowheads="1"/>
          </p:cNvSpPr>
          <p:nvPr/>
        </p:nvSpPr>
        <p:spPr bwMode="auto">
          <a:xfrm>
            <a:off x="5848350" y="6323013"/>
            <a:ext cx="2303463" cy="396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000" b="1">
                <a:solidFill>
                  <a:srgbClr val="FF0000"/>
                </a:solidFill>
                <a:latin typeface="Arial" panose="020B0604020202020204" pitchFamily="34" charset="0"/>
                <a:cs typeface="Angsana New" panose="02020603050405020304" pitchFamily="18" charset="-34"/>
              </a:rPr>
              <a:t>Conflo Segment </a:t>
            </a:r>
            <a:endParaRPr lang="th-TH" altLang="en-US" sz="2000" b="1">
              <a:solidFill>
                <a:srgbClr val="FF0000"/>
              </a:solidFill>
              <a:latin typeface="Arial" panose="020B0604020202020204" pitchFamily="34" charset="0"/>
              <a:cs typeface="Angsana New" panose="02020603050405020304" pitchFamily="18" charset="-34"/>
            </a:endParaRPr>
          </a:p>
        </p:txBody>
      </p:sp>
    </p:spTree>
  </p:cSld>
  <p:clrMapOvr>
    <a:masterClrMapping/>
  </p:clrMapOvr>
  <p:transition/>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p:cNvSpPr>
            <a:spLocks noGrp="1" noChangeArrowheads="1"/>
          </p:cNvSpPr>
          <p:nvPr>
            <p:ph type="title"/>
          </p:nvPr>
        </p:nvSpPr>
        <p:spPr>
          <a:xfrm>
            <a:off x="179388" y="1485900"/>
            <a:ext cx="8840787" cy="3311525"/>
          </a:xfrm>
        </p:spPr>
        <p:txBody>
          <a:bodyPr/>
          <a:lstStyle/>
          <a:p>
            <a:pPr eaLnBrk="1" hangingPunct="1"/>
            <a:r>
              <a:rPr lang="en-US" altLang="en-US" sz="6600" b="1" smtClean="0">
                <a:solidFill>
                  <a:srgbClr val="FF0000"/>
                </a:solidFill>
                <a:latin typeface="Tahoma" panose="020B0604030504040204" pitchFamily="34" charset="0"/>
              </a:rPr>
              <a:t>SCP</a:t>
            </a:r>
            <a:br>
              <a:rPr lang="en-US" altLang="en-US" sz="6600" b="1" smtClean="0">
                <a:solidFill>
                  <a:srgbClr val="FF0000"/>
                </a:solidFill>
                <a:latin typeface="Tahoma" panose="020B0604030504040204" pitchFamily="34" charset="0"/>
              </a:rPr>
            </a:br>
            <a:r>
              <a:rPr lang="en-US" altLang="en-US" sz="4800" b="1" smtClean="0">
                <a:solidFill>
                  <a:srgbClr val="FF0000"/>
                </a:solidFill>
                <a:latin typeface="Tahoma" panose="020B0604030504040204" pitchFamily="34" charset="0"/>
              </a:rPr>
              <a:t>Pulp Characteristics</a:t>
            </a:r>
            <a:endParaRPr lang="th-TH" altLang="en-US" sz="4800" b="1" smtClean="0">
              <a:solidFill>
                <a:srgbClr val="FF0000"/>
              </a:solidFill>
              <a:latin typeface="Tahoma" panose="020B0604030504040204" pitchFamily="34" charset="0"/>
            </a:endParaRPr>
          </a:p>
        </p:txBody>
      </p:sp>
    </p:spTree>
  </p:cSld>
  <p:clrMapOvr>
    <a:masterClrMapping/>
  </p:clrMapOvr>
  <p:transition/>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1490" name="Picture 2" descr="smook006"/>
          <p:cNvPicPr>
            <a:picLocks noGrp="1" noChangeAspect="1" noChangeArrowheads="1"/>
          </p:cNvPicPr>
          <p:nvPr>
            <p:ph idx="1"/>
          </p:nvPr>
        </p:nvPicPr>
        <p:blipFill>
          <a:blip r:embed="rId2">
            <a:lum bright="-12000" contrast="12000"/>
            <a:extLst>
              <a:ext uri="{28A0092B-C50C-407E-A947-70E740481C1C}">
                <a14:useLocalDpi xmlns:a14="http://schemas.microsoft.com/office/drawing/2010/main" val="0"/>
              </a:ext>
            </a:extLst>
          </a:blip>
          <a:srcRect/>
          <a:stretch>
            <a:fillRect/>
          </a:stretch>
        </p:blipFill>
        <p:spPr>
          <a:xfrm>
            <a:off x="2065338" y="909638"/>
            <a:ext cx="4718050" cy="5832475"/>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91491" name="Line 3"/>
          <p:cNvSpPr>
            <a:spLocks noChangeShapeType="1"/>
          </p:cNvSpPr>
          <p:nvPr/>
        </p:nvSpPr>
        <p:spPr bwMode="auto">
          <a:xfrm flipV="1">
            <a:off x="5003800" y="2816225"/>
            <a:ext cx="0" cy="2592388"/>
          </a:xfrm>
          <a:prstGeom prst="line">
            <a:avLst/>
          </a:prstGeom>
          <a:noFill/>
          <a:ln w="63500">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1492" name="Text Box 4"/>
          <p:cNvSpPr txBox="1">
            <a:spLocks noChangeArrowheads="1"/>
          </p:cNvSpPr>
          <p:nvPr/>
        </p:nvSpPr>
        <p:spPr bwMode="auto">
          <a:xfrm>
            <a:off x="5148263" y="2708275"/>
            <a:ext cx="14398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000" b="1">
                <a:solidFill>
                  <a:srgbClr val="FF0000"/>
                </a:solidFill>
                <a:latin typeface="Arial" panose="020B0604020202020204" pitchFamily="34" charset="0"/>
                <a:cs typeface="Angsana New" panose="02020603050405020304" pitchFamily="18" charset="-34"/>
              </a:rPr>
              <a:t>SCP</a:t>
            </a:r>
            <a:endParaRPr lang="th-TH" altLang="en-US" sz="2000" b="1">
              <a:solidFill>
                <a:srgbClr val="FF0000"/>
              </a:solidFill>
              <a:latin typeface="Arial" panose="020B0604020202020204" pitchFamily="34" charset="0"/>
              <a:cs typeface="Angsana New" panose="02020603050405020304" pitchFamily="18" charset="-34"/>
            </a:endParaRPr>
          </a:p>
        </p:txBody>
      </p:sp>
      <p:sp>
        <p:nvSpPr>
          <p:cNvPr id="82949" name="Text Box 5"/>
          <p:cNvSpPr txBox="1">
            <a:spLocks noChangeArrowheads="1"/>
          </p:cNvSpPr>
          <p:nvPr/>
        </p:nvSpPr>
        <p:spPr bwMode="auto">
          <a:xfrm>
            <a:off x="3313113" y="5646738"/>
            <a:ext cx="2303462" cy="51911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800">
                <a:solidFill>
                  <a:srgbClr val="0000FF"/>
                </a:solidFill>
                <a:latin typeface="Arial" panose="020B0604020202020204" pitchFamily="34" charset="0"/>
                <a:cs typeface="Angsana New" panose="02020603050405020304" pitchFamily="18" charset="-34"/>
              </a:rPr>
              <a:t>Pulp Yield</a:t>
            </a:r>
            <a:endParaRPr lang="th-TH" altLang="en-US" sz="2800">
              <a:solidFill>
                <a:srgbClr val="0000FF"/>
              </a:solidFill>
              <a:latin typeface="Arial" panose="020B0604020202020204" pitchFamily="34" charset="0"/>
              <a:cs typeface="Angsana New" panose="02020603050405020304" pitchFamily="18" charset="-34"/>
            </a:endParaRPr>
          </a:p>
        </p:txBody>
      </p:sp>
      <p:sp>
        <p:nvSpPr>
          <p:cNvPr id="82950" name="AutoShape 6"/>
          <p:cNvSpPr>
            <a:spLocks noChangeArrowheads="1"/>
          </p:cNvSpPr>
          <p:nvPr/>
        </p:nvSpPr>
        <p:spPr bwMode="auto">
          <a:xfrm>
            <a:off x="1150938" y="2708275"/>
            <a:ext cx="323850" cy="719138"/>
          </a:xfrm>
          <a:prstGeom prst="upArrow">
            <a:avLst>
              <a:gd name="adj1" fmla="val 50000"/>
              <a:gd name="adj2" fmla="val 55515"/>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82951" name="Text Box 7"/>
          <p:cNvSpPr txBox="1">
            <a:spLocks noChangeArrowheads="1"/>
          </p:cNvSpPr>
          <p:nvPr/>
        </p:nvSpPr>
        <p:spPr bwMode="auto">
          <a:xfrm>
            <a:off x="431800" y="3644900"/>
            <a:ext cx="1727200" cy="9461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800">
                <a:solidFill>
                  <a:srgbClr val="0000FF"/>
                </a:solidFill>
                <a:latin typeface="Arial" panose="020B0604020202020204" pitchFamily="34" charset="0"/>
                <a:cs typeface="Angsana New" panose="02020603050405020304" pitchFamily="18" charset="-34"/>
              </a:rPr>
              <a:t>Pulp Strength</a:t>
            </a:r>
            <a:endParaRPr lang="th-TH" altLang="en-US" sz="2800">
              <a:solidFill>
                <a:srgbClr val="0000FF"/>
              </a:solidFill>
              <a:latin typeface="Arial" panose="020B0604020202020204" pitchFamily="34" charset="0"/>
              <a:cs typeface="Angsana New" panose="02020603050405020304" pitchFamily="18" charset="-34"/>
            </a:endParaRPr>
          </a:p>
        </p:txBody>
      </p:sp>
      <p:sp>
        <p:nvSpPr>
          <p:cNvPr id="191496" name="Rectangle 8"/>
          <p:cNvSpPr>
            <a:spLocks noChangeArrowheads="1"/>
          </p:cNvSpPr>
          <p:nvPr/>
        </p:nvSpPr>
        <p:spPr bwMode="auto">
          <a:xfrm>
            <a:off x="0" y="-26988"/>
            <a:ext cx="9144000" cy="755651"/>
          </a:xfrm>
          <a:prstGeom prst="rect">
            <a:avLst/>
          </a:prstGeom>
          <a:noFill/>
          <a:ln>
            <a:noFill/>
          </a:ln>
          <a:effectLst/>
          <a:extLst>
            <a:ext uri="{909E8E84-426E-40DD-AFC4-6F175D3DCCD1}">
              <a14:hiddenFill xmlns:a14="http://schemas.microsoft.com/office/drawing/2010/main">
                <a:solidFill>
                  <a:srgbClr val="00008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th-TH" altLang="en-US" b="1">
                <a:solidFill>
                  <a:srgbClr val="FF0000"/>
                </a:solidFill>
                <a:latin typeface="Tahoma" panose="020B0604030504040204" pitchFamily="34" charset="0"/>
                <a:cs typeface="Tahoma" panose="020B0604030504040204" pitchFamily="34" charset="0"/>
              </a:rPr>
              <a:t> </a:t>
            </a:r>
            <a:r>
              <a:rPr lang="en-US" altLang="en-US" b="1">
                <a:solidFill>
                  <a:srgbClr val="FF0000"/>
                </a:solidFill>
                <a:latin typeface="Tahoma" panose="020B0604030504040204" pitchFamily="34" charset="0"/>
                <a:cs typeface="Tahoma" panose="020B0604030504040204" pitchFamily="34" charset="0"/>
              </a:rPr>
              <a:t>Pulp Yield vs </a:t>
            </a:r>
            <a:r>
              <a:rPr lang="th-TH" altLang="en-US" b="1">
                <a:solidFill>
                  <a:srgbClr val="FF0000"/>
                </a:solidFill>
                <a:latin typeface="Tahoma" panose="020B0604030504040204" pitchFamily="34" charset="0"/>
                <a:cs typeface="Tahoma" panose="020B0604030504040204" pitchFamily="34" charset="0"/>
              </a:rPr>
              <a:t>คุณสมบัติเยื่อ</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82949"/>
                                        </p:tgtEl>
                                        <p:attrNameLst>
                                          <p:attrName>style.visibility</p:attrName>
                                        </p:attrNameLst>
                                      </p:cBhvr>
                                      <p:to>
                                        <p:strVal val="visible"/>
                                      </p:to>
                                    </p:set>
                                    <p:animEffect transition="in" filter="wipe(right)">
                                      <p:cBhvr>
                                        <p:cTn id="7" dur="500"/>
                                        <p:tgtEl>
                                          <p:spTgt spid="8294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82950"/>
                                        </p:tgtEl>
                                        <p:attrNameLst>
                                          <p:attrName>style.visibility</p:attrName>
                                        </p:attrNameLst>
                                      </p:cBhvr>
                                      <p:to>
                                        <p:strVal val="visible"/>
                                      </p:to>
                                    </p:set>
                                    <p:animEffect transition="in" filter="wipe(down)">
                                      <p:cBhvr>
                                        <p:cTn id="12" dur="500"/>
                                        <p:tgtEl>
                                          <p:spTgt spid="82950"/>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82951"/>
                                        </p:tgtEl>
                                        <p:attrNameLst>
                                          <p:attrName>style.visibility</p:attrName>
                                        </p:attrNameLst>
                                      </p:cBhvr>
                                      <p:to>
                                        <p:strVal val="visible"/>
                                      </p:to>
                                    </p:set>
                                    <p:animEffect transition="in" filter="wipe(down)">
                                      <p:cBhvr>
                                        <p:cTn id="15" dur="500"/>
                                        <p:tgtEl>
                                          <p:spTgt spid="829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9" grpId="0" animBg="1"/>
      <p:bldP spid="82950" grpId="0" animBg="1"/>
      <p:bldP spid="82951" grpId="0" animBg="1"/>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2514" name="Picture 2" descr="CTMP Quality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7338" y="1179513"/>
            <a:ext cx="8461375" cy="523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2515" name="Line 3"/>
          <p:cNvSpPr>
            <a:spLocks noChangeShapeType="1"/>
          </p:cNvSpPr>
          <p:nvPr/>
        </p:nvSpPr>
        <p:spPr bwMode="auto">
          <a:xfrm>
            <a:off x="2087563" y="4005263"/>
            <a:ext cx="3132137" cy="1044575"/>
          </a:xfrm>
          <a:prstGeom prst="line">
            <a:avLst/>
          </a:prstGeom>
          <a:noFill/>
          <a:ln w="635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2516" name="Text Box 4"/>
          <p:cNvSpPr txBox="1">
            <a:spLocks noChangeArrowheads="1"/>
          </p:cNvSpPr>
          <p:nvPr/>
        </p:nvSpPr>
        <p:spPr bwMode="auto">
          <a:xfrm>
            <a:off x="3419475" y="4833938"/>
            <a:ext cx="21971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800" b="1">
                <a:solidFill>
                  <a:srgbClr val="FF0000"/>
                </a:solidFill>
                <a:latin typeface="Arial" panose="020B0604020202020204" pitchFamily="34" charset="0"/>
                <a:cs typeface="Angsana New" panose="02020603050405020304" pitchFamily="18" charset="-34"/>
              </a:rPr>
              <a:t>SCP</a:t>
            </a:r>
            <a:endParaRPr lang="th-TH" altLang="en-US" sz="1800" b="1">
              <a:solidFill>
                <a:srgbClr val="FF0000"/>
              </a:solidFill>
              <a:latin typeface="Arial" panose="020B0604020202020204" pitchFamily="34" charset="0"/>
              <a:cs typeface="Angsana New" panose="02020603050405020304" pitchFamily="18" charset="-34"/>
            </a:endParaRPr>
          </a:p>
        </p:txBody>
      </p:sp>
      <p:sp>
        <p:nvSpPr>
          <p:cNvPr id="192517" name="Freeform 5"/>
          <p:cNvSpPr>
            <a:spLocks/>
          </p:cNvSpPr>
          <p:nvPr/>
        </p:nvSpPr>
        <p:spPr bwMode="auto">
          <a:xfrm>
            <a:off x="2324100" y="2838450"/>
            <a:ext cx="2005013" cy="866775"/>
          </a:xfrm>
          <a:custGeom>
            <a:avLst/>
            <a:gdLst>
              <a:gd name="T0" fmla="*/ 0 w 1263"/>
              <a:gd name="T1" fmla="*/ 2147483646 h 546"/>
              <a:gd name="T2" fmla="*/ 2147483646 w 1263"/>
              <a:gd name="T3" fmla="*/ 0 h 546"/>
              <a:gd name="T4" fmla="*/ 2147483646 w 1263"/>
              <a:gd name="T5" fmla="*/ 2147483646 h 546"/>
              <a:gd name="T6" fmla="*/ 2147483646 w 1263"/>
              <a:gd name="T7" fmla="*/ 2147483646 h 546"/>
              <a:gd name="T8" fmla="*/ 2147483646 w 1263"/>
              <a:gd name="T9" fmla="*/ 2147483646 h 546"/>
              <a:gd name="T10" fmla="*/ 2147483646 w 1263"/>
              <a:gd name="T11" fmla="*/ 2147483646 h 546"/>
              <a:gd name="T12" fmla="*/ 2147483646 w 1263"/>
              <a:gd name="T13" fmla="*/ 2147483646 h 546"/>
              <a:gd name="T14" fmla="*/ 2147483646 w 1263"/>
              <a:gd name="T15" fmla="*/ 2147483646 h 546"/>
              <a:gd name="T16" fmla="*/ 2147483646 w 1263"/>
              <a:gd name="T17" fmla="*/ 2147483646 h 546"/>
              <a:gd name="T18" fmla="*/ 2147483646 w 1263"/>
              <a:gd name="T19" fmla="*/ 2147483646 h 546"/>
              <a:gd name="T20" fmla="*/ 2147483646 w 1263"/>
              <a:gd name="T21" fmla="*/ 2147483646 h 546"/>
              <a:gd name="T22" fmla="*/ 2147483646 w 1263"/>
              <a:gd name="T23" fmla="*/ 2147483646 h 546"/>
              <a:gd name="T24" fmla="*/ 2147483646 w 1263"/>
              <a:gd name="T25" fmla="*/ 2147483646 h 546"/>
              <a:gd name="T26" fmla="*/ 2147483646 w 1263"/>
              <a:gd name="T27" fmla="*/ 2147483646 h 546"/>
              <a:gd name="T28" fmla="*/ 2147483646 w 1263"/>
              <a:gd name="T29" fmla="*/ 2147483646 h 546"/>
              <a:gd name="T30" fmla="*/ 2147483646 w 1263"/>
              <a:gd name="T31" fmla="*/ 2147483646 h 546"/>
              <a:gd name="T32" fmla="*/ 2147483646 w 1263"/>
              <a:gd name="T33" fmla="*/ 2147483646 h 546"/>
              <a:gd name="T34" fmla="*/ 2147483646 w 1263"/>
              <a:gd name="T35" fmla="*/ 2147483646 h 546"/>
              <a:gd name="T36" fmla="*/ 2147483646 w 1263"/>
              <a:gd name="T37" fmla="*/ 2147483646 h 546"/>
              <a:gd name="T38" fmla="*/ 2147483646 w 1263"/>
              <a:gd name="T39" fmla="*/ 2147483646 h 546"/>
              <a:gd name="T40" fmla="*/ 2147483646 w 1263"/>
              <a:gd name="T41" fmla="*/ 2147483646 h 546"/>
              <a:gd name="T42" fmla="*/ 2147483646 w 1263"/>
              <a:gd name="T43" fmla="*/ 2147483646 h 546"/>
              <a:gd name="T44" fmla="*/ 2147483646 w 1263"/>
              <a:gd name="T45" fmla="*/ 2147483646 h 546"/>
              <a:gd name="T46" fmla="*/ 2147483646 w 1263"/>
              <a:gd name="T47" fmla="*/ 2147483646 h 546"/>
              <a:gd name="T48" fmla="*/ 2147483646 w 1263"/>
              <a:gd name="T49" fmla="*/ 2147483646 h 546"/>
              <a:gd name="T50" fmla="*/ 2147483646 w 1263"/>
              <a:gd name="T51" fmla="*/ 2147483646 h 546"/>
              <a:gd name="T52" fmla="*/ 2147483646 w 1263"/>
              <a:gd name="T53" fmla="*/ 2147483646 h 546"/>
              <a:gd name="T54" fmla="*/ 2147483646 w 1263"/>
              <a:gd name="T55" fmla="*/ 2147483646 h 546"/>
              <a:gd name="T56" fmla="*/ 2147483646 w 1263"/>
              <a:gd name="T57" fmla="*/ 2147483646 h 546"/>
              <a:gd name="T58" fmla="*/ 2147483646 w 1263"/>
              <a:gd name="T59" fmla="*/ 2147483646 h 546"/>
              <a:gd name="T60" fmla="*/ 2147483646 w 1263"/>
              <a:gd name="T61" fmla="*/ 2147483646 h 54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1263" h="546">
                <a:moveTo>
                  <a:pt x="0" y="9"/>
                </a:moveTo>
                <a:cubicBezTo>
                  <a:pt x="20" y="7"/>
                  <a:pt x="37" y="4"/>
                  <a:pt x="57" y="0"/>
                </a:cubicBezTo>
                <a:cubicBezTo>
                  <a:pt x="95" y="4"/>
                  <a:pt x="129" y="13"/>
                  <a:pt x="168" y="15"/>
                </a:cubicBezTo>
                <a:cubicBezTo>
                  <a:pt x="193" y="22"/>
                  <a:pt x="218" y="29"/>
                  <a:pt x="243" y="33"/>
                </a:cubicBezTo>
                <a:cubicBezTo>
                  <a:pt x="282" y="59"/>
                  <a:pt x="244" y="36"/>
                  <a:pt x="360" y="42"/>
                </a:cubicBezTo>
                <a:cubicBezTo>
                  <a:pt x="377" y="43"/>
                  <a:pt x="399" y="59"/>
                  <a:pt x="417" y="63"/>
                </a:cubicBezTo>
                <a:cubicBezTo>
                  <a:pt x="427" y="69"/>
                  <a:pt x="450" y="75"/>
                  <a:pt x="450" y="75"/>
                </a:cubicBezTo>
                <a:cubicBezTo>
                  <a:pt x="456" y="79"/>
                  <a:pt x="461" y="86"/>
                  <a:pt x="468" y="90"/>
                </a:cubicBezTo>
                <a:cubicBezTo>
                  <a:pt x="477" y="95"/>
                  <a:pt x="491" y="95"/>
                  <a:pt x="501" y="99"/>
                </a:cubicBezTo>
                <a:cubicBezTo>
                  <a:pt x="527" y="109"/>
                  <a:pt x="552" y="116"/>
                  <a:pt x="579" y="123"/>
                </a:cubicBezTo>
                <a:cubicBezTo>
                  <a:pt x="588" y="125"/>
                  <a:pt x="597" y="127"/>
                  <a:pt x="606" y="129"/>
                </a:cubicBezTo>
                <a:cubicBezTo>
                  <a:pt x="612" y="131"/>
                  <a:pt x="624" y="135"/>
                  <a:pt x="624" y="135"/>
                </a:cubicBezTo>
                <a:cubicBezTo>
                  <a:pt x="640" y="147"/>
                  <a:pt x="654" y="159"/>
                  <a:pt x="672" y="165"/>
                </a:cubicBezTo>
                <a:cubicBezTo>
                  <a:pt x="694" y="187"/>
                  <a:pt x="726" y="195"/>
                  <a:pt x="756" y="198"/>
                </a:cubicBezTo>
                <a:cubicBezTo>
                  <a:pt x="767" y="202"/>
                  <a:pt x="776" y="204"/>
                  <a:pt x="786" y="210"/>
                </a:cubicBezTo>
                <a:cubicBezTo>
                  <a:pt x="796" y="217"/>
                  <a:pt x="804" y="229"/>
                  <a:pt x="816" y="231"/>
                </a:cubicBezTo>
                <a:cubicBezTo>
                  <a:pt x="828" y="233"/>
                  <a:pt x="835" y="234"/>
                  <a:pt x="846" y="240"/>
                </a:cubicBezTo>
                <a:cubicBezTo>
                  <a:pt x="869" y="253"/>
                  <a:pt x="847" y="246"/>
                  <a:pt x="870" y="255"/>
                </a:cubicBezTo>
                <a:cubicBezTo>
                  <a:pt x="876" y="257"/>
                  <a:pt x="888" y="261"/>
                  <a:pt x="888" y="261"/>
                </a:cubicBezTo>
                <a:cubicBezTo>
                  <a:pt x="892" y="265"/>
                  <a:pt x="895" y="270"/>
                  <a:pt x="900" y="273"/>
                </a:cubicBezTo>
                <a:cubicBezTo>
                  <a:pt x="903" y="275"/>
                  <a:pt x="907" y="274"/>
                  <a:pt x="909" y="276"/>
                </a:cubicBezTo>
                <a:cubicBezTo>
                  <a:pt x="926" y="290"/>
                  <a:pt x="938" y="314"/>
                  <a:pt x="960" y="321"/>
                </a:cubicBezTo>
                <a:cubicBezTo>
                  <a:pt x="973" y="338"/>
                  <a:pt x="993" y="353"/>
                  <a:pt x="1014" y="360"/>
                </a:cubicBezTo>
                <a:cubicBezTo>
                  <a:pt x="1028" y="382"/>
                  <a:pt x="1052" y="389"/>
                  <a:pt x="1074" y="402"/>
                </a:cubicBezTo>
                <a:cubicBezTo>
                  <a:pt x="1083" y="408"/>
                  <a:pt x="1104" y="417"/>
                  <a:pt x="1104" y="417"/>
                </a:cubicBezTo>
                <a:cubicBezTo>
                  <a:pt x="1107" y="421"/>
                  <a:pt x="1109" y="426"/>
                  <a:pt x="1113" y="429"/>
                </a:cubicBezTo>
                <a:cubicBezTo>
                  <a:pt x="1115" y="431"/>
                  <a:pt x="1120" y="430"/>
                  <a:pt x="1122" y="432"/>
                </a:cubicBezTo>
                <a:cubicBezTo>
                  <a:pt x="1134" y="442"/>
                  <a:pt x="1139" y="457"/>
                  <a:pt x="1155" y="462"/>
                </a:cubicBezTo>
                <a:cubicBezTo>
                  <a:pt x="1169" y="484"/>
                  <a:pt x="1200" y="498"/>
                  <a:pt x="1221" y="516"/>
                </a:cubicBezTo>
                <a:cubicBezTo>
                  <a:pt x="1229" y="523"/>
                  <a:pt x="1251" y="531"/>
                  <a:pt x="1251" y="531"/>
                </a:cubicBezTo>
                <a:cubicBezTo>
                  <a:pt x="1262" y="542"/>
                  <a:pt x="1258" y="536"/>
                  <a:pt x="1263" y="546"/>
                </a:cubicBezTo>
              </a:path>
            </a:pathLst>
          </a:custGeom>
          <a:noFill/>
          <a:ln w="6350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2518" name="Text Box 6"/>
          <p:cNvSpPr txBox="1">
            <a:spLocks noChangeArrowheads="1"/>
          </p:cNvSpPr>
          <p:nvPr/>
        </p:nvSpPr>
        <p:spPr bwMode="auto">
          <a:xfrm>
            <a:off x="3454400" y="2636838"/>
            <a:ext cx="2197100" cy="36671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800" b="1">
                <a:solidFill>
                  <a:srgbClr val="0000FF"/>
                </a:solidFill>
                <a:latin typeface="Arial" panose="020B0604020202020204" pitchFamily="34" charset="0"/>
                <a:cs typeface="Angsana New" panose="02020603050405020304" pitchFamily="18" charset="-34"/>
              </a:rPr>
              <a:t>SCL</a:t>
            </a:r>
            <a:endParaRPr lang="th-TH" altLang="en-US" sz="1800" b="1">
              <a:solidFill>
                <a:srgbClr val="0000FF"/>
              </a:solidFill>
              <a:latin typeface="Arial" panose="020B0604020202020204" pitchFamily="34" charset="0"/>
              <a:cs typeface="Angsana New" panose="02020603050405020304" pitchFamily="18" charset="-34"/>
            </a:endParaRPr>
          </a:p>
        </p:txBody>
      </p:sp>
      <p:sp>
        <p:nvSpPr>
          <p:cNvPr id="192519" name="Rectangle 7"/>
          <p:cNvSpPr>
            <a:spLocks noChangeArrowheads="1"/>
          </p:cNvSpPr>
          <p:nvPr/>
        </p:nvSpPr>
        <p:spPr bwMode="auto">
          <a:xfrm>
            <a:off x="0" y="-26988"/>
            <a:ext cx="9144000" cy="755651"/>
          </a:xfrm>
          <a:prstGeom prst="rect">
            <a:avLst/>
          </a:prstGeom>
          <a:noFill/>
          <a:ln>
            <a:noFill/>
          </a:ln>
          <a:effectLst/>
          <a:extLst>
            <a:ext uri="{909E8E84-426E-40DD-AFC4-6F175D3DCCD1}">
              <a14:hiddenFill xmlns:a14="http://schemas.microsoft.com/office/drawing/2010/main">
                <a:solidFill>
                  <a:srgbClr val="00008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th-TH" altLang="en-US" b="1">
                <a:solidFill>
                  <a:srgbClr val="FF0000"/>
                </a:solidFill>
                <a:latin typeface="Tahoma" panose="020B0604030504040204" pitchFamily="34" charset="0"/>
                <a:cs typeface="Tahoma" panose="020B0604030504040204" pitchFamily="34" charset="0"/>
              </a:rPr>
              <a:t> คุณสมบัติเยื่อ </a:t>
            </a:r>
            <a:r>
              <a:rPr lang="en-US" altLang="en-US" b="1">
                <a:solidFill>
                  <a:srgbClr val="FF0000"/>
                </a:solidFill>
                <a:latin typeface="Tahoma" panose="020B0604030504040204" pitchFamily="34" charset="0"/>
                <a:cs typeface="Tahoma" panose="020B0604030504040204" pitchFamily="34" charset="0"/>
              </a:rPr>
              <a:t>SCP</a:t>
            </a:r>
            <a:endParaRPr lang="th-TH" altLang="en-US" b="1">
              <a:solidFill>
                <a:srgbClr val="FF0000"/>
              </a:solidFill>
              <a:latin typeface="Tahoma" panose="020B0604030504040204" pitchFamily="34" charset="0"/>
              <a:cs typeface="Tahoma" panose="020B0604030504040204" pitchFamily="34" charset="0"/>
            </a:endParaRPr>
          </a:p>
        </p:txBody>
      </p:sp>
    </p:spTree>
  </p:cSld>
  <p:clrMapOvr>
    <a:masterClrMapping/>
  </p:clrMapOvr>
  <p:transition/>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3538" name="Picture 2" descr="CTMP Quality0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3238" y="1327150"/>
            <a:ext cx="8424862" cy="482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3539" name="Freeform 3"/>
          <p:cNvSpPr>
            <a:spLocks/>
          </p:cNvSpPr>
          <p:nvPr/>
        </p:nvSpPr>
        <p:spPr bwMode="auto">
          <a:xfrm>
            <a:off x="2552700" y="2500313"/>
            <a:ext cx="1909763" cy="1371600"/>
          </a:xfrm>
          <a:custGeom>
            <a:avLst/>
            <a:gdLst>
              <a:gd name="T0" fmla="*/ 0 w 1203"/>
              <a:gd name="T1" fmla="*/ 0 h 864"/>
              <a:gd name="T2" fmla="*/ 2147483646 w 1203"/>
              <a:gd name="T3" fmla="*/ 2147483646 h 864"/>
              <a:gd name="T4" fmla="*/ 2147483646 w 1203"/>
              <a:gd name="T5" fmla="*/ 2147483646 h 864"/>
              <a:gd name="T6" fmla="*/ 2147483646 w 1203"/>
              <a:gd name="T7" fmla="*/ 2147483646 h 864"/>
              <a:gd name="T8" fmla="*/ 2147483646 w 1203"/>
              <a:gd name="T9" fmla="*/ 2147483646 h 864"/>
              <a:gd name="T10" fmla="*/ 2147483646 w 1203"/>
              <a:gd name="T11" fmla="*/ 2147483646 h 864"/>
              <a:gd name="T12" fmla="*/ 2147483646 w 1203"/>
              <a:gd name="T13" fmla="*/ 2147483646 h 864"/>
              <a:gd name="T14" fmla="*/ 2147483646 w 1203"/>
              <a:gd name="T15" fmla="*/ 2147483646 h 864"/>
              <a:gd name="T16" fmla="*/ 2147483646 w 1203"/>
              <a:gd name="T17" fmla="*/ 2147483646 h 864"/>
              <a:gd name="T18" fmla="*/ 2147483646 w 1203"/>
              <a:gd name="T19" fmla="*/ 2147483646 h 864"/>
              <a:gd name="T20" fmla="*/ 2147483646 w 1203"/>
              <a:gd name="T21" fmla="*/ 2147483646 h 864"/>
              <a:gd name="T22" fmla="*/ 2147483646 w 1203"/>
              <a:gd name="T23" fmla="*/ 2147483646 h 864"/>
              <a:gd name="T24" fmla="*/ 2147483646 w 1203"/>
              <a:gd name="T25" fmla="*/ 2147483646 h 864"/>
              <a:gd name="T26" fmla="*/ 2147483646 w 1203"/>
              <a:gd name="T27" fmla="*/ 2147483646 h 864"/>
              <a:gd name="T28" fmla="*/ 2147483646 w 1203"/>
              <a:gd name="T29" fmla="*/ 2147483646 h 864"/>
              <a:gd name="T30" fmla="*/ 2147483646 w 1203"/>
              <a:gd name="T31" fmla="*/ 2147483646 h 864"/>
              <a:gd name="T32" fmla="*/ 2147483646 w 1203"/>
              <a:gd name="T33" fmla="*/ 2147483646 h 864"/>
              <a:gd name="T34" fmla="*/ 2147483646 w 1203"/>
              <a:gd name="T35" fmla="*/ 2147483646 h 864"/>
              <a:gd name="T36" fmla="*/ 2147483646 w 1203"/>
              <a:gd name="T37" fmla="*/ 2147483646 h 864"/>
              <a:gd name="T38" fmla="*/ 2147483646 w 1203"/>
              <a:gd name="T39" fmla="*/ 2147483646 h 864"/>
              <a:gd name="T40" fmla="*/ 2147483646 w 1203"/>
              <a:gd name="T41" fmla="*/ 2147483646 h 864"/>
              <a:gd name="T42" fmla="*/ 2147483646 w 1203"/>
              <a:gd name="T43" fmla="*/ 2147483646 h 864"/>
              <a:gd name="T44" fmla="*/ 2147483646 w 1203"/>
              <a:gd name="T45" fmla="*/ 2147483646 h 864"/>
              <a:gd name="T46" fmla="*/ 2147483646 w 1203"/>
              <a:gd name="T47" fmla="*/ 2147483646 h 86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203" h="864">
                <a:moveTo>
                  <a:pt x="0" y="0"/>
                </a:moveTo>
                <a:cubicBezTo>
                  <a:pt x="17" y="6"/>
                  <a:pt x="27" y="21"/>
                  <a:pt x="39" y="33"/>
                </a:cubicBezTo>
                <a:cubicBezTo>
                  <a:pt x="44" y="38"/>
                  <a:pt x="63" y="41"/>
                  <a:pt x="69" y="42"/>
                </a:cubicBezTo>
                <a:cubicBezTo>
                  <a:pt x="90" y="56"/>
                  <a:pt x="80" y="52"/>
                  <a:pt x="96" y="57"/>
                </a:cubicBezTo>
                <a:cubicBezTo>
                  <a:pt x="119" y="80"/>
                  <a:pt x="151" y="118"/>
                  <a:pt x="183" y="126"/>
                </a:cubicBezTo>
                <a:cubicBezTo>
                  <a:pt x="202" y="140"/>
                  <a:pt x="226" y="148"/>
                  <a:pt x="249" y="153"/>
                </a:cubicBezTo>
                <a:cubicBezTo>
                  <a:pt x="269" y="162"/>
                  <a:pt x="284" y="180"/>
                  <a:pt x="303" y="186"/>
                </a:cubicBezTo>
                <a:cubicBezTo>
                  <a:pt x="317" y="207"/>
                  <a:pt x="342" y="217"/>
                  <a:pt x="363" y="231"/>
                </a:cubicBezTo>
                <a:cubicBezTo>
                  <a:pt x="373" y="238"/>
                  <a:pt x="371" y="241"/>
                  <a:pt x="378" y="249"/>
                </a:cubicBezTo>
                <a:cubicBezTo>
                  <a:pt x="389" y="262"/>
                  <a:pt x="427" y="295"/>
                  <a:pt x="441" y="303"/>
                </a:cubicBezTo>
                <a:cubicBezTo>
                  <a:pt x="459" y="313"/>
                  <a:pt x="477" y="326"/>
                  <a:pt x="495" y="336"/>
                </a:cubicBezTo>
                <a:cubicBezTo>
                  <a:pt x="501" y="339"/>
                  <a:pt x="513" y="342"/>
                  <a:pt x="513" y="342"/>
                </a:cubicBezTo>
                <a:cubicBezTo>
                  <a:pt x="533" y="357"/>
                  <a:pt x="560" y="363"/>
                  <a:pt x="582" y="375"/>
                </a:cubicBezTo>
                <a:cubicBezTo>
                  <a:pt x="600" y="385"/>
                  <a:pt x="613" y="401"/>
                  <a:pt x="630" y="411"/>
                </a:cubicBezTo>
                <a:cubicBezTo>
                  <a:pt x="678" y="437"/>
                  <a:pt x="723" y="471"/>
                  <a:pt x="765" y="507"/>
                </a:cubicBezTo>
                <a:cubicBezTo>
                  <a:pt x="795" y="532"/>
                  <a:pt x="825" y="556"/>
                  <a:pt x="855" y="582"/>
                </a:cubicBezTo>
                <a:cubicBezTo>
                  <a:pt x="861" y="587"/>
                  <a:pt x="867" y="592"/>
                  <a:pt x="873" y="597"/>
                </a:cubicBezTo>
                <a:cubicBezTo>
                  <a:pt x="879" y="601"/>
                  <a:pt x="891" y="609"/>
                  <a:pt x="891" y="609"/>
                </a:cubicBezTo>
                <a:cubicBezTo>
                  <a:pt x="906" y="632"/>
                  <a:pt x="933" y="641"/>
                  <a:pt x="954" y="657"/>
                </a:cubicBezTo>
                <a:cubicBezTo>
                  <a:pt x="968" y="668"/>
                  <a:pt x="978" y="681"/>
                  <a:pt x="996" y="687"/>
                </a:cubicBezTo>
                <a:cubicBezTo>
                  <a:pt x="1020" y="711"/>
                  <a:pt x="1040" y="731"/>
                  <a:pt x="1068" y="750"/>
                </a:cubicBezTo>
                <a:cubicBezTo>
                  <a:pt x="1083" y="773"/>
                  <a:pt x="1130" y="815"/>
                  <a:pt x="1152" y="837"/>
                </a:cubicBezTo>
                <a:cubicBezTo>
                  <a:pt x="1160" y="845"/>
                  <a:pt x="1169" y="853"/>
                  <a:pt x="1179" y="858"/>
                </a:cubicBezTo>
                <a:cubicBezTo>
                  <a:pt x="1187" y="861"/>
                  <a:pt x="1203" y="864"/>
                  <a:pt x="1203" y="864"/>
                </a:cubicBezTo>
              </a:path>
            </a:pathLst>
          </a:custGeom>
          <a:noFill/>
          <a:ln w="6350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3540" name="Text Box 4"/>
          <p:cNvSpPr txBox="1">
            <a:spLocks noChangeArrowheads="1"/>
          </p:cNvSpPr>
          <p:nvPr/>
        </p:nvSpPr>
        <p:spPr bwMode="auto">
          <a:xfrm>
            <a:off x="3563938" y="2636838"/>
            <a:ext cx="1223962"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000" b="1">
                <a:solidFill>
                  <a:srgbClr val="0000FF"/>
                </a:solidFill>
                <a:latin typeface="Arial" panose="020B0604020202020204" pitchFamily="34" charset="0"/>
                <a:cs typeface="Angsana New" panose="02020603050405020304" pitchFamily="18" charset="-34"/>
              </a:rPr>
              <a:t>SCL</a:t>
            </a:r>
            <a:endParaRPr lang="th-TH" altLang="en-US" sz="2000" b="1">
              <a:solidFill>
                <a:srgbClr val="0000FF"/>
              </a:solidFill>
              <a:latin typeface="Arial" panose="020B0604020202020204" pitchFamily="34" charset="0"/>
              <a:cs typeface="Angsana New" panose="02020603050405020304" pitchFamily="18" charset="-34"/>
            </a:endParaRPr>
          </a:p>
        </p:txBody>
      </p:sp>
      <p:sp>
        <p:nvSpPr>
          <p:cNvPr id="193541" name="Freeform 5"/>
          <p:cNvSpPr>
            <a:spLocks/>
          </p:cNvSpPr>
          <p:nvPr/>
        </p:nvSpPr>
        <p:spPr bwMode="auto">
          <a:xfrm>
            <a:off x="2338388" y="4419600"/>
            <a:ext cx="3019425" cy="738188"/>
          </a:xfrm>
          <a:custGeom>
            <a:avLst/>
            <a:gdLst>
              <a:gd name="T0" fmla="*/ 0 w 1902"/>
              <a:gd name="T1" fmla="*/ 2147483646 h 465"/>
              <a:gd name="T2" fmla="*/ 2147483646 w 1902"/>
              <a:gd name="T3" fmla="*/ 2147483646 h 465"/>
              <a:gd name="T4" fmla="*/ 2147483646 w 1902"/>
              <a:gd name="T5" fmla="*/ 2147483646 h 465"/>
              <a:gd name="T6" fmla="*/ 2147483646 w 1902"/>
              <a:gd name="T7" fmla="*/ 2147483646 h 465"/>
              <a:gd name="T8" fmla="*/ 2147483646 w 1902"/>
              <a:gd name="T9" fmla="*/ 2147483646 h 465"/>
              <a:gd name="T10" fmla="*/ 2147483646 w 1902"/>
              <a:gd name="T11" fmla="*/ 2147483646 h 465"/>
              <a:gd name="T12" fmla="*/ 2147483646 w 1902"/>
              <a:gd name="T13" fmla="*/ 2147483646 h 465"/>
              <a:gd name="T14" fmla="*/ 2147483646 w 1902"/>
              <a:gd name="T15" fmla="*/ 2147483646 h 465"/>
              <a:gd name="T16" fmla="*/ 2147483646 w 1902"/>
              <a:gd name="T17" fmla="*/ 2147483646 h 465"/>
              <a:gd name="T18" fmla="*/ 2147483646 w 1902"/>
              <a:gd name="T19" fmla="*/ 2147483646 h 465"/>
              <a:gd name="T20" fmla="*/ 2147483646 w 1902"/>
              <a:gd name="T21" fmla="*/ 2147483646 h 465"/>
              <a:gd name="T22" fmla="*/ 2147483646 w 1902"/>
              <a:gd name="T23" fmla="*/ 2147483646 h 465"/>
              <a:gd name="T24" fmla="*/ 2147483646 w 1902"/>
              <a:gd name="T25" fmla="*/ 2147483646 h 465"/>
              <a:gd name="T26" fmla="*/ 2147483646 w 1902"/>
              <a:gd name="T27" fmla="*/ 2147483646 h 465"/>
              <a:gd name="T28" fmla="*/ 2147483646 w 1902"/>
              <a:gd name="T29" fmla="*/ 2147483646 h 465"/>
              <a:gd name="T30" fmla="*/ 2147483646 w 1902"/>
              <a:gd name="T31" fmla="*/ 2147483646 h 465"/>
              <a:gd name="T32" fmla="*/ 2147483646 w 1902"/>
              <a:gd name="T33" fmla="*/ 2147483646 h 465"/>
              <a:gd name="T34" fmla="*/ 2147483646 w 1902"/>
              <a:gd name="T35" fmla="*/ 2147483646 h 465"/>
              <a:gd name="T36" fmla="*/ 2147483646 w 1902"/>
              <a:gd name="T37" fmla="*/ 2147483646 h 465"/>
              <a:gd name="T38" fmla="*/ 2147483646 w 1902"/>
              <a:gd name="T39" fmla="*/ 2147483646 h 465"/>
              <a:gd name="T40" fmla="*/ 2147483646 w 1902"/>
              <a:gd name="T41" fmla="*/ 2147483646 h 465"/>
              <a:gd name="T42" fmla="*/ 2147483646 w 1902"/>
              <a:gd name="T43" fmla="*/ 2147483646 h 465"/>
              <a:gd name="T44" fmla="*/ 2147483646 w 1902"/>
              <a:gd name="T45" fmla="*/ 2147483646 h 46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902" h="465">
                <a:moveTo>
                  <a:pt x="0" y="3"/>
                </a:moveTo>
                <a:cubicBezTo>
                  <a:pt x="42" y="17"/>
                  <a:pt x="0" y="0"/>
                  <a:pt x="27" y="18"/>
                </a:cubicBezTo>
                <a:cubicBezTo>
                  <a:pt x="30" y="20"/>
                  <a:pt x="46" y="23"/>
                  <a:pt x="48" y="24"/>
                </a:cubicBezTo>
                <a:cubicBezTo>
                  <a:pt x="78" y="35"/>
                  <a:pt x="110" y="51"/>
                  <a:pt x="141" y="60"/>
                </a:cubicBezTo>
                <a:cubicBezTo>
                  <a:pt x="153" y="63"/>
                  <a:pt x="158" y="61"/>
                  <a:pt x="168" y="66"/>
                </a:cubicBezTo>
                <a:cubicBezTo>
                  <a:pt x="199" y="82"/>
                  <a:pt x="232" y="92"/>
                  <a:pt x="264" y="105"/>
                </a:cubicBezTo>
                <a:cubicBezTo>
                  <a:pt x="282" y="113"/>
                  <a:pt x="286" y="118"/>
                  <a:pt x="303" y="123"/>
                </a:cubicBezTo>
                <a:cubicBezTo>
                  <a:pt x="349" y="137"/>
                  <a:pt x="394" y="153"/>
                  <a:pt x="441" y="165"/>
                </a:cubicBezTo>
                <a:cubicBezTo>
                  <a:pt x="450" y="167"/>
                  <a:pt x="456" y="175"/>
                  <a:pt x="465" y="177"/>
                </a:cubicBezTo>
                <a:cubicBezTo>
                  <a:pt x="492" y="182"/>
                  <a:pt x="523" y="186"/>
                  <a:pt x="549" y="195"/>
                </a:cubicBezTo>
                <a:cubicBezTo>
                  <a:pt x="568" y="201"/>
                  <a:pt x="586" y="210"/>
                  <a:pt x="606" y="213"/>
                </a:cubicBezTo>
                <a:cubicBezTo>
                  <a:pt x="624" y="222"/>
                  <a:pt x="640" y="225"/>
                  <a:pt x="660" y="228"/>
                </a:cubicBezTo>
                <a:cubicBezTo>
                  <a:pt x="676" y="236"/>
                  <a:pt x="691" y="242"/>
                  <a:pt x="708" y="246"/>
                </a:cubicBezTo>
                <a:cubicBezTo>
                  <a:pt x="735" y="267"/>
                  <a:pt x="780" y="276"/>
                  <a:pt x="813" y="279"/>
                </a:cubicBezTo>
                <a:cubicBezTo>
                  <a:pt x="853" y="292"/>
                  <a:pt x="874" y="293"/>
                  <a:pt x="924" y="297"/>
                </a:cubicBezTo>
                <a:cubicBezTo>
                  <a:pt x="985" y="312"/>
                  <a:pt x="1045" y="330"/>
                  <a:pt x="1107" y="342"/>
                </a:cubicBezTo>
                <a:cubicBezTo>
                  <a:pt x="1133" y="347"/>
                  <a:pt x="1158" y="358"/>
                  <a:pt x="1185" y="360"/>
                </a:cubicBezTo>
                <a:cubicBezTo>
                  <a:pt x="1224" y="363"/>
                  <a:pt x="1289" y="367"/>
                  <a:pt x="1332" y="369"/>
                </a:cubicBezTo>
                <a:cubicBezTo>
                  <a:pt x="1381" y="381"/>
                  <a:pt x="1423" y="407"/>
                  <a:pt x="1473" y="417"/>
                </a:cubicBezTo>
                <a:cubicBezTo>
                  <a:pt x="1514" y="426"/>
                  <a:pt x="1557" y="427"/>
                  <a:pt x="1599" y="432"/>
                </a:cubicBezTo>
                <a:cubicBezTo>
                  <a:pt x="1665" y="441"/>
                  <a:pt x="1730" y="452"/>
                  <a:pt x="1797" y="459"/>
                </a:cubicBezTo>
                <a:cubicBezTo>
                  <a:pt x="1815" y="465"/>
                  <a:pt x="1842" y="456"/>
                  <a:pt x="1860" y="450"/>
                </a:cubicBezTo>
                <a:cubicBezTo>
                  <a:pt x="1894" y="457"/>
                  <a:pt x="1880" y="456"/>
                  <a:pt x="1902" y="456"/>
                </a:cubicBezTo>
              </a:path>
            </a:pathLst>
          </a:custGeom>
          <a:noFill/>
          <a:ln w="635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3542" name="Text Box 6"/>
          <p:cNvSpPr txBox="1">
            <a:spLocks noChangeArrowheads="1"/>
          </p:cNvSpPr>
          <p:nvPr/>
        </p:nvSpPr>
        <p:spPr bwMode="auto">
          <a:xfrm>
            <a:off x="2879725" y="4970463"/>
            <a:ext cx="21971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800" b="1">
                <a:solidFill>
                  <a:srgbClr val="FF0000"/>
                </a:solidFill>
                <a:latin typeface="Arial" panose="020B0604020202020204" pitchFamily="34" charset="0"/>
                <a:cs typeface="Angsana New" panose="02020603050405020304" pitchFamily="18" charset="-34"/>
              </a:rPr>
              <a:t>SCP</a:t>
            </a:r>
            <a:endParaRPr lang="th-TH" altLang="en-US" sz="1800" b="1">
              <a:solidFill>
                <a:srgbClr val="FF0000"/>
              </a:solidFill>
              <a:latin typeface="Arial" panose="020B0604020202020204" pitchFamily="34" charset="0"/>
              <a:cs typeface="Angsana New" panose="02020603050405020304" pitchFamily="18" charset="-34"/>
            </a:endParaRPr>
          </a:p>
        </p:txBody>
      </p:sp>
      <p:sp>
        <p:nvSpPr>
          <p:cNvPr id="193543" name="Rectangle 7"/>
          <p:cNvSpPr>
            <a:spLocks noChangeArrowheads="1"/>
          </p:cNvSpPr>
          <p:nvPr/>
        </p:nvSpPr>
        <p:spPr bwMode="auto">
          <a:xfrm>
            <a:off x="0" y="-26988"/>
            <a:ext cx="9144000" cy="755651"/>
          </a:xfrm>
          <a:prstGeom prst="rect">
            <a:avLst/>
          </a:prstGeom>
          <a:noFill/>
          <a:ln>
            <a:noFill/>
          </a:ln>
          <a:effectLst/>
          <a:extLst>
            <a:ext uri="{909E8E84-426E-40DD-AFC4-6F175D3DCCD1}">
              <a14:hiddenFill xmlns:a14="http://schemas.microsoft.com/office/drawing/2010/main">
                <a:solidFill>
                  <a:srgbClr val="00008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th-TH" altLang="en-US" b="1">
                <a:solidFill>
                  <a:srgbClr val="FF0000"/>
                </a:solidFill>
                <a:latin typeface="Tahoma" panose="020B0604030504040204" pitchFamily="34" charset="0"/>
                <a:cs typeface="Tahoma" panose="020B0604030504040204" pitchFamily="34" charset="0"/>
              </a:rPr>
              <a:t> คุณสมบัติเยื่อ </a:t>
            </a:r>
            <a:r>
              <a:rPr lang="en-US" altLang="en-US" b="1">
                <a:solidFill>
                  <a:srgbClr val="FF0000"/>
                </a:solidFill>
                <a:latin typeface="Tahoma" panose="020B0604030504040204" pitchFamily="34" charset="0"/>
                <a:cs typeface="Tahoma" panose="020B0604030504040204" pitchFamily="34" charset="0"/>
              </a:rPr>
              <a:t>SCP</a:t>
            </a:r>
            <a:endParaRPr lang="th-TH" altLang="en-US" b="1">
              <a:solidFill>
                <a:srgbClr val="FF0000"/>
              </a:solidFill>
              <a:latin typeface="Tahoma" panose="020B0604030504040204" pitchFamily="34" charset="0"/>
              <a:cs typeface="Tahoma" panose="020B0604030504040204" pitchFamily="34" charset="0"/>
            </a:endParaRPr>
          </a:p>
        </p:txBody>
      </p:sp>
    </p:spTree>
  </p:cSld>
  <p:clrMapOvr>
    <a:masterClrMapping/>
  </p:clrMapOvr>
  <p:transition/>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62" name="Picture 2" descr="CTMP Pulp Quality00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019300"/>
            <a:ext cx="9144000" cy="277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563" name="Freeform 3"/>
          <p:cNvSpPr>
            <a:spLocks/>
          </p:cNvSpPr>
          <p:nvPr/>
        </p:nvSpPr>
        <p:spPr bwMode="auto">
          <a:xfrm>
            <a:off x="1031875" y="3425825"/>
            <a:ext cx="1600200" cy="584200"/>
          </a:xfrm>
          <a:custGeom>
            <a:avLst/>
            <a:gdLst>
              <a:gd name="T0" fmla="*/ 0 w 1008"/>
              <a:gd name="T1" fmla="*/ 0 h 368"/>
              <a:gd name="T2" fmla="*/ 2147483646 w 1008"/>
              <a:gd name="T3" fmla="*/ 2147483646 h 368"/>
              <a:gd name="T4" fmla="*/ 2147483646 w 1008"/>
              <a:gd name="T5" fmla="*/ 2147483646 h 368"/>
              <a:gd name="T6" fmla="*/ 2147483646 w 1008"/>
              <a:gd name="T7" fmla="*/ 2147483646 h 368"/>
              <a:gd name="T8" fmla="*/ 2147483646 w 1008"/>
              <a:gd name="T9" fmla="*/ 2147483646 h 368"/>
              <a:gd name="T10" fmla="*/ 2147483646 w 1008"/>
              <a:gd name="T11" fmla="*/ 2147483646 h 368"/>
              <a:gd name="T12" fmla="*/ 2147483646 w 1008"/>
              <a:gd name="T13" fmla="*/ 2147483646 h 368"/>
              <a:gd name="T14" fmla="*/ 2147483646 w 1008"/>
              <a:gd name="T15" fmla="*/ 2147483646 h 368"/>
              <a:gd name="T16" fmla="*/ 2147483646 w 1008"/>
              <a:gd name="T17" fmla="*/ 2147483646 h 368"/>
              <a:gd name="T18" fmla="*/ 2147483646 w 1008"/>
              <a:gd name="T19" fmla="*/ 2147483646 h 368"/>
              <a:gd name="T20" fmla="*/ 2147483646 w 1008"/>
              <a:gd name="T21" fmla="*/ 2147483646 h 368"/>
              <a:gd name="T22" fmla="*/ 2147483646 w 1008"/>
              <a:gd name="T23" fmla="*/ 2147483646 h 368"/>
              <a:gd name="T24" fmla="*/ 2147483646 w 1008"/>
              <a:gd name="T25" fmla="*/ 2147483646 h 368"/>
              <a:gd name="T26" fmla="*/ 2147483646 w 1008"/>
              <a:gd name="T27" fmla="*/ 2147483646 h 368"/>
              <a:gd name="T28" fmla="*/ 2147483646 w 1008"/>
              <a:gd name="T29" fmla="*/ 2147483646 h 368"/>
              <a:gd name="T30" fmla="*/ 2147483646 w 1008"/>
              <a:gd name="T31" fmla="*/ 2147483646 h 368"/>
              <a:gd name="T32" fmla="*/ 2147483646 w 1008"/>
              <a:gd name="T33" fmla="*/ 2147483646 h 368"/>
              <a:gd name="T34" fmla="*/ 2147483646 w 1008"/>
              <a:gd name="T35" fmla="*/ 2147483646 h 368"/>
              <a:gd name="T36" fmla="*/ 2147483646 w 1008"/>
              <a:gd name="T37" fmla="*/ 2147483646 h 368"/>
              <a:gd name="T38" fmla="*/ 2147483646 w 1008"/>
              <a:gd name="T39" fmla="*/ 2147483646 h 36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1008" h="368">
                <a:moveTo>
                  <a:pt x="0" y="0"/>
                </a:moveTo>
                <a:cubicBezTo>
                  <a:pt x="14" y="5"/>
                  <a:pt x="22" y="20"/>
                  <a:pt x="32" y="30"/>
                </a:cubicBezTo>
                <a:cubicBezTo>
                  <a:pt x="35" y="33"/>
                  <a:pt x="80" y="51"/>
                  <a:pt x="88" y="54"/>
                </a:cubicBezTo>
                <a:cubicBezTo>
                  <a:pt x="95" y="61"/>
                  <a:pt x="104" y="66"/>
                  <a:pt x="114" y="68"/>
                </a:cubicBezTo>
                <a:cubicBezTo>
                  <a:pt x="142" y="89"/>
                  <a:pt x="178" y="94"/>
                  <a:pt x="210" y="106"/>
                </a:cubicBezTo>
                <a:cubicBezTo>
                  <a:pt x="243" y="118"/>
                  <a:pt x="272" y="143"/>
                  <a:pt x="306" y="152"/>
                </a:cubicBezTo>
                <a:cubicBezTo>
                  <a:pt x="319" y="161"/>
                  <a:pt x="335" y="164"/>
                  <a:pt x="350" y="170"/>
                </a:cubicBezTo>
                <a:cubicBezTo>
                  <a:pt x="363" y="175"/>
                  <a:pt x="380" y="190"/>
                  <a:pt x="394" y="192"/>
                </a:cubicBezTo>
                <a:cubicBezTo>
                  <a:pt x="429" y="198"/>
                  <a:pt x="462" y="213"/>
                  <a:pt x="496" y="222"/>
                </a:cubicBezTo>
                <a:cubicBezTo>
                  <a:pt x="513" y="234"/>
                  <a:pt x="538" y="241"/>
                  <a:pt x="558" y="246"/>
                </a:cubicBezTo>
                <a:cubicBezTo>
                  <a:pt x="569" y="254"/>
                  <a:pt x="585" y="257"/>
                  <a:pt x="598" y="262"/>
                </a:cubicBezTo>
                <a:cubicBezTo>
                  <a:pt x="604" y="264"/>
                  <a:pt x="610" y="266"/>
                  <a:pt x="616" y="268"/>
                </a:cubicBezTo>
                <a:cubicBezTo>
                  <a:pt x="618" y="269"/>
                  <a:pt x="622" y="270"/>
                  <a:pt x="622" y="270"/>
                </a:cubicBezTo>
                <a:cubicBezTo>
                  <a:pt x="645" y="288"/>
                  <a:pt x="687" y="294"/>
                  <a:pt x="716" y="298"/>
                </a:cubicBezTo>
                <a:cubicBezTo>
                  <a:pt x="733" y="304"/>
                  <a:pt x="748" y="309"/>
                  <a:pt x="766" y="312"/>
                </a:cubicBezTo>
                <a:cubicBezTo>
                  <a:pt x="777" y="316"/>
                  <a:pt x="789" y="314"/>
                  <a:pt x="800" y="318"/>
                </a:cubicBezTo>
                <a:cubicBezTo>
                  <a:pt x="833" y="330"/>
                  <a:pt x="870" y="350"/>
                  <a:pt x="904" y="354"/>
                </a:cubicBezTo>
                <a:cubicBezTo>
                  <a:pt x="925" y="356"/>
                  <a:pt x="945" y="357"/>
                  <a:pt x="966" y="358"/>
                </a:cubicBezTo>
                <a:cubicBezTo>
                  <a:pt x="975" y="359"/>
                  <a:pt x="985" y="359"/>
                  <a:pt x="994" y="362"/>
                </a:cubicBezTo>
                <a:cubicBezTo>
                  <a:pt x="998" y="363"/>
                  <a:pt x="1008" y="364"/>
                  <a:pt x="1008" y="368"/>
                </a:cubicBezTo>
              </a:path>
            </a:pathLst>
          </a:custGeom>
          <a:noFill/>
          <a:ln w="635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4564" name="Freeform 4"/>
          <p:cNvSpPr>
            <a:spLocks/>
          </p:cNvSpPr>
          <p:nvPr/>
        </p:nvSpPr>
        <p:spPr bwMode="auto">
          <a:xfrm>
            <a:off x="5454650" y="3730625"/>
            <a:ext cx="1689100" cy="365125"/>
          </a:xfrm>
          <a:custGeom>
            <a:avLst/>
            <a:gdLst>
              <a:gd name="T0" fmla="*/ 0 w 1064"/>
              <a:gd name="T1" fmla="*/ 0 h 230"/>
              <a:gd name="T2" fmla="*/ 2147483646 w 1064"/>
              <a:gd name="T3" fmla="*/ 2147483646 h 230"/>
              <a:gd name="T4" fmla="*/ 2147483646 w 1064"/>
              <a:gd name="T5" fmla="*/ 2147483646 h 230"/>
              <a:gd name="T6" fmla="*/ 2147483646 w 1064"/>
              <a:gd name="T7" fmla="*/ 2147483646 h 230"/>
              <a:gd name="T8" fmla="*/ 2147483646 w 1064"/>
              <a:gd name="T9" fmla="*/ 2147483646 h 230"/>
              <a:gd name="T10" fmla="*/ 2147483646 w 1064"/>
              <a:gd name="T11" fmla="*/ 2147483646 h 230"/>
              <a:gd name="T12" fmla="*/ 2147483646 w 1064"/>
              <a:gd name="T13" fmla="*/ 2147483646 h 230"/>
              <a:gd name="T14" fmla="*/ 2147483646 w 1064"/>
              <a:gd name="T15" fmla="*/ 2147483646 h 230"/>
              <a:gd name="T16" fmla="*/ 2147483646 w 1064"/>
              <a:gd name="T17" fmla="*/ 2147483646 h 230"/>
              <a:gd name="T18" fmla="*/ 2147483646 w 1064"/>
              <a:gd name="T19" fmla="*/ 2147483646 h 230"/>
              <a:gd name="T20" fmla="*/ 2147483646 w 1064"/>
              <a:gd name="T21" fmla="*/ 2147483646 h 230"/>
              <a:gd name="T22" fmla="*/ 2147483646 w 1064"/>
              <a:gd name="T23" fmla="*/ 2147483646 h 230"/>
              <a:gd name="T24" fmla="*/ 2147483646 w 1064"/>
              <a:gd name="T25" fmla="*/ 2147483646 h 230"/>
              <a:gd name="T26" fmla="*/ 2147483646 w 1064"/>
              <a:gd name="T27" fmla="*/ 2147483646 h 230"/>
              <a:gd name="T28" fmla="*/ 2147483646 w 1064"/>
              <a:gd name="T29" fmla="*/ 2147483646 h 230"/>
              <a:gd name="T30" fmla="*/ 2147483646 w 1064"/>
              <a:gd name="T31" fmla="*/ 2147483646 h 230"/>
              <a:gd name="T32" fmla="*/ 2147483646 w 1064"/>
              <a:gd name="T33" fmla="*/ 2147483646 h 230"/>
              <a:gd name="T34" fmla="*/ 2147483646 w 1064"/>
              <a:gd name="T35" fmla="*/ 2147483646 h 230"/>
              <a:gd name="T36" fmla="*/ 2147483646 w 1064"/>
              <a:gd name="T37" fmla="*/ 2147483646 h 230"/>
              <a:gd name="T38" fmla="*/ 2147483646 w 1064"/>
              <a:gd name="T39" fmla="*/ 2147483646 h 23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1064" h="230">
                <a:moveTo>
                  <a:pt x="0" y="0"/>
                </a:moveTo>
                <a:cubicBezTo>
                  <a:pt x="14" y="2"/>
                  <a:pt x="27" y="3"/>
                  <a:pt x="40" y="6"/>
                </a:cubicBezTo>
                <a:cubicBezTo>
                  <a:pt x="55" y="17"/>
                  <a:pt x="78" y="26"/>
                  <a:pt x="96" y="32"/>
                </a:cubicBezTo>
                <a:cubicBezTo>
                  <a:pt x="104" y="34"/>
                  <a:pt x="112" y="36"/>
                  <a:pt x="120" y="38"/>
                </a:cubicBezTo>
                <a:cubicBezTo>
                  <a:pt x="123" y="39"/>
                  <a:pt x="128" y="40"/>
                  <a:pt x="128" y="40"/>
                </a:cubicBezTo>
                <a:cubicBezTo>
                  <a:pt x="143" y="50"/>
                  <a:pt x="160" y="54"/>
                  <a:pt x="178" y="56"/>
                </a:cubicBezTo>
                <a:cubicBezTo>
                  <a:pt x="195" y="62"/>
                  <a:pt x="213" y="63"/>
                  <a:pt x="230" y="68"/>
                </a:cubicBezTo>
                <a:cubicBezTo>
                  <a:pt x="257" y="76"/>
                  <a:pt x="284" y="87"/>
                  <a:pt x="312" y="90"/>
                </a:cubicBezTo>
                <a:cubicBezTo>
                  <a:pt x="347" y="102"/>
                  <a:pt x="379" y="103"/>
                  <a:pt x="416" y="106"/>
                </a:cubicBezTo>
                <a:cubicBezTo>
                  <a:pt x="448" y="114"/>
                  <a:pt x="482" y="124"/>
                  <a:pt x="512" y="136"/>
                </a:cubicBezTo>
                <a:cubicBezTo>
                  <a:pt x="519" y="139"/>
                  <a:pt x="539" y="149"/>
                  <a:pt x="548" y="150"/>
                </a:cubicBezTo>
                <a:cubicBezTo>
                  <a:pt x="559" y="152"/>
                  <a:pt x="569" y="151"/>
                  <a:pt x="580" y="152"/>
                </a:cubicBezTo>
                <a:cubicBezTo>
                  <a:pt x="591" y="153"/>
                  <a:pt x="612" y="156"/>
                  <a:pt x="612" y="156"/>
                </a:cubicBezTo>
                <a:cubicBezTo>
                  <a:pt x="629" y="164"/>
                  <a:pt x="646" y="165"/>
                  <a:pt x="664" y="168"/>
                </a:cubicBezTo>
                <a:cubicBezTo>
                  <a:pt x="710" y="186"/>
                  <a:pt x="699" y="186"/>
                  <a:pt x="758" y="188"/>
                </a:cubicBezTo>
                <a:cubicBezTo>
                  <a:pt x="804" y="200"/>
                  <a:pt x="755" y="188"/>
                  <a:pt x="882" y="192"/>
                </a:cubicBezTo>
                <a:cubicBezTo>
                  <a:pt x="910" y="193"/>
                  <a:pt x="938" y="207"/>
                  <a:pt x="964" y="214"/>
                </a:cubicBezTo>
                <a:cubicBezTo>
                  <a:pt x="989" y="221"/>
                  <a:pt x="1015" y="224"/>
                  <a:pt x="1040" y="230"/>
                </a:cubicBezTo>
                <a:cubicBezTo>
                  <a:pt x="1060" y="226"/>
                  <a:pt x="1042" y="230"/>
                  <a:pt x="1056" y="226"/>
                </a:cubicBezTo>
                <a:cubicBezTo>
                  <a:pt x="1059" y="225"/>
                  <a:pt x="1064" y="224"/>
                  <a:pt x="1064" y="224"/>
                </a:cubicBezTo>
              </a:path>
            </a:pathLst>
          </a:custGeom>
          <a:noFill/>
          <a:ln w="635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4565" name="Text Box 5"/>
          <p:cNvSpPr txBox="1">
            <a:spLocks noChangeArrowheads="1"/>
          </p:cNvSpPr>
          <p:nvPr/>
        </p:nvSpPr>
        <p:spPr bwMode="auto">
          <a:xfrm>
            <a:off x="719138" y="3783013"/>
            <a:ext cx="21971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800" b="1">
                <a:solidFill>
                  <a:srgbClr val="FF0000"/>
                </a:solidFill>
                <a:latin typeface="Arial" panose="020B0604020202020204" pitchFamily="34" charset="0"/>
                <a:cs typeface="Angsana New" panose="02020603050405020304" pitchFamily="18" charset="-34"/>
              </a:rPr>
              <a:t>SCP</a:t>
            </a:r>
            <a:endParaRPr lang="th-TH" altLang="en-US" sz="1800" b="1">
              <a:solidFill>
                <a:srgbClr val="FF0000"/>
              </a:solidFill>
              <a:latin typeface="Arial" panose="020B0604020202020204" pitchFamily="34" charset="0"/>
              <a:cs typeface="Angsana New" panose="02020603050405020304" pitchFamily="18" charset="-34"/>
            </a:endParaRPr>
          </a:p>
        </p:txBody>
      </p:sp>
      <p:sp>
        <p:nvSpPr>
          <p:cNvPr id="194566" name="Text Box 6"/>
          <p:cNvSpPr txBox="1">
            <a:spLocks noChangeArrowheads="1"/>
          </p:cNvSpPr>
          <p:nvPr/>
        </p:nvSpPr>
        <p:spPr bwMode="auto">
          <a:xfrm>
            <a:off x="5543550" y="3998913"/>
            <a:ext cx="21971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800" b="1">
                <a:solidFill>
                  <a:srgbClr val="FF0000"/>
                </a:solidFill>
                <a:latin typeface="Arial" panose="020B0604020202020204" pitchFamily="34" charset="0"/>
                <a:cs typeface="Angsana New" panose="02020603050405020304" pitchFamily="18" charset="-34"/>
              </a:rPr>
              <a:t>SCP</a:t>
            </a:r>
            <a:endParaRPr lang="th-TH" altLang="en-US" sz="1800" b="1">
              <a:solidFill>
                <a:srgbClr val="FF0000"/>
              </a:solidFill>
              <a:latin typeface="Arial" panose="020B0604020202020204" pitchFamily="34" charset="0"/>
              <a:cs typeface="Angsana New" panose="02020603050405020304" pitchFamily="18" charset="-34"/>
            </a:endParaRPr>
          </a:p>
        </p:txBody>
      </p:sp>
      <p:sp>
        <p:nvSpPr>
          <p:cNvPr id="194567" name="Rectangle 7"/>
          <p:cNvSpPr>
            <a:spLocks noChangeArrowheads="1"/>
          </p:cNvSpPr>
          <p:nvPr/>
        </p:nvSpPr>
        <p:spPr bwMode="auto">
          <a:xfrm>
            <a:off x="0" y="-26988"/>
            <a:ext cx="9144000" cy="755651"/>
          </a:xfrm>
          <a:prstGeom prst="rect">
            <a:avLst/>
          </a:prstGeom>
          <a:noFill/>
          <a:ln>
            <a:noFill/>
          </a:ln>
          <a:effectLst/>
          <a:extLst>
            <a:ext uri="{909E8E84-426E-40DD-AFC4-6F175D3DCCD1}">
              <a14:hiddenFill xmlns:a14="http://schemas.microsoft.com/office/drawing/2010/main">
                <a:solidFill>
                  <a:srgbClr val="00008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th-TH" altLang="en-US" b="1">
                <a:solidFill>
                  <a:srgbClr val="FF0000"/>
                </a:solidFill>
                <a:latin typeface="Tahoma" panose="020B0604030504040204" pitchFamily="34" charset="0"/>
                <a:cs typeface="Tahoma" panose="020B0604030504040204" pitchFamily="34" charset="0"/>
              </a:rPr>
              <a:t> คุณสมบัติเยื่อ </a:t>
            </a:r>
            <a:r>
              <a:rPr lang="en-US" altLang="en-US" b="1">
                <a:solidFill>
                  <a:srgbClr val="FF0000"/>
                </a:solidFill>
                <a:latin typeface="Tahoma" panose="020B0604030504040204" pitchFamily="34" charset="0"/>
                <a:cs typeface="Tahoma" panose="020B0604030504040204" pitchFamily="34" charset="0"/>
              </a:rPr>
              <a:t>SCP</a:t>
            </a:r>
            <a:endParaRPr lang="th-TH" altLang="en-US" b="1">
              <a:solidFill>
                <a:srgbClr val="FF0000"/>
              </a:solidFill>
              <a:latin typeface="Tahoma" panose="020B0604030504040204" pitchFamily="34" charset="0"/>
              <a:cs typeface="Tahoma" panose="020B0604030504040204" pitchFamily="34" charset="0"/>
            </a:endParaRPr>
          </a:p>
        </p:txBody>
      </p:sp>
    </p:spTree>
  </p:cSld>
  <p:clrMapOvr>
    <a:masterClrMapping/>
  </p:clrMapOvr>
  <p:transition/>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7"/>
          <p:cNvSpPr>
            <a:spLocks noChangeArrowheads="1"/>
          </p:cNvSpPr>
          <p:nvPr/>
        </p:nvSpPr>
        <p:spPr bwMode="auto">
          <a:xfrm>
            <a:off x="0" y="-26988"/>
            <a:ext cx="9144000" cy="755651"/>
          </a:xfrm>
          <a:prstGeom prst="rect">
            <a:avLst/>
          </a:prstGeom>
          <a:noFill/>
          <a:ln>
            <a:noFill/>
          </a:ln>
          <a:effectLst/>
          <a:extLst>
            <a:ext uri="{909E8E84-426E-40DD-AFC4-6F175D3DCCD1}">
              <a14:hiddenFill xmlns:a14="http://schemas.microsoft.com/office/drawing/2010/main">
                <a:solidFill>
                  <a:srgbClr val="00008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th-TH" altLang="en-US" b="1">
                <a:solidFill>
                  <a:srgbClr val="FF0000"/>
                </a:solidFill>
                <a:latin typeface="Tahoma" panose="020B0604030504040204" pitchFamily="34" charset="0"/>
                <a:cs typeface="Tahoma" panose="020B0604030504040204" pitchFamily="34" charset="0"/>
              </a:rPr>
              <a:t> คุณสมบัติเยื่อ </a:t>
            </a:r>
            <a:r>
              <a:rPr lang="en-US" altLang="en-US" b="1">
                <a:solidFill>
                  <a:srgbClr val="FF0000"/>
                </a:solidFill>
                <a:latin typeface="Tahoma" panose="020B0604030504040204" pitchFamily="34" charset="0"/>
                <a:cs typeface="Tahoma" panose="020B0604030504040204" pitchFamily="34" charset="0"/>
              </a:rPr>
              <a:t>SCP</a:t>
            </a:r>
            <a:r>
              <a:rPr lang="th-TH" altLang="en-US" b="1">
                <a:solidFill>
                  <a:srgbClr val="FF0000"/>
                </a:solidFill>
                <a:latin typeface="Tahoma" panose="020B0604030504040204" pitchFamily="34" charset="0"/>
                <a:cs typeface="Tahoma" panose="020B0604030504040204" pitchFamily="34" charset="0"/>
              </a:rPr>
              <a:t> </a:t>
            </a:r>
            <a:r>
              <a:rPr lang="en-US" altLang="en-US" b="1">
                <a:solidFill>
                  <a:srgbClr val="FF0000"/>
                </a:solidFill>
                <a:latin typeface="Tahoma" panose="020B0604030504040204" pitchFamily="34" charset="0"/>
                <a:cs typeface="Tahoma" panose="020B0604030504040204" pitchFamily="34" charset="0"/>
              </a:rPr>
              <a:t>vs AOCC vs LOCC</a:t>
            </a:r>
            <a:endParaRPr lang="th-TH" altLang="en-US" b="1">
              <a:solidFill>
                <a:srgbClr val="FF0000"/>
              </a:solidFill>
              <a:latin typeface="Tahoma" panose="020B0604030504040204" pitchFamily="34" charset="0"/>
              <a:cs typeface="Tahoma" panose="020B0604030504040204" pitchFamily="34" charset="0"/>
            </a:endParaRPr>
          </a:p>
        </p:txBody>
      </p:sp>
      <p:pic>
        <p:nvPicPr>
          <p:cNvPr id="19558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3200" y="981075"/>
            <a:ext cx="8855075" cy="496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7"/>
          <p:cNvSpPr>
            <a:spLocks noChangeArrowheads="1"/>
          </p:cNvSpPr>
          <p:nvPr/>
        </p:nvSpPr>
        <p:spPr bwMode="auto">
          <a:xfrm>
            <a:off x="0" y="-26988"/>
            <a:ext cx="9144000" cy="755651"/>
          </a:xfrm>
          <a:prstGeom prst="rect">
            <a:avLst/>
          </a:prstGeom>
          <a:noFill/>
          <a:ln>
            <a:noFill/>
          </a:ln>
          <a:effectLst/>
          <a:extLst>
            <a:ext uri="{909E8E84-426E-40DD-AFC4-6F175D3DCCD1}">
              <a14:hiddenFill xmlns:a14="http://schemas.microsoft.com/office/drawing/2010/main">
                <a:solidFill>
                  <a:srgbClr val="00008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th-TH" altLang="en-US" b="1">
                <a:solidFill>
                  <a:srgbClr val="FF0000"/>
                </a:solidFill>
                <a:latin typeface="Tahoma" panose="020B0604030504040204" pitchFamily="34" charset="0"/>
                <a:cs typeface="Tahoma" panose="020B0604030504040204" pitchFamily="34" charset="0"/>
              </a:rPr>
              <a:t> คุณสมบัติเยื่อ </a:t>
            </a:r>
            <a:r>
              <a:rPr lang="en-US" altLang="en-US" b="1">
                <a:solidFill>
                  <a:srgbClr val="FF0000"/>
                </a:solidFill>
                <a:latin typeface="Tahoma" panose="020B0604030504040204" pitchFamily="34" charset="0"/>
                <a:cs typeface="Tahoma" panose="020B0604030504040204" pitchFamily="34" charset="0"/>
              </a:rPr>
              <a:t>SCP</a:t>
            </a:r>
            <a:r>
              <a:rPr lang="th-TH" altLang="en-US" b="1">
                <a:solidFill>
                  <a:srgbClr val="FF0000"/>
                </a:solidFill>
                <a:latin typeface="Tahoma" panose="020B0604030504040204" pitchFamily="34" charset="0"/>
                <a:cs typeface="Tahoma" panose="020B0604030504040204" pitchFamily="34" charset="0"/>
              </a:rPr>
              <a:t> </a:t>
            </a:r>
            <a:r>
              <a:rPr lang="en-US" altLang="en-US" b="1">
                <a:solidFill>
                  <a:srgbClr val="FF0000"/>
                </a:solidFill>
                <a:latin typeface="Tahoma" panose="020B0604030504040204" pitchFamily="34" charset="0"/>
                <a:cs typeface="Tahoma" panose="020B0604030504040204" pitchFamily="34" charset="0"/>
              </a:rPr>
              <a:t>vs AOCC vs LOCC</a:t>
            </a:r>
            <a:endParaRPr lang="th-TH" altLang="en-US" b="1">
              <a:solidFill>
                <a:srgbClr val="FF0000"/>
              </a:solidFill>
              <a:latin typeface="Tahoma" panose="020B0604030504040204" pitchFamily="34" charset="0"/>
              <a:cs typeface="Tahoma" panose="020B0604030504040204" pitchFamily="34" charset="0"/>
            </a:endParaRPr>
          </a:p>
        </p:txBody>
      </p:sp>
      <p:grpSp>
        <p:nvGrpSpPr>
          <p:cNvPr id="196611" name="Group 49"/>
          <p:cNvGrpSpPr>
            <a:grpSpLocks/>
          </p:cNvGrpSpPr>
          <p:nvPr/>
        </p:nvGrpSpPr>
        <p:grpSpPr bwMode="auto">
          <a:xfrm>
            <a:off x="285750" y="995363"/>
            <a:ext cx="8429625" cy="5118100"/>
            <a:chOff x="333404" y="1285860"/>
            <a:chExt cx="8382000" cy="5324493"/>
          </a:xfrm>
        </p:grpSpPr>
        <p:sp>
          <p:nvSpPr>
            <p:cNvPr id="196612" name="Rectangle 77"/>
            <p:cNvSpPr>
              <a:spLocks noChangeArrowheads="1"/>
            </p:cNvSpPr>
            <p:nvPr/>
          </p:nvSpPr>
          <p:spPr bwMode="auto">
            <a:xfrm>
              <a:off x="333404" y="3943353"/>
              <a:ext cx="8382000" cy="2667000"/>
            </a:xfrm>
            <a:prstGeom prst="rect">
              <a:avLst/>
            </a:prstGeom>
            <a:solidFill>
              <a:schemeClr val="bg1"/>
            </a:solidFill>
            <a:ln w="9525">
              <a:solidFill>
                <a:srgbClr val="FF0000"/>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96613" name="Rectangle 164"/>
            <p:cNvSpPr>
              <a:spLocks noChangeArrowheads="1"/>
            </p:cNvSpPr>
            <p:nvPr/>
          </p:nvSpPr>
          <p:spPr bwMode="auto">
            <a:xfrm>
              <a:off x="333404" y="1300147"/>
              <a:ext cx="8382000" cy="2667000"/>
            </a:xfrm>
            <a:prstGeom prst="rect">
              <a:avLst/>
            </a:prstGeom>
            <a:solidFill>
              <a:schemeClr val="bg1"/>
            </a:solidFill>
            <a:ln w="9525">
              <a:solidFill>
                <a:srgbClr val="FF0000"/>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nvGrpSpPr>
            <p:cNvPr id="196614" name="Group 160"/>
            <p:cNvGrpSpPr>
              <a:grpSpLocks/>
            </p:cNvGrpSpPr>
            <p:nvPr/>
          </p:nvGrpSpPr>
          <p:grpSpPr bwMode="auto">
            <a:xfrm>
              <a:off x="943004" y="2062147"/>
              <a:ext cx="2590800" cy="1752600"/>
              <a:chOff x="2784" y="1215"/>
              <a:chExt cx="1347" cy="897"/>
            </a:xfrm>
          </p:grpSpPr>
          <p:graphicFrame>
            <p:nvGraphicFramePr>
              <p:cNvPr id="196639" name="Object 2">
                <a:hlinkClick r:id="" action="ppaction://ole?verb=0"/>
              </p:cNvPr>
              <p:cNvGraphicFramePr>
                <a:graphicFrameLocks/>
              </p:cNvGraphicFramePr>
              <p:nvPr/>
            </p:nvGraphicFramePr>
            <p:xfrm>
              <a:off x="2784" y="1215"/>
              <a:ext cx="1347" cy="779"/>
            </p:xfrm>
            <a:graphic>
              <a:graphicData uri="http://schemas.openxmlformats.org/presentationml/2006/ole">
                <mc:AlternateContent xmlns:mc="http://schemas.openxmlformats.org/markup-compatibility/2006">
                  <mc:Choice xmlns:v="urn:schemas-microsoft-com:vml" Requires="v">
                    <p:oleObj spid="_x0000_s196670" name="Bitmap Image" r:id="rId3" imgW="4244975" imgH="3898900" progId="Paint.Picture">
                      <p:embed/>
                    </p:oleObj>
                  </mc:Choice>
                  <mc:Fallback>
                    <p:oleObj name="Bitmap Image" r:id="rId3" imgW="4244975" imgH="3898900" progId="Paint.Picture">
                      <p:embed/>
                      <p:pic>
                        <p:nvPicPr>
                          <p:cNvPr id="0" name="Object 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84" y="1215"/>
                            <a:ext cx="1347" cy="7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96640" name="Group 44"/>
              <p:cNvGrpSpPr>
                <a:grpSpLocks/>
              </p:cNvGrpSpPr>
              <p:nvPr/>
            </p:nvGrpSpPr>
            <p:grpSpPr bwMode="auto">
              <a:xfrm>
                <a:off x="3121" y="1293"/>
                <a:ext cx="551" cy="164"/>
                <a:chOff x="769" y="1156"/>
                <a:chExt cx="1096" cy="520"/>
              </a:xfrm>
            </p:grpSpPr>
            <p:grpSp>
              <p:nvGrpSpPr>
                <p:cNvPr id="196648" name="Group 45"/>
                <p:cNvGrpSpPr>
                  <a:grpSpLocks/>
                </p:cNvGrpSpPr>
                <p:nvPr/>
              </p:nvGrpSpPr>
              <p:grpSpPr bwMode="auto">
                <a:xfrm>
                  <a:off x="769" y="1156"/>
                  <a:ext cx="376" cy="520"/>
                  <a:chOff x="769" y="1156"/>
                  <a:chExt cx="376" cy="520"/>
                </a:xfrm>
              </p:grpSpPr>
              <p:sp>
                <p:nvSpPr>
                  <p:cNvPr id="196652" name="AutoShape 46"/>
                  <p:cNvSpPr>
                    <a:spLocks noChangeArrowheads="1"/>
                  </p:cNvSpPr>
                  <p:nvPr/>
                </p:nvSpPr>
                <p:spPr bwMode="auto">
                  <a:xfrm rot="16200000" flipH="1">
                    <a:off x="745" y="1228"/>
                    <a:ext cx="472" cy="328"/>
                  </a:xfrm>
                  <a:prstGeom prst="rightArrow">
                    <a:avLst>
                      <a:gd name="adj1" fmla="val 50000"/>
                      <a:gd name="adj2" fmla="val 71971"/>
                    </a:avLst>
                  </a:prstGeom>
                  <a:solidFill>
                    <a:schemeClr val="tx2"/>
                  </a:solidFill>
                  <a:ln w="12700">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96653" name="AutoShape 47"/>
                  <p:cNvSpPr>
                    <a:spLocks noChangeArrowheads="1"/>
                  </p:cNvSpPr>
                  <p:nvPr/>
                </p:nvSpPr>
                <p:spPr bwMode="auto">
                  <a:xfrm rot="16200000" flipH="1">
                    <a:off x="697" y="1276"/>
                    <a:ext cx="472" cy="328"/>
                  </a:xfrm>
                  <a:prstGeom prst="rightArrow">
                    <a:avLst>
                      <a:gd name="adj1" fmla="val 50000"/>
                      <a:gd name="adj2" fmla="val 71971"/>
                    </a:avLst>
                  </a:prstGeom>
                  <a:solidFill>
                    <a:schemeClr val="hlink"/>
                  </a:solidFill>
                  <a:ln w="12700">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grpSp>
              <p:nvGrpSpPr>
                <p:cNvPr id="196649" name="Group 48"/>
                <p:cNvGrpSpPr>
                  <a:grpSpLocks/>
                </p:cNvGrpSpPr>
                <p:nvPr/>
              </p:nvGrpSpPr>
              <p:grpSpPr bwMode="auto">
                <a:xfrm>
                  <a:off x="1489" y="1156"/>
                  <a:ext cx="376" cy="520"/>
                  <a:chOff x="1489" y="1156"/>
                  <a:chExt cx="376" cy="520"/>
                </a:xfrm>
              </p:grpSpPr>
              <p:sp>
                <p:nvSpPr>
                  <p:cNvPr id="196650" name="AutoShape 49"/>
                  <p:cNvSpPr>
                    <a:spLocks noChangeArrowheads="1"/>
                  </p:cNvSpPr>
                  <p:nvPr/>
                </p:nvSpPr>
                <p:spPr bwMode="auto">
                  <a:xfrm rot="16200000" flipH="1">
                    <a:off x="1465" y="1228"/>
                    <a:ext cx="472" cy="328"/>
                  </a:xfrm>
                  <a:prstGeom prst="rightArrow">
                    <a:avLst>
                      <a:gd name="adj1" fmla="val 50000"/>
                      <a:gd name="adj2" fmla="val 71971"/>
                    </a:avLst>
                  </a:prstGeom>
                  <a:solidFill>
                    <a:schemeClr val="tx2"/>
                  </a:solidFill>
                  <a:ln w="12700">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96651" name="AutoShape 50"/>
                  <p:cNvSpPr>
                    <a:spLocks noChangeArrowheads="1"/>
                  </p:cNvSpPr>
                  <p:nvPr/>
                </p:nvSpPr>
                <p:spPr bwMode="auto">
                  <a:xfrm rot="16200000" flipH="1">
                    <a:off x="1417" y="1276"/>
                    <a:ext cx="472" cy="328"/>
                  </a:xfrm>
                  <a:prstGeom prst="rightArrow">
                    <a:avLst>
                      <a:gd name="adj1" fmla="val 50000"/>
                      <a:gd name="adj2" fmla="val 71971"/>
                    </a:avLst>
                  </a:prstGeom>
                  <a:solidFill>
                    <a:schemeClr val="hlink"/>
                  </a:solidFill>
                  <a:ln w="12700">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grpSp>
          <p:grpSp>
            <p:nvGrpSpPr>
              <p:cNvPr id="196641" name="Group 58"/>
              <p:cNvGrpSpPr>
                <a:grpSpLocks/>
              </p:cNvGrpSpPr>
              <p:nvPr/>
            </p:nvGrpSpPr>
            <p:grpSpPr bwMode="auto">
              <a:xfrm>
                <a:off x="3097" y="1947"/>
                <a:ext cx="554" cy="165"/>
                <a:chOff x="721" y="3220"/>
                <a:chExt cx="1096" cy="520"/>
              </a:xfrm>
            </p:grpSpPr>
            <p:grpSp>
              <p:nvGrpSpPr>
                <p:cNvPr id="196642" name="Group 59"/>
                <p:cNvGrpSpPr>
                  <a:grpSpLocks/>
                </p:cNvGrpSpPr>
                <p:nvPr/>
              </p:nvGrpSpPr>
              <p:grpSpPr bwMode="auto">
                <a:xfrm>
                  <a:off x="1441" y="3220"/>
                  <a:ext cx="376" cy="520"/>
                  <a:chOff x="1441" y="3220"/>
                  <a:chExt cx="376" cy="520"/>
                </a:xfrm>
              </p:grpSpPr>
              <p:sp>
                <p:nvSpPr>
                  <p:cNvPr id="196646" name="AutoShape 60"/>
                  <p:cNvSpPr>
                    <a:spLocks noChangeArrowheads="1"/>
                  </p:cNvSpPr>
                  <p:nvPr/>
                </p:nvSpPr>
                <p:spPr bwMode="auto">
                  <a:xfrm rot="-5400000">
                    <a:off x="1369" y="3340"/>
                    <a:ext cx="472" cy="328"/>
                  </a:xfrm>
                  <a:prstGeom prst="rightArrow">
                    <a:avLst>
                      <a:gd name="adj1" fmla="val 50000"/>
                      <a:gd name="adj2" fmla="val 71971"/>
                    </a:avLst>
                  </a:prstGeom>
                  <a:solidFill>
                    <a:schemeClr val="tx2"/>
                  </a:solidFill>
                  <a:ln w="12700">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96647" name="AutoShape 61"/>
                  <p:cNvSpPr>
                    <a:spLocks noChangeArrowheads="1"/>
                  </p:cNvSpPr>
                  <p:nvPr/>
                </p:nvSpPr>
                <p:spPr bwMode="auto">
                  <a:xfrm rot="-5400000">
                    <a:off x="1417" y="3292"/>
                    <a:ext cx="472" cy="328"/>
                  </a:xfrm>
                  <a:prstGeom prst="rightArrow">
                    <a:avLst>
                      <a:gd name="adj1" fmla="val 50000"/>
                      <a:gd name="adj2" fmla="val 71971"/>
                    </a:avLst>
                  </a:prstGeom>
                  <a:solidFill>
                    <a:schemeClr val="hlink"/>
                  </a:solidFill>
                  <a:ln w="12700">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grpSp>
              <p:nvGrpSpPr>
                <p:cNvPr id="196643" name="Group 62"/>
                <p:cNvGrpSpPr>
                  <a:grpSpLocks/>
                </p:cNvGrpSpPr>
                <p:nvPr/>
              </p:nvGrpSpPr>
              <p:grpSpPr bwMode="auto">
                <a:xfrm>
                  <a:off x="721" y="3220"/>
                  <a:ext cx="376" cy="520"/>
                  <a:chOff x="721" y="3220"/>
                  <a:chExt cx="376" cy="520"/>
                </a:xfrm>
              </p:grpSpPr>
              <p:sp>
                <p:nvSpPr>
                  <p:cNvPr id="196644" name="AutoShape 63"/>
                  <p:cNvSpPr>
                    <a:spLocks noChangeArrowheads="1"/>
                  </p:cNvSpPr>
                  <p:nvPr/>
                </p:nvSpPr>
                <p:spPr bwMode="auto">
                  <a:xfrm rot="-5400000">
                    <a:off x="649" y="3340"/>
                    <a:ext cx="472" cy="328"/>
                  </a:xfrm>
                  <a:prstGeom prst="rightArrow">
                    <a:avLst>
                      <a:gd name="adj1" fmla="val 50000"/>
                      <a:gd name="adj2" fmla="val 71971"/>
                    </a:avLst>
                  </a:prstGeom>
                  <a:solidFill>
                    <a:schemeClr val="tx2"/>
                  </a:solidFill>
                  <a:ln w="12700">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96645" name="AutoShape 64"/>
                  <p:cNvSpPr>
                    <a:spLocks noChangeArrowheads="1"/>
                  </p:cNvSpPr>
                  <p:nvPr/>
                </p:nvSpPr>
                <p:spPr bwMode="auto">
                  <a:xfrm rot="-5400000">
                    <a:off x="697" y="3292"/>
                    <a:ext cx="472" cy="328"/>
                  </a:xfrm>
                  <a:prstGeom prst="rightArrow">
                    <a:avLst>
                      <a:gd name="adj1" fmla="val 50000"/>
                      <a:gd name="adj2" fmla="val 71971"/>
                    </a:avLst>
                  </a:prstGeom>
                  <a:solidFill>
                    <a:schemeClr val="hlink"/>
                  </a:solidFill>
                  <a:ln w="12700">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grpSp>
        </p:grpSp>
        <p:sp>
          <p:nvSpPr>
            <p:cNvPr id="196615" name="Rectangle 159"/>
            <p:cNvSpPr>
              <a:spLocks noChangeArrowheads="1"/>
            </p:cNvSpPr>
            <p:nvPr/>
          </p:nvSpPr>
          <p:spPr bwMode="auto">
            <a:xfrm>
              <a:off x="409604" y="1285860"/>
              <a:ext cx="8153400" cy="984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a:solidFill>
                    <a:srgbClr val="6600FF"/>
                  </a:solidFill>
                  <a:latin typeface="Tahoma" panose="020B0604030504040204" pitchFamily="34" charset="0"/>
                  <a:cs typeface="Tahoma" panose="020B0604030504040204" pitchFamily="34" charset="0"/>
                </a:rPr>
                <a:t>Ring Crush Test (RCT) :</a:t>
              </a:r>
              <a:r>
                <a:rPr lang="en-US" altLang="en-US" sz="1400">
                  <a:solidFill>
                    <a:srgbClr val="6600FF"/>
                  </a:solidFill>
                  <a:latin typeface="Tahoma" panose="020B0604030504040204" pitchFamily="34" charset="0"/>
                  <a:cs typeface="Tahoma" panose="020B0604030504040204" pitchFamily="34" charset="0"/>
                </a:rPr>
                <a:t> </a:t>
              </a:r>
              <a:r>
                <a:rPr lang="en-US" altLang="en-US" sz="1400">
                  <a:latin typeface="Tahoma" panose="020B0604030504040204" pitchFamily="34" charset="0"/>
                  <a:cs typeface="Tahoma" panose="020B0604030504040204" pitchFamily="34" charset="0"/>
                </a:rPr>
                <a:t>The maximum compression force per unit width that a test piece of the paper or board can support until the onset of failure in a compression test </a:t>
              </a:r>
            </a:p>
            <a:p>
              <a:pPr eaLnBrk="1" hangingPunct="1">
                <a:spcBef>
                  <a:spcPct val="0"/>
                </a:spcBef>
                <a:buFontTx/>
                <a:buNone/>
              </a:pPr>
              <a:r>
                <a:rPr lang="en-US" altLang="en-US" sz="1400">
                  <a:latin typeface="Tahoma" panose="020B0604030504040204" pitchFamily="34" charset="0"/>
                  <a:cs typeface="Tahoma" panose="020B0604030504040204" pitchFamily="34" charset="0"/>
                </a:rPr>
                <a:t>ISO 9895-1989</a:t>
              </a:r>
              <a:r>
                <a:rPr lang="th-TH" altLang="en-US" sz="1400">
                  <a:latin typeface="Tahoma" panose="020B0604030504040204" pitchFamily="34" charset="0"/>
                  <a:cs typeface="Tahoma" panose="020B0604030504040204" pitchFamily="34" charset="0"/>
                </a:rPr>
                <a:t>  </a:t>
              </a:r>
              <a:r>
                <a:rPr lang="en-US" altLang="en-US" sz="1400">
                  <a:latin typeface="Tahoma" panose="020B0604030504040204" pitchFamily="34" charset="0"/>
                  <a:cs typeface="Tahoma" panose="020B0604030504040204" pitchFamily="34" charset="0"/>
                </a:rPr>
                <a:t>      Unit : N</a:t>
              </a:r>
            </a:p>
            <a:p>
              <a:pPr eaLnBrk="1" hangingPunct="1">
                <a:spcBef>
                  <a:spcPct val="0"/>
                </a:spcBef>
                <a:buFontTx/>
                <a:buNone/>
              </a:pPr>
              <a:endParaRPr lang="th-TH" altLang="en-US" sz="1400">
                <a:latin typeface="Tahoma" panose="020B0604030504040204" pitchFamily="34" charset="0"/>
                <a:cs typeface="Tahoma" panose="020B0604030504040204" pitchFamily="34" charset="0"/>
              </a:endParaRPr>
            </a:p>
          </p:txBody>
        </p:sp>
        <p:pic>
          <p:nvPicPr>
            <p:cNvPr id="196616" name="Picture 165" descr="DSC0176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72004" y="2366947"/>
              <a:ext cx="1676400" cy="1398588"/>
            </a:xfrm>
            <a:prstGeom prst="rect">
              <a:avLst/>
            </a:prstGeom>
            <a:noFill/>
            <a:ln w="25400">
              <a:solidFill>
                <a:srgbClr val="FF6600"/>
              </a:solidFill>
              <a:miter lim="800000"/>
              <a:headEnd/>
              <a:tailEnd/>
            </a:ln>
            <a:extLst>
              <a:ext uri="{909E8E84-426E-40DD-AFC4-6F175D3DCCD1}">
                <a14:hiddenFill xmlns:a14="http://schemas.microsoft.com/office/drawing/2010/main">
                  <a:solidFill>
                    <a:srgbClr val="FFFFFF"/>
                  </a:solidFill>
                </a14:hiddenFill>
              </a:ext>
            </a:extLst>
          </p:spPr>
        </p:pic>
        <p:pic>
          <p:nvPicPr>
            <p:cNvPr id="196617" name="Picture 166" descr="DSC01761"/>
            <p:cNvPicPr>
              <a:picLocks noChangeAspect="1" noChangeArrowheads="1"/>
            </p:cNvPicPr>
            <p:nvPr/>
          </p:nvPicPr>
          <p:blipFill>
            <a:blip r:embed="rId6">
              <a:lum contrast="-10000"/>
              <a:extLst>
                <a:ext uri="{28A0092B-C50C-407E-A947-70E740481C1C}">
                  <a14:useLocalDpi xmlns:a14="http://schemas.microsoft.com/office/drawing/2010/main" val="0"/>
                </a:ext>
              </a:extLst>
            </a:blip>
            <a:srcRect/>
            <a:stretch>
              <a:fillRect/>
            </a:stretch>
          </p:blipFill>
          <p:spPr bwMode="auto">
            <a:xfrm>
              <a:off x="6277004" y="1985947"/>
              <a:ext cx="1371600" cy="1828800"/>
            </a:xfrm>
            <a:prstGeom prst="rect">
              <a:avLst/>
            </a:prstGeom>
            <a:noFill/>
            <a:ln w="25400">
              <a:solidFill>
                <a:srgbClr val="FF9966"/>
              </a:solidFill>
              <a:miter lim="800000"/>
              <a:headEnd/>
              <a:tailEnd/>
            </a:ln>
            <a:extLst>
              <a:ext uri="{909E8E84-426E-40DD-AFC4-6F175D3DCCD1}">
                <a14:hiddenFill xmlns:a14="http://schemas.microsoft.com/office/drawing/2010/main">
                  <a:solidFill>
                    <a:srgbClr val="FFFFFF"/>
                  </a:solidFill>
                </a14:hiddenFill>
              </a:ext>
            </a:extLst>
          </p:spPr>
        </p:pic>
        <p:sp>
          <p:nvSpPr>
            <p:cNvPr id="196618" name="Text Box 176"/>
            <p:cNvSpPr txBox="1">
              <a:spLocks noChangeArrowheads="1"/>
            </p:cNvSpPr>
            <p:nvPr/>
          </p:nvSpPr>
          <p:spPr bwMode="auto">
            <a:xfrm>
              <a:off x="4219604" y="1985947"/>
              <a:ext cx="18526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b="1" u="sng">
                  <a:solidFill>
                    <a:srgbClr val="FF0000"/>
                  </a:solidFill>
                  <a:latin typeface="Tahoma" panose="020B0604030504040204" pitchFamily="34" charset="0"/>
                  <a:cs typeface="Tahoma" panose="020B0604030504040204" pitchFamily="34" charset="0"/>
                </a:rPr>
                <a:t>Testing Machine</a:t>
              </a:r>
              <a:endParaRPr lang="th-TH" altLang="en-US" sz="1600" b="1" u="sng">
                <a:solidFill>
                  <a:srgbClr val="FF0000"/>
                </a:solidFill>
                <a:latin typeface="Tahoma" panose="020B0604030504040204" pitchFamily="34" charset="0"/>
                <a:cs typeface="Tahoma" panose="020B0604030504040204" pitchFamily="34" charset="0"/>
              </a:endParaRPr>
            </a:p>
          </p:txBody>
        </p:sp>
        <p:grpSp>
          <p:nvGrpSpPr>
            <p:cNvPr id="196619" name="Group 74"/>
            <p:cNvGrpSpPr>
              <a:grpSpLocks/>
            </p:cNvGrpSpPr>
            <p:nvPr/>
          </p:nvGrpSpPr>
          <p:grpSpPr bwMode="auto">
            <a:xfrm>
              <a:off x="714404" y="4705353"/>
              <a:ext cx="2667000" cy="1828800"/>
              <a:chOff x="2928" y="973"/>
              <a:chExt cx="1375" cy="943"/>
            </a:xfrm>
          </p:grpSpPr>
          <p:graphicFrame>
            <p:nvGraphicFramePr>
              <p:cNvPr id="196624" name="Object 3">
                <a:hlinkClick r:id="" action="ppaction://ole?verb=0"/>
              </p:cNvPr>
              <p:cNvGraphicFramePr>
                <a:graphicFrameLocks/>
              </p:cNvGraphicFramePr>
              <p:nvPr/>
            </p:nvGraphicFramePr>
            <p:xfrm>
              <a:off x="2928" y="973"/>
              <a:ext cx="1375" cy="899"/>
            </p:xfrm>
            <a:graphic>
              <a:graphicData uri="http://schemas.openxmlformats.org/presentationml/2006/ole">
                <mc:AlternateContent xmlns:mc="http://schemas.openxmlformats.org/markup-compatibility/2006">
                  <mc:Choice xmlns:v="urn:schemas-microsoft-com:vml" Requires="v">
                    <p:oleObj spid="_x0000_s196671" name="Bitmap Image" r:id="rId7" imgW="2819794" imgH="2591162" progId="Paint.Picture">
                      <p:embed/>
                    </p:oleObj>
                  </mc:Choice>
                  <mc:Fallback>
                    <p:oleObj name="Bitmap Image" r:id="rId7" imgW="2819794" imgH="2591162" progId="Paint.Picture">
                      <p:embed/>
                      <p:pic>
                        <p:nvPicPr>
                          <p:cNvPr id="0" name="Object 3"/>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28" y="973"/>
                            <a:ext cx="1375" cy="8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96625" name="Group 42"/>
              <p:cNvGrpSpPr>
                <a:grpSpLocks/>
              </p:cNvGrpSpPr>
              <p:nvPr/>
            </p:nvGrpSpPr>
            <p:grpSpPr bwMode="auto">
              <a:xfrm>
                <a:off x="3303" y="1027"/>
                <a:ext cx="557" cy="179"/>
                <a:chOff x="736" y="1060"/>
                <a:chExt cx="1096" cy="520"/>
              </a:xfrm>
            </p:grpSpPr>
            <p:grpSp>
              <p:nvGrpSpPr>
                <p:cNvPr id="196633" name="Group 43"/>
                <p:cNvGrpSpPr>
                  <a:grpSpLocks/>
                </p:cNvGrpSpPr>
                <p:nvPr/>
              </p:nvGrpSpPr>
              <p:grpSpPr bwMode="auto">
                <a:xfrm>
                  <a:off x="736" y="1060"/>
                  <a:ext cx="376" cy="520"/>
                  <a:chOff x="736" y="1060"/>
                  <a:chExt cx="376" cy="520"/>
                </a:xfrm>
              </p:grpSpPr>
              <p:sp>
                <p:nvSpPr>
                  <p:cNvPr id="196637" name="AutoShape 44"/>
                  <p:cNvSpPr>
                    <a:spLocks noChangeArrowheads="1"/>
                  </p:cNvSpPr>
                  <p:nvPr/>
                </p:nvSpPr>
                <p:spPr bwMode="auto">
                  <a:xfrm rot="16200000" flipH="1">
                    <a:off x="712" y="1132"/>
                    <a:ext cx="472" cy="328"/>
                  </a:xfrm>
                  <a:prstGeom prst="rightArrow">
                    <a:avLst>
                      <a:gd name="adj1" fmla="val 50000"/>
                      <a:gd name="adj2" fmla="val 71971"/>
                    </a:avLst>
                  </a:prstGeom>
                  <a:solidFill>
                    <a:schemeClr val="tx2"/>
                  </a:solidFill>
                  <a:ln w="12700">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96638" name="AutoShape 45"/>
                  <p:cNvSpPr>
                    <a:spLocks noChangeArrowheads="1"/>
                  </p:cNvSpPr>
                  <p:nvPr/>
                </p:nvSpPr>
                <p:spPr bwMode="auto">
                  <a:xfrm rot="16200000" flipH="1">
                    <a:off x="664" y="1180"/>
                    <a:ext cx="472" cy="328"/>
                  </a:xfrm>
                  <a:prstGeom prst="rightArrow">
                    <a:avLst>
                      <a:gd name="adj1" fmla="val 50000"/>
                      <a:gd name="adj2" fmla="val 71971"/>
                    </a:avLst>
                  </a:prstGeom>
                  <a:solidFill>
                    <a:schemeClr val="hlink"/>
                  </a:solidFill>
                  <a:ln w="12700">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grpSp>
              <p:nvGrpSpPr>
                <p:cNvPr id="196634" name="Group 46"/>
                <p:cNvGrpSpPr>
                  <a:grpSpLocks/>
                </p:cNvGrpSpPr>
                <p:nvPr/>
              </p:nvGrpSpPr>
              <p:grpSpPr bwMode="auto">
                <a:xfrm>
                  <a:off x="1456" y="1060"/>
                  <a:ext cx="376" cy="520"/>
                  <a:chOff x="1456" y="1060"/>
                  <a:chExt cx="376" cy="520"/>
                </a:xfrm>
              </p:grpSpPr>
              <p:sp>
                <p:nvSpPr>
                  <p:cNvPr id="196635" name="AutoShape 47"/>
                  <p:cNvSpPr>
                    <a:spLocks noChangeArrowheads="1"/>
                  </p:cNvSpPr>
                  <p:nvPr/>
                </p:nvSpPr>
                <p:spPr bwMode="auto">
                  <a:xfrm rot="16200000" flipH="1">
                    <a:off x="1432" y="1132"/>
                    <a:ext cx="472" cy="328"/>
                  </a:xfrm>
                  <a:prstGeom prst="rightArrow">
                    <a:avLst>
                      <a:gd name="adj1" fmla="val 50000"/>
                      <a:gd name="adj2" fmla="val 71971"/>
                    </a:avLst>
                  </a:prstGeom>
                  <a:solidFill>
                    <a:schemeClr val="tx2"/>
                  </a:solidFill>
                  <a:ln w="12700">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96636" name="AutoShape 48"/>
                  <p:cNvSpPr>
                    <a:spLocks noChangeArrowheads="1"/>
                  </p:cNvSpPr>
                  <p:nvPr/>
                </p:nvSpPr>
                <p:spPr bwMode="auto">
                  <a:xfrm rot="16200000" flipH="1">
                    <a:off x="1384" y="1180"/>
                    <a:ext cx="472" cy="328"/>
                  </a:xfrm>
                  <a:prstGeom prst="rightArrow">
                    <a:avLst>
                      <a:gd name="adj1" fmla="val 50000"/>
                      <a:gd name="adj2" fmla="val 71971"/>
                    </a:avLst>
                  </a:prstGeom>
                  <a:solidFill>
                    <a:schemeClr val="hlink"/>
                  </a:solidFill>
                  <a:ln w="12700">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grpSp>
          <p:grpSp>
            <p:nvGrpSpPr>
              <p:cNvPr id="196626" name="Group 56"/>
              <p:cNvGrpSpPr>
                <a:grpSpLocks/>
              </p:cNvGrpSpPr>
              <p:nvPr/>
            </p:nvGrpSpPr>
            <p:grpSpPr bwMode="auto">
              <a:xfrm>
                <a:off x="3277" y="1737"/>
                <a:ext cx="557" cy="179"/>
                <a:chOff x="688" y="3124"/>
                <a:chExt cx="1096" cy="520"/>
              </a:xfrm>
            </p:grpSpPr>
            <p:grpSp>
              <p:nvGrpSpPr>
                <p:cNvPr id="196627" name="Group 57"/>
                <p:cNvGrpSpPr>
                  <a:grpSpLocks/>
                </p:cNvGrpSpPr>
                <p:nvPr/>
              </p:nvGrpSpPr>
              <p:grpSpPr bwMode="auto">
                <a:xfrm>
                  <a:off x="1408" y="3124"/>
                  <a:ext cx="376" cy="520"/>
                  <a:chOff x="1408" y="3124"/>
                  <a:chExt cx="376" cy="520"/>
                </a:xfrm>
              </p:grpSpPr>
              <p:sp>
                <p:nvSpPr>
                  <p:cNvPr id="196631" name="AutoShape 58"/>
                  <p:cNvSpPr>
                    <a:spLocks noChangeArrowheads="1"/>
                  </p:cNvSpPr>
                  <p:nvPr/>
                </p:nvSpPr>
                <p:spPr bwMode="auto">
                  <a:xfrm rot="-5400000">
                    <a:off x="1336" y="3244"/>
                    <a:ext cx="472" cy="328"/>
                  </a:xfrm>
                  <a:prstGeom prst="rightArrow">
                    <a:avLst>
                      <a:gd name="adj1" fmla="val 50000"/>
                      <a:gd name="adj2" fmla="val 71971"/>
                    </a:avLst>
                  </a:prstGeom>
                  <a:solidFill>
                    <a:schemeClr val="tx2"/>
                  </a:solidFill>
                  <a:ln w="12700">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96632" name="AutoShape 59"/>
                  <p:cNvSpPr>
                    <a:spLocks noChangeArrowheads="1"/>
                  </p:cNvSpPr>
                  <p:nvPr/>
                </p:nvSpPr>
                <p:spPr bwMode="auto">
                  <a:xfrm rot="-5400000">
                    <a:off x="1384" y="3196"/>
                    <a:ext cx="472" cy="328"/>
                  </a:xfrm>
                  <a:prstGeom prst="rightArrow">
                    <a:avLst>
                      <a:gd name="adj1" fmla="val 50000"/>
                      <a:gd name="adj2" fmla="val 71971"/>
                    </a:avLst>
                  </a:prstGeom>
                  <a:solidFill>
                    <a:schemeClr val="hlink"/>
                  </a:solidFill>
                  <a:ln w="12700">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grpSp>
              <p:nvGrpSpPr>
                <p:cNvPr id="196628" name="Group 60"/>
                <p:cNvGrpSpPr>
                  <a:grpSpLocks/>
                </p:cNvGrpSpPr>
                <p:nvPr/>
              </p:nvGrpSpPr>
              <p:grpSpPr bwMode="auto">
                <a:xfrm>
                  <a:off x="688" y="3124"/>
                  <a:ext cx="376" cy="520"/>
                  <a:chOff x="688" y="3124"/>
                  <a:chExt cx="376" cy="520"/>
                </a:xfrm>
              </p:grpSpPr>
              <p:sp>
                <p:nvSpPr>
                  <p:cNvPr id="196629" name="AutoShape 61"/>
                  <p:cNvSpPr>
                    <a:spLocks noChangeArrowheads="1"/>
                  </p:cNvSpPr>
                  <p:nvPr/>
                </p:nvSpPr>
                <p:spPr bwMode="auto">
                  <a:xfrm rot="-5400000">
                    <a:off x="616" y="3244"/>
                    <a:ext cx="472" cy="328"/>
                  </a:xfrm>
                  <a:prstGeom prst="rightArrow">
                    <a:avLst>
                      <a:gd name="adj1" fmla="val 50000"/>
                      <a:gd name="adj2" fmla="val 71971"/>
                    </a:avLst>
                  </a:prstGeom>
                  <a:solidFill>
                    <a:schemeClr val="tx2"/>
                  </a:solidFill>
                  <a:ln w="12700">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
                <p:nvSpPr>
                  <p:cNvPr id="196630" name="AutoShape 62"/>
                  <p:cNvSpPr>
                    <a:spLocks noChangeArrowheads="1"/>
                  </p:cNvSpPr>
                  <p:nvPr/>
                </p:nvSpPr>
                <p:spPr bwMode="auto">
                  <a:xfrm rot="-5400000">
                    <a:off x="664" y="3196"/>
                    <a:ext cx="472" cy="328"/>
                  </a:xfrm>
                  <a:prstGeom prst="rightArrow">
                    <a:avLst>
                      <a:gd name="adj1" fmla="val 50000"/>
                      <a:gd name="adj2" fmla="val 71971"/>
                    </a:avLst>
                  </a:prstGeom>
                  <a:solidFill>
                    <a:schemeClr val="hlink"/>
                  </a:solidFill>
                  <a:ln w="12700">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grpSp>
          </p:grpSp>
        </p:grpSp>
        <p:sp>
          <p:nvSpPr>
            <p:cNvPr id="196620" name="Rectangle 78"/>
            <p:cNvSpPr>
              <a:spLocks noChangeArrowheads="1"/>
            </p:cNvSpPr>
            <p:nvPr/>
          </p:nvSpPr>
          <p:spPr bwMode="auto">
            <a:xfrm>
              <a:off x="409604" y="3943353"/>
              <a:ext cx="8153400" cy="8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a:solidFill>
                    <a:srgbClr val="6600FF"/>
                  </a:solidFill>
                  <a:latin typeface="Tahoma" panose="020B0604030504040204" pitchFamily="34" charset="0"/>
                  <a:cs typeface="Tahoma" panose="020B0604030504040204" pitchFamily="34" charset="0"/>
                </a:rPr>
                <a:t>Concora Medium Test (CMT) :</a:t>
              </a:r>
              <a:r>
                <a:rPr lang="en-US" altLang="en-US" sz="2800">
                  <a:solidFill>
                    <a:srgbClr val="6600FF"/>
                  </a:solidFill>
                  <a:latin typeface="Tahoma" panose="020B0604030504040204" pitchFamily="34" charset="0"/>
                  <a:cs typeface="Tahoma" panose="020B0604030504040204" pitchFamily="34" charset="0"/>
                </a:rPr>
                <a:t> </a:t>
              </a:r>
              <a:r>
                <a:rPr lang="en-US" altLang="en-US" sz="1400">
                  <a:latin typeface="Tahoma" panose="020B0604030504040204" pitchFamily="34" charset="0"/>
                  <a:cs typeface="Tahoma" panose="020B0604030504040204" pitchFamily="34" charset="0"/>
                </a:rPr>
                <a:t>The maximum compression force per unit width that a test piece of the paper or board can support until the onset of failure in a compression test </a:t>
              </a:r>
            </a:p>
            <a:p>
              <a:pPr eaLnBrk="1" hangingPunct="1">
                <a:spcBef>
                  <a:spcPct val="0"/>
                </a:spcBef>
                <a:buFontTx/>
                <a:buNone/>
              </a:pPr>
              <a:r>
                <a:rPr lang="en-US" altLang="en-US" sz="1400">
                  <a:latin typeface="Tahoma" panose="020B0604030504040204" pitchFamily="34" charset="0"/>
                  <a:cs typeface="Tahoma" panose="020B0604030504040204" pitchFamily="34" charset="0"/>
                </a:rPr>
                <a:t>ISO 9895-1989</a:t>
              </a:r>
              <a:r>
                <a:rPr lang="th-TH" altLang="en-US" sz="1400">
                  <a:latin typeface="Tahoma" panose="020B0604030504040204" pitchFamily="34" charset="0"/>
                  <a:cs typeface="Tahoma" panose="020B0604030504040204" pitchFamily="34" charset="0"/>
                </a:rPr>
                <a:t>     </a:t>
              </a:r>
              <a:r>
                <a:rPr lang="en-US" altLang="en-US" sz="1400">
                  <a:latin typeface="Tahoma" panose="020B0604030504040204" pitchFamily="34" charset="0"/>
                  <a:cs typeface="Tahoma" panose="020B0604030504040204" pitchFamily="34" charset="0"/>
                </a:rPr>
                <a:t>Unit : N</a:t>
              </a:r>
              <a:endParaRPr lang="th-TH" altLang="en-US" sz="1400">
                <a:latin typeface="Tahoma" panose="020B0604030504040204" pitchFamily="34" charset="0"/>
                <a:cs typeface="Tahoma" panose="020B0604030504040204" pitchFamily="34" charset="0"/>
              </a:endParaRPr>
            </a:p>
          </p:txBody>
        </p:sp>
        <p:sp>
          <p:nvSpPr>
            <p:cNvPr id="196621" name="Text Box 79"/>
            <p:cNvSpPr txBox="1">
              <a:spLocks noChangeArrowheads="1"/>
            </p:cNvSpPr>
            <p:nvPr/>
          </p:nvSpPr>
          <p:spPr bwMode="auto">
            <a:xfrm>
              <a:off x="4119592" y="4552953"/>
              <a:ext cx="185261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b="1" u="sng">
                  <a:solidFill>
                    <a:srgbClr val="FF0000"/>
                  </a:solidFill>
                  <a:latin typeface="Tahoma" panose="020B0604030504040204" pitchFamily="34" charset="0"/>
                  <a:cs typeface="Tahoma" panose="020B0604030504040204" pitchFamily="34" charset="0"/>
                </a:rPr>
                <a:t>Testing Machine</a:t>
              </a:r>
              <a:endParaRPr lang="th-TH" altLang="en-US" sz="1600" b="1" u="sng">
                <a:solidFill>
                  <a:srgbClr val="FF0000"/>
                </a:solidFill>
                <a:latin typeface="Tahoma" panose="020B0604030504040204" pitchFamily="34" charset="0"/>
                <a:cs typeface="Tahoma" panose="020B0604030504040204" pitchFamily="34" charset="0"/>
              </a:endParaRPr>
            </a:p>
          </p:txBody>
        </p:sp>
        <p:pic>
          <p:nvPicPr>
            <p:cNvPr id="196622" name="Picture 81" descr="DSC01024"/>
            <p:cNvPicPr>
              <a:picLocks noChangeAspect="1" noChangeArrowheads="1"/>
            </p:cNvPicPr>
            <p:nvPr/>
          </p:nvPicPr>
          <p:blipFill>
            <a:blip r:embed="rId9">
              <a:lum contrast="20000"/>
              <a:extLst>
                <a:ext uri="{28A0092B-C50C-407E-A947-70E740481C1C}">
                  <a14:useLocalDpi xmlns:a14="http://schemas.microsoft.com/office/drawing/2010/main" val="0"/>
                </a:ext>
              </a:extLst>
            </a:blip>
            <a:srcRect/>
            <a:stretch>
              <a:fillRect/>
            </a:stretch>
          </p:blipFill>
          <p:spPr bwMode="auto">
            <a:xfrm>
              <a:off x="6200804" y="5010153"/>
              <a:ext cx="1905000" cy="1428750"/>
            </a:xfrm>
            <a:prstGeom prst="rect">
              <a:avLst/>
            </a:prstGeom>
            <a:noFill/>
            <a:ln w="28575">
              <a:solidFill>
                <a:srgbClr val="FF6600"/>
              </a:solidFill>
              <a:miter lim="800000"/>
              <a:headEnd/>
              <a:tailEnd/>
            </a:ln>
            <a:extLst>
              <a:ext uri="{909E8E84-426E-40DD-AFC4-6F175D3DCCD1}">
                <a14:hiddenFill xmlns:a14="http://schemas.microsoft.com/office/drawing/2010/main">
                  <a:solidFill>
                    <a:srgbClr val="FFFFFF"/>
                  </a:solidFill>
                </a14:hiddenFill>
              </a:ext>
            </a:extLst>
          </p:spPr>
        </p:pic>
        <p:pic>
          <p:nvPicPr>
            <p:cNvPr id="196623" name="Picture 82" descr="DSC01026"/>
            <p:cNvPicPr>
              <a:picLocks noChangeAspect="1" noChangeArrowheads="1"/>
            </p:cNvPicPr>
            <p:nvPr/>
          </p:nvPicPr>
          <p:blipFill>
            <a:blip r:embed="rId10">
              <a:lum contrast="22000"/>
              <a:extLst>
                <a:ext uri="{28A0092B-C50C-407E-A947-70E740481C1C}">
                  <a14:useLocalDpi xmlns:a14="http://schemas.microsoft.com/office/drawing/2010/main" val="0"/>
                </a:ext>
              </a:extLst>
            </a:blip>
            <a:srcRect/>
            <a:stretch>
              <a:fillRect/>
            </a:stretch>
          </p:blipFill>
          <p:spPr bwMode="auto">
            <a:xfrm>
              <a:off x="4143404" y="5010153"/>
              <a:ext cx="1905000" cy="1428750"/>
            </a:xfrm>
            <a:prstGeom prst="rect">
              <a:avLst/>
            </a:prstGeom>
            <a:noFill/>
            <a:ln w="28575">
              <a:solidFill>
                <a:srgbClr val="FF6600"/>
              </a:solidFill>
              <a:miter lim="800000"/>
              <a:headEnd/>
              <a:tailEnd/>
            </a:ln>
            <a:extLst>
              <a:ext uri="{909E8E84-426E-40DD-AFC4-6F175D3DCCD1}">
                <a14:hiddenFill xmlns:a14="http://schemas.microsoft.com/office/drawing/2010/main">
                  <a:solidFill>
                    <a:srgbClr val="FFFFFF"/>
                  </a:solidFill>
                </a14:hiddenFill>
              </a:ext>
            </a:extLst>
          </p:spPr>
        </p:pic>
      </p:grpSp>
    </p:spTree>
  </p:cSld>
  <p:clrMapOvr>
    <a:masterClrMapping/>
  </p:clrMapOvr>
  <p:transition/>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body" idx="1"/>
          </p:nvPr>
        </p:nvSpPr>
        <p:spPr>
          <a:xfrm>
            <a:off x="250825" y="2384425"/>
            <a:ext cx="8677275" cy="4133850"/>
          </a:xfrm>
        </p:spPr>
        <p:txBody>
          <a:bodyPr/>
          <a:lstStyle/>
          <a:p>
            <a:pPr eaLnBrk="1" hangingPunct="1">
              <a:buFontTx/>
              <a:buNone/>
            </a:pPr>
            <a:r>
              <a:rPr lang="th-TH" altLang="en-US" sz="2600" b="1" u="sng" smtClean="0">
                <a:solidFill>
                  <a:srgbClr val="0000FF"/>
                </a:solidFill>
                <a:latin typeface="Tahoma" panose="020B0604030504040204" pitchFamily="34" charset="0"/>
                <a:cs typeface="Tahoma" panose="020B0604030504040204" pitchFamily="34" charset="0"/>
              </a:rPr>
              <a:t>เยื่อ </a:t>
            </a:r>
            <a:r>
              <a:rPr lang="en-US" altLang="en-US" sz="2600" b="1" u="sng" smtClean="0">
                <a:solidFill>
                  <a:srgbClr val="0000FF"/>
                </a:solidFill>
                <a:latin typeface="Tahoma" panose="020B0604030504040204" pitchFamily="34" charset="0"/>
                <a:cs typeface="Tahoma" panose="020B0604030504040204" pitchFamily="34" charset="0"/>
              </a:rPr>
              <a:t>SCP vs </a:t>
            </a:r>
            <a:r>
              <a:rPr lang="th-TH" altLang="en-US" sz="2600" b="1" u="sng" smtClean="0">
                <a:solidFill>
                  <a:srgbClr val="0000FF"/>
                </a:solidFill>
                <a:latin typeface="Tahoma" panose="020B0604030504040204" pitchFamily="34" charset="0"/>
                <a:cs typeface="Tahoma" panose="020B0604030504040204" pitchFamily="34" charset="0"/>
              </a:rPr>
              <a:t>เยื่อเศษกระดาษ</a:t>
            </a:r>
            <a:endParaRPr lang="en-US" altLang="en-US" sz="2600" b="1" u="sng" smtClean="0">
              <a:solidFill>
                <a:srgbClr val="0000FF"/>
              </a:solidFill>
              <a:latin typeface="Tahoma" panose="020B0604030504040204" pitchFamily="34" charset="0"/>
              <a:cs typeface="Tahoma" panose="020B0604030504040204" pitchFamily="34" charset="0"/>
            </a:endParaRPr>
          </a:p>
          <a:p>
            <a:pPr eaLnBrk="1" hangingPunct="1"/>
            <a:r>
              <a:rPr lang="en-US" altLang="en-US" sz="2600" b="1" smtClean="0">
                <a:solidFill>
                  <a:srgbClr val="0000FF"/>
                </a:solidFill>
                <a:latin typeface="Tahoma" panose="020B0604030504040204" pitchFamily="34" charset="0"/>
                <a:cs typeface="Tahoma" panose="020B0604030504040204" pitchFamily="34" charset="0"/>
              </a:rPr>
              <a:t>Stiffness / CMT / RCT </a:t>
            </a:r>
            <a:r>
              <a:rPr lang="th-TH" altLang="en-US" sz="2600" b="1" smtClean="0">
                <a:solidFill>
                  <a:srgbClr val="0000FF"/>
                </a:solidFill>
                <a:latin typeface="Tahoma" panose="020B0604030504040204" pitchFamily="34" charset="0"/>
                <a:cs typeface="Tahoma" panose="020B0604030504040204" pitchFamily="34" charset="0"/>
              </a:rPr>
              <a:t>สูงกว่า</a:t>
            </a:r>
            <a:endParaRPr lang="en-US" altLang="en-US" sz="2600" b="1" smtClean="0">
              <a:solidFill>
                <a:srgbClr val="0000FF"/>
              </a:solidFill>
              <a:latin typeface="Tahoma" panose="020B0604030504040204" pitchFamily="34" charset="0"/>
              <a:cs typeface="Tahoma" panose="020B0604030504040204" pitchFamily="34" charset="0"/>
            </a:endParaRPr>
          </a:p>
          <a:p>
            <a:pPr eaLnBrk="1" hangingPunct="1"/>
            <a:r>
              <a:rPr lang="th-TH" altLang="en-US" sz="2600" b="1" smtClean="0">
                <a:solidFill>
                  <a:srgbClr val="0000FF"/>
                </a:solidFill>
                <a:latin typeface="Tahoma" panose="020B0604030504040204" pitchFamily="34" charset="0"/>
                <a:cs typeface="Tahoma" panose="020B0604030504040204" pitchFamily="34" charset="0"/>
              </a:rPr>
              <a:t>ต้นทุนการผลิตต่ำกว่า</a:t>
            </a:r>
            <a:endParaRPr lang="en-US" altLang="en-US" sz="2600" b="1" smtClean="0">
              <a:solidFill>
                <a:srgbClr val="0000FF"/>
              </a:solidFill>
              <a:latin typeface="Tahoma" panose="020B0604030504040204" pitchFamily="34" charset="0"/>
              <a:cs typeface="Tahoma" panose="020B0604030504040204" pitchFamily="34" charset="0"/>
            </a:endParaRPr>
          </a:p>
          <a:p>
            <a:pPr eaLnBrk="1" hangingPunct="1"/>
            <a:r>
              <a:rPr lang="th-TH" altLang="en-US" sz="2600" b="1" smtClean="0">
                <a:solidFill>
                  <a:srgbClr val="0000FF"/>
                </a:solidFill>
                <a:latin typeface="Tahoma" panose="020B0604030504040204" pitchFamily="34" charset="0"/>
                <a:cs typeface="Tahoma" panose="020B0604030504040204" pitchFamily="34" charset="0"/>
              </a:rPr>
              <a:t>ความสะอาดของเยื่อ</a:t>
            </a:r>
          </a:p>
          <a:p>
            <a:pPr eaLnBrk="1" hangingPunct="1"/>
            <a:r>
              <a:rPr lang="th-TH" altLang="en-US" sz="2600" b="1" smtClean="0">
                <a:solidFill>
                  <a:srgbClr val="0000FF"/>
                </a:solidFill>
                <a:latin typeface="Tahoma" panose="020B0604030504040204" pitchFamily="34" charset="0"/>
                <a:cs typeface="Tahoma" panose="020B0604030504040204" pitchFamily="34" charset="0"/>
              </a:rPr>
              <a:t>การ </a:t>
            </a:r>
            <a:r>
              <a:rPr lang="en-US" altLang="en-US" sz="2600" b="1" smtClean="0">
                <a:solidFill>
                  <a:srgbClr val="0000FF"/>
                </a:solidFill>
                <a:latin typeface="Tahoma" panose="020B0604030504040204" pitchFamily="34" charset="0"/>
                <a:cs typeface="Tahoma" panose="020B0604030504040204" pitchFamily="34" charset="0"/>
              </a:rPr>
              <a:t>Drain</a:t>
            </a:r>
            <a:r>
              <a:rPr lang="th-TH" altLang="en-US" sz="2600" b="1" smtClean="0">
                <a:solidFill>
                  <a:srgbClr val="0000FF"/>
                </a:solidFill>
                <a:latin typeface="Tahoma" panose="020B0604030504040204" pitchFamily="34" charset="0"/>
                <a:cs typeface="Tahoma" panose="020B0604030504040204" pitchFamily="34" charset="0"/>
              </a:rPr>
              <a:t> น้ำบนลวดเดินแผ่นดีกว่า</a:t>
            </a:r>
          </a:p>
          <a:p>
            <a:pPr eaLnBrk="1" hangingPunct="1"/>
            <a:r>
              <a:rPr lang="en-US" altLang="en-US" sz="2600" b="1" smtClean="0">
                <a:solidFill>
                  <a:srgbClr val="0000FF"/>
                </a:solidFill>
                <a:latin typeface="Tahoma" panose="020B0604030504040204" pitchFamily="34" charset="0"/>
                <a:cs typeface="Tahoma" panose="020B0604030504040204" pitchFamily="34" charset="0"/>
              </a:rPr>
              <a:t>Tensile, Tear, Stretch </a:t>
            </a:r>
            <a:r>
              <a:rPr lang="th-TH" altLang="en-US" sz="2600" b="1" smtClean="0">
                <a:solidFill>
                  <a:srgbClr val="0000FF"/>
                </a:solidFill>
                <a:latin typeface="Tahoma" panose="020B0604030504040204" pitchFamily="34" charset="0"/>
                <a:cs typeface="Tahoma" panose="020B0604030504040204" pitchFamily="34" charset="0"/>
              </a:rPr>
              <a:t>ต่ำ</a:t>
            </a:r>
            <a:endParaRPr lang="en-US" altLang="en-US" sz="2600" b="1" smtClean="0">
              <a:solidFill>
                <a:srgbClr val="0000FF"/>
              </a:solidFill>
              <a:latin typeface="Tahoma" panose="020B0604030504040204" pitchFamily="34" charset="0"/>
              <a:cs typeface="Tahoma" panose="020B0604030504040204" pitchFamily="34" charset="0"/>
            </a:endParaRPr>
          </a:p>
          <a:p>
            <a:pPr eaLnBrk="1" hangingPunct="1"/>
            <a:r>
              <a:rPr lang="th-TH" altLang="en-US" sz="2600" b="1" smtClean="0">
                <a:solidFill>
                  <a:srgbClr val="0000FF"/>
                </a:solidFill>
                <a:latin typeface="Tahoma" panose="020B0604030504040204" pitchFamily="34" charset="0"/>
                <a:cs typeface="Tahoma" panose="020B0604030504040204" pitchFamily="34" charset="0"/>
              </a:rPr>
              <a:t>เยื่อมีสีคล้ำ </a:t>
            </a:r>
            <a:r>
              <a:rPr lang="en-US" altLang="en-US" sz="2600" b="1" smtClean="0">
                <a:solidFill>
                  <a:srgbClr val="0000FF"/>
                </a:solidFill>
                <a:latin typeface="Tahoma" panose="020B0604030504040204" pitchFamily="34" charset="0"/>
                <a:cs typeface="Tahoma" panose="020B0604030504040204" pitchFamily="34" charset="0"/>
              </a:rPr>
              <a:t>/ </a:t>
            </a:r>
            <a:r>
              <a:rPr lang="th-TH" altLang="en-US" sz="2600" b="1" smtClean="0">
                <a:solidFill>
                  <a:srgbClr val="0000FF"/>
                </a:solidFill>
                <a:latin typeface="Tahoma" panose="020B0604030504040204" pitchFamily="34" charset="0"/>
                <a:cs typeface="Tahoma" panose="020B0604030504040204" pitchFamily="34" charset="0"/>
              </a:rPr>
              <a:t>มีฟอง </a:t>
            </a:r>
            <a:r>
              <a:rPr lang="en-US" altLang="en-US" sz="2600" b="1" smtClean="0">
                <a:solidFill>
                  <a:srgbClr val="0000FF"/>
                </a:solidFill>
                <a:latin typeface="Tahoma" panose="020B0604030504040204" pitchFamily="34" charset="0"/>
                <a:cs typeface="Tahoma" panose="020B0604030504040204" pitchFamily="34" charset="0"/>
              </a:rPr>
              <a:t>/ </a:t>
            </a:r>
            <a:r>
              <a:rPr lang="th-TH" altLang="en-US" sz="2600" b="1" smtClean="0">
                <a:solidFill>
                  <a:srgbClr val="0000FF"/>
                </a:solidFill>
                <a:latin typeface="Tahoma" panose="020B0604030504040204" pitchFamily="34" charset="0"/>
                <a:cs typeface="Tahoma" panose="020B0604030504040204" pitchFamily="34" charset="0"/>
              </a:rPr>
              <a:t>เสี้ยน</a:t>
            </a:r>
          </a:p>
          <a:p>
            <a:pPr eaLnBrk="1" hangingPunct="1"/>
            <a:r>
              <a:rPr lang="th-TH" altLang="en-US" sz="2600" b="1" smtClean="0">
                <a:solidFill>
                  <a:srgbClr val="0000FF"/>
                </a:solidFill>
                <a:latin typeface="Tahoma" panose="020B0604030504040204" pitchFamily="34" charset="0"/>
                <a:cs typeface="Tahoma" panose="020B0604030504040204" pitchFamily="34" charset="0"/>
              </a:rPr>
              <a:t>บดเพิ่มคุณภาพยาก (ใช้พลังงานมากกว่า)</a:t>
            </a:r>
          </a:p>
        </p:txBody>
      </p:sp>
      <p:sp>
        <p:nvSpPr>
          <p:cNvPr id="197635" name="Text Box 3"/>
          <p:cNvSpPr txBox="1">
            <a:spLocks noChangeArrowheads="1"/>
          </p:cNvSpPr>
          <p:nvPr/>
        </p:nvSpPr>
        <p:spPr bwMode="auto">
          <a:xfrm>
            <a:off x="179388" y="822325"/>
            <a:ext cx="14033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endParaRPr lang="sv-SE" altLang="en-US" sz="2800">
              <a:latin typeface="Arial" panose="020B0604020202020204" pitchFamily="34" charset="0"/>
              <a:cs typeface="Angsana New" panose="02020603050405020304" pitchFamily="18" charset="-34"/>
            </a:endParaRPr>
          </a:p>
        </p:txBody>
      </p:sp>
      <p:sp>
        <p:nvSpPr>
          <p:cNvPr id="197636" name="Rectangle 4"/>
          <p:cNvSpPr>
            <a:spLocks noChangeArrowheads="1"/>
          </p:cNvSpPr>
          <p:nvPr/>
        </p:nvSpPr>
        <p:spPr bwMode="auto">
          <a:xfrm>
            <a:off x="287338" y="647700"/>
            <a:ext cx="8856662" cy="1557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buFontTx/>
              <a:buNone/>
            </a:pPr>
            <a:r>
              <a:rPr lang="th-TH" altLang="en-US" sz="2600" b="1" u="sng">
                <a:solidFill>
                  <a:srgbClr val="0000FF"/>
                </a:solidFill>
                <a:latin typeface="Tahoma" panose="020B0604030504040204" pitchFamily="34" charset="0"/>
                <a:cs typeface="Tahoma" panose="020B0604030504040204" pitchFamily="34" charset="0"/>
              </a:rPr>
              <a:t>การใช้งานเยื่อ </a:t>
            </a:r>
            <a:r>
              <a:rPr lang="en-US" altLang="en-US" sz="2600" b="1" u="sng">
                <a:solidFill>
                  <a:srgbClr val="0000FF"/>
                </a:solidFill>
                <a:latin typeface="Tahoma" panose="020B0604030504040204" pitchFamily="34" charset="0"/>
                <a:cs typeface="Tahoma" panose="020B0604030504040204" pitchFamily="34" charset="0"/>
              </a:rPr>
              <a:t>SCP</a:t>
            </a:r>
          </a:p>
          <a:p>
            <a:pPr eaLnBrk="1" hangingPunct="1">
              <a:buFontTx/>
              <a:buChar char="•"/>
            </a:pPr>
            <a:r>
              <a:rPr lang="th-TH" altLang="en-US" sz="2600" b="1">
                <a:solidFill>
                  <a:srgbClr val="0000FF"/>
                </a:solidFill>
                <a:latin typeface="Tahoma" panose="020B0604030504040204" pitchFamily="34" charset="0"/>
                <a:cs typeface="Tahoma" panose="020B0604030504040204" pitchFamily="34" charset="0"/>
              </a:rPr>
              <a:t>กระดาษลอนลูกฟูก (</a:t>
            </a:r>
            <a:r>
              <a:rPr lang="en-US" altLang="en-US" sz="2600" b="1">
                <a:solidFill>
                  <a:srgbClr val="0000FF"/>
                </a:solidFill>
                <a:latin typeface="Tahoma" panose="020B0604030504040204" pitchFamily="34" charset="0"/>
                <a:cs typeface="Tahoma" panose="020B0604030504040204" pitchFamily="34" charset="0"/>
              </a:rPr>
              <a:t>Corrugating Medium)</a:t>
            </a:r>
          </a:p>
          <a:p>
            <a:pPr eaLnBrk="1" hangingPunct="1">
              <a:buFontTx/>
              <a:buChar char="•"/>
            </a:pPr>
            <a:r>
              <a:rPr lang="th-TH" altLang="en-US" sz="2600" b="1">
                <a:solidFill>
                  <a:srgbClr val="0000FF"/>
                </a:solidFill>
                <a:latin typeface="Tahoma" panose="020B0604030504040204" pitchFamily="34" charset="0"/>
                <a:cs typeface="Tahoma" panose="020B0604030504040204" pitchFamily="34" charset="0"/>
              </a:rPr>
              <a:t>ชั้นล่าง</a:t>
            </a:r>
            <a:r>
              <a:rPr lang="en-US" altLang="en-US" sz="2600" b="1">
                <a:solidFill>
                  <a:srgbClr val="0000FF"/>
                </a:solidFill>
                <a:latin typeface="Tahoma" panose="020B0604030504040204" pitchFamily="34" charset="0"/>
                <a:cs typeface="Tahoma" panose="020B0604030504040204" pitchFamily="34" charset="0"/>
              </a:rPr>
              <a:t>/</a:t>
            </a:r>
            <a:r>
              <a:rPr lang="th-TH" altLang="en-US" sz="2600" b="1">
                <a:solidFill>
                  <a:srgbClr val="0000FF"/>
                </a:solidFill>
                <a:latin typeface="Tahoma" panose="020B0604030504040204" pitchFamily="34" charset="0"/>
                <a:cs typeface="Tahoma" panose="020B0604030504040204" pitchFamily="34" charset="0"/>
              </a:rPr>
              <a:t>ชั้นกลางของ </a:t>
            </a:r>
            <a:r>
              <a:rPr lang="en-US" altLang="en-US" sz="2600" b="1">
                <a:solidFill>
                  <a:srgbClr val="0000FF"/>
                </a:solidFill>
                <a:latin typeface="Tahoma" panose="020B0604030504040204" pitchFamily="34" charset="0"/>
                <a:cs typeface="Tahoma" panose="020B0604030504040204" pitchFamily="34" charset="0"/>
              </a:rPr>
              <a:t>Linerboard </a:t>
            </a:r>
          </a:p>
        </p:txBody>
      </p:sp>
      <p:sp>
        <p:nvSpPr>
          <p:cNvPr id="197637" name="Rectangle 5"/>
          <p:cNvSpPr>
            <a:spLocks noChangeArrowheads="1"/>
          </p:cNvSpPr>
          <p:nvPr/>
        </p:nvSpPr>
        <p:spPr bwMode="auto">
          <a:xfrm>
            <a:off x="0" y="-26988"/>
            <a:ext cx="9144000" cy="755651"/>
          </a:xfrm>
          <a:prstGeom prst="rect">
            <a:avLst/>
          </a:prstGeom>
          <a:noFill/>
          <a:ln>
            <a:noFill/>
          </a:ln>
          <a:effectLst/>
          <a:extLst>
            <a:ext uri="{909E8E84-426E-40DD-AFC4-6F175D3DCCD1}">
              <a14:hiddenFill xmlns:a14="http://schemas.microsoft.com/office/drawing/2010/main">
                <a:solidFill>
                  <a:srgbClr val="00008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th-TH" altLang="en-US" b="1">
                <a:solidFill>
                  <a:srgbClr val="FF0000"/>
                </a:solidFill>
                <a:latin typeface="Tahoma" panose="020B0604030504040204" pitchFamily="34" charset="0"/>
                <a:cs typeface="Tahoma" panose="020B0604030504040204" pitchFamily="34" charset="0"/>
              </a:rPr>
              <a:t> คุณสมบัติเยื่อ </a:t>
            </a:r>
            <a:r>
              <a:rPr lang="en-US" altLang="en-US" b="1">
                <a:solidFill>
                  <a:srgbClr val="FF0000"/>
                </a:solidFill>
                <a:latin typeface="Tahoma" panose="020B0604030504040204" pitchFamily="34" charset="0"/>
                <a:cs typeface="Tahoma" panose="020B0604030504040204" pitchFamily="34" charset="0"/>
              </a:rPr>
              <a:t>SCP</a:t>
            </a:r>
            <a:endParaRPr lang="th-TH" altLang="en-US" b="1">
              <a:solidFill>
                <a:srgbClr val="FF0000"/>
              </a:solidFill>
              <a:latin typeface="Tahoma" panose="020B0604030504040204" pitchFamily="34" charset="0"/>
              <a:cs typeface="Tahoma" panose="020B0604030504040204" pitchFamily="34" charset="0"/>
            </a:endParaRPr>
          </a:p>
        </p:txBody>
      </p:sp>
    </p:spTree>
  </p:cSld>
  <p:clrMapOvr>
    <a:masterClrMapping/>
  </p:clrMapOvr>
  <p:transition/>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8658" name="Picture 2" descr="IMG_010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4825" y="404813"/>
            <a:ext cx="3635375" cy="2725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8659" name="Picture 3" descr="IMG_009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313" y="3768725"/>
            <a:ext cx="3673475" cy="275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8660" name="Picture 4" descr="IMG_009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32363" y="404813"/>
            <a:ext cx="3671887" cy="275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8661" name="Picture 5" descr="IMG_010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32363" y="3789363"/>
            <a:ext cx="3708400" cy="278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454" name="Line 6"/>
          <p:cNvSpPr>
            <a:spLocks noChangeShapeType="1"/>
          </p:cNvSpPr>
          <p:nvPr/>
        </p:nvSpPr>
        <p:spPr bwMode="auto">
          <a:xfrm flipV="1">
            <a:off x="4211638" y="3286125"/>
            <a:ext cx="792162" cy="647700"/>
          </a:xfrm>
          <a:prstGeom prst="line">
            <a:avLst/>
          </a:prstGeom>
          <a:noFill/>
          <a:ln w="152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455" name="Line 7"/>
          <p:cNvSpPr>
            <a:spLocks noChangeShapeType="1"/>
          </p:cNvSpPr>
          <p:nvPr/>
        </p:nvSpPr>
        <p:spPr bwMode="auto">
          <a:xfrm>
            <a:off x="7056438" y="3141663"/>
            <a:ext cx="0" cy="649287"/>
          </a:xfrm>
          <a:prstGeom prst="line">
            <a:avLst/>
          </a:prstGeom>
          <a:noFill/>
          <a:ln w="152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456" name="Line 8"/>
          <p:cNvSpPr>
            <a:spLocks noChangeShapeType="1"/>
          </p:cNvSpPr>
          <p:nvPr/>
        </p:nvSpPr>
        <p:spPr bwMode="auto">
          <a:xfrm>
            <a:off x="2268538" y="3141663"/>
            <a:ext cx="0" cy="611187"/>
          </a:xfrm>
          <a:prstGeom prst="line">
            <a:avLst/>
          </a:prstGeom>
          <a:noFill/>
          <a:ln w="152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8665" name="AutoShape 9">
            <a:hlinkClick r:id="rId7" action="ppaction://hlinksldjump" highlightClick="1"/>
          </p:cNvPr>
          <p:cNvSpPr>
            <a:spLocks noChangeArrowheads="1"/>
          </p:cNvSpPr>
          <p:nvPr/>
        </p:nvSpPr>
        <p:spPr bwMode="auto">
          <a:xfrm>
            <a:off x="8893175" y="6524625"/>
            <a:ext cx="250825" cy="333375"/>
          </a:xfrm>
          <a:prstGeom prst="actionButtonHome">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800">
              <a:latin typeface="Arial" panose="020B0604020202020204" pitchFamily="34" charset="0"/>
              <a:cs typeface="Angsana New" panose="02020603050405020304" pitchFamily="18" charset="-34"/>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4456"/>
                                        </p:tgtEl>
                                        <p:attrNameLst>
                                          <p:attrName>style.visibility</p:attrName>
                                        </p:attrNameLst>
                                      </p:cBhvr>
                                      <p:to>
                                        <p:strVal val="visible"/>
                                      </p:to>
                                    </p:set>
                                    <p:animEffect transition="in" filter="dissolve">
                                      <p:cBhvr>
                                        <p:cTn id="7" dur="500"/>
                                        <p:tgtEl>
                                          <p:spTgt spid="10445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4454"/>
                                        </p:tgtEl>
                                        <p:attrNameLst>
                                          <p:attrName>style.visibility</p:attrName>
                                        </p:attrNameLst>
                                      </p:cBhvr>
                                      <p:to>
                                        <p:strVal val="visible"/>
                                      </p:to>
                                    </p:set>
                                    <p:animEffect transition="in" filter="dissolve">
                                      <p:cBhvr>
                                        <p:cTn id="12" dur="500"/>
                                        <p:tgtEl>
                                          <p:spTgt spid="10445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04455"/>
                                        </p:tgtEl>
                                        <p:attrNameLst>
                                          <p:attrName>style.visibility</p:attrName>
                                        </p:attrNameLst>
                                      </p:cBhvr>
                                      <p:to>
                                        <p:strVal val="visible"/>
                                      </p:to>
                                    </p:set>
                                    <p:animEffect transition="in" filter="dissolve">
                                      <p:cBhvr>
                                        <p:cTn id="17" dur="500"/>
                                        <p:tgtEl>
                                          <p:spTgt spid="1044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4" grpId="0" animBg="1"/>
      <p:bldP spid="104455" grpId="0" animBg="1"/>
      <p:bldP spid="104456" grpId="0" animBg="1"/>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Title 1"/>
          <p:cNvSpPr>
            <a:spLocks noGrp="1"/>
          </p:cNvSpPr>
          <p:nvPr>
            <p:ph type="title"/>
          </p:nvPr>
        </p:nvSpPr>
        <p:spPr>
          <a:xfrm>
            <a:off x="457200" y="-17463"/>
            <a:ext cx="8229600" cy="1143001"/>
          </a:xfrm>
        </p:spPr>
        <p:txBody>
          <a:bodyPr/>
          <a:lstStyle/>
          <a:p>
            <a:pPr eaLnBrk="1" hangingPunct="1"/>
            <a:r>
              <a:rPr lang="en-US" altLang="en-US" sz="3200" smtClean="0">
                <a:latin typeface="Tahoma" panose="020B0604030504040204" pitchFamily="34" charset="0"/>
                <a:cs typeface="Tahoma" panose="020B0604030504040204" pitchFamily="34" charset="0"/>
              </a:rPr>
              <a:t>4. Overview of Pulping methodology </a:t>
            </a:r>
          </a:p>
        </p:txBody>
      </p:sp>
      <p:sp>
        <p:nvSpPr>
          <p:cNvPr id="200707" name="TextBox 6"/>
          <p:cNvSpPr txBox="1">
            <a:spLocks noChangeArrowheads="1"/>
          </p:cNvSpPr>
          <p:nvPr/>
        </p:nvSpPr>
        <p:spPr bwMode="auto">
          <a:xfrm>
            <a:off x="-14288" y="6092825"/>
            <a:ext cx="25701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a:t>Credit: Convergence Training</a:t>
            </a:r>
          </a:p>
        </p:txBody>
      </p:sp>
      <p:pic>
        <p:nvPicPr>
          <p:cNvPr id="2" name="08 - Chemical Pulping.mp4">
            <a:hlinkClick r:id="" action="ppaction://media"/>
          </p:cNvPr>
          <p:cNvPicPr>
            <a:picLocks noChangeAspect="1"/>
          </p:cNvPicPr>
          <p:nvPr>
            <a:videoFile r:link="rId2"/>
            <p:extLst>
              <p:ext uri="{DAA4B4D4-6D71-4841-9C94-3DE7FCFB9230}">
                <p14:media xmlns:p14="http://schemas.microsoft.com/office/powerpoint/2010/main" r:link="rId1"/>
              </p:ext>
            </p:extLst>
          </p:nvPr>
        </p:nvPicPr>
        <p:blipFill>
          <a:blip r:embed="rId5">
            <a:extLst>
              <a:ext uri="{28A0092B-C50C-407E-A947-70E740481C1C}">
                <a14:useLocalDpi xmlns:a14="http://schemas.microsoft.com/office/drawing/2010/main" val="0"/>
              </a:ext>
            </a:extLst>
          </a:blip>
          <a:srcRect/>
          <a:stretch>
            <a:fillRect/>
          </a:stretch>
        </p:blipFill>
        <p:spPr bwMode="auto">
          <a:xfrm>
            <a:off x="938213" y="904875"/>
            <a:ext cx="7267575" cy="557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nodeType="clickPar">
                      <p:stCondLst>
                        <p:cond delay="0"/>
                      </p:stCondLst>
                      <p:childTnLst>
                        <p:par>
                          <p:cTn id="4" fill="hold" nodeType="withGroup">
                            <p:stCondLst>
                              <p:cond delay="0"/>
                            </p:stCondLst>
                            <p:childTnLst>
                              <p:par>
                                <p:cTn id="5" presetID="2" presetClass="mediacall" presetSubtype="0" fill="hold" nodeType="clickEffect">
                                  <p:stCondLst>
                                    <p:cond delay="0"/>
                                  </p:stCondLst>
                                  <p:childTnLst>
                                    <p:cmd type="call" cmd="togglePause">
                                      <p:cBhvr>
                                        <p:cTn id="6" dur="1" fill="hold"/>
                                        <p:tgtEl>
                                          <p:spTgt spid="2"/>
                                        </p:tgtEl>
                                      </p:cBhvr>
                                    </p:cmd>
                                  </p:childTnLst>
                                </p:cTn>
                              </p:par>
                            </p:childTnLst>
                          </p:cTn>
                        </p:par>
                      </p:childTnLst>
                    </p:cTn>
                  </p:par>
                </p:childTnLst>
              </p:cTn>
              <p:nextCondLst>
                <p:cond evt="onClick" delay="0">
                  <p:tgtEl>
                    <p:spTgt spid="2"/>
                  </p:tgtEl>
                </p:cond>
              </p:nextCondLst>
            </p:seq>
            <p:video>
              <p:cMediaNode vol="80000">
                <p:cTn id="7" fill="hold" display="0">
                  <p:stCondLst>
                    <p:cond delay="indefinite"/>
                  </p:stCondLst>
                </p:cTn>
                <p:tgtEl>
                  <p:spTgt spid="2"/>
                </p:tgtEl>
              </p:cMediaNode>
            </p:video>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Title 1"/>
          <p:cNvSpPr>
            <a:spLocks noGrp="1"/>
          </p:cNvSpPr>
          <p:nvPr>
            <p:ph type="title"/>
          </p:nvPr>
        </p:nvSpPr>
        <p:spPr>
          <a:xfrm>
            <a:off x="457200" y="-17463"/>
            <a:ext cx="8229600" cy="1143001"/>
          </a:xfrm>
        </p:spPr>
        <p:txBody>
          <a:bodyPr/>
          <a:lstStyle/>
          <a:p>
            <a:pPr eaLnBrk="1" hangingPunct="1"/>
            <a:r>
              <a:rPr lang="en-US" altLang="en-US" sz="3200" smtClean="0">
                <a:latin typeface="Tahoma" panose="020B0604030504040204" pitchFamily="34" charset="0"/>
                <a:cs typeface="Tahoma" panose="020B0604030504040204" pitchFamily="34" charset="0"/>
              </a:rPr>
              <a:t>4. Overview of Pulping methodology </a:t>
            </a:r>
          </a:p>
        </p:txBody>
      </p:sp>
      <p:pic>
        <p:nvPicPr>
          <p:cNvPr id="202755"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9538" y="981075"/>
            <a:ext cx="4429125" cy="331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2756" name="Picture 6"/>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610100" y="981075"/>
            <a:ext cx="4425950" cy="331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2757" name="TextBox 7"/>
          <p:cNvSpPr txBox="1">
            <a:spLocks noChangeArrowheads="1"/>
          </p:cNvSpPr>
          <p:nvPr/>
        </p:nvSpPr>
        <p:spPr bwMode="auto">
          <a:xfrm>
            <a:off x="92075" y="4303713"/>
            <a:ext cx="4408488"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a:t>The two major chemical pulping processes are: </a:t>
            </a:r>
          </a:p>
          <a:p>
            <a:pPr eaLnBrk="1" hangingPunct="1">
              <a:spcBef>
                <a:spcPct val="0"/>
              </a:spcBef>
              <a:buFontTx/>
              <a:buNone/>
            </a:pPr>
            <a:r>
              <a:rPr lang="en-US" altLang="en-US" sz="2000"/>
              <a:t>	•  Sulfite </a:t>
            </a:r>
          </a:p>
          <a:p>
            <a:pPr eaLnBrk="1" hangingPunct="1">
              <a:spcBef>
                <a:spcPct val="0"/>
              </a:spcBef>
              <a:buFontTx/>
              <a:buNone/>
            </a:pPr>
            <a:r>
              <a:rPr lang="en-US" altLang="en-US" sz="2000"/>
              <a:t>	•  Kraft, or sulfate </a:t>
            </a:r>
          </a:p>
        </p:txBody>
      </p:sp>
      <p:sp>
        <p:nvSpPr>
          <p:cNvPr id="202758" name="TextBox 8"/>
          <p:cNvSpPr txBox="1">
            <a:spLocks noChangeArrowheads="1"/>
          </p:cNvSpPr>
          <p:nvPr/>
        </p:nvSpPr>
        <p:spPr bwMode="auto">
          <a:xfrm>
            <a:off x="4610100" y="4303713"/>
            <a:ext cx="4408488" cy="163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a:t>In both processes, wood chips are "cooked" in a chemical solution called "liquor" to remove the lignin and separate the cellulose fibers from each other. </a:t>
            </a:r>
          </a:p>
        </p:txBody>
      </p:sp>
      <p:sp>
        <p:nvSpPr>
          <p:cNvPr id="202759" name="TextBox 6"/>
          <p:cNvSpPr txBox="1">
            <a:spLocks noChangeArrowheads="1"/>
          </p:cNvSpPr>
          <p:nvPr/>
        </p:nvSpPr>
        <p:spPr bwMode="auto">
          <a:xfrm>
            <a:off x="-14288" y="6092825"/>
            <a:ext cx="25701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a:t>Credit: Convergence Training</a:t>
            </a:r>
          </a:p>
        </p:txBody>
      </p:sp>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Title 1"/>
          <p:cNvSpPr>
            <a:spLocks noGrp="1"/>
          </p:cNvSpPr>
          <p:nvPr>
            <p:ph type="title"/>
          </p:nvPr>
        </p:nvSpPr>
        <p:spPr>
          <a:xfrm>
            <a:off x="457200" y="-17463"/>
            <a:ext cx="8229600" cy="1143001"/>
          </a:xfrm>
        </p:spPr>
        <p:txBody>
          <a:bodyPr/>
          <a:lstStyle/>
          <a:p>
            <a:pPr eaLnBrk="1" hangingPunct="1"/>
            <a:r>
              <a:rPr lang="en-US" altLang="en-US" sz="3200" smtClean="0">
                <a:latin typeface="Tahoma" panose="020B0604030504040204" pitchFamily="34" charset="0"/>
                <a:cs typeface="Tahoma" panose="020B0604030504040204" pitchFamily="34" charset="0"/>
              </a:rPr>
              <a:t>4. Overview of Pulping methodology </a:t>
            </a:r>
          </a:p>
        </p:txBody>
      </p:sp>
      <p:pic>
        <p:nvPicPr>
          <p:cNvPr id="204803" name="Picture 8"/>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041400"/>
            <a:ext cx="4368800" cy="325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04" name="Picture 9"/>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665663" y="1041400"/>
            <a:ext cx="4370387" cy="324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05" name="TextBox 7"/>
          <p:cNvSpPr txBox="1">
            <a:spLocks noChangeArrowheads="1"/>
          </p:cNvSpPr>
          <p:nvPr/>
        </p:nvSpPr>
        <p:spPr bwMode="auto">
          <a:xfrm>
            <a:off x="92075" y="4303713"/>
            <a:ext cx="4408488"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a:t>Because lignin and some other wood components are dissolved and removed, these pulps are referred to as "wood-free." </a:t>
            </a:r>
          </a:p>
        </p:txBody>
      </p:sp>
      <p:sp>
        <p:nvSpPr>
          <p:cNvPr id="204806" name="TextBox 8"/>
          <p:cNvSpPr txBox="1">
            <a:spLocks noChangeArrowheads="1"/>
          </p:cNvSpPr>
          <p:nvPr/>
        </p:nvSpPr>
        <p:spPr bwMode="auto">
          <a:xfrm>
            <a:off x="4610100" y="4303713"/>
            <a:ext cx="4408488" cy="163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a:t>One major disadvantage of chemical pulping processes is that they have yields in the range of 40 to 50%, whereas mechanical pulping yields run around 95%. </a:t>
            </a:r>
          </a:p>
        </p:txBody>
      </p:sp>
      <p:sp>
        <p:nvSpPr>
          <p:cNvPr id="204807" name="TextBox 6"/>
          <p:cNvSpPr txBox="1">
            <a:spLocks noChangeArrowheads="1"/>
          </p:cNvSpPr>
          <p:nvPr/>
        </p:nvSpPr>
        <p:spPr bwMode="auto">
          <a:xfrm>
            <a:off x="-14288" y="6092825"/>
            <a:ext cx="25701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a:t>Credit: Convergence Training</a:t>
            </a:r>
          </a:p>
        </p:txBody>
      </p:sp>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Title 1"/>
          <p:cNvSpPr>
            <a:spLocks noGrp="1"/>
          </p:cNvSpPr>
          <p:nvPr>
            <p:ph type="title"/>
          </p:nvPr>
        </p:nvSpPr>
        <p:spPr>
          <a:xfrm>
            <a:off x="457200" y="-17463"/>
            <a:ext cx="8229600" cy="1143001"/>
          </a:xfrm>
        </p:spPr>
        <p:txBody>
          <a:bodyPr/>
          <a:lstStyle/>
          <a:p>
            <a:pPr eaLnBrk="1" hangingPunct="1"/>
            <a:r>
              <a:rPr lang="en-US" altLang="en-US" sz="3200" smtClean="0">
                <a:latin typeface="Tahoma" panose="020B0604030504040204" pitchFamily="34" charset="0"/>
                <a:cs typeface="Tahoma" panose="020B0604030504040204" pitchFamily="34" charset="0"/>
              </a:rPr>
              <a:t>4. Overview of Pulping methodology </a:t>
            </a:r>
          </a:p>
        </p:txBody>
      </p:sp>
      <p:pic>
        <p:nvPicPr>
          <p:cNvPr id="206851" name="Picture 10"/>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9388" y="1733550"/>
            <a:ext cx="4392612" cy="326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6852" name="TextBox 5"/>
          <p:cNvSpPr txBox="1">
            <a:spLocks noChangeArrowheads="1"/>
          </p:cNvSpPr>
          <p:nvPr/>
        </p:nvSpPr>
        <p:spPr bwMode="auto">
          <a:xfrm>
            <a:off x="4735513" y="2565400"/>
            <a:ext cx="4408487" cy="132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a:t>The main advantages of chemical pulps are that the fibers are longer and stronger, and they can be bleached to a high brightness. </a:t>
            </a:r>
          </a:p>
        </p:txBody>
      </p:sp>
      <p:sp>
        <p:nvSpPr>
          <p:cNvPr id="206853" name="TextBox 4"/>
          <p:cNvSpPr txBox="1">
            <a:spLocks noChangeArrowheads="1"/>
          </p:cNvSpPr>
          <p:nvPr/>
        </p:nvSpPr>
        <p:spPr bwMode="auto">
          <a:xfrm>
            <a:off x="-14288" y="6092825"/>
            <a:ext cx="25701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a:t>Credit: Convergence Training</a:t>
            </a:r>
          </a:p>
        </p:txBody>
      </p:sp>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Title 1"/>
          <p:cNvSpPr>
            <a:spLocks noGrp="1"/>
          </p:cNvSpPr>
          <p:nvPr>
            <p:ph type="title"/>
          </p:nvPr>
        </p:nvSpPr>
        <p:spPr>
          <a:xfrm>
            <a:off x="457200" y="-17463"/>
            <a:ext cx="8229600" cy="1143001"/>
          </a:xfrm>
        </p:spPr>
        <p:txBody>
          <a:bodyPr/>
          <a:lstStyle/>
          <a:p>
            <a:pPr eaLnBrk="1" hangingPunct="1"/>
            <a:r>
              <a:rPr lang="en-US" altLang="en-US" sz="3200" smtClean="0">
                <a:latin typeface="Tahoma" panose="020B0604030504040204" pitchFamily="34" charset="0"/>
                <a:cs typeface="Tahoma" panose="020B0604030504040204" pitchFamily="34" charset="0"/>
              </a:rPr>
              <a:t>4. Overview of Pulping methodology </a:t>
            </a:r>
          </a:p>
        </p:txBody>
      </p:sp>
      <p:pic>
        <p:nvPicPr>
          <p:cNvPr id="2" name="09 - Cooking.mp4">
            <a:hlinkClick r:id="" action="ppaction://media"/>
          </p:cNvPr>
          <p:cNvPicPr>
            <a:picLocks noChangeAspect="1"/>
          </p:cNvPicPr>
          <p:nvPr>
            <a:videoFile r:link="rId2"/>
            <p:extLst>
              <p:ext uri="{DAA4B4D4-6D71-4841-9C94-3DE7FCFB9230}">
                <p14:media xmlns:p14="http://schemas.microsoft.com/office/powerpoint/2010/main" r:link="rId1"/>
              </p:ext>
            </p:extLst>
          </p:nvPr>
        </p:nvPicPr>
        <p:blipFill>
          <a:blip r:embed="rId5">
            <a:extLst>
              <a:ext uri="{28A0092B-C50C-407E-A947-70E740481C1C}">
                <a14:useLocalDpi xmlns:a14="http://schemas.microsoft.com/office/drawing/2010/main" val="0"/>
              </a:ext>
            </a:extLst>
          </a:blip>
          <a:srcRect/>
          <a:stretch>
            <a:fillRect/>
          </a:stretch>
        </p:blipFill>
        <p:spPr bwMode="auto">
          <a:xfrm>
            <a:off x="884238" y="858838"/>
            <a:ext cx="7375525" cy="565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nodeType="clickPar">
                      <p:stCondLst>
                        <p:cond delay="0"/>
                      </p:stCondLst>
                      <p:childTnLst>
                        <p:par>
                          <p:cTn id="4" fill="hold" nodeType="withGroup">
                            <p:stCondLst>
                              <p:cond delay="0"/>
                            </p:stCondLst>
                            <p:childTnLst>
                              <p:par>
                                <p:cTn id="5" presetID="2" presetClass="mediacall" presetSubtype="0" fill="hold" nodeType="clickEffect">
                                  <p:stCondLst>
                                    <p:cond delay="0"/>
                                  </p:stCondLst>
                                  <p:childTnLst>
                                    <p:cmd type="call" cmd="togglePause">
                                      <p:cBhvr>
                                        <p:cTn id="6" dur="1" fill="hold"/>
                                        <p:tgtEl>
                                          <p:spTgt spid="2"/>
                                        </p:tgtEl>
                                      </p:cBhvr>
                                    </p:cmd>
                                  </p:childTnLst>
                                </p:cTn>
                              </p:par>
                            </p:childTnLst>
                          </p:cTn>
                        </p:par>
                      </p:childTnLst>
                    </p:cTn>
                  </p:par>
                </p:childTnLst>
              </p:cTn>
              <p:nextCondLst>
                <p:cond evt="onClick" delay="0">
                  <p:tgtEl>
                    <p:spTgt spid="2"/>
                  </p:tgtEl>
                </p:cond>
              </p:nextCondLst>
            </p:seq>
            <p:video>
              <p:cMediaNode vol="80000">
                <p:cTn id="7" fill="hold" display="0">
                  <p:stCondLst>
                    <p:cond delay="indefinite"/>
                  </p:stCondLst>
                </p:cTn>
                <p:tgtEl>
                  <p:spTgt spid="2"/>
                </p:tgtEl>
              </p:cMediaNode>
            </p:video>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Title 1"/>
          <p:cNvSpPr>
            <a:spLocks noGrp="1"/>
          </p:cNvSpPr>
          <p:nvPr>
            <p:ph type="title"/>
          </p:nvPr>
        </p:nvSpPr>
        <p:spPr>
          <a:xfrm>
            <a:off x="457200" y="-17463"/>
            <a:ext cx="8229600" cy="1143001"/>
          </a:xfrm>
        </p:spPr>
        <p:txBody>
          <a:bodyPr/>
          <a:lstStyle/>
          <a:p>
            <a:pPr eaLnBrk="1" hangingPunct="1"/>
            <a:r>
              <a:rPr lang="en-US" altLang="en-US" sz="3200" smtClean="0">
                <a:latin typeface="Tahoma" panose="020B0604030504040204" pitchFamily="34" charset="0"/>
                <a:cs typeface="Tahoma" panose="020B0604030504040204" pitchFamily="34" charset="0"/>
              </a:rPr>
              <a:t>4. Overview of Pulping methodology </a:t>
            </a:r>
          </a:p>
        </p:txBody>
      </p:sp>
      <p:pic>
        <p:nvPicPr>
          <p:cNvPr id="210947"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3988" y="1054100"/>
            <a:ext cx="4344987" cy="323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0948" name="Picture 3"/>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619625" y="1054100"/>
            <a:ext cx="4344988" cy="323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0949" name="TextBox 8"/>
          <p:cNvSpPr txBox="1">
            <a:spLocks noChangeArrowheads="1"/>
          </p:cNvSpPr>
          <p:nvPr/>
        </p:nvSpPr>
        <p:spPr bwMode="auto">
          <a:xfrm>
            <a:off x="92075" y="4303713"/>
            <a:ext cx="4408488"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a:t>In chemical pulping, the cooking is accomplished in a "digester" (a large pressure cooker), in either a batch or a continuous process. </a:t>
            </a:r>
          </a:p>
        </p:txBody>
      </p:sp>
      <p:sp>
        <p:nvSpPr>
          <p:cNvPr id="210950" name="TextBox 9"/>
          <p:cNvSpPr txBox="1">
            <a:spLocks noChangeArrowheads="1"/>
          </p:cNvSpPr>
          <p:nvPr/>
        </p:nvSpPr>
        <p:spPr bwMode="auto">
          <a:xfrm>
            <a:off x="4610100" y="4303713"/>
            <a:ext cx="4408488" cy="92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t>In the batch process, the digester is loaded with wood chips, filled with cooking liquor, and then heated and pressurized with steam. </a:t>
            </a:r>
          </a:p>
        </p:txBody>
      </p:sp>
      <p:sp>
        <p:nvSpPr>
          <p:cNvPr id="210951" name="TextBox 6"/>
          <p:cNvSpPr txBox="1">
            <a:spLocks noChangeArrowheads="1"/>
          </p:cNvSpPr>
          <p:nvPr/>
        </p:nvSpPr>
        <p:spPr bwMode="auto">
          <a:xfrm>
            <a:off x="-14288" y="6092825"/>
            <a:ext cx="25701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a:t>Credit: Convergence Training</a:t>
            </a:r>
          </a:p>
        </p:txBody>
      </p:sp>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Title 1"/>
          <p:cNvSpPr>
            <a:spLocks noGrp="1"/>
          </p:cNvSpPr>
          <p:nvPr>
            <p:ph type="title"/>
          </p:nvPr>
        </p:nvSpPr>
        <p:spPr>
          <a:xfrm>
            <a:off x="457200" y="-17463"/>
            <a:ext cx="8229600" cy="1143001"/>
          </a:xfrm>
        </p:spPr>
        <p:txBody>
          <a:bodyPr/>
          <a:lstStyle/>
          <a:p>
            <a:pPr eaLnBrk="1" hangingPunct="1"/>
            <a:r>
              <a:rPr lang="en-US" altLang="en-US" sz="3200" smtClean="0">
                <a:latin typeface="Tahoma" panose="020B0604030504040204" pitchFamily="34" charset="0"/>
                <a:cs typeface="Tahoma" panose="020B0604030504040204" pitchFamily="34" charset="0"/>
              </a:rPr>
              <a:t>4. Overview of Pulping methodology </a:t>
            </a:r>
          </a:p>
        </p:txBody>
      </p:sp>
      <p:pic>
        <p:nvPicPr>
          <p:cNvPr id="212995" name="Picture 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07963" y="1108075"/>
            <a:ext cx="4270375" cy="318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2996" name="Picture 7"/>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692650" y="1108075"/>
            <a:ext cx="4271963" cy="318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2997" name="TextBox 8"/>
          <p:cNvSpPr txBox="1">
            <a:spLocks noChangeArrowheads="1"/>
          </p:cNvSpPr>
          <p:nvPr/>
        </p:nvSpPr>
        <p:spPr bwMode="auto">
          <a:xfrm>
            <a:off x="92075" y="4303713"/>
            <a:ext cx="4408488"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a:t>After several hours at these conditions, the liquor-fiber mixture is released or "blown" from the bottom of the digester. </a:t>
            </a:r>
          </a:p>
        </p:txBody>
      </p:sp>
      <p:sp>
        <p:nvSpPr>
          <p:cNvPr id="212998" name="TextBox 9"/>
          <p:cNvSpPr txBox="1">
            <a:spLocks noChangeArrowheads="1"/>
          </p:cNvSpPr>
          <p:nvPr/>
        </p:nvSpPr>
        <p:spPr bwMode="auto">
          <a:xfrm>
            <a:off x="4610100" y="4303713"/>
            <a:ext cx="440848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t>In a continuous digester (Kamyr being the most common name), </a:t>
            </a:r>
          </a:p>
        </p:txBody>
      </p:sp>
      <p:sp>
        <p:nvSpPr>
          <p:cNvPr id="212999" name="TextBox 6"/>
          <p:cNvSpPr txBox="1">
            <a:spLocks noChangeArrowheads="1"/>
          </p:cNvSpPr>
          <p:nvPr/>
        </p:nvSpPr>
        <p:spPr bwMode="auto">
          <a:xfrm>
            <a:off x="-14288" y="6092825"/>
            <a:ext cx="25701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a:t>Credit: Convergence Training</a:t>
            </a:r>
          </a:p>
        </p:txBody>
      </p:sp>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Title 1"/>
          <p:cNvSpPr>
            <a:spLocks noGrp="1"/>
          </p:cNvSpPr>
          <p:nvPr>
            <p:ph type="title"/>
          </p:nvPr>
        </p:nvSpPr>
        <p:spPr>
          <a:xfrm>
            <a:off x="457200" y="-17463"/>
            <a:ext cx="8229600" cy="1143001"/>
          </a:xfrm>
        </p:spPr>
        <p:txBody>
          <a:bodyPr/>
          <a:lstStyle/>
          <a:p>
            <a:pPr eaLnBrk="1" hangingPunct="1"/>
            <a:r>
              <a:rPr lang="en-US" altLang="en-US" sz="3200" smtClean="0">
                <a:latin typeface="Tahoma" panose="020B0604030504040204" pitchFamily="34" charset="0"/>
                <a:cs typeface="Tahoma" panose="020B0604030504040204" pitchFamily="34" charset="0"/>
              </a:rPr>
              <a:t>4. Overview of Pulping methodology </a:t>
            </a:r>
          </a:p>
        </p:txBody>
      </p:sp>
      <p:pic>
        <p:nvPicPr>
          <p:cNvPr id="215043" name="Picture 1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6050" y="1135063"/>
            <a:ext cx="4332288" cy="323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044" name="Picture 12"/>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664075" y="1147763"/>
            <a:ext cx="4300538" cy="3217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45" name="TextBox 6"/>
          <p:cNvSpPr txBox="1">
            <a:spLocks noChangeArrowheads="1"/>
          </p:cNvSpPr>
          <p:nvPr/>
        </p:nvSpPr>
        <p:spPr bwMode="auto">
          <a:xfrm>
            <a:off x="92075" y="4303713"/>
            <a:ext cx="4408488" cy="193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a:t>the wood chips and heated cooking liquor are continuously fed into the top, the cooking occurs as they travel through the digester, and the liquor-fiber mixture is continuously blown </a:t>
            </a:r>
          </a:p>
          <a:p>
            <a:pPr eaLnBrk="1" hangingPunct="1">
              <a:spcBef>
                <a:spcPct val="0"/>
              </a:spcBef>
              <a:buFontTx/>
              <a:buNone/>
            </a:pPr>
            <a:r>
              <a:rPr lang="en-US" altLang="en-US" sz="2000"/>
              <a:t>from the bottom. </a:t>
            </a:r>
          </a:p>
        </p:txBody>
      </p:sp>
      <p:sp>
        <p:nvSpPr>
          <p:cNvPr id="215046" name="TextBox 7"/>
          <p:cNvSpPr txBox="1">
            <a:spLocks noChangeArrowheads="1"/>
          </p:cNvSpPr>
          <p:nvPr/>
        </p:nvSpPr>
        <p:spPr bwMode="auto">
          <a:xfrm>
            <a:off x="4610100" y="4303713"/>
            <a:ext cx="4408488"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t>After cooking, the used pulping chemicals and dissolved wood components are washed from the pulp using water. The pulp is directed to the next process step, while the wash water is pumped to the recovery area of the mill</a:t>
            </a:r>
          </a:p>
        </p:txBody>
      </p:sp>
      <p:sp>
        <p:nvSpPr>
          <p:cNvPr id="215047" name="TextBox 6"/>
          <p:cNvSpPr txBox="1">
            <a:spLocks noChangeArrowheads="1"/>
          </p:cNvSpPr>
          <p:nvPr/>
        </p:nvSpPr>
        <p:spPr bwMode="auto">
          <a:xfrm>
            <a:off x="-14288" y="6165850"/>
            <a:ext cx="257016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a:t>Credit: Convergence Training</a:t>
            </a:r>
          </a:p>
        </p:txBody>
      </p:sp>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Title 1"/>
          <p:cNvSpPr>
            <a:spLocks noGrp="1"/>
          </p:cNvSpPr>
          <p:nvPr>
            <p:ph type="title"/>
          </p:nvPr>
        </p:nvSpPr>
        <p:spPr>
          <a:xfrm>
            <a:off x="457200" y="-17463"/>
            <a:ext cx="8229600" cy="1143001"/>
          </a:xfrm>
        </p:spPr>
        <p:txBody>
          <a:bodyPr/>
          <a:lstStyle/>
          <a:p>
            <a:pPr eaLnBrk="1" hangingPunct="1"/>
            <a:r>
              <a:rPr lang="en-US" altLang="en-US" sz="3200" smtClean="0">
                <a:latin typeface="Tahoma" panose="020B0604030504040204" pitchFamily="34" charset="0"/>
                <a:cs typeface="Tahoma" panose="020B0604030504040204" pitchFamily="34" charset="0"/>
              </a:rPr>
              <a:t>4. Overview of Pulping methodology </a:t>
            </a:r>
          </a:p>
        </p:txBody>
      </p:sp>
      <p:sp>
        <p:nvSpPr>
          <p:cNvPr id="217091" name="TextBox 6"/>
          <p:cNvSpPr txBox="1">
            <a:spLocks noChangeArrowheads="1"/>
          </p:cNvSpPr>
          <p:nvPr/>
        </p:nvSpPr>
        <p:spPr bwMode="auto">
          <a:xfrm>
            <a:off x="-14288" y="6092825"/>
            <a:ext cx="25701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a:t>Credit: Convergence Training</a:t>
            </a:r>
          </a:p>
        </p:txBody>
      </p:sp>
      <p:pic>
        <p:nvPicPr>
          <p:cNvPr id="2" name="10 - Sulfite Pulping Process.mp4">
            <a:hlinkClick r:id="" action="ppaction://media"/>
          </p:cNvPr>
          <p:cNvPicPr>
            <a:picLocks noChangeAspect="1"/>
          </p:cNvPicPr>
          <p:nvPr>
            <a:videoFile r:link="rId2"/>
            <p:extLst>
              <p:ext uri="{DAA4B4D4-6D71-4841-9C94-3DE7FCFB9230}">
                <p14:media xmlns:p14="http://schemas.microsoft.com/office/powerpoint/2010/main" r:link="rId1"/>
              </p:ext>
            </p:extLst>
          </p:nvPr>
        </p:nvPicPr>
        <p:blipFill>
          <a:blip r:embed="rId5">
            <a:extLst>
              <a:ext uri="{28A0092B-C50C-407E-A947-70E740481C1C}">
                <a14:useLocalDpi xmlns:a14="http://schemas.microsoft.com/office/drawing/2010/main" val="0"/>
              </a:ext>
            </a:extLst>
          </a:blip>
          <a:srcRect/>
          <a:stretch>
            <a:fillRect/>
          </a:stretch>
        </p:blipFill>
        <p:spPr bwMode="auto">
          <a:xfrm>
            <a:off x="877888" y="887413"/>
            <a:ext cx="7388225" cy="566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nodeType="clickPar">
                      <p:stCondLst>
                        <p:cond delay="0"/>
                      </p:stCondLst>
                      <p:childTnLst>
                        <p:par>
                          <p:cTn id="4" fill="hold" nodeType="withGroup">
                            <p:stCondLst>
                              <p:cond delay="0"/>
                            </p:stCondLst>
                            <p:childTnLst>
                              <p:par>
                                <p:cTn id="5" presetID="2" presetClass="mediacall" presetSubtype="0" fill="hold" nodeType="clickEffect">
                                  <p:stCondLst>
                                    <p:cond delay="0"/>
                                  </p:stCondLst>
                                  <p:childTnLst>
                                    <p:cmd type="call" cmd="togglePause">
                                      <p:cBhvr>
                                        <p:cTn id="6" dur="1" fill="hold"/>
                                        <p:tgtEl>
                                          <p:spTgt spid="2"/>
                                        </p:tgtEl>
                                      </p:cBhvr>
                                    </p:cmd>
                                  </p:childTnLst>
                                </p:cTn>
                              </p:par>
                            </p:childTnLst>
                          </p:cTn>
                        </p:par>
                      </p:childTnLst>
                    </p:cTn>
                  </p:par>
                </p:childTnLst>
              </p:cTn>
              <p:nextCondLst>
                <p:cond evt="onClick" delay="0">
                  <p:tgtEl>
                    <p:spTgt spid="2"/>
                  </p:tgtEl>
                </p:cond>
              </p:nextCondLst>
            </p:seq>
            <p:video>
              <p:cMediaNode vol="80000">
                <p:cTn id="7" fill="hold" display="0">
                  <p:stCondLst>
                    <p:cond delay="indefinite"/>
                  </p:stCondLst>
                </p:cTn>
                <p:tgtEl>
                  <p:spTgt spid="2"/>
                </p:tgtEl>
              </p:cMediaNode>
            </p:video>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Title 1"/>
          <p:cNvSpPr>
            <a:spLocks noGrp="1"/>
          </p:cNvSpPr>
          <p:nvPr>
            <p:ph type="title"/>
          </p:nvPr>
        </p:nvSpPr>
        <p:spPr>
          <a:xfrm>
            <a:off x="457200" y="-17463"/>
            <a:ext cx="8229600" cy="1143001"/>
          </a:xfrm>
        </p:spPr>
        <p:txBody>
          <a:bodyPr/>
          <a:lstStyle/>
          <a:p>
            <a:pPr eaLnBrk="1" hangingPunct="1"/>
            <a:r>
              <a:rPr lang="en-US" altLang="en-US" sz="3200" smtClean="0">
                <a:latin typeface="Tahoma" panose="020B0604030504040204" pitchFamily="34" charset="0"/>
                <a:cs typeface="Tahoma" panose="020B0604030504040204" pitchFamily="34" charset="0"/>
              </a:rPr>
              <a:t>4. Overview of Pulping methodology </a:t>
            </a:r>
          </a:p>
        </p:txBody>
      </p:sp>
      <p:pic>
        <p:nvPicPr>
          <p:cNvPr id="219139"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7950" y="1052513"/>
            <a:ext cx="4383088" cy="327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9140" name="Picture 8"/>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643438" y="1052513"/>
            <a:ext cx="4384675" cy="325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9141" name="TextBox 6"/>
          <p:cNvSpPr txBox="1">
            <a:spLocks noChangeArrowheads="1"/>
          </p:cNvSpPr>
          <p:nvPr/>
        </p:nvSpPr>
        <p:spPr bwMode="auto">
          <a:xfrm>
            <a:off x="92075" y="4303713"/>
            <a:ext cx="4408488"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a:t>The sulfite process uses an acidic cooking solution. Sulfite pulps are easily bleached to remove all of the remaining lignin, </a:t>
            </a:r>
          </a:p>
        </p:txBody>
      </p:sp>
      <p:sp>
        <p:nvSpPr>
          <p:cNvPr id="219142" name="TextBox 7"/>
          <p:cNvSpPr txBox="1">
            <a:spLocks noChangeArrowheads="1"/>
          </p:cNvSpPr>
          <p:nvPr/>
        </p:nvSpPr>
        <p:spPr bwMode="auto">
          <a:xfrm>
            <a:off x="4610100" y="4303713"/>
            <a:ext cx="440848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t>They are currently used to produce tissue, fine paper, and specialty grades. </a:t>
            </a:r>
          </a:p>
        </p:txBody>
      </p:sp>
      <p:sp>
        <p:nvSpPr>
          <p:cNvPr id="219143" name="TextBox 6"/>
          <p:cNvSpPr txBox="1">
            <a:spLocks noChangeArrowheads="1"/>
          </p:cNvSpPr>
          <p:nvPr/>
        </p:nvSpPr>
        <p:spPr bwMode="auto">
          <a:xfrm>
            <a:off x="-14288" y="6092825"/>
            <a:ext cx="25701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a:t>Credit: Convergence Training</a:t>
            </a:r>
          </a:p>
        </p:txBody>
      </p:sp>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Title 1"/>
          <p:cNvSpPr>
            <a:spLocks noGrp="1"/>
          </p:cNvSpPr>
          <p:nvPr>
            <p:ph type="title"/>
          </p:nvPr>
        </p:nvSpPr>
        <p:spPr>
          <a:xfrm>
            <a:off x="457200" y="-17463"/>
            <a:ext cx="8229600" cy="1143001"/>
          </a:xfrm>
        </p:spPr>
        <p:txBody>
          <a:bodyPr/>
          <a:lstStyle/>
          <a:p>
            <a:pPr eaLnBrk="1" hangingPunct="1"/>
            <a:r>
              <a:rPr lang="en-US" altLang="en-US" sz="3200" smtClean="0">
                <a:latin typeface="Tahoma" panose="020B0604030504040204" pitchFamily="34" charset="0"/>
                <a:cs typeface="Tahoma" panose="020B0604030504040204" pitchFamily="34" charset="0"/>
              </a:rPr>
              <a:t>4. Overview of Pulping methodology </a:t>
            </a:r>
          </a:p>
        </p:txBody>
      </p:sp>
      <p:pic>
        <p:nvPicPr>
          <p:cNvPr id="221187" name="Picture 9"/>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0975" y="1052513"/>
            <a:ext cx="4356100" cy="325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1188" name="Picture 10"/>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679950" y="1052513"/>
            <a:ext cx="4356100" cy="3249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1189" name="TextBox 6"/>
          <p:cNvSpPr txBox="1">
            <a:spLocks noChangeArrowheads="1"/>
          </p:cNvSpPr>
          <p:nvPr/>
        </p:nvSpPr>
        <p:spPr bwMode="auto">
          <a:xfrm>
            <a:off x="92075" y="4303713"/>
            <a:ext cx="4408488" cy="193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a:t>One significant specialty grade of highly-bleached sulfite pulp is called "dissolving pulp," which can be used to produce rayon, cellophane, and methylcellulose (a thickener and emulsifier that is used in food and cosmetic products). </a:t>
            </a:r>
          </a:p>
        </p:txBody>
      </p:sp>
      <p:sp>
        <p:nvSpPr>
          <p:cNvPr id="221190" name="TextBox 7"/>
          <p:cNvSpPr txBox="1">
            <a:spLocks noChangeArrowheads="1"/>
          </p:cNvSpPr>
          <p:nvPr/>
        </p:nvSpPr>
        <p:spPr bwMode="auto">
          <a:xfrm>
            <a:off x="4610100" y="4303713"/>
            <a:ext cx="4408488"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t>One drawback to the sulfite process is that it is sensitive to some wood species; it cannot handle resinous softwoods, dark-colored hardwoods, or bark-contaminated wood. </a:t>
            </a:r>
          </a:p>
        </p:txBody>
      </p:sp>
      <p:sp>
        <p:nvSpPr>
          <p:cNvPr id="221191" name="TextBox 6"/>
          <p:cNvSpPr txBox="1">
            <a:spLocks noChangeArrowheads="1"/>
          </p:cNvSpPr>
          <p:nvPr/>
        </p:nvSpPr>
        <p:spPr bwMode="auto">
          <a:xfrm>
            <a:off x="-14288" y="6186488"/>
            <a:ext cx="257016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a:t>Credit: Convergence Training</a:t>
            </a:r>
          </a:p>
        </p:txBody>
      </p:sp>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Title 1"/>
          <p:cNvSpPr>
            <a:spLocks noGrp="1"/>
          </p:cNvSpPr>
          <p:nvPr>
            <p:ph type="title"/>
          </p:nvPr>
        </p:nvSpPr>
        <p:spPr>
          <a:xfrm>
            <a:off x="457200" y="-17463"/>
            <a:ext cx="8229600" cy="1143001"/>
          </a:xfrm>
        </p:spPr>
        <p:txBody>
          <a:bodyPr/>
          <a:lstStyle/>
          <a:p>
            <a:pPr eaLnBrk="1" hangingPunct="1"/>
            <a:r>
              <a:rPr lang="en-US" altLang="en-US" sz="3200" smtClean="0">
                <a:latin typeface="Tahoma" panose="020B0604030504040204" pitchFamily="34" charset="0"/>
                <a:cs typeface="Tahoma" panose="020B0604030504040204" pitchFamily="34" charset="0"/>
              </a:rPr>
              <a:t>4. Overview of Pulping methodology </a:t>
            </a:r>
          </a:p>
        </p:txBody>
      </p:sp>
      <p:sp>
        <p:nvSpPr>
          <p:cNvPr id="223235" name="TextBox 6"/>
          <p:cNvSpPr txBox="1">
            <a:spLocks noChangeArrowheads="1"/>
          </p:cNvSpPr>
          <p:nvPr/>
        </p:nvSpPr>
        <p:spPr bwMode="auto">
          <a:xfrm>
            <a:off x="-14288" y="6115050"/>
            <a:ext cx="257016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a:t>Credit: Convergence Training</a:t>
            </a:r>
          </a:p>
        </p:txBody>
      </p:sp>
      <p:pic>
        <p:nvPicPr>
          <p:cNvPr id="2" name="11 - Kraft Pulping Process.mp4">
            <a:hlinkClick r:id="" action="ppaction://media"/>
          </p:cNvPr>
          <p:cNvPicPr>
            <a:picLocks noChangeAspect="1"/>
          </p:cNvPicPr>
          <p:nvPr>
            <a:videoFile r:link="rId2"/>
            <p:extLst>
              <p:ext uri="{DAA4B4D4-6D71-4841-9C94-3DE7FCFB9230}">
                <p14:media xmlns:p14="http://schemas.microsoft.com/office/powerpoint/2010/main" r:link="rId1"/>
              </p:ext>
            </p:extLst>
          </p:nvPr>
        </p:nvPicPr>
        <p:blipFill>
          <a:blip r:embed="rId5">
            <a:extLst>
              <a:ext uri="{28A0092B-C50C-407E-A947-70E740481C1C}">
                <a14:useLocalDpi xmlns:a14="http://schemas.microsoft.com/office/drawing/2010/main" val="0"/>
              </a:ext>
            </a:extLst>
          </a:blip>
          <a:srcRect/>
          <a:stretch>
            <a:fillRect/>
          </a:stretch>
        </p:blipFill>
        <p:spPr bwMode="auto">
          <a:xfrm>
            <a:off x="881063" y="903288"/>
            <a:ext cx="7381875" cy="565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nodeType="clickPar">
                      <p:stCondLst>
                        <p:cond delay="0"/>
                      </p:stCondLst>
                      <p:childTnLst>
                        <p:par>
                          <p:cTn id="4" fill="hold" nodeType="withGroup">
                            <p:stCondLst>
                              <p:cond delay="0"/>
                            </p:stCondLst>
                            <p:childTnLst>
                              <p:par>
                                <p:cTn id="5" presetID="2" presetClass="mediacall" presetSubtype="0" fill="hold" nodeType="clickEffect">
                                  <p:stCondLst>
                                    <p:cond delay="0"/>
                                  </p:stCondLst>
                                  <p:childTnLst>
                                    <p:cmd type="call" cmd="togglePause">
                                      <p:cBhvr>
                                        <p:cTn id="6" dur="1" fill="hold"/>
                                        <p:tgtEl>
                                          <p:spTgt spid="2"/>
                                        </p:tgtEl>
                                      </p:cBhvr>
                                    </p:cmd>
                                  </p:childTnLst>
                                </p:cTn>
                              </p:par>
                            </p:childTnLst>
                          </p:cTn>
                        </p:par>
                      </p:childTnLst>
                    </p:cTn>
                  </p:par>
                </p:childTnLst>
              </p:cTn>
              <p:nextCondLst>
                <p:cond evt="onClick" delay="0">
                  <p:tgtEl>
                    <p:spTgt spid="2"/>
                  </p:tgtEl>
                </p:cond>
              </p:nextCondLst>
            </p:seq>
            <p:video>
              <p:cMediaNode vol="80000">
                <p:cTn id="7" fill="hold" display="0">
                  <p:stCondLst>
                    <p:cond delay="indefinite"/>
                  </p:stCondLst>
                </p:cTn>
                <p:tgtEl>
                  <p:spTgt spid="2"/>
                </p:tgtEl>
              </p:cMediaNode>
            </p:video>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Title 1"/>
          <p:cNvSpPr>
            <a:spLocks noGrp="1"/>
          </p:cNvSpPr>
          <p:nvPr>
            <p:ph type="title"/>
          </p:nvPr>
        </p:nvSpPr>
        <p:spPr>
          <a:xfrm>
            <a:off x="457200" y="-17463"/>
            <a:ext cx="8229600" cy="1143001"/>
          </a:xfrm>
        </p:spPr>
        <p:txBody>
          <a:bodyPr/>
          <a:lstStyle/>
          <a:p>
            <a:pPr eaLnBrk="1" hangingPunct="1"/>
            <a:r>
              <a:rPr lang="en-US" altLang="en-US" sz="3200" smtClean="0">
                <a:latin typeface="Tahoma" panose="020B0604030504040204" pitchFamily="34" charset="0"/>
                <a:cs typeface="Tahoma" panose="020B0604030504040204" pitchFamily="34" charset="0"/>
              </a:rPr>
              <a:t>4. Overview of Pulping methodology </a:t>
            </a:r>
          </a:p>
        </p:txBody>
      </p:sp>
      <p:pic>
        <p:nvPicPr>
          <p:cNvPr id="225283"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6363" y="981075"/>
            <a:ext cx="4427537" cy="330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284" name="Picture 3"/>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633913" y="981075"/>
            <a:ext cx="4403725" cy="330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285" name="TextBox 7"/>
          <p:cNvSpPr txBox="1">
            <a:spLocks noChangeArrowheads="1"/>
          </p:cNvSpPr>
          <p:nvPr/>
        </p:nvSpPr>
        <p:spPr bwMode="auto">
          <a:xfrm>
            <a:off x="92075" y="4303713"/>
            <a:ext cx="4408488" cy="163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a:t>The kraft (or sulfate) process is by far the dominant chemical pulping process. It uses an alkaline cooking solution and has several advantages over the sulfite process, including: </a:t>
            </a:r>
          </a:p>
        </p:txBody>
      </p:sp>
      <p:sp>
        <p:nvSpPr>
          <p:cNvPr id="225286" name="TextBox 8"/>
          <p:cNvSpPr txBox="1">
            <a:spLocks noChangeArrowheads="1"/>
          </p:cNvSpPr>
          <p:nvPr/>
        </p:nvSpPr>
        <p:spPr bwMode="auto">
          <a:xfrm>
            <a:off x="4610100" y="4303713"/>
            <a:ext cx="4641850"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t>•  Handles a wide variety of wood species </a:t>
            </a:r>
          </a:p>
          <a:p>
            <a:pPr eaLnBrk="1" hangingPunct="1">
              <a:spcBef>
                <a:spcPct val="0"/>
              </a:spcBef>
              <a:buFontTx/>
              <a:buNone/>
            </a:pPr>
            <a:r>
              <a:rPr lang="en-US" altLang="en-US" sz="1800"/>
              <a:t>•  Tolerates bark-contaminated wood chips </a:t>
            </a:r>
          </a:p>
          <a:p>
            <a:pPr eaLnBrk="1" hangingPunct="1">
              <a:spcBef>
                <a:spcPct val="0"/>
              </a:spcBef>
              <a:buFontTx/>
              <a:buNone/>
            </a:pPr>
            <a:r>
              <a:rPr lang="en-US" altLang="en-US" sz="1800"/>
              <a:t>•  Produces the highest strength pulp </a:t>
            </a:r>
          </a:p>
          <a:p>
            <a:pPr eaLnBrk="1" hangingPunct="1">
              <a:spcBef>
                <a:spcPct val="0"/>
              </a:spcBef>
              <a:buFontTx/>
              <a:buNone/>
            </a:pPr>
            <a:r>
              <a:rPr lang="en-US" altLang="en-US" sz="1800"/>
              <a:t>•  Has a proven, efficient chemical recovery process </a:t>
            </a:r>
          </a:p>
        </p:txBody>
      </p:sp>
      <p:sp>
        <p:nvSpPr>
          <p:cNvPr id="225287" name="TextBox 6"/>
          <p:cNvSpPr txBox="1">
            <a:spLocks noChangeArrowheads="1"/>
          </p:cNvSpPr>
          <p:nvPr/>
        </p:nvSpPr>
        <p:spPr bwMode="auto">
          <a:xfrm>
            <a:off x="-14288" y="6115050"/>
            <a:ext cx="257016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a:t>Credit: Convergence Training</a:t>
            </a:r>
          </a:p>
        </p:txBody>
      </p:sp>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Title 1"/>
          <p:cNvSpPr>
            <a:spLocks noGrp="1"/>
          </p:cNvSpPr>
          <p:nvPr>
            <p:ph type="title"/>
          </p:nvPr>
        </p:nvSpPr>
        <p:spPr>
          <a:xfrm>
            <a:off x="457200" y="-17463"/>
            <a:ext cx="8229600" cy="1143001"/>
          </a:xfrm>
        </p:spPr>
        <p:txBody>
          <a:bodyPr/>
          <a:lstStyle/>
          <a:p>
            <a:pPr eaLnBrk="1" hangingPunct="1"/>
            <a:r>
              <a:rPr lang="en-US" altLang="en-US" sz="3200" smtClean="0">
                <a:latin typeface="Tahoma" panose="020B0604030504040204" pitchFamily="34" charset="0"/>
                <a:cs typeface="Tahoma" panose="020B0604030504040204" pitchFamily="34" charset="0"/>
              </a:rPr>
              <a:t>4. Overview of Pulping methodology </a:t>
            </a:r>
          </a:p>
        </p:txBody>
      </p:sp>
      <p:pic>
        <p:nvPicPr>
          <p:cNvPr id="227331" name="Picture 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9388" y="981075"/>
            <a:ext cx="4344987" cy="324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7332" name="TextBox 7"/>
          <p:cNvSpPr txBox="1">
            <a:spLocks noChangeArrowheads="1"/>
          </p:cNvSpPr>
          <p:nvPr/>
        </p:nvSpPr>
        <p:spPr bwMode="auto">
          <a:xfrm>
            <a:off x="179388" y="4365625"/>
            <a:ext cx="4344987" cy="132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a:t>Unbleached kraft pulp is dark brown in color and is very strong. It is used to produce packaging materials, including corrugated board and paper bags. </a:t>
            </a:r>
          </a:p>
        </p:txBody>
      </p:sp>
      <p:pic>
        <p:nvPicPr>
          <p:cNvPr id="227333" name="Picture 7"/>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656138" y="981075"/>
            <a:ext cx="4332287" cy="322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7334" name="TextBox 10"/>
          <p:cNvSpPr txBox="1">
            <a:spLocks noChangeArrowheads="1"/>
          </p:cNvSpPr>
          <p:nvPr/>
        </p:nvSpPr>
        <p:spPr bwMode="auto">
          <a:xfrm>
            <a:off x="4651375" y="4365625"/>
            <a:ext cx="4343400" cy="132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a:t>Kraft pulp that has been bleached white is commonly used to produce white papers that require strength, including tissue, printing, and packaging grades. </a:t>
            </a:r>
          </a:p>
        </p:txBody>
      </p:sp>
      <p:sp>
        <p:nvSpPr>
          <p:cNvPr id="227335" name="TextBox 6"/>
          <p:cNvSpPr txBox="1">
            <a:spLocks noChangeArrowheads="1"/>
          </p:cNvSpPr>
          <p:nvPr/>
        </p:nvSpPr>
        <p:spPr bwMode="auto">
          <a:xfrm>
            <a:off x="-14288" y="6092825"/>
            <a:ext cx="25701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a:t>Credit: Convergence Training</a:t>
            </a:r>
          </a:p>
        </p:txBody>
      </p:sp>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Title 1"/>
          <p:cNvSpPr>
            <a:spLocks noGrp="1"/>
          </p:cNvSpPr>
          <p:nvPr>
            <p:ph type="title"/>
          </p:nvPr>
        </p:nvSpPr>
        <p:spPr>
          <a:xfrm>
            <a:off x="457200" y="-17463"/>
            <a:ext cx="8229600" cy="1143001"/>
          </a:xfrm>
        </p:spPr>
        <p:txBody>
          <a:bodyPr/>
          <a:lstStyle/>
          <a:p>
            <a:pPr eaLnBrk="1" hangingPunct="1"/>
            <a:r>
              <a:rPr lang="en-US" altLang="en-US" sz="3200" smtClean="0">
                <a:latin typeface="Tahoma" panose="020B0604030504040204" pitchFamily="34" charset="0"/>
                <a:cs typeface="Tahoma" panose="020B0604030504040204" pitchFamily="34" charset="0"/>
              </a:rPr>
              <a:t>4. Overview of Pulping methodology </a:t>
            </a:r>
          </a:p>
        </p:txBody>
      </p:sp>
      <p:pic>
        <p:nvPicPr>
          <p:cNvPr id="2" name="13 - Pulp Handling.mp4">
            <a:hlinkClick r:id="" action="ppaction://media"/>
          </p:cNvPr>
          <p:cNvPicPr>
            <a:picLocks noChangeAspect="1"/>
          </p:cNvPicPr>
          <p:nvPr>
            <a:videoFile r:link="rId2"/>
            <p:extLst>
              <p:ext uri="{DAA4B4D4-6D71-4841-9C94-3DE7FCFB9230}">
                <p14:media xmlns:p14="http://schemas.microsoft.com/office/powerpoint/2010/main" r:link="rId1"/>
              </p:ext>
            </p:extLst>
          </p:nvPr>
        </p:nvPicPr>
        <p:blipFill>
          <a:blip r:embed="rId5">
            <a:extLst>
              <a:ext uri="{28A0092B-C50C-407E-A947-70E740481C1C}">
                <a14:useLocalDpi xmlns:a14="http://schemas.microsoft.com/office/drawing/2010/main" val="0"/>
              </a:ext>
            </a:extLst>
          </a:blip>
          <a:srcRect/>
          <a:stretch>
            <a:fillRect/>
          </a:stretch>
        </p:blipFill>
        <p:spPr bwMode="auto">
          <a:xfrm>
            <a:off x="906463" y="931863"/>
            <a:ext cx="7331075" cy="561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nodeType="clickPar">
                      <p:stCondLst>
                        <p:cond delay="0"/>
                      </p:stCondLst>
                      <p:childTnLst>
                        <p:par>
                          <p:cTn id="4" fill="hold" nodeType="withGroup">
                            <p:stCondLst>
                              <p:cond delay="0"/>
                            </p:stCondLst>
                            <p:childTnLst>
                              <p:par>
                                <p:cTn id="5" presetID="2" presetClass="mediacall" presetSubtype="0" fill="hold" nodeType="clickEffect">
                                  <p:stCondLst>
                                    <p:cond delay="0"/>
                                  </p:stCondLst>
                                  <p:childTnLst>
                                    <p:cmd type="call" cmd="togglePause">
                                      <p:cBhvr>
                                        <p:cTn id="6" dur="1" fill="hold"/>
                                        <p:tgtEl>
                                          <p:spTgt spid="2"/>
                                        </p:tgtEl>
                                      </p:cBhvr>
                                    </p:cmd>
                                  </p:childTnLst>
                                </p:cTn>
                              </p:par>
                            </p:childTnLst>
                          </p:cTn>
                        </p:par>
                      </p:childTnLst>
                    </p:cTn>
                  </p:par>
                </p:childTnLst>
              </p:cTn>
              <p:nextCondLst>
                <p:cond evt="onClick" delay="0">
                  <p:tgtEl>
                    <p:spTgt spid="2"/>
                  </p:tgtEl>
                </p:cond>
              </p:nextCondLst>
            </p:seq>
            <p:video>
              <p:cMediaNode vol="80000">
                <p:cTn id="7" fill="hold" display="0">
                  <p:stCondLst>
                    <p:cond delay="indefinite"/>
                  </p:stCondLst>
                </p:cTn>
                <p:tgtEl>
                  <p:spTgt spid="2"/>
                </p:tgtEl>
              </p:cMediaNode>
            </p:video>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Title 1"/>
          <p:cNvSpPr>
            <a:spLocks noGrp="1"/>
          </p:cNvSpPr>
          <p:nvPr>
            <p:ph type="title"/>
          </p:nvPr>
        </p:nvSpPr>
        <p:spPr>
          <a:xfrm>
            <a:off x="457200" y="-17463"/>
            <a:ext cx="8229600" cy="1143001"/>
          </a:xfrm>
        </p:spPr>
        <p:txBody>
          <a:bodyPr/>
          <a:lstStyle/>
          <a:p>
            <a:pPr eaLnBrk="1" hangingPunct="1"/>
            <a:r>
              <a:rPr lang="en-US" altLang="en-US" sz="3200" smtClean="0">
                <a:latin typeface="Tahoma" panose="020B0604030504040204" pitchFamily="34" charset="0"/>
                <a:cs typeface="Tahoma" panose="020B0604030504040204" pitchFamily="34" charset="0"/>
              </a:rPr>
              <a:t>4. Overview of Pulping methodology </a:t>
            </a:r>
          </a:p>
        </p:txBody>
      </p:sp>
      <p:pic>
        <p:nvPicPr>
          <p:cNvPr id="231427" name="Picture 8"/>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9538" y="981075"/>
            <a:ext cx="4429125" cy="331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1428" name="Picture 9"/>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610100" y="981075"/>
            <a:ext cx="4425950" cy="331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1429" name="TextBox 8"/>
          <p:cNvSpPr txBox="1">
            <a:spLocks noChangeArrowheads="1"/>
          </p:cNvSpPr>
          <p:nvPr/>
        </p:nvSpPr>
        <p:spPr bwMode="auto">
          <a:xfrm>
            <a:off x="165100" y="4292600"/>
            <a:ext cx="4344988"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t>After pulping, the cellulose fibers liberated from the wood may undergo one or more additional processes to prepare them for papermaking. These include: </a:t>
            </a:r>
          </a:p>
          <a:p>
            <a:pPr eaLnBrk="1" hangingPunct="1">
              <a:spcBef>
                <a:spcPct val="0"/>
              </a:spcBef>
              <a:buFontTx/>
              <a:buNone/>
            </a:pPr>
            <a:r>
              <a:rPr lang="en-US" altLang="en-US" sz="1800"/>
              <a:t> •  Pulp screening to remove contaminants and impurities, such as fiber bundles and small rocks</a:t>
            </a:r>
          </a:p>
        </p:txBody>
      </p:sp>
      <p:sp>
        <p:nvSpPr>
          <p:cNvPr id="231430" name="TextBox 9"/>
          <p:cNvSpPr txBox="1">
            <a:spLocks noChangeArrowheads="1"/>
          </p:cNvSpPr>
          <p:nvPr/>
        </p:nvSpPr>
        <p:spPr bwMode="auto">
          <a:xfrm>
            <a:off x="4637088" y="4292600"/>
            <a:ext cx="4344987"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a:t>•  Pulp bleaching with chemicals to increase brightness (this will be covered in greater detail on the next page) </a:t>
            </a:r>
          </a:p>
        </p:txBody>
      </p:sp>
      <p:sp>
        <p:nvSpPr>
          <p:cNvPr id="231431" name="TextBox 6"/>
          <p:cNvSpPr txBox="1">
            <a:spLocks noChangeArrowheads="1"/>
          </p:cNvSpPr>
          <p:nvPr/>
        </p:nvSpPr>
        <p:spPr bwMode="auto">
          <a:xfrm>
            <a:off x="4595813" y="5876925"/>
            <a:ext cx="257016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a:t>Credit: Convergence Training</a:t>
            </a:r>
          </a:p>
        </p:txBody>
      </p:sp>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Title 1"/>
          <p:cNvSpPr>
            <a:spLocks noGrp="1"/>
          </p:cNvSpPr>
          <p:nvPr>
            <p:ph type="title"/>
          </p:nvPr>
        </p:nvSpPr>
        <p:spPr>
          <a:xfrm>
            <a:off x="457200" y="-17463"/>
            <a:ext cx="8229600" cy="1143001"/>
          </a:xfrm>
        </p:spPr>
        <p:txBody>
          <a:bodyPr/>
          <a:lstStyle/>
          <a:p>
            <a:pPr eaLnBrk="1" hangingPunct="1"/>
            <a:r>
              <a:rPr lang="en-US" altLang="en-US" sz="3200" smtClean="0">
                <a:latin typeface="Tahoma" panose="020B0604030504040204" pitchFamily="34" charset="0"/>
                <a:cs typeface="Tahoma" panose="020B0604030504040204" pitchFamily="34" charset="0"/>
              </a:rPr>
              <a:t>4. Overview of Pulping methodology </a:t>
            </a:r>
          </a:p>
        </p:txBody>
      </p:sp>
      <p:pic>
        <p:nvPicPr>
          <p:cNvPr id="233475" name="Picture 1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7638" y="981075"/>
            <a:ext cx="4344987" cy="326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3476" name="TextBox 8"/>
          <p:cNvSpPr txBox="1">
            <a:spLocks noChangeArrowheads="1"/>
          </p:cNvSpPr>
          <p:nvPr/>
        </p:nvSpPr>
        <p:spPr bwMode="auto">
          <a:xfrm>
            <a:off x="165100" y="4292600"/>
            <a:ext cx="4344988"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t>•   Pulp refining to make the fibers more pliable and increase the surface area available for bonding; these actions improve the strength characteristics of the paper produced from the fibers </a:t>
            </a:r>
          </a:p>
        </p:txBody>
      </p:sp>
      <p:sp>
        <p:nvSpPr>
          <p:cNvPr id="233477" name="TextBox 9"/>
          <p:cNvSpPr txBox="1">
            <a:spLocks noChangeArrowheads="1"/>
          </p:cNvSpPr>
          <p:nvPr/>
        </p:nvSpPr>
        <p:spPr bwMode="auto">
          <a:xfrm>
            <a:off x="4637088" y="4292600"/>
            <a:ext cx="4344987"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a:t>The desired characteristics of the paper being produced dictate the type and amount of processing performed on the pulp fibers. </a:t>
            </a:r>
          </a:p>
        </p:txBody>
      </p:sp>
      <p:pic>
        <p:nvPicPr>
          <p:cNvPr id="233478" name="Picture 13"/>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679950" y="981075"/>
            <a:ext cx="4321175" cy="324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3479" name="TextBox 6"/>
          <p:cNvSpPr txBox="1">
            <a:spLocks noChangeArrowheads="1"/>
          </p:cNvSpPr>
          <p:nvPr/>
        </p:nvSpPr>
        <p:spPr bwMode="auto">
          <a:xfrm>
            <a:off x="-14288" y="6092825"/>
            <a:ext cx="25701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a:t>Credit: Convergence Training</a:t>
            </a:r>
          </a:p>
        </p:txBody>
      </p:sp>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Rectangle 2"/>
          <p:cNvSpPr>
            <a:spLocks noGrp="1" noChangeArrowheads="1"/>
          </p:cNvSpPr>
          <p:nvPr>
            <p:ph type="title"/>
          </p:nvPr>
        </p:nvSpPr>
        <p:spPr>
          <a:xfrm>
            <a:off x="215900" y="1195388"/>
            <a:ext cx="8820150" cy="2881312"/>
          </a:xfrm>
        </p:spPr>
        <p:txBody>
          <a:bodyPr/>
          <a:lstStyle/>
          <a:p>
            <a:pPr eaLnBrk="1" hangingPunct="1"/>
            <a:r>
              <a:rPr lang="en-US" altLang="en-US" sz="6600" b="1" smtClean="0">
                <a:solidFill>
                  <a:srgbClr val="FF0000"/>
                </a:solidFill>
                <a:latin typeface="Tahoma" panose="020B0604030504040204" pitchFamily="34" charset="0"/>
                <a:cs typeface="Tahoma" panose="020B0604030504040204" pitchFamily="34" charset="0"/>
              </a:rPr>
              <a:t>SCG - CP Mill</a:t>
            </a:r>
            <a:endParaRPr lang="th-TH" altLang="en-US" sz="6600" b="1" smtClean="0">
              <a:solidFill>
                <a:srgbClr val="FF0000"/>
              </a:solidFill>
              <a:latin typeface="Tahoma" panose="020B0604030504040204" pitchFamily="34" charset="0"/>
              <a:cs typeface="Tahoma" panose="020B0604030504040204" pitchFamily="34" charset="0"/>
            </a:endParaRPr>
          </a:p>
        </p:txBody>
      </p:sp>
      <p:sp>
        <p:nvSpPr>
          <p:cNvPr id="48131" name="Rectangle 3"/>
          <p:cNvSpPr>
            <a:spLocks noChangeArrowheads="1"/>
          </p:cNvSpPr>
          <p:nvPr/>
        </p:nvSpPr>
        <p:spPr bwMode="auto">
          <a:xfrm>
            <a:off x="215900" y="3571875"/>
            <a:ext cx="8820150" cy="1512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defRPr/>
            </a:pPr>
            <a:endParaRPr lang="th-TH" sz="3600" b="1" i="1" dirty="0">
              <a:solidFill>
                <a:schemeClr val="hlink"/>
              </a:solidFill>
              <a:effectLst>
                <a:outerShdw blurRad="38100" dist="38100" dir="2700000" algn="tl">
                  <a:srgbClr val="000000"/>
                </a:outerShdw>
              </a:effectLst>
              <a:latin typeface="Tahoma" pitchFamily="34" charset="0"/>
              <a:cs typeface="Tahoma" pitchFamily="34" charset="0"/>
            </a:endParaRPr>
          </a:p>
        </p:txBody>
      </p:sp>
      <p:sp>
        <p:nvSpPr>
          <p:cNvPr id="48132" name="Rectangle 4"/>
          <p:cNvSpPr>
            <a:spLocks noChangeArrowheads="1"/>
          </p:cNvSpPr>
          <p:nvPr/>
        </p:nvSpPr>
        <p:spPr bwMode="auto">
          <a:xfrm>
            <a:off x="144463" y="3321050"/>
            <a:ext cx="8820150" cy="792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defRPr/>
            </a:pPr>
            <a:r>
              <a:rPr lang="en-US" sz="3600" b="1" i="1" dirty="0">
                <a:solidFill>
                  <a:srgbClr val="FF0000"/>
                </a:solidFill>
                <a:effectLst>
                  <a:outerShdw blurRad="38100" dist="38100" dir="2700000" algn="tl">
                    <a:srgbClr val="000000"/>
                  </a:outerShdw>
                </a:effectLst>
                <a:latin typeface="Tahoma" pitchFamily="34" charset="0"/>
                <a:cs typeface="Tahoma" pitchFamily="34" charset="0"/>
              </a:rPr>
              <a:t>(Chemical Pulp Mill)</a:t>
            </a:r>
          </a:p>
          <a:p>
            <a:pPr algn="ctr">
              <a:defRPr/>
            </a:pPr>
            <a:r>
              <a:rPr lang="en-US" sz="3600" b="1" i="1" dirty="0">
                <a:solidFill>
                  <a:srgbClr val="FF0000"/>
                </a:solidFill>
                <a:effectLst>
                  <a:outerShdw blurRad="38100" dist="38100" dir="2700000" algn="tl">
                    <a:srgbClr val="000000"/>
                  </a:outerShdw>
                </a:effectLst>
                <a:latin typeface="Tahoma" pitchFamily="34" charset="0"/>
                <a:cs typeface="Tahoma" pitchFamily="34" charset="0"/>
              </a:rPr>
              <a:t>Soda Process</a:t>
            </a:r>
            <a:endParaRPr lang="th-TH" sz="3600" b="1" i="1" dirty="0">
              <a:solidFill>
                <a:srgbClr val="FF0000"/>
              </a:solidFill>
              <a:effectLst>
                <a:outerShdw blurRad="38100" dist="38100" dir="2700000" algn="tl">
                  <a:srgbClr val="000000"/>
                </a:outerShdw>
              </a:effectLst>
              <a:latin typeface="Tahoma" pitchFamily="34" charset="0"/>
              <a:cs typeface="Tahoma"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nodePh="1">
                                  <p:stCondLst>
                                    <p:cond delay="0"/>
                                  </p:stCondLst>
                                  <p:endCondLst>
                                    <p:cond evt="begin" delay="0">
                                      <p:tn val="5"/>
                                    </p:cond>
                                  </p:endCondLst>
                                  <p:childTnLst>
                                    <p:set>
                                      <p:cBhvr>
                                        <p:cTn id="6" dur="1" fill="hold">
                                          <p:stCondLst>
                                            <p:cond delay="0"/>
                                          </p:stCondLst>
                                        </p:cTn>
                                        <p:tgtEl>
                                          <p:spTgt spid="48131"/>
                                        </p:tgtEl>
                                        <p:attrNameLst>
                                          <p:attrName>style.visibility</p:attrName>
                                        </p:attrNameLst>
                                      </p:cBhvr>
                                      <p:to>
                                        <p:strVal val="visible"/>
                                      </p:to>
                                    </p:set>
                                    <p:animEffect transition="in" filter="wipe(left)">
                                      <p:cBhvr>
                                        <p:cTn id="7" dur="1000"/>
                                        <p:tgtEl>
                                          <p:spTgt spid="4813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8132"/>
                                        </p:tgtEl>
                                        <p:attrNameLst>
                                          <p:attrName>style.visibility</p:attrName>
                                        </p:attrNameLst>
                                      </p:cBhvr>
                                      <p:to>
                                        <p:strVal val="visible"/>
                                      </p:to>
                                    </p:set>
                                    <p:animEffect transition="in" filter="wipe(left)">
                                      <p:cBhvr>
                                        <p:cTn id="12" dur="1000"/>
                                        <p:tgtEl>
                                          <p:spTgt spid="481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1" grpId="0"/>
      <p:bldP spid="48132" grpId="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Title 1"/>
          <p:cNvSpPr>
            <a:spLocks noGrp="1"/>
          </p:cNvSpPr>
          <p:nvPr>
            <p:ph type="title"/>
          </p:nvPr>
        </p:nvSpPr>
        <p:spPr>
          <a:xfrm>
            <a:off x="457200" y="-17463"/>
            <a:ext cx="8229600" cy="1143001"/>
          </a:xfrm>
        </p:spPr>
        <p:txBody>
          <a:bodyPr/>
          <a:lstStyle/>
          <a:p>
            <a:pPr eaLnBrk="1" hangingPunct="1"/>
            <a:r>
              <a:rPr lang="en-US" altLang="en-US" sz="3200" smtClean="0">
                <a:latin typeface="Tahoma" panose="020B0604030504040204" pitchFamily="34" charset="0"/>
                <a:cs typeface="Tahoma" panose="020B0604030504040204" pitchFamily="34" charset="0"/>
              </a:rPr>
              <a:t>4. Overview of Pulping methodology </a:t>
            </a:r>
          </a:p>
        </p:txBody>
      </p:sp>
      <p:grpSp>
        <p:nvGrpSpPr>
          <p:cNvPr id="237571" name="Group 1"/>
          <p:cNvGrpSpPr>
            <a:grpSpLocks/>
          </p:cNvGrpSpPr>
          <p:nvPr/>
        </p:nvGrpSpPr>
        <p:grpSpPr bwMode="auto">
          <a:xfrm>
            <a:off x="-36513" y="1052513"/>
            <a:ext cx="8820151" cy="5203825"/>
            <a:chOff x="0" y="1052736"/>
            <a:chExt cx="9110351" cy="5276329"/>
          </a:xfrm>
        </p:grpSpPr>
        <p:grpSp>
          <p:nvGrpSpPr>
            <p:cNvPr id="237574" name="Group 286"/>
            <p:cNvGrpSpPr>
              <a:grpSpLocks/>
            </p:cNvGrpSpPr>
            <p:nvPr/>
          </p:nvGrpSpPr>
          <p:grpSpPr bwMode="auto">
            <a:xfrm>
              <a:off x="8662639" y="5320447"/>
              <a:ext cx="174703" cy="430539"/>
              <a:chOff x="10845800" y="1517650"/>
              <a:chExt cx="123" cy="254"/>
            </a:xfrm>
          </p:grpSpPr>
          <p:sp>
            <p:nvSpPr>
              <p:cNvPr id="237963" name="Oval 8"/>
              <p:cNvSpPr>
                <a:spLocks noChangeArrowheads="1"/>
              </p:cNvSpPr>
              <p:nvPr/>
            </p:nvSpPr>
            <p:spPr bwMode="auto">
              <a:xfrm>
                <a:off x="10845834" y="1517650"/>
                <a:ext cx="23" cy="22"/>
              </a:xfrm>
              <a:prstGeom prst="ellipse">
                <a:avLst/>
              </a:prstGeom>
              <a:gradFill rotWithShape="1">
                <a:gsLst>
                  <a:gs pos="0">
                    <a:srgbClr val="454545"/>
                  </a:gs>
                  <a:gs pos="100000">
                    <a:srgbClr val="969696"/>
                  </a:gs>
                </a:gsLst>
                <a:path path="shape">
                  <a:fillToRect l="50000" t="50000" r="50000" b="50000"/>
                </a:path>
              </a:gradFill>
              <a:ln w="12700">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grpSp>
            <p:nvGrpSpPr>
              <p:cNvPr id="237964" name="Group 288"/>
              <p:cNvGrpSpPr>
                <a:grpSpLocks/>
              </p:cNvGrpSpPr>
              <p:nvPr/>
            </p:nvGrpSpPr>
            <p:grpSpPr bwMode="auto">
              <a:xfrm>
                <a:off x="10845800" y="1517679"/>
                <a:ext cx="123" cy="225"/>
                <a:chOff x="10845800" y="1517679"/>
                <a:chExt cx="123" cy="225"/>
              </a:xfrm>
            </p:grpSpPr>
            <p:sp>
              <p:nvSpPr>
                <p:cNvPr id="237975" name="Rectangle 20"/>
                <p:cNvSpPr>
                  <a:spLocks noChangeArrowheads="1"/>
                </p:cNvSpPr>
                <p:nvPr/>
              </p:nvSpPr>
              <p:spPr bwMode="auto">
                <a:xfrm>
                  <a:off x="10845800" y="1517679"/>
                  <a:ext cx="123" cy="10"/>
                </a:xfrm>
                <a:prstGeom prst="rect">
                  <a:avLst/>
                </a:prstGeom>
                <a:gradFill rotWithShape="1">
                  <a:gsLst>
                    <a:gs pos="0">
                      <a:srgbClr val="595959"/>
                    </a:gs>
                    <a:gs pos="50000">
                      <a:srgbClr val="C0C0C0"/>
                    </a:gs>
                    <a:gs pos="100000">
                      <a:srgbClr val="595959"/>
                    </a:gs>
                  </a:gsLst>
                  <a:lin ang="0" scaled="1"/>
                </a:gradFill>
                <a:ln w="12700">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976" name="Rectangle 21"/>
                <p:cNvSpPr>
                  <a:spLocks noChangeArrowheads="1"/>
                </p:cNvSpPr>
                <p:nvPr/>
              </p:nvSpPr>
              <p:spPr bwMode="auto">
                <a:xfrm>
                  <a:off x="10845806" y="1517689"/>
                  <a:ext cx="11" cy="207"/>
                </a:xfrm>
                <a:prstGeom prst="rect">
                  <a:avLst/>
                </a:prstGeom>
                <a:gradFill rotWithShape="1">
                  <a:gsLst>
                    <a:gs pos="0">
                      <a:srgbClr val="595959"/>
                    </a:gs>
                    <a:gs pos="50000">
                      <a:srgbClr val="C0C0C0"/>
                    </a:gs>
                    <a:gs pos="100000">
                      <a:srgbClr val="595959"/>
                    </a:gs>
                  </a:gsLst>
                  <a:lin ang="0" scaled="1"/>
                </a:gradFill>
                <a:ln w="12700">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977" name="Rectangle 22"/>
                <p:cNvSpPr>
                  <a:spLocks noChangeArrowheads="1"/>
                </p:cNvSpPr>
                <p:nvPr/>
              </p:nvSpPr>
              <p:spPr bwMode="auto">
                <a:xfrm>
                  <a:off x="10845907" y="1517689"/>
                  <a:ext cx="11" cy="207"/>
                </a:xfrm>
                <a:prstGeom prst="rect">
                  <a:avLst/>
                </a:prstGeom>
                <a:gradFill rotWithShape="1">
                  <a:gsLst>
                    <a:gs pos="0">
                      <a:srgbClr val="595959"/>
                    </a:gs>
                    <a:gs pos="50000">
                      <a:srgbClr val="C0C0C0"/>
                    </a:gs>
                    <a:gs pos="100000">
                      <a:srgbClr val="595959"/>
                    </a:gs>
                  </a:gsLst>
                  <a:lin ang="0" scaled="1"/>
                </a:gradFill>
                <a:ln w="12700">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978" name="Rectangle 23"/>
                <p:cNvSpPr>
                  <a:spLocks noChangeArrowheads="1"/>
                </p:cNvSpPr>
                <p:nvPr/>
              </p:nvSpPr>
              <p:spPr bwMode="auto">
                <a:xfrm>
                  <a:off x="10845800" y="1517737"/>
                  <a:ext cx="123" cy="10"/>
                </a:xfrm>
                <a:prstGeom prst="rect">
                  <a:avLst/>
                </a:prstGeom>
                <a:gradFill rotWithShape="1">
                  <a:gsLst>
                    <a:gs pos="0">
                      <a:srgbClr val="595959"/>
                    </a:gs>
                    <a:gs pos="50000">
                      <a:srgbClr val="C0C0C0"/>
                    </a:gs>
                    <a:gs pos="100000">
                      <a:srgbClr val="595959"/>
                    </a:gs>
                  </a:gsLst>
                  <a:lin ang="0" scaled="1"/>
                </a:gradFill>
                <a:ln w="12700">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979" name="Rectangle 24"/>
                <p:cNvSpPr>
                  <a:spLocks noChangeArrowheads="1"/>
                </p:cNvSpPr>
                <p:nvPr/>
              </p:nvSpPr>
              <p:spPr bwMode="auto">
                <a:xfrm>
                  <a:off x="10845801" y="1517896"/>
                  <a:ext cx="21" cy="8"/>
                </a:xfrm>
                <a:prstGeom prst="rect">
                  <a:avLst/>
                </a:prstGeom>
                <a:gradFill rotWithShape="1">
                  <a:gsLst>
                    <a:gs pos="0">
                      <a:srgbClr val="595959"/>
                    </a:gs>
                    <a:gs pos="50000">
                      <a:srgbClr val="C0C0C0"/>
                    </a:gs>
                    <a:gs pos="100000">
                      <a:srgbClr val="595959"/>
                    </a:gs>
                  </a:gsLst>
                  <a:lin ang="0" scaled="1"/>
                </a:gradFill>
                <a:ln w="12700">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980" name="Rectangle 25"/>
                <p:cNvSpPr>
                  <a:spLocks noChangeArrowheads="1"/>
                </p:cNvSpPr>
                <p:nvPr/>
              </p:nvSpPr>
              <p:spPr bwMode="auto">
                <a:xfrm>
                  <a:off x="10845902" y="1517896"/>
                  <a:ext cx="21" cy="8"/>
                </a:xfrm>
                <a:prstGeom prst="rect">
                  <a:avLst/>
                </a:prstGeom>
                <a:gradFill rotWithShape="1">
                  <a:gsLst>
                    <a:gs pos="0">
                      <a:srgbClr val="595959"/>
                    </a:gs>
                    <a:gs pos="50000">
                      <a:srgbClr val="C0C0C0"/>
                    </a:gs>
                    <a:gs pos="100000">
                      <a:srgbClr val="595959"/>
                    </a:gs>
                  </a:gsLst>
                  <a:lin ang="0" scaled="1"/>
                </a:gradFill>
                <a:ln w="12700">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grpSp>
          <p:grpSp>
            <p:nvGrpSpPr>
              <p:cNvPr id="237965" name="Group 289"/>
              <p:cNvGrpSpPr>
                <a:grpSpLocks/>
              </p:cNvGrpSpPr>
              <p:nvPr/>
            </p:nvGrpSpPr>
            <p:grpSpPr bwMode="auto">
              <a:xfrm>
                <a:off x="10845826" y="1517771"/>
                <a:ext cx="73" cy="133"/>
                <a:chOff x="10845826" y="1517771"/>
                <a:chExt cx="73" cy="133"/>
              </a:xfrm>
            </p:grpSpPr>
            <p:sp>
              <p:nvSpPr>
                <p:cNvPr id="237969" name="Rectangle 14"/>
                <p:cNvSpPr>
                  <a:spLocks noChangeArrowheads="1"/>
                </p:cNvSpPr>
                <p:nvPr/>
              </p:nvSpPr>
              <p:spPr bwMode="auto">
                <a:xfrm>
                  <a:off x="10845831" y="1517771"/>
                  <a:ext cx="62" cy="81"/>
                </a:xfrm>
                <a:prstGeom prst="rect">
                  <a:avLst/>
                </a:prstGeom>
                <a:gradFill rotWithShape="1">
                  <a:gsLst>
                    <a:gs pos="0">
                      <a:srgbClr val="767676"/>
                    </a:gs>
                    <a:gs pos="100000">
                      <a:srgbClr val="FFFFFF"/>
                    </a:gs>
                  </a:gsLst>
                  <a:path path="shape">
                    <a:fillToRect l="50000" t="50000" r="50000" b="50000"/>
                  </a:path>
                </a:gradFill>
                <a:ln w="12700">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970" name="Rectangle 15"/>
                <p:cNvSpPr>
                  <a:spLocks noChangeArrowheads="1"/>
                </p:cNvSpPr>
                <p:nvPr/>
              </p:nvSpPr>
              <p:spPr bwMode="auto">
                <a:xfrm>
                  <a:off x="10845826" y="1517852"/>
                  <a:ext cx="73" cy="3"/>
                </a:xfrm>
                <a:prstGeom prst="rect">
                  <a:avLst/>
                </a:prstGeom>
                <a:gradFill rotWithShape="1">
                  <a:gsLst>
                    <a:gs pos="0">
                      <a:srgbClr val="767676"/>
                    </a:gs>
                    <a:gs pos="100000">
                      <a:srgbClr val="FFFFFF"/>
                    </a:gs>
                  </a:gsLst>
                  <a:path path="shape">
                    <a:fillToRect l="50000" t="50000" r="50000" b="50000"/>
                  </a:path>
                </a:gradFill>
                <a:ln w="12700">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971" name="Rectangle 16"/>
                <p:cNvSpPr>
                  <a:spLocks noChangeArrowheads="1"/>
                </p:cNvSpPr>
                <p:nvPr/>
              </p:nvSpPr>
              <p:spPr bwMode="auto">
                <a:xfrm>
                  <a:off x="10845836" y="1517855"/>
                  <a:ext cx="4" cy="41"/>
                </a:xfrm>
                <a:prstGeom prst="rect">
                  <a:avLst/>
                </a:prstGeom>
                <a:gradFill rotWithShape="1">
                  <a:gsLst>
                    <a:gs pos="0">
                      <a:srgbClr val="767676"/>
                    </a:gs>
                    <a:gs pos="100000">
                      <a:srgbClr val="FFFFFF"/>
                    </a:gs>
                  </a:gsLst>
                  <a:path path="shape">
                    <a:fillToRect l="50000" t="50000" r="50000" b="50000"/>
                  </a:path>
                </a:gradFill>
                <a:ln w="12700">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972" name="Rectangle 17"/>
                <p:cNvSpPr>
                  <a:spLocks noChangeArrowheads="1"/>
                </p:cNvSpPr>
                <p:nvPr/>
              </p:nvSpPr>
              <p:spPr bwMode="auto">
                <a:xfrm>
                  <a:off x="10845884" y="1517855"/>
                  <a:ext cx="4" cy="41"/>
                </a:xfrm>
                <a:prstGeom prst="rect">
                  <a:avLst/>
                </a:prstGeom>
                <a:gradFill rotWithShape="1">
                  <a:gsLst>
                    <a:gs pos="0">
                      <a:srgbClr val="767676"/>
                    </a:gs>
                    <a:gs pos="100000">
                      <a:srgbClr val="FFFFFF"/>
                    </a:gs>
                  </a:gsLst>
                  <a:path path="shape">
                    <a:fillToRect l="50000" t="50000" r="50000" b="50000"/>
                  </a:path>
                </a:gradFill>
                <a:ln w="12700">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973" name="Rectangle 18"/>
                <p:cNvSpPr>
                  <a:spLocks noChangeArrowheads="1"/>
                </p:cNvSpPr>
                <p:nvPr/>
              </p:nvSpPr>
              <p:spPr bwMode="auto">
                <a:xfrm>
                  <a:off x="10845834" y="1517896"/>
                  <a:ext cx="8" cy="8"/>
                </a:xfrm>
                <a:prstGeom prst="rect">
                  <a:avLst/>
                </a:prstGeom>
                <a:gradFill rotWithShape="1">
                  <a:gsLst>
                    <a:gs pos="0">
                      <a:srgbClr val="767676"/>
                    </a:gs>
                    <a:gs pos="100000">
                      <a:srgbClr val="FFFFFF"/>
                    </a:gs>
                  </a:gsLst>
                  <a:path path="shape">
                    <a:fillToRect l="50000" t="50000" r="50000" b="50000"/>
                  </a:path>
                </a:gradFill>
                <a:ln w="12700">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974" name="Rectangle 19"/>
                <p:cNvSpPr>
                  <a:spLocks noChangeArrowheads="1"/>
                </p:cNvSpPr>
                <p:nvPr/>
              </p:nvSpPr>
              <p:spPr bwMode="auto">
                <a:xfrm>
                  <a:off x="10845882" y="1517896"/>
                  <a:ext cx="8" cy="8"/>
                </a:xfrm>
                <a:prstGeom prst="rect">
                  <a:avLst/>
                </a:prstGeom>
                <a:gradFill rotWithShape="1">
                  <a:gsLst>
                    <a:gs pos="0">
                      <a:srgbClr val="767676"/>
                    </a:gs>
                    <a:gs pos="100000">
                      <a:srgbClr val="FFFFFF"/>
                    </a:gs>
                  </a:gsLst>
                  <a:path path="shape">
                    <a:fillToRect l="50000" t="50000" r="50000" b="50000"/>
                  </a:path>
                </a:gradFill>
                <a:ln w="12700">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grpSp>
          <p:sp>
            <p:nvSpPr>
              <p:cNvPr id="237966" name="Rectangle 11"/>
              <p:cNvSpPr>
                <a:spLocks noChangeArrowheads="1"/>
              </p:cNvSpPr>
              <p:nvPr/>
            </p:nvSpPr>
            <p:spPr bwMode="auto">
              <a:xfrm>
                <a:off x="10845820" y="1517673"/>
                <a:ext cx="17" cy="16"/>
              </a:xfrm>
              <a:prstGeom prst="rect">
                <a:avLst/>
              </a:prstGeom>
              <a:gradFill rotWithShape="1">
                <a:gsLst>
                  <a:gs pos="0">
                    <a:srgbClr val="FF6600"/>
                  </a:gs>
                  <a:gs pos="100000">
                    <a:srgbClr val="762F00"/>
                  </a:gs>
                </a:gsLst>
                <a:path path="shape">
                  <a:fillToRect l="50000" t="50000" r="50000" b="50000"/>
                </a:path>
              </a:gradFill>
              <a:ln w="12700">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967" name="Freeform 12"/>
              <p:cNvSpPr>
                <a:spLocks/>
              </p:cNvSpPr>
              <p:nvPr/>
            </p:nvSpPr>
            <p:spPr bwMode="auto">
              <a:xfrm>
                <a:off x="10845809" y="1517655"/>
                <a:ext cx="55" cy="85"/>
              </a:xfrm>
              <a:custGeom>
                <a:avLst/>
                <a:gdLst>
                  <a:gd name="T0" fmla="*/ 0 w 55"/>
                  <a:gd name="T1" fmla="*/ 0 h 85"/>
                  <a:gd name="T2" fmla="*/ 30 w 55"/>
                  <a:gd name="T3" fmla="*/ 17 h 85"/>
                  <a:gd name="T4" fmla="*/ 37 w 55"/>
                  <a:gd name="T5" fmla="*/ 25 h 85"/>
                  <a:gd name="T6" fmla="*/ 43 w 55"/>
                  <a:gd name="T7" fmla="*/ 32 h 85"/>
                  <a:gd name="T8" fmla="*/ 44 w 55"/>
                  <a:gd name="T9" fmla="*/ 41 h 85"/>
                  <a:gd name="T10" fmla="*/ 40 w 55"/>
                  <a:gd name="T11" fmla="*/ 50 h 85"/>
                  <a:gd name="T12" fmla="*/ 34 w 55"/>
                  <a:gd name="T13" fmla="*/ 56 h 85"/>
                  <a:gd name="T14" fmla="*/ 32 w 55"/>
                  <a:gd name="T15" fmla="*/ 67 h 85"/>
                  <a:gd name="T16" fmla="*/ 35 w 55"/>
                  <a:gd name="T17" fmla="*/ 76 h 85"/>
                  <a:gd name="T18" fmla="*/ 41 w 55"/>
                  <a:gd name="T19" fmla="*/ 83 h 85"/>
                  <a:gd name="T20" fmla="*/ 49 w 55"/>
                  <a:gd name="T21" fmla="*/ 85 h 85"/>
                  <a:gd name="T22" fmla="*/ 55 w 55"/>
                  <a:gd name="T23" fmla="*/ 85 h 8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5"/>
                  <a:gd name="T37" fmla="*/ 0 h 85"/>
                  <a:gd name="T38" fmla="*/ 55 w 55"/>
                  <a:gd name="T39" fmla="*/ 85 h 8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5" h="85">
                    <a:moveTo>
                      <a:pt x="0" y="0"/>
                    </a:moveTo>
                    <a:lnTo>
                      <a:pt x="30" y="17"/>
                    </a:lnTo>
                    <a:lnTo>
                      <a:pt x="37" y="25"/>
                    </a:lnTo>
                    <a:lnTo>
                      <a:pt x="43" y="32"/>
                    </a:lnTo>
                    <a:lnTo>
                      <a:pt x="44" y="41"/>
                    </a:lnTo>
                    <a:lnTo>
                      <a:pt x="40" y="50"/>
                    </a:lnTo>
                    <a:lnTo>
                      <a:pt x="34" y="56"/>
                    </a:lnTo>
                    <a:lnTo>
                      <a:pt x="32" y="67"/>
                    </a:lnTo>
                    <a:lnTo>
                      <a:pt x="35" y="76"/>
                    </a:lnTo>
                    <a:lnTo>
                      <a:pt x="41" y="83"/>
                    </a:lnTo>
                    <a:lnTo>
                      <a:pt x="49" y="85"/>
                    </a:lnTo>
                    <a:lnTo>
                      <a:pt x="55" y="85"/>
                    </a:lnTo>
                  </a:path>
                </a:pathLst>
              </a:custGeom>
              <a:noFill/>
              <a:ln w="127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37968" name="Line 2963"/>
              <p:cNvSpPr>
                <a:spLocks noChangeShapeType="1"/>
              </p:cNvSpPr>
              <p:nvPr/>
            </p:nvSpPr>
            <p:spPr bwMode="auto">
              <a:xfrm>
                <a:off x="10845862" y="1517741"/>
                <a:ext cx="0" cy="28"/>
              </a:xfrm>
              <a:prstGeom prst="line">
                <a:avLst/>
              </a:prstGeom>
              <a:noFill/>
              <a:ln w="1270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27" name="Freeform 26"/>
            <p:cNvSpPr/>
            <p:nvPr/>
          </p:nvSpPr>
          <p:spPr>
            <a:xfrm>
              <a:off x="409934" y="2348478"/>
              <a:ext cx="8485612" cy="2232541"/>
            </a:xfrm>
            <a:custGeom>
              <a:avLst/>
              <a:gdLst>
                <a:gd name="connsiteX0" fmla="*/ 8486775 w 8486775"/>
                <a:gd name="connsiteY0" fmla="*/ 0 h 1981200"/>
                <a:gd name="connsiteX1" fmla="*/ 8486775 w 8486775"/>
                <a:gd name="connsiteY1" fmla="*/ 1428750 h 1981200"/>
                <a:gd name="connsiteX2" fmla="*/ 0 w 8486775"/>
                <a:gd name="connsiteY2" fmla="*/ 1428750 h 1981200"/>
                <a:gd name="connsiteX3" fmla="*/ 0 w 8486775"/>
                <a:gd name="connsiteY3" fmla="*/ 1981200 h 1981200"/>
              </a:gdLst>
              <a:ahLst/>
              <a:cxnLst>
                <a:cxn ang="0">
                  <a:pos x="connsiteX0" y="connsiteY0"/>
                </a:cxn>
                <a:cxn ang="0">
                  <a:pos x="connsiteX1" y="connsiteY1"/>
                </a:cxn>
                <a:cxn ang="0">
                  <a:pos x="connsiteX2" y="connsiteY2"/>
                </a:cxn>
                <a:cxn ang="0">
                  <a:pos x="connsiteX3" y="connsiteY3"/>
                </a:cxn>
              </a:cxnLst>
              <a:rect l="l" t="t" r="r" b="b"/>
              <a:pathLst>
                <a:path w="8486775" h="1981200">
                  <a:moveTo>
                    <a:pt x="8486775" y="0"/>
                  </a:moveTo>
                  <a:lnTo>
                    <a:pt x="8486775" y="1428750"/>
                  </a:lnTo>
                  <a:lnTo>
                    <a:pt x="0" y="1428750"/>
                  </a:lnTo>
                  <a:lnTo>
                    <a:pt x="0" y="1981200"/>
                  </a:lnTo>
                </a:path>
              </a:pathLst>
            </a:custGeom>
            <a:ln w="190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th-TH"/>
            </a:p>
          </p:txBody>
        </p:sp>
        <p:pic>
          <p:nvPicPr>
            <p:cNvPr id="237576" name="Picture 2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39598" y="2791731"/>
              <a:ext cx="470342" cy="468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37577" name="Group 2"/>
            <p:cNvGrpSpPr>
              <a:grpSpLocks/>
            </p:cNvGrpSpPr>
            <p:nvPr/>
          </p:nvGrpSpPr>
          <p:grpSpPr bwMode="auto">
            <a:xfrm>
              <a:off x="755576" y="1753342"/>
              <a:ext cx="792088" cy="1315293"/>
              <a:chOff x="0" y="0"/>
              <a:chExt cx="257" cy="381"/>
            </a:xfrm>
          </p:grpSpPr>
          <p:grpSp>
            <p:nvGrpSpPr>
              <p:cNvPr id="237862" name="Group 3"/>
              <p:cNvGrpSpPr>
                <a:grpSpLocks/>
              </p:cNvGrpSpPr>
              <p:nvPr/>
            </p:nvGrpSpPr>
            <p:grpSpPr bwMode="auto">
              <a:xfrm>
                <a:off x="30" y="178"/>
                <a:ext cx="161" cy="21"/>
                <a:chOff x="30" y="178"/>
                <a:chExt cx="536" cy="49"/>
              </a:xfrm>
            </p:grpSpPr>
            <p:sp>
              <p:nvSpPr>
                <p:cNvPr id="237960" name="Rectangle 127"/>
                <p:cNvSpPr>
                  <a:spLocks noChangeArrowheads="1"/>
                </p:cNvSpPr>
                <p:nvPr/>
              </p:nvSpPr>
              <p:spPr bwMode="auto">
                <a:xfrm>
                  <a:off x="54" y="178"/>
                  <a:ext cx="488" cy="47"/>
                </a:xfrm>
                <a:prstGeom prst="rect">
                  <a:avLst/>
                </a:prstGeom>
                <a:gradFill rotWithShape="1">
                  <a:gsLst>
                    <a:gs pos="0">
                      <a:srgbClr val="454545"/>
                    </a:gs>
                    <a:gs pos="50000">
                      <a:srgbClr val="969696"/>
                    </a:gs>
                    <a:gs pos="100000">
                      <a:srgbClr val="454545"/>
                    </a:gs>
                  </a:gsLst>
                  <a:lin ang="540000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961" name="AutoShape 1164"/>
                <p:cNvSpPr>
                  <a:spLocks noChangeArrowheads="1"/>
                </p:cNvSpPr>
                <p:nvPr/>
              </p:nvSpPr>
              <p:spPr bwMode="auto">
                <a:xfrm>
                  <a:off x="538" y="178"/>
                  <a:ext cx="28" cy="49"/>
                </a:xfrm>
                <a:prstGeom prst="flowChartDelay">
                  <a:avLst/>
                </a:prstGeom>
                <a:gradFill rotWithShape="1">
                  <a:gsLst>
                    <a:gs pos="0">
                      <a:srgbClr val="454545"/>
                    </a:gs>
                    <a:gs pos="50000">
                      <a:srgbClr val="969696"/>
                    </a:gs>
                    <a:gs pos="100000">
                      <a:srgbClr val="454545"/>
                    </a:gs>
                  </a:gsLst>
                  <a:lin ang="540000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962" name="AutoShape 1165"/>
                <p:cNvSpPr>
                  <a:spLocks noChangeArrowheads="1"/>
                </p:cNvSpPr>
                <p:nvPr/>
              </p:nvSpPr>
              <p:spPr bwMode="auto">
                <a:xfrm rot="10800000">
                  <a:off x="30" y="178"/>
                  <a:ext cx="28" cy="49"/>
                </a:xfrm>
                <a:prstGeom prst="flowChartDelay">
                  <a:avLst/>
                </a:prstGeom>
                <a:gradFill rotWithShape="1">
                  <a:gsLst>
                    <a:gs pos="0">
                      <a:srgbClr val="454545"/>
                    </a:gs>
                    <a:gs pos="50000">
                      <a:srgbClr val="969696"/>
                    </a:gs>
                    <a:gs pos="100000">
                      <a:srgbClr val="454545"/>
                    </a:gs>
                  </a:gsLst>
                  <a:lin ang="540000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grpSp>
          <p:grpSp>
            <p:nvGrpSpPr>
              <p:cNvPr id="237863" name="Group 4"/>
              <p:cNvGrpSpPr>
                <a:grpSpLocks/>
              </p:cNvGrpSpPr>
              <p:nvPr/>
            </p:nvGrpSpPr>
            <p:grpSpPr bwMode="auto">
              <a:xfrm>
                <a:off x="34" y="218"/>
                <a:ext cx="223" cy="16"/>
                <a:chOff x="34" y="218"/>
                <a:chExt cx="536" cy="49"/>
              </a:xfrm>
            </p:grpSpPr>
            <p:sp>
              <p:nvSpPr>
                <p:cNvPr id="237957" name="Rectangle 124"/>
                <p:cNvSpPr>
                  <a:spLocks noChangeArrowheads="1"/>
                </p:cNvSpPr>
                <p:nvPr/>
              </p:nvSpPr>
              <p:spPr bwMode="auto">
                <a:xfrm>
                  <a:off x="58" y="218"/>
                  <a:ext cx="488" cy="47"/>
                </a:xfrm>
                <a:prstGeom prst="rect">
                  <a:avLst/>
                </a:prstGeom>
                <a:gradFill rotWithShape="1">
                  <a:gsLst>
                    <a:gs pos="0">
                      <a:srgbClr val="454545"/>
                    </a:gs>
                    <a:gs pos="50000">
                      <a:srgbClr val="969696"/>
                    </a:gs>
                    <a:gs pos="100000">
                      <a:srgbClr val="454545"/>
                    </a:gs>
                  </a:gsLst>
                  <a:lin ang="540000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958" name="AutoShape 1168"/>
                <p:cNvSpPr>
                  <a:spLocks noChangeArrowheads="1"/>
                </p:cNvSpPr>
                <p:nvPr/>
              </p:nvSpPr>
              <p:spPr bwMode="auto">
                <a:xfrm>
                  <a:off x="542" y="218"/>
                  <a:ext cx="28" cy="49"/>
                </a:xfrm>
                <a:prstGeom prst="flowChartDelay">
                  <a:avLst/>
                </a:prstGeom>
                <a:gradFill rotWithShape="1">
                  <a:gsLst>
                    <a:gs pos="0">
                      <a:srgbClr val="454545"/>
                    </a:gs>
                    <a:gs pos="50000">
                      <a:srgbClr val="969696"/>
                    </a:gs>
                    <a:gs pos="100000">
                      <a:srgbClr val="454545"/>
                    </a:gs>
                  </a:gsLst>
                  <a:lin ang="540000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959" name="AutoShape 1169"/>
                <p:cNvSpPr>
                  <a:spLocks noChangeArrowheads="1"/>
                </p:cNvSpPr>
                <p:nvPr/>
              </p:nvSpPr>
              <p:spPr bwMode="auto">
                <a:xfrm rot="10800000">
                  <a:off x="34" y="218"/>
                  <a:ext cx="28" cy="49"/>
                </a:xfrm>
                <a:prstGeom prst="flowChartDelay">
                  <a:avLst/>
                </a:prstGeom>
                <a:gradFill rotWithShape="1">
                  <a:gsLst>
                    <a:gs pos="0">
                      <a:srgbClr val="454545"/>
                    </a:gs>
                    <a:gs pos="50000">
                      <a:srgbClr val="969696"/>
                    </a:gs>
                    <a:gs pos="100000">
                      <a:srgbClr val="454545"/>
                    </a:gs>
                  </a:gsLst>
                  <a:lin ang="540000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grpSp>
          <p:grpSp>
            <p:nvGrpSpPr>
              <p:cNvPr id="237864" name="Group 5"/>
              <p:cNvGrpSpPr>
                <a:grpSpLocks/>
              </p:cNvGrpSpPr>
              <p:nvPr/>
            </p:nvGrpSpPr>
            <p:grpSpPr bwMode="auto">
              <a:xfrm>
                <a:off x="34" y="254"/>
                <a:ext cx="223" cy="16"/>
                <a:chOff x="34" y="254"/>
                <a:chExt cx="536" cy="49"/>
              </a:xfrm>
            </p:grpSpPr>
            <p:sp>
              <p:nvSpPr>
                <p:cNvPr id="237954" name="Rectangle 121"/>
                <p:cNvSpPr>
                  <a:spLocks noChangeArrowheads="1"/>
                </p:cNvSpPr>
                <p:nvPr/>
              </p:nvSpPr>
              <p:spPr bwMode="auto">
                <a:xfrm>
                  <a:off x="58" y="254"/>
                  <a:ext cx="488" cy="47"/>
                </a:xfrm>
                <a:prstGeom prst="rect">
                  <a:avLst/>
                </a:prstGeom>
                <a:gradFill rotWithShape="1">
                  <a:gsLst>
                    <a:gs pos="0">
                      <a:srgbClr val="454545"/>
                    </a:gs>
                    <a:gs pos="50000">
                      <a:srgbClr val="969696"/>
                    </a:gs>
                    <a:gs pos="100000">
                      <a:srgbClr val="454545"/>
                    </a:gs>
                  </a:gsLst>
                  <a:lin ang="540000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955" name="AutoShape 1172"/>
                <p:cNvSpPr>
                  <a:spLocks noChangeArrowheads="1"/>
                </p:cNvSpPr>
                <p:nvPr/>
              </p:nvSpPr>
              <p:spPr bwMode="auto">
                <a:xfrm>
                  <a:off x="542" y="254"/>
                  <a:ext cx="28" cy="49"/>
                </a:xfrm>
                <a:prstGeom prst="flowChartDelay">
                  <a:avLst/>
                </a:prstGeom>
                <a:gradFill rotWithShape="1">
                  <a:gsLst>
                    <a:gs pos="0">
                      <a:srgbClr val="454545"/>
                    </a:gs>
                    <a:gs pos="50000">
                      <a:srgbClr val="969696"/>
                    </a:gs>
                    <a:gs pos="100000">
                      <a:srgbClr val="454545"/>
                    </a:gs>
                  </a:gsLst>
                  <a:lin ang="540000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956" name="AutoShape 1173"/>
                <p:cNvSpPr>
                  <a:spLocks noChangeArrowheads="1"/>
                </p:cNvSpPr>
                <p:nvPr/>
              </p:nvSpPr>
              <p:spPr bwMode="auto">
                <a:xfrm rot="10800000">
                  <a:off x="34" y="254"/>
                  <a:ext cx="28" cy="49"/>
                </a:xfrm>
                <a:prstGeom prst="flowChartDelay">
                  <a:avLst/>
                </a:prstGeom>
                <a:gradFill rotWithShape="1">
                  <a:gsLst>
                    <a:gs pos="0">
                      <a:srgbClr val="454545"/>
                    </a:gs>
                    <a:gs pos="50000">
                      <a:srgbClr val="969696"/>
                    </a:gs>
                    <a:gs pos="100000">
                      <a:srgbClr val="454545"/>
                    </a:gs>
                  </a:gsLst>
                  <a:lin ang="540000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grpSp>
          <p:grpSp>
            <p:nvGrpSpPr>
              <p:cNvPr id="237865" name="Group 6"/>
              <p:cNvGrpSpPr>
                <a:grpSpLocks/>
              </p:cNvGrpSpPr>
              <p:nvPr/>
            </p:nvGrpSpPr>
            <p:grpSpPr bwMode="auto">
              <a:xfrm>
                <a:off x="34" y="290"/>
                <a:ext cx="223" cy="16"/>
                <a:chOff x="34" y="290"/>
                <a:chExt cx="536" cy="49"/>
              </a:xfrm>
            </p:grpSpPr>
            <p:sp>
              <p:nvSpPr>
                <p:cNvPr id="237951" name="Rectangle 118"/>
                <p:cNvSpPr>
                  <a:spLocks noChangeArrowheads="1"/>
                </p:cNvSpPr>
                <p:nvPr/>
              </p:nvSpPr>
              <p:spPr bwMode="auto">
                <a:xfrm>
                  <a:off x="58" y="290"/>
                  <a:ext cx="488" cy="47"/>
                </a:xfrm>
                <a:prstGeom prst="rect">
                  <a:avLst/>
                </a:prstGeom>
                <a:gradFill rotWithShape="1">
                  <a:gsLst>
                    <a:gs pos="0">
                      <a:srgbClr val="454545"/>
                    </a:gs>
                    <a:gs pos="50000">
                      <a:srgbClr val="969696"/>
                    </a:gs>
                    <a:gs pos="100000">
                      <a:srgbClr val="454545"/>
                    </a:gs>
                  </a:gsLst>
                  <a:lin ang="540000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952" name="AutoShape 1176"/>
                <p:cNvSpPr>
                  <a:spLocks noChangeArrowheads="1"/>
                </p:cNvSpPr>
                <p:nvPr/>
              </p:nvSpPr>
              <p:spPr bwMode="auto">
                <a:xfrm>
                  <a:off x="542" y="290"/>
                  <a:ext cx="28" cy="49"/>
                </a:xfrm>
                <a:prstGeom prst="flowChartDelay">
                  <a:avLst/>
                </a:prstGeom>
                <a:gradFill rotWithShape="1">
                  <a:gsLst>
                    <a:gs pos="0">
                      <a:srgbClr val="454545"/>
                    </a:gs>
                    <a:gs pos="50000">
                      <a:srgbClr val="969696"/>
                    </a:gs>
                    <a:gs pos="100000">
                      <a:srgbClr val="454545"/>
                    </a:gs>
                  </a:gsLst>
                  <a:lin ang="540000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953" name="AutoShape 1177"/>
                <p:cNvSpPr>
                  <a:spLocks noChangeArrowheads="1"/>
                </p:cNvSpPr>
                <p:nvPr/>
              </p:nvSpPr>
              <p:spPr bwMode="auto">
                <a:xfrm rot="10800000">
                  <a:off x="34" y="290"/>
                  <a:ext cx="28" cy="49"/>
                </a:xfrm>
                <a:prstGeom prst="flowChartDelay">
                  <a:avLst/>
                </a:prstGeom>
                <a:gradFill rotWithShape="1">
                  <a:gsLst>
                    <a:gs pos="0">
                      <a:srgbClr val="454545"/>
                    </a:gs>
                    <a:gs pos="50000">
                      <a:srgbClr val="969696"/>
                    </a:gs>
                    <a:gs pos="100000">
                      <a:srgbClr val="454545"/>
                    </a:gs>
                  </a:gsLst>
                  <a:lin ang="540000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grpSp>
          <p:grpSp>
            <p:nvGrpSpPr>
              <p:cNvPr id="237866" name="Group 7"/>
              <p:cNvGrpSpPr>
                <a:grpSpLocks/>
              </p:cNvGrpSpPr>
              <p:nvPr/>
            </p:nvGrpSpPr>
            <p:grpSpPr bwMode="auto">
              <a:xfrm>
                <a:off x="34" y="326"/>
                <a:ext cx="223" cy="16"/>
                <a:chOff x="34" y="326"/>
                <a:chExt cx="536" cy="49"/>
              </a:xfrm>
            </p:grpSpPr>
            <p:sp>
              <p:nvSpPr>
                <p:cNvPr id="237948" name="Rectangle 115"/>
                <p:cNvSpPr>
                  <a:spLocks noChangeArrowheads="1"/>
                </p:cNvSpPr>
                <p:nvPr/>
              </p:nvSpPr>
              <p:spPr bwMode="auto">
                <a:xfrm>
                  <a:off x="58" y="326"/>
                  <a:ext cx="488" cy="47"/>
                </a:xfrm>
                <a:prstGeom prst="rect">
                  <a:avLst/>
                </a:prstGeom>
                <a:gradFill rotWithShape="1">
                  <a:gsLst>
                    <a:gs pos="0">
                      <a:srgbClr val="454545"/>
                    </a:gs>
                    <a:gs pos="50000">
                      <a:srgbClr val="969696"/>
                    </a:gs>
                    <a:gs pos="100000">
                      <a:srgbClr val="454545"/>
                    </a:gs>
                  </a:gsLst>
                  <a:lin ang="540000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949" name="AutoShape 1180"/>
                <p:cNvSpPr>
                  <a:spLocks noChangeArrowheads="1"/>
                </p:cNvSpPr>
                <p:nvPr/>
              </p:nvSpPr>
              <p:spPr bwMode="auto">
                <a:xfrm>
                  <a:off x="542" y="326"/>
                  <a:ext cx="28" cy="49"/>
                </a:xfrm>
                <a:prstGeom prst="flowChartDelay">
                  <a:avLst/>
                </a:prstGeom>
                <a:gradFill rotWithShape="1">
                  <a:gsLst>
                    <a:gs pos="0">
                      <a:srgbClr val="454545"/>
                    </a:gs>
                    <a:gs pos="50000">
                      <a:srgbClr val="969696"/>
                    </a:gs>
                    <a:gs pos="100000">
                      <a:srgbClr val="454545"/>
                    </a:gs>
                  </a:gsLst>
                  <a:lin ang="540000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950" name="AutoShape 1181"/>
                <p:cNvSpPr>
                  <a:spLocks noChangeArrowheads="1"/>
                </p:cNvSpPr>
                <p:nvPr/>
              </p:nvSpPr>
              <p:spPr bwMode="auto">
                <a:xfrm rot="10800000">
                  <a:off x="34" y="326"/>
                  <a:ext cx="28" cy="49"/>
                </a:xfrm>
                <a:prstGeom prst="flowChartDelay">
                  <a:avLst/>
                </a:prstGeom>
                <a:gradFill rotWithShape="1">
                  <a:gsLst>
                    <a:gs pos="0">
                      <a:srgbClr val="454545"/>
                    </a:gs>
                    <a:gs pos="50000">
                      <a:srgbClr val="969696"/>
                    </a:gs>
                    <a:gs pos="100000">
                      <a:srgbClr val="454545"/>
                    </a:gs>
                  </a:gsLst>
                  <a:lin ang="540000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grpSp>
          <p:sp>
            <p:nvSpPr>
              <p:cNvPr id="237867" name="Rectangle 34"/>
              <p:cNvSpPr>
                <a:spLocks noChangeArrowheads="1"/>
              </p:cNvSpPr>
              <p:nvPr/>
            </p:nvSpPr>
            <p:spPr bwMode="auto">
              <a:xfrm rot="5400000">
                <a:off x="43" y="348"/>
                <a:ext cx="37" cy="23"/>
              </a:xfrm>
              <a:prstGeom prst="rect">
                <a:avLst/>
              </a:prstGeom>
              <a:gradFill rotWithShape="1">
                <a:gsLst>
                  <a:gs pos="0">
                    <a:srgbClr val="454545"/>
                  </a:gs>
                  <a:gs pos="50000">
                    <a:srgbClr val="969696"/>
                  </a:gs>
                  <a:gs pos="100000">
                    <a:srgbClr val="454545"/>
                  </a:gs>
                </a:gsLst>
                <a:lin ang="540000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868" name="AutoShape 1183"/>
              <p:cNvSpPr>
                <a:spLocks noChangeArrowheads="1"/>
              </p:cNvSpPr>
              <p:nvPr/>
            </p:nvSpPr>
            <p:spPr bwMode="auto">
              <a:xfrm rot="5400000">
                <a:off x="58" y="365"/>
                <a:ext cx="7" cy="25"/>
              </a:xfrm>
              <a:prstGeom prst="flowChartDelay">
                <a:avLst/>
              </a:prstGeom>
              <a:gradFill rotWithShape="1">
                <a:gsLst>
                  <a:gs pos="0">
                    <a:srgbClr val="454545"/>
                  </a:gs>
                  <a:gs pos="50000">
                    <a:srgbClr val="969696"/>
                  </a:gs>
                  <a:gs pos="100000">
                    <a:srgbClr val="454545"/>
                  </a:gs>
                </a:gsLst>
                <a:lin ang="540000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869" name="AutoShape 1184"/>
              <p:cNvSpPr>
                <a:spLocks noChangeArrowheads="1"/>
              </p:cNvSpPr>
              <p:nvPr/>
            </p:nvSpPr>
            <p:spPr bwMode="auto">
              <a:xfrm rot="-5400000">
                <a:off x="58" y="328"/>
                <a:ext cx="8" cy="25"/>
              </a:xfrm>
              <a:prstGeom prst="flowChartDelay">
                <a:avLst/>
              </a:prstGeom>
              <a:gradFill rotWithShape="1">
                <a:gsLst>
                  <a:gs pos="0">
                    <a:srgbClr val="454545"/>
                  </a:gs>
                  <a:gs pos="50000">
                    <a:srgbClr val="969696"/>
                  </a:gs>
                  <a:gs pos="100000">
                    <a:srgbClr val="454545"/>
                  </a:gs>
                </a:gsLst>
                <a:lin ang="540000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870" name="Rectangle 37"/>
              <p:cNvSpPr>
                <a:spLocks noChangeArrowheads="1"/>
              </p:cNvSpPr>
              <p:nvPr/>
            </p:nvSpPr>
            <p:spPr bwMode="auto">
              <a:xfrm rot="5400000">
                <a:off x="49" y="198"/>
                <a:ext cx="21" cy="20"/>
              </a:xfrm>
              <a:prstGeom prst="rect">
                <a:avLst/>
              </a:prstGeom>
              <a:gradFill rotWithShape="1">
                <a:gsLst>
                  <a:gs pos="0">
                    <a:srgbClr val="454545"/>
                  </a:gs>
                  <a:gs pos="50000">
                    <a:srgbClr val="969696"/>
                  </a:gs>
                  <a:gs pos="100000">
                    <a:srgbClr val="454545"/>
                  </a:gs>
                </a:gsLst>
                <a:lin ang="540000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871" name="AutoShape 1186"/>
              <p:cNvSpPr>
                <a:spLocks noChangeArrowheads="1"/>
              </p:cNvSpPr>
              <p:nvPr/>
            </p:nvSpPr>
            <p:spPr bwMode="auto">
              <a:xfrm rot="5400000">
                <a:off x="55" y="207"/>
                <a:ext cx="9" cy="22"/>
              </a:xfrm>
              <a:prstGeom prst="flowChartDelay">
                <a:avLst/>
              </a:prstGeom>
              <a:gradFill rotWithShape="1">
                <a:gsLst>
                  <a:gs pos="0">
                    <a:srgbClr val="454545"/>
                  </a:gs>
                  <a:gs pos="50000">
                    <a:srgbClr val="969696"/>
                  </a:gs>
                  <a:gs pos="100000">
                    <a:srgbClr val="454545"/>
                  </a:gs>
                </a:gsLst>
                <a:lin ang="540000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872" name="AutoShape 1187"/>
              <p:cNvSpPr>
                <a:spLocks noChangeArrowheads="1"/>
              </p:cNvSpPr>
              <p:nvPr/>
            </p:nvSpPr>
            <p:spPr bwMode="auto">
              <a:xfrm rot="-5400000">
                <a:off x="55" y="187"/>
                <a:ext cx="9" cy="22"/>
              </a:xfrm>
              <a:prstGeom prst="flowChartDelay">
                <a:avLst/>
              </a:prstGeom>
              <a:gradFill rotWithShape="1">
                <a:gsLst>
                  <a:gs pos="0">
                    <a:srgbClr val="454545"/>
                  </a:gs>
                  <a:gs pos="50000">
                    <a:srgbClr val="969696"/>
                  </a:gs>
                  <a:gs pos="100000">
                    <a:srgbClr val="454545"/>
                  </a:gs>
                </a:gsLst>
                <a:lin ang="540000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873" name="Rectangle 40"/>
              <p:cNvSpPr>
                <a:spLocks noChangeArrowheads="1"/>
              </p:cNvSpPr>
              <p:nvPr/>
            </p:nvSpPr>
            <p:spPr bwMode="auto">
              <a:xfrm>
                <a:off x="139" y="122"/>
                <a:ext cx="3" cy="11"/>
              </a:xfrm>
              <a:prstGeom prst="rect">
                <a:avLst/>
              </a:prstGeom>
              <a:gradFill rotWithShape="1">
                <a:gsLst>
                  <a:gs pos="0">
                    <a:srgbClr val="454545"/>
                  </a:gs>
                  <a:gs pos="50000">
                    <a:srgbClr val="969696"/>
                  </a:gs>
                  <a:gs pos="100000">
                    <a:srgbClr val="454545"/>
                  </a:gs>
                </a:gsLst>
                <a:lin ang="540000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874" name="AutoShape 1189"/>
              <p:cNvSpPr>
                <a:spLocks noChangeArrowheads="1"/>
              </p:cNvSpPr>
              <p:nvPr/>
            </p:nvSpPr>
            <p:spPr bwMode="auto">
              <a:xfrm rot="5400000">
                <a:off x="136" y="126"/>
                <a:ext cx="15" cy="3"/>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2880 w 21600"/>
                  <a:gd name="T13" fmla="*/ 0 h 21600"/>
                  <a:gd name="T14" fmla="*/ 1872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215" y="21600"/>
                    </a:lnTo>
                    <a:lnTo>
                      <a:pt x="19385" y="21600"/>
                    </a:lnTo>
                    <a:lnTo>
                      <a:pt x="21600" y="0"/>
                    </a:lnTo>
                    <a:lnTo>
                      <a:pt x="0" y="0"/>
                    </a:lnTo>
                    <a:close/>
                  </a:path>
                </a:pathLst>
              </a:custGeom>
              <a:gradFill rotWithShape="1">
                <a:gsLst>
                  <a:gs pos="0">
                    <a:srgbClr val="454545"/>
                  </a:gs>
                  <a:gs pos="50000">
                    <a:srgbClr val="969696"/>
                  </a:gs>
                  <a:gs pos="100000">
                    <a:srgbClr val="454545"/>
                  </a:gs>
                </a:gsLst>
                <a:lin ang="5400000" scaled="1"/>
              </a:gradFill>
              <a:ln w="9525">
                <a:solidFill>
                  <a:srgbClr val="000000"/>
                </a:solidFill>
                <a:miter lim="800000"/>
                <a:headEnd/>
                <a:tailEnd/>
              </a:ln>
            </p:spPr>
            <p:txBody>
              <a:bodyPr/>
              <a:lstStyle/>
              <a:p>
                <a:endParaRPr lang="en-US"/>
              </a:p>
            </p:txBody>
          </p:sp>
          <p:sp>
            <p:nvSpPr>
              <p:cNvPr id="237875" name="Rectangle 42"/>
              <p:cNvSpPr>
                <a:spLocks noChangeArrowheads="1"/>
              </p:cNvSpPr>
              <p:nvPr/>
            </p:nvSpPr>
            <p:spPr bwMode="auto">
              <a:xfrm>
                <a:off x="145" y="118"/>
                <a:ext cx="3" cy="19"/>
              </a:xfrm>
              <a:prstGeom prst="rect">
                <a:avLst/>
              </a:prstGeom>
              <a:gradFill rotWithShape="1">
                <a:gsLst>
                  <a:gs pos="0">
                    <a:srgbClr val="454545"/>
                  </a:gs>
                  <a:gs pos="50000">
                    <a:srgbClr val="969696"/>
                  </a:gs>
                  <a:gs pos="100000">
                    <a:srgbClr val="454545"/>
                  </a:gs>
                </a:gsLst>
                <a:lin ang="540000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876" name="Rectangle 43"/>
              <p:cNvSpPr>
                <a:spLocks noChangeArrowheads="1"/>
              </p:cNvSpPr>
              <p:nvPr/>
            </p:nvSpPr>
            <p:spPr bwMode="auto">
              <a:xfrm>
                <a:off x="148" y="120"/>
                <a:ext cx="16" cy="15"/>
              </a:xfrm>
              <a:prstGeom prst="rect">
                <a:avLst/>
              </a:prstGeom>
              <a:gradFill rotWithShape="1">
                <a:gsLst>
                  <a:gs pos="0">
                    <a:srgbClr val="454545"/>
                  </a:gs>
                  <a:gs pos="50000">
                    <a:srgbClr val="969696"/>
                  </a:gs>
                  <a:gs pos="100000">
                    <a:srgbClr val="454545"/>
                  </a:gs>
                </a:gsLst>
                <a:lin ang="540000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877" name="Rectangle 44"/>
              <p:cNvSpPr>
                <a:spLocks noChangeArrowheads="1"/>
              </p:cNvSpPr>
              <p:nvPr/>
            </p:nvSpPr>
            <p:spPr bwMode="auto">
              <a:xfrm>
                <a:off x="164" y="118"/>
                <a:ext cx="3" cy="19"/>
              </a:xfrm>
              <a:prstGeom prst="rect">
                <a:avLst/>
              </a:prstGeom>
              <a:gradFill rotWithShape="1">
                <a:gsLst>
                  <a:gs pos="0">
                    <a:srgbClr val="454545"/>
                  </a:gs>
                  <a:gs pos="50000">
                    <a:srgbClr val="969696"/>
                  </a:gs>
                  <a:gs pos="100000">
                    <a:srgbClr val="454545"/>
                  </a:gs>
                </a:gsLst>
                <a:lin ang="540000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878" name="Rectangle 45"/>
              <p:cNvSpPr>
                <a:spLocks noChangeArrowheads="1"/>
              </p:cNvSpPr>
              <p:nvPr/>
            </p:nvSpPr>
            <p:spPr bwMode="auto">
              <a:xfrm>
                <a:off x="167" y="120"/>
                <a:ext cx="3" cy="15"/>
              </a:xfrm>
              <a:prstGeom prst="rect">
                <a:avLst/>
              </a:prstGeom>
              <a:gradFill rotWithShape="1">
                <a:gsLst>
                  <a:gs pos="0">
                    <a:srgbClr val="454545"/>
                  </a:gs>
                  <a:gs pos="50000">
                    <a:srgbClr val="969696"/>
                  </a:gs>
                  <a:gs pos="100000">
                    <a:srgbClr val="454545"/>
                  </a:gs>
                </a:gsLst>
                <a:lin ang="540000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879" name="Rectangle 46"/>
              <p:cNvSpPr>
                <a:spLocks noChangeArrowheads="1"/>
              </p:cNvSpPr>
              <p:nvPr/>
            </p:nvSpPr>
            <p:spPr bwMode="auto">
              <a:xfrm rot="5400000">
                <a:off x="148" y="136"/>
                <a:ext cx="64" cy="19"/>
              </a:xfrm>
              <a:prstGeom prst="rect">
                <a:avLst/>
              </a:prstGeom>
              <a:gradFill rotWithShape="1">
                <a:gsLst>
                  <a:gs pos="0">
                    <a:srgbClr val="454545"/>
                  </a:gs>
                  <a:gs pos="50000">
                    <a:srgbClr val="969696"/>
                  </a:gs>
                  <a:gs pos="100000">
                    <a:srgbClr val="454545"/>
                  </a:gs>
                </a:gsLst>
                <a:lin ang="540000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880" name="AutoShape 1195"/>
              <p:cNvSpPr>
                <a:spLocks noChangeArrowheads="1"/>
              </p:cNvSpPr>
              <p:nvPr/>
            </p:nvSpPr>
            <p:spPr bwMode="auto">
              <a:xfrm rot="5400000">
                <a:off x="175" y="167"/>
                <a:ext cx="9" cy="21"/>
              </a:xfrm>
              <a:prstGeom prst="flowChartDelay">
                <a:avLst/>
              </a:prstGeom>
              <a:gradFill rotWithShape="1">
                <a:gsLst>
                  <a:gs pos="0">
                    <a:srgbClr val="454545"/>
                  </a:gs>
                  <a:gs pos="50000">
                    <a:srgbClr val="969696"/>
                  </a:gs>
                  <a:gs pos="100000">
                    <a:srgbClr val="454545"/>
                  </a:gs>
                </a:gsLst>
                <a:lin ang="540000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881" name="AutoShape 1196"/>
              <p:cNvSpPr>
                <a:spLocks noChangeArrowheads="1"/>
              </p:cNvSpPr>
              <p:nvPr/>
            </p:nvSpPr>
            <p:spPr bwMode="auto">
              <a:xfrm rot="5400000">
                <a:off x="175" y="107"/>
                <a:ext cx="9" cy="21"/>
              </a:xfrm>
              <a:prstGeom prst="flowChartDelay">
                <a:avLst/>
              </a:prstGeom>
              <a:gradFill rotWithShape="1">
                <a:gsLst>
                  <a:gs pos="0">
                    <a:srgbClr val="454545"/>
                  </a:gs>
                  <a:gs pos="50000">
                    <a:srgbClr val="969696"/>
                  </a:gs>
                  <a:gs pos="100000">
                    <a:srgbClr val="454545"/>
                  </a:gs>
                </a:gsLst>
                <a:lin ang="540000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882" name="Rectangle 49"/>
              <p:cNvSpPr>
                <a:spLocks noChangeArrowheads="1"/>
              </p:cNvSpPr>
              <p:nvPr/>
            </p:nvSpPr>
            <p:spPr bwMode="auto">
              <a:xfrm rot="5400000">
                <a:off x="221" y="234"/>
                <a:ext cx="21" cy="20"/>
              </a:xfrm>
              <a:prstGeom prst="rect">
                <a:avLst/>
              </a:prstGeom>
              <a:gradFill rotWithShape="1">
                <a:gsLst>
                  <a:gs pos="0">
                    <a:srgbClr val="454545"/>
                  </a:gs>
                  <a:gs pos="50000">
                    <a:srgbClr val="969696"/>
                  </a:gs>
                  <a:gs pos="100000">
                    <a:srgbClr val="454545"/>
                  </a:gs>
                </a:gsLst>
                <a:lin ang="540000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883" name="AutoShape 1198"/>
              <p:cNvSpPr>
                <a:spLocks noChangeArrowheads="1"/>
              </p:cNvSpPr>
              <p:nvPr/>
            </p:nvSpPr>
            <p:spPr bwMode="auto">
              <a:xfrm rot="5400000">
                <a:off x="227" y="243"/>
                <a:ext cx="9" cy="22"/>
              </a:xfrm>
              <a:prstGeom prst="flowChartDelay">
                <a:avLst/>
              </a:prstGeom>
              <a:gradFill rotWithShape="1">
                <a:gsLst>
                  <a:gs pos="0">
                    <a:srgbClr val="454545"/>
                  </a:gs>
                  <a:gs pos="50000">
                    <a:srgbClr val="969696"/>
                  </a:gs>
                  <a:gs pos="100000">
                    <a:srgbClr val="454545"/>
                  </a:gs>
                </a:gsLst>
                <a:lin ang="540000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884" name="AutoShape 1199"/>
              <p:cNvSpPr>
                <a:spLocks noChangeArrowheads="1"/>
              </p:cNvSpPr>
              <p:nvPr/>
            </p:nvSpPr>
            <p:spPr bwMode="auto">
              <a:xfrm rot="-5400000">
                <a:off x="227" y="223"/>
                <a:ext cx="9" cy="22"/>
              </a:xfrm>
              <a:prstGeom prst="flowChartDelay">
                <a:avLst/>
              </a:prstGeom>
              <a:gradFill rotWithShape="1">
                <a:gsLst>
                  <a:gs pos="0">
                    <a:srgbClr val="454545"/>
                  </a:gs>
                  <a:gs pos="50000">
                    <a:srgbClr val="969696"/>
                  </a:gs>
                  <a:gs pos="100000">
                    <a:srgbClr val="454545"/>
                  </a:gs>
                </a:gsLst>
                <a:lin ang="540000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885" name="Rectangle 52"/>
              <p:cNvSpPr>
                <a:spLocks noChangeArrowheads="1"/>
              </p:cNvSpPr>
              <p:nvPr/>
            </p:nvSpPr>
            <p:spPr bwMode="auto">
              <a:xfrm rot="5400000">
                <a:off x="50" y="270"/>
                <a:ext cx="21" cy="20"/>
              </a:xfrm>
              <a:prstGeom prst="rect">
                <a:avLst/>
              </a:prstGeom>
              <a:gradFill rotWithShape="1">
                <a:gsLst>
                  <a:gs pos="0">
                    <a:srgbClr val="454545"/>
                  </a:gs>
                  <a:gs pos="50000">
                    <a:srgbClr val="969696"/>
                  </a:gs>
                  <a:gs pos="100000">
                    <a:srgbClr val="454545"/>
                  </a:gs>
                </a:gsLst>
                <a:lin ang="540000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886" name="AutoShape 1201"/>
              <p:cNvSpPr>
                <a:spLocks noChangeArrowheads="1"/>
              </p:cNvSpPr>
              <p:nvPr/>
            </p:nvSpPr>
            <p:spPr bwMode="auto">
              <a:xfrm rot="5400000">
                <a:off x="56" y="279"/>
                <a:ext cx="9" cy="22"/>
              </a:xfrm>
              <a:prstGeom prst="flowChartDelay">
                <a:avLst/>
              </a:prstGeom>
              <a:gradFill rotWithShape="1">
                <a:gsLst>
                  <a:gs pos="0">
                    <a:srgbClr val="454545"/>
                  </a:gs>
                  <a:gs pos="50000">
                    <a:srgbClr val="969696"/>
                  </a:gs>
                  <a:gs pos="100000">
                    <a:srgbClr val="454545"/>
                  </a:gs>
                </a:gsLst>
                <a:lin ang="540000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887" name="AutoShape 1202"/>
              <p:cNvSpPr>
                <a:spLocks noChangeArrowheads="1"/>
              </p:cNvSpPr>
              <p:nvPr/>
            </p:nvSpPr>
            <p:spPr bwMode="auto">
              <a:xfrm rot="-5400000">
                <a:off x="56" y="259"/>
                <a:ext cx="9" cy="22"/>
              </a:xfrm>
              <a:prstGeom prst="flowChartDelay">
                <a:avLst/>
              </a:prstGeom>
              <a:gradFill rotWithShape="1">
                <a:gsLst>
                  <a:gs pos="0">
                    <a:srgbClr val="454545"/>
                  </a:gs>
                  <a:gs pos="50000">
                    <a:srgbClr val="969696"/>
                  </a:gs>
                  <a:gs pos="100000">
                    <a:srgbClr val="454545"/>
                  </a:gs>
                </a:gsLst>
                <a:lin ang="540000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888" name="Rectangle 55"/>
              <p:cNvSpPr>
                <a:spLocks noChangeArrowheads="1"/>
              </p:cNvSpPr>
              <p:nvPr/>
            </p:nvSpPr>
            <p:spPr bwMode="auto">
              <a:xfrm rot="5400000">
                <a:off x="220" y="306"/>
                <a:ext cx="21" cy="20"/>
              </a:xfrm>
              <a:prstGeom prst="rect">
                <a:avLst/>
              </a:prstGeom>
              <a:gradFill rotWithShape="1">
                <a:gsLst>
                  <a:gs pos="0">
                    <a:srgbClr val="454545"/>
                  </a:gs>
                  <a:gs pos="50000">
                    <a:srgbClr val="969696"/>
                  </a:gs>
                  <a:gs pos="100000">
                    <a:srgbClr val="454545"/>
                  </a:gs>
                </a:gsLst>
                <a:lin ang="540000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889" name="AutoShape 1204"/>
              <p:cNvSpPr>
                <a:spLocks noChangeArrowheads="1"/>
              </p:cNvSpPr>
              <p:nvPr/>
            </p:nvSpPr>
            <p:spPr bwMode="auto">
              <a:xfrm rot="5400000">
                <a:off x="226" y="315"/>
                <a:ext cx="9" cy="22"/>
              </a:xfrm>
              <a:prstGeom prst="flowChartDelay">
                <a:avLst/>
              </a:prstGeom>
              <a:gradFill rotWithShape="1">
                <a:gsLst>
                  <a:gs pos="0">
                    <a:srgbClr val="454545"/>
                  </a:gs>
                  <a:gs pos="50000">
                    <a:srgbClr val="969696"/>
                  </a:gs>
                  <a:gs pos="100000">
                    <a:srgbClr val="454545"/>
                  </a:gs>
                </a:gsLst>
                <a:lin ang="540000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890" name="AutoShape 1205"/>
              <p:cNvSpPr>
                <a:spLocks noChangeArrowheads="1"/>
              </p:cNvSpPr>
              <p:nvPr/>
            </p:nvSpPr>
            <p:spPr bwMode="auto">
              <a:xfrm rot="-5400000">
                <a:off x="226" y="295"/>
                <a:ext cx="9" cy="22"/>
              </a:xfrm>
              <a:prstGeom prst="flowChartDelay">
                <a:avLst/>
              </a:prstGeom>
              <a:gradFill rotWithShape="1">
                <a:gsLst>
                  <a:gs pos="0">
                    <a:srgbClr val="454545"/>
                  </a:gs>
                  <a:gs pos="50000">
                    <a:srgbClr val="969696"/>
                  </a:gs>
                  <a:gs pos="100000">
                    <a:srgbClr val="454545"/>
                  </a:gs>
                </a:gsLst>
                <a:lin ang="540000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891" name="Rectangle 58"/>
              <p:cNvSpPr>
                <a:spLocks noChangeArrowheads="1"/>
              </p:cNvSpPr>
              <p:nvPr/>
            </p:nvSpPr>
            <p:spPr bwMode="auto">
              <a:xfrm>
                <a:off x="3" y="58"/>
                <a:ext cx="111" cy="18"/>
              </a:xfrm>
              <a:prstGeom prst="rect">
                <a:avLst/>
              </a:prstGeom>
              <a:gradFill rotWithShape="1">
                <a:gsLst>
                  <a:gs pos="0">
                    <a:srgbClr val="5E765E"/>
                  </a:gs>
                  <a:gs pos="50000">
                    <a:srgbClr val="CCFFCC"/>
                  </a:gs>
                  <a:gs pos="100000">
                    <a:srgbClr val="5E765E"/>
                  </a:gs>
                </a:gsLst>
                <a:lin ang="540000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892" name="Rectangle 59"/>
              <p:cNvSpPr>
                <a:spLocks noChangeArrowheads="1"/>
              </p:cNvSpPr>
              <p:nvPr/>
            </p:nvSpPr>
            <p:spPr bwMode="auto">
              <a:xfrm>
                <a:off x="102" y="76"/>
                <a:ext cx="11" cy="7"/>
              </a:xfrm>
              <a:prstGeom prst="rect">
                <a:avLst/>
              </a:prstGeom>
              <a:gradFill rotWithShape="1">
                <a:gsLst>
                  <a:gs pos="0">
                    <a:srgbClr val="5E765E"/>
                  </a:gs>
                  <a:gs pos="50000">
                    <a:srgbClr val="CCFFCC"/>
                  </a:gs>
                  <a:gs pos="100000">
                    <a:srgbClr val="5E765E"/>
                  </a:gs>
                </a:gsLst>
                <a:lin ang="540000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893" name="Rectangle 60"/>
              <p:cNvSpPr>
                <a:spLocks noChangeArrowheads="1"/>
              </p:cNvSpPr>
              <p:nvPr/>
            </p:nvSpPr>
            <p:spPr bwMode="auto">
              <a:xfrm>
                <a:off x="100" y="83"/>
                <a:ext cx="15" cy="3"/>
              </a:xfrm>
              <a:prstGeom prst="rect">
                <a:avLst/>
              </a:prstGeom>
              <a:gradFill rotWithShape="1">
                <a:gsLst>
                  <a:gs pos="0">
                    <a:srgbClr val="5E765E"/>
                  </a:gs>
                  <a:gs pos="50000">
                    <a:srgbClr val="CCFFCC"/>
                  </a:gs>
                  <a:gs pos="100000">
                    <a:srgbClr val="5E765E"/>
                  </a:gs>
                </a:gsLst>
                <a:lin ang="540000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894" name="Rectangle 61"/>
              <p:cNvSpPr>
                <a:spLocks noChangeArrowheads="1"/>
              </p:cNvSpPr>
              <p:nvPr/>
            </p:nvSpPr>
            <p:spPr bwMode="auto">
              <a:xfrm>
                <a:off x="102" y="86"/>
                <a:ext cx="11" cy="8"/>
              </a:xfrm>
              <a:prstGeom prst="rect">
                <a:avLst/>
              </a:prstGeom>
              <a:gradFill rotWithShape="1">
                <a:gsLst>
                  <a:gs pos="0">
                    <a:srgbClr val="767676"/>
                  </a:gs>
                  <a:gs pos="50000">
                    <a:srgbClr val="FFFFFF"/>
                  </a:gs>
                  <a:gs pos="100000">
                    <a:srgbClr val="767676"/>
                  </a:gs>
                </a:gsLst>
                <a:lin ang="540000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895" name="AutoShape 1211"/>
              <p:cNvSpPr>
                <a:spLocks noChangeArrowheads="1"/>
              </p:cNvSpPr>
              <p:nvPr/>
            </p:nvSpPr>
            <p:spPr bwMode="auto">
              <a:xfrm rot="10800000">
                <a:off x="97" y="94"/>
                <a:ext cx="21" cy="2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114 w 21600"/>
                  <a:gd name="T13" fmla="*/ 4320 h 21600"/>
                  <a:gd name="T14" fmla="*/ 17486 w 21600"/>
                  <a:gd name="T15" fmla="*/ 1728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gradFill rotWithShape="1">
                <a:gsLst>
                  <a:gs pos="0">
                    <a:srgbClr val="767676"/>
                  </a:gs>
                  <a:gs pos="50000">
                    <a:srgbClr val="FFFFFF"/>
                  </a:gs>
                  <a:gs pos="100000">
                    <a:srgbClr val="767676"/>
                  </a:gs>
                </a:gsLst>
                <a:lin ang="5400000" scaled="1"/>
              </a:gradFill>
              <a:ln w="9525">
                <a:solidFill>
                  <a:srgbClr val="000000"/>
                </a:solidFill>
                <a:miter lim="800000"/>
                <a:headEnd/>
                <a:tailEnd/>
              </a:ln>
            </p:spPr>
            <p:txBody>
              <a:bodyPr/>
              <a:lstStyle/>
              <a:p>
                <a:endParaRPr lang="en-US"/>
              </a:p>
            </p:txBody>
          </p:sp>
          <p:sp>
            <p:nvSpPr>
              <p:cNvPr id="237896" name="Rectangle 63"/>
              <p:cNvSpPr>
                <a:spLocks noChangeArrowheads="1"/>
              </p:cNvSpPr>
              <p:nvPr/>
            </p:nvSpPr>
            <p:spPr bwMode="auto">
              <a:xfrm>
                <a:off x="96" y="114"/>
                <a:ext cx="23" cy="3"/>
              </a:xfrm>
              <a:prstGeom prst="rect">
                <a:avLst/>
              </a:prstGeom>
              <a:gradFill rotWithShape="1">
                <a:gsLst>
                  <a:gs pos="0">
                    <a:srgbClr val="767676"/>
                  </a:gs>
                  <a:gs pos="50000">
                    <a:srgbClr val="FFFFFF"/>
                  </a:gs>
                  <a:gs pos="100000">
                    <a:srgbClr val="767676"/>
                  </a:gs>
                </a:gsLst>
                <a:lin ang="540000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897" name="Rectangle 64"/>
              <p:cNvSpPr>
                <a:spLocks noChangeArrowheads="1"/>
              </p:cNvSpPr>
              <p:nvPr/>
            </p:nvSpPr>
            <p:spPr bwMode="auto">
              <a:xfrm>
                <a:off x="88" y="117"/>
                <a:ext cx="31" cy="26"/>
              </a:xfrm>
              <a:prstGeom prst="rect">
                <a:avLst/>
              </a:prstGeom>
              <a:gradFill rotWithShape="1">
                <a:gsLst>
                  <a:gs pos="0">
                    <a:srgbClr val="767676"/>
                  </a:gs>
                  <a:gs pos="50000">
                    <a:srgbClr val="FFFFFF"/>
                  </a:gs>
                  <a:gs pos="100000">
                    <a:srgbClr val="767676"/>
                  </a:gs>
                </a:gsLst>
                <a:lin ang="540000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898" name="Rectangle 65"/>
              <p:cNvSpPr>
                <a:spLocks noChangeArrowheads="1"/>
              </p:cNvSpPr>
              <p:nvPr/>
            </p:nvSpPr>
            <p:spPr bwMode="auto">
              <a:xfrm>
                <a:off x="100" y="121"/>
                <a:ext cx="16" cy="18"/>
              </a:xfrm>
              <a:prstGeom prst="rect">
                <a:avLst/>
              </a:prstGeom>
              <a:solidFill>
                <a:srgbClr val="FFFFFF"/>
              </a:soli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899" name="Rectangle 66"/>
              <p:cNvSpPr>
                <a:spLocks noChangeArrowheads="1"/>
              </p:cNvSpPr>
              <p:nvPr/>
            </p:nvSpPr>
            <p:spPr bwMode="auto">
              <a:xfrm>
                <a:off x="119" y="117"/>
                <a:ext cx="21" cy="26"/>
              </a:xfrm>
              <a:prstGeom prst="rect">
                <a:avLst/>
              </a:prstGeom>
              <a:gradFill rotWithShape="1">
                <a:gsLst>
                  <a:gs pos="0">
                    <a:srgbClr val="767676"/>
                  </a:gs>
                  <a:gs pos="50000">
                    <a:srgbClr val="FFFFFF"/>
                  </a:gs>
                  <a:gs pos="100000">
                    <a:srgbClr val="767676"/>
                  </a:gs>
                </a:gsLst>
                <a:lin ang="540000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900" name="Rectangle 67"/>
              <p:cNvSpPr>
                <a:spLocks noChangeArrowheads="1"/>
              </p:cNvSpPr>
              <p:nvPr/>
            </p:nvSpPr>
            <p:spPr bwMode="auto">
              <a:xfrm>
                <a:off x="74" y="118"/>
                <a:ext cx="9" cy="26"/>
              </a:xfrm>
              <a:prstGeom prst="rect">
                <a:avLst/>
              </a:prstGeom>
              <a:gradFill rotWithShape="1">
                <a:gsLst>
                  <a:gs pos="0">
                    <a:srgbClr val="475E76"/>
                  </a:gs>
                  <a:gs pos="50000">
                    <a:srgbClr val="99CCFF"/>
                  </a:gs>
                  <a:gs pos="100000">
                    <a:srgbClr val="475E76"/>
                  </a:gs>
                </a:gsLst>
                <a:lin ang="540000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901" name="Rectangle 68"/>
              <p:cNvSpPr>
                <a:spLocks noChangeArrowheads="1"/>
              </p:cNvSpPr>
              <p:nvPr/>
            </p:nvSpPr>
            <p:spPr bwMode="auto">
              <a:xfrm>
                <a:off x="83" y="122"/>
                <a:ext cx="5" cy="4"/>
              </a:xfrm>
              <a:prstGeom prst="rect">
                <a:avLst/>
              </a:prstGeom>
              <a:gradFill rotWithShape="1">
                <a:gsLst>
                  <a:gs pos="0">
                    <a:srgbClr val="475E76"/>
                  </a:gs>
                  <a:gs pos="50000">
                    <a:srgbClr val="99CCFF"/>
                  </a:gs>
                  <a:gs pos="100000">
                    <a:srgbClr val="475E76"/>
                  </a:gs>
                </a:gsLst>
                <a:lin ang="540000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902" name="Rectangle 69"/>
              <p:cNvSpPr>
                <a:spLocks noChangeArrowheads="1"/>
              </p:cNvSpPr>
              <p:nvPr/>
            </p:nvSpPr>
            <p:spPr bwMode="auto">
              <a:xfrm>
                <a:off x="29" y="119"/>
                <a:ext cx="35" cy="24"/>
              </a:xfrm>
              <a:prstGeom prst="rect">
                <a:avLst/>
              </a:prstGeom>
              <a:gradFill rotWithShape="1">
                <a:gsLst>
                  <a:gs pos="0">
                    <a:srgbClr val="475E76"/>
                  </a:gs>
                  <a:gs pos="50000">
                    <a:srgbClr val="99CCFF"/>
                  </a:gs>
                  <a:gs pos="100000">
                    <a:srgbClr val="475E76"/>
                  </a:gs>
                </a:gsLst>
                <a:lin ang="540000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903" name="Rectangle 70"/>
              <p:cNvSpPr>
                <a:spLocks noChangeArrowheads="1"/>
              </p:cNvSpPr>
              <p:nvPr/>
            </p:nvSpPr>
            <p:spPr bwMode="auto">
              <a:xfrm>
                <a:off x="29" y="137"/>
                <a:ext cx="36" cy="3"/>
              </a:xfrm>
              <a:prstGeom prst="rect">
                <a:avLst/>
              </a:prstGeom>
              <a:gradFill rotWithShape="1">
                <a:gsLst>
                  <a:gs pos="0">
                    <a:srgbClr val="475E76"/>
                  </a:gs>
                  <a:gs pos="50000">
                    <a:srgbClr val="99CCFF"/>
                  </a:gs>
                  <a:gs pos="100000">
                    <a:srgbClr val="475E76"/>
                  </a:gs>
                </a:gsLst>
                <a:lin ang="540000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904" name="Rectangle 71"/>
              <p:cNvSpPr>
                <a:spLocks noChangeArrowheads="1"/>
              </p:cNvSpPr>
              <p:nvPr/>
            </p:nvSpPr>
            <p:spPr bwMode="auto">
              <a:xfrm>
                <a:off x="29" y="140"/>
                <a:ext cx="36" cy="3"/>
              </a:xfrm>
              <a:prstGeom prst="rect">
                <a:avLst/>
              </a:prstGeom>
              <a:gradFill rotWithShape="1">
                <a:gsLst>
                  <a:gs pos="0">
                    <a:srgbClr val="475E76"/>
                  </a:gs>
                  <a:gs pos="50000">
                    <a:srgbClr val="99CCFF"/>
                  </a:gs>
                  <a:gs pos="100000">
                    <a:srgbClr val="475E76"/>
                  </a:gs>
                </a:gsLst>
                <a:lin ang="540000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905" name="Rectangle 72"/>
              <p:cNvSpPr>
                <a:spLocks noChangeArrowheads="1"/>
              </p:cNvSpPr>
              <p:nvPr/>
            </p:nvSpPr>
            <p:spPr bwMode="auto">
              <a:xfrm>
                <a:off x="29" y="135"/>
                <a:ext cx="36" cy="2"/>
              </a:xfrm>
              <a:prstGeom prst="rect">
                <a:avLst/>
              </a:prstGeom>
              <a:gradFill rotWithShape="1">
                <a:gsLst>
                  <a:gs pos="0">
                    <a:srgbClr val="475E76"/>
                  </a:gs>
                  <a:gs pos="50000">
                    <a:srgbClr val="99CCFF"/>
                  </a:gs>
                  <a:gs pos="100000">
                    <a:srgbClr val="475E76"/>
                  </a:gs>
                </a:gsLst>
                <a:lin ang="540000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906" name="Rectangle 73"/>
              <p:cNvSpPr>
                <a:spLocks noChangeArrowheads="1"/>
              </p:cNvSpPr>
              <p:nvPr/>
            </p:nvSpPr>
            <p:spPr bwMode="auto">
              <a:xfrm>
                <a:off x="29" y="132"/>
                <a:ext cx="36" cy="3"/>
              </a:xfrm>
              <a:prstGeom prst="rect">
                <a:avLst/>
              </a:prstGeom>
              <a:gradFill rotWithShape="1">
                <a:gsLst>
                  <a:gs pos="0">
                    <a:srgbClr val="475E76"/>
                  </a:gs>
                  <a:gs pos="50000">
                    <a:srgbClr val="99CCFF"/>
                  </a:gs>
                  <a:gs pos="100000">
                    <a:srgbClr val="475E76"/>
                  </a:gs>
                </a:gsLst>
                <a:lin ang="540000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907" name="Rectangle 74"/>
              <p:cNvSpPr>
                <a:spLocks noChangeArrowheads="1"/>
              </p:cNvSpPr>
              <p:nvPr/>
            </p:nvSpPr>
            <p:spPr bwMode="auto">
              <a:xfrm>
                <a:off x="29" y="129"/>
                <a:ext cx="36" cy="3"/>
              </a:xfrm>
              <a:prstGeom prst="rect">
                <a:avLst/>
              </a:prstGeom>
              <a:gradFill rotWithShape="1">
                <a:gsLst>
                  <a:gs pos="0">
                    <a:srgbClr val="475E76"/>
                  </a:gs>
                  <a:gs pos="50000">
                    <a:srgbClr val="99CCFF"/>
                  </a:gs>
                  <a:gs pos="100000">
                    <a:srgbClr val="475E76"/>
                  </a:gs>
                </a:gsLst>
                <a:lin ang="540000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908" name="Rectangle 75"/>
              <p:cNvSpPr>
                <a:spLocks noChangeArrowheads="1"/>
              </p:cNvSpPr>
              <p:nvPr/>
            </p:nvSpPr>
            <p:spPr bwMode="auto">
              <a:xfrm>
                <a:off x="29" y="127"/>
                <a:ext cx="36" cy="2"/>
              </a:xfrm>
              <a:prstGeom prst="rect">
                <a:avLst/>
              </a:prstGeom>
              <a:gradFill rotWithShape="1">
                <a:gsLst>
                  <a:gs pos="0">
                    <a:srgbClr val="475E76"/>
                  </a:gs>
                  <a:gs pos="50000">
                    <a:srgbClr val="99CCFF"/>
                  </a:gs>
                  <a:gs pos="100000">
                    <a:srgbClr val="475E76"/>
                  </a:gs>
                </a:gsLst>
                <a:lin ang="540000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909" name="Rectangle 76"/>
              <p:cNvSpPr>
                <a:spLocks noChangeArrowheads="1"/>
              </p:cNvSpPr>
              <p:nvPr/>
            </p:nvSpPr>
            <p:spPr bwMode="auto">
              <a:xfrm>
                <a:off x="29" y="124"/>
                <a:ext cx="36" cy="3"/>
              </a:xfrm>
              <a:prstGeom prst="rect">
                <a:avLst/>
              </a:prstGeom>
              <a:gradFill rotWithShape="1">
                <a:gsLst>
                  <a:gs pos="0">
                    <a:srgbClr val="475E76"/>
                  </a:gs>
                  <a:gs pos="50000">
                    <a:srgbClr val="99CCFF"/>
                  </a:gs>
                  <a:gs pos="100000">
                    <a:srgbClr val="475E76"/>
                  </a:gs>
                </a:gsLst>
                <a:lin ang="540000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910" name="Rectangle 77"/>
              <p:cNvSpPr>
                <a:spLocks noChangeArrowheads="1"/>
              </p:cNvSpPr>
              <p:nvPr/>
            </p:nvSpPr>
            <p:spPr bwMode="auto">
              <a:xfrm>
                <a:off x="29" y="122"/>
                <a:ext cx="36" cy="2"/>
              </a:xfrm>
              <a:prstGeom prst="rect">
                <a:avLst/>
              </a:prstGeom>
              <a:gradFill rotWithShape="1">
                <a:gsLst>
                  <a:gs pos="0">
                    <a:srgbClr val="475E76"/>
                  </a:gs>
                  <a:gs pos="50000">
                    <a:srgbClr val="99CCFF"/>
                  </a:gs>
                  <a:gs pos="100000">
                    <a:srgbClr val="475E76"/>
                  </a:gs>
                </a:gsLst>
                <a:lin ang="540000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911" name="Rectangle 78"/>
              <p:cNvSpPr>
                <a:spLocks noChangeArrowheads="1"/>
              </p:cNvSpPr>
              <p:nvPr/>
            </p:nvSpPr>
            <p:spPr bwMode="auto">
              <a:xfrm>
                <a:off x="64" y="119"/>
                <a:ext cx="2" cy="24"/>
              </a:xfrm>
              <a:prstGeom prst="rect">
                <a:avLst/>
              </a:prstGeom>
              <a:gradFill rotWithShape="1">
                <a:gsLst>
                  <a:gs pos="0">
                    <a:srgbClr val="475E76"/>
                  </a:gs>
                  <a:gs pos="50000">
                    <a:srgbClr val="99CCFF"/>
                  </a:gs>
                  <a:gs pos="100000">
                    <a:srgbClr val="475E76"/>
                  </a:gs>
                </a:gsLst>
                <a:lin ang="540000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912" name="Rectangle 79"/>
              <p:cNvSpPr>
                <a:spLocks noChangeArrowheads="1"/>
              </p:cNvSpPr>
              <p:nvPr/>
            </p:nvSpPr>
            <p:spPr bwMode="auto">
              <a:xfrm>
                <a:off x="66" y="126"/>
                <a:ext cx="2" cy="11"/>
              </a:xfrm>
              <a:prstGeom prst="rect">
                <a:avLst/>
              </a:prstGeom>
              <a:gradFill rotWithShape="1">
                <a:gsLst>
                  <a:gs pos="0">
                    <a:srgbClr val="475E76"/>
                  </a:gs>
                  <a:gs pos="50000">
                    <a:srgbClr val="99CCFF"/>
                  </a:gs>
                  <a:gs pos="100000">
                    <a:srgbClr val="475E76"/>
                  </a:gs>
                </a:gsLst>
                <a:lin ang="540000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913" name="Rectangle 80"/>
              <p:cNvSpPr>
                <a:spLocks noChangeArrowheads="1"/>
              </p:cNvSpPr>
              <p:nvPr/>
            </p:nvSpPr>
            <p:spPr bwMode="auto">
              <a:xfrm>
                <a:off x="27" y="119"/>
                <a:ext cx="2" cy="24"/>
              </a:xfrm>
              <a:prstGeom prst="rect">
                <a:avLst/>
              </a:prstGeom>
              <a:gradFill rotWithShape="1">
                <a:gsLst>
                  <a:gs pos="0">
                    <a:srgbClr val="475E76"/>
                  </a:gs>
                  <a:gs pos="50000">
                    <a:srgbClr val="99CCFF"/>
                  </a:gs>
                  <a:gs pos="100000">
                    <a:srgbClr val="475E76"/>
                  </a:gs>
                </a:gsLst>
                <a:lin ang="540000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914" name="Rectangle 81"/>
              <p:cNvSpPr>
                <a:spLocks noChangeArrowheads="1"/>
              </p:cNvSpPr>
              <p:nvPr/>
            </p:nvSpPr>
            <p:spPr bwMode="auto">
              <a:xfrm>
                <a:off x="25" y="122"/>
                <a:ext cx="2" cy="18"/>
              </a:xfrm>
              <a:prstGeom prst="rect">
                <a:avLst/>
              </a:prstGeom>
              <a:gradFill rotWithShape="1">
                <a:gsLst>
                  <a:gs pos="0">
                    <a:srgbClr val="475E76"/>
                  </a:gs>
                  <a:gs pos="50000">
                    <a:srgbClr val="99CCFF"/>
                  </a:gs>
                  <a:gs pos="100000">
                    <a:srgbClr val="475E76"/>
                  </a:gs>
                </a:gsLst>
                <a:lin ang="540000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915" name="Rectangle 82"/>
              <p:cNvSpPr>
                <a:spLocks noChangeArrowheads="1"/>
              </p:cNvSpPr>
              <p:nvPr/>
            </p:nvSpPr>
            <p:spPr bwMode="auto">
              <a:xfrm>
                <a:off x="17" y="118"/>
                <a:ext cx="8" cy="20"/>
              </a:xfrm>
              <a:prstGeom prst="rect">
                <a:avLst/>
              </a:prstGeom>
              <a:gradFill rotWithShape="1">
                <a:gsLst>
                  <a:gs pos="0">
                    <a:srgbClr val="475E76"/>
                  </a:gs>
                  <a:gs pos="50000">
                    <a:srgbClr val="99CCFF"/>
                  </a:gs>
                  <a:gs pos="100000">
                    <a:srgbClr val="475E76"/>
                  </a:gs>
                </a:gsLst>
                <a:lin ang="540000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916" name="Rectangle 83"/>
              <p:cNvSpPr>
                <a:spLocks noChangeArrowheads="1"/>
              </p:cNvSpPr>
              <p:nvPr/>
            </p:nvSpPr>
            <p:spPr bwMode="auto">
              <a:xfrm>
                <a:off x="32" y="113"/>
                <a:ext cx="11" cy="7"/>
              </a:xfrm>
              <a:prstGeom prst="rect">
                <a:avLst/>
              </a:prstGeom>
              <a:gradFill rotWithShape="1">
                <a:gsLst>
                  <a:gs pos="0">
                    <a:srgbClr val="475E76"/>
                  </a:gs>
                  <a:gs pos="50000">
                    <a:srgbClr val="99CCFF"/>
                  </a:gs>
                  <a:gs pos="100000">
                    <a:srgbClr val="475E76"/>
                  </a:gs>
                </a:gsLst>
                <a:lin ang="540000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917" name="Rectangle 84"/>
              <p:cNvSpPr>
                <a:spLocks noChangeArrowheads="1"/>
              </p:cNvSpPr>
              <p:nvPr/>
            </p:nvSpPr>
            <p:spPr bwMode="auto">
              <a:xfrm>
                <a:off x="15" y="143"/>
                <a:ext cx="125" cy="3"/>
              </a:xfrm>
              <a:prstGeom prst="rect">
                <a:avLst/>
              </a:prstGeom>
              <a:gradFill rotWithShape="1">
                <a:gsLst>
                  <a:gs pos="0">
                    <a:srgbClr val="000000"/>
                  </a:gs>
                  <a:gs pos="50000">
                    <a:srgbClr val="666666"/>
                  </a:gs>
                  <a:gs pos="100000">
                    <a:srgbClr val="000000"/>
                  </a:gs>
                </a:gsLst>
                <a:lin ang="540000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918" name="Rectangle 85"/>
              <p:cNvSpPr>
                <a:spLocks noChangeArrowheads="1"/>
              </p:cNvSpPr>
              <p:nvPr/>
            </p:nvSpPr>
            <p:spPr bwMode="auto">
              <a:xfrm>
                <a:off x="68" y="130"/>
                <a:ext cx="6" cy="4"/>
              </a:xfrm>
              <a:prstGeom prst="rect">
                <a:avLst/>
              </a:prstGeom>
              <a:gradFill rotWithShape="1">
                <a:gsLst>
                  <a:gs pos="0">
                    <a:srgbClr val="475E76"/>
                  </a:gs>
                  <a:gs pos="50000">
                    <a:srgbClr val="99CCFF"/>
                  </a:gs>
                  <a:gs pos="100000">
                    <a:srgbClr val="475E76"/>
                  </a:gs>
                </a:gsLst>
                <a:lin ang="540000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919" name="AutoShape 1235"/>
              <p:cNvSpPr>
                <a:spLocks noChangeArrowheads="1"/>
              </p:cNvSpPr>
              <p:nvPr/>
            </p:nvSpPr>
            <p:spPr bwMode="auto">
              <a:xfrm>
                <a:off x="119" y="143"/>
                <a:ext cx="21" cy="1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6171 w 21600"/>
                  <a:gd name="T13" fmla="*/ 5891 h 21600"/>
                  <a:gd name="T14" fmla="*/ 15429 w 21600"/>
                  <a:gd name="T15" fmla="*/ 15709 h 21600"/>
                </a:gdLst>
                <a:ahLst/>
                <a:cxnLst>
                  <a:cxn ang="T8">
                    <a:pos x="T0" y="T1"/>
                  </a:cxn>
                  <a:cxn ang="T9">
                    <a:pos x="T2" y="T3"/>
                  </a:cxn>
                  <a:cxn ang="T10">
                    <a:pos x="T4" y="T5"/>
                  </a:cxn>
                  <a:cxn ang="T11">
                    <a:pos x="T6" y="T7"/>
                  </a:cxn>
                </a:cxnLst>
                <a:rect l="T12" t="T13" r="T14" b="T15"/>
                <a:pathLst>
                  <a:path w="21600" h="21600">
                    <a:moveTo>
                      <a:pt x="0" y="0"/>
                    </a:moveTo>
                    <a:lnTo>
                      <a:pt x="9180" y="21600"/>
                    </a:lnTo>
                    <a:lnTo>
                      <a:pt x="12420" y="21600"/>
                    </a:lnTo>
                    <a:lnTo>
                      <a:pt x="21600" y="0"/>
                    </a:lnTo>
                    <a:lnTo>
                      <a:pt x="0" y="0"/>
                    </a:lnTo>
                    <a:close/>
                  </a:path>
                </a:pathLst>
              </a:custGeom>
              <a:gradFill rotWithShape="1">
                <a:gsLst>
                  <a:gs pos="0">
                    <a:srgbClr val="767676"/>
                  </a:gs>
                  <a:gs pos="50000">
                    <a:srgbClr val="FFFFFF"/>
                  </a:gs>
                  <a:gs pos="100000">
                    <a:srgbClr val="767676"/>
                  </a:gs>
                </a:gsLst>
                <a:lin ang="5400000" scaled="1"/>
              </a:gradFill>
              <a:ln w="9525">
                <a:solidFill>
                  <a:srgbClr val="000000"/>
                </a:solidFill>
                <a:miter lim="800000"/>
                <a:headEnd/>
                <a:tailEnd/>
              </a:ln>
            </p:spPr>
            <p:txBody>
              <a:bodyPr/>
              <a:lstStyle/>
              <a:p>
                <a:endParaRPr lang="en-US"/>
              </a:p>
            </p:txBody>
          </p:sp>
          <p:sp>
            <p:nvSpPr>
              <p:cNvPr id="237920" name="Rectangle 87"/>
              <p:cNvSpPr>
                <a:spLocks noChangeArrowheads="1"/>
              </p:cNvSpPr>
              <p:nvPr/>
            </p:nvSpPr>
            <p:spPr bwMode="auto">
              <a:xfrm>
                <a:off x="128" y="154"/>
                <a:ext cx="3" cy="16"/>
              </a:xfrm>
              <a:prstGeom prst="rect">
                <a:avLst/>
              </a:prstGeom>
              <a:gradFill rotWithShape="1">
                <a:gsLst>
                  <a:gs pos="0">
                    <a:srgbClr val="767676"/>
                  </a:gs>
                  <a:gs pos="50000">
                    <a:srgbClr val="FFFFFF"/>
                  </a:gs>
                  <a:gs pos="100000">
                    <a:srgbClr val="767676"/>
                  </a:gs>
                </a:gsLst>
                <a:lin ang="540000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921" name="Rectangle 88"/>
              <p:cNvSpPr>
                <a:spLocks noChangeArrowheads="1"/>
              </p:cNvSpPr>
              <p:nvPr/>
            </p:nvSpPr>
            <p:spPr bwMode="auto">
              <a:xfrm>
                <a:off x="104" y="55"/>
                <a:ext cx="8" cy="3"/>
              </a:xfrm>
              <a:prstGeom prst="rect">
                <a:avLst/>
              </a:prstGeom>
              <a:solidFill>
                <a:srgbClr val="C0C0C0"/>
              </a:soli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922" name="Rectangle 89"/>
              <p:cNvSpPr>
                <a:spLocks noChangeArrowheads="1"/>
              </p:cNvSpPr>
              <p:nvPr/>
            </p:nvSpPr>
            <p:spPr bwMode="auto">
              <a:xfrm>
                <a:off x="105" y="13"/>
                <a:ext cx="5" cy="42"/>
              </a:xfrm>
              <a:prstGeom prst="rect">
                <a:avLst/>
              </a:prstGeom>
              <a:solidFill>
                <a:srgbClr val="C0C0C0"/>
              </a:soli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923" name="Rectangle 90"/>
              <p:cNvSpPr>
                <a:spLocks noChangeArrowheads="1"/>
              </p:cNvSpPr>
              <p:nvPr/>
            </p:nvSpPr>
            <p:spPr bwMode="auto">
              <a:xfrm>
                <a:off x="127" y="114"/>
                <a:ext cx="7" cy="3"/>
              </a:xfrm>
              <a:prstGeom prst="rect">
                <a:avLst/>
              </a:prstGeom>
              <a:solidFill>
                <a:srgbClr val="C0C0C0"/>
              </a:soli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924" name="Rectangle 91"/>
              <p:cNvSpPr>
                <a:spLocks noChangeArrowheads="1"/>
              </p:cNvSpPr>
              <p:nvPr/>
            </p:nvSpPr>
            <p:spPr bwMode="auto">
              <a:xfrm rot="-2283752">
                <a:off x="116" y="25"/>
                <a:ext cx="6" cy="38"/>
              </a:xfrm>
              <a:prstGeom prst="rect">
                <a:avLst/>
              </a:prstGeom>
              <a:solidFill>
                <a:srgbClr val="C0C0C0"/>
              </a:soli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925" name="Rectangle 92"/>
              <p:cNvSpPr>
                <a:spLocks noChangeArrowheads="1"/>
              </p:cNvSpPr>
              <p:nvPr/>
            </p:nvSpPr>
            <p:spPr bwMode="auto">
              <a:xfrm>
                <a:off x="128" y="58"/>
                <a:ext cx="5" cy="56"/>
              </a:xfrm>
              <a:prstGeom prst="rect">
                <a:avLst/>
              </a:prstGeom>
              <a:solidFill>
                <a:srgbClr val="C0C0C0"/>
              </a:soli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926" name="Rectangle 93"/>
              <p:cNvSpPr>
                <a:spLocks noChangeArrowheads="1"/>
              </p:cNvSpPr>
              <p:nvPr/>
            </p:nvSpPr>
            <p:spPr bwMode="auto">
              <a:xfrm rot="-3571895">
                <a:off x="94" y="-2"/>
                <a:ext cx="7" cy="24"/>
              </a:xfrm>
              <a:prstGeom prst="rect">
                <a:avLst/>
              </a:prstGeom>
              <a:solidFill>
                <a:srgbClr val="C0C0C0"/>
              </a:soli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927" name="Rectangle 94"/>
              <p:cNvSpPr>
                <a:spLocks noChangeArrowheads="1"/>
              </p:cNvSpPr>
              <p:nvPr/>
            </p:nvSpPr>
            <p:spPr bwMode="auto">
              <a:xfrm>
                <a:off x="106" y="13"/>
                <a:ext cx="3" cy="28"/>
              </a:xfrm>
              <a:prstGeom prst="rect">
                <a:avLst/>
              </a:prstGeom>
              <a:solidFill>
                <a:srgbClr val="C0C0C0"/>
              </a:solidFill>
              <a:ln w="9525">
                <a:solidFill>
                  <a:srgbClr val="C0C0C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928" name="Rectangle 95"/>
              <p:cNvSpPr>
                <a:spLocks noChangeArrowheads="1"/>
              </p:cNvSpPr>
              <p:nvPr/>
            </p:nvSpPr>
            <p:spPr bwMode="auto">
              <a:xfrm>
                <a:off x="129" y="57"/>
                <a:ext cx="3" cy="6"/>
              </a:xfrm>
              <a:prstGeom prst="rect">
                <a:avLst/>
              </a:prstGeom>
              <a:solidFill>
                <a:srgbClr val="C0C0C0"/>
              </a:solidFill>
              <a:ln w="9525">
                <a:solidFill>
                  <a:srgbClr val="C0C0C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929" name="Rectangle 96"/>
              <p:cNvSpPr>
                <a:spLocks noChangeArrowheads="1"/>
              </p:cNvSpPr>
              <p:nvPr/>
            </p:nvSpPr>
            <p:spPr bwMode="auto">
              <a:xfrm rot="-2319721">
                <a:off x="126" y="51"/>
                <a:ext cx="3" cy="8"/>
              </a:xfrm>
              <a:prstGeom prst="rect">
                <a:avLst/>
              </a:prstGeom>
              <a:solidFill>
                <a:srgbClr val="C0C0C0"/>
              </a:solidFill>
              <a:ln w="9525">
                <a:solidFill>
                  <a:srgbClr val="C0C0C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930" name="Rectangle 97"/>
              <p:cNvSpPr>
                <a:spLocks noChangeArrowheads="1"/>
              </p:cNvSpPr>
              <p:nvPr/>
            </p:nvSpPr>
            <p:spPr bwMode="auto">
              <a:xfrm>
                <a:off x="85" y="0"/>
                <a:ext cx="4" cy="9"/>
              </a:xfrm>
              <a:prstGeom prst="rect">
                <a:avLst/>
              </a:prstGeom>
              <a:solidFill>
                <a:srgbClr val="FFFFFF"/>
              </a:solidFill>
              <a:ln w="9525">
                <a:solidFill>
                  <a:srgbClr val="FFFFFF"/>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931" name="Freeform 98"/>
              <p:cNvSpPr>
                <a:spLocks/>
              </p:cNvSpPr>
              <p:nvPr/>
            </p:nvSpPr>
            <p:spPr bwMode="auto">
              <a:xfrm>
                <a:off x="71" y="59"/>
                <a:ext cx="10" cy="16"/>
              </a:xfrm>
              <a:custGeom>
                <a:avLst/>
                <a:gdLst>
                  <a:gd name="T0" fmla="*/ 0 w 40"/>
                  <a:gd name="T1" fmla="*/ 0 h 47"/>
                  <a:gd name="T2" fmla="*/ 0 w 40"/>
                  <a:gd name="T3" fmla="*/ 0 h 47"/>
                  <a:gd name="T4" fmla="*/ 0 w 40"/>
                  <a:gd name="T5" fmla="*/ 0 h 47"/>
                  <a:gd name="T6" fmla="*/ 0 60000 65536"/>
                  <a:gd name="T7" fmla="*/ 0 60000 65536"/>
                  <a:gd name="T8" fmla="*/ 0 60000 65536"/>
                  <a:gd name="T9" fmla="*/ 0 w 40"/>
                  <a:gd name="T10" fmla="*/ 0 h 47"/>
                  <a:gd name="T11" fmla="*/ 40 w 40"/>
                  <a:gd name="T12" fmla="*/ 47 h 47"/>
                </a:gdLst>
                <a:ahLst/>
                <a:cxnLst>
                  <a:cxn ang="T6">
                    <a:pos x="T0" y="T1"/>
                  </a:cxn>
                  <a:cxn ang="T7">
                    <a:pos x="T2" y="T3"/>
                  </a:cxn>
                  <a:cxn ang="T8">
                    <a:pos x="T4" y="T5"/>
                  </a:cxn>
                </a:cxnLst>
                <a:rect l="T9" t="T10" r="T11" b="T12"/>
                <a:pathLst>
                  <a:path w="40" h="47">
                    <a:moveTo>
                      <a:pt x="0" y="47"/>
                    </a:moveTo>
                    <a:lnTo>
                      <a:pt x="21" y="0"/>
                    </a:lnTo>
                    <a:lnTo>
                      <a:pt x="40" y="47"/>
                    </a:lnTo>
                  </a:path>
                </a:pathLst>
              </a:custGeom>
              <a:gradFill rotWithShape="1">
                <a:gsLst>
                  <a:gs pos="0">
                    <a:srgbClr val="5E765E"/>
                  </a:gs>
                  <a:gs pos="50000">
                    <a:srgbClr val="CCFFCC"/>
                  </a:gs>
                  <a:gs pos="100000">
                    <a:srgbClr val="5E765E"/>
                  </a:gs>
                </a:gsLst>
                <a:lin ang="5400000" scaled="1"/>
              </a:gradFill>
              <a:ln w="9525">
                <a:solidFill>
                  <a:srgbClr val="000000"/>
                </a:solidFill>
                <a:round/>
                <a:headEnd/>
                <a:tailEnd/>
              </a:ln>
            </p:spPr>
            <p:txBody>
              <a:bodyPr/>
              <a:lstStyle/>
              <a:p>
                <a:endParaRPr lang="en-US"/>
              </a:p>
            </p:txBody>
          </p:sp>
          <p:sp>
            <p:nvSpPr>
              <p:cNvPr id="237932" name="Freeform 99"/>
              <p:cNvSpPr>
                <a:spLocks/>
              </p:cNvSpPr>
              <p:nvPr/>
            </p:nvSpPr>
            <p:spPr bwMode="auto">
              <a:xfrm>
                <a:off x="81" y="59"/>
                <a:ext cx="11" cy="16"/>
              </a:xfrm>
              <a:custGeom>
                <a:avLst/>
                <a:gdLst>
                  <a:gd name="T0" fmla="*/ 0 w 40"/>
                  <a:gd name="T1" fmla="*/ 0 h 47"/>
                  <a:gd name="T2" fmla="*/ 0 w 40"/>
                  <a:gd name="T3" fmla="*/ 0 h 47"/>
                  <a:gd name="T4" fmla="*/ 0 w 40"/>
                  <a:gd name="T5" fmla="*/ 0 h 47"/>
                  <a:gd name="T6" fmla="*/ 0 60000 65536"/>
                  <a:gd name="T7" fmla="*/ 0 60000 65536"/>
                  <a:gd name="T8" fmla="*/ 0 60000 65536"/>
                  <a:gd name="T9" fmla="*/ 0 w 40"/>
                  <a:gd name="T10" fmla="*/ 0 h 47"/>
                  <a:gd name="T11" fmla="*/ 40 w 40"/>
                  <a:gd name="T12" fmla="*/ 47 h 47"/>
                </a:gdLst>
                <a:ahLst/>
                <a:cxnLst>
                  <a:cxn ang="T6">
                    <a:pos x="T0" y="T1"/>
                  </a:cxn>
                  <a:cxn ang="T7">
                    <a:pos x="T2" y="T3"/>
                  </a:cxn>
                  <a:cxn ang="T8">
                    <a:pos x="T4" y="T5"/>
                  </a:cxn>
                </a:cxnLst>
                <a:rect l="T9" t="T10" r="T11" b="T12"/>
                <a:pathLst>
                  <a:path w="40" h="47">
                    <a:moveTo>
                      <a:pt x="0" y="47"/>
                    </a:moveTo>
                    <a:lnTo>
                      <a:pt x="21" y="0"/>
                    </a:lnTo>
                    <a:lnTo>
                      <a:pt x="40" y="47"/>
                    </a:lnTo>
                  </a:path>
                </a:pathLst>
              </a:custGeom>
              <a:gradFill rotWithShape="1">
                <a:gsLst>
                  <a:gs pos="0">
                    <a:srgbClr val="5E765E"/>
                  </a:gs>
                  <a:gs pos="50000">
                    <a:srgbClr val="CCFFCC"/>
                  </a:gs>
                  <a:gs pos="100000">
                    <a:srgbClr val="5E765E"/>
                  </a:gs>
                </a:gsLst>
                <a:lin ang="5400000" scaled="1"/>
              </a:gradFill>
              <a:ln w="9525">
                <a:solidFill>
                  <a:srgbClr val="000000"/>
                </a:solidFill>
                <a:round/>
                <a:headEnd/>
                <a:tailEnd/>
              </a:ln>
            </p:spPr>
            <p:txBody>
              <a:bodyPr/>
              <a:lstStyle/>
              <a:p>
                <a:endParaRPr lang="en-US"/>
              </a:p>
            </p:txBody>
          </p:sp>
          <p:sp>
            <p:nvSpPr>
              <p:cNvPr id="237933" name="Freeform 100"/>
              <p:cNvSpPr>
                <a:spLocks/>
              </p:cNvSpPr>
              <p:nvPr/>
            </p:nvSpPr>
            <p:spPr bwMode="auto">
              <a:xfrm>
                <a:off x="92" y="59"/>
                <a:ext cx="10" cy="16"/>
              </a:xfrm>
              <a:custGeom>
                <a:avLst/>
                <a:gdLst>
                  <a:gd name="T0" fmla="*/ 0 w 40"/>
                  <a:gd name="T1" fmla="*/ 0 h 47"/>
                  <a:gd name="T2" fmla="*/ 0 w 40"/>
                  <a:gd name="T3" fmla="*/ 0 h 47"/>
                  <a:gd name="T4" fmla="*/ 0 w 40"/>
                  <a:gd name="T5" fmla="*/ 0 h 47"/>
                  <a:gd name="T6" fmla="*/ 0 60000 65536"/>
                  <a:gd name="T7" fmla="*/ 0 60000 65536"/>
                  <a:gd name="T8" fmla="*/ 0 60000 65536"/>
                  <a:gd name="T9" fmla="*/ 0 w 40"/>
                  <a:gd name="T10" fmla="*/ 0 h 47"/>
                  <a:gd name="T11" fmla="*/ 40 w 40"/>
                  <a:gd name="T12" fmla="*/ 47 h 47"/>
                </a:gdLst>
                <a:ahLst/>
                <a:cxnLst>
                  <a:cxn ang="T6">
                    <a:pos x="T0" y="T1"/>
                  </a:cxn>
                  <a:cxn ang="T7">
                    <a:pos x="T2" y="T3"/>
                  </a:cxn>
                  <a:cxn ang="T8">
                    <a:pos x="T4" y="T5"/>
                  </a:cxn>
                </a:cxnLst>
                <a:rect l="T9" t="T10" r="T11" b="T12"/>
                <a:pathLst>
                  <a:path w="40" h="47">
                    <a:moveTo>
                      <a:pt x="0" y="47"/>
                    </a:moveTo>
                    <a:lnTo>
                      <a:pt x="21" y="0"/>
                    </a:lnTo>
                    <a:lnTo>
                      <a:pt x="40" y="47"/>
                    </a:lnTo>
                  </a:path>
                </a:pathLst>
              </a:custGeom>
              <a:gradFill rotWithShape="1">
                <a:gsLst>
                  <a:gs pos="0">
                    <a:srgbClr val="5E765E"/>
                  </a:gs>
                  <a:gs pos="50000">
                    <a:srgbClr val="CCFFCC"/>
                  </a:gs>
                  <a:gs pos="100000">
                    <a:srgbClr val="5E765E"/>
                  </a:gs>
                </a:gsLst>
                <a:lin ang="5400000" scaled="1"/>
              </a:gradFill>
              <a:ln w="9525">
                <a:solidFill>
                  <a:srgbClr val="000000"/>
                </a:solidFill>
                <a:round/>
                <a:headEnd/>
                <a:tailEnd/>
              </a:ln>
            </p:spPr>
            <p:txBody>
              <a:bodyPr/>
              <a:lstStyle/>
              <a:p>
                <a:endParaRPr lang="en-US"/>
              </a:p>
            </p:txBody>
          </p:sp>
          <p:sp>
            <p:nvSpPr>
              <p:cNvPr id="237934" name="Freeform 101"/>
              <p:cNvSpPr>
                <a:spLocks/>
              </p:cNvSpPr>
              <p:nvPr/>
            </p:nvSpPr>
            <p:spPr bwMode="auto">
              <a:xfrm>
                <a:off x="102" y="59"/>
                <a:ext cx="10" cy="16"/>
              </a:xfrm>
              <a:custGeom>
                <a:avLst/>
                <a:gdLst>
                  <a:gd name="T0" fmla="*/ 0 w 40"/>
                  <a:gd name="T1" fmla="*/ 0 h 47"/>
                  <a:gd name="T2" fmla="*/ 0 w 40"/>
                  <a:gd name="T3" fmla="*/ 0 h 47"/>
                  <a:gd name="T4" fmla="*/ 0 w 40"/>
                  <a:gd name="T5" fmla="*/ 0 h 47"/>
                  <a:gd name="T6" fmla="*/ 0 60000 65536"/>
                  <a:gd name="T7" fmla="*/ 0 60000 65536"/>
                  <a:gd name="T8" fmla="*/ 0 60000 65536"/>
                  <a:gd name="T9" fmla="*/ 0 w 40"/>
                  <a:gd name="T10" fmla="*/ 0 h 47"/>
                  <a:gd name="T11" fmla="*/ 40 w 40"/>
                  <a:gd name="T12" fmla="*/ 47 h 47"/>
                </a:gdLst>
                <a:ahLst/>
                <a:cxnLst>
                  <a:cxn ang="T6">
                    <a:pos x="T0" y="T1"/>
                  </a:cxn>
                  <a:cxn ang="T7">
                    <a:pos x="T2" y="T3"/>
                  </a:cxn>
                  <a:cxn ang="T8">
                    <a:pos x="T4" y="T5"/>
                  </a:cxn>
                </a:cxnLst>
                <a:rect l="T9" t="T10" r="T11" b="T12"/>
                <a:pathLst>
                  <a:path w="40" h="47">
                    <a:moveTo>
                      <a:pt x="0" y="47"/>
                    </a:moveTo>
                    <a:lnTo>
                      <a:pt x="21" y="0"/>
                    </a:lnTo>
                    <a:lnTo>
                      <a:pt x="40" y="47"/>
                    </a:lnTo>
                  </a:path>
                </a:pathLst>
              </a:custGeom>
              <a:gradFill rotWithShape="1">
                <a:gsLst>
                  <a:gs pos="0">
                    <a:srgbClr val="5E765E"/>
                  </a:gs>
                  <a:gs pos="50000">
                    <a:srgbClr val="CCFFCC"/>
                  </a:gs>
                  <a:gs pos="100000">
                    <a:srgbClr val="5E765E"/>
                  </a:gs>
                </a:gsLst>
                <a:lin ang="5400000" scaled="1"/>
              </a:gradFill>
              <a:ln w="9525">
                <a:solidFill>
                  <a:srgbClr val="000000"/>
                </a:solidFill>
                <a:round/>
                <a:headEnd/>
                <a:tailEnd/>
              </a:ln>
            </p:spPr>
            <p:txBody>
              <a:bodyPr/>
              <a:lstStyle/>
              <a:p>
                <a:endParaRPr lang="en-US"/>
              </a:p>
            </p:txBody>
          </p:sp>
          <p:sp>
            <p:nvSpPr>
              <p:cNvPr id="237935" name="Freeform 102"/>
              <p:cNvSpPr>
                <a:spLocks/>
              </p:cNvSpPr>
              <p:nvPr/>
            </p:nvSpPr>
            <p:spPr bwMode="auto">
              <a:xfrm>
                <a:off x="29" y="59"/>
                <a:ext cx="11" cy="16"/>
              </a:xfrm>
              <a:custGeom>
                <a:avLst/>
                <a:gdLst>
                  <a:gd name="T0" fmla="*/ 0 w 40"/>
                  <a:gd name="T1" fmla="*/ 0 h 47"/>
                  <a:gd name="T2" fmla="*/ 0 w 40"/>
                  <a:gd name="T3" fmla="*/ 0 h 47"/>
                  <a:gd name="T4" fmla="*/ 0 w 40"/>
                  <a:gd name="T5" fmla="*/ 0 h 47"/>
                  <a:gd name="T6" fmla="*/ 0 60000 65536"/>
                  <a:gd name="T7" fmla="*/ 0 60000 65536"/>
                  <a:gd name="T8" fmla="*/ 0 60000 65536"/>
                  <a:gd name="T9" fmla="*/ 0 w 40"/>
                  <a:gd name="T10" fmla="*/ 0 h 47"/>
                  <a:gd name="T11" fmla="*/ 40 w 40"/>
                  <a:gd name="T12" fmla="*/ 47 h 47"/>
                </a:gdLst>
                <a:ahLst/>
                <a:cxnLst>
                  <a:cxn ang="T6">
                    <a:pos x="T0" y="T1"/>
                  </a:cxn>
                  <a:cxn ang="T7">
                    <a:pos x="T2" y="T3"/>
                  </a:cxn>
                  <a:cxn ang="T8">
                    <a:pos x="T4" y="T5"/>
                  </a:cxn>
                </a:cxnLst>
                <a:rect l="T9" t="T10" r="T11" b="T12"/>
                <a:pathLst>
                  <a:path w="40" h="47">
                    <a:moveTo>
                      <a:pt x="0" y="47"/>
                    </a:moveTo>
                    <a:lnTo>
                      <a:pt x="21" y="0"/>
                    </a:lnTo>
                    <a:lnTo>
                      <a:pt x="40" y="47"/>
                    </a:lnTo>
                  </a:path>
                </a:pathLst>
              </a:custGeom>
              <a:gradFill rotWithShape="1">
                <a:gsLst>
                  <a:gs pos="0">
                    <a:srgbClr val="5E765E"/>
                  </a:gs>
                  <a:gs pos="50000">
                    <a:srgbClr val="CCFFCC"/>
                  </a:gs>
                  <a:gs pos="100000">
                    <a:srgbClr val="5E765E"/>
                  </a:gs>
                </a:gsLst>
                <a:lin ang="5400000" scaled="1"/>
              </a:gradFill>
              <a:ln w="9525">
                <a:solidFill>
                  <a:srgbClr val="000000"/>
                </a:solidFill>
                <a:round/>
                <a:headEnd/>
                <a:tailEnd/>
              </a:ln>
            </p:spPr>
            <p:txBody>
              <a:bodyPr/>
              <a:lstStyle/>
              <a:p>
                <a:endParaRPr lang="en-US"/>
              </a:p>
            </p:txBody>
          </p:sp>
          <p:sp>
            <p:nvSpPr>
              <p:cNvPr id="237936" name="Freeform 103"/>
              <p:cNvSpPr>
                <a:spLocks/>
              </p:cNvSpPr>
              <p:nvPr/>
            </p:nvSpPr>
            <p:spPr bwMode="auto">
              <a:xfrm>
                <a:off x="40" y="59"/>
                <a:ext cx="10" cy="16"/>
              </a:xfrm>
              <a:custGeom>
                <a:avLst/>
                <a:gdLst>
                  <a:gd name="T0" fmla="*/ 0 w 40"/>
                  <a:gd name="T1" fmla="*/ 0 h 47"/>
                  <a:gd name="T2" fmla="*/ 0 w 40"/>
                  <a:gd name="T3" fmla="*/ 0 h 47"/>
                  <a:gd name="T4" fmla="*/ 0 w 40"/>
                  <a:gd name="T5" fmla="*/ 0 h 47"/>
                  <a:gd name="T6" fmla="*/ 0 60000 65536"/>
                  <a:gd name="T7" fmla="*/ 0 60000 65536"/>
                  <a:gd name="T8" fmla="*/ 0 60000 65536"/>
                  <a:gd name="T9" fmla="*/ 0 w 40"/>
                  <a:gd name="T10" fmla="*/ 0 h 47"/>
                  <a:gd name="T11" fmla="*/ 40 w 40"/>
                  <a:gd name="T12" fmla="*/ 47 h 47"/>
                </a:gdLst>
                <a:ahLst/>
                <a:cxnLst>
                  <a:cxn ang="T6">
                    <a:pos x="T0" y="T1"/>
                  </a:cxn>
                  <a:cxn ang="T7">
                    <a:pos x="T2" y="T3"/>
                  </a:cxn>
                  <a:cxn ang="T8">
                    <a:pos x="T4" y="T5"/>
                  </a:cxn>
                </a:cxnLst>
                <a:rect l="T9" t="T10" r="T11" b="T12"/>
                <a:pathLst>
                  <a:path w="40" h="47">
                    <a:moveTo>
                      <a:pt x="0" y="47"/>
                    </a:moveTo>
                    <a:lnTo>
                      <a:pt x="21" y="0"/>
                    </a:lnTo>
                    <a:lnTo>
                      <a:pt x="40" y="47"/>
                    </a:lnTo>
                  </a:path>
                </a:pathLst>
              </a:custGeom>
              <a:gradFill rotWithShape="1">
                <a:gsLst>
                  <a:gs pos="0">
                    <a:srgbClr val="5E765E"/>
                  </a:gs>
                  <a:gs pos="50000">
                    <a:srgbClr val="CCFFCC"/>
                  </a:gs>
                  <a:gs pos="100000">
                    <a:srgbClr val="5E765E"/>
                  </a:gs>
                </a:gsLst>
                <a:lin ang="5400000" scaled="1"/>
              </a:gradFill>
              <a:ln w="9525">
                <a:solidFill>
                  <a:srgbClr val="000000"/>
                </a:solidFill>
                <a:round/>
                <a:headEnd/>
                <a:tailEnd/>
              </a:ln>
            </p:spPr>
            <p:txBody>
              <a:bodyPr/>
              <a:lstStyle/>
              <a:p>
                <a:endParaRPr lang="en-US"/>
              </a:p>
            </p:txBody>
          </p:sp>
          <p:sp>
            <p:nvSpPr>
              <p:cNvPr id="237937" name="Freeform 104"/>
              <p:cNvSpPr>
                <a:spLocks/>
              </p:cNvSpPr>
              <p:nvPr/>
            </p:nvSpPr>
            <p:spPr bwMode="auto">
              <a:xfrm>
                <a:off x="50" y="59"/>
                <a:ext cx="11" cy="16"/>
              </a:xfrm>
              <a:custGeom>
                <a:avLst/>
                <a:gdLst>
                  <a:gd name="T0" fmla="*/ 0 w 40"/>
                  <a:gd name="T1" fmla="*/ 0 h 47"/>
                  <a:gd name="T2" fmla="*/ 0 w 40"/>
                  <a:gd name="T3" fmla="*/ 0 h 47"/>
                  <a:gd name="T4" fmla="*/ 0 w 40"/>
                  <a:gd name="T5" fmla="*/ 0 h 47"/>
                  <a:gd name="T6" fmla="*/ 0 60000 65536"/>
                  <a:gd name="T7" fmla="*/ 0 60000 65536"/>
                  <a:gd name="T8" fmla="*/ 0 60000 65536"/>
                  <a:gd name="T9" fmla="*/ 0 w 40"/>
                  <a:gd name="T10" fmla="*/ 0 h 47"/>
                  <a:gd name="T11" fmla="*/ 40 w 40"/>
                  <a:gd name="T12" fmla="*/ 47 h 47"/>
                </a:gdLst>
                <a:ahLst/>
                <a:cxnLst>
                  <a:cxn ang="T6">
                    <a:pos x="T0" y="T1"/>
                  </a:cxn>
                  <a:cxn ang="T7">
                    <a:pos x="T2" y="T3"/>
                  </a:cxn>
                  <a:cxn ang="T8">
                    <a:pos x="T4" y="T5"/>
                  </a:cxn>
                </a:cxnLst>
                <a:rect l="T9" t="T10" r="T11" b="T12"/>
                <a:pathLst>
                  <a:path w="40" h="47">
                    <a:moveTo>
                      <a:pt x="0" y="47"/>
                    </a:moveTo>
                    <a:lnTo>
                      <a:pt x="21" y="0"/>
                    </a:lnTo>
                    <a:lnTo>
                      <a:pt x="40" y="47"/>
                    </a:lnTo>
                  </a:path>
                </a:pathLst>
              </a:custGeom>
              <a:gradFill rotWithShape="1">
                <a:gsLst>
                  <a:gs pos="0">
                    <a:srgbClr val="5E765E"/>
                  </a:gs>
                  <a:gs pos="50000">
                    <a:srgbClr val="CCFFCC"/>
                  </a:gs>
                  <a:gs pos="100000">
                    <a:srgbClr val="5E765E"/>
                  </a:gs>
                </a:gsLst>
                <a:lin ang="5400000" scaled="1"/>
              </a:gradFill>
              <a:ln w="9525">
                <a:solidFill>
                  <a:srgbClr val="000000"/>
                </a:solidFill>
                <a:round/>
                <a:headEnd/>
                <a:tailEnd/>
              </a:ln>
            </p:spPr>
            <p:txBody>
              <a:bodyPr/>
              <a:lstStyle/>
              <a:p>
                <a:endParaRPr lang="en-US"/>
              </a:p>
            </p:txBody>
          </p:sp>
          <p:sp>
            <p:nvSpPr>
              <p:cNvPr id="237938" name="Freeform 105"/>
              <p:cNvSpPr>
                <a:spLocks/>
              </p:cNvSpPr>
              <p:nvPr/>
            </p:nvSpPr>
            <p:spPr bwMode="auto">
              <a:xfrm>
                <a:off x="61" y="59"/>
                <a:ext cx="10" cy="16"/>
              </a:xfrm>
              <a:custGeom>
                <a:avLst/>
                <a:gdLst>
                  <a:gd name="T0" fmla="*/ 0 w 40"/>
                  <a:gd name="T1" fmla="*/ 0 h 47"/>
                  <a:gd name="T2" fmla="*/ 0 w 40"/>
                  <a:gd name="T3" fmla="*/ 0 h 47"/>
                  <a:gd name="T4" fmla="*/ 0 w 40"/>
                  <a:gd name="T5" fmla="*/ 0 h 47"/>
                  <a:gd name="T6" fmla="*/ 0 60000 65536"/>
                  <a:gd name="T7" fmla="*/ 0 60000 65536"/>
                  <a:gd name="T8" fmla="*/ 0 60000 65536"/>
                  <a:gd name="T9" fmla="*/ 0 w 40"/>
                  <a:gd name="T10" fmla="*/ 0 h 47"/>
                  <a:gd name="T11" fmla="*/ 40 w 40"/>
                  <a:gd name="T12" fmla="*/ 47 h 47"/>
                </a:gdLst>
                <a:ahLst/>
                <a:cxnLst>
                  <a:cxn ang="T6">
                    <a:pos x="T0" y="T1"/>
                  </a:cxn>
                  <a:cxn ang="T7">
                    <a:pos x="T2" y="T3"/>
                  </a:cxn>
                  <a:cxn ang="T8">
                    <a:pos x="T4" y="T5"/>
                  </a:cxn>
                </a:cxnLst>
                <a:rect l="T9" t="T10" r="T11" b="T12"/>
                <a:pathLst>
                  <a:path w="40" h="47">
                    <a:moveTo>
                      <a:pt x="0" y="47"/>
                    </a:moveTo>
                    <a:lnTo>
                      <a:pt x="21" y="0"/>
                    </a:lnTo>
                    <a:lnTo>
                      <a:pt x="40" y="47"/>
                    </a:lnTo>
                  </a:path>
                </a:pathLst>
              </a:custGeom>
              <a:gradFill rotWithShape="1">
                <a:gsLst>
                  <a:gs pos="0">
                    <a:srgbClr val="5E765E"/>
                  </a:gs>
                  <a:gs pos="50000">
                    <a:srgbClr val="CCFFCC"/>
                  </a:gs>
                  <a:gs pos="100000">
                    <a:srgbClr val="5E765E"/>
                  </a:gs>
                </a:gsLst>
                <a:lin ang="5400000" scaled="1"/>
              </a:gradFill>
              <a:ln w="9525">
                <a:solidFill>
                  <a:srgbClr val="000000"/>
                </a:solidFill>
                <a:round/>
                <a:headEnd/>
                <a:tailEnd/>
              </a:ln>
            </p:spPr>
            <p:txBody>
              <a:bodyPr/>
              <a:lstStyle/>
              <a:p>
                <a:endParaRPr lang="en-US"/>
              </a:p>
            </p:txBody>
          </p:sp>
          <p:sp>
            <p:nvSpPr>
              <p:cNvPr id="237939" name="Freeform 106"/>
              <p:cNvSpPr>
                <a:spLocks/>
              </p:cNvSpPr>
              <p:nvPr/>
            </p:nvSpPr>
            <p:spPr bwMode="auto">
              <a:xfrm>
                <a:off x="8" y="59"/>
                <a:ext cx="11" cy="16"/>
              </a:xfrm>
              <a:custGeom>
                <a:avLst/>
                <a:gdLst>
                  <a:gd name="T0" fmla="*/ 0 w 40"/>
                  <a:gd name="T1" fmla="*/ 0 h 47"/>
                  <a:gd name="T2" fmla="*/ 0 w 40"/>
                  <a:gd name="T3" fmla="*/ 0 h 47"/>
                  <a:gd name="T4" fmla="*/ 0 w 40"/>
                  <a:gd name="T5" fmla="*/ 0 h 47"/>
                  <a:gd name="T6" fmla="*/ 0 60000 65536"/>
                  <a:gd name="T7" fmla="*/ 0 60000 65536"/>
                  <a:gd name="T8" fmla="*/ 0 60000 65536"/>
                  <a:gd name="T9" fmla="*/ 0 w 40"/>
                  <a:gd name="T10" fmla="*/ 0 h 47"/>
                  <a:gd name="T11" fmla="*/ 40 w 40"/>
                  <a:gd name="T12" fmla="*/ 47 h 47"/>
                </a:gdLst>
                <a:ahLst/>
                <a:cxnLst>
                  <a:cxn ang="T6">
                    <a:pos x="T0" y="T1"/>
                  </a:cxn>
                  <a:cxn ang="T7">
                    <a:pos x="T2" y="T3"/>
                  </a:cxn>
                  <a:cxn ang="T8">
                    <a:pos x="T4" y="T5"/>
                  </a:cxn>
                </a:cxnLst>
                <a:rect l="T9" t="T10" r="T11" b="T12"/>
                <a:pathLst>
                  <a:path w="40" h="47">
                    <a:moveTo>
                      <a:pt x="0" y="47"/>
                    </a:moveTo>
                    <a:lnTo>
                      <a:pt x="21" y="0"/>
                    </a:lnTo>
                    <a:lnTo>
                      <a:pt x="40" y="47"/>
                    </a:lnTo>
                  </a:path>
                </a:pathLst>
              </a:custGeom>
              <a:gradFill rotWithShape="1">
                <a:gsLst>
                  <a:gs pos="0">
                    <a:srgbClr val="5E765E"/>
                  </a:gs>
                  <a:gs pos="50000">
                    <a:srgbClr val="CCFFCC"/>
                  </a:gs>
                  <a:gs pos="100000">
                    <a:srgbClr val="5E765E"/>
                  </a:gs>
                </a:gsLst>
                <a:lin ang="5400000" scaled="1"/>
              </a:gradFill>
              <a:ln w="9525">
                <a:solidFill>
                  <a:srgbClr val="000000"/>
                </a:solidFill>
                <a:round/>
                <a:headEnd/>
                <a:tailEnd/>
              </a:ln>
            </p:spPr>
            <p:txBody>
              <a:bodyPr/>
              <a:lstStyle/>
              <a:p>
                <a:endParaRPr lang="en-US"/>
              </a:p>
            </p:txBody>
          </p:sp>
          <p:sp>
            <p:nvSpPr>
              <p:cNvPr id="237940" name="Freeform 107"/>
              <p:cNvSpPr>
                <a:spLocks/>
              </p:cNvSpPr>
              <p:nvPr/>
            </p:nvSpPr>
            <p:spPr bwMode="auto">
              <a:xfrm>
                <a:off x="19" y="59"/>
                <a:ext cx="10" cy="16"/>
              </a:xfrm>
              <a:custGeom>
                <a:avLst/>
                <a:gdLst>
                  <a:gd name="T0" fmla="*/ 0 w 40"/>
                  <a:gd name="T1" fmla="*/ 0 h 47"/>
                  <a:gd name="T2" fmla="*/ 0 w 40"/>
                  <a:gd name="T3" fmla="*/ 0 h 47"/>
                  <a:gd name="T4" fmla="*/ 0 w 40"/>
                  <a:gd name="T5" fmla="*/ 0 h 47"/>
                  <a:gd name="T6" fmla="*/ 0 60000 65536"/>
                  <a:gd name="T7" fmla="*/ 0 60000 65536"/>
                  <a:gd name="T8" fmla="*/ 0 60000 65536"/>
                  <a:gd name="T9" fmla="*/ 0 w 40"/>
                  <a:gd name="T10" fmla="*/ 0 h 47"/>
                  <a:gd name="T11" fmla="*/ 40 w 40"/>
                  <a:gd name="T12" fmla="*/ 47 h 47"/>
                </a:gdLst>
                <a:ahLst/>
                <a:cxnLst>
                  <a:cxn ang="T6">
                    <a:pos x="T0" y="T1"/>
                  </a:cxn>
                  <a:cxn ang="T7">
                    <a:pos x="T2" y="T3"/>
                  </a:cxn>
                  <a:cxn ang="T8">
                    <a:pos x="T4" y="T5"/>
                  </a:cxn>
                </a:cxnLst>
                <a:rect l="T9" t="T10" r="T11" b="T12"/>
                <a:pathLst>
                  <a:path w="40" h="47">
                    <a:moveTo>
                      <a:pt x="0" y="47"/>
                    </a:moveTo>
                    <a:lnTo>
                      <a:pt x="21" y="0"/>
                    </a:lnTo>
                    <a:lnTo>
                      <a:pt x="40" y="47"/>
                    </a:lnTo>
                  </a:path>
                </a:pathLst>
              </a:custGeom>
              <a:gradFill rotWithShape="1">
                <a:gsLst>
                  <a:gs pos="0">
                    <a:srgbClr val="5E765E"/>
                  </a:gs>
                  <a:gs pos="50000">
                    <a:srgbClr val="CCFFCC"/>
                  </a:gs>
                  <a:gs pos="100000">
                    <a:srgbClr val="5E765E"/>
                  </a:gs>
                </a:gsLst>
                <a:lin ang="5400000" scaled="1"/>
              </a:gradFill>
              <a:ln w="9525">
                <a:solidFill>
                  <a:srgbClr val="000000"/>
                </a:solidFill>
                <a:round/>
                <a:headEnd/>
                <a:tailEnd/>
              </a:ln>
            </p:spPr>
            <p:txBody>
              <a:bodyPr/>
              <a:lstStyle/>
              <a:p>
                <a:endParaRPr lang="en-US"/>
              </a:p>
            </p:txBody>
          </p:sp>
          <p:sp>
            <p:nvSpPr>
              <p:cNvPr id="237941" name="AutoShape 1257"/>
              <p:cNvSpPr>
                <a:spLocks noChangeArrowheads="1"/>
              </p:cNvSpPr>
              <p:nvPr/>
            </p:nvSpPr>
            <p:spPr bwMode="auto">
              <a:xfrm>
                <a:off x="0" y="27"/>
                <a:ext cx="21" cy="2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114 w 21600"/>
                  <a:gd name="T13" fmla="*/ 4114 h 21600"/>
                  <a:gd name="T14" fmla="*/ 17486 w 21600"/>
                  <a:gd name="T15" fmla="*/ 17486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gradFill rotWithShape="1">
                <a:gsLst>
                  <a:gs pos="0">
                    <a:srgbClr val="5E765E"/>
                  </a:gs>
                  <a:gs pos="50000">
                    <a:srgbClr val="CCFFCC"/>
                  </a:gs>
                  <a:gs pos="100000">
                    <a:srgbClr val="5E765E"/>
                  </a:gs>
                </a:gsLst>
                <a:lin ang="5400000" scaled="1"/>
              </a:gradFill>
              <a:ln w="9525">
                <a:solidFill>
                  <a:srgbClr val="000000"/>
                </a:solidFill>
                <a:miter lim="800000"/>
                <a:headEnd/>
                <a:tailEnd/>
              </a:ln>
            </p:spPr>
            <p:txBody>
              <a:bodyPr/>
              <a:lstStyle/>
              <a:p>
                <a:endParaRPr lang="en-US"/>
              </a:p>
            </p:txBody>
          </p:sp>
          <p:sp>
            <p:nvSpPr>
              <p:cNvPr id="237942" name="Rectangle 109"/>
              <p:cNvSpPr>
                <a:spLocks noChangeArrowheads="1"/>
              </p:cNvSpPr>
              <p:nvPr/>
            </p:nvSpPr>
            <p:spPr bwMode="auto">
              <a:xfrm>
                <a:off x="3" y="48"/>
                <a:ext cx="15" cy="3"/>
              </a:xfrm>
              <a:prstGeom prst="rect">
                <a:avLst/>
              </a:prstGeom>
              <a:gradFill rotWithShape="1">
                <a:gsLst>
                  <a:gs pos="0">
                    <a:srgbClr val="5E765E"/>
                  </a:gs>
                  <a:gs pos="50000">
                    <a:srgbClr val="CCFFCC"/>
                  </a:gs>
                  <a:gs pos="100000">
                    <a:srgbClr val="5E765E"/>
                  </a:gs>
                </a:gsLst>
                <a:lin ang="540000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943" name="Rectangle 110"/>
              <p:cNvSpPr>
                <a:spLocks noChangeArrowheads="1"/>
              </p:cNvSpPr>
              <p:nvPr/>
            </p:nvSpPr>
            <p:spPr bwMode="auto">
              <a:xfrm>
                <a:off x="5" y="51"/>
                <a:ext cx="11" cy="7"/>
              </a:xfrm>
              <a:prstGeom prst="rect">
                <a:avLst/>
              </a:prstGeom>
              <a:gradFill rotWithShape="1">
                <a:gsLst>
                  <a:gs pos="0">
                    <a:srgbClr val="5E765E"/>
                  </a:gs>
                  <a:gs pos="50000">
                    <a:srgbClr val="CCFFCC"/>
                  </a:gs>
                  <a:gs pos="100000">
                    <a:srgbClr val="5E765E"/>
                  </a:gs>
                </a:gsLst>
                <a:lin ang="540000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944" name="Rectangle 111"/>
              <p:cNvSpPr>
                <a:spLocks noChangeArrowheads="1"/>
              </p:cNvSpPr>
              <p:nvPr/>
            </p:nvSpPr>
            <p:spPr bwMode="auto">
              <a:xfrm>
                <a:off x="0" y="66"/>
                <a:ext cx="116" cy="2"/>
              </a:xfrm>
              <a:prstGeom prst="rect">
                <a:avLst/>
              </a:prstGeom>
              <a:gradFill rotWithShape="1">
                <a:gsLst>
                  <a:gs pos="0">
                    <a:srgbClr val="5E765E"/>
                  </a:gs>
                  <a:gs pos="50000">
                    <a:srgbClr val="CCFFCC"/>
                  </a:gs>
                  <a:gs pos="100000">
                    <a:srgbClr val="5E765E"/>
                  </a:gs>
                </a:gsLst>
                <a:lin ang="540000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945" name="Rectangle 112"/>
              <p:cNvSpPr>
                <a:spLocks noChangeArrowheads="1"/>
              </p:cNvSpPr>
              <p:nvPr/>
            </p:nvSpPr>
            <p:spPr bwMode="auto">
              <a:xfrm>
                <a:off x="203" y="121"/>
                <a:ext cx="29" cy="15"/>
              </a:xfrm>
              <a:prstGeom prst="rect">
                <a:avLst/>
              </a:prstGeom>
              <a:gradFill rotWithShape="1">
                <a:gsLst>
                  <a:gs pos="0">
                    <a:srgbClr val="454545"/>
                  </a:gs>
                  <a:gs pos="50000">
                    <a:srgbClr val="969696"/>
                  </a:gs>
                  <a:gs pos="100000">
                    <a:srgbClr val="454545"/>
                  </a:gs>
                </a:gsLst>
                <a:lin ang="540000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946" name="Rectangle 113"/>
              <p:cNvSpPr>
                <a:spLocks noChangeArrowheads="1"/>
              </p:cNvSpPr>
              <p:nvPr/>
            </p:nvSpPr>
            <p:spPr bwMode="auto">
              <a:xfrm>
                <a:off x="200" y="119"/>
                <a:ext cx="3" cy="19"/>
              </a:xfrm>
              <a:prstGeom prst="rect">
                <a:avLst/>
              </a:prstGeom>
              <a:gradFill rotWithShape="1">
                <a:gsLst>
                  <a:gs pos="0">
                    <a:srgbClr val="454545"/>
                  </a:gs>
                  <a:gs pos="50000">
                    <a:srgbClr val="969696"/>
                  </a:gs>
                  <a:gs pos="100000">
                    <a:srgbClr val="454545"/>
                  </a:gs>
                </a:gsLst>
                <a:lin ang="540000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947" name="Rectangle 114"/>
              <p:cNvSpPr>
                <a:spLocks noChangeArrowheads="1"/>
              </p:cNvSpPr>
              <p:nvPr/>
            </p:nvSpPr>
            <p:spPr bwMode="auto">
              <a:xfrm>
                <a:off x="189" y="126"/>
                <a:ext cx="11" cy="4"/>
              </a:xfrm>
              <a:prstGeom prst="rect">
                <a:avLst/>
              </a:prstGeom>
              <a:gradFill rotWithShape="1">
                <a:gsLst>
                  <a:gs pos="0">
                    <a:srgbClr val="454545"/>
                  </a:gs>
                  <a:gs pos="50000">
                    <a:srgbClr val="969696"/>
                  </a:gs>
                  <a:gs pos="100000">
                    <a:srgbClr val="454545"/>
                  </a:gs>
                </a:gsLst>
                <a:lin ang="540000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grpSp>
        <p:grpSp>
          <p:nvGrpSpPr>
            <p:cNvPr id="237578" name="Group 104"/>
            <p:cNvGrpSpPr>
              <a:grpSpLocks/>
            </p:cNvGrpSpPr>
            <p:nvPr/>
          </p:nvGrpSpPr>
          <p:grpSpPr bwMode="auto">
            <a:xfrm>
              <a:off x="1840280" y="2653279"/>
              <a:ext cx="423219" cy="692259"/>
              <a:chOff x="0" y="0"/>
              <a:chExt cx="110" cy="282"/>
            </a:xfrm>
          </p:grpSpPr>
          <p:pic>
            <p:nvPicPr>
              <p:cNvPr id="237858" name="Picture 13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10"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7859" name="Rectangle 132"/>
              <p:cNvSpPr>
                <a:spLocks noChangeArrowheads="1"/>
              </p:cNvSpPr>
              <p:nvPr/>
            </p:nvSpPr>
            <p:spPr bwMode="auto">
              <a:xfrm>
                <a:off x="60" y="41"/>
                <a:ext cx="12" cy="39"/>
              </a:xfrm>
              <a:prstGeom prst="rect">
                <a:avLst/>
              </a:prstGeom>
              <a:solidFill>
                <a:srgbClr val="808080"/>
              </a:soli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860" name="Rectangle 133"/>
              <p:cNvSpPr>
                <a:spLocks noChangeArrowheads="1"/>
              </p:cNvSpPr>
              <p:nvPr/>
            </p:nvSpPr>
            <p:spPr bwMode="auto">
              <a:xfrm rot="2700000">
                <a:off x="77" y="-2"/>
                <a:ext cx="12" cy="54"/>
              </a:xfrm>
              <a:prstGeom prst="rect">
                <a:avLst/>
              </a:prstGeom>
              <a:solidFill>
                <a:srgbClr val="808080"/>
              </a:soli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861" name="Rectangle 134"/>
              <p:cNvSpPr>
                <a:spLocks noChangeArrowheads="1"/>
              </p:cNvSpPr>
              <p:nvPr/>
            </p:nvSpPr>
            <p:spPr bwMode="auto">
              <a:xfrm>
                <a:off x="61" y="41"/>
                <a:ext cx="10" cy="10"/>
              </a:xfrm>
              <a:prstGeom prst="rect">
                <a:avLst/>
              </a:prstGeom>
              <a:solidFill>
                <a:srgbClr val="808080"/>
              </a:solidFill>
              <a:ln w="9525">
                <a:solidFill>
                  <a:srgbClr val="80808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grpSp>
        <p:pic>
          <p:nvPicPr>
            <p:cNvPr id="237579" name="Picture 1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39598" y="2376375"/>
              <a:ext cx="470342" cy="468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7580" name="Picture 13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74234" y="2791731"/>
              <a:ext cx="311342" cy="349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7581" name="Picture 13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80477" y="1753342"/>
              <a:ext cx="361294" cy="1287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37582" name="Group 129"/>
            <p:cNvGrpSpPr>
              <a:grpSpLocks/>
            </p:cNvGrpSpPr>
            <p:nvPr/>
          </p:nvGrpSpPr>
          <p:grpSpPr bwMode="auto">
            <a:xfrm>
              <a:off x="4379601" y="1947530"/>
              <a:ext cx="1289176" cy="289988"/>
              <a:chOff x="3868743" y="1556792"/>
              <a:chExt cx="1316066" cy="373650"/>
            </a:xfrm>
          </p:grpSpPr>
          <p:pic>
            <p:nvPicPr>
              <p:cNvPr id="237854" name="Picture 139"/>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860032" y="1561038"/>
                <a:ext cx="324777" cy="369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7855" name="Picture 140"/>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211960" y="1556792"/>
                <a:ext cx="320018" cy="37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7856" name="Picture 141"/>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514138" y="1556792"/>
                <a:ext cx="345894" cy="360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7857" name="Picture 142"/>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868743" y="1561038"/>
                <a:ext cx="343217" cy="356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7583" name="Group 126"/>
            <p:cNvGrpSpPr>
              <a:grpSpLocks/>
            </p:cNvGrpSpPr>
            <p:nvPr/>
          </p:nvGrpSpPr>
          <p:grpSpPr bwMode="auto">
            <a:xfrm>
              <a:off x="5598240" y="2177649"/>
              <a:ext cx="679542" cy="1029437"/>
              <a:chOff x="3789892" y="2046816"/>
              <a:chExt cx="1564216" cy="2764367"/>
            </a:xfrm>
          </p:grpSpPr>
          <p:pic>
            <p:nvPicPr>
              <p:cNvPr id="237851" name="Picture 144"/>
              <p:cNvPicPr>
                <a:picLocks noChangeAspect="1" noChangeArrowheads="1"/>
              </p:cNvPicPr>
              <p:nvPr/>
            </p:nvPicPr>
            <p:blipFill>
              <a:blip r:embed="rId9"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789892" y="2046816"/>
                <a:ext cx="781050"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7852" name="Rectangle 145"/>
              <p:cNvSpPr>
                <a:spLocks noChangeArrowheads="1"/>
              </p:cNvSpPr>
              <p:nvPr/>
            </p:nvSpPr>
            <p:spPr bwMode="auto">
              <a:xfrm>
                <a:off x="4389967" y="2316691"/>
                <a:ext cx="209550" cy="2494492"/>
              </a:xfrm>
              <a:prstGeom prst="rect">
                <a:avLst/>
              </a:prstGeom>
              <a:gradFill rotWithShape="1">
                <a:gsLst>
                  <a:gs pos="0">
                    <a:srgbClr val="2F5E76"/>
                  </a:gs>
                  <a:gs pos="50000">
                    <a:srgbClr val="66CCFF"/>
                  </a:gs>
                  <a:gs pos="100000">
                    <a:srgbClr val="2F5E76"/>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pic>
            <p:nvPicPr>
              <p:cNvPr id="237853" name="Picture 14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28092" y="4358216"/>
                <a:ext cx="726016" cy="4529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48" name="Picture 147"/>
            <p:cNvPicPr>
              <a:picLocks noChangeAspect="1" noChangeArrowheads="1"/>
            </p:cNvPicPr>
            <p:nvPr/>
          </p:nvPicPr>
          <p:blipFill>
            <a:blip r:embed="rId11"/>
            <a:srcRect/>
            <a:stretch>
              <a:fillRect/>
            </a:stretch>
          </p:blipFill>
          <p:spPr bwMode="auto">
            <a:xfrm>
              <a:off x="6494978" y="3024518"/>
              <a:ext cx="283674" cy="181887"/>
            </a:xfrm>
            <a:prstGeom prst="rect">
              <a:avLst/>
            </a:prstGeom>
            <a:noFill/>
            <a:ln w="9525">
              <a:solidFill>
                <a:schemeClr val="bg1">
                  <a:lumMod val="75000"/>
                </a:schemeClr>
              </a:solidFill>
              <a:miter lim="800000"/>
              <a:headEnd/>
              <a:tailEnd/>
            </a:ln>
          </p:spPr>
        </p:pic>
        <p:grpSp>
          <p:nvGrpSpPr>
            <p:cNvPr id="237585" name="Group 130"/>
            <p:cNvGrpSpPr>
              <a:grpSpLocks/>
            </p:cNvGrpSpPr>
            <p:nvPr/>
          </p:nvGrpSpPr>
          <p:grpSpPr bwMode="auto">
            <a:xfrm>
              <a:off x="6944748" y="2168697"/>
              <a:ext cx="193864" cy="1031061"/>
              <a:chOff x="0" y="0"/>
              <a:chExt cx="44" cy="312"/>
            </a:xfrm>
          </p:grpSpPr>
          <p:sp>
            <p:nvSpPr>
              <p:cNvPr id="237845" name="AutoShape 185"/>
              <p:cNvSpPr>
                <a:spLocks noChangeArrowheads="1"/>
              </p:cNvSpPr>
              <p:nvPr/>
            </p:nvSpPr>
            <p:spPr bwMode="auto">
              <a:xfrm rot="-5400000">
                <a:off x="17" y="-4"/>
                <a:ext cx="12" cy="36"/>
              </a:xfrm>
              <a:prstGeom prst="flowChartDelay">
                <a:avLst/>
              </a:prstGeom>
              <a:gradFill rotWithShape="1">
                <a:gsLst>
                  <a:gs pos="0">
                    <a:srgbClr val="800080"/>
                  </a:gs>
                  <a:gs pos="50000">
                    <a:srgbClr val="FFFFFF"/>
                  </a:gs>
                  <a:gs pos="100000">
                    <a:srgbClr val="80008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846" name="Rectangle 150"/>
              <p:cNvSpPr>
                <a:spLocks noChangeArrowheads="1"/>
              </p:cNvSpPr>
              <p:nvPr/>
            </p:nvSpPr>
            <p:spPr bwMode="auto">
              <a:xfrm>
                <a:off x="5" y="20"/>
                <a:ext cx="36" cy="287"/>
              </a:xfrm>
              <a:prstGeom prst="rect">
                <a:avLst/>
              </a:prstGeom>
              <a:gradFill rotWithShape="1">
                <a:gsLst>
                  <a:gs pos="0">
                    <a:srgbClr val="0000FF"/>
                  </a:gs>
                  <a:gs pos="50000">
                    <a:srgbClr val="FFFFFF"/>
                  </a:gs>
                  <a:gs pos="100000">
                    <a:srgbClr val="0000FF"/>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847" name="Rectangle 151"/>
              <p:cNvSpPr>
                <a:spLocks noChangeArrowheads="1"/>
              </p:cNvSpPr>
              <p:nvPr/>
            </p:nvSpPr>
            <p:spPr bwMode="auto">
              <a:xfrm>
                <a:off x="0" y="307"/>
                <a:ext cx="44" cy="5"/>
              </a:xfrm>
              <a:prstGeom prst="rect">
                <a:avLst/>
              </a:prstGeom>
              <a:gradFill rotWithShape="1">
                <a:gsLst>
                  <a:gs pos="0">
                    <a:srgbClr val="800080"/>
                  </a:gs>
                  <a:gs pos="50000">
                    <a:srgbClr val="FFFFFF"/>
                  </a:gs>
                  <a:gs pos="100000">
                    <a:srgbClr val="80008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848" name="AutoShape 188"/>
              <p:cNvSpPr>
                <a:spLocks noChangeArrowheads="1"/>
              </p:cNvSpPr>
              <p:nvPr/>
            </p:nvSpPr>
            <p:spPr bwMode="auto">
              <a:xfrm rot="5400000" flipV="1">
                <a:off x="16" y="247"/>
                <a:ext cx="14" cy="36"/>
              </a:xfrm>
              <a:prstGeom prst="flowChartDelay">
                <a:avLst/>
              </a:prstGeom>
              <a:gradFill rotWithShape="1">
                <a:gsLst>
                  <a:gs pos="0">
                    <a:srgbClr val="800080"/>
                  </a:gs>
                  <a:gs pos="50000">
                    <a:srgbClr val="FFFFFF"/>
                  </a:gs>
                  <a:gs pos="100000">
                    <a:srgbClr val="80008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849" name="Rectangle 153"/>
              <p:cNvSpPr>
                <a:spLocks noChangeArrowheads="1"/>
              </p:cNvSpPr>
              <p:nvPr/>
            </p:nvSpPr>
            <p:spPr bwMode="auto">
              <a:xfrm>
                <a:off x="18" y="272"/>
                <a:ext cx="9" cy="5"/>
              </a:xfrm>
              <a:prstGeom prst="rect">
                <a:avLst/>
              </a:prstGeom>
              <a:gradFill rotWithShape="1">
                <a:gsLst>
                  <a:gs pos="0">
                    <a:srgbClr val="800080"/>
                  </a:gs>
                  <a:gs pos="50000">
                    <a:srgbClr val="FFFFFF"/>
                  </a:gs>
                  <a:gs pos="100000">
                    <a:srgbClr val="80008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850" name="Rectangle 154"/>
              <p:cNvSpPr>
                <a:spLocks noChangeArrowheads="1"/>
              </p:cNvSpPr>
              <p:nvPr/>
            </p:nvSpPr>
            <p:spPr bwMode="auto">
              <a:xfrm>
                <a:off x="19" y="0"/>
                <a:ext cx="8" cy="8"/>
              </a:xfrm>
              <a:prstGeom prst="rect">
                <a:avLst/>
              </a:prstGeom>
              <a:gradFill rotWithShape="1">
                <a:gsLst>
                  <a:gs pos="0">
                    <a:srgbClr val="800080"/>
                  </a:gs>
                  <a:gs pos="50000">
                    <a:srgbClr val="FFFFFF"/>
                  </a:gs>
                  <a:gs pos="100000">
                    <a:srgbClr val="80008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grpSp>
        <p:grpSp>
          <p:nvGrpSpPr>
            <p:cNvPr id="237586" name="Group 138"/>
            <p:cNvGrpSpPr>
              <a:grpSpLocks/>
            </p:cNvGrpSpPr>
            <p:nvPr/>
          </p:nvGrpSpPr>
          <p:grpSpPr bwMode="auto">
            <a:xfrm>
              <a:off x="7342143" y="2290178"/>
              <a:ext cx="141073" cy="916908"/>
              <a:chOff x="0" y="904875"/>
              <a:chExt cx="24" cy="305"/>
            </a:xfrm>
          </p:grpSpPr>
          <p:sp>
            <p:nvSpPr>
              <p:cNvPr id="237842" name="AutoShape 196"/>
              <p:cNvSpPr>
                <a:spLocks noChangeArrowheads="1"/>
              </p:cNvSpPr>
              <p:nvPr/>
            </p:nvSpPr>
            <p:spPr bwMode="auto">
              <a:xfrm flipV="1">
                <a:off x="0" y="904969"/>
                <a:ext cx="24" cy="14"/>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629 h 21600"/>
                  <a:gd name="T14" fmla="*/ 17100 w 21600"/>
                  <a:gd name="T15" fmla="*/ 16971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gradFill rotWithShape="1">
                <a:gsLst>
                  <a:gs pos="0">
                    <a:srgbClr val="00CCFF"/>
                  </a:gs>
                  <a:gs pos="50000">
                    <a:srgbClr val="FFFFFF"/>
                  </a:gs>
                  <a:gs pos="100000">
                    <a:srgbClr val="00CCFF"/>
                  </a:gs>
                </a:gsLst>
                <a:lin ang="0" scaled="1"/>
              </a:gradFill>
              <a:ln w="9525">
                <a:solidFill>
                  <a:srgbClr val="000000"/>
                </a:solidFill>
                <a:miter lim="800000"/>
                <a:headEnd/>
                <a:tailEnd/>
              </a:ln>
            </p:spPr>
            <p:txBody>
              <a:bodyPr/>
              <a:lstStyle/>
              <a:p>
                <a:endParaRPr lang="en-US"/>
              </a:p>
            </p:txBody>
          </p:sp>
          <p:sp>
            <p:nvSpPr>
              <p:cNvPr id="237843" name="Rectangle 157"/>
              <p:cNvSpPr>
                <a:spLocks noChangeArrowheads="1"/>
              </p:cNvSpPr>
              <p:nvPr/>
            </p:nvSpPr>
            <p:spPr bwMode="auto">
              <a:xfrm>
                <a:off x="0" y="904983"/>
                <a:ext cx="24" cy="197"/>
              </a:xfrm>
              <a:prstGeom prst="rect">
                <a:avLst/>
              </a:prstGeom>
              <a:gradFill rotWithShape="1">
                <a:gsLst>
                  <a:gs pos="0">
                    <a:srgbClr val="FF00FF"/>
                  </a:gs>
                  <a:gs pos="50000">
                    <a:srgbClr val="FFFFFF"/>
                  </a:gs>
                  <a:gs pos="100000">
                    <a:srgbClr val="FF00FF"/>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844" name="Rectangle 158"/>
              <p:cNvSpPr>
                <a:spLocks noChangeArrowheads="1"/>
              </p:cNvSpPr>
              <p:nvPr/>
            </p:nvSpPr>
            <p:spPr bwMode="auto">
              <a:xfrm>
                <a:off x="6" y="904875"/>
                <a:ext cx="12" cy="94"/>
              </a:xfrm>
              <a:prstGeom prst="rect">
                <a:avLst/>
              </a:prstGeom>
              <a:gradFill rotWithShape="1">
                <a:gsLst>
                  <a:gs pos="0">
                    <a:srgbClr val="00CCFF"/>
                  </a:gs>
                  <a:gs pos="50000">
                    <a:srgbClr val="FFFFFF"/>
                  </a:gs>
                  <a:gs pos="100000">
                    <a:srgbClr val="00CCFF"/>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grpSp>
        <p:pic>
          <p:nvPicPr>
            <p:cNvPr id="237587" name="Picture 15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758040" y="1844824"/>
              <a:ext cx="430544" cy="393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7588" name="Picture 160"/>
            <p:cNvPicPr>
              <a:picLocks noChangeAspect="1" noChangeArrowheads="1"/>
            </p:cNvPicPr>
            <p:nvPr/>
          </p:nvPicPr>
          <p:blipFill>
            <a:blip r:embed="rId1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567093" y="2237923"/>
              <a:ext cx="355981" cy="143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7589" name="Picture 16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277623" y="1844824"/>
              <a:ext cx="430544" cy="393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 name="Freeform 162"/>
            <p:cNvSpPr/>
            <p:nvPr/>
          </p:nvSpPr>
          <p:spPr>
            <a:xfrm>
              <a:off x="972361" y="3022909"/>
              <a:ext cx="982200" cy="46678"/>
            </a:xfrm>
            <a:custGeom>
              <a:avLst/>
              <a:gdLst>
                <a:gd name="connsiteX0" fmla="*/ 0 w 1057701"/>
                <a:gd name="connsiteY0" fmla="*/ 0 h 0"/>
                <a:gd name="connsiteX1" fmla="*/ 1057701 w 1057701"/>
                <a:gd name="connsiteY1" fmla="*/ 0 h 0"/>
              </a:gdLst>
              <a:ahLst/>
              <a:cxnLst>
                <a:cxn ang="0">
                  <a:pos x="connsiteX0" y="connsiteY0"/>
                </a:cxn>
                <a:cxn ang="0">
                  <a:pos x="connsiteX1" y="connsiteY1"/>
                </a:cxn>
              </a:cxnLst>
              <a:rect l="l" t="t" r="r" b="b"/>
              <a:pathLst>
                <a:path w="1057701">
                  <a:moveTo>
                    <a:pt x="0" y="0"/>
                  </a:moveTo>
                  <a:lnTo>
                    <a:pt x="1057701" y="0"/>
                  </a:lnTo>
                </a:path>
              </a:pathLst>
            </a:custGeom>
            <a:ln w="190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th-TH"/>
            </a:p>
          </p:txBody>
        </p:sp>
        <p:sp>
          <p:nvSpPr>
            <p:cNvPr id="164" name="Freeform 163"/>
            <p:cNvSpPr/>
            <p:nvPr/>
          </p:nvSpPr>
          <p:spPr>
            <a:xfrm>
              <a:off x="108223" y="1546888"/>
              <a:ext cx="719842" cy="297780"/>
            </a:xfrm>
            <a:custGeom>
              <a:avLst/>
              <a:gdLst>
                <a:gd name="connsiteX0" fmla="*/ 0 w 423080"/>
                <a:gd name="connsiteY0" fmla="*/ 0 h 245660"/>
                <a:gd name="connsiteX1" fmla="*/ 423080 w 423080"/>
                <a:gd name="connsiteY1" fmla="*/ 0 h 245660"/>
                <a:gd name="connsiteX2" fmla="*/ 423080 w 423080"/>
                <a:gd name="connsiteY2" fmla="*/ 245660 h 245660"/>
              </a:gdLst>
              <a:ahLst/>
              <a:cxnLst>
                <a:cxn ang="0">
                  <a:pos x="connsiteX0" y="connsiteY0"/>
                </a:cxn>
                <a:cxn ang="0">
                  <a:pos x="connsiteX1" y="connsiteY1"/>
                </a:cxn>
                <a:cxn ang="0">
                  <a:pos x="connsiteX2" y="connsiteY2"/>
                </a:cxn>
              </a:cxnLst>
              <a:rect l="l" t="t" r="r" b="b"/>
              <a:pathLst>
                <a:path w="423080" h="245660">
                  <a:moveTo>
                    <a:pt x="0" y="0"/>
                  </a:moveTo>
                  <a:lnTo>
                    <a:pt x="423080" y="0"/>
                  </a:lnTo>
                  <a:lnTo>
                    <a:pt x="423080" y="245660"/>
                  </a:lnTo>
                </a:path>
              </a:pathLst>
            </a:cu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th-TH"/>
            </a:p>
          </p:txBody>
        </p:sp>
        <p:sp>
          <p:nvSpPr>
            <p:cNvPr id="237592" name="TextBox 164"/>
            <p:cNvSpPr txBox="1">
              <a:spLocks noChangeArrowheads="1"/>
            </p:cNvSpPr>
            <p:nvPr/>
          </p:nvSpPr>
          <p:spPr bwMode="auto">
            <a:xfrm>
              <a:off x="0" y="1052736"/>
              <a:ext cx="1582484"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900" b="1">
                  <a:latin typeface="Arial" panose="020B0604020202020204" pitchFamily="34" charset="0"/>
                  <a:cs typeface="Arial" panose="020B0604020202020204" pitchFamily="34" charset="0"/>
                </a:rPr>
                <a:t>Chip from chipping plant </a:t>
              </a:r>
            </a:p>
            <a:p>
              <a:pPr>
                <a:spcBef>
                  <a:spcPct val="0"/>
                </a:spcBef>
                <a:buFontTx/>
                <a:buNone/>
              </a:pPr>
              <a:r>
                <a:rPr lang="en-US" altLang="en-US" sz="900" b="1">
                  <a:solidFill>
                    <a:srgbClr val="0000CC"/>
                  </a:solidFill>
                  <a:latin typeface="Arial" panose="020B0604020202020204" pitchFamily="34" charset="0"/>
                  <a:cs typeface="Arial" panose="020B0604020202020204" pitchFamily="34" charset="0"/>
                </a:rPr>
                <a:t>Own Chip 60%</a:t>
              </a:r>
            </a:p>
            <a:p>
              <a:pPr>
                <a:spcBef>
                  <a:spcPct val="0"/>
                </a:spcBef>
                <a:buFontTx/>
                <a:buNone/>
              </a:pPr>
              <a:r>
                <a:rPr lang="en-US" altLang="en-US" sz="900" b="1">
                  <a:solidFill>
                    <a:srgbClr val="FF0000"/>
                  </a:solidFill>
                  <a:latin typeface="Arial" panose="020B0604020202020204" pitchFamily="34" charset="0"/>
                  <a:cs typeface="Arial" panose="020B0604020202020204" pitchFamily="34" charset="0"/>
                </a:rPr>
                <a:t>Chip Purchased 40%</a:t>
              </a:r>
              <a:endParaRPr lang="th-TH" altLang="en-US" sz="900" b="1">
                <a:solidFill>
                  <a:srgbClr val="FF0000"/>
                </a:solidFill>
                <a:latin typeface="Arial" panose="020B0604020202020204" pitchFamily="34" charset="0"/>
              </a:endParaRPr>
            </a:p>
          </p:txBody>
        </p:sp>
        <p:sp>
          <p:nvSpPr>
            <p:cNvPr id="166" name="Freeform 165"/>
            <p:cNvSpPr/>
            <p:nvPr/>
          </p:nvSpPr>
          <p:spPr>
            <a:xfrm>
              <a:off x="2154609" y="3001983"/>
              <a:ext cx="614899" cy="0"/>
            </a:xfrm>
            <a:custGeom>
              <a:avLst/>
              <a:gdLst>
                <a:gd name="connsiteX0" fmla="*/ 0 w 627797"/>
                <a:gd name="connsiteY0" fmla="*/ 0 h 0"/>
                <a:gd name="connsiteX1" fmla="*/ 627797 w 627797"/>
                <a:gd name="connsiteY1" fmla="*/ 0 h 0"/>
              </a:gdLst>
              <a:ahLst/>
              <a:cxnLst>
                <a:cxn ang="0">
                  <a:pos x="connsiteX0" y="connsiteY0"/>
                </a:cxn>
                <a:cxn ang="0">
                  <a:pos x="connsiteX1" y="connsiteY1"/>
                </a:cxn>
              </a:cxnLst>
              <a:rect l="l" t="t" r="r" b="b"/>
              <a:pathLst>
                <a:path w="627797">
                  <a:moveTo>
                    <a:pt x="0" y="0"/>
                  </a:moveTo>
                  <a:lnTo>
                    <a:pt x="627797" y="0"/>
                  </a:lnTo>
                </a:path>
              </a:pathLst>
            </a:custGeom>
            <a:ln w="190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th-TH"/>
            </a:p>
          </p:txBody>
        </p:sp>
        <p:sp>
          <p:nvSpPr>
            <p:cNvPr id="167" name="Freeform 166"/>
            <p:cNvSpPr/>
            <p:nvPr/>
          </p:nvSpPr>
          <p:spPr>
            <a:xfrm>
              <a:off x="2428443" y="2562558"/>
              <a:ext cx="354182" cy="432987"/>
            </a:xfrm>
            <a:custGeom>
              <a:avLst/>
              <a:gdLst>
                <a:gd name="connsiteX0" fmla="*/ 0 w 361666"/>
                <a:gd name="connsiteY0" fmla="*/ 450376 h 450376"/>
                <a:gd name="connsiteX1" fmla="*/ 0 w 361666"/>
                <a:gd name="connsiteY1" fmla="*/ 0 h 450376"/>
                <a:gd name="connsiteX2" fmla="*/ 361666 w 361666"/>
                <a:gd name="connsiteY2" fmla="*/ 0 h 450376"/>
              </a:gdLst>
              <a:ahLst/>
              <a:cxnLst>
                <a:cxn ang="0">
                  <a:pos x="connsiteX0" y="connsiteY0"/>
                </a:cxn>
                <a:cxn ang="0">
                  <a:pos x="connsiteX1" y="connsiteY1"/>
                </a:cxn>
                <a:cxn ang="0">
                  <a:pos x="connsiteX2" y="connsiteY2"/>
                </a:cxn>
              </a:cxnLst>
              <a:rect l="l" t="t" r="r" b="b"/>
              <a:pathLst>
                <a:path w="361666" h="450376">
                  <a:moveTo>
                    <a:pt x="0" y="450376"/>
                  </a:moveTo>
                  <a:lnTo>
                    <a:pt x="0" y="0"/>
                  </a:lnTo>
                  <a:lnTo>
                    <a:pt x="361666" y="0"/>
                  </a:lnTo>
                </a:path>
              </a:pathLst>
            </a:custGeom>
            <a:ln w="190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th-TH"/>
            </a:p>
          </p:txBody>
        </p:sp>
        <p:sp>
          <p:nvSpPr>
            <p:cNvPr id="168" name="Freeform 167"/>
            <p:cNvSpPr/>
            <p:nvPr/>
          </p:nvSpPr>
          <p:spPr>
            <a:xfrm>
              <a:off x="2956437" y="3014860"/>
              <a:ext cx="742799" cy="0"/>
            </a:xfrm>
            <a:custGeom>
              <a:avLst/>
              <a:gdLst>
                <a:gd name="connsiteX0" fmla="*/ 0 w 757451"/>
                <a:gd name="connsiteY0" fmla="*/ 0 h 0"/>
                <a:gd name="connsiteX1" fmla="*/ 757451 w 757451"/>
                <a:gd name="connsiteY1" fmla="*/ 0 h 0"/>
              </a:gdLst>
              <a:ahLst/>
              <a:cxnLst>
                <a:cxn ang="0">
                  <a:pos x="connsiteX0" y="connsiteY0"/>
                </a:cxn>
                <a:cxn ang="0">
                  <a:pos x="connsiteX1" y="connsiteY1"/>
                </a:cxn>
              </a:cxnLst>
              <a:rect l="l" t="t" r="r" b="b"/>
              <a:pathLst>
                <a:path w="757451">
                  <a:moveTo>
                    <a:pt x="0" y="0"/>
                  </a:moveTo>
                  <a:lnTo>
                    <a:pt x="757451" y="0"/>
                  </a:lnTo>
                </a:path>
              </a:pathLst>
            </a:custGeom>
            <a:ln w="190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th-TH"/>
            </a:p>
          </p:txBody>
        </p:sp>
        <p:sp>
          <p:nvSpPr>
            <p:cNvPr id="169" name="Freeform 168"/>
            <p:cNvSpPr/>
            <p:nvPr/>
          </p:nvSpPr>
          <p:spPr>
            <a:xfrm>
              <a:off x="3364731" y="1645076"/>
              <a:ext cx="321387" cy="1245845"/>
            </a:xfrm>
            <a:custGeom>
              <a:avLst/>
              <a:gdLst>
                <a:gd name="connsiteX0" fmla="*/ 327546 w 327546"/>
                <a:gd name="connsiteY0" fmla="*/ 1296537 h 1296537"/>
                <a:gd name="connsiteX1" fmla="*/ 177421 w 327546"/>
                <a:gd name="connsiteY1" fmla="*/ 1296537 h 1296537"/>
                <a:gd name="connsiteX2" fmla="*/ 177421 w 327546"/>
                <a:gd name="connsiteY2" fmla="*/ 0 h 1296537"/>
                <a:gd name="connsiteX3" fmla="*/ 0 w 327546"/>
                <a:gd name="connsiteY3" fmla="*/ 0 h 1296537"/>
                <a:gd name="connsiteX4" fmla="*/ 0 w 327546"/>
                <a:gd name="connsiteY4" fmla="*/ 129654 h 1296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546" h="1296537">
                  <a:moveTo>
                    <a:pt x="327546" y="1296537"/>
                  </a:moveTo>
                  <a:lnTo>
                    <a:pt x="177421" y="1296537"/>
                  </a:lnTo>
                  <a:lnTo>
                    <a:pt x="177421" y="0"/>
                  </a:lnTo>
                  <a:lnTo>
                    <a:pt x="0" y="0"/>
                  </a:lnTo>
                  <a:lnTo>
                    <a:pt x="0" y="129654"/>
                  </a:lnTo>
                </a:path>
              </a:pathLst>
            </a:cu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th-TH"/>
            </a:p>
          </p:txBody>
        </p:sp>
        <p:sp>
          <p:nvSpPr>
            <p:cNvPr id="170" name="Freeform 169"/>
            <p:cNvSpPr/>
            <p:nvPr/>
          </p:nvSpPr>
          <p:spPr>
            <a:xfrm>
              <a:off x="2964636" y="2596360"/>
              <a:ext cx="293511" cy="418501"/>
            </a:xfrm>
            <a:custGeom>
              <a:avLst/>
              <a:gdLst>
                <a:gd name="connsiteX0" fmla="*/ 0 w 300251"/>
                <a:gd name="connsiteY0" fmla="*/ 0 h 436728"/>
                <a:gd name="connsiteX1" fmla="*/ 293427 w 300251"/>
                <a:gd name="connsiteY1" fmla="*/ 0 h 436728"/>
                <a:gd name="connsiteX2" fmla="*/ 300251 w 300251"/>
                <a:gd name="connsiteY2" fmla="*/ 436728 h 436728"/>
              </a:gdLst>
              <a:ahLst/>
              <a:cxnLst>
                <a:cxn ang="0">
                  <a:pos x="connsiteX0" y="connsiteY0"/>
                </a:cxn>
                <a:cxn ang="0">
                  <a:pos x="connsiteX1" y="connsiteY1"/>
                </a:cxn>
                <a:cxn ang="0">
                  <a:pos x="connsiteX2" y="connsiteY2"/>
                </a:cxn>
              </a:cxnLst>
              <a:rect l="l" t="t" r="r" b="b"/>
              <a:pathLst>
                <a:path w="300251" h="436728">
                  <a:moveTo>
                    <a:pt x="0" y="0"/>
                  </a:moveTo>
                  <a:lnTo>
                    <a:pt x="293427" y="0"/>
                  </a:lnTo>
                  <a:lnTo>
                    <a:pt x="300251" y="436728"/>
                  </a:lnTo>
                </a:path>
              </a:pathLst>
            </a:custGeom>
            <a:ln w="190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th-TH"/>
            </a:p>
          </p:txBody>
        </p:sp>
        <p:sp>
          <p:nvSpPr>
            <p:cNvPr id="171" name="Freeform 170"/>
            <p:cNvSpPr/>
            <p:nvPr/>
          </p:nvSpPr>
          <p:spPr>
            <a:xfrm>
              <a:off x="3918960" y="2182688"/>
              <a:ext cx="531273" cy="787103"/>
            </a:xfrm>
            <a:custGeom>
              <a:avLst/>
              <a:gdLst>
                <a:gd name="connsiteX0" fmla="*/ 0 w 655093"/>
                <a:gd name="connsiteY0" fmla="*/ 818866 h 818866"/>
                <a:gd name="connsiteX1" fmla="*/ 655093 w 655093"/>
                <a:gd name="connsiteY1" fmla="*/ 818866 h 818866"/>
                <a:gd name="connsiteX2" fmla="*/ 655093 w 655093"/>
                <a:gd name="connsiteY2" fmla="*/ 0 h 818866"/>
              </a:gdLst>
              <a:ahLst/>
              <a:cxnLst>
                <a:cxn ang="0">
                  <a:pos x="connsiteX0" y="connsiteY0"/>
                </a:cxn>
                <a:cxn ang="0">
                  <a:pos x="connsiteX1" y="connsiteY1"/>
                </a:cxn>
                <a:cxn ang="0">
                  <a:pos x="connsiteX2" y="connsiteY2"/>
                </a:cxn>
              </a:cxnLst>
              <a:rect l="l" t="t" r="r" b="b"/>
              <a:pathLst>
                <a:path w="655093" h="818866">
                  <a:moveTo>
                    <a:pt x="0" y="818866"/>
                  </a:moveTo>
                  <a:lnTo>
                    <a:pt x="655093" y="818866"/>
                  </a:lnTo>
                  <a:lnTo>
                    <a:pt x="655093" y="0"/>
                  </a:lnTo>
                </a:path>
              </a:pathLst>
            </a:custGeom>
            <a:ln w="190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th-TH"/>
            </a:p>
          </p:txBody>
        </p:sp>
        <p:sp>
          <p:nvSpPr>
            <p:cNvPr id="172" name="Freeform 171"/>
            <p:cNvSpPr/>
            <p:nvPr/>
          </p:nvSpPr>
          <p:spPr>
            <a:xfrm flipV="1">
              <a:off x="6780292" y="3050272"/>
              <a:ext cx="209886" cy="43460"/>
            </a:xfrm>
            <a:custGeom>
              <a:avLst/>
              <a:gdLst>
                <a:gd name="connsiteX0" fmla="*/ 0 w 259308"/>
                <a:gd name="connsiteY0" fmla="*/ 0 h 0"/>
                <a:gd name="connsiteX1" fmla="*/ 259308 w 259308"/>
                <a:gd name="connsiteY1" fmla="*/ 0 h 0"/>
              </a:gdLst>
              <a:ahLst/>
              <a:cxnLst>
                <a:cxn ang="0">
                  <a:pos x="connsiteX0" y="connsiteY0"/>
                </a:cxn>
                <a:cxn ang="0">
                  <a:pos x="connsiteX1" y="connsiteY1"/>
                </a:cxn>
              </a:cxnLst>
              <a:rect l="l" t="t" r="r" b="b"/>
              <a:pathLst>
                <a:path w="259308">
                  <a:moveTo>
                    <a:pt x="0" y="0"/>
                  </a:moveTo>
                  <a:lnTo>
                    <a:pt x="259308" y="0"/>
                  </a:lnTo>
                </a:path>
              </a:pathLst>
            </a:custGeom>
            <a:ln w="190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th-TH"/>
            </a:p>
          </p:txBody>
        </p:sp>
        <p:sp>
          <p:nvSpPr>
            <p:cNvPr id="173" name="Freeform 172"/>
            <p:cNvSpPr/>
            <p:nvPr/>
          </p:nvSpPr>
          <p:spPr>
            <a:xfrm>
              <a:off x="7047568" y="2103816"/>
              <a:ext cx="295152" cy="635800"/>
            </a:xfrm>
            <a:custGeom>
              <a:avLst/>
              <a:gdLst>
                <a:gd name="connsiteX0" fmla="*/ 0 w 300251"/>
                <a:gd name="connsiteY0" fmla="*/ 75062 h 661916"/>
                <a:gd name="connsiteX1" fmla="*/ 0 w 300251"/>
                <a:gd name="connsiteY1" fmla="*/ 0 h 661916"/>
                <a:gd name="connsiteX2" fmla="*/ 156950 w 300251"/>
                <a:gd name="connsiteY2" fmla="*/ 0 h 661916"/>
                <a:gd name="connsiteX3" fmla="*/ 156950 w 300251"/>
                <a:gd name="connsiteY3" fmla="*/ 661916 h 661916"/>
                <a:gd name="connsiteX4" fmla="*/ 300251 w 300251"/>
                <a:gd name="connsiteY4" fmla="*/ 661916 h 661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0251" h="661916">
                  <a:moveTo>
                    <a:pt x="0" y="75062"/>
                  </a:moveTo>
                  <a:lnTo>
                    <a:pt x="0" y="0"/>
                  </a:lnTo>
                  <a:lnTo>
                    <a:pt x="156950" y="0"/>
                  </a:lnTo>
                  <a:lnTo>
                    <a:pt x="156950" y="661916"/>
                  </a:lnTo>
                  <a:lnTo>
                    <a:pt x="300251" y="661916"/>
                  </a:lnTo>
                </a:path>
              </a:pathLst>
            </a:custGeom>
            <a:ln w="190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th-TH"/>
            </a:p>
          </p:txBody>
        </p:sp>
        <p:sp>
          <p:nvSpPr>
            <p:cNvPr id="174" name="Freeform 173"/>
            <p:cNvSpPr/>
            <p:nvPr/>
          </p:nvSpPr>
          <p:spPr>
            <a:xfrm>
              <a:off x="7488656" y="2195565"/>
              <a:ext cx="267277" cy="919092"/>
            </a:xfrm>
            <a:custGeom>
              <a:avLst/>
              <a:gdLst>
                <a:gd name="connsiteX0" fmla="*/ 0 w 272956"/>
                <a:gd name="connsiteY0" fmla="*/ 955343 h 955343"/>
                <a:gd name="connsiteX1" fmla="*/ 272956 w 272956"/>
                <a:gd name="connsiteY1" fmla="*/ 955343 h 955343"/>
                <a:gd name="connsiteX2" fmla="*/ 272956 w 272956"/>
                <a:gd name="connsiteY2" fmla="*/ 0 h 955343"/>
              </a:gdLst>
              <a:ahLst/>
              <a:cxnLst>
                <a:cxn ang="0">
                  <a:pos x="connsiteX0" y="connsiteY0"/>
                </a:cxn>
                <a:cxn ang="0">
                  <a:pos x="connsiteX1" y="connsiteY1"/>
                </a:cxn>
                <a:cxn ang="0">
                  <a:pos x="connsiteX2" y="connsiteY2"/>
                </a:cxn>
              </a:cxnLst>
              <a:rect l="l" t="t" r="r" b="b"/>
              <a:pathLst>
                <a:path w="272956" h="955343">
                  <a:moveTo>
                    <a:pt x="0" y="955343"/>
                  </a:moveTo>
                  <a:lnTo>
                    <a:pt x="272956" y="955343"/>
                  </a:lnTo>
                  <a:lnTo>
                    <a:pt x="272956" y="0"/>
                  </a:lnTo>
                </a:path>
              </a:pathLst>
            </a:custGeom>
            <a:ln w="190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th-TH"/>
            </a:p>
          </p:txBody>
        </p:sp>
        <p:sp>
          <p:nvSpPr>
            <p:cNvPr id="175" name="Freeform 174"/>
            <p:cNvSpPr/>
            <p:nvPr/>
          </p:nvSpPr>
          <p:spPr>
            <a:xfrm>
              <a:off x="8064202" y="2195565"/>
              <a:ext cx="267276" cy="177058"/>
            </a:xfrm>
            <a:custGeom>
              <a:avLst/>
              <a:gdLst>
                <a:gd name="connsiteX0" fmla="*/ 0 w 272955"/>
                <a:gd name="connsiteY0" fmla="*/ 34119 h 184245"/>
                <a:gd name="connsiteX1" fmla="*/ 0 w 272955"/>
                <a:gd name="connsiteY1" fmla="*/ 184245 h 184245"/>
                <a:gd name="connsiteX2" fmla="*/ 272955 w 272955"/>
                <a:gd name="connsiteY2" fmla="*/ 184245 h 184245"/>
                <a:gd name="connsiteX3" fmla="*/ 272955 w 272955"/>
                <a:gd name="connsiteY3" fmla="*/ 0 h 184245"/>
              </a:gdLst>
              <a:ahLst/>
              <a:cxnLst>
                <a:cxn ang="0">
                  <a:pos x="connsiteX0" y="connsiteY0"/>
                </a:cxn>
                <a:cxn ang="0">
                  <a:pos x="connsiteX1" y="connsiteY1"/>
                </a:cxn>
                <a:cxn ang="0">
                  <a:pos x="connsiteX2" y="connsiteY2"/>
                </a:cxn>
                <a:cxn ang="0">
                  <a:pos x="connsiteX3" y="connsiteY3"/>
                </a:cxn>
              </a:cxnLst>
              <a:rect l="l" t="t" r="r" b="b"/>
              <a:pathLst>
                <a:path w="272955" h="184245">
                  <a:moveTo>
                    <a:pt x="0" y="34119"/>
                  </a:moveTo>
                  <a:lnTo>
                    <a:pt x="0" y="184245"/>
                  </a:lnTo>
                  <a:lnTo>
                    <a:pt x="272955" y="184245"/>
                  </a:lnTo>
                  <a:lnTo>
                    <a:pt x="272955" y="0"/>
                  </a:lnTo>
                </a:path>
              </a:pathLst>
            </a:custGeom>
            <a:ln w="190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th-TH"/>
            </a:p>
          </p:txBody>
        </p:sp>
        <p:sp>
          <p:nvSpPr>
            <p:cNvPr id="176" name="Freeform 175"/>
            <p:cNvSpPr/>
            <p:nvPr/>
          </p:nvSpPr>
          <p:spPr>
            <a:xfrm>
              <a:off x="5543934" y="1579081"/>
              <a:ext cx="742799" cy="1331155"/>
            </a:xfrm>
            <a:custGeom>
              <a:avLst/>
              <a:gdLst>
                <a:gd name="connsiteX0" fmla="*/ 0 w 757451"/>
                <a:gd name="connsiteY0" fmla="*/ 0 h 1385248"/>
                <a:gd name="connsiteX1" fmla="*/ 757451 w 757451"/>
                <a:gd name="connsiteY1" fmla="*/ 0 h 1385248"/>
                <a:gd name="connsiteX2" fmla="*/ 757451 w 757451"/>
                <a:gd name="connsiteY2" fmla="*/ 1385248 h 1385248"/>
              </a:gdLst>
              <a:ahLst/>
              <a:cxnLst>
                <a:cxn ang="0">
                  <a:pos x="connsiteX0" y="connsiteY0"/>
                </a:cxn>
                <a:cxn ang="0">
                  <a:pos x="connsiteX1" y="connsiteY1"/>
                </a:cxn>
                <a:cxn ang="0">
                  <a:pos x="connsiteX2" y="connsiteY2"/>
                </a:cxn>
              </a:cxnLst>
              <a:rect l="l" t="t" r="r" b="b"/>
              <a:pathLst>
                <a:path w="757451" h="1385248">
                  <a:moveTo>
                    <a:pt x="0" y="0"/>
                  </a:moveTo>
                  <a:lnTo>
                    <a:pt x="757451" y="0"/>
                  </a:lnTo>
                  <a:lnTo>
                    <a:pt x="757451" y="1385248"/>
                  </a:lnTo>
                </a:path>
              </a:pathLst>
            </a:custGeom>
            <a:ln>
              <a:solidFill>
                <a:schemeClr val="accent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th-TH"/>
            </a:p>
          </p:txBody>
        </p:sp>
        <p:sp>
          <p:nvSpPr>
            <p:cNvPr id="177" name="TextBox 176"/>
            <p:cNvSpPr txBox="1"/>
            <p:nvPr/>
          </p:nvSpPr>
          <p:spPr>
            <a:xfrm>
              <a:off x="5489823" y="1406852"/>
              <a:ext cx="864138" cy="207640"/>
            </a:xfrm>
            <a:prstGeom prst="rect">
              <a:avLst/>
            </a:prstGeom>
            <a:noFill/>
          </p:spPr>
          <p:txBody>
            <a:bodyPr wrap="none">
              <a:spAutoFit/>
            </a:bodyPr>
            <a:lstStyle/>
            <a:p>
              <a:pPr>
                <a:defRPr/>
              </a:pPr>
              <a:r>
                <a:rPr lang="en-US" sz="800" dirty="0">
                  <a:solidFill>
                    <a:schemeClr val="accent2">
                      <a:lumMod val="60000"/>
                      <a:lumOff val="40000"/>
                    </a:schemeClr>
                  </a:solidFill>
                  <a:latin typeface="Arial" pitchFamily="34" charset="0"/>
                  <a:cs typeface="Arial" pitchFamily="34" charset="0"/>
                </a:rPr>
                <a:t>Oxygen, </a:t>
              </a:r>
              <a:r>
                <a:rPr lang="en-US" sz="800" dirty="0" err="1">
                  <a:solidFill>
                    <a:schemeClr val="accent2">
                      <a:lumMod val="60000"/>
                      <a:lumOff val="40000"/>
                    </a:schemeClr>
                  </a:solidFill>
                  <a:latin typeface="Arial" pitchFamily="34" charset="0"/>
                  <a:cs typeface="Arial" pitchFamily="34" charset="0"/>
                </a:rPr>
                <a:t>NaOH</a:t>
              </a:r>
              <a:endParaRPr lang="th-TH" sz="800" dirty="0">
                <a:solidFill>
                  <a:schemeClr val="accent2">
                    <a:lumMod val="60000"/>
                    <a:lumOff val="40000"/>
                  </a:schemeClr>
                </a:solidFill>
                <a:latin typeface="Arial" pitchFamily="34" charset="0"/>
              </a:endParaRPr>
            </a:p>
          </p:txBody>
        </p:sp>
        <p:sp>
          <p:nvSpPr>
            <p:cNvPr id="178" name="Freeform 177"/>
            <p:cNvSpPr/>
            <p:nvPr/>
          </p:nvSpPr>
          <p:spPr>
            <a:xfrm>
              <a:off x="1115019" y="1701412"/>
              <a:ext cx="642775" cy="206031"/>
            </a:xfrm>
            <a:custGeom>
              <a:avLst/>
              <a:gdLst>
                <a:gd name="connsiteX0" fmla="*/ 655092 w 655092"/>
                <a:gd name="connsiteY0" fmla="*/ 0 h 327546"/>
                <a:gd name="connsiteX1" fmla="*/ 0 w 655092"/>
                <a:gd name="connsiteY1" fmla="*/ 0 h 327546"/>
                <a:gd name="connsiteX2" fmla="*/ 0 w 655092"/>
                <a:gd name="connsiteY2" fmla="*/ 327546 h 327546"/>
              </a:gdLst>
              <a:ahLst/>
              <a:cxnLst>
                <a:cxn ang="0">
                  <a:pos x="connsiteX0" y="connsiteY0"/>
                </a:cxn>
                <a:cxn ang="0">
                  <a:pos x="connsiteX1" y="connsiteY1"/>
                </a:cxn>
                <a:cxn ang="0">
                  <a:pos x="connsiteX2" y="connsiteY2"/>
                </a:cxn>
              </a:cxnLst>
              <a:rect l="l" t="t" r="r" b="b"/>
              <a:pathLst>
                <a:path w="655092" h="327546">
                  <a:moveTo>
                    <a:pt x="655092" y="0"/>
                  </a:moveTo>
                  <a:lnTo>
                    <a:pt x="0" y="0"/>
                  </a:lnTo>
                  <a:lnTo>
                    <a:pt x="0" y="327546"/>
                  </a:lnTo>
                </a:path>
              </a:pathLst>
            </a:custGeom>
            <a:ln>
              <a:solidFill>
                <a:schemeClr val="accent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th-TH"/>
            </a:p>
          </p:txBody>
        </p:sp>
        <p:sp>
          <p:nvSpPr>
            <p:cNvPr id="179" name="TextBox 178"/>
            <p:cNvSpPr txBox="1"/>
            <p:nvPr/>
          </p:nvSpPr>
          <p:spPr>
            <a:xfrm>
              <a:off x="1187167" y="1556546"/>
              <a:ext cx="673929" cy="207641"/>
            </a:xfrm>
            <a:prstGeom prst="rect">
              <a:avLst/>
            </a:prstGeom>
            <a:noFill/>
          </p:spPr>
          <p:txBody>
            <a:bodyPr wrap="none">
              <a:spAutoFit/>
            </a:bodyPr>
            <a:lstStyle/>
            <a:p>
              <a:pPr>
                <a:defRPr/>
              </a:pPr>
              <a:r>
                <a:rPr lang="en-US" sz="800" dirty="0">
                  <a:solidFill>
                    <a:schemeClr val="accent2">
                      <a:lumMod val="60000"/>
                      <a:lumOff val="40000"/>
                    </a:schemeClr>
                  </a:solidFill>
                  <a:latin typeface="Arial" pitchFamily="34" charset="0"/>
                  <a:cs typeface="Arial" pitchFamily="34" charset="0"/>
                </a:rPr>
                <a:t>SWL, SMP</a:t>
              </a:r>
              <a:endParaRPr lang="th-TH" sz="800" dirty="0">
                <a:solidFill>
                  <a:schemeClr val="accent2">
                    <a:lumMod val="60000"/>
                    <a:lumOff val="40000"/>
                  </a:schemeClr>
                </a:solidFill>
                <a:latin typeface="Arial" pitchFamily="34" charset="0"/>
              </a:endParaRPr>
            </a:p>
          </p:txBody>
        </p:sp>
        <p:sp>
          <p:nvSpPr>
            <p:cNvPr id="180" name="Freeform 179"/>
            <p:cNvSpPr/>
            <p:nvPr/>
          </p:nvSpPr>
          <p:spPr>
            <a:xfrm>
              <a:off x="6186709" y="2910236"/>
              <a:ext cx="350903" cy="141646"/>
            </a:xfrm>
            <a:custGeom>
              <a:avLst/>
              <a:gdLst>
                <a:gd name="connsiteX0" fmla="*/ 0 w 357187"/>
                <a:gd name="connsiteY0" fmla="*/ 147637 h 147637"/>
                <a:gd name="connsiteX1" fmla="*/ 0 w 357187"/>
                <a:gd name="connsiteY1" fmla="*/ 0 h 147637"/>
                <a:gd name="connsiteX2" fmla="*/ 357187 w 357187"/>
                <a:gd name="connsiteY2" fmla="*/ 0 h 147637"/>
                <a:gd name="connsiteX3" fmla="*/ 357187 w 357187"/>
                <a:gd name="connsiteY3" fmla="*/ 114300 h 147637"/>
              </a:gdLst>
              <a:ahLst/>
              <a:cxnLst>
                <a:cxn ang="0">
                  <a:pos x="connsiteX0" y="connsiteY0"/>
                </a:cxn>
                <a:cxn ang="0">
                  <a:pos x="connsiteX1" y="connsiteY1"/>
                </a:cxn>
                <a:cxn ang="0">
                  <a:pos x="connsiteX2" y="connsiteY2"/>
                </a:cxn>
                <a:cxn ang="0">
                  <a:pos x="connsiteX3" y="connsiteY3"/>
                </a:cxn>
              </a:cxnLst>
              <a:rect l="l" t="t" r="r" b="b"/>
              <a:pathLst>
                <a:path w="357187" h="147637">
                  <a:moveTo>
                    <a:pt x="0" y="147637"/>
                  </a:moveTo>
                  <a:lnTo>
                    <a:pt x="0" y="0"/>
                  </a:lnTo>
                  <a:lnTo>
                    <a:pt x="357187" y="0"/>
                  </a:lnTo>
                  <a:lnTo>
                    <a:pt x="357187" y="114300"/>
                  </a:lnTo>
                </a:path>
              </a:pathLst>
            </a:custGeom>
            <a:ln w="1905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th-TH"/>
            </a:p>
          </p:txBody>
        </p:sp>
        <p:pic>
          <p:nvPicPr>
            <p:cNvPr id="237608" name="Picture 18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868144" y="4398264"/>
              <a:ext cx="576064" cy="502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7609" name="Picture 18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16016" y="5394818"/>
              <a:ext cx="536984" cy="487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7610" name="Picture 18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707904" y="4756785"/>
              <a:ext cx="648072" cy="345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37611" name="Group 204"/>
            <p:cNvGrpSpPr>
              <a:grpSpLocks/>
            </p:cNvGrpSpPr>
            <p:nvPr/>
          </p:nvGrpSpPr>
          <p:grpSpPr bwMode="auto">
            <a:xfrm>
              <a:off x="2339752" y="5255603"/>
              <a:ext cx="144016" cy="487254"/>
              <a:chOff x="3608377" y="4295177"/>
              <a:chExt cx="223362" cy="973817"/>
            </a:xfrm>
          </p:grpSpPr>
          <p:sp>
            <p:nvSpPr>
              <p:cNvPr id="237837" name="Rectangle 184"/>
              <p:cNvSpPr>
                <a:spLocks noChangeAspect="1" noChangeArrowheads="1"/>
              </p:cNvSpPr>
              <p:nvPr/>
            </p:nvSpPr>
            <p:spPr bwMode="auto">
              <a:xfrm>
                <a:off x="3608377" y="4295177"/>
                <a:ext cx="94940" cy="967726"/>
              </a:xfrm>
              <a:prstGeom prst="rect">
                <a:avLst/>
              </a:prstGeom>
              <a:gradFill rotWithShape="1">
                <a:gsLst>
                  <a:gs pos="0">
                    <a:srgbClr val="185E5E"/>
                  </a:gs>
                  <a:gs pos="50000">
                    <a:srgbClr val="33CCCC"/>
                  </a:gs>
                  <a:gs pos="100000">
                    <a:srgbClr val="185E5E"/>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grpSp>
            <p:nvGrpSpPr>
              <p:cNvPr id="237838" name="Group 199"/>
              <p:cNvGrpSpPr>
                <a:grpSpLocks noChangeAspect="1"/>
              </p:cNvGrpSpPr>
              <p:nvPr/>
            </p:nvGrpSpPr>
            <p:grpSpPr bwMode="auto">
              <a:xfrm>
                <a:off x="3707904" y="5157192"/>
                <a:ext cx="123835" cy="111802"/>
                <a:chOff x="1152525" y="2752725"/>
                <a:chExt cx="24" cy="20"/>
              </a:xfrm>
            </p:grpSpPr>
            <p:sp>
              <p:nvSpPr>
                <p:cNvPr id="237839" name="Rectangle 186"/>
                <p:cNvSpPr>
                  <a:spLocks noChangeAspect="1" noChangeArrowheads="1"/>
                </p:cNvSpPr>
                <p:nvPr/>
              </p:nvSpPr>
              <p:spPr bwMode="auto">
                <a:xfrm>
                  <a:off x="1152525" y="2752731"/>
                  <a:ext cx="9" cy="8"/>
                </a:xfrm>
                <a:prstGeom prst="rect">
                  <a:avLst/>
                </a:prstGeom>
                <a:gradFill rotWithShape="1">
                  <a:gsLst>
                    <a:gs pos="0">
                      <a:srgbClr val="185E5E"/>
                    </a:gs>
                    <a:gs pos="50000">
                      <a:srgbClr val="33CCCC"/>
                    </a:gs>
                    <a:gs pos="100000">
                      <a:srgbClr val="185E5E"/>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840" name="Rectangle 187"/>
                <p:cNvSpPr>
                  <a:spLocks noChangeAspect="1" noChangeArrowheads="1"/>
                </p:cNvSpPr>
                <p:nvPr/>
              </p:nvSpPr>
              <p:spPr bwMode="auto">
                <a:xfrm>
                  <a:off x="1152534" y="2752725"/>
                  <a:ext cx="5" cy="20"/>
                </a:xfrm>
                <a:prstGeom prst="rect">
                  <a:avLst/>
                </a:prstGeom>
                <a:gradFill rotWithShape="1">
                  <a:gsLst>
                    <a:gs pos="0">
                      <a:srgbClr val="185E5E"/>
                    </a:gs>
                    <a:gs pos="50000">
                      <a:srgbClr val="33CCCC"/>
                    </a:gs>
                    <a:gs pos="100000">
                      <a:srgbClr val="185E5E"/>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841" name="AutoShape 1698"/>
                <p:cNvSpPr>
                  <a:spLocks noChangeAspect="1" noChangeArrowheads="1"/>
                </p:cNvSpPr>
                <p:nvPr/>
              </p:nvSpPr>
              <p:spPr bwMode="auto">
                <a:xfrm rot="-5400000">
                  <a:off x="1152536" y="2752730"/>
                  <a:ext cx="16" cy="1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050 w 21600"/>
                    <a:gd name="T13" fmla="*/ 4320 h 21600"/>
                    <a:gd name="T14" fmla="*/ 17550 w 21600"/>
                    <a:gd name="T15" fmla="*/ 1728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gradFill rotWithShape="1">
                  <a:gsLst>
                    <a:gs pos="0">
                      <a:srgbClr val="185E5E"/>
                    </a:gs>
                    <a:gs pos="50000">
                      <a:srgbClr val="33CCCC"/>
                    </a:gs>
                    <a:gs pos="100000">
                      <a:srgbClr val="185E5E"/>
                    </a:gs>
                  </a:gsLst>
                  <a:lin ang="0" scaled="1"/>
                </a:gradFill>
                <a:ln w="9525">
                  <a:solidFill>
                    <a:srgbClr val="000000"/>
                  </a:solidFill>
                  <a:miter lim="800000"/>
                  <a:headEnd/>
                  <a:tailEnd/>
                </a:ln>
              </p:spPr>
              <p:txBody>
                <a:bodyPr/>
                <a:lstStyle/>
                <a:p>
                  <a:endParaRPr lang="en-US"/>
                </a:p>
              </p:txBody>
            </p:sp>
          </p:grpSp>
        </p:grpSp>
        <p:pic>
          <p:nvPicPr>
            <p:cNvPr id="237612" name="Picture 18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906617" y="5589524"/>
              <a:ext cx="425023" cy="278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37613" name="Group 137"/>
            <p:cNvGrpSpPr>
              <a:grpSpLocks/>
            </p:cNvGrpSpPr>
            <p:nvPr/>
          </p:nvGrpSpPr>
          <p:grpSpPr bwMode="auto">
            <a:xfrm>
              <a:off x="323528" y="4437112"/>
              <a:ext cx="720080" cy="1361236"/>
              <a:chOff x="9944100" y="1092200"/>
              <a:chExt cx="98" cy="187"/>
            </a:xfrm>
          </p:grpSpPr>
          <p:grpSp>
            <p:nvGrpSpPr>
              <p:cNvPr id="237831" name="Group 145"/>
              <p:cNvGrpSpPr>
                <a:grpSpLocks/>
              </p:cNvGrpSpPr>
              <p:nvPr/>
            </p:nvGrpSpPr>
            <p:grpSpPr bwMode="auto">
              <a:xfrm>
                <a:off x="9944100" y="1092222"/>
                <a:ext cx="98" cy="165"/>
                <a:chOff x="9944100" y="1092222"/>
                <a:chExt cx="75" cy="132"/>
              </a:xfrm>
            </p:grpSpPr>
            <p:sp>
              <p:nvSpPr>
                <p:cNvPr id="237834" name="Rectangle 194"/>
                <p:cNvSpPr>
                  <a:spLocks noChangeArrowheads="1"/>
                </p:cNvSpPr>
                <p:nvPr/>
              </p:nvSpPr>
              <p:spPr bwMode="auto">
                <a:xfrm>
                  <a:off x="9944100" y="1092222"/>
                  <a:ext cx="75" cy="76"/>
                </a:xfrm>
                <a:prstGeom prst="rect">
                  <a:avLst/>
                </a:prstGeom>
                <a:gradFill rotWithShape="1">
                  <a:gsLst>
                    <a:gs pos="0">
                      <a:srgbClr val="969696"/>
                    </a:gs>
                    <a:gs pos="50000">
                      <a:srgbClr val="FFFFFF"/>
                    </a:gs>
                    <a:gs pos="100000">
                      <a:srgbClr val="969696"/>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835" name="AutoShape 76"/>
                <p:cNvSpPr>
                  <a:spLocks noChangeArrowheads="1"/>
                </p:cNvSpPr>
                <p:nvPr/>
              </p:nvSpPr>
              <p:spPr bwMode="auto">
                <a:xfrm>
                  <a:off x="9944100" y="1092298"/>
                  <a:ext cx="75" cy="33"/>
                </a:xfrm>
                <a:prstGeom prst="flowChartManualOperation">
                  <a:avLst/>
                </a:prstGeom>
                <a:gradFill rotWithShape="1">
                  <a:gsLst>
                    <a:gs pos="0">
                      <a:srgbClr val="969696"/>
                    </a:gs>
                    <a:gs pos="50000">
                      <a:srgbClr val="FFFFFF"/>
                    </a:gs>
                    <a:gs pos="100000">
                      <a:srgbClr val="969696"/>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836" name="Rectangle 196"/>
                <p:cNvSpPr>
                  <a:spLocks noChangeArrowheads="1"/>
                </p:cNvSpPr>
                <p:nvPr/>
              </p:nvSpPr>
              <p:spPr bwMode="auto">
                <a:xfrm>
                  <a:off x="9944115" y="1092331"/>
                  <a:ext cx="45" cy="23"/>
                </a:xfrm>
                <a:prstGeom prst="rect">
                  <a:avLst/>
                </a:prstGeom>
                <a:gradFill rotWithShape="1">
                  <a:gsLst>
                    <a:gs pos="0">
                      <a:srgbClr val="969696"/>
                    </a:gs>
                    <a:gs pos="50000">
                      <a:srgbClr val="FFFFFF"/>
                    </a:gs>
                    <a:gs pos="100000">
                      <a:srgbClr val="969696"/>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grpSp>
          <p:sp>
            <p:nvSpPr>
              <p:cNvPr id="237832" name="Rectangle 192"/>
              <p:cNvSpPr>
                <a:spLocks noChangeArrowheads="1"/>
              </p:cNvSpPr>
              <p:nvPr/>
            </p:nvSpPr>
            <p:spPr bwMode="auto">
              <a:xfrm>
                <a:off x="9944143" y="1092200"/>
                <a:ext cx="10" cy="8"/>
              </a:xfrm>
              <a:prstGeom prst="rect">
                <a:avLst/>
              </a:prstGeom>
              <a:gradFill rotWithShape="1">
                <a:gsLst>
                  <a:gs pos="0">
                    <a:srgbClr val="969696"/>
                  </a:gs>
                  <a:gs pos="50000">
                    <a:srgbClr val="FFFFFF"/>
                  </a:gs>
                  <a:gs pos="100000">
                    <a:srgbClr val="969696"/>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833" name="Freeform 193"/>
              <p:cNvSpPr>
                <a:spLocks/>
              </p:cNvSpPr>
              <p:nvPr/>
            </p:nvSpPr>
            <p:spPr bwMode="auto">
              <a:xfrm>
                <a:off x="9944100" y="1092208"/>
                <a:ext cx="98" cy="14"/>
              </a:xfrm>
              <a:custGeom>
                <a:avLst/>
                <a:gdLst>
                  <a:gd name="T0" fmla="*/ 0 w 98"/>
                  <a:gd name="T1" fmla="*/ 14 h 14"/>
                  <a:gd name="T2" fmla="*/ 43 w 98"/>
                  <a:gd name="T3" fmla="*/ 0 h 14"/>
                  <a:gd name="T4" fmla="*/ 53 w 98"/>
                  <a:gd name="T5" fmla="*/ 0 h 14"/>
                  <a:gd name="T6" fmla="*/ 98 w 98"/>
                  <a:gd name="T7" fmla="*/ 14 h 14"/>
                  <a:gd name="T8" fmla="*/ 0 w 98"/>
                  <a:gd name="T9" fmla="*/ 14 h 14"/>
                  <a:gd name="T10" fmla="*/ 0 60000 65536"/>
                  <a:gd name="T11" fmla="*/ 0 60000 65536"/>
                  <a:gd name="T12" fmla="*/ 0 60000 65536"/>
                  <a:gd name="T13" fmla="*/ 0 60000 65536"/>
                  <a:gd name="T14" fmla="*/ 0 60000 65536"/>
                  <a:gd name="T15" fmla="*/ 0 w 98"/>
                  <a:gd name="T16" fmla="*/ 0 h 14"/>
                  <a:gd name="T17" fmla="*/ 98 w 98"/>
                  <a:gd name="T18" fmla="*/ 14 h 14"/>
                </a:gdLst>
                <a:ahLst/>
                <a:cxnLst>
                  <a:cxn ang="T10">
                    <a:pos x="T0" y="T1"/>
                  </a:cxn>
                  <a:cxn ang="T11">
                    <a:pos x="T2" y="T3"/>
                  </a:cxn>
                  <a:cxn ang="T12">
                    <a:pos x="T4" y="T5"/>
                  </a:cxn>
                  <a:cxn ang="T13">
                    <a:pos x="T6" y="T7"/>
                  </a:cxn>
                  <a:cxn ang="T14">
                    <a:pos x="T8" y="T9"/>
                  </a:cxn>
                </a:cxnLst>
                <a:rect l="T15" t="T16" r="T17" b="T18"/>
                <a:pathLst>
                  <a:path w="98" h="14">
                    <a:moveTo>
                      <a:pt x="0" y="14"/>
                    </a:moveTo>
                    <a:lnTo>
                      <a:pt x="43" y="0"/>
                    </a:lnTo>
                    <a:lnTo>
                      <a:pt x="53" y="0"/>
                    </a:lnTo>
                    <a:lnTo>
                      <a:pt x="98" y="14"/>
                    </a:lnTo>
                    <a:lnTo>
                      <a:pt x="0" y="14"/>
                    </a:lnTo>
                    <a:close/>
                  </a:path>
                </a:pathLst>
              </a:custGeom>
              <a:gradFill rotWithShape="1">
                <a:gsLst>
                  <a:gs pos="0">
                    <a:srgbClr val="969696"/>
                  </a:gs>
                  <a:gs pos="50000">
                    <a:srgbClr val="FFFFFF"/>
                  </a:gs>
                  <a:gs pos="100000">
                    <a:srgbClr val="969696"/>
                  </a:gs>
                </a:gsLst>
                <a:lin ang="0" scaled="1"/>
              </a:gradFill>
              <a:ln w="9525">
                <a:solidFill>
                  <a:srgbClr val="000000"/>
                </a:solidFill>
                <a:round/>
                <a:headEnd/>
                <a:tailEnd/>
              </a:ln>
            </p:spPr>
            <p:txBody>
              <a:bodyPr/>
              <a:lstStyle/>
              <a:p>
                <a:endParaRPr lang="en-US"/>
              </a:p>
            </p:txBody>
          </p:sp>
        </p:grpSp>
        <p:grpSp>
          <p:nvGrpSpPr>
            <p:cNvPr id="237614" name="Group 190"/>
            <p:cNvGrpSpPr>
              <a:grpSpLocks/>
            </p:cNvGrpSpPr>
            <p:nvPr/>
          </p:nvGrpSpPr>
          <p:grpSpPr bwMode="auto">
            <a:xfrm>
              <a:off x="1403648" y="4963055"/>
              <a:ext cx="216024" cy="835293"/>
              <a:chOff x="0" y="0"/>
              <a:chExt cx="52" cy="305"/>
            </a:xfrm>
          </p:grpSpPr>
          <p:sp>
            <p:nvSpPr>
              <p:cNvPr id="237826" name="Rectangle 198"/>
              <p:cNvSpPr>
                <a:spLocks noChangeArrowheads="1"/>
              </p:cNvSpPr>
              <p:nvPr/>
            </p:nvSpPr>
            <p:spPr bwMode="auto">
              <a:xfrm>
                <a:off x="6" y="42"/>
                <a:ext cx="41" cy="256"/>
              </a:xfrm>
              <a:prstGeom prst="rect">
                <a:avLst/>
              </a:prstGeom>
              <a:gradFill rotWithShape="1">
                <a:gsLst>
                  <a:gs pos="0">
                    <a:srgbClr val="767600"/>
                  </a:gs>
                  <a:gs pos="50000">
                    <a:srgbClr val="FFFF00"/>
                  </a:gs>
                  <a:gs pos="100000">
                    <a:srgbClr val="76760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827" name="Rectangle 199"/>
              <p:cNvSpPr>
                <a:spLocks noChangeArrowheads="1"/>
              </p:cNvSpPr>
              <p:nvPr/>
            </p:nvSpPr>
            <p:spPr bwMode="auto">
              <a:xfrm>
                <a:off x="0" y="298"/>
                <a:ext cx="52" cy="7"/>
              </a:xfrm>
              <a:prstGeom prst="rect">
                <a:avLst/>
              </a:prstGeom>
              <a:gradFill rotWithShape="1">
                <a:gsLst>
                  <a:gs pos="0">
                    <a:srgbClr val="767600"/>
                  </a:gs>
                  <a:gs pos="50000">
                    <a:srgbClr val="FFFF00"/>
                  </a:gs>
                  <a:gs pos="100000">
                    <a:srgbClr val="76760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828" name="AutoShape 678"/>
              <p:cNvSpPr>
                <a:spLocks noChangeArrowheads="1"/>
              </p:cNvSpPr>
              <p:nvPr/>
            </p:nvSpPr>
            <p:spPr bwMode="auto">
              <a:xfrm flipV="1">
                <a:off x="6" y="247"/>
                <a:ext cx="41" cy="20"/>
              </a:xfrm>
              <a:prstGeom prst="triangle">
                <a:avLst>
                  <a:gd name="adj" fmla="val 50000"/>
                </a:avLst>
              </a:prstGeom>
              <a:gradFill rotWithShape="1">
                <a:gsLst>
                  <a:gs pos="0">
                    <a:srgbClr val="767600"/>
                  </a:gs>
                  <a:gs pos="50000">
                    <a:srgbClr val="FFFF00"/>
                  </a:gs>
                  <a:gs pos="100000">
                    <a:srgbClr val="76760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829" name="Line 679"/>
              <p:cNvSpPr>
                <a:spLocks noChangeShapeType="1"/>
              </p:cNvSpPr>
              <p:nvPr/>
            </p:nvSpPr>
            <p:spPr bwMode="auto">
              <a:xfrm>
                <a:off x="6" y="42"/>
                <a:ext cx="4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7830" name="AutoShape 680"/>
              <p:cNvSpPr>
                <a:spLocks noChangeArrowheads="1"/>
              </p:cNvSpPr>
              <p:nvPr/>
            </p:nvSpPr>
            <p:spPr bwMode="auto">
              <a:xfrm>
                <a:off x="6" y="0"/>
                <a:ext cx="41" cy="42"/>
              </a:xfrm>
              <a:prstGeom prst="triangle">
                <a:avLst>
                  <a:gd name="adj" fmla="val 50000"/>
                </a:avLst>
              </a:prstGeom>
              <a:gradFill rotWithShape="1">
                <a:gsLst>
                  <a:gs pos="0">
                    <a:srgbClr val="767600"/>
                  </a:gs>
                  <a:gs pos="50000">
                    <a:srgbClr val="FFFF00"/>
                  </a:gs>
                  <a:gs pos="100000">
                    <a:srgbClr val="76760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grpSp>
        <p:pic>
          <p:nvPicPr>
            <p:cNvPr id="237615" name="Picture 20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907704" y="4896000"/>
              <a:ext cx="648072" cy="345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7616" name="Picture 20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619672" y="4266977"/>
              <a:ext cx="648072" cy="564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37617" name="Group 205"/>
            <p:cNvGrpSpPr>
              <a:grpSpLocks noChangeAspect="1"/>
            </p:cNvGrpSpPr>
            <p:nvPr/>
          </p:nvGrpSpPr>
          <p:grpSpPr bwMode="auto">
            <a:xfrm flipV="1">
              <a:off x="2718175" y="5673249"/>
              <a:ext cx="125633" cy="86328"/>
              <a:chOff x="0" y="0"/>
              <a:chExt cx="30" cy="24"/>
            </a:xfrm>
          </p:grpSpPr>
          <p:sp>
            <p:nvSpPr>
              <p:cNvPr id="237822" name="Rectangle 206"/>
              <p:cNvSpPr>
                <a:spLocks noChangeAspect="1" noChangeArrowheads="1"/>
              </p:cNvSpPr>
              <p:nvPr/>
            </p:nvSpPr>
            <p:spPr bwMode="auto">
              <a:xfrm>
                <a:off x="4" y="6"/>
                <a:ext cx="5" cy="13"/>
              </a:xfrm>
              <a:prstGeom prst="rect">
                <a:avLst/>
              </a:prstGeom>
              <a:gradFill rotWithShape="1">
                <a:gsLst>
                  <a:gs pos="0">
                    <a:srgbClr val="185E5E"/>
                  </a:gs>
                  <a:gs pos="50000">
                    <a:srgbClr val="33CCCC"/>
                  </a:gs>
                  <a:gs pos="100000">
                    <a:srgbClr val="185E5E"/>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823" name="Rectangle 207"/>
              <p:cNvSpPr>
                <a:spLocks noChangeAspect="1" noChangeArrowheads="1"/>
              </p:cNvSpPr>
              <p:nvPr/>
            </p:nvSpPr>
            <p:spPr bwMode="auto">
              <a:xfrm>
                <a:off x="9" y="0"/>
                <a:ext cx="7" cy="24"/>
              </a:xfrm>
              <a:prstGeom prst="rect">
                <a:avLst/>
              </a:prstGeom>
              <a:gradFill rotWithShape="1">
                <a:gsLst>
                  <a:gs pos="0">
                    <a:srgbClr val="185E5E"/>
                  </a:gs>
                  <a:gs pos="50000">
                    <a:srgbClr val="33CCCC"/>
                  </a:gs>
                  <a:gs pos="100000">
                    <a:srgbClr val="185E5E"/>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824" name="AutoShape 1702"/>
              <p:cNvSpPr>
                <a:spLocks noChangeAspect="1" noChangeArrowheads="1"/>
              </p:cNvSpPr>
              <p:nvPr/>
            </p:nvSpPr>
            <p:spPr bwMode="auto">
              <a:xfrm rot="-5400000">
                <a:off x="13" y="6"/>
                <a:ext cx="19" cy="14"/>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47 w 21600"/>
                  <a:gd name="T13" fmla="*/ 4629 h 21600"/>
                  <a:gd name="T14" fmla="*/ 17053 w 21600"/>
                  <a:gd name="T15" fmla="*/ 16971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gradFill rotWithShape="1">
                <a:gsLst>
                  <a:gs pos="0">
                    <a:srgbClr val="185E5E"/>
                  </a:gs>
                  <a:gs pos="50000">
                    <a:srgbClr val="33CCCC"/>
                  </a:gs>
                  <a:gs pos="100000">
                    <a:srgbClr val="185E5E"/>
                  </a:gs>
                </a:gsLst>
                <a:lin ang="0" scaled="1"/>
              </a:gradFill>
              <a:ln w="9525">
                <a:solidFill>
                  <a:srgbClr val="000000"/>
                </a:solidFill>
                <a:miter lim="800000"/>
                <a:headEnd/>
                <a:tailEnd/>
              </a:ln>
            </p:spPr>
            <p:txBody>
              <a:bodyPr/>
              <a:lstStyle/>
              <a:p>
                <a:endParaRPr lang="en-US"/>
              </a:p>
            </p:txBody>
          </p:sp>
          <p:sp>
            <p:nvSpPr>
              <p:cNvPr id="237825" name="Rectangle 209"/>
              <p:cNvSpPr>
                <a:spLocks noChangeAspect="1" noChangeArrowheads="1"/>
              </p:cNvSpPr>
              <p:nvPr/>
            </p:nvSpPr>
            <p:spPr bwMode="auto">
              <a:xfrm>
                <a:off x="0" y="9"/>
                <a:ext cx="4" cy="8"/>
              </a:xfrm>
              <a:prstGeom prst="rect">
                <a:avLst/>
              </a:prstGeom>
              <a:gradFill rotWithShape="1">
                <a:gsLst>
                  <a:gs pos="0">
                    <a:srgbClr val="185E5E"/>
                  </a:gs>
                  <a:gs pos="50000">
                    <a:srgbClr val="33CCCC"/>
                  </a:gs>
                  <a:gs pos="100000">
                    <a:srgbClr val="185E5E"/>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grpSp>
        <p:grpSp>
          <p:nvGrpSpPr>
            <p:cNvPr id="237618" name="Group 210"/>
            <p:cNvGrpSpPr>
              <a:grpSpLocks/>
            </p:cNvGrpSpPr>
            <p:nvPr/>
          </p:nvGrpSpPr>
          <p:grpSpPr bwMode="auto">
            <a:xfrm>
              <a:off x="2987824" y="5032663"/>
              <a:ext cx="72008" cy="487254"/>
              <a:chOff x="0" y="0"/>
              <a:chExt cx="29" cy="175"/>
            </a:xfrm>
          </p:grpSpPr>
          <p:sp>
            <p:nvSpPr>
              <p:cNvPr id="237819" name="Oval 211"/>
              <p:cNvSpPr>
                <a:spLocks noChangeArrowheads="1"/>
              </p:cNvSpPr>
              <p:nvPr/>
            </p:nvSpPr>
            <p:spPr bwMode="auto">
              <a:xfrm>
                <a:off x="0" y="0"/>
                <a:ext cx="29" cy="13"/>
              </a:xfrm>
              <a:prstGeom prst="ellipse">
                <a:avLst/>
              </a:prstGeom>
              <a:gradFill rotWithShape="1">
                <a:gsLst>
                  <a:gs pos="0">
                    <a:srgbClr val="007676"/>
                  </a:gs>
                  <a:gs pos="50000">
                    <a:srgbClr val="00FFFF"/>
                  </a:gs>
                  <a:gs pos="100000">
                    <a:srgbClr val="007676"/>
                  </a:gs>
                </a:gsLst>
                <a:lin ang="0" scaled="1"/>
              </a:gradFill>
              <a:ln w="9525">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820" name="Rectangle 212"/>
              <p:cNvSpPr>
                <a:spLocks noChangeAspect="1" noChangeArrowheads="1"/>
              </p:cNvSpPr>
              <p:nvPr/>
            </p:nvSpPr>
            <p:spPr bwMode="auto">
              <a:xfrm>
                <a:off x="0" y="7"/>
                <a:ext cx="28" cy="158"/>
              </a:xfrm>
              <a:prstGeom prst="rect">
                <a:avLst/>
              </a:prstGeom>
              <a:gradFill rotWithShape="1">
                <a:gsLst>
                  <a:gs pos="0">
                    <a:srgbClr val="007676"/>
                  </a:gs>
                  <a:gs pos="50000">
                    <a:srgbClr val="00FFFF"/>
                  </a:gs>
                  <a:gs pos="100000">
                    <a:srgbClr val="007676"/>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821" name="AutoShape 1826"/>
              <p:cNvSpPr>
                <a:spLocks noChangeArrowheads="1"/>
              </p:cNvSpPr>
              <p:nvPr/>
            </p:nvSpPr>
            <p:spPr bwMode="auto">
              <a:xfrm>
                <a:off x="0" y="163"/>
                <a:ext cx="29" cy="1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69 w 21600"/>
                  <a:gd name="T13" fmla="*/ 5400 h 21600"/>
                  <a:gd name="T14" fmla="*/ 17131 w 21600"/>
                  <a:gd name="T15" fmla="*/ 180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gradFill rotWithShape="1">
                <a:gsLst>
                  <a:gs pos="0">
                    <a:srgbClr val="007676"/>
                  </a:gs>
                  <a:gs pos="50000">
                    <a:srgbClr val="00FFFF"/>
                  </a:gs>
                  <a:gs pos="100000">
                    <a:srgbClr val="007676"/>
                  </a:gs>
                </a:gsLst>
                <a:lin ang="0" scaled="1"/>
              </a:gradFill>
              <a:ln w="9525">
                <a:solidFill>
                  <a:srgbClr val="000000"/>
                </a:solidFill>
                <a:miter lim="800000"/>
                <a:headEnd/>
                <a:tailEnd/>
              </a:ln>
            </p:spPr>
            <p:txBody>
              <a:bodyPr/>
              <a:lstStyle/>
              <a:p>
                <a:endParaRPr lang="en-US"/>
              </a:p>
            </p:txBody>
          </p:sp>
        </p:grpSp>
        <p:grpSp>
          <p:nvGrpSpPr>
            <p:cNvPr id="237619" name="Group 214"/>
            <p:cNvGrpSpPr>
              <a:grpSpLocks/>
            </p:cNvGrpSpPr>
            <p:nvPr/>
          </p:nvGrpSpPr>
          <p:grpSpPr bwMode="auto">
            <a:xfrm>
              <a:off x="3203848" y="4684624"/>
              <a:ext cx="216024" cy="1113724"/>
              <a:chOff x="0" y="0"/>
              <a:chExt cx="55" cy="235"/>
            </a:xfrm>
          </p:grpSpPr>
          <p:sp>
            <p:nvSpPr>
              <p:cNvPr id="237812" name="Rectangle 215"/>
              <p:cNvSpPr>
                <a:spLocks noChangeArrowheads="1"/>
              </p:cNvSpPr>
              <p:nvPr/>
            </p:nvSpPr>
            <p:spPr bwMode="auto">
              <a:xfrm>
                <a:off x="6" y="39"/>
                <a:ext cx="44" cy="191"/>
              </a:xfrm>
              <a:prstGeom prst="rect">
                <a:avLst/>
              </a:prstGeom>
              <a:gradFill rotWithShape="1">
                <a:gsLst>
                  <a:gs pos="0">
                    <a:srgbClr val="007676"/>
                  </a:gs>
                  <a:gs pos="50000">
                    <a:srgbClr val="00FFFF"/>
                  </a:gs>
                  <a:gs pos="100000">
                    <a:srgbClr val="007676"/>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813" name="Rectangle 216"/>
              <p:cNvSpPr>
                <a:spLocks noChangeArrowheads="1"/>
              </p:cNvSpPr>
              <p:nvPr/>
            </p:nvSpPr>
            <p:spPr bwMode="auto">
              <a:xfrm>
                <a:off x="0" y="230"/>
                <a:ext cx="55" cy="5"/>
              </a:xfrm>
              <a:prstGeom prst="rect">
                <a:avLst/>
              </a:prstGeom>
              <a:gradFill rotWithShape="1">
                <a:gsLst>
                  <a:gs pos="0">
                    <a:srgbClr val="007676"/>
                  </a:gs>
                  <a:gs pos="50000">
                    <a:srgbClr val="00FFFF"/>
                  </a:gs>
                  <a:gs pos="100000">
                    <a:srgbClr val="007676"/>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814" name="AutoShape 1830"/>
              <p:cNvSpPr>
                <a:spLocks noChangeArrowheads="1"/>
              </p:cNvSpPr>
              <p:nvPr/>
            </p:nvSpPr>
            <p:spPr bwMode="auto">
              <a:xfrm flipV="1">
                <a:off x="6" y="192"/>
                <a:ext cx="44" cy="15"/>
              </a:xfrm>
              <a:prstGeom prst="triangle">
                <a:avLst>
                  <a:gd name="adj" fmla="val 50000"/>
                </a:avLst>
              </a:prstGeom>
              <a:gradFill rotWithShape="1">
                <a:gsLst>
                  <a:gs pos="0">
                    <a:srgbClr val="007676"/>
                  </a:gs>
                  <a:gs pos="50000">
                    <a:srgbClr val="00FFFF"/>
                  </a:gs>
                  <a:gs pos="100000">
                    <a:srgbClr val="007676"/>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815" name="Line 1831"/>
              <p:cNvSpPr>
                <a:spLocks noChangeShapeType="1"/>
              </p:cNvSpPr>
              <p:nvPr/>
            </p:nvSpPr>
            <p:spPr bwMode="auto">
              <a:xfrm>
                <a:off x="6" y="39"/>
                <a:ext cx="4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7816" name="AutoShape 1832"/>
              <p:cNvSpPr>
                <a:spLocks noChangeArrowheads="1"/>
              </p:cNvSpPr>
              <p:nvPr/>
            </p:nvSpPr>
            <p:spPr bwMode="auto">
              <a:xfrm rot="10800000">
                <a:off x="6" y="30"/>
                <a:ext cx="45" cy="9"/>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320 w 21600"/>
                  <a:gd name="T13" fmla="*/ 4800 h 21600"/>
                  <a:gd name="T14" fmla="*/ 17280 w 21600"/>
                  <a:gd name="T15" fmla="*/ 168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gradFill rotWithShape="1">
                <a:gsLst>
                  <a:gs pos="0">
                    <a:srgbClr val="007676"/>
                  </a:gs>
                  <a:gs pos="50000">
                    <a:srgbClr val="00FFFF"/>
                  </a:gs>
                  <a:gs pos="100000">
                    <a:srgbClr val="007676"/>
                  </a:gs>
                </a:gsLst>
                <a:lin ang="0" scaled="1"/>
              </a:gradFill>
              <a:ln w="9525">
                <a:solidFill>
                  <a:srgbClr val="000000"/>
                </a:solidFill>
                <a:miter lim="800000"/>
                <a:headEnd/>
                <a:tailEnd/>
              </a:ln>
            </p:spPr>
            <p:txBody>
              <a:bodyPr/>
              <a:lstStyle/>
              <a:p>
                <a:endParaRPr lang="en-US"/>
              </a:p>
            </p:txBody>
          </p:sp>
          <p:sp>
            <p:nvSpPr>
              <p:cNvPr id="237817" name="Rectangle 220"/>
              <p:cNvSpPr>
                <a:spLocks noChangeArrowheads="1"/>
              </p:cNvSpPr>
              <p:nvPr/>
            </p:nvSpPr>
            <p:spPr bwMode="auto">
              <a:xfrm>
                <a:off x="18" y="8"/>
                <a:ext cx="21" cy="21"/>
              </a:xfrm>
              <a:prstGeom prst="rect">
                <a:avLst/>
              </a:prstGeom>
              <a:gradFill rotWithShape="1">
                <a:gsLst>
                  <a:gs pos="0">
                    <a:srgbClr val="007676"/>
                  </a:gs>
                  <a:gs pos="50000">
                    <a:srgbClr val="00FFFF"/>
                  </a:gs>
                  <a:gs pos="100000">
                    <a:srgbClr val="007676"/>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818" name="AutoShape 1834"/>
              <p:cNvSpPr>
                <a:spLocks noChangeArrowheads="1"/>
              </p:cNvSpPr>
              <p:nvPr/>
            </p:nvSpPr>
            <p:spPr bwMode="auto">
              <a:xfrm>
                <a:off x="18" y="0"/>
                <a:ext cx="22" cy="8"/>
              </a:xfrm>
              <a:prstGeom prst="triangle">
                <a:avLst>
                  <a:gd name="adj" fmla="val 50000"/>
                </a:avLst>
              </a:prstGeom>
              <a:gradFill rotWithShape="1">
                <a:gsLst>
                  <a:gs pos="0">
                    <a:srgbClr val="007676"/>
                  </a:gs>
                  <a:gs pos="50000">
                    <a:srgbClr val="00FFFF"/>
                  </a:gs>
                  <a:gs pos="100000">
                    <a:srgbClr val="007676"/>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grpSp>
        <p:pic>
          <p:nvPicPr>
            <p:cNvPr id="237620" name="Picture 22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419872" y="4266977"/>
              <a:ext cx="648072" cy="564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37621" name="Group 224"/>
            <p:cNvGrpSpPr>
              <a:grpSpLocks/>
            </p:cNvGrpSpPr>
            <p:nvPr/>
          </p:nvGrpSpPr>
          <p:grpSpPr bwMode="auto">
            <a:xfrm>
              <a:off x="4067944" y="4921239"/>
              <a:ext cx="360040" cy="877109"/>
              <a:chOff x="0" y="0"/>
              <a:chExt cx="52" cy="305"/>
            </a:xfrm>
          </p:grpSpPr>
          <p:sp>
            <p:nvSpPr>
              <p:cNvPr id="237807" name="Rectangle 224"/>
              <p:cNvSpPr>
                <a:spLocks noChangeArrowheads="1"/>
              </p:cNvSpPr>
              <p:nvPr/>
            </p:nvSpPr>
            <p:spPr bwMode="auto">
              <a:xfrm>
                <a:off x="6" y="42"/>
                <a:ext cx="41" cy="256"/>
              </a:xfrm>
              <a:prstGeom prst="rect">
                <a:avLst/>
              </a:prstGeom>
              <a:gradFill rotWithShape="1">
                <a:gsLst>
                  <a:gs pos="0">
                    <a:srgbClr val="007676"/>
                  </a:gs>
                  <a:gs pos="50000">
                    <a:srgbClr val="00FFFF"/>
                  </a:gs>
                  <a:gs pos="100000">
                    <a:srgbClr val="007676"/>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808" name="Rectangle 225"/>
              <p:cNvSpPr>
                <a:spLocks noChangeArrowheads="1"/>
              </p:cNvSpPr>
              <p:nvPr/>
            </p:nvSpPr>
            <p:spPr bwMode="auto">
              <a:xfrm>
                <a:off x="0" y="298"/>
                <a:ext cx="52" cy="7"/>
              </a:xfrm>
              <a:prstGeom prst="rect">
                <a:avLst/>
              </a:prstGeom>
              <a:gradFill rotWithShape="1">
                <a:gsLst>
                  <a:gs pos="0">
                    <a:srgbClr val="007676"/>
                  </a:gs>
                  <a:gs pos="50000">
                    <a:srgbClr val="00FFFF"/>
                  </a:gs>
                  <a:gs pos="100000">
                    <a:srgbClr val="007676"/>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809" name="AutoShape 771"/>
              <p:cNvSpPr>
                <a:spLocks noChangeArrowheads="1"/>
              </p:cNvSpPr>
              <p:nvPr/>
            </p:nvSpPr>
            <p:spPr bwMode="auto">
              <a:xfrm flipV="1">
                <a:off x="6" y="247"/>
                <a:ext cx="41" cy="20"/>
              </a:xfrm>
              <a:prstGeom prst="triangle">
                <a:avLst>
                  <a:gd name="adj" fmla="val 50000"/>
                </a:avLst>
              </a:prstGeom>
              <a:gradFill rotWithShape="1">
                <a:gsLst>
                  <a:gs pos="0">
                    <a:srgbClr val="007676"/>
                  </a:gs>
                  <a:gs pos="50000">
                    <a:srgbClr val="00FFFF"/>
                  </a:gs>
                  <a:gs pos="100000">
                    <a:srgbClr val="007676"/>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810" name="Line 772"/>
              <p:cNvSpPr>
                <a:spLocks noChangeShapeType="1"/>
              </p:cNvSpPr>
              <p:nvPr/>
            </p:nvSpPr>
            <p:spPr bwMode="auto">
              <a:xfrm>
                <a:off x="6" y="42"/>
                <a:ext cx="4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7811" name="AutoShape 773"/>
              <p:cNvSpPr>
                <a:spLocks noChangeArrowheads="1"/>
              </p:cNvSpPr>
              <p:nvPr/>
            </p:nvSpPr>
            <p:spPr bwMode="auto">
              <a:xfrm>
                <a:off x="6" y="0"/>
                <a:ext cx="41" cy="42"/>
              </a:xfrm>
              <a:prstGeom prst="triangle">
                <a:avLst>
                  <a:gd name="adj" fmla="val 50000"/>
                </a:avLst>
              </a:prstGeom>
              <a:gradFill rotWithShape="1">
                <a:gsLst>
                  <a:gs pos="0">
                    <a:srgbClr val="007676"/>
                  </a:gs>
                  <a:gs pos="50000">
                    <a:srgbClr val="00FFFF"/>
                  </a:gs>
                  <a:gs pos="100000">
                    <a:srgbClr val="007676"/>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grpSp>
        <p:pic>
          <p:nvPicPr>
            <p:cNvPr id="237622" name="Picture 22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427984" y="4266977"/>
              <a:ext cx="648072" cy="564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37623" name="Group 232"/>
            <p:cNvGrpSpPr>
              <a:grpSpLocks/>
            </p:cNvGrpSpPr>
            <p:nvPr/>
          </p:nvGrpSpPr>
          <p:grpSpPr bwMode="auto">
            <a:xfrm>
              <a:off x="5652120" y="5325211"/>
              <a:ext cx="216024" cy="208823"/>
              <a:chOff x="0" y="0"/>
              <a:chExt cx="82" cy="94"/>
            </a:xfrm>
          </p:grpSpPr>
          <p:sp>
            <p:nvSpPr>
              <p:cNvPr id="237802" name="AutoShape 737"/>
              <p:cNvSpPr>
                <a:spLocks noChangeArrowheads="1"/>
              </p:cNvSpPr>
              <p:nvPr/>
            </p:nvSpPr>
            <p:spPr bwMode="auto">
              <a:xfrm>
                <a:off x="4" y="18"/>
                <a:ext cx="20" cy="76"/>
              </a:xfrm>
              <a:prstGeom prst="flowChartMerge">
                <a:avLst/>
              </a:prstGeom>
              <a:gradFill rotWithShape="1">
                <a:gsLst>
                  <a:gs pos="0">
                    <a:srgbClr val="007600"/>
                  </a:gs>
                  <a:gs pos="50000">
                    <a:srgbClr val="00FF00"/>
                  </a:gs>
                  <a:gs pos="100000">
                    <a:srgbClr val="00760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803" name="AutoShape 738"/>
              <p:cNvSpPr>
                <a:spLocks noChangeArrowheads="1"/>
              </p:cNvSpPr>
              <p:nvPr/>
            </p:nvSpPr>
            <p:spPr bwMode="auto">
              <a:xfrm>
                <a:off x="33" y="18"/>
                <a:ext cx="20" cy="76"/>
              </a:xfrm>
              <a:prstGeom prst="flowChartMerge">
                <a:avLst/>
              </a:prstGeom>
              <a:gradFill rotWithShape="1">
                <a:gsLst>
                  <a:gs pos="0">
                    <a:srgbClr val="007600"/>
                  </a:gs>
                  <a:gs pos="50000">
                    <a:srgbClr val="00FF00"/>
                  </a:gs>
                  <a:gs pos="100000">
                    <a:srgbClr val="00760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804" name="AutoShape 739"/>
              <p:cNvSpPr>
                <a:spLocks noChangeArrowheads="1"/>
              </p:cNvSpPr>
              <p:nvPr/>
            </p:nvSpPr>
            <p:spPr bwMode="auto">
              <a:xfrm>
                <a:off x="61" y="18"/>
                <a:ext cx="20" cy="76"/>
              </a:xfrm>
              <a:prstGeom prst="flowChartMerge">
                <a:avLst/>
              </a:prstGeom>
              <a:gradFill rotWithShape="1">
                <a:gsLst>
                  <a:gs pos="0">
                    <a:srgbClr val="007600"/>
                  </a:gs>
                  <a:gs pos="50000">
                    <a:srgbClr val="00FF00"/>
                  </a:gs>
                  <a:gs pos="100000">
                    <a:srgbClr val="00760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805" name="Rectangle 234"/>
              <p:cNvSpPr>
                <a:spLocks noChangeArrowheads="1"/>
              </p:cNvSpPr>
              <p:nvPr/>
            </p:nvSpPr>
            <p:spPr bwMode="auto">
              <a:xfrm>
                <a:off x="0" y="0"/>
                <a:ext cx="82" cy="11"/>
              </a:xfrm>
              <a:prstGeom prst="rect">
                <a:avLst/>
              </a:prstGeom>
              <a:gradFill rotWithShape="1">
                <a:gsLst>
                  <a:gs pos="0">
                    <a:srgbClr val="007600"/>
                  </a:gs>
                  <a:gs pos="50000">
                    <a:srgbClr val="00FF00"/>
                  </a:gs>
                  <a:gs pos="100000">
                    <a:srgbClr val="007600"/>
                  </a:gs>
                </a:gsLst>
                <a:lin ang="540000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806" name="Rectangle 235"/>
              <p:cNvSpPr>
                <a:spLocks noChangeArrowheads="1"/>
              </p:cNvSpPr>
              <p:nvPr/>
            </p:nvSpPr>
            <p:spPr bwMode="auto">
              <a:xfrm>
                <a:off x="0" y="34"/>
                <a:ext cx="82" cy="11"/>
              </a:xfrm>
              <a:prstGeom prst="rect">
                <a:avLst/>
              </a:prstGeom>
              <a:gradFill rotWithShape="1">
                <a:gsLst>
                  <a:gs pos="0">
                    <a:srgbClr val="007600"/>
                  </a:gs>
                  <a:gs pos="50000">
                    <a:srgbClr val="00FF00"/>
                  </a:gs>
                  <a:gs pos="100000">
                    <a:srgbClr val="007600"/>
                  </a:gs>
                </a:gsLst>
                <a:lin ang="540000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grpSp>
        <p:pic>
          <p:nvPicPr>
            <p:cNvPr id="237624" name="Picture 23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508104" y="4475801"/>
              <a:ext cx="445692" cy="417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37625" name="Group 282"/>
            <p:cNvGrpSpPr>
              <a:grpSpLocks/>
            </p:cNvGrpSpPr>
            <p:nvPr/>
          </p:nvGrpSpPr>
          <p:grpSpPr bwMode="auto">
            <a:xfrm>
              <a:off x="7236296" y="5096313"/>
              <a:ext cx="614617" cy="317751"/>
              <a:chOff x="0" y="276225"/>
              <a:chExt cx="433" cy="180"/>
            </a:xfrm>
          </p:grpSpPr>
          <p:sp>
            <p:nvSpPr>
              <p:cNvPr id="237762" name="Oval 238"/>
              <p:cNvSpPr>
                <a:spLocks noChangeArrowheads="1"/>
              </p:cNvSpPr>
              <p:nvPr/>
            </p:nvSpPr>
            <p:spPr bwMode="auto">
              <a:xfrm>
                <a:off x="381" y="276278"/>
                <a:ext cx="29" cy="28"/>
              </a:xfrm>
              <a:prstGeom prst="ellipse">
                <a:avLst/>
              </a:prstGeom>
              <a:gradFill rotWithShape="1">
                <a:gsLst>
                  <a:gs pos="0">
                    <a:srgbClr val="454545"/>
                  </a:gs>
                  <a:gs pos="100000">
                    <a:srgbClr val="969696"/>
                  </a:gs>
                </a:gsLst>
                <a:path path="shape">
                  <a:fillToRect l="50000" t="50000" r="50000" b="50000"/>
                </a:path>
              </a:gradFill>
              <a:ln w="12700">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763" name="Rectangle 239"/>
              <p:cNvSpPr>
                <a:spLocks noChangeArrowheads="1"/>
              </p:cNvSpPr>
              <p:nvPr/>
            </p:nvSpPr>
            <p:spPr bwMode="auto">
              <a:xfrm>
                <a:off x="67" y="276301"/>
                <a:ext cx="282" cy="15"/>
              </a:xfrm>
              <a:prstGeom prst="rect">
                <a:avLst/>
              </a:prstGeom>
              <a:gradFill rotWithShape="1">
                <a:gsLst>
                  <a:gs pos="0">
                    <a:srgbClr val="454545"/>
                  </a:gs>
                  <a:gs pos="50000">
                    <a:srgbClr val="969696"/>
                  </a:gs>
                  <a:gs pos="100000">
                    <a:srgbClr val="454545"/>
                  </a:gs>
                </a:gsLst>
                <a:lin ang="0" scaled="1"/>
              </a:gradFill>
              <a:ln w="12700">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764" name="Rectangle 240"/>
              <p:cNvSpPr>
                <a:spLocks noChangeArrowheads="1"/>
              </p:cNvSpPr>
              <p:nvPr/>
            </p:nvSpPr>
            <p:spPr bwMode="auto">
              <a:xfrm rot="-1233363">
                <a:off x="345" y="276295"/>
                <a:ext cx="38" cy="15"/>
              </a:xfrm>
              <a:prstGeom prst="rect">
                <a:avLst/>
              </a:prstGeom>
              <a:gradFill rotWithShape="1">
                <a:gsLst>
                  <a:gs pos="0">
                    <a:srgbClr val="454545"/>
                  </a:gs>
                  <a:gs pos="50000">
                    <a:srgbClr val="969696"/>
                  </a:gs>
                  <a:gs pos="100000">
                    <a:srgbClr val="454545"/>
                  </a:gs>
                </a:gsLst>
                <a:lin ang="0" scaled="1"/>
              </a:gradFill>
              <a:ln w="12700">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765" name="Oval 241"/>
              <p:cNvSpPr>
                <a:spLocks noChangeArrowheads="1"/>
              </p:cNvSpPr>
              <p:nvPr/>
            </p:nvSpPr>
            <p:spPr bwMode="auto">
              <a:xfrm>
                <a:off x="403" y="276302"/>
                <a:ext cx="29" cy="28"/>
              </a:xfrm>
              <a:prstGeom prst="ellipse">
                <a:avLst/>
              </a:prstGeom>
              <a:gradFill rotWithShape="1">
                <a:gsLst>
                  <a:gs pos="0">
                    <a:srgbClr val="454545"/>
                  </a:gs>
                  <a:gs pos="100000">
                    <a:srgbClr val="969696"/>
                  </a:gs>
                </a:gsLst>
                <a:path path="shape">
                  <a:fillToRect l="50000" t="50000" r="50000" b="50000"/>
                </a:path>
              </a:gradFill>
              <a:ln w="12700">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766" name="Rectangle 242"/>
              <p:cNvSpPr>
                <a:spLocks noChangeArrowheads="1"/>
              </p:cNvSpPr>
              <p:nvPr/>
            </p:nvSpPr>
            <p:spPr bwMode="auto">
              <a:xfrm>
                <a:off x="389" y="276314"/>
                <a:ext cx="14" cy="84"/>
              </a:xfrm>
              <a:prstGeom prst="rect">
                <a:avLst/>
              </a:prstGeom>
              <a:gradFill rotWithShape="1">
                <a:gsLst>
                  <a:gs pos="0">
                    <a:srgbClr val="454545"/>
                  </a:gs>
                  <a:gs pos="50000">
                    <a:srgbClr val="969696"/>
                  </a:gs>
                  <a:gs pos="100000">
                    <a:srgbClr val="454545"/>
                  </a:gs>
                </a:gsLst>
                <a:lin ang="0" scaled="1"/>
              </a:gradFill>
              <a:ln w="12700">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767" name="Rectangle 243"/>
              <p:cNvSpPr>
                <a:spLocks noChangeArrowheads="1"/>
              </p:cNvSpPr>
              <p:nvPr/>
            </p:nvSpPr>
            <p:spPr bwMode="auto">
              <a:xfrm>
                <a:off x="384" y="276398"/>
                <a:ext cx="25" cy="7"/>
              </a:xfrm>
              <a:prstGeom prst="rect">
                <a:avLst/>
              </a:prstGeom>
              <a:gradFill rotWithShape="1">
                <a:gsLst>
                  <a:gs pos="0">
                    <a:srgbClr val="454545"/>
                  </a:gs>
                  <a:gs pos="50000">
                    <a:srgbClr val="969696"/>
                  </a:gs>
                  <a:gs pos="100000">
                    <a:srgbClr val="454545"/>
                  </a:gs>
                </a:gsLst>
                <a:lin ang="0" scaled="1"/>
              </a:gradFill>
              <a:ln w="12700">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768" name="Oval 244"/>
              <p:cNvSpPr>
                <a:spLocks noChangeArrowheads="1"/>
              </p:cNvSpPr>
              <p:nvPr/>
            </p:nvSpPr>
            <p:spPr bwMode="auto">
              <a:xfrm>
                <a:off x="367" y="276308"/>
                <a:ext cx="8" cy="8"/>
              </a:xfrm>
              <a:prstGeom prst="ellipse">
                <a:avLst/>
              </a:prstGeom>
              <a:gradFill rotWithShape="1">
                <a:gsLst>
                  <a:gs pos="0">
                    <a:srgbClr val="454545"/>
                  </a:gs>
                  <a:gs pos="100000">
                    <a:srgbClr val="969696"/>
                  </a:gs>
                </a:gsLst>
                <a:path path="shape">
                  <a:fillToRect l="50000" t="50000" r="50000" b="50000"/>
                </a:path>
              </a:gradFill>
              <a:ln w="12700">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769" name="Oval 245"/>
              <p:cNvSpPr>
                <a:spLocks noChangeArrowheads="1"/>
              </p:cNvSpPr>
              <p:nvPr/>
            </p:nvSpPr>
            <p:spPr bwMode="auto">
              <a:xfrm>
                <a:off x="359" y="276311"/>
                <a:ext cx="8" cy="8"/>
              </a:xfrm>
              <a:prstGeom prst="ellipse">
                <a:avLst/>
              </a:prstGeom>
              <a:gradFill rotWithShape="1">
                <a:gsLst>
                  <a:gs pos="0">
                    <a:srgbClr val="454545"/>
                  </a:gs>
                  <a:gs pos="100000">
                    <a:srgbClr val="969696"/>
                  </a:gs>
                </a:gsLst>
                <a:path path="shape">
                  <a:fillToRect l="50000" t="50000" r="50000" b="50000"/>
                </a:path>
              </a:gradFill>
              <a:ln w="12700">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770" name="Oval 246"/>
              <p:cNvSpPr>
                <a:spLocks noChangeArrowheads="1"/>
              </p:cNvSpPr>
              <p:nvPr/>
            </p:nvSpPr>
            <p:spPr bwMode="auto">
              <a:xfrm>
                <a:off x="375" y="276305"/>
                <a:ext cx="8" cy="8"/>
              </a:xfrm>
              <a:prstGeom prst="ellipse">
                <a:avLst/>
              </a:prstGeom>
              <a:gradFill rotWithShape="1">
                <a:gsLst>
                  <a:gs pos="0">
                    <a:srgbClr val="454545"/>
                  </a:gs>
                  <a:gs pos="100000">
                    <a:srgbClr val="969696"/>
                  </a:gs>
                </a:gsLst>
                <a:path path="shape">
                  <a:fillToRect l="50000" t="50000" r="50000" b="50000"/>
                </a:path>
              </a:gradFill>
              <a:ln w="12700">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771" name="Oval 247"/>
              <p:cNvSpPr>
                <a:spLocks noChangeArrowheads="1"/>
              </p:cNvSpPr>
              <p:nvPr/>
            </p:nvSpPr>
            <p:spPr bwMode="auto">
              <a:xfrm>
                <a:off x="351" y="276315"/>
                <a:ext cx="8" cy="8"/>
              </a:xfrm>
              <a:prstGeom prst="ellipse">
                <a:avLst/>
              </a:prstGeom>
              <a:gradFill rotWithShape="1">
                <a:gsLst>
                  <a:gs pos="0">
                    <a:srgbClr val="454545"/>
                  </a:gs>
                  <a:gs pos="100000">
                    <a:srgbClr val="969696"/>
                  </a:gs>
                </a:gsLst>
                <a:path path="shape">
                  <a:fillToRect l="50000" t="50000" r="50000" b="50000"/>
                </a:path>
              </a:gradFill>
              <a:ln w="12700">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772" name="Oval 248"/>
              <p:cNvSpPr>
                <a:spLocks noChangeArrowheads="1"/>
              </p:cNvSpPr>
              <p:nvPr/>
            </p:nvSpPr>
            <p:spPr bwMode="auto">
              <a:xfrm>
                <a:off x="370" y="276318"/>
                <a:ext cx="8" cy="8"/>
              </a:xfrm>
              <a:prstGeom prst="ellipse">
                <a:avLst/>
              </a:prstGeom>
              <a:gradFill rotWithShape="1">
                <a:gsLst>
                  <a:gs pos="0">
                    <a:srgbClr val="454545"/>
                  </a:gs>
                  <a:gs pos="100000">
                    <a:srgbClr val="969696"/>
                  </a:gs>
                </a:gsLst>
                <a:path path="shape">
                  <a:fillToRect l="50000" t="50000" r="50000" b="50000"/>
                </a:path>
              </a:gradFill>
              <a:ln w="12700">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773" name="Oval 249"/>
              <p:cNvSpPr>
                <a:spLocks noChangeArrowheads="1"/>
              </p:cNvSpPr>
              <p:nvPr/>
            </p:nvSpPr>
            <p:spPr bwMode="auto">
              <a:xfrm>
                <a:off x="362" y="276321"/>
                <a:ext cx="8" cy="8"/>
              </a:xfrm>
              <a:prstGeom prst="ellipse">
                <a:avLst/>
              </a:prstGeom>
              <a:gradFill rotWithShape="1">
                <a:gsLst>
                  <a:gs pos="0">
                    <a:srgbClr val="454545"/>
                  </a:gs>
                  <a:gs pos="100000">
                    <a:srgbClr val="969696"/>
                  </a:gs>
                </a:gsLst>
                <a:path path="shape">
                  <a:fillToRect l="50000" t="50000" r="50000" b="50000"/>
                </a:path>
              </a:gradFill>
              <a:ln w="12700">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774" name="Oval 250"/>
              <p:cNvSpPr>
                <a:spLocks noChangeArrowheads="1"/>
              </p:cNvSpPr>
              <p:nvPr/>
            </p:nvSpPr>
            <p:spPr bwMode="auto">
              <a:xfrm>
                <a:off x="379" y="276315"/>
                <a:ext cx="8" cy="8"/>
              </a:xfrm>
              <a:prstGeom prst="ellipse">
                <a:avLst/>
              </a:prstGeom>
              <a:gradFill rotWithShape="1">
                <a:gsLst>
                  <a:gs pos="0">
                    <a:srgbClr val="454545"/>
                  </a:gs>
                  <a:gs pos="100000">
                    <a:srgbClr val="969696"/>
                  </a:gs>
                </a:gsLst>
                <a:path path="shape">
                  <a:fillToRect l="50000" t="50000" r="50000" b="50000"/>
                </a:path>
              </a:gradFill>
              <a:ln w="12700">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775" name="Oval 251"/>
              <p:cNvSpPr>
                <a:spLocks noChangeArrowheads="1"/>
              </p:cNvSpPr>
              <p:nvPr/>
            </p:nvSpPr>
            <p:spPr bwMode="auto">
              <a:xfrm>
                <a:off x="354" y="276325"/>
                <a:ext cx="8" cy="8"/>
              </a:xfrm>
              <a:prstGeom prst="ellipse">
                <a:avLst/>
              </a:prstGeom>
              <a:gradFill rotWithShape="1">
                <a:gsLst>
                  <a:gs pos="0">
                    <a:srgbClr val="454545"/>
                  </a:gs>
                  <a:gs pos="100000">
                    <a:srgbClr val="969696"/>
                  </a:gs>
                </a:gsLst>
                <a:path path="shape">
                  <a:fillToRect l="50000" t="50000" r="50000" b="50000"/>
                </a:path>
              </a:gradFill>
              <a:ln w="12700">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776" name="Oval 252"/>
              <p:cNvSpPr>
                <a:spLocks noChangeArrowheads="1"/>
              </p:cNvSpPr>
              <p:nvPr/>
            </p:nvSpPr>
            <p:spPr bwMode="auto">
              <a:xfrm>
                <a:off x="68" y="276316"/>
                <a:ext cx="8" cy="8"/>
              </a:xfrm>
              <a:prstGeom prst="ellipse">
                <a:avLst/>
              </a:prstGeom>
              <a:gradFill rotWithShape="1">
                <a:gsLst>
                  <a:gs pos="0">
                    <a:srgbClr val="454545"/>
                  </a:gs>
                  <a:gs pos="100000">
                    <a:srgbClr val="969696"/>
                  </a:gs>
                </a:gsLst>
                <a:path path="shape">
                  <a:fillToRect l="50000" t="50000" r="50000" b="50000"/>
                </a:path>
              </a:gradFill>
              <a:ln w="12700">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777" name="Oval 253"/>
              <p:cNvSpPr>
                <a:spLocks noChangeArrowheads="1"/>
              </p:cNvSpPr>
              <p:nvPr/>
            </p:nvSpPr>
            <p:spPr bwMode="auto">
              <a:xfrm>
                <a:off x="68" y="276327"/>
                <a:ext cx="8" cy="8"/>
              </a:xfrm>
              <a:prstGeom prst="ellipse">
                <a:avLst/>
              </a:prstGeom>
              <a:gradFill rotWithShape="1">
                <a:gsLst>
                  <a:gs pos="0">
                    <a:srgbClr val="454545"/>
                  </a:gs>
                  <a:gs pos="100000">
                    <a:srgbClr val="969696"/>
                  </a:gs>
                </a:gsLst>
                <a:path path="shape">
                  <a:fillToRect l="50000" t="50000" r="50000" b="50000"/>
                </a:path>
              </a:gradFill>
              <a:ln w="12700">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778" name="Oval 254"/>
              <p:cNvSpPr>
                <a:spLocks noChangeArrowheads="1"/>
              </p:cNvSpPr>
              <p:nvPr/>
            </p:nvSpPr>
            <p:spPr bwMode="auto">
              <a:xfrm>
                <a:off x="30" y="276270"/>
                <a:ext cx="21" cy="21"/>
              </a:xfrm>
              <a:prstGeom prst="ellipse">
                <a:avLst/>
              </a:prstGeom>
              <a:gradFill rotWithShape="1">
                <a:gsLst>
                  <a:gs pos="0">
                    <a:srgbClr val="454545"/>
                  </a:gs>
                  <a:gs pos="100000">
                    <a:srgbClr val="969696"/>
                  </a:gs>
                </a:gsLst>
                <a:path path="shape">
                  <a:fillToRect l="50000" t="50000" r="50000" b="50000"/>
                </a:path>
              </a:gradFill>
              <a:ln w="12700">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779" name="Oval 255"/>
              <p:cNvSpPr>
                <a:spLocks noChangeArrowheads="1"/>
              </p:cNvSpPr>
              <p:nvPr/>
            </p:nvSpPr>
            <p:spPr bwMode="auto">
              <a:xfrm>
                <a:off x="335" y="276225"/>
                <a:ext cx="14" cy="15"/>
              </a:xfrm>
              <a:prstGeom prst="ellipse">
                <a:avLst/>
              </a:prstGeom>
              <a:gradFill rotWithShape="1">
                <a:gsLst>
                  <a:gs pos="0">
                    <a:srgbClr val="454545"/>
                  </a:gs>
                  <a:gs pos="100000">
                    <a:srgbClr val="969696"/>
                  </a:gs>
                </a:gsLst>
                <a:path path="shape">
                  <a:fillToRect l="50000" t="50000" r="50000" b="50000"/>
                </a:path>
              </a:gradFill>
              <a:ln w="12700">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780" name="Line 2855"/>
              <p:cNvSpPr>
                <a:spLocks noChangeShapeType="1"/>
              </p:cNvSpPr>
              <p:nvPr/>
            </p:nvSpPr>
            <p:spPr bwMode="auto">
              <a:xfrm flipH="1" flipV="1">
                <a:off x="34" y="276288"/>
                <a:ext cx="35" cy="3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7781" name="Line 2856"/>
              <p:cNvSpPr>
                <a:spLocks noChangeShapeType="1"/>
              </p:cNvSpPr>
              <p:nvPr/>
            </p:nvSpPr>
            <p:spPr bwMode="auto">
              <a:xfrm flipV="1">
                <a:off x="38" y="276225"/>
                <a:ext cx="302" cy="4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7782" name="Line 2857"/>
              <p:cNvSpPr>
                <a:spLocks noChangeShapeType="1"/>
              </p:cNvSpPr>
              <p:nvPr/>
            </p:nvSpPr>
            <p:spPr bwMode="auto">
              <a:xfrm>
                <a:off x="344" y="276225"/>
                <a:ext cx="63" cy="5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7783" name="Freeform 259"/>
              <p:cNvSpPr>
                <a:spLocks/>
              </p:cNvSpPr>
              <p:nvPr/>
            </p:nvSpPr>
            <p:spPr bwMode="auto">
              <a:xfrm>
                <a:off x="61" y="276325"/>
                <a:ext cx="291" cy="1"/>
              </a:xfrm>
              <a:custGeom>
                <a:avLst/>
                <a:gdLst>
                  <a:gd name="T0" fmla="*/ 0 w 291"/>
                  <a:gd name="T1" fmla="*/ 1 h 1"/>
                  <a:gd name="T2" fmla="*/ 285 w 291"/>
                  <a:gd name="T3" fmla="*/ 1 h 1"/>
                  <a:gd name="T4" fmla="*/ 291 w 291"/>
                  <a:gd name="T5" fmla="*/ 0 h 1"/>
                  <a:gd name="T6" fmla="*/ 0 60000 65536"/>
                  <a:gd name="T7" fmla="*/ 0 60000 65536"/>
                  <a:gd name="T8" fmla="*/ 0 60000 65536"/>
                  <a:gd name="T9" fmla="*/ 0 w 291"/>
                  <a:gd name="T10" fmla="*/ 0 h 1"/>
                  <a:gd name="T11" fmla="*/ 291 w 291"/>
                  <a:gd name="T12" fmla="*/ 1 h 1"/>
                </a:gdLst>
                <a:ahLst/>
                <a:cxnLst>
                  <a:cxn ang="T6">
                    <a:pos x="T0" y="T1"/>
                  </a:cxn>
                  <a:cxn ang="T7">
                    <a:pos x="T2" y="T3"/>
                  </a:cxn>
                  <a:cxn ang="T8">
                    <a:pos x="T4" y="T5"/>
                  </a:cxn>
                </a:cxnLst>
                <a:rect l="T9" t="T10" r="T11" b="T12"/>
                <a:pathLst>
                  <a:path w="291" h="1">
                    <a:moveTo>
                      <a:pt x="0" y="1"/>
                    </a:moveTo>
                    <a:lnTo>
                      <a:pt x="285" y="1"/>
                    </a:lnTo>
                    <a:lnTo>
                      <a:pt x="291" y="0"/>
                    </a:lnTo>
                  </a:path>
                </a:pathLst>
              </a:custGeom>
              <a:noFill/>
              <a:ln w="127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37784" name="Freeform 260"/>
              <p:cNvSpPr>
                <a:spLocks/>
              </p:cNvSpPr>
              <p:nvPr/>
            </p:nvSpPr>
            <p:spPr bwMode="auto">
              <a:xfrm>
                <a:off x="343" y="276302"/>
                <a:ext cx="67" cy="24"/>
              </a:xfrm>
              <a:custGeom>
                <a:avLst/>
                <a:gdLst>
                  <a:gd name="T0" fmla="*/ 0 w 67"/>
                  <a:gd name="T1" fmla="*/ 24 h 24"/>
                  <a:gd name="T2" fmla="*/ 9 w 67"/>
                  <a:gd name="T3" fmla="*/ 23 h 24"/>
                  <a:gd name="T4" fmla="*/ 60 w 67"/>
                  <a:gd name="T5" fmla="*/ 4 h 24"/>
                  <a:gd name="T6" fmla="*/ 67 w 67"/>
                  <a:gd name="T7" fmla="*/ 0 h 24"/>
                  <a:gd name="T8" fmla="*/ 0 60000 65536"/>
                  <a:gd name="T9" fmla="*/ 0 60000 65536"/>
                  <a:gd name="T10" fmla="*/ 0 60000 65536"/>
                  <a:gd name="T11" fmla="*/ 0 60000 65536"/>
                  <a:gd name="T12" fmla="*/ 0 w 67"/>
                  <a:gd name="T13" fmla="*/ 0 h 24"/>
                  <a:gd name="T14" fmla="*/ 67 w 67"/>
                  <a:gd name="T15" fmla="*/ 24 h 24"/>
                </a:gdLst>
                <a:ahLst/>
                <a:cxnLst>
                  <a:cxn ang="T8">
                    <a:pos x="T0" y="T1"/>
                  </a:cxn>
                  <a:cxn ang="T9">
                    <a:pos x="T2" y="T3"/>
                  </a:cxn>
                  <a:cxn ang="T10">
                    <a:pos x="T4" y="T5"/>
                  </a:cxn>
                  <a:cxn ang="T11">
                    <a:pos x="T6" y="T7"/>
                  </a:cxn>
                </a:cxnLst>
                <a:rect l="T12" t="T13" r="T14" b="T15"/>
                <a:pathLst>
                  <a:path w="67" h="24">
                    <a:moveTo>
                      <a:pt x="0" y="24"/>
                    </a:moveTo>
                    <a:lnTo>
                      <a:pt x="9" y="23"/>
                    </a:lnTo>
                    <a:lnTo>
                      <a:pt x="60" y="4"/>
                    </a:lnTo>
                    <a:lnTo>
                      <a:pt x="67" y="0"/>
                    </a:lnTo>
                  </a:path>
                </a:pathLst>
              </a:custGeom>
              <a:noFill/>
              <a:ln w="127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37785" name="Rectangle 261"/>
              <p:cNvSpPr>
                <a:spLocks noChangeArrowheads="1"/>
              </p:cNvSpPr>
              <p:nvPr/>
            </p:nvSpPr>
            <p:spPr bwMode="auto">
              <a:xfrm>
                <a:off x="68" y="276335"/>
                <a:ext cx="321" cy="16"/>
              </a:xfrm>
              <a:prstGeom prst="rect">
                <a:avLst/>
              </a:prstGeom>
              <a:gradFill rotWithShape="1">
                <a:gsLst>
                  <a:gs pos="0">
                    <a:srgbClr val="454545"/>
                  </a:gs>
                  <a:gs pos="50000">
                    <a:srgbClr val="969696"/>
                  </a:gs>
                  <a:gs pos="100000">
                    <a:srgbClr val="454545"/>
                  </a:gs>
                </a:gsLst>
                <a:lin ang="0" scaled="1"/>
              </a:gradFill>
              <a:ln w="12700">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786" name="Freeform 262"/>
              <p:cNvSpPr>
                <a:spLocks/>
              </p:cNvSpPr>
              <p:nvPr/>
            </p:nvSpPr>
            <p:spPr bwMode="auto">
              <a:xfrm>
                <a:off x="352" y="276321"/>
                <a:ext cx="37" cy="14"/>
              </a:xfrm>
              <a:custGeom>
                <a:avLst/>
                <a:gdLst>
                  <a:gd name="T0" fmla="*/ 0 w 37"/>
                  <a:gd name="T1" fmla="*/ 14 h 14"/>
                  <a:gd name="T2" fmla="*/ 37 w 37"/>
                  <a:gd name="T3" fmla="*/ 0 h 14"/>
                  <a:gd name="T4" fmla="*/ 37 w 37"/>
                  <a:gd name="T5" fmla="*/ 14 h 14"/>
                  <a:gd name="T6" fmla="*/ 0 w 37"/>
                  <a:gd name="T7" fmla="*/ 14 h 14"/>
                  <a:gd name="T8" fmla="*/ 0 60000 65536"/>
                  <a:gd name="T9" fmla="*/ 0 60000 65536"/>
                  <a:gd name="T10" fmla="*/ 0 60000 65536"/>
                  <a:gd name="T11" fmla="*/ 0 60000 65536"/>
                  <a:gd name="T12" fmla="*/ 0 w 37"/>
                  <a:gd name="T13" fmla="*/ 0 h 14"/>
                  <a:gd name="T14" fmla="*/ 37 w 37"/>
                  <a:gd name="T15" fmla="*/ 14 h 14"/>
                </a:gdLst>
                <a:ahLst/>
                <a:cxnLst>
                  <a:cxn ang="T8">
                    <a:pos x="T0" y="T1"/>
                  </a:cxn>
                  <a:cxn ang="T9">
                    <a:pos x="T2" y="T3"/>
                  </a:cxn>
                  <a:cxn ang="T10">
                    <a:pos x="T4" y="T5"/>
                  </a:cxn>
                  <a:cxn ang="T11">
                    <a:pos x="T6" y="T7"/>
                  </a:cxn>
                </a:cxnLst>
                <a:rect l="T12" t="T13" r="T14" b="T15"/>
                <a:pathLst>
                  <a:path w="37" h="14">
                    <a:moveTo>
                      <a:pt x="0" y="14"/>
                    </a:moveTo>
                    <a:lnTo>
                      <a:pt x="37" y="0"/>
                    </a:lnTo>
                    <a:lnTo>
                      <a:pt x="37" y="14"/>
                    </a:lnTo>
                    <a:lnTo>
                      <a:pt x="0" y="14"/>
                    </a:lnTo>
                    <a:close/>
                  </a:path>
                </a:pathLst>
              </a:custGeom>
              <a:gradFill rotWithShape="1">
                <a:gsLst>
                  <a:gs pos="0">
                    <a:srgbClr val="969696"/>
                  </a:gs>
                  <a:gs pos="50000">
                    <a:srgbClr val="454545"/>
                  </a:gs>
                  <a:gs pos="100000">
                    <a:srgbClr val="969696"/>
                  </a:gs>
                </a:gsLst>
                <a:lin ang="2700000" scaled="1"/>
              </a:gradFill>
              <a:ln w="12700">
                <a:solidFill>
                  <a:srgbClr val="000000"/>
                </a:solidFill>
                <a:round/>
                <a:headEnd/>
                <a:tailEnd/>
              </a:ln>
            </p:spPr>
            <p:txBody>
              <a:bodyPr/>
              <a:lstStyle/>
              <a:p>
                <a:endParaRPr lang="en-US"/>
              </a:p>
            </p:txBody>
          </p:sp>
          <p:sp>
            <p:nvSpPr>
              <p:cNvPr id="237787" name="Freeform 263"/>
              <p:cNvSpPr>
                <a:spLocks/>
              </p:cNvSpPr>
              <p:nvPr/>
            </p:nvSpPr>
            <p:spPr bwMode="auto">
              <a:xfrm>
                <a:off x="407" y="276300"/>
                <a:ext cx="26" cy="9"/>
              </a:xfrm>
              <a:custGeom>
                <a:avLst/>
                <a:gdLst>
                  <a:gd name="T0" fmla="*/ 0 w 26"/>
                  <a:gd name="T1" fmla="*/ 3 h 9"/>
                  <a:gd name="T2" fmla="*/ 10 w 26"/>
                  <a:gd name="T3" fmla="*/ 0 h 9"/>
                  <a:gd name="T4" fmla="*/ 19 w 26"/>
                  <a:gd name="T5" fmla="*/ 2 h 9"/>
                  <a:gd name="T6" fmla="*/ 26 w 26"/>
                  <a:gd name="T7" fmla="*/ 9 h 9"/>
                  <a:gd name="T8" fmla="*/ 0 60000 65536"/>
                  <a:gd name="T9" fmla="*/ 0 60000 65536"/>
                  <a:gd name="T10" fmla="*/ 0 60000 65536"/>
                  <a:gd name="T11" fmla="*/ 0 60000 65536"/>
                  <a:gd name="T12" fmla="*/ 0 w 26"/>
                  <a:gd name="T13" fmla="*/ 0 h 9"/>
                  <a:gd name="T14" fmla="*/ 26 w 26"/>
                  <a:gd name="T15" fmla="*/ 9 h 9"/>
                </a:gdLst>
                <a:ahLst/>
                <a:cxnLst>
                  <a:cxn ang="T8">
                    <a:pos x="T0" y="T1"/>
                  </a:cxn>
                  <a:cxn ang="T9">
                    <a:pos x="T2" y="T3"/>
                  </a:cxn>
                  <a:cxn ang="T10">
                    <a:pos x="T4" y="T5"/>
                  </a:cxn>
                  <a:cxn ang="T11">
                    <a:pos x="T6" y="T7"/>
                  </a:cxn>
                </a:cxnLst>
                <a:rect l="T12" t="T13" r="T14" b="T15"/>
                <a:pathLst>
                  <a:path w="26" h="9">
                    <a:moveTo>
                      <a:pt x="0" y="3"/>
                    </a:moveTo>
                    <a:cubicBezTo>
                      <a:pt x="2" y="2"/>
                      <a:pt x="7" y="0"/>
                      <a:pt x="10" y="0"/>
                    </a:cubicBezTo>
                    <a:cubicBezTo>
                      <a:pt x="13" y="0"/>
                      <a:pt x="16" y="0"/>
                      <a:pt x="19" y="2"/>
                    </a:cubicBezTo>
                    <a:cubicBezTo>
                      <a:pt x="22" y="4"/>
                      <a:pt x="25" y="8"/>
                      <a:pt x="26" y="9"/>
                    </a:cubicBezTo>
                  </a:path>
                </a:pathLst>
              </a:custGeom>
              <a:noFill/>
              <a:ln w="127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37788" name="Rectangle 264"/>
              <p:cNvSpPr>
                <a:spLocks noChangeArrowheads="1"/>
              </p:cNvSpPr>
              <p:nvPr/>
            </p:nvSpPr>
            <p:spPr bwMode="auto">
              <a:xfrm>
                <a:off x="211" y="276351"/>
                <a:ext cx="14" cy="48"/>
              </a:xfrm>
              <a:prstGeom prst="rect">
                <a:avLst/>
              </a:prstGeom>
              <a:gradFill rotWithShape="1">
                <a:gsLst>
                  <a:gs pos="0">
                    <a:srgbClr val="454545"/>
                  </a:gs>
                  <a:gs pos="50000">
                    <a:srgbClr val="969696"/>
                  </a:gs>
                  <a:gs pos="100000">
                    <a:srgbClr val="454545"/>
                  </a:gs>
                </a:gsLst>
                <a:lin ang="0" scaled="1"/>
              </a:gradFill>
              <a:ln w="12700">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789" name="Rectangle 265"/>
              <p:cNvSpPr>
                <a:spLocks noChangeArrowheads="1"/>
              </p:cNvSpPr>
              <p:nvPr/>
            </p:nvSpPr>
            <p:spPr bwMode="auto">
              <a:xfrm>
                <a:off x="206" y="276398"/>
                <a:ext cx="25" cy="7"/>
              </a:xfrm>
              <a:prstGeom prst="rect">
                <a:avLst/>
              </a:prstGeom>
              <a:gradFill rotWithShape="1">
                <a:gsLst>
                  <a:gs pos="0">
                    <a:srgbClr val="454545"/>
                  </a:gs>
                  <a:gs pos="50000">
                    <a:srgbClr val="969696"/>
                  </a:gs>
                  <a:gs pos="100000">
                    <a:srgbClr val="454545"/>
                  </a:gs>
                </a:gsLst>
                <a:lin ang="0" scaled="1"/>
              </a:gradFill>
              <a:ln w="12700">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790" name="Oval 266"/>
              <p:cNvSpPr>
                <a:spLocks noChangeArrowheads="1"/>
              </p:cNvSpPr>
              <p:nvPr/>
            </p:nvSpPr>
            <p:spPr bwMode="auto">
              <a:xfrm>
                <a:off x="351" y="276364"/>
                <a:ext cx="14" cy="15"/>
              </a:xfrm>
              <a:prstGeom prst="ellipse">
                <a:avLst/>
              </a:prstGeom>
              <a:gradFill rotWithShape="1">
                <a:gsLst>
                  <a:gs pos="0">
                    <a:srgbClr val="454545"/>
                  </a:gs>
                  <a:gs pos="100000">
                    <a:srgbClr val="969696"/>
                  </a:gs>
                </a:gsLst>
                <a:path path="shape">
                  <a:fillToRect l="50000" t="50000" r="50000" b="50000"/>
                </a:path>
              </a:gradFill>
              <a:ln w="12700">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791" name="Line 2866"/>
              <p:cNvSpPr>
                <a:spLocks noChangeShapeType="1"/>
              </p:cNvSpPr>
              <p:nvPr/>
            </p:nvSpPr>
            <p:spPr bwMode="auto">
              <a:xfrm flipH="1">
                <a:off x="360" y="276327"/>
                <a:ext cx="67" cy="5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7792" name="Oval 268"/>
              <p:cNvSpPr>
                <a:spLocks noChangeArrowheads="1"/>
              </p:cNvSpPr>
              <p:nvPr/>
            </p:nvSpPr>
            <p:spPr bwMode="auto">
              <a:xfrm>
                <a:off x="35" y="276353"/>
                <a:ext cx="21" cy="21"/>
              </a:xfrm>
              <a:prstGeom prst="ellipse">
                <a:avLst/>
              </a:prstGeom>
              <a:gradFill rotWithShape="1">
                <a:gsLst>
                  <a:gs pos="0">
                    <a:srgbClr val="454545"/>
                  </a:gs>
                  <a:gs pos="100000">
                    <a:srgbClr val="969696"/>
                  </a:gs>
                </a:gsLst>
                <a:path path="shape">
                  <a:fillToRect l="50000" t="50000" r="50000" b="50000"/>
                </a:path>
              </a:gradFill>
              <a:ln w="12700">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793" name="Line 2868"/>
              <p:cNvSpPr>
                <a:spLocks noChangeShapeType="1"/>
              </p:cNvSpPr>
              <p:nvPr/>
            </p:nvSpPr>
            <p:spPr bwMode="auto">
              <a:xfrm flipH="1" flipV="1">
                <a:off x="46" y="276374"/>
                <a:ext cx="312" cy="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7794" name="Line 2869"/>
              <p:cNvSpPr>
                <a:spLocks noChangeShapeType="1"/>
              </p:cNvSpPr>
              <p:nvPr/>
            </p:nvSpPr>
            <p:spPr bwMode="auto">
              <a:xfrm flipV="1">
                <a:off x="37" y="276327"/>
                <a:ext cx="33" cy="3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7795" name="Freeform 271"/>
              <p:cNvSpPr>
                <a:spLocks/>
              </p:cNvSpPr>
              <p:nvPr/>
            </p:nvSpPr>
            <p:spPr bwMode="auto">
              <a:xfrm>
                <a:off x="3" y="276318"/>
                <a:ext cx="61" cy="6"/>
              </a:xfrm>
              <a:custGeom>
                <a:avLst/>
                <a:gdLst>
                  <a:gd name="T0" fmla="*/ 0 w 67"/>
                  <a:gd name="T1" fmla="*/ 4 h 6"/>
                  <a:gd name="T2" fmla="*/ 11 w 67"/>
                  <a:gd name="T3" fmla="*/ 6 h 6"/>
                  <a:gd name="T4" fmla="*/ 9 w 67"/>
                  <a:gd name="T5" fmla="*/ 3 h 6"/>
                  <a:gd name="T6" fmla="*/ 5 w 67"/>
                  <a:gd name="T7" fmla="*/ 0 h 6"/>
                  <a:gd name="T8" fmla="*/ 0 w 67"/>
                  <a:gd name="T9" fmla="*/ 4 h 6"/>
                  <a:gd name="T10" fmla="*/ 0 60000 65536"/>
                  <a:gd name="T11" fmla="*/ 0 60000 65536"/>
                  <a:gd name="T12" fmla="*/ 0 60000 65536"/>
                  <a:gd name="T13" fmla="*/ 0 60000 65536"/>
                  <a:gd name="T14" fmla="*/ 0 60000 65536"/>
                  <a:gd name="T15" fmla="*/ 0 w 67"/>
                  <a:gd name="T16" fmla="*/ 0 h 6"/>
                  <a:gd name="T17" fmla="*/ 67 w 67"/>
                  <a:gd name="T18" fmla="*/ 6 h 6"/>
                </a:gdLst>
                <a:ahLst/>
                <a:cxnLst>
                  <a:cxn ang="T10">
                    <a:pos x="T0" y="T1"/>
                  </a:cxn>
                  <a:cxn ang="T11">
                    <a:pos x="T2" y="T3"/>
                  </a:cxn>
                  <a:cxn ang="T12">
                    <a:pos x="T4" y="T5"/>
                  </a:cxn>
                  <a:cxn ang="T13">
                    <a:pos x="T6" y="T7"/>
                  </a:cxn>
                  <a:cxn ang="T14">
                    <a:pos x="T8" y="T9"/>
                  </a:cxn>
                </a:cxnLst>
                <a:rect l="T15" t="T16" r="T17" b="T18"/>
                <a:pathLst>
                  <a:path w="67" h="6">
                    <a:moveTo>
                      <a:pt x="0" y="4"/>
                    </a:moveTo>
                    <a:lnTo>
                      <a:pt x="67" y="6"/>
                    </a:lnTo>
                    <a:lnTo>
                      <a:pt x="59" y="3"/>
                    </a:lnTo>
                    <a:lnTo>
                      <a:pt x="6" y="0"/>
                    </a:lnTo>
                    <a:lnTo>
                      <a:pt x="0" y="4"/>
                    </a:lnTo>
                    <a:close/>
                  </a:path>
                </a:pathLst>
              </a:custGeom>
              <a:gradFill rotWithShape="1">
                <a:gsLst>
                  <a:gs pos="0">
                    <a:srgbClr val="C0C0C0"/>
                  </a:gs>
                  <a:gs pos="50000">
                    <a:srgbClr val="595959"/>
                  </a:gs>
                  <a:gs pos="100000">
                    <a:srgbClr val="C0C0C0"/>
                  </a:gs>
                </a:gsLst>
                <a:lin ang="5400000" scaled="1"/>
              </a:gradFill>
              <a:ln w="12700">
                <a:solidFill>
                  <a:srgbClr val="000000"/>
                </a:solidFill>
                <a:round/>
                <a:headEnd/>
                <a:tailEnd/>
              </a:ln>
            </p:spPr>
            <p:txBody>
              <a:bodyPr/>
              <a:lstStyle/>
              <a:p>
                <a:endParaRPr lang="en-US"/>
              </a:p>
            </p:txBody>
          </p:sp>
          <p:sp>
            <p:nvSpPr>
              <p:cNvPr id="237796" name="Rectangle 272"/>
              <p:cNvSpPr>
                <a:spLocks noChangeArrowheads="1"/>
              </p:cNvSpPr>
              <p:nvPr/>
            </p:nvSpPr>
            <p:spPr bwMode="auto">
              <a:xfrm>
                <a:off x="3" y="276335"/>
                <a:ext cx="10" cy="10"/>
              </a:xfrm>
              <a:prstGeom prst="rect">
                <a:avLst/>
              </a:prstGeom>
              <a:gradFill rotWithShape="1">
                <a:gsLst>
                  <a:gs pos="0">
                    <a:srgbClr val="C0C0C0"/>
                  </a:gs>
                  <a:gs pos="50000">
                    <a:srgbClr val="595959"/>
                  </a:gs>
                  <a:gs pos="100000">
                    <a:srgbClr val="C0C0C0"/>
                  </a:gs>
                </a:gsLst>
                <a:lin ang="5400000" scaled="1"/>
              </a:gradFill>
              <a:ln w="12700">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797" name="Freeform 273"/>
              <p:cNvSpPr>
                <a:spLocks/>
              </p:cNvSpPr>
              <p:nvPr/>
            </p:nvSpPr>
            <p:spPr bwMode="auto">
              <a:xfrm>
                <a:off x="3" y="276328"/>
                <a:ext cx="61" cy="10"/>
              </a:xfrm>
              <a:custGeom>
                <a:avLst/>
                <a:gdLst>
                  <a:gd name="T0" fmla="*/ 0 w 61"/>
                  <a:gd name="T1" fmla="*/ 7 h 10"/>
                  <a:gd name="T2" fmla="*/ 51 w 61"/>
                  <a:gd name="T3" fmla="*/ 0 h 10"/>
                  <a:gd name="T4" fmla="*/ 61 w 61"/>
                  <a:gd name="T5" fmla="*/ 0 h 10"/>
                  <a:gd name="T6" fmla="*/ 10 w 61"/>
                  <a:gd name="T7" fmla="*/ 10 h 10"/>
                  <a:gd name="T8" fmla="*/ 0 60000 65536"/>
                  <a:gd name="T9" fmla="*/ 0 60000 65536"/>
                  <a:gd name="T10" fmla="*/ 0 60000 65536"/>
                  <a:gd name="T11" fmla="*/ 0 60000 65536"/>
                  <a:gd name="T12" fmla="*/ 0 w 61"/>
                  <a:gd name="T13" fmla="*/ 0 h 10"/>
                  <a:gd name="T14" fmla="*/ 61 w 61"/>
                  <a:gd name="T15" fmla="*/ 10 h 10"/>
                </a:gdLst>
                <a:ahLst/>
                <a:cxnLst>
                  <a:cxn ang="T8">
                    <a:pos x="T0" y="T1"/>
                  </a:cxn>
                  <a:cxn ang="T9">
                    <a:pos x="T2" y="T3"/>
                  </a:cxn>
                  <a:cxn ang="T10">
                    <a:pos x="T4" y="T5"/>
                  </a:cxn>
                  <a:cxn ang="T11">
                    <a:pos x="T6" y="T7"/>
                  </a:cxn>
                </a:cxnLst>
                <a:rect l="T12" t="T13" r="T14" b="T15"/>
                <a:pathLst>
                  <a:path w="61" h="10">
                    <a:moveTo>
                      <a:pt x="0" y="7"/>
                    </a:moveTo>
                    <a:lnTo>
                      <a:pt x="51" y="0"/>
                    </a:lnTo>
                    <a:lnTo>
                      <a:pt x="61" y="0"/>
                    </a:lnTo>
                    <a:lnTo>
                      <a:pt x="10" y="10"/>
                    </a:lnTo>
                  </a:path>
                </a:pathLst>
              </a:custGeom>
              <a:gradFill rotWithShape="1">
                <a:gsLst>
                  <a:gs pos="0">
                    <a:srgbClr val="C0C0C0"/>
                  </a:gs>
                  <a:gs pos="50000">
                    <a:srgbClr val="595959"/>
                  </a:gs>
                  <a:gs pos="100000">
                    <a:srgbClr val="C0C0C0"/>
                  </a:gs>
                </a:gsLst>
                <a:lin ang="5400000" scaled="1"/>
              </a:gradFill>
              <a:ln w="12700">
                <a:solidFill>
                  <a:srgbClr val="000000"/>
                </a:solidFill>
                <a:round/>
                <a:headEnd/>
                <a:tailEnd/>
              </a:ln>
            </p:spPr>
            <p:txBody>
              <a:bodyPr/>
              <a:lstStyle/>
              <a:p>
                <a:endParaRPr lang="en-US"/>
              </a:p>
            </p:txBody>
          </p:sp>
          <p:sp>
            <p:nvSpPr>
              <p:cNvPr id="237798" name="Line 2873"/>
              <p:cNvSpPr>
                <a:spLocks noChangeShapeType="1"/>
              </p:cNvSpPr>
              <p:nvPr/>
            </p:nvSpPr>
            <p:spPr bwMode="auto">
              <a:xfrm>
                <a:off x="3" y="276322"/>
                <a:ext cx="0" cy="1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7799" name="Rectangle 275"/>
              <p:cNvSpPr>
                <a:spLocks noChangeArrowheads="1"/>
              </p:cNvSpPr>
              <p:nvPr/>
            </p:nvSpPr>
            <p:spPr bwMode="auto">
              <a:xfrm>
                <a:off x="0" y="276345"/>
                <a:ext cx="15" cy="3"/>
              </a:xfrm>
              <a:prstGeom prst="rect">
                <a:avLst/>
              </a:prstGeom>
              <a:gradFill rotWithShape="1">
                <a:gsLst>
                  <a:gs pos="0">
                    <a:srgbClr val="C0C0C0"/>
                  </a:gs>
                  <a:gs pos="50000">
                    <a:srgbClr val="595959"/>
                  </a:gs>
                  <a:gs pos="100000">
                    <a:srgbClr val="C0C0C0"/>
                  </a:gs>
                </a:gsLst>
                <a:lin ang="5400000" scaled="1"/>
              </a:gradFill>
              <a:ln w="12700">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800" name="Rectangle 276"/>
              <p:cNvSpPr>
                <a:spLocks noChangeArrowheads="1"/>
              </p:cNvSpPr>
              <p:nvPr/>
            </p:nvSpPr>
            <p:spPr bwMode="auto">
              <a:xfrm>
                <a:off x="18" y="276323"/>
                <a:ext cx="14" cy="75"/>
              </a:xfrm>
              <a:prstGeom prst="rect">
                <a:avLst/>
              </a:prstGeom>
              <a:gradFill rotWithShape="1">
                <a:gsLst>
                  <a:gs pos="0">
                    <a:srgbClr val="454545"/>
                  </a:gs>
                  <a:gs pos="50000">
                    <a:srgbClr val="969696"/>
                  </a:gs>
                  <a:gs pos="100000">
                    <a:srgbClr val="454545"/>
                  </a:gs>
                </a:gsLst>
                <a:lin ang="0" scaled="1"/>
              </a:gradFill>
              <a:ln w="12700">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801" name="Rectangle 277"/>
              <p:cNvSpPr>
                <a:spLocks noChangeArrowheads="1"/>
              </p:cNvSpPr>
              <p:nvPr/>
            </p:nvSpPr>
            <p:spPr bwMode="auto">
              <a:xfrm>
                <a:off x="13" y="276398"/>
                <a:ext cx="25" cy="7"/>
              </a:xfrm>
              <a:prstGeom prst="rect">
                <a:avLst/>
              </a:prstGeom>
              <a:gradFill rotWithShape="1">
                <a:gsLst>
                  <a:gs pos="0">
                    <a:srgbClr val="454545"/>
                  </a:gs>
                  <a:gs pos="50000">
                    <a:srgbClr val="969696"/>
                  </a:gs>
                  <a:gs pos="100000">
                    <a:srgbClr val="454545"/>
                  </a:gs>
                </a:gsLst>
                <a:lin ang="0" scaled="1"/>
              </a:gradFill>
              <a:ln w="12700">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grpSp>
        <p:grpSp>
          <p:nvGrpSpPr>
            <p:cNvPr id="237626" name="Group 283"/>
            <p:cNvGrpSpPr>
              <a:grpSpLocks/>
            </p:cNvGrpSpPr>
            <p:nvPr/>
          </p:nvGrpSpPr>
          <p:grpSpPr bwMode="auto">
            <a:xfrm>
              <a:off x="7847124" y="5046780"/>
              <a:ext cx="329620" cy="367561"/>
              <a:chOff x="4606925" y="0"/>
              <a:chExt cx="238" cy="208"/>
            </a:xfrm>
          </p:grpSpPr>
          <p:sp>
            <p:nvSpPr>
              <p:cNvPr id="237736" name="Freeform 279"/>
              <p:cNvSpPr>
                <a:spLocks/>
              </p:cNvSpPr>
              <p:nvPr/>
            </p:nvSpPr>
            <p:spPr bwMode="auto">
              <a:xfrm>
                <a:off x="4606925" y="109"/>
                <a:ext cx="135" cy="31"/>
              </a:xfrm>
              <a:custGeom>
                <a:avLst/>
                <a:gdLst>
                  <a:gd name="T0" fmla="*/ 0 w 135"/>
                  <a:gd name="T1" fmla="*/ 0 h 31"/>
                  <a:gd name="T2" fmla="*/ 20 w 135"/>
                  <a:gd name="T3" fmla="*/ 20 h 31"/>
                  <a:gd name="T4" fmla="*/ 28 w 135"/>
                  <a:gd name="T5" fmla="*/ 25 h 31"/>
                  <a:gd name="T6" fmla="*/ 42 w 135"/>
                  <a:gd name="T7" fmla="*/ 29 h 31"/>
                  <a:gd name="T8" fmla="*/ 90 w 135"/>
                  <a:gd name="T9" fmla="*/ 31 h 31"/>
                  <a:gd name="T10" fmla="*/ 100 w 135"/>
                  <a:gd name="T11" fmla="*/ 28 h 31"/>
                  <a:gd name="T12" fmla="*/ 135 w 135"/>
                  <a:gd name="T13" fmla="*/ 7 h 31"/>
                  <a:gd name="T14" fmla="*/ 0 60000 65536"/>
                  <a:gd name="T15" fmla="*/ 0 60000 65536"/>
                  <a:gd name="T16" fmla="*/ 0 60000 65536"/>
                  <a:gd name="T17" fmla="*/ 0 60000 65536"/>
                  <a:gd name="T18" fmla="*/ 0 60000 65536"/>
                  <a:gd name="T19" fmla="*/ 0 60000 65536"/>
                  <a:gd name="T20" fmla="*/ 0 60000 65536"/>
                  <a:gd name="T21" fmla="*/ 0 w 135"/>
                  <a:gd name="T22" fmla="*/ 0 h 31"/>
                  <a:gd name="T23" fmla="*/ 135 w 135"/>
                  <a:gd name="T24" fmla="*/ 31 h 3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5" h="31">
                    <a:moveTo>
                      <a:pt x="0" y="0"/>
                    </a:moveTo>
                    <a:lnTo>
                      <a:pt x="20" y="20"/>
                    </a:lnTo>
                    <a:lnTo>
                      <a:pt x="28" y="25"/>
                    </a:lnTo>
                    <a:lnTo>
                      <a:pt x="42" y="29"/>
                    </a:lnTo>
                    <a:lnTo>
                      <a:pt x="90" y="31"/>
                    </a:lnTo>
                    <a:lnTo>
                      <a:pt x="100" y="28"/>
                    </a:lnTo>
                    <a:lnTo>
                      <a:pt x="135" y="7"/>
                    </a:lnTo>
                  </a:path>
                </a:pathLst>
              </a:custGeom>
              <a:noFill/>
              <a:ln w="127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237737" name="Group 345"/>
              <p:cNvGrpSpPr>
                <a:grpSpLocks/>
              </p:cNvGrpSpPr>
              <p:nvPr/>
            </p:nvGrpSpPr>
            <p:grpSpPr bwMode="auto">
              <a:xfrm>
                <a:off x="4606954" y="0"/>
                <a:ext cx="209" cy="208"/>
                <a:chOff x="4606954" y="0"/>
                <a:chExt cx="209" cy="208"/>
              </a:xfrm>
            </p:grpSpPr>
            <p:sp>
              <p:nvSpPr>
                <p:cNvPr id="237738" name="Rectangle 281"/>
                <p:cNvSpPr>
                  <a:spLocks noChangeArrowheads="1"/>
                </p:cNvSpPr>
                <p:nvPr/>
              </p:nvSpPr>
              <p:spPr bwMode="auto">
                <a:xfrm>
                  <a:off x="4606991" y="18"/>
                  <a:ext cx="125" cy="11"/>
                </a:xfrm>
                <a:prstGeom prst="rect">
                  <a:avLst/>
                </a:prstGeom>
                <a:gradFill rotWithShape="1">
                  <a:gsLst>
                    <a:gs pos="0">
                      <a:srgbClr val="595959"/>
                    </a:gs>
                    <a:gs pos="50000">
                      <a:srgbClr val="C0C0C0"/>
                    </a:gs>
                    <a:gs pos="100000">
                      <a:srgbClr val="595959"/>
                    </a:gs>
                  </a:gsLst>
                  <a:lin ang="5400000" scaled="1"/>
                </a:gradFill>
                <a:ln w="12700">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739" name="Rectangle 282"/>
                <p:cNvSpPr>
                  <a:spLocks noChangeArrowheads="1"/>
                </p:cNvSpPr>
                <p:nvPr/>
              </p:nvSpPr>
              <p:spPr bwMode="auto">
                <a:xfrm>
                  <a:off x="4607101" y="29"/>
                  <a:ext cx="15" cy="172"/>
                </a:xfrm>
                <a:prstGeom prst="rect">
                  <a:avLst/>
                </a:prstGeom>
                <a:gradFill rotWithShape="1">
                  <a:gsLst>
                    <a:gs pos="0">
                      <a:srgbClr val="595959"/>
                    </a:gs>
                    <a:gs pos="50000">
                      <a:srgbClr val="C0C0C0"/>
                    </a:gs>
                    <a:gs pos="100000">
                      <a:srgbClr val="595959"/>
                    </a:gs>
                  </a:gsLst>
                  <a:lin ang="0" scaled="1"/>
                </a:gradFill>
                <a:ln w="12700">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740" name="Rectangle 283"/>
                <p:cNvSpPr>
                  <a:spLocks noChangeArrowheads="1"/>
                </p:cNvSpPr>
                <p:nvPr/>
              </p:nvSpPr>
              <p:spPr bwMode="auto">
                <a:xfrm>
                  <a:off x="4606991" y="29"/>
                  <a:ext cx="15" cy="172"/>
                </a:xfrm>
                <a:prstGeom prst="rect">
                  <a:avLst/>
                </a:prstGeom>
                <a:gradFill rotWithShape="1">
                  <a:gsLst>
                    <a:gs pos="0">
                      <a:srgbClr val="595959"/>
                    </a:gs>
                    <a:gs pos="50000">
                      <a:srgbClr val="C0C0C0"/>
                    </a:gs>
                    <a:gs pos="100000">
                      <a:srgbClr val="595959"/>
                    </a:gs>
                  </a:gsLst>
                  <a:lin ang="0" scaled="1"/>
                </a:gradFill>
                <a:ln w="12700">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741" name="Oval 284"/>
                <p:cNvSpPr>
                  <a:spLocks noChangeArrowheads="1"/>
                </p:cNvSpPr>
                <p:nvPr/>
              </p:nvSpPr>
              <p:spPr bwMode="auto">
                <a:xfrm>
                  <a:off x="4607038" y="88"/>
                  <a:ext cx="29" cy="28"/>
                </a:xfrm>
                <a:prstGeom prst="ellipse">
                  <a:avLst/>
                </a:prstGeom>
                <a:gradFill rotWithShape="1">
                  <a:gsLst>
                    <a:gs pos="0">
                      <a:srgbClr val="808080"/>
                    </a:gs>
                    <a:gs pos="100000">
                      <a:srgbClr val="C0C0C0"/>
                    </a:gs>
                  </a:gsLst>
                  <a:path path="shape">
                    <a:fillToRect l="50000" t="50000" r="50000" b="50000"/>
                  </a:path>
                </a:gradFill>
                <a:ln w="12700">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742" name="Oval 285"/>
                <p:cNvSpPr>
                  <a:spLocks noChangeArrowheads="1"/>
                </p:cNvSpPr>
                <p:nvPr/>
              </p:nvSpPr>
              <p:spPr bwMode="auto">
                <a:xfrm>
                  <a:off x="4607053" y="116"/>
                  <a:ext cx="29" cy="28"/>
                </a:xfrm>
                <a:prstGeom prst="ellipse">
                  <a:avLst/>
                </a:prstGeom>
                <a:gradFill rotWithShape="1">
                  <a:gsLst>
                    <a:gs pos="0">
                      <a:srgbClr val="808080"/>
                    </a:gs>
                    <a:gs pos="100000">
                      <a:srgbClr val="C0C0C0"/>
                    </a:gs>
                  </a:gsLst>
                  <a:path path="shape">
                    <a:fillToRect l="50000" t="50000" r="50000" b="50000"/>
                  </a:path>
                </a:gradFill>
                <a:ln w="12700">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743" name="Oval 286"/>
                <p:cNvSpPr>
                  <a:spLocks noChangeArrowheads="1"/>
                </p:cNvSpPr>
                <p:nvPr/>
              </p:nvSpPr>
              <p:spPr bwMode="auto">
                <a:xfrm>
                  <a:off x="4607011" y="122"/>
                  <a:ext cx="8" cy="8"/>
                </a:xfrm>
                <a:prstGeom prst="ellipse">
                  <a:avLst/>
                </a:prstGeom>
                <a:gradFill rotWithShape="1">
                  <a:gsLst>
                    <a:gs pos="0">
                      <a:srgbClr val="762F00"/>
                    </a:gs>
                    <a:gs pos="100000">
                      <a:srgbClr val="FF6600"/>
                    </a:gs>
                  </a:gsLst>
                  <a:path path="shape">
                    <a:fillToRect l="50000" t="50000" r="50000" b="50000"/>
                  </a:path>
                </a:gradFill>
                <a:ln w="12700">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744" name="Oval 287"/>
                <p:cNvSpPr>
                  <a:spLocks noChangeArrowheads="1"/>
                </p:cNvSpPr>
                <p:nvPr/>
              </p:nvSpPr>
              <p:spPr bwMode="auto">
                <a:xfrm>
                  <a:off x="4607015" y="129"/>
                  <a:ext cx="8" cy="8"/>
                </a:xfrm>
                <a:prstGeom prst="ellipse">
                  <a:avLst/>
                </a:prstGeom>
                <a:gradFill rotWithShape="1">
                  <a:gsLst>
                    <a:gs pos="0">
                      <a:srgbClr val="000076"/>
                    </a:gs>
                    <a:gs pos="100000">
                      <a:srgbClr val="0000FF"/>
                    </a:gs>
                  </a:gsLst>
                  <a:path path="shape">
                    <a:fillToRect l="50000" t="50000" r="50000" b="50000"/>
                  </a:path>
                </a:gradFill>
                <a:ln w="12700">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745" name="Oval 288"/>
                <p:cNvSpPr>
                  <a:spLocks noChangeArrowheads="1"/>
                </p:cNvSpPr>
                <p:nvPr/>
              </p:nvSpPr>
              <p:spPr bwMode="auto">
                <a:xfrm>
                  <a:off x="4607071" y="83"/>
                  <a:ext cx="8" cy="8"/>
                </a:xfrm>
                <a:prstGeom prst="ellipse">
                  <a:avLst/>
                </a:prstGeom>
                <a:gradFill rotWithShape="1">
                  <a:gsLst>
                    <a:gs pos="0">
                      <a:srgbClr val="762F00"/>
                    </a:gs>
                    <a:gs pos="100000">
                      <a:srgbClr val="FF6600"/>
                    </a:gs>
                  </a:gsLst>
                  <a:path path="shape">
                    <a:fillToRect l="50000" t="50000" r="50000" b="50000"/>
                  </a:path>
                </a:gradFill>
                <a:ln w="12700">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746" name="Oval 289"/>
                <p:cNvSpPr>
                  <a:spLocks noChangeArrowheads="1"/>
                </p:cNvSpPr>
                <p:nvPr/>
              </p:nvSpPr>
              <p:spPr bwMode="auto">
                <a:xfrm>
                  <a:off x="4607155" y="51"/>
                  <a:ext cx="8" cy="8"/>
                </a:xfrm>
                <a:prstGeom prst="ellipse">
                  <a:avLst/>
                </a:prstGeom>
                <a:gradFill rotWithShape="1">
                  <a:gsLst>
                    <a:gs pos="0">
                      <a:srgbClr val="762F00"/>
                    </a:gs>
                    <a:gs pos="100000">
                      <a:srgbClr val="FF6600"/>
                    </a:gs>
                  </a:gsLst>
                  <a:path path="shape">
                    <a:fillToRect l="50000" t="50000" r="50000" b="50000"/>
                  </a:path>
                </a:gradFill>
                <a:ln w="12700">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747" name="Oval 290"/>
                <p:cNvSpPr>
                  <a:spLocks noChangeArrowheads="1"/>
                </p:cNvSpPr>
                <p:nvPr/>
              </p:nvSpPr>
              <p:spPr bwMode="auto">
                <a:xfrm>
                  <a:off x="4607065" y="0"/>
                  <a:ext cx="8" cy="8"/>
                </a:xfrm>
                <a:prstGeom prst="ellipse">
                  <a:avLst/>
                </a:prstGeom>
                <a:gradFill rotWithShape="1">
                  <a:gsLst>
                    <a:gs pos="0">
                      <a:srgbClr val="762F00"/>
                    </a:gs>
                    <a:gs pos="100000">
                      <a:srgbClr val="FF6600"/>
                    </a:gs>
                  </a:gsLst>
                  <a:path path="shape">
                    <a:fillToRect l="50000" t="50000" r="50000" b="50000"/>
                  </a:path>
                </a:gradFill>
                <a:ln w="12700">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748" name="Oval 291"/>
                <p:cNvSpPr>
                  <a:spLocks noChangeArrowheads="1"/>
                </p:cNvSpPr>
                <p:nvPr/>
              </p:nvSpPr>
              <p:spPr bwMode="auto">
                <a:xfrm>
                  <a:off x="4606982" y="19"/>
                  <a:ext cx="8" cy="8"/>
                </a:xfrm>
                <a:prstGeom prst="ellipse">
                  <a:avLst/>
                </a:prstGeom>
                <a:gradFill rotWithShape="1">
                  <a:gsLst>
                    <a:gs pos="0">
                      <a:srgbClr val="762F00"/>
                    </a:gs>
                    <a:gs pos="100000">
                      <a:srgbClr val="FF6600"/>
                    </a:gs>
                  </a:gsLst>
                  <a:path path="shape">
                    <a:fillToRect l="50000" t="50000" r="50000" b="50000"/>
                  </a:path>
                </a:gradFill>
                <a:ln w="12700">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749" name="Oval 292"/>
                <p:cNvSpPr>
                  <a:spLocks noChangeArrowheads="1"/>
                </p:cNvSpPr>
                <p:nvPr/>
              </p:nvSpPr>
              <p:spPr bwMode="auto">
                <a:xfrm>
                  <a:off x="4606954" y="137"/>
                  <a:ext cx="8" cy="8"/>
                </a:xfrm>
                <a:prstGeom prst="ellipse">
                  <a:avLst/>
                </a:prstGeom>
                <a:gradFill rotWithShape="1">
                  <a:gsLst>
                    <a:gs pos="0">
                      <a:srgbClr val="000076"/>
                    </a:gs>
                    <a:gs pos="100000">
                      <a:srgbClr val="0000FF"/>
                    </a:gs>
                  </a:gsLst>
                  <a:path path="shape">
                    <a:fillToRect l="50000" t="50000" r="50000" b="50000"/>
                  </a:path>
                </a:gradFill>
                <a:ln w="12700">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750" name="Oval 293"/>
                <p:cNvSpPr>
                  <a:spLocks noChangeArrowheads="1"/>
                </p:cNvSpPr>
                <p:nvPr/>
              </p:nvSpPr>
              <p:spPr bwMode="auto">
                <a:xfrm>
                  <a:off x="4607080" y="184"/>
                  <a:ext cx="8" cy="8"/>
                </a:xfrm>
                <a:prstGeom prst="ellipse">
                  <a:avLst/>
                </a:prstGeom>
                <a:gradFill rotWithShape="1">
                  <a:gsLst>
                    <a:gs pos="0">
                      <a:srgbClr val="000076"/>
                    </a:gs>
                    <a:gs pos="100000">
                      <a:srgbClr val="0000FF"/>
                    </a:gs>
                  </a:gsLst>
                  <a:path path="shape">
                    <a:fillToRect l="50000" t="50000" r="50000" b="50000"/>
                  </a:path>
                </a:gradFill>
                <a:ln w="12700">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751" name="Oval 294"/>
                <p:cNvSpPr>
                  <a:spLocks noChangeArrowheads="1"/>
                </p:cNvSpPr>
                <p:nvPr/>
              </p:nvSpPr>
              <p:spPr bwMode="auto">
                <a:xfrm>
                  <a:off x="4607130" y="141"/>
                  <a:ext cx="8" cy="8"/>
                </a:xfrm>
                <a:prstGeom prst="ellipse">
                  <a:avLst/>
                </a:prstGeom>
                <a:gradFill rotWithShape="1">
                  <a:gsLst>
                    <a:gs pos="0">
                      <a:srgbClr val="000076"/>
                    </a:gs>
                    <a:gs pos="100000">
                      <a:srgbClr val="0000FF"/>
                    </a:gs>
                  </a:gsLst>
                  <a:path path="shape">
                    <a:fillToRect l="50000" t="50000" r="50000" b="50000"/>
                  </a:path>
                </a:gradFill>
                <a:ln w="12700">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752" name="Freeform 295"/>
                <p:cNvSpPr>
                  <a:spLocks/>
                </p:cNvSpPr>
                <p:nvPr/>
              </p:nvSpPr>
              <p:spPr bwMode="auto">
                <a:xfrm>
                  <a:off x="4607058" y="112"/>
                  <a:ext cx="79" cy="28"/>
                </a:xfrm>
                <a:custGeom>
                  <a:avLst/>
                  <a:gdLst>
                    <a:gd name="T0" fmla="*/ 0 w 79"/>
                    <a:gd name="T1" fmla="*/ 5 h 28"/>
                    <a:gd name="T2" fmla="*/ 10 w 79"/>
                    <a:gd name="T3" fmla="*/ 2 h 28"/>
                    <a:gd name="T4" fmla="*/ 19 w 79"/>
                    <a:gd name="T5" fmla="*/ 4 h 28"/>
                    <a:gd name="T6" fmla="*/ 79 w 79"/>
                    <a:gd name="T7" fmla="*/ 28 h 28"/>
                    <a:gd name="T8" fmla="*/ 0 60000 65536"/>
                    <a:gd name="T9" fmla="*/ 0 60000 65536"/>
                    <a:gd name="T10" fmla="*/ 0 60000 65536"/>
                    <a:gd name="T11" fmla="*/ 0 60000 65536"/>
                    <a:gd name="T12" fmla="*/ 0 w 79"/>
                    <a:gd name="T13" fmla="*/ 0 h 28"/>
                    <a:gd name="T14" fmla="*/ 79 w 79"/>
                    <a:gd name="T15" fmla="*/ 28 h 28"/>
                  </a:gdLst>
                  <a:ahLst/>
                  <a:cxnLst>
                    <a:cxn ang="T8">
                      <a:pos x="T0" y="T1"/>
                    </a:cxn>
                    <a:cxn ang="T9">
                      <a:pos x="T2" y="T3"/>
                    </a:cxn>
                    <a:cxn ang="T10">
                      <a:pos x="T4" y="T5"/>
                    </a:cxn>
                    <a:cxn ang="T11">
                      <a:pos x="T6" y="T7"/>
                    </a:cxn>
                  </a:cxnLst>
                  <a:rect l="T12" t="T13" r="T14" b="T15"/>
                  <a:pathLst>
                    <a:path w="79" h="28">
                      <a:moveTo>
                        <a:pt x="0" y="5"/>
                      </a:moveTo>
                      <a:cubicBezTo>
                        <a:pt x="2" y="4"/>
                        <a:pt x="7" y="2"/>
                        <a:pt x="10" y="2"/>
                      </a:cubicBezTo>
                      <a:cubicBezTo>
                        <a:pt x="13" y="2"/>
                        <a:pt x="8" y="0"/>
                        <a:pt x="19" y="4"/>
                      </a:cubicBezTo>
                      <a:cubicBezTo>
                        <a:pt x="30" y="8"/>
                        <a:pt x="67" y="23"/>
                        <a:pt x="79" y="28"/>
                      </a:cubicBezTo>
                    </a:path>
                  </a:pathLst>
                </a:custGeom>
                <a:noFill/>
                <a:ln w="127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37753" name="Line 2895"/>
                <p:cNvSpPr>
                  <a:spLocks noChangeShapeType="1"/>
                </p:cNvSpPr>
                <p:nvPr/>
              </p:nvSpPr>
              <p:spPr bwMode="auto">
                <a:xfrm flipV="1">
                  <a:off x="4607016" y="116"/>
                  <a:ext cx="40" cy="1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7754" name="Line 2896"/>
                <p:cNvSpPr>
                  <a:spLocks noChangeShapeType="1"/>
                </p:cNvSpPr>
                <p:nvPr/>
              </p:nvSpPr>
              <p:spPr bwMode="auto">
                <a:xfrm flipH="1" flipV="1">
                  <a:off x="4606982" y="24"/>
                  <a:ext cx="29" cy="10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7755" name="Line 2897"/>
                <p:cNvSpPr>
                  <a:spLocks noChangeShapeType="1"/>
                </p:cNvSpPr>
                <p:nvPr/>
              </p:nvSpPr>
              <p:spPr bwMode="auto">
                <a:xfrm flipV="1">
                  <a:off x="4606985" y="0"/>
                  <a:ext cx="84" cy="1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7756" name="Line 2898"/>
                <p:cNvSpPr>
                  <a:spLocks noChangeShapeType="1"/>
                </p:cNvSpPr>
                <p:nvPr/>
              </p:nvSpPr>
              <p:spPr bwMode="auto">
                <a:xfrm>
                  <a:off x="4607070" y="0"/>
                  <a:ext cx="91" cy="5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7757" name="Line 2899"/>
                <p:cNvSpPr>
                  <a:spLocks noChangeShapeType="1"/>
                </p:cNvSpPr>
                <p:nvPr/>
              </p:nvSpPr>
              <p:spPr bwMode="auto">
                <a:xfrm flipH="1">
                  <a:off x="4607074" y="59"/>
                  <a:ext cx="86" cy="2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7758" name="Line 2900"/>
                <p:cNvSpPr>
                  <a:spLocks noChangeShapeType="1"/>
                </p:cNvSpPr>
                <p:nvPr/>
              </p:nvSpPr>
              <p:spPr bwMode="auto">
                <a:xfrm flipH="1">
                  <a:off x="4607067" y="86"/>
                  <a:ext cx="4" cy="1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7759" name="Rectangle 302"/>
                <p:cNvSpPr>
                  <a:spLocks noChangeArrowheads="1"/>
                </p:cNvSpPr>
                <p:nvPr/>
              </p:nvSpPr>
              <p:spPr bwMode="auto">
                <a:xfrm>
                  <a:off x="4606977" y="201"/>
                  <a:ext cx="154" cy="7"/>
                </a:xfrm>
                <a:prstGeom prst="rect">
                  <a:avLst/>
                </a:prstGeom>
                <a:gradFill rotWithShape="1">
                  <a:gsLst>
                    <a:gs pos="0">
                      <a:srgbClr val="333333"/>
                    </a:gs>
                    <a:gs pos="50000">
                      <a:srgbClr val="181818"/>
                    </a:gs>
                    <a:gs pos="100000">
                      <a:srgbClr val="333333"/>
                    </a:gs>
                  </a:gsLst>
                  <a:lin ang="5400000" scaled="1"/>
                </a:gradFill>
                <a:ln w="12700">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760" name="Line 2902"/>
                <p:cNvSpPr>
                  <a:spLocks noChangeShapeType="1"/>
                </p:cNvSpPr>
                <p:nvPr/>
              </p:nvSpPr>
              <p:spPr bwMode="auto">
                <a:xfrm>
                  <a:off x="4606955" y="144"/>
                  <a:ext cx="126" cy="47"/>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7761" name="Line 2903"/>
                <p:cNvSpPr>
                  <a:spLocks noChangeShapeType="1"/>
                </p:cNvSpPr>
                <p:nvPr/>
              </p:nvSpPr>
              <p:spPr bwMode="auto">
                <a:xfrm flipV="1">
                  <a:off x="4607087" y="147"/>
                  <a:ext cx="51" cy="4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237627" name="Group 284"/>
            <p:cNvGrpSpPr>
              <a:grpSpLocks/>
            </p:cNvGrpSpPr>
            <p:nvPr/>
          </p:nvGrpSpPr>
          <p:grpSpPr bwMode="auto">
            <a:xfrm>
              <a:off x="8141382" y="5046780"/>
              <a:ext cx="353194" cy="367561"/>
              <a:chOff x="6826250" y="0"/>
              <a:chExt cx="249" cy="208"/>
            </a:xfrm>
          </p:grpSpPr>
          <p:grpSp>
            <p:nvGrpSpPr>
              <p:cNvPr id="237710" name="Group 318"/>
              <p:cNvGrpSpPr>
                <a:grpSpLocks/>
              </p:cNvGrpSpPr>
              <p:nvPr/>
            </p:nvGrpSpPr>
            <p:grpSpPr bwMode="auto">
              <a:xfrm>
                <a:off x="6826271" y="0"/>
                <a:ext cx="228" cy="208"/>
                <a:chOff x="6826271" y="0"/>
                <a:chExt cx="228" cy="208"/>
              </a:xfrm>
            </p:grpSpPr>
            <p:sp>
              <p:nvSpPr>
                <p:cNvPr id="237712" name="Rectangle 308"/>
                <p:cNvSpPr>
                  <a:spLocks noChangeArrowheads="1"/>
                </p:cNvSpPr>
                <p:nvPr/>
              </p:nvSpPr>
              <p:spPr bwMode="auto">
                <a:xfrm>
                  <a:off x="6826327" y="18"/>
                  <a:ext cx="125" cy="11"/>
                </a:xfrm>
                <a:prstGeom prst="rect">
                  <a:avLst/>
                </a:prstGeom>
                <a:gradFill rotWithShape="1">
                  <a:gsLst>
                    <a:gs pos="0">
                      <a:srgbClr val="595959"/>
                    </a:gs>
                    <a:gs pos="50000">
                      <a:srgbClr val="C0C0C0"/>
                    </a:gs>
                    <a:gs pos="100000">
                      <a:srgbClr val="595959"/>
                    </a:gs>
                  </a:gsLst>
                  <a:lin ang="5400000" scaled="1"/>
                </a:gradFill>
                <a:ln w="12700">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713" name="Rectangle 309"/>
                <p:cNvSpPr>
                  <a:spLocks noChangeArrowheads="1"/>
                </p:cNvSpPr>
                <p:nvPr/>
              </p:nvSpPr>
              <p:spPr bwMode="auto">
                <a:xfrm>
                  <a:off x="6826437" y="29"/>
                  <a:ext cx="15" cy="172"/>
                </a:xfrm>
                <a:prstGeom prst="rect">
                  <a:avLst/>
                </a:prstGeom>
                <a:gradFill rotWithShape="1">
                  <a:gsLst>
                    <a:gs pos="0">
                      <a:srgbClr val="595959"/>
                    </a:gs>
                    <a:gs pos="50000">
                      <a:srgbClr val="C0C0C0"/>
                    </a:gs>
                    <a:gs pos="100000">
                      <a:srgbClr val="595959"/>
                    </a:gs>
                  </a:gsLst>
                  <a:lin ang="0" scaled="1"/>
                </a:gradFill>
                <a:ln w="12700">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714" name="Rectangle 310"/>
                <p:cNvSpPr>
                  <a:spLocks noChangeArrowheads="1"/>
                </p:cNvSpPr>
                <p:nvPr/>
              </p:nvSpPr>
              <p:spPr bwMode="auto">
                <a:xfrm>
                  <a:off x="6826327" y="29"/>
                  <a:ext cx="15" cy="172"/>
                </a:xfrm>
                <a:prstGeom prst="rect">
                  <a:avLst/>
                </a:prstGeom>
                <a:gradFill rotWithShape="1">
                  <a:gsLst>
                    <a:gs pos="0">
                      <a:srgbClr val="595959"/>
                    </a:gs>
                    <a:gs pos="50000">
                      <a:srgbClr val="C0C0C0"/>
                    </a:gs>
                    <a:gs pos="100000">
                      <a:srgbClr val="595959"/>
                    </a:gs>
                  </a:gsLst>
                  <a:lin ang="0" scaled="1"/>
                </a:gradFill>
                <a:ln w="12700">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715" name="Oval 311"/>
                <p:cNvSpPr>
                  <a:spLocks noChangeArrowheads="1"/>
                </p:cNvSpPr>
                <p:nvPr/>
              </p:nvSpPr>
              <p:spPr bwMode="auto">
                <a:xfrm>
                  <a:off x="6826374" y="88"/>
                  <a:ext cx="29" cy="28"/>
                </a:xfrm>
                <a:prstGeom prst="ellipse">
                  <a:avLst/>
                </a:prstGeom>
                <a:gradFill rotWithShape="1">
                  <a:gsLst>
                    <a:gs pos="0">
                      <a:srgbClr val="808080"/>
                    </a:gs>
                    <a:gs pos="100000">
                      <a:srgbClr val="C0C0C0"/>
                    </a:gs>
                  </a:gsLst>
                  <a:path path="shape">
                    <a:fillToRect l="50000" t="50000" r="50000" b="50000"/>
                  </a:path>
                </a:gradFill>
                <a:ln w="12700">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716" name="Oval 312"/>
                <p:cNvSpPr>
                  <a:spLocks noChangeArrowheads="1"/>
                </p:cNvSpPr>
                <p:nvPr/>
              </p:nvSpPr>
              <p:spPr bwMode="auto">
                <a:xfrm>
                  <a:off x="6826389" y="116"/>
                  <a:ext cx="29" cy="28"/>
                </a:xfrm>
                <a:prstGeom prst="ellipse">
                  <a:avLst/>
                </a:prstGeom>
                <a:gradFill rotWithShape="1">
                  <a:gsLst>
                    <a:gs pos="0">
                      <a:srgbClr val="808080"/>
                    </a:gs>
                    <a:gs pos="100000">
                      <a:srgbClr val="C0C0C0"/>
                    </a:gs>
                  </a:gsLst>
                  <a:path path="shape">
                    <a:fillToRect l="50000" t="50000" r="50000" b="50000"/>
                  </a:path>
                </a:gradFill>
                <a:ln w="12700">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717" name="Oval 313"/>
                <p:cNvSpPr>
                  <a:spLocks noChangeArrowheads="1"/>
                </p:cNvSpPr>
                <p:nvPr/>
              </p:nvSpPr>
              <p:spPr bwMode="auto">
                <a:xfrm>
                  <a:off x="6826347" y="122"/>
                  <a:ext cx="8" cy="8"/>
                </a:xfrm>
                <a:prstGeom prst="ellipse">
                  <a:avLst/>
                </a:prstGeom>
                <a:gradFill rotWithShape="1">
                  <a:gsLst>
                    <a:gs pos="0">
                      <a:srgbClr val="762F00"/>
                    </a:gs>
                    <a:gs pos="100000">
                      <a:srgbClr val="FF6600"/>
                    </a:gs>
                  </a:gsLst>
                  <a:path path="shape">
                    <a:fillToRect l="50000" t="50000" r="50000" b="50000"/>
                  </a:path>
                </a:gradFill>
                <a:ln w="12700">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718" name="Oval 314"/>
                <p:cNvSpPr>
                  <a:spLocks noChangeArrowheads="1"/>
                </p:cNvSpPr>
                <p:nvPr/>
              </p:nvSpPr>
              <p:spPr bwMode="auto">
                <a:xfrm>
                  <a:off x="6826351" y="129"/>
                  <a:ext cx="8" cy="8"/>
                </a:xfrm>
                <a:prstGeom prst="ellipse">
                  <a:avLst/>
                </a:prstGeom>
                <a:gradFill rotWithShape="1">
                  <a:gsLst>
                    <a:gs pos="0">
                      <a:srgbClr val="000076"/>
                    </a:gs>
                    <a:gs pos="100000">
                      <a:srgbClr val="0000FF"/>
                    </a:gs>
                  </a:gsLst>
                  <a:path path="shape">
                    <a:fillToRect l="50000" t="50000" r="50000" b="50000"/>
                  </a:path>
                </a:gradFill>
                <a:ln w="12700">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719" name="Oval 315"/>
                <p:cNvSpPr>
                  <a:spLocks noChangeArrowheads="1"/>
                </p:cNvSpPr>
                <p:nvPr/>
              </p:nvSpPr>
              <p:spPr bwMode="auto">
                <a:xfrm>
                  <a:off x="6826407" y="83"/>
                  <a:ext cx="8" cy="8"/>
                </a:xfrm>
                <a:prstGeom prst="ellipse">
                  <a:avLst/>
                </a:prstGeom>
                <a:gradFill rotWithShape="1">
                  <a:gsLst>
                    <a:gs pos="0">
                      <a:srgbClr val="762F00"/>
                    </a:gs>
                    <a:gs pos="100000">
                      <a:srgbClr val="FF6600"/>
                    </a:gs>
                  </a:gsLst>
                  <a:path path="shape">
                    <a:fillToRect l="50000" t="50000" r="50000" b="50000"/>
                  </a:path>
                </a:gradFill>
                <a:ln w="12700">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720" name="Oval 316"/>
                <p:cNvSpPr>
                  <a:spLocks noChangeArrowheads="1"/>
                </p:cNvSpPr>
                <p:nvPr/>
              </p:nvSpPr>
              <p:spPr bwMode="auto">
                <a:xfrm>
                  <a:off x="6826491" y="51"/>
                  <a:ext cx="8" cy="8"/>
                </a:xfrm>
                <a:prstGeom prst="ellipse">
                  <a:avLst/>
                </a:prstGeom>
                <a:gradFill rotWithShape="1">
                  <a:gsLst>
                    <a:gs pos="0">
                      <a:srgbClr val="762F00"/>
                    </a:gs>
                    <a:gs pos="100000">
                      <a:srgbClr val="FF6600"/>
                    </a:gs>
                  </a:gsLst>
                  <a:path path="shape">
                    <a:fillToRect l="50000" t="50000" r="50000" b="50000"/>
                  </a:path>
                </a:gradFill>
                <a:ln w="12700">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721" name="Oval 317"/>
                <p:cNvSpPr>
                  <a:spLocks noChangeArrowheads="1"/>
                </p:cNvSpPr>
                <p:nvPr/>
              </p:nvSpPr>
              <p:spPr bwMode="auto">
                <a:xfrm>
                  <a:off x="6826401" y="0"/>
                  <a:ext cx="8" cy="8"/>
                </a:xfrm>
                <a:prstGeom prst="ellipse">
                  <a:avLst/>
                </a:prstGeom>
                <a:gradFill rotWithShape="1">
                  <a:gsLst>
                    <a:gs pos="0">
                      <a:srgbClr val="762F00"/>
                    </a:gs>
                    <a:gs pos="100000">
                      <a:srgbClr val="FF6600"/>
                    </a:gs>
                  </a:gsLst>
                  <a:path path="shape">
                    <a:fillToRect l="50000" t="50000" r="50000" b="50000"/>
                  </a:path>
                </a:gradFill>
                <a:ln w="12700">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722" name="Oval 318"/>
                <p:cNvSpPr>
                  <a:spLocks noChangeArrowheads="1"/>
                </p:cNvSpPr>
                <p:nvPr/>
              </p:nvSpPr>
              <p:spPr bwMode="auto">
                <a:xfrm>
                  <a:off x="6826318" y="19"/>
                  <a:ext cx="8" cy="8"/>
                </a:xfrm>
                <a:prstGeom prst="ellipse">
                  <a:avLst/>
                </a:prstGeom>
                <a:gradFill rotWithShape="1">
                  <a:gsLst>
                    <a:gs pos="0">
                      <a:srgbClr val="762F00"/>
                    </a:gs>
                    <a:gs pos="100000">
                      <a:srgbClr val="FF6600"/>
                    </a:gs>
                  </a:gsLst>
                  <a:path path="shape">
                    <a:fillToRect l="50000" t="50000" r="50000" b="50000"/>
                  </a:path>
                </a:gradFill>
                <a:ln w="12700">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723" name="Oval 319"/>
                <p:cNvSpPr>
                  <a:spLocks noChangeArrowheads="1"/>
                </p:cNvSpPr>
                <p:nvPr/>
              </p:nvSpPr>
              <p:spPr bwMode="auto">
                <a:xfrm>
                  <a:off x="6826271" y="150"/>
                  <a:ext cx="8" cy="8"/>
                </a:xfrm>
                <a:prstGeom prst="ellipse">
                  <a:avLst/>
                </a:prstGeom>
                <a:gradFill rotWithShape="1">
                  <a:gsLst>
                    <a:gs pos="0">
                      <a:srgbClr val="000076"/>
                    </a:gs>
                    <a:gs pos="100000">
                      <a:srgbClr val="0000FF"/>
                    </a:gs>
                  </a:gsLst>
                  <a:path path="shape">
                    <a:fillToRect l="50000" t="50000" r="50000" b="50000"/>
                  </a:path>
                </a:gradFill>
                <a:ln w="12700">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724" name="Oval 320"/>
                <p:cNvSpPr>
                  <a:spLocks noChangeArrowheads="1"/>
                </p:cNvSpPr>
                <p:nvPr/>
              </p:nvSpPr>
              <p:spPr bwMode="auto">
                <a:xfrm>
                  <a:off x="6826416" y="184"/>
                  <a:ext cx="8" cy="8"/>
                </a:xfrm>
                <a:prstGeom prst="ellipse">
                  <a:avLst/>
                </a:prstGeom>
                <a:gradFill rotWithShape="1">
                  <a:gsLst>
                    <a:gs pos="0">
                      <a:srgbClr val="000076"/>
                    </a:gs>
                    <a:gs pos="100000">
                      <a:srgbClr val="0000FF"/>
                    </a:gs>
                  </a:gsLst>
                  <a:path path="shape">
                    <a:fillToRect l="50000" t="50000" r="50000" b="50000"/>
                  </a:path>
                </a:gradFill>
                <a:ln w="12700">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725" name="Oval 321"/>
                <p:cNvSpPr>
                  <a:spLocks noChangeArrowheads="1"/>
                </p:cNvSpPr>
                <p:nvPr/>
              </p:nvSpPr>
              <p:spPr bwMode="auto">
                <a:xfrm>
                  <a:off x="6826466" y="141"/>
                  <a:ext cx="8" cy="8"/>
                </a:xfrm>
                <a:prstGeom prst="ellipse">
                  <a:avLst/>
                </a:prstGeom>
                <a:gradFill rotWithShape="1">
                  <a:gsLst>
                    <a:gs pos="0">
                      <a:srgbClr val="000076"/>
                    </a:gs>
                    <a:gs pos="100000">
                      <a:srgbClr val="0000FF"/>
                    </a:gs>
                  </a:gsLst>
                  <a:path path="shape">
                    <a:fillToRect l="50000" t="50000" r="50000" b="50000"/>
                  </a:path>
                </a:gradFill>
                <a:ln w="12700">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726" name="Freeform 322"/>
                <p:cNvSpPr>
                  <a:spLocks/>
                </p:cNvSpPr>
                <p:nvPr/>
              </p:nvSpPr>
              <p:spPr bwMode="auto">
                <a:xfrm>
                  <a:off x="6826394" y="112"/>
                  <a:ext cx="79" cy="28"/>
                </a:xfrm>
                <a:custGeom>
                  <a:avLst/>
                  <a:gdLst>
                    <a:gd name="T0" fmla="*/ 0 w 79"/>
                    <a:gd name="T1" fmla="*/ 5 h 28"/>
                    <a:gd name="T2" fmla="*/ 10 w 79"/>
                    <a:gd name="T3" fmla="*/ 2 h 28"/>
                    <a:gd name="T4" fmla="*/ 19 w 79"/>
                    <a:gd name="T5" fmla="*/ 4 h 28"/>
                    <a:gd name="T6" fmla="*/ 79 w 79"/>
                    <a:gd name="T7" fmla="*/ 28 h 28"/>
                    <a:gd name="T8" fmla="*/ 0 60000 65536"/>
                    <a:gd name="T9" fmla="*/ 0 60000 65536"/>
                    <a:gd name="T10" fmla="*/ 0 60000 65536"/>
                    <a:gd name="T11" fmla="*/ 0 60000 65536"/>
                    <a:gd name="T12" fmla="*/ 0 w 79"/>
                    <a:gd name="T13" fmla="*/ 0 h 28"/>
                    <a:gd name="T14" fmla="*/ 79 w 79"/>
                    <a:gd name="T15" fmla="*/ 28 h 28"/>
                  </a:gdLst>
                  <a:ahLst/>
                  <a:cxnLst>
                    <a:cxn ang="T8">
                      <a:pos x="T0" y="T1"/>
                    </a:cxn>
                    <a:cxn ang="T9">
                      <a:pos x="T2" y="T3"/>
                    </a:cxn>
                    <a:cxn ang="T10">
                      <a:pos x="T4" y="T5"/>
                    </a:cxn>
                    <a:cxn ang="T11">
                      <a:pos x="T6" y="T7"/>
                    </a:cxn>
                  </a:cxnLst>
                  <a:rect l="T12" t="T13" r="T14" b="T15"/>
                  <a:pathLst>
                    <a:path w="79" h="28">
                      <a:moveTo>
                        <a:pt x="0" y="5"/>
                      </a:moveTo>
                      <a:cubicBezTo>
                        <a:pt x="2" y="4"/>
                        <a:pt x="7" y="2"/>
                        <a:pt x="10" y="2"/>
                      </a:cubicBezTo>
                      <a:cubicBezTo>
                        <a:pt x="13" y="2"/>
                        <a:pt x="8" y="0"/>
                        <a:pt x="19" y="4"/>
                      </a:cubicBezTo>
                      <a:cubicBezTo>
                        <a:pt x="30" y="8"/>
                        <a:pt x="67" y="23"/>
                        <a:pt x="79" y="28"/>
                      </a:cubicBezTo>
                    </a:path>
                  </a:pathLst>
                </a:custGeom>
                <a:noFill/>
                <a:ln w="127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37727" name="Line 2921"/>
                <p:cNvSpPr>
                  <a:spLocks noChangeShapeType="1"/>
                </p:cNvSpPr>
                <p:nvPr/>
              </p:nvSpPr>
              <p:spPr bwMode="auto">
                <a:xfrm flipV="1">
                  <a:off x="6826352" y="116"/>
                  <a:ext cx="40" cy="1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7728" name="Line 2922"/>
                <p:cNvSpPr>
                  <a:spLocks noChangeShapeType="1"/>
                </p:cNvSpPr>
                <p:nvPr/>
              </p:nvSpPr>
              <p:spPr bwMode="auto">
                <a:xfrm flipH="1" flipV="1">
                  <a:off x="6826318" y="24"/>
                  <a:ext cx="29" cy="10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7729" name="Line 2923"/>
                <p:cNvSpPr>
                  <a:spLocks noChangeShapeType="1"/>
                </p:cNvSpPr>
                <p:nvPr/>
              </p:nvSpPr>
              <p:spPr bwMode="auto">
                <a:xfrm flipV="1">
                  <a:off x="6826321" y="0"/>
                  <a:ext cx="84" cy="1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7730" name="Line 2924"/>
                <p:cNvSpPr>
                  <a:spLocks noChangeShapeType="1"/>
                </p:cNvSpPr>
                <p:nvPr/>
              </p:nvSpPr>
              <p:spPr bwMode="auto">
                <a:xfrm>
                  <a:off x="6826406" y="0"/>
                  <a:ext cx="91" cy="5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7731" name="Line 2925"/>
                <p:cNvSpPr>
                  <a:spLocks noChangeShapeType="1"/>
                </p:cNvSpPr>
                <p:nvPr/>
              </p:nvSpPr>
              <p:spPr bwMode="auto">
                <a:xfrm flipH="1">
                  <a:off x="6826410" y="59"/>
                  <a:ext cx="86" cy="2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7732" name="Line 2926"/>
                <p:cNvSpPr>
                  <a:spLocks noChangeShapeType="1"/>
                </p:cNvSpPr>
                <p:nvPr/>
              </p:nvSpPr>
              <p:spPr bwMode="auto">
                <a:xfrm flipH="1">
                  <a:off x="6826403" y="86"/>
                  <a:ext cx="4" cy="1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7733" name="Rectangle 329"/>
                <p:cNvSpPr>
                  <a:spLocks noChangeArrowheads="1"/>
                </p:cNvSpPr>
                <p:nvPr/>
              </p:nvSpPr>
              <p:spPr bwMode="auto">
                <a:xfrm>
                  <a:off x="6826313" y="201"/>
                  <a:ext cx="154" cy="7"/>
                </a:xfrm>
                <a:prstGeom prst="rect">
                  <a:avLst/>
                </a:prstGeom>
                <a:gradFill rotWithShape="1">
                  <a:gsLst>
                    <a:gs pos="0">
                      <a:srgbClr val="333333"/>
                    </a:gs>
                    <a:gs pos="50000">
                      <a:srgbClr val="181818"/>
                    </a:gs>
                    <a:gs pos="100000">
                      <a:srgbClr val="333333"/>
                    </a:gs>
                  </a:gsLst>
                  <a:lin ang="5400000" scaled="1"/>
                </a:gradFill>
                <a:ln w="12700">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734" name="Line 2928"/>
                <p:cNvSpPr>
                  <a:spLocks noChangeShapeType="1"/>
                </p:cNvSpPr>
                <p:nvPr/>
              </p:nvSpPr>
              <p:spPr bwMode="auto">
                <a:xfrm>
                  <a:off x="6826274" y="158"/>
                  <a:ext cx="143" cy="3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7735" name="Line 2929"/>
                <p:cNvSpPr>
                  <a:spLocks noChangeShapeType="1"/>
                </p:cNvSpPr>
                <p:nvPr/>
              </p:nvSpPr>
              <p:spPr bwMode="auto">
                <a:xfrm flipV="1">
                  <a:off x="6826423" y="147"/>
                  <a:ext cx="51" cy="4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37711" name="Freeform 307"/>
              <p:cNvSpPr>
                <a:spLocks/>
              </p:cNvSpPr>
              <p:nvPr/>
            </p:nvSpPr>
            <p:spPr bwMode="auto">
              <a:xfrm>
                <a:off x="6826250" y="116"/>
                <a:ext cx="146" cy="33"/>
              </a:xfrm>
              <a:custGeom>
                <a:avLst/>
                <a:gdLst>
                  <a:gd name="T0" fmla="*/ 0 w 146"/>
                  <a:gd name="T1" fmla="*/ 23 h 33"/>
                  <a:gd name="T2" fmla="*/ 13 w 146"/>
                  <a:gd name="T3" fmla="*/ 30 h 33"/>
                  <a:gd name="T4" fmla="*/ 26 w 146"/>
                  <a:gd name="T5" fmla="*/ 33 h 33"/>
                  <a:gd name="T6" fmla="*/ 107 w 146"/>
                  <a:gd name="T7" fmla="*/ 23 h 33"/>
                  <a:gd name="T8" fmla="*/ 146 w 146"/>
                  <a:gd name="T9" fmla="*/ 0 h 33"/>
                  <a:gd name="T10" fmla="*/ 0 60000 65536"/>
                  <a:gd name="T11" fmla="*/ 0 60000 65536"/>
                  <a:gd name="T12" fmla="*/ 0 60000 65536"/>
                  <a:gd name="T13" fmla="*/ 0 60000 65536"/>
                  <a:gd name="T14" fmla="*/ 0 60000 65536"/>
                  <a:gd name="T15" fmla="*/ 0 w 146"/>
                  <a:gd name="T16" fmla="*/ 0 h 33"/>
                  <a:gd name="T17" fmla="*/ 146 w 146"/>
                  <a:gd name="T18" fmla="*/ 33 h 33"/>
                </a:gdLst>
                <a:ahLst/>
                <a:cxnLst>
                  <a:cxn ang="T10">
                    <a:pos x="T0" y="T1"/>
                  </a:cxn>
                  <a:cxn ang="T11">
                    <a:pos x="T2" y="T3"/>
                  </a:cxn>
                  <a:cxn ang="T12">
                    <a:pos x="T4" y="T5"/>
                  </a:cxn>
                  <a:cxn ang="T13">
                    <a:pos x="T6" y="T7"/>
                  </a:cxn>
                  <a:cxn ang="T14">
                    <a:pos x="T8" y="T9"/>
                  </a:cxn>
                </a:cxnLst>
                <a:rect l="T15" t="T16" r="T17" b="T18"/>
                <a:pathLst>
                  <a:path w="146" h="33">
                    <a:moveTo>
                      <a:pt x="0" y="23"/>
                    </a:moveTo>
                    <a:lnTo>
                      <a:pt x="13" y="30"/>
                    </a:lnTo>
                    <a:lnTo>
                      <a:pt x="26" y="33"/>
                    </a:lnTo>
                    <a:lnTo>
                      <a:pt x="107" y="23"/>
                    </a:lnTo>
                    <a:lnTo>
                      <a:pt x="146" y="0"/>
                    </a:lnTo>
                  </a:path>
                </a:pathLst>
              </a:custGeom>
              <a:noFill/>
              <a:ln w="127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237628" name="Group 285"/>
            <p:cNvGrpSpPr>
              <a:grpSpLocks/>
            </p:cNvGrpSpPr>
            <p:nvPr/>
          </p:nvGrpSpPr>
          <p:grpSpPr bwMode="auto">
            <a:xfrm>
              <a:off x="8459215" y="5298922"/>
              <a:ext cx="231534" cy="87518"/>
              <a:chOff x="9223375" y="1333508"/>
              <a:chExt cx="168" cy="59"/>
            </a:xfrm>
          </p:grpSpPr>
          <p:sp>
            <p:nvSpPr>
              <p:cNvPr id="237697" name="Freeform 333"/>
              <p:cNvSpPr>
                <a:spLocks/>
              </p:cNvSpPr>
              <p:nvPr/>
            </p:nvSpPr>
            <p:spPr bwMode="auto">
              <a:xfrm>
                <a:off x="9223375" y="1333508"/>
                <a:ext cx="165" cy="23"/>
              </a:xfrm>
              <a:custGeom>
                <a:avLst/>
                <a:gdLst>
                  <a:gd name="T0" fmla="*/ 0 w 165"/>
                  <a:gd name="T1" fmla="*/ 0 h 23"/>
                  <a:gd name="T2" fmla="*/ 16 w 165"/>
                  <a:gd name="T3" fmla="*/ 8 h 23"/>
                  <a:gd name="T4" fmla="*/ 31 w 165"/>
                  <a:gd name="T5" fmla="*/ 11 h 23"/>
                  <a:gd name="T6" fmla="*/ 84 w 165"/>
                  <a:gd name="T7" fmla="*/ 4 h 23"/>
                  <a:gd name="T8" fmla="*/ 95 w 165"/>
                  <a:gd name="T9" fmla="*/ 4 h 23"/>
                  <a:gd name="T10" fmla="*/ 116 w 165"/>
                  <a:gd name="T11" fmla="*/ 6 h 23"/>
                  <a:gd name="T12" fmla="*/ 165 w 165"/>
                  <a:gd name="T13" fmla="*/ 23 h 23"/>
                  <a:gd name="T14" fmla="*/ 0 60000 65536"/>
                  <a:gd name="T15" fmla="*/ 0 60000 65536"/>
                  <a:gd name="T16" fmla="*/ 0 60000 65536"/>
                  <a:gd name="T17" fmla="*/ 0 60000 65536"/>
                  <a:gd name="T18" fmla="*/ 0 60000 65536"/>
                  <a:gd name="T19" fmla="*/ 0 60000 65536"/>
                  <a:gd name="T20" fmla="*/ 0 60000 65536"/>
                  <a:gd name="T21" fmla="*/ 0 w 165"/>
                  <a:gd name="T22" fmla="*/ 0 h 23"/>
                  <a:gd name="T23" fmla="*/ 165 w 165"/>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5" h="23">
                    <a:moveTo>
                      <a:pt x="0" y="0"/>
                    </a:moveTo>
                    <a:lnTo>
                      <a:pt x="16" y="8"/>
                    </a:lnTo>
                    <a:lnTo>
                      <a:pt x="31" y="11"/>
                    </a:lnTo>
                    <a:lnTo>
                      <a:pt x="84" y="4"/>
                    </a:lnTo>
                    <a:lnTo>
                      <a:pt x="95" y="4"/>
                    </a:lnTo>
                    <a:lnTo>
                      <a:pt x="116" y="6"/>
                    </a:lnTo>
                    <a:lnTo>
                      <a:pt x="165" y="23"/>
                    </a:lnTo>
                  </a:path>
                </a:pathLst>
              </a:custGeom>
              <a:noFill/>
              <a:ln w="127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237698" name="Group 306"/>
              <p:cNvGrpSpPr>
                <a:grpSpLocks/>
              </p:cNvGrpSpPr>
              <p:nvPr/>
            </p:nvGrpSpPr>
            <p:grpSpPr bwMode="auto">
              <a:xfrm>
                <a:off x="9223386" y="1333521"/>
                <a:ext cx="157" cy="46"/>
                <a:chOff x="9223386" y="1333521"/>
                <a:chExt cx="157" cy="37"/>
              </a:xfrm>
            </p:grpSpPr>
            <p:sp>
              <p:nvSpPr>
                <p:cNvPr id="237699" name="Oval 335"/>
                <p:cNvSpPr>
                  <a:spLocks noChangeArrowheads="1"/>
                </p:cNvSpPr>
                <p:nvPr/>
              </p:nvSpPr>
              <p:spPr bwMode="auto">
                <a:xfrm>
                  <a:off x="9223386" y="1333541"/>
                  <a:ext cx="8" cy="8"/>
                </a:xfrm>
                <a:prstGeom prst="ellipse">
                  <a:avLst/>
                </a:prstGeom>
                <a:gradFill rotWithShape="1">
                  <a:gsLst>
                    <a:gs pos="0">
                      <a:srgbClr val="000076"/>
                    </a:gs>
                    <a:gs pos="100000">
                      <a:srgbClr val="0000FF"/>
                    </a:gs>
                  </a:gsLst>
                  <a:path path="shape">
                    <a:fillToRect l="50000" t="50000" r="50000" b="50000"/>
                  </a:path>
                </a:gradFill>
                <a:ln w="12700">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700" name="Oval 336"/>
                <p:cNvSpPr>
                  <a:spLocks noChangeArrowheads="1"/>
                </p:cNvSpPr>
                <p:nvPr/>
              </p:nvSpPr>
              <p:spPr bwMode="auto">
                <a:xfrm>
                  <a:off x="9223458" y="1333533"/>
                  <a:ext cx="8" cy="8"/>
                </a:xfrm>
                <a:prstGeom prst="ellipse">
                  <a:avLst/>
                </a:prstGeom>
                <a:gradFill rotWithShape="1">
                  <a:gsLst>
                    <a:gs pos="0">
                      <a:srgbClr val="000076"/>
                    </a:gs>
                    <a:gs pos="100000">
                      <a:srgbClr val="0000FF"/>
                    </a:gs>
                  </a:gsLst>
                  <a:path path="shape">
                    <a:fillToRect l="50000" t="50000" r="50000" b="50000"/>
                  </a:path>
                </a:gradFill>
                <a:ln w="12700">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701" name="Oval 337"/>
                <p:cNvSpPr>
                  <a:spLocks noChangeArrowheads="1"/>
                </p:cNvSpPr>
                <p:nvPr/>
              </p:nvSpPr>
              <p:spPr bwMode="auto">
                <a:xfrm>
                  <a:off x="9223460" y="1333521"/>
                  <a:ext cx="8" cy="8"/>
                </a:xfrm>
                <a:prstGeom prst="ellipse">
                  <a:avLst/>
                </a:prstGeom>
                <a:gradFill rotWithShape="1">
                  <a:gsLst>
                    <a:gs pos="0">
                      <a:srgbClr val="000076"/>
                    </a:gs>
                    <a:gs pos="100000">
                      <a:srgbClr val="0000FF"/>
                    </a:gs>
                  </a:gsLst>
                  <a:path path="shape">
                    <a:fillToRect l="50000" t="50000" r="50000" b="50000"/>
                  </a:path>
                </a:gradFill>
                <a:ln w="12700">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702" name="Oval 338"/>
                <p:cNvSpPr>
                  <a:spLocks noChangeArrowheads="1"/>
                </p:cNvSpPr>
                <p:nvPr/>
              </p:nvSpPr>
              <p:spPr bwMode="auto">
                <a:xfrm>
                  <a:off x="9223446" y="1333524"/>
                  <a:ext cx="7" cy="6"/>
                </a:xfrm>
                <a:prstGeom prst="ellipse">
                  <a:avLst/>
                </a:prstGeom>
                <a:gradFill rotWithShape="1">
                  <a:gsLst>
                    <a:gs pos="0">
                      <a:srgbClr val="000076"/>
                    </a:gs>
                    <a:gs pos="100000">
                      <a:srgbClr val="0000FF"/>
                    </a:gs>
                  </a:gsLst>
                  <a:path path="shape">
                    <a:fillToRect l="50000" t="50000" r="50000" b="50000"/>
                  </a:path>
                </a:gradFill>
                <a:ln w="12700">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703" name="Oval 339"/>
                <p:cNvSpPr>
                  <a:spLocks noChangeArrowheads="1"/>
                </p:cNvSpPr>
                <p:nvPr/>
              </p:nvSpPr>
              <p:spPr bwMode="auto">
                <a:xfrm>
                  <a:off x="9223529" y="1333547"/>
                  <a:ext cx="11" cy="11"/>
                </a:xfrm>
                <a:prstGeom prst="ellipse">
                  <a:avLst/>
                </a:prstGeom>
                <a:gradFill rotWithShape="1">
                  <a:gsLst>
                    <a:gs pos="0">
                      <a:srgbClr val="000076"/>
                    </a:gs>
                    <a:gs pos="100000">
                      <a:srgbClr val="0000FF"/>
                    </a:gs>
                  </a:gsLst>
                  <a:path path="shape">
                    <a:fillToRect l="50000" t="50000" r="50000" b="50000"/>
                  </a:path>
                </a:gradFill>
                <a:ln w="12700">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704" name="Oval 340"/>
                <p:cNvSpPr>
                  <a:spLocks noChangeArrowheads="1"/>
                </p:cNvSpPr>
                <p:nvPr/>
              </p:nvSpPr>
              <p:spPr bwMode="auto">
                <a:xfrm>
                  <a:off x="9223535" y="1333537"/>
                  <a:ext cx="8" cy="8"/>
                </a:xfrm>
                <a:prstGeom prst="ellipse">
                  <a:avLst/>
                </a:prstGeom>
                <a:gradFill rotWithShape="1">
                  <a:gsLst>
                    <a:gs pos="0">
                      <a:srgbClr val="000076"/>
                    </a:gs>
                    <a:gs pos="100000">
                      <a:srgbClr val="0000FF"/>
                    </a:gs>
                  </a:gsLst>
                  <a:path path="shape">
                    <a:fillToRect l="50000" t="50000" r="50000" b="50000"/>
                  </a:path>
                </a:gradFill>
                <a:ln w="12700">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705" name="Line 2940"/>
                <p:cNvSpPr>
                  <a:spLocks noChangeShapeType="1"/>
                </p:cNvSpPr>
                <p:nvPr/>
              </p:nvSpPr>
              <p:spPr bwMode="auto">
                <a:xfrm flipV="1">
                  <a:off x="9223389" y="1333533"/>
                  <a:ext cx="74" cy="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7706" name="Line 2941"/>
                <p:cNvSpPr>
                  <a:spLocks noChangeShapeType="1"/>
                </p:cNvSpPr>
                <p:nvPr/>
              </p:nvSpPr>
              <p:spPr bwMode="auto">
                <a:xfrm flipH="1" flipV="1">
                  <a:off x="9223464" y="1333521"/>
                  <a:ext cx="77" cy="1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7707" name="Line 2942"/>
                <p:cNvSpPr>
                  <a:spLocks noChangeShapeType="1"/>
                </p:cNvSpPr>
                <p:nvPr/>
              </p:nvSpPr>
              <p:spPr bwMode="auto">
                <a:xfrm flipH="1">
                  <a:off x="9223448" y="1333521"/>
                  <a:ext cx="15" cy="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7708" name="Oval 344"/>
                <p:cNvSpPr>
                  <a:spLocks noChangeArrowheads="1"/>
                </p:cNvSpPr>
                <p:nvPr/>
              </p:nvSpPr>
              <p:spPr bwMode="auto">
                <a:xfrm>
                  <a:off x="9223486" y="1333535"/>
                  <a:ext cx="7" cy="6"/>
                </a:xfrm>
                <a:prstGeom prst="ellipse">
                  <a:avLst/>
                </a:prstGeom>
                <a:gradFill rotWithShape="1">
                  <a:gsLst>
                    <a:gs pos="0">
                      <a:srgbClr val="000076"/>
                    </a:gs>
                    <a:gs pos="100000">
                      <a:srgbClr val="0000FF"/>
                    </a:gs>
                  </a:gsLst>
                  <a:path path="shape">
                    <a:fillToRect l="50000" t="50000" r="50000" b="50000"/>
                  </a:path>
                </a:gradFill>
                <a:ln w="12700">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709" name="Line 2944"/>
                <p:cNvSpPr>
                  <a:spLocks noChangeShapeType="1"/>
                </p:cNvSpPr>
                <p:nvPr/>
              </p:nvSpPr>
              <p:spPr bwMode="auto">
                <a:xfrm>
                  <a:off x="9223390" y="1333549"/>
                  <a:ext cx="144" cy="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sp>
          <p:nvSpPr>
            <p:cNvPr id="347" name="Freeform 346"/>
            <p:cNvSpPr/>
            <p:nvPr/>
          </p:nvSpPr>
          <p:spPr>
            <a:xfrm>
              <a:off x="1205203" y="5735115"/>
              <a:ext cx="218085" cy="0"/>
            </a:xfrm>
            <a:custGeom>
              <a:avLst/>
              <a:gdLst>
                <a:gd name="connsiteX0" fmla="*/ 0 w 219075"/>
                <a:gd name="connsiteY0" fmla="*/ 0 h 0"/>
                <a:gd name="connsiteX1" fmla="*/ 219075 w 219075"/>
                <a:gd name="connsiteY1" fmla="*/ 0 h 0"/>
              </a:gdLst>
              <a:ahLst/>
              <a:cxnLst>
                <a:cxn ang="0">
                  <a:pos x="connsiteX0" y="connsiteY0"/>
                </a:cxn>
                <a:cxn ang="0">
                  <a:pos x="connsiteX1" y="connsiteY1"/>
                </a:cxn>
              </a:cxnLst>
              <a:rect l="l" t="t" r="r" b="b"/>
              <a:pathLst>
                <a:path w="219075">
                  <a:moveTo>
                    <a:pt x="0" y="0"/>
                  </a:moveTo>
                  <a:lnTo>
                    <a:pt x="219075" y="0"/>
                  </a:lnTo>
                </a:path>
              </a:pathLst>
            </a:custGeom>
            <a:ln w="190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th-TH"/>
            </a:p>
          </p:txBody>
        </p:sp>
        <p:sp>
          <p:nvSpPr>
            <p:cNvPr id="348" name="Freeform 347"/>
            <p:cNvSpPr/>
            <p:nvPr/>
          </p:nvSpPr>
          <p:spPr>
            <a:xfrm>
              <a:off x="900213" y="5743164"/>
              <a:ext cx="162334" cy="0"/>
            </a:xfrm>
            <a:custGeom>
              <a:avLst/>
              <a:gdLst>
                <a:gd name="connsiteX0" fmla="*/ 0 w 161925"/>
                <a:gd name="connsiteY0" fmla="*/ 0 h 0"/>
                <a:gd name="connsiteX1" fmla="*/ 161925 w 161925"/>
                <a:gd name="connsiteY1" fmla="*/ 0 h 0"/>
              </a:gdLst>
              <a:ahLst/>
              <a:cxnLst>
                <a:cxn ang="0">
                  <a:pos x="connsiteX0" y="connsiteY0"/>
                </a:cxn>
                <a:cxn ang="0">
                  <a:pos x="connsiteX1" y="connsiteY1"/>
                </a:cxn>
              </a:cxnLst>
              <a:rect l="l" t="t" r="r" b="b"/>
              <a:pathLst>
                <a:path w="161925">
                  <a:moveTo>
                    <a:pt x="0" y="0"/>
                  </a:moveTo>
                  <a:lnTo>
                    <a:pt x="161925" y="0"/>
                  </a:lnTo>
                </a:path>
              </a:pathLst>
            </a:custGeom>
            <a:ln w="1905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th-TH"/>
            </a:p>
          </p:txBody>
        </p:sp>
        <p:sp>
          <p:nvSpPr>
            <p:cNvPr id="349" name="Freeform 348"/>
            <p:cNvSpPr/>
            <p:nvPr/>
          </p:nvSpPr>
          <p:spPr>
            <a:xfrm>
              <a:off x="1595460" y="4658281"/>
              <a:ext cx="195129" cy="482886"/>
            </a:xfrm>
            <a:custGeom>
              <a:avLst/>
              <a:gdLst>
                <a:gd name="connsiteX0" fmla="*/ 0 w 195262"/>
                <a:gd name="connsiteY0" fmla="*/ 500063 h 500063"/>
                <a:gd name="connsiteX1" fmla="*/ 190500 w 195262"/>
                <a:gd name="connsiteY1" fmla="*/ 500063 h 500063"/>
                <a:gd name="connsiteX2" fmla="*/ 195262 w 195262"/>
                <a:gd name="connsiteY2" fmla="*/ 0 h 500063"/>
              </a:gdLst>
              <a:ahLst/>
              <a:cxnLst>
                <a:cxn ang="0">
                  <a:pos x="connsiteX0" y="connsiteY0"/>
                </a:cxn>
                <a:cxn ang="0">
                  <a:pos x="connsiteX1" y="connsiteY1"/>
                </a:cxn>
                <a:cxn ang="0">
                  <a:pos x="connsiteX2" y="connsiteY2"/>
                </a:cxn>
              </a:cxnLst>
              <a:rect l="l" t="t" r="r" b="b"/>
              <a:pathLst>
                <a:path w="195262" h="500063">
                  <a:moveTo>
                    <a:pt x="0" y="500063"/>
                  </a:moveTo>
                  <a:lnTo>
                    <a:pt x="190500" y="500063"/>
                  </a:lnTo>
                  <a:cubicBezTo>
                    <a:pt x="192087" y="333375"/>
                    <a:pt x="193675" y="166688"/>
                    <a:pt x="195262" y="0"/>
                  </a:cubicBezTo>
                </a:path>
              </a:pathLst>
            </a:custGeom>
            <a:ln w="190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th-TH"/>
            </a:p>
          </p:txBody>
        </p:sp>
        <p:sp>
          <p:nvSpPr>
            <p:cNvPr id="350" name="Freeform 349"/>
            <p:cNvSpPr/>
            <p:nvPr/>
          </p:nvSpPr>
          <p:spPr>
            <a:xfrm>
              <a:off x="2090659" y="4658281"/>
              <a:ext cx="0" cy="368602"/>
            </a:xfrm>
            <a:custGeom>
              <a:avLst/>
              <a:gdLst>
                <a:gd name="connsiteX0" fmla="*/ 0 w 0"/>
                <a:gd name="connsiteY0" fmla="*/ 0 h 381000"/>
                <a:gd name="connsiteX1" fmla="*/ 0 w 0"/>
                <a:gd name="connsiteY1" fmla="*/ 381000 h 381000"/>
              </a:gdLst>
              <a:ahLst/>
              <a:cxnLst>
                <a:cxn ang="0">
                  <a:pos x="connsiteX0" y="connsiteY0"/>
                </a:cxn>
                <a:cxn ang="0">
                  <a:pos x="connsiteX1" y="connsiteY1"/>
                </a:cxn>
              </a:cxnLst>
              <a:rect l="l" t="t" r="r" b="b"/>
              <a:pathLst>
                <a:path h="381000">
                  <a:moveTo>
                    <a:pt x="0" y="0"/>
                  </a:moveTo>
                  <a:lnTo>
                    <a:pt x="0" y="381000"/>
                  </a:lnTo>
                </a:path>
              </a:pathLst>
            </a:custGeom>
            <a:ln w="190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th-TH"/>
            </a:p>
          </p:txBody>
        </p:sp>
        <p:sp>
          <p:nvSpPr>
            <p:cNvPr id="351" name="Freeform 350"/>
            <p:cNvSpPr/>
            <p:nvPr/>
          </p:nvSpPr>
          <p:spPr>
            <a:xfrm>
              <a:off x="2362854" y="5108974"/>
              <a:ext cx="0" cy="138427"/>
            </a:xfrm>
            <a:custGeom>
              <a:avLst/>
              <a:gdLst>
                <a:gd name="connsiteX0" fmla="*/ 0 w 0"/>
                <a:gd name="connsiteY0" fmla="*/ 0 h 142875"/>
                <a:gd name="connsiteX1" fmla="*/ 0 w 0"/>
                <a:gd name="connsiteY1" fmla="*/ 142875 h 142875"/>
              </a:gdLst>
              <a:ahLst/>
              <a:cxnLst>
                <a:cxn ang="0">
                  <a:pos x="connsiteX0" y="connsiteY0"/>
                </a:cxn>
                <a:cxn ang="0">
                  <a:pos x="connsiteX1" y="connsiteY1"/>
                </a:cxn>
              </a:cxnLst>
              <a:rect l="l" t="t" r="r" b="b"/>
              <a:pathLst>
                <a:path h="142875">
                  <a:moveTo>
                    <a:pt x="0" y="0"/>
                  </a:moveTo>
                  <a:lnTo>
                    <a:pt x="0" y="142875"/>
                  </a:lnTo>
                </a:path>
              </a:pathLst>
            </a:cu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th-TH"/>
            </a:p>
          </p:txBody>
        </p:sp>
        <p:sp>
          <p:nvSpPr>
            <p:cNvPr id="352" name="Freeform 351"/>
            <p:cNvSpPr/>
            <p:nvPr/>
          </p:nvSpPr>
          <p:spPr>
            <a:xfrm>
              <a:off x="2443201" y="5611175"/>
              <a:ext cx="275475" cy="101405"/>
            </a:xfrm>
            <a:custGeom>
              <a:avLst/>
              <a:gdLst>
                <a:gd name="connsiteX0" fmla="*/ 0 w 276225"/>
                <a:gd name="connsiteY0" fmla="*/ 76200 h 104775"/>
                <a:gd name="connsiteX1" fmla="*/ 0 w 276225"/>
                <a:gd name="connsiteY1" fmla="*/ 0 h 104775"/>
                <a:gd name="connsiteX2" fmla="*/ 161925 w 276225"/>
                <a:gd name="connsiteY2" fmla="*/ 0 h 104775"/>
                <a:gd name="connsiteX3" fmla="*/ 209550 w 276225"/>
                <a:gd name="connsiteY3" fmla="*/ 104775 h 104775"/>
                <a:gd name="connsiteX4" fmla="*/ 276225 w 276225"/>
                <a:gd name="connsiteY4" fmla="*/ 104775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6225" h="104775">
                  <a:moveTo>
                    <a:pt x="0" y="76200"/>
                  </a:moveTo>
                  <a:lnTo>
                    <a:pt x="0" y="0"/>
                  </a:lnTo>
                  <a:lnTo>
                    <a:pt x="161925" y="0"/>
                  </a:lnTo>
                  <a:lnTo>
                    <a:pt x="209550" y="104775"/>
                  </a:lnTo>
                  <a:lnTo>
                    <a:pt x="276225" y="104775"/>
                  </a:lnTo>
                </a:path>
              </a:pathLst>
            </a:custGeom>
            <a:ln w="1905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th-TH"/>
            </a:p>
          </p:txBody>
        </p:sp>
        <p:sp>
          <p:nvSpPr>
            <p:cNvPr id="353" name="Freeform 352"/>
            <p:cNvSpPr/>
            <p:nvPr/>
          </p:nvSpPr>
          <p:spPr>
            <a:xfrm>
              <a:off x="2838376" y="5519426"/>
              <a:ext cx="180370" cy="193154"/>
            </a:xfrm>
            <a:custGeom>
              <a:avLst/>
              <a:gdLst>
                <a:gd name="connsiteX0" fmla="*/ 0 w 180975"/>
                <a:gd name="connsiteY0" fmla="*/ 200025 h 200025"/>
                <a:gd name="connsiteX1" fmla="*/ 180975 w 180975"/>
                <a:gd name="connsiteY1" fmla="*/ 200025 h 200025"/>
                <a:gd name="connsiteX2" fmla="*/ 180975 w 180975"/>
                <a:gd name="connsiteY2" fmla="*/ 0 h 200025"/>
              </a:gdLst>
              <a:ahLst/>
              <a:cxnLst>
                <a:cxn ang="0">
                  <a:pos x="connsiteX0" y="connsiteY0"/>
                </a:cxn>
                <a:cxn ang="0">
                  <a:pos x="connsiteX1" y="connsiteY1"/>
                </a:cxn>
                <a:cxn ang="0">
                  <a:pos x="connsiteX2" y="connsiteY2"/>
                </a:cxn>
              </a:cxnLst>
              <a:rect l="l" t="t" r="r" b="b"/>
              <a:pathLst>
                <a:path w="180975" h="200025">
                  <a:moveTo>
                    <a:pt x="0" y="200025"/>
                  </a:moveTo>
                  <a:lnTo>
                    <a:pt x="180975" y="200025"/>
                  </a:lnTo>
                  <a:lnTo>
                    <a:pt x="180975" y="0"/>
                  </a:lnTo>
                </a:path>
              </a:pathLst>
            </a:custGeom>
            <a:ln w="1905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th-TH"/>
            </a:p>
          </p:txBody>
        </p:sp>
        <p:sp>
          <p:nvSpPr>
            <p:cNvPr id="354" name="Freeform 353"/>
            <p:cNvSpPr/>
            <p:nvPr/>
          </p:nvSpPr>
          <p:spPr>
            <a:xfrm>
              <a:off x="3018747" y="4846606"/>
              <a:ext cx="224644" cy="180277"/>
            </a:xfrm>
            <a:custGeom>
              <a:avLst/>
              <a:gdLst>
                <a:gd name="connsiteX0" fmla="*/ 0 w 223838"/>
                <a:gd name="connsiteY0" fmla="*/ 185737 h 185737"/>
                <a:gd name="connsiteX1" fmla="*/ 0 w 223838"/>
                <a:gd name="connsiteY1" fmla="*/ 0 h 185737"/>
                <a:gd name="connsiteX2" fmla="*/ 223838 w 223838"/>
                <a:gd name="connsiteY2" fmla="*/ 0 h 185737"/>
              </a:gdLst>
              <a:ahLst/>
              <a:cxnLst>
                <a:cxn ang="0">
                  <a:pos x="connsiteX0" y="connsiteY0"/>
                </a:cxn>
                <a:cxn ang="0">
                  <a:pos x="connsiteX1" y="connsiteY1"/>
                </a:cxn>
                <a:cxn ang="0">
                  <a:pos x="connsiteX2" y="connsiteY2"/>
                </a:cxn>
              </a:cxnLst>
              <a:rect l="l" t="t" r="r" b="b"/>
              <a:pathLst>
                <a:path w="223838" h="185737">
                  <a:moveTo>
                    <a:pt x="0" y="185737"/>
                  </a:moveTo>
                  <a:lnTo>
                    <a:pt x="0" y="0"/>
                  </a:lnTo>
                  <a:lnTo>
                    <a:pt x="223838" y="0"/>
                  </a:lnTo>
                </a:path>
              </a:pathLst>
            </a:custGeom>
            <a:ln w="1905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th-TH"/>
            </a:p>
          </p:txBody>
        </p:sp>
        <p:sp>
          <p:nvSpPr>
            <p:cNvPr id="355" name="Freeform 354"/>
            <p:cNvSpPr/>
            <p:nvPr/>
          </p:nvSpPr>
          <p:spPr>
            <a:xfrm>
              <a:off x="3400805" y="4653452"/>
              <a:ext cx="234481" cy="1022108"/>
            </a:xfrm>
            <a:custGeom>
              <a:avLst/>
              <a:gdLst>
                <a:gd name="connsiteX0" fmla="*/ 0 w 309563"/>
                <a:gd name="connsiteY0" fmla="*/ 1057275 h 1057275"/>
                <a:gd name="connsiteX1" fmla="*/ 304800 w 309563"/>
                <a:gd name="connsiteY1" fmla="*/ 1057275 h 1057275"/>
                <a:gd name="connsiteX2" fmla="*/ 309563 w 309563"/>
                <a:gd name="connsiteY2" fmla="*/ 0 h 1057275"/>
              </a:gdLst>
              <a:ahLst/>
              <a:cxnLst>
                <a:cxn ang="0">
                  <a:pos x="connsiteX0" y="connsiteY0"/>
                </a:cxn>
                <a:cxn ang="0">
                  <a:pos x="connsiteX1" y="connsiteY1"/>
                </a:cxn>
                <a:cxn ang="0">
                  <a:pos x="connsiteX2" y="connsiteY2"/>
                </a:cxn>
              </a:cxnLst>
              <a:rect l="l" t="t" r="r" b="b"/>
              <a:pathLst>
                <a:path w="309563" h="1057275">
                  <a:moveTo>
                    <a:pt x="0" y="1057275"/>
                  </a:moveTo>
                  <a:lnTo>
                    <a:pt x="304800" y="1057275"/>
                  </a:lnTo>
                  <a:cubicBezTo>
                    <a:pt x="306388" y="704850"/>
                    <a:pt x="307975" y="352425"/>
                    <a:pt x="309563" y="0"/>
                  </a:cubicBezTo>
                </a:path>
              </a:pathLst>
            </a:custGeom>
            <a:ln w="190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th-TH"/>
            </a:p>
          </p:txBody>
        </p:sp>
        <p:sp>
          <p:nvSpPr>
            <p:cNvPr id="356" name="Freeform 355"/>
            <p:cNvSpPr/>
            <p:nvPr/>
          </p:nvSpPr>
          <p:spPr>
            <a:xfrm>
              <a:off x="3900923" y="4658281"/>
              <a:ext cx="0" cy="220517"/>
            </a:xfrm>
            <a:custGeom>
              <a:avLst/>
              <a:gdLst>
                <a:gd name="connsiteX0" fmla="*/ 0 w 0"/>
                <a:gd name="connsiteY0" fmla="*/ 0 h 228600"/>
                <a:gd name="connsiteX1" fmla="*/ 0 w 0"/>
                <a:gd name="connsiteY1" fmla="*/ 228600 h 228600"/>
              </a:gdLst>
              <a:ahLst/>
              <a:cxnLst>
                <a:cxn ang="0">
                  <a:pos x="connsiteX0" y="connsiteY0"/>
                </a:cxn>
                <a:cxn ang="0">
                  <a:pos x="connsiteX1" y="connsiteY1"/>
                </a:cxn>
              </a:cxnLst>
              <a:rect l="l" t="t" r="r" b="b"/>
              <a:pathLst>
                <a:path h="228600">
                  <a:moveTo>
                    <a:pt x="0" y="0"/>
                  </a:moveTo>
                  <a:lnTo>
                    <a:pt x="0" y="228600"/>
                  </a:lnTo>
                </a:path>
              </a:pathLst>
            </a:cu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th-TH"/>
            </a:p>
          </p:txBody>
        </p:sp>
        <p:sp>
          <p:nvSpPr>
            <p:cNvPr id="357" name="Freeform 356"/>
            <p:cNvSpPr/>
            <p:nvPr/>
          </p:nvSpPr>
          <p:spPr>
            <a:xfrm>
              <a:off x="4391203" y="4653452"/>
              <a:ext cx="214804" cy="1026937"/>
            </a:xfrm>
            <a:custGeom>
              <a:avLst/>
              <a:gdLst>
                <a:gd name="connsiteX0" fmla="*/ 0 w 214313"/>
                <a:gd name="connsiteY0" fmla="*/ 1062037 h 1062037"/>
                <a:gd name="connsiteX1" fmla="*/ 209550 w 214313"/>
                <a:gd name="connsiteY1" fmla="*/ 1062037 h 1062037"/>
                <a:gd name="connsiteX2" fmla="*/ 214313 w 214313"/>
                <a:gd name="connsiteY2" fmla="*/ 0 h 1062037"/>
              </a:gdLst>
              <a:ahLst/>
              <a:cxnLst>
                <a:cxn ang="0">
                  <a:pos x="connsiteX0" y="connsiteY0"/>
                </a:cxn>
                <a:cxn ang="0">
                  <a:pos x="connsiteX1" y="connsiteY1"/>
                </a:cxn>
                <a:cxn ang="0">
                  <a:pos x="connsiteX2" y="connsiteY2"/>
                </a:cxn>
              </a:cxnLst>
              <a:rect l="l" t="t" r="r" b="b"/>
              <a:pathLst>
                <a:path w="214313" h="1062037">
                  <a:moveTo>
                    <a:pt x="0" y="1062037"/>
                  </a:moveTo>
                  <a:lnTo>
                    <a:pt x="209550" y="1062037"/>
                  </a:lnTo>
                  <a:cubicBezTo>
                    <a:pt x="211138" y="708025"/>
                    <a:pt x="212725" y="354012"/>
                    <a:pt x="214313" y="0"/>
                  </a:cubicBezTo>
                </a:path>
              </a:pathLst>
            </a:custGeom>
            <a:ln w="190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th-TH"/>
            </a:p>
          </p:txBody>
        </p:sp>
        <p:sp>
          <p:nvSpPr>
            <p:cNvPr id="358" name="Freeform 357"/>
            <p:cNvSpPr/>
            <p:nvPr/>
          </p:nvSpPr>
          <p:spPr>
            <a:xfrm>
              <a:off x="4906079" y="4663109"/>
              <a:ext cx="0" cy="861146"/>
            </a:xfrm>
            <a:custGeom>
              <a:avLst/>
              <a:gdLst>
                <a:gd name="connsiteX0" fmla="*/ 0 w 0"/>
                <a:gd name="connsiteY0" fmla="*/ 0 h 890587"/>
                <a:gd name="connsiteX1" fmla="*/ 0 w 0"/>
                <a:gd name="connsiteY1" fmla="*/ 890587 h 890587"/>
              </a:gdLst>
              <a:ahLst/>
              <a:cxnLst>
                <a:cxn ang="0">
                  <a:pos x="connsiteX0" y="connsiteY0"/>
                </a:cxn>
                <a:cxn ang="0">
                  <a:pos x="connsiteX1" y="connsiteY1"/>
                </a:cxn>
              </a:cxnLst>
              <a:rect l="l" t="t" r="r" b="b"/>
              <a:pathLst>
                <a:path h="890587">
                  <a:moveTo>
                    <a:pt x="0" y="0"/>
                  </a:moveTo>
                  <a:lnTo>
                    <a:pt x="0" y="890587"/>
                  </a:lnTo>
                </a:path>
              </a:pathLst>
            </a:custGeom>
            <a:ln w="190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th-TH"/>
            </a:p>
          </p:txBody>
        </p:sp>
        <p:grpSp>
          <p:nvGrpSpPr>
            <p:cNvPr id="237641" name="Group 440"/>
            <p:cNvGrpSpPr>
              <a:grpSpLocks/>
            </p:cNvGrpSpPr>
            <p:nvPr/>
          </p:nvGrpSpPr>
          <p:grpSpPr bwMode="auto">
            <a:xfrm>
              <a:off x="5364088" y="4907564"/>
              <a:ext cx="186889" cy="278431"/>
              <a:chOff x="5393223" y="4725144"/>
              <a:chExt cx="203948" cy="358428"/>
            </a:xfrm>
          </p:grpSpPr>
          <p:sp>
            <p:nvSpPr>
              <p:cNvPr id="237690" name="Rectangle 359"/>
              <p:cNvSpPr>
                <a:spLocks noChangeArrowheads="1"/>
              </p:cNvSpPr>
              <p:nvPr/>
            </p:nvSpPr>
            <p:spPr bwMode="auto">
              <a:xfrm>
                <a:off x="5393223" y="4771740"/>
                <a:ext cx="203947" cy="179214"/>
              </a:xfrm>
              <a:prstGeom prst="rect">
                <a:avLst/>
              </a:prstGeom>
              <a:gradFill rotWithShape="1">
                <a:gsLst>
                  <a:gs pos="0">
                    <a:srgbClr val="007676"/>
                  </a:gs>
                  <a:gs pos="50000">
                    <a:srgbClr val="00FFFF"/>
                  </a:gs>
                  <a:gs pos="100000">
                    <a:srgbClr val="007676"/>
                  </a:gs>
                </a:gsLst>
                <a:lin ang="0" scaled="1"/>
              </a:gradFill>
              <a:ln w="25400">
                <a:solidFill>
                  <a:srgbClr val="00808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691" name="Line 634"/>
              <p:cNvSpPr>
                <a:spLocks noChangeShapeType="1"/>
              </p:cNvSpPr>
              <p:nvPr/>
            </p:nvSpPr>
            <p:spPr bwMode="auto">
              <a:xfrm flipV="1">
                <a:off x="5393223" y="4725144"/>
                <a:ext cx="48559" cy="46596"/>
              </a:xfrm>
              <a:prstGeom prst="line">
                <a:avLst/>
              </a:prstGeom>
              <a:noFill/>
              <a:ln w="25400">
                <a:solidFill>
                  <a:srgbClr val="00808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7692" name="Line 635"/>
              <p:cNvSpPr>
                <a:spLocks noChangeShapeType="1"/>
              </p:cNvSpPr>
              <p:nvPr/>
            </p:nvSpPr>
            <p:spPr bwMode="auto">
              <a:xfrm flipH="1" flipV="1">
                <a:off x="5548612" y="4725144"/>
                <a:ext cx="48559" cy="46596"/>
              </a:xfrm>
              <a:prstGeom prst="line">
                <a:avLst/>
              </a:prstGeom>
              <a:noFill/>
              <a:ln w="25400">
                <a:solidFill>
                  <a:srgbClr val="00808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7693" name="Line 636"/>
              <p:cNvSpPr>
                <a:spLocks noChangeShapeType="1"/>
              </p:cNvSpPr>
              <p:nvPr/>
            </p:nvSpPr>
            <p:spPr bwMode="auto">
              <a:xfrm>
                <a:off x="5441782" y="4725144"/>
                <a:ext cx="106829" cy="0"/>
              </a:xfrm>
              <a:prstGeom prst="line">
                <a:avLst/>
              </a:prstGeom>
              <a:noFill/>
              <a:ln w="25400">
                <a:solidFill>
                  <a:srgbClr val="00808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7694" name="Line 637"/>
              <p:cNvSpPr>
                <a:spLocks noChangeShapeType="1"/>
              </p:cNvSpPr>
              <p:nvPr/>
            </p:nvSpPr>
            <p:spPr bwMode="auto">
              <a:xfrm>
                <a:off x="5393223" y="4950954"/>
                <a:ext cx="97118" cy="89607"/>
              </a:xfrm>
              <a:prstGeom prst="line">
                <a:avLst/>
              </a:prstGeom>
              <a:noFill/>
              <a:ln w="25400">
                <a:solidFill>
                  <a:srgbClr val="00808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7695" name="Line 638"/>
              <p:cNvSpPr>
                <a:spLocks noChangeShapeType="1"/>
              </p:cNvSpPr>
              <p:nvPr/>
            </p:nvSpPr>
            <p:spPr bwMode="auto">
              <a:xfrm flipH="1">
                <a:off x="5495197" y="4950954"/>
                <a:ext cx="101974" cy="89607"/>
              </a:xfrm>
              <a:prstGeom prst="line">
                <a:avLst/>
              </a:prstGeom>
              <a:noFill/>
              <a:ln w="25400">
                <a:solidFill>
                  <a:srgbClr val="00808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7696" name="Line 641"/>
              <p:cNvSpPr>
                <a:spLocks noChangeShapeType="1"/>
              </p:cNvSpPr>
              <p:nvPr/>
            </p:nvSpPr>
            <p:spPr bwMode="auto">
              <a:xfrm>
                <a:off x="5490341" y="5040561"/>
                <a:ext cx="0" cy="43011"/>
              </a:xfrm>
              <a:prstGeom prst="line">
                <a:avLst/>
              </a:prstGeom>
              <a:noFill/>
              <a:ln w="25400">
                <a:solidFill>
                  <a:srgbClr val="00808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367" name="Freeform 366"/>
            <p:cNvSpPr/>
            <p:nvPr/>
          </p:nvSpPr>
          <p:spPr>
            <a:xfrm>
              <a:off x="5114324" y="5108974"/>
              <a:ext cx="277115" cy="618093"/>
            </a:xfrm>
            <a:custGeom>
              <a:avLst/>
              <a:gdLst>
                <a:gd name="connsiteX0" fmla="*/ 0 w 276225"/>
                <a:gd name="connsiteY0" fmla="*/ 638175 h 638175"/>
                <a:gd name="connsiteX1" fmla="*/ 161925 w 276225"/>
                <a:gd name="connsiteY1" fmla="*/ 638175 h 638175"/>
                <a:gd name="connsiteX2" fmla="*/ 166688 w 276225"/>
                <a:gd name="connsiteY2" fmla="*/ 80963 h 638175"/>
                <a:gd name="connsiteX3" fmla="*/ 276225 w 276225"/>
                <a:gd name="connsiteY3" fmla="*/ 0 h 638175"/>
              </a:gdLst>
              <a:ahLst/>
              <a:cxnLst>
                <a:cxn ang="0">
                  <a:pos x="connsiteX0" y="connsiteY0"/>
                </a:cxn>
                <a:cxn ang="0">
                  <a:pos x="connsiteX1" y="connsiteY1"/>
                </a:cxn>
                <a:cxn ang="0">
                  <a:pos x="connsiteX2" y="connsiteY2"/>
                </a:cxn>
                <a:cxn ang="0">
                  <a:pos x="connsiteX3" y="connsiteY3"/>
                </a:cxn>
              </a:cxnLst>
              <a:rect l="l" t="t" r="r" b="b"/>
              <a:pathLst>
                <a:path w="276225" h="638175">
                  <a:moveTo>
                    <a:pt x="0" y="638175"/>
                  </a:moveTo>
                  <a:lnTo>
                    <a:pt x="161925" y="638175"/>
                  </a:lnTo>
                  <a:cubicBezTo>
                    <a:pt x="163513" y="452438"/>
                    <a:pt x="165100" y="266700"/>
                    <a:pt x="166688" y="80963"/>
                  </a:cubicBezTo>
                  <a:lnTo>
                    <a:pt x="276225" y="0"/>
                  </a:lnTo>
                </a:path>
              </a:pathLst>
            </a:custGeom>
            <a:ln w="1905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th-TH"/>
            </a:p>
          </p:txBody>
        </p:sp>
        <p:sp>
          <p:nvSpPr>
            <p:cNvPr id="368" name="Freeform 367"/>
            <p:cNvSpPr/>
            <p:nvPr/>
          </p:nvSpPr>
          <p:spPr>
            <a:xfrm>
              <a:off x="5486544" y="5145995"/>
              <a:ext cx="175451" cy="207641"/>
            </a:xfrm>
            <a:custGeom>
              <a:avLst/>
              <a:gdLst>
                <a:gd name="connsiteX0" fmla="*/ 0 w 176213"/>
                <a:gd name="connsiteY0" fmla="*/ 0 h 214313"/>
                <a:gd name="connsiteX1" fmla="*/ 42863 w 176213"/>
                <a:gd name="connsiteY1" fmla="*/ 214313 h 214313"/>
                <a:gd name="connsiteX2" fmla="*/ 176213 w 176213"/>
                <a:gd name="connsiteY2" fmla="*/ 214313 h 214313"/>
              </a:gdLst>
              <a:ahLst/>
              <a:cxnLst>
                <a:cxn ang="0">
                  <a:pos x="connsiteX0" y="connsiteY0"/>
                </a:cxn>
                <a:cxn ang="0">
                  <a:pos x="connsiteX1" y="connsiteY1"/>
                </a:cxn>
                <a:cxn ang="0">
                  <a:pos x="connsiteX2" y="connsiteY2"/>
                </a:cxn>
              </a:cxnLst>
              <a:rect l="l" t="t" r="r" b="b"/>
              <a:pathLst>
                <a:path w="176213" h="214313">
                  <a:moveTo>
                    <a:pt x="0" y="0"/>
                  </a:moveTo>
                  <a:lnTo>
                    <a:pt x="42863" y="214313"/>
                  </a:lnTo>
                  <a:lnTo>
                    <a:pt x="176213" y="214313"/>
                  </a:ln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th-TH"/>
            </a:p>
          </p:txBody>
        </p:sp>
        <p:sp>
          <p:nvSpPr>
            <p:cNvPr id="369" name="Freeform 368"/>
            <p:cNvSpPr/>
            <p:nvPr/>
          </p:nvSpPr>
          <p:spPr>
            <a:xfrm>
              <a:off x="5281577" y="5390657"/>
              <a:ext cx="695246" cy="247881"/>
            </a:xfrm>
            <a:custGeom>
              <a:avLst/>
              <a:gdLst>
                <a:gd name="connsiteX0" fmla="*/ 581025 w 695325"/>
                <a:gd name="connsiteY0" fmla="*/ 0 h 257175"/>
                <a:gd name="connsiteX1" fmla="*/ 695325 w 695325"/>
                <a:gd name="connsiteY1" fmla="*/ 0 h 257175"/>
                <a:gd name="connsiteX2" fmla="*/ 695325 w 695325"/>
                <a:gd name="connsiteY2" fmla="*/ 257175 h 257175"/>
                <a:gd name="connsiteX3" fmla="*/ 0 w 695325"/>
                <a:gd name="connsiteY3" fmla="*/ 257175 h 257175"/>
              </a:gdLst>
              <a:ahLst/>
              <a:cxnLst>
                <a:cxn ang="0">
                  <a:pos x="connsiteX0" y="connsiteY0"/>
                </a:cxn>
                <a:cxn ang="0">
                  <a:pos x="connsiteX1" y="connsiteY1"/>
                </a:cxn>
                <a:cxn ang="0">
                  <a:pos x="connsiteX2" y="connsiteY2"/>
                </a:cxn>
                <a:cxn ang="0">
                  <a:pos x="connsiteX3" y="connsiteY3"/>
                </a:cxn>
              </a:cxnLst>
              <a:rect l="l" t="t" r="r" b="b"/>
              <a:pathLst>
                <a:path w="695325" h="257175">
                  <a:moveTo>
                    <a:pt x="581025" y="0"/>
                  </a:moveTo>
                  <a:lnTo>
                    <a:pt x="695325" y="0"/>
                  </a:lnTo>
                  <a:lnTo>
                    <a:pt x="695325" y="257175"/>
                  </a:lnTo>
                  <a:lnTo>
                    <a:pt x="0" y="257175"/>
                  </a:ln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th-TH"/>
            </a:p>
          </p:txBody>
        </p:sp>
        <p:sp>
          <p:nvSpPr>
            <p:cNvPr id="370" name="Freeform 369"/>
            <p:cNvSpPr/>
            <p:nvPr/>
          </p:nvSpPr>
          <p:spPr>
            <a:xfrm>
              <a:off x="5850564" y="4717837"/>
              <a:ext cx="177091" cy="0"/>
            </a:xfrm>
            <a:custGeom>
              <a:avLst/>
              <a:gdLst>
                <a:gd name="connsiteX0" fmla="*/ 0 w 176212"/>
                <a:gd name="connsiteY0" fmla="*/ 0 h 0"/>
                <a:gd name="connsiteX1" fmla="*/ 176212 w 176212"/>
                <a:gd name="connsiteY1" fmla="*/ 0 h 0"/>
              </a:gdLst>
              <a:ahLst/>
              <a:cxnLst>
                <a:cxn ang="0">
                  <a:pos x="connsiteX0" y="connsiteY0"/>
                </a:cxn>
                <a:cxn ang="0">
                  <a:pos x="connsiteX1" y="connsiteY1"/>
                </a:cxn>
              </a:cxnLst>
              <a:rect l="l" t="t" r="r" b="b"/>
              <a:pathLst>
                <a:path w="176212">
                  <a:moveTo>
                    <a:pt x="0" y="0"/>
                  </a:moveTo>
                  <a:lnTo>
                    <a:pt x="176212" y="0"/>
                  </a:lnTo>
                </a:path>
              </a:pathLst>
            </a:custGeom>
            <a:ln w="3810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th-TH"/>
            </a:p>
          </p:txBody>
        </p:sp>
        <p:sp>
          <p:nvSpPr>
            <p:cNvPr id="237646" name="TextBox 370"/>
            <p:cNvSpPr txBox="1">
              <a:spLocks noChangeArrowheads="1"/>
            </p:cNvSpPr>
            <p:nvPr/>
          </p:nvSpPr>
          <p:spPr bwMode="auto">
            <a:xfrm>
              <a:off x="35496" y="5798150"/>
              <a:ext cx="8856984"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900">
                  <a:latin typeface="Arial" panose="020B0604020202020204" pitchFamily="34" charset="0"/>
                  <a:cs typeface="Arial" panose="020B0604020202020204" pitchFamily="34" charset="0"/>
                </a:rPr>
                <a:t>    HD unbleached            C-Stage                        Eop-Stage                        H-Stage                              Cleaner stage              HD Bleached        Pulp Machine (HDP-DWP)                  </a:t>
              </a:r>
              <a:endParaRPr lang="th-TH" altLang="en-US" sz="900">
                <a:latin typeface="Arial" panose="020B0604020202020204" pitchFamily="34" charset="0"/>
              </a:endParaRPr>
            </a:p>
          </p:txBody>
        </p:sp>
        <p:sp>
          <p:nvSpPr>
            <p:cNvPr id="372" name="Freeform 371"/>
            <p:cNvSpPr/>
            <p:nvPr/>
          </p:nvSpPr>
          <p:spPr>
            <a:xfrm>
              <a:off x="611620" y="4365331"/>
              <a:ext cx="541111" cy="1324715"/>
            </a:xfrm>
            <a:custGeom>
              <a:avLst/>
              <a:gdLst>
                <a:gd name="connsiteX0" fmla="*/ 0 w 757451"/>
                <a:gd name="connsiteY0" fmla="*/ 0 h 1385248"/>
                <a:gd name="connsiteX1" fmla="*/ 757451 w 757451"/>
                <a:gd name="connsiteY1" fmla="*/ 0 h 1385248"/>
                <a:gd name="connsiteX2" fmla="*/ 757451 w 757451"/>
                <a:gd name="connsiteY2" fmla="*/ 1385248 h 1385248"/>
              </a:gdLst>
              <a:ahLst/>
              <a:cxnLst>
                <a:cxn ang="0">
                  <a:pos x="connsiteX0" y="connsiteY0"/>
                </a:cxn>
                <a:cxn ang="0">
                  <a:pos x="connsiteX1" y="connsiteY1"/>
                </a:cxn>
                <a:cxn ang="0">
                  <a:pos x="connsiteX2" y="connsiteY2"/>
                </a:cxn>
              </a:cxnLst>
              <a:rect l="l" t="t" r="r" b="b"/>
              <a:pathLst>
                <a:path w="757451" h="1385248">
                  <a:moveTo>
                    <a:pt x="0" y="0"/>
                  </a:moveTo>
                  <a:lnTo>
                    <a:pt x="757451" y="0"/>
                  </a:lnTo>
                  <a:lnTo>
                    <a:pt x="757451" y="1385248"/>
                  </a:lnTo>
                </a:path>
              </a:pathLst>
            </a:custGeom>
            <a:ln>
              <a:solidFill>
                <a:schemeClr val="accent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th-TH"/>
            </a:p>
          </p:txBody>
        </p:sp>
        <p:sp>
          <p:nvSpPr>
            <p:cNvPr id="373" name="TextBox 372"/>
            <p:cNvSpPr txBox="1"/>
            <p:nvPr/>
          </p:nvSpPr>
          <p:spPr>
            <a:xfrm>
              <a:off x="695247" y="4228513"/>
              <a:ext cx="491920" cy="209250"/>
            </a:xfrm>
            <a:prstGeom prst="rect">
              <a:avLst/>
            </a:prstGeom>
            <a:noFill/>
          </p:spPr>
          <p:txBody>
            <a:bodyPr wrap="none">
              <a:spAutoFit/>
            </a:bodyPr>
            <a:lstStyle/>
            <a:p>
              <a:pPr>
                <a:defRPr/>
              </a:pPr>
              <a:r>
                <a:rPr lang="en-US" sz="800" dirty="0">
                  <a:solidFill>
                    <a:schemeClr val="accent2">
                      <a:lumMod val="60000"/>
                      <a:lumOff val="40000"/>
                    </a:schemeClr>
                  </a:solidFill>
                  <a:latin typeface="Arial" pitchFamily="34" charset="0"/>
                  <a:cs typeface="Arial" pitchFamily="34" charset="0"/>
                </a:rPr>
                <a:t>Cl2 (g)</a:t>
              </a:r>
              <a:endParaRPr lang="th-TH" sz="800" dirty="0">
                <a:solidFill>
                  <a:schemeClr val="accent2">
                    <a:lumMod val="60000"/>
                    <a:lumOff val="40000"/>
                  </a:schemeClr>
                </a:solidFill>
                <a:latin typeface="Arial" pitchFamily="34" charset="0"/>
              </a:endParaRPr>
            </a:p>
          </p:txBody>
        </p:sp>
        <p:sp>
          <p:nvSpPr>
            <p:cNvPr id="237649" name="TextBox 373"/>
            <p:cNvSpPr txBox="1">
              <a:spLocks noChangeArrowheads="1"/>
            </p:cNvSpPr>
            <p:nvPr/>
          </p:nvSpPr>
          <p:spPr bwMode="auto">
            <a:xfrm>
              <a:off x="323528" y="3717032"/>
              <a:ext cx="2832827"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900">
                  <a:latin typeface="Arial" panose="020B0604020202020204" pitchFamily="34" charset="0"/>
                  <a:cs typeface="Arial" panose="020B0604020202020204" pitchFamily="34" charset="0"/>
                </a:rPr>
                <a:t>Unbleached pulp (Kappa no.13-15, BN 35-40%ISO)</a:t>
              </a:r>
              <a:endParaRPr lang="th-TH" altLang="en-US" sz="900">
                <a:latin typeface="Arial" panose="020B0604020202020204" pitchFamily="34" charset="0"/>
              </a:endParaRPr>
            </a:p>
          </p:txBody>
        </p:sp>
        <p:sp>
          <p:nvSpPr>
            <p:cNvPr id="375" name="Freeform 374"/>
            <p:cNvSpPr/>
            <p:nvPr/>
          </p:nvSpPr>
          <p:spPr>
            <a:xfrm flipH="1">
              <a:off x="2195601" y="4581019"/>
              <a:ext cx="719843" cy="465179"/>
            </a:xfrm>
            <a:custGeom>
              <a:avLst/>
              <a:gdLst>
                <a:gd name="connsiteX0" fmla="*/ 0 w 757451"/>
                <a:gd name="connsiteY0" fmla="*/ 0 h 1385248"/>
                <a:gd name="connsiteX1" fmla="*/ 757451 w 757451"/>
                <a:gd name="connsiteY1" fmla="*/ 0 h 1385248"/>
                <a:gd name="connsiteX2" fmla="*/ 757451 w 757451"/>
                <a:gd name="connsiteY2" fmla="*/ 1385248 h 1385248"/>
              </a:gdLst>
              <a:ahLst/>
              <a:cxnLst>
                <a:cxn ang="0">
                  <a:pos x="connsiteX0" y="connsiteY0"/>
                </a:cxn>
                <a:cxn ang="0">
                  <a:pos x="connsiteX1" y="connsiteY1"/>
                </a:cxn>
                <a:cxn ang="0">
                  <a:pos x="connsiteX2" y="connsiteY2"/>
                </a:cxn>
              </a:cxnLst>
              <a:rect l="l" t="t" r="r" b="b"/>
              <a:pathLst>
                <a:path w="757451" h="1385248">
                  <a:moveTo>
                    <a:pt x="0" y="0"/>
                  </a:moveTo>
                  <a:lnTo>
                    <a:pt x="757451" y="0"/>
                  </a:lnTo>
                  <a:lnTo>
                    <a:pt x="757451" y="1385248"/>
                  </a:lnTo>
                </a:path>
              </a:pathLst>
            </a:custGeom>
            <a:ln>
              <a:solidFill>
                <a:schemeClr val="accent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th-TH"/>
            </a:p>
          </p:txBody>
        </p:sp>
        <p:sp>
          <p:nvSpPr>
            <p:cNvPr id="376" name="TextBox 375"/>
            <p:cNvSpPr txBox="1"/>
            <p:nvPr/>
          </p:nvSpPr>
          <p:spPr>
            <a:xfrm>
              <a:off x="2195601" y="4444201"/>
              <a:ext cx="796910" cy="209250"/>
            </a:xfrm>
            <a:prstGeom prst="rect">
              <a:avLst/>
            </a:prstGeom>
            <a:noFill/>
          </p:spPr>
          <p:txBody>
            <a:bodyPr wrap="none">
              <a:spAutoFit/>
            </a:bodyPr>
            <a:lstStyle/>
            <a:p>
              <a:pPr>
                <a:defRPr/>
              </a:pPr>
              <a:r>
                <a:rPr lang="en-US" sz="800" dirty="0" err="1">
                  <a:solidFill>
                    <a:schemeClr val="accent2">
                      <a:lumMod val="60000"/>
                      <a:lumOff val="40000"/>
                    </a:schemeClr>
                  </a:solidFill>
                  <a:latin typeface="Arial" pitchFamily="34" charset="0"/>
                </a:rPr>
                <a:t>NaOH</a:t>
              </a:r>
              <a:r>
                <a:rPr lang="en-US" sz="800" dirty="0">
                  <a:solidFill>
                    <a:schemeClr val="accent2">
                      <a:lumMod val="60000"/>
                      <a:lumOff val="40000"/>
                    </a:schemeClr>
                  </a:solidFill>
                  <a:latin typeface="Arial" pitchFamily="34" charset="0"/>
                </a:rPr>
                <a:t>, H2O2</a:t>
              </a:r>
              <a:endParaRPr lang="th-TH" sz="800" dirty="0">
                <a:solidFill>
                  <a:schemeClr val="accent2">
                    <a:lumMod val="60000"/>
                    <a:lumOff val="40000"/>
                  </a:schemeClr>
                </a:solidFill>
                <a:latin typeface="Arial" pitchFamily="34" charset="0"/>
              </a:endParaRPr>
            </a:p>
          </p:txBody>
        </p:sp>
        <p:sp>
          <p:nvSpPr>
            <p:cNvPr id="377" name="Freeform 376"/>
            <p:cNvSpPr/>
            <p:nvPr/>
          </p:nvSpPr>
          <p:spPr>
            <a:xfrm flipH="1">
              <a:off x="3996027" y="4508586"/>
              <a:ext cx="288593" cy="399185"/>
            </a:xfrm>
            <a:custGeom>
              <a:avLst/>
              <a:gdLst>
                <a:gd name="connsiteX0" fmla="*/ 0 w 757451"/>
                <a:gd name="connsiteY0" fmla="*/ 0 h 1385248"/>
                <a:gd name="connsiteX1" fmla="*/ 757451 w 757451"/>
                <a:gd name="connsiteY1" fmla="*/ 0 h 1385248"/>
                <a:gd name="connsiteX2" fmla="*/ 757451 w 757451"/>
                <a:gd name="connsiteY2" fmla="*/ 1385248 h 1385248"/>
              </a:gdLst>
              <a:ahLst/>
              <a:cxnLst>
                <a:cxn ang="0">
                  <a:pos x="connsiteX0" y="connsiteY0"/>
                </a:cxn>
                <a:cxn ang="0">
                  <a:pos x="connsiteX1" y="connsiteY1"/>
                </a:cxn>
                <a:cxn ang="0">
                  <a:pos x="connsiteX2" y="connsiteY2"/>
                </a:cxn>
              </a:cxnLst>
              <a:rect l="l" t="t" r="r" b="b"/>
              <a:pathLst>
                <a:path w="757451" h="1385248">
                  <a:moveTo>
                    <a:pt x="0" y="0"/>
                  </a:moveTo>
                  <a:lnTo>
                    <a:pt x="757451" y="0"/>
                  </a:lnTo>
                  <a:lnTo>
                    <a:pt x="757451" y="1385248"/>
                  </a:lnTo>
                </a:path>
              </a:pathLst>
            </a:custGeom>
            <a:ln>
              <a:solidFill>
                <a:schemeClr val="accent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th-TH"/>
            </a:p>
          </p:txBody>
        </p:sp>
        <p:sp>
          <p:nvSpPr>
            <p:cNvPr id="378" name="TextBox 377"/>
            <p:cNvSpPr txBox="1"/>
            <p:nvPr/>
          </p:nvSpPr>
          <p:spPr>
            <a:xfrm>
              <a:off x="3935357" y="4373378"/>
              <a:ext cx="491920" cy="207641"/>
            </a:xfrm>
            <a:prstGeom prst="rect">
              <a:avLst/>
            </a:prstGeom>
            <a:noFill/>
          </p:spPr>
          <p:txBody>
            <a:bodyPr wrap="none">
              <a:spAutoFit/>
            </a:bodyPr>
            <a:lstStyle/>
            <a:p>
              <a:pPr>
                <a:defRPr/>
              </a:pPr>
              <a:r>
                <a:rPr lang="en-US" sz="800" dirty="0" err="1">
                  <a:solidFill>
                    <a:schemeClr val="accent2">
                      <a:lumMod val="60000"/>
                      <a:lumOff val="40000"/>
                    </a:schemeClr>
                  </a:solidFill>
                  <a:latin typeface="Arial" pitchFamily="34" charset="0"/>
                </a:rPr>
                <a:t>NaOCl</a:t>
              </a:r>
              <a:endParaRPr lang="th-TH" sz="800" dirty="0">
                <a:solidFill>
                  <a:schemeClr val="accent2">
                    <a:lumMod val="60000"/>
                    <a:lumOff val="40000"/>
                  </a:schemeClr>
                </a:solidFill>
                <a:latin typeface="Arial" pitchFamily="34" charset="0"/>
              </a:endParaRPr>
            </a:p>
          </p:txBody>
        </p:sp>
        <p:sp>
          <p:nvSpPr>
            <p:cNvPr id="237654" name="TextBox 378"/>
            <p:cNvSpPr txBox="1">
              <a:spLocks noChangeArrowheads="1"/>
            </p:cNvSpPr>
            <p:nvPr/>
          </p:nvSpPr>
          <p:spPr bwMode="auto">
            <a:xfrm>
              <a:off x="5647449" y="1844824"/>
              <a:ext cx="65274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900">
                  <a:latin typeface="Arial" panose="020B0604020202020204" pitchFamily="34" charset="0"/>
                  <a:cs typeface="Arial" panose="020B0604020202020204" pitchFamily="34" charset="0"/>
                </a:rPr>
                <a:t>Kappa </a:t>
              </a:r>
            </a:p>
            <a:p>
              <a:pPr>
                <a:spcBef>
                  <a:spcPct val="0"/>
                </a:spcBef>
                <a:buFontTx/>
                <a:buNone/>
              </a:pPr>
              <a:r>
                <a:rPr lang="en-US" altLang="en-US" sz="900">
                  <a:latin typeface="Arial" panose="020B0604020202020204" pitchFamily="34" charset="0"/>
                  <a:cs typeface="Arial" panose="020B0604020202020204" pitchFamily="34" charset="0"/>
                </a:rPr>
                <a:t>inlet 22.0</a:t>
              </a:r>
              <a:endParaRPr lang="th-TH" altLang="en-US" sz="900">
                <a:latin typeface="Arial" panose="020B0604020202020204" pitchFamily="34" charset="0"/>
              </a:endParaRPr>
            </a:p>
          </p:txBody>
        </p:sp>
        <p:sp>
          <p:nvSpPr>
            <p:cNvPr id="237655" name="TextBox 379"/>
            <p:cNvSpPr txBox="1">
              <a:spLocks noChangeArrowheads="1"/>
            </p:cNvSpPr>
            <p:nvPr/>
          </p:nvSpPr>
          <p:spPr bwMode="auto">
            <a:xfrm>
              <a:off x="1547664" y="4221088"/>
              <a:ext cx="889987"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800">
                  <a:latin typeface="Arial" panose="020B0604020202020204" pitchFamily="34" charset="0"/>
                  <a:cs typeface="Arial" panose="020B0604020202020204" pitchFamily="34" charset="0"/>
                </a:rPr>
                <a:t>BN 45-50%ISO</a:t>
              </a:r>
              <a:endParaRPr lang="th-TH" altLang="en-US" sz="800">
                <a:latin typeface="Arial" panose="020B0604020202020204" pitchFamily="34" charset="0"/>
              </a:endParaRPr>
            </a:p>
          </p:txBody>
        </p:sp>
        <p:sp>
          <p:nvSpPr>
            <p:cNvPr id="237656" name="TextBox 380"/>
            <p:cNvSpPr txBox="1">
              <a:spLocks noChangeArrowheads="1"/>
            </p:cNvSpPr>
            <p:nvPr/>
          </p:nvSpPr>
          <p:spPr bwMode="auto">
            <a:xfrm>
              <a:off x="3393981" y="4221088"/>
              <a:ext cx="889987"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800">
                  <a:latin typeface="Arial" panose="020B0604020202020204" pitchFamily="34" charset="0"/>
                  <a:cs typeface="Arial" panose="020B0604020202020204" pitchFamily="34" charset="0"/>
                </a:rPr>
                <a:t>BN 65-72%ISO</a:t>
              </a:r>
              <a:endParaRPr lang="th-TH" altLang="en-US" sz="800">
                <a:latin typeface="Arial" panose="020B0604020202020204" pitchFamily="34" charset="0"/>
              </a:endParaRPr>
            </a:p>
          </p:txBody>
        </p:sp>
        <p:sp>
          <p:nvSpPr>
            <p:cNvPr id="237657" name="TextBox 381"/>
            <p:cNvSpPr txBox="1">
              <a:spLocks noChangeArrowheads="1"/>
            </p:cNvSpPr>
            <p:nvPr/>
          </p:nvSpPr>
          <p:spPr bwMode="auto">
            <a:xfrm>
              <a:off x="4355976" y="4221088"/>
              <a:ext cx="889987"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800">
                  <a:latin typeface="Arial" panose="020B0604020202020204" pitchFamily="34" charset="0"/>
                  <a:cs typeface="Arial" panose="020B0604020202020204" pitchFamily="34" charset="0"/>
                </a:rPr>
                <a:t>BN 85-87%ISO</a:t>
              </a:r>
              <a:endParaRPr lang="th-TH" altLang="en-US" sz="800">
                <a:latin typeface="Arial" panose="020B0604020202020204" pitchFamily="34" charset="0"/>
              </a:endParaRPr>
            </a:p>
          </p:txBody>
        </p:sp>
        <p:sp>
          <p:nvSpPr>
            <p:cNvPr id="237658" name="TextBox 382"/>
            <p:cNvSpPr txBox="1">
              <a:spLocks noChangeArrowheads="1"/>
            </p:cNvSpPr>
            <p:nvPr/>
          </p:nvSpPr>
          <p:spPr bwMode="auto">
            <a:xfrm>
              <a:off x="8244408" y="4581128"/>
              <a:ext cx="78579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800">
                  <a:latin typeface="Arial" panose="020B0604020202020204" pitchFamily="34" charset="0"/>
                  <a:cs typeface="Arial" panose="020B0604020202020204" pitchFamily="34" charset="0"/>
                </a:rPr>
                <a:t>Pulp Baling</a:t>
              </a:r>
            </a:p>
            <a:p>
              <a:pPr>
                <a:spcBef>
                  <a:spcPct val="0"/>
                </a:spcBef>
                <a:buFontTx/>
                <a:buNone/>
              </a:pPr>
              <a:r>
                <a:rPr lang="en-US" altLang="en-US" sz="800">
                  <a:latin typeface="Arial" panose="020B0604020202020204" pitchFamily="34" charset="0"/>
                  <a:cs typeface="Arial" panose="020B0604020202020204" pitchFamily="34" charset="0"/>
                </a:rPr>
                <a:t>150kgAD</a:t>
              </a:r>
            </a:p>
            <a:p>
              <a:pPr>
                <a:spcBef>
                  <a:spcPct val="0"/>
                </a:spcBef>
                <a:buFontTx/>
                <a:buNone/>
              </a:pPr>
              <a:r>
                <a:rPr lang="en-US" altLang="en-US" sz="800">
                  <a:latin typeface="Arial" panose="020B0604020202020204" pitchFamily="34" charset="0"/>
                  <a:cs typeface="Arial" panose="020B0604020202020204" pitchFamily="34" charset="0"/>
                </a:rPr>
                <a:t>52%Moisture</a:t>
              </a:r>
              <a:endParaRPr lang="th-TH" altLang="en-US" sz="800">
                <a:latin typeface="Arial" panose="020B0604020202020204" pitchFamily="34" charset="0"/>
              </a:endParaRPr>
            </a:p>
          </p:txBody>
        </p:sp>
        <p:sp>
          <p:nvSpPr>
            <p:cNvPr id="237659" name="TextBox 383"/>
            <p:cNvSpPr txBox="1">
              <a:spLocks noChangeArrowheads="1"/>
            </p:cNvSpPr>
            <p:nvPr/>
          </p:nvSpPr>
          <p:spPr bwMode="auto">
            <a:xfrm>
              <a:off x="5436096" y="4221088"/>
              <a:ext cx="118013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800">
                  <a:latin typeface="Arial" panose="020B0604020202020204" pitchFamily="34" charset="0"/>
                  <a:cs typeface="Arial" panose="020B0604020202020204" pitchFamily="34" charset="0"/>
                </a:rPr>
                <a:t>BN 85-87%ISO</a:t>
              </a:r>
            </a:p>
            <a:p>
              <a:pPr>
                <a:spcBef>
                  <a:spcPct val="0"/>
                </a:spcBef>
                <a:buFontTx/>
                <a:buNone/>
              </a:pPr>
              <a:r>
                <a:rPr lang="en-US" altLang="en-US" sz="800">
                  <a:latin typeface="Arial" panose="020B0604020202020204" pitchFamily="34" charset="0"/>
                  <a:cs typeface="Arial" panose="020B0604020202020204" pitchFamily="34" charset="0"/>
                </a:rPr>
                <a:t>Dirt + Shive &lt; 3.0ppm</a:t>
              </a:r>
              <a:endParaRPr lang="th-TH" altLang="en-US" sz="800">
                <a:latin typeface="Arial" panose="020B0604020202020204" pitchFamily="34" charset="0"/>
              </a:endParaRPr>
            </a:p>
          </p:txBody>
        </p:sp>
        <p:sp>
          <p:nvSpPr>
            <p:cNvPr id="385" name="Freeform 384"/>
            <p:cNvSpPr/>
            <p:nvPr/>
          </p:nvSpPr>
          <p:spPr>
            <a:xfrm>
              <a:off x="3914040" y="2136009"/>
              <a:ext cx="482081" cy="284903"/>
            </a:xfrm>
            <a:custGeom>
              <a:avLst/>
              <a:gdLst>
                <a:gd name="connsiteX0" fmla="*/ 482803 w 482803"/>
                <a:gd name="connsiteY0" fmla="*/ 0 h 409652"/>
                <a:gd name="connsiteX1" fmla="*/ 387706 w 482803"/>
                <a:gd name="connsiteY1" fmla="*/ 0 h 409652"/>
                <a:gd name="connsiteX2" fmla="*/ 387706 w 482803"/>
                <a:gd name="connsiteY2" fmla="*/ 402336 h 409652"/>
                <a:gd name="connsiteX3" fmla="*/ 0 w 482803"/>
                <a:gd name="connsiteY3" fmla="*/ 409652 h 409652"/>
              </a:gdLst>
              <a:ahLst/>
              <a:cxnLst>
                <a:cxn ang="0">
                  <a:pos x="connsiteX0" y="connsiteY0"/>
                </a:cxn>
                <a:cxn ang="0">
                  <a:pos x="connsiteX1" y="connsiteY1"/>
                </a:cxn>
                <a:cxn ang="0">
                  <a:pos x="connsiteX2" y="connsiteY2"/>
                </a:cxn>
                <a:cxn ang="0">
                  <a:pos x="connsiteX3" y="connsiteY3"/>
                </a:cxn>
              </a:cxnLst>
              <a:rect l="l" t="t" r="r" b="b"/>
              <a:pathLst>
                <a:path w="482803" h="409652">
                  <a:moveTo>
                    <a:pt x="482803" y="0"/>
                  </a:moveTo>
                  <a:lnTo>
                    <a:pt x="387706" y="0"/>
                  </a:lnTo>
                  <a:lnTo>
                    <a:pt x="387706" y="402336"/>
                  </a:lnTo>
                  <a:lnTo>
                    <a:pt x="0" y="409652"/>
                  </a:lnTo>
                </a:path>
              </a:pathLst>
            </a:cu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th-TH"/>
            </a:p>
          </p:txBody>
        </p:sp>
        <p:sp>
          <p:nvSpPr>
            <p:cNvPr id="237661" name="TextBox 385"/>
            <p:cNvSpPr txBox="1">
              <a:spLocks noChangeArrowheads="1"/>
            </p:cNvSpPr>
            <p:nvPr/>
          </p:nvSpPr>
          <p:spPr bwMode="auto">
            <a:xfrm>
              <a:off x="3491880" y="2420888"/>
              <a:ext cx="102784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800">
                  <a:latin typeface="Arial" panose="020B0604020202020204" pitchFamily="34" charset="0"/>
                  <a:cs typeface="Arial" panose="020B0604020202020204" pitchFamily="34" charset="0"/>
                </a:rPr>
                <a:t>WB  to Evaporator</a:t>
              </a:r>
            </a:p>
            <a:p>
              <a:pPr>
                <a:spcBef>
                  <a:spcPct val="0"/>
                </a:spcBef>
                <a:buFontTx/>
                <a:buNone/>
              </a:pPr>
              <a:r>
                <a:rPr lang="en-US" altLang="en-US" sz="800">
                  <a:latin typeface="Arial" panose="020B0604020202020204" pitchFamily="34" charset="0"/>
                  <a:cs typeface="Arial" panose="020B0604020202020204" pitchFamily="34" charset="0"/>
                </a:rPr>
                <a:t>(13-14%)</a:t>
              </a:r>
              <a:endParaRPr lang="th-TH" altLang="en-US" sz="800">
                <a:latin typeface="Arial" panose="020B0604020202020204" pitchFamily="34" charset="0"/>
              </a:endParaRPr>
            </a:p>
          </p:txBody>
        </p:sp>
        <p:sp>
          <p:nvSpPr>
            <p:cNvPr id="237662" name="TextBox 386"/>
            <p:cNvSpPr txBox="1">
              <a:spLocks noChangeArrowheads="1"/>
            </p:cNvSpPr>
            <p:nvPr/>
          </p:nvSpPr>
          <p:spPr bwMode="auto">
            <a:xfrm>
              <a:off x="1403648" y="2123564"/>
              <a:ext cx="197682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000" b="1">
                  <a:latin typeface="Arial" panose="020B0604020202020204" pitchFamily="34" charset="0"/>
                  <a:cs typeface="Arial" panose="020B0604020202020204" pitchFamily="34" charset="0"/>
                </a:rPr>
                <a:t> 5 TUBES PANDAI DIGESTER</a:t>
              </a:r>
            </a:p>
            <a:p>
              <a:pPr>
                <a:spcBef>
                  <a:spcPct val="0"/>
                </a:spcBef>
                <a:buFontTx/>
                <a:buNone/>
              </a:pPr>
              <a:r>
                <a:rPr lang="en-US" altLang="en-US" sz="800">
                  <a:latin typeface="Arial" panose="020B0604020202020204" pitchFamily="34" charset="0"/>
                  <a:cs typeface="Arial" panose="020B0604020202020204" pitchFamily="34" charset="0"/>
                </a:rPr>
                <a:t>60min@172C </a:t>
              </a:r>
              <a:endParaRPr lang="th-TH" altLang="en-US" sz="800">
                <a:latin typeface="Arial" panose="020B0604020202020204" pitchFamily="34" charset="0"/>
              </a:endParaRPr>
            </a:p>
          </p:txBody>
        </p:sp>
        <p:sp>
          <p:nvSpPr>
            <p:cNvPr id="237663" name="TextBox 387"/>
            <p:cNvSpPr txBox="1">
              <a:spLocks noChangeArrowheads="1"/>
            </p:cNvSpPr>
            <p:nvPr/>
          </p:nvSpPr>
          <p:spPr bwMode="auto">
            <a:xfrm>
              <a:off x="107387" y="1989420"/>
              <a:ext cx="792205"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800">
                  <a:latin typeface="Arial" panose="020B0604020202020204" pitchFamily="34" charset="0"/>
                  <a:cs typeface="Arial" panose="020B0604020202020204" pitchFamily="34" charset="0"/>
                </a:rPr>
                <a:t>Screw feeder</a:t>
              </a:r>
              <a:endParaRPr lang="th-TH" altLang="en-US" sz="800">
                <a:latin typeface="Arial" panose="020B0604020202020204" pitchFamily="34" charset="0"/>
              </a:endParaRPr>
            </a:p>
          </p:txBody>
        </p:sp>
        <p:sp>
          <p:nvSpPr>
            <p:cNvPr id="237664" name="TextBox 388"/>
            <p:cNvSpPr txBox="1">
              <a:spLocks noChangeArrowheads="1"/>
            </p:cNvSpPr>
            <p:nvPr/>
          </p:nvSpPr>
          <p:spPr bwMode="auto">
            <a:xfrm>
              <a:off x="2555776" y="2348880"/>
              <a:ext cx="748923"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800">
                  <a:latin typeface="Arial" panose="020B0604020202020204" pitchFamily="34" charset="0"/>
                  <a:cs typeface="Arial" panose="020B0604020202020204" pitchFamily="34" charset="0"/>
                </a:rPr>
                <a:t>Knotter no.1</a:t>
              </a:r>
              <a:endParaRPr lang="th-TH" altLang="en-US" sz="800">
                <a:latin typeface="Arial" panose="020B0604020202020204" pitchFamily="34" charset="0"/>
              </a:endParaRPr>
            </a:p>
          </p:txBody>
        </p:sp>
        <p:sp>
          <p:nvSpPr>
            <p:cNvPr id="237665" name="TextBox 389"/>
            <p:cNvSpPr txBox="1">
              <a:spLocks noChangeArrowheads="1"/>
            </p:cNvSpPr>
            <p:nvPr/>
          </p:nvSpPr>
          <p:spPr bwMode="auto">
            <a:xfrm>
              <a:off x="2555776" y="2781508"/>
              <a:ext cx="748923"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800">
                  <a:latin typeface="Arial" panose="020B0604020202020204" pitchFamily="34" charset="0"/>
                  <a:cs typeface="Arial" panose="020B0604020202020204" pitchFamily="34" charset="0"/>
                </a:rPr>
                <a:t>Knotter no.2</a:t>
              </a:r>
              <a:endParaRPr lang="th-TH" altLang="en-US" sz="800">
                <a:latin typeface="Arial" panose="020B0604020202020204" pitchFamily="34" charset="0"/>
              </a:endParaRPr>
            </a:p>
          </p:txBody>
        </p:sp>
        <p:sp>
          <p:nvSpPr>
            <p:cNvPr id="237666" name="TextBox 390"/>
            <p:cNvSpPr txBox="1">
              <a:spLocks noChangeArrowheads="1"/>
            </p:cNvSpPr>
            <p:nvPr/>
          </p:nvSpPr>
          <p:spPr bwMode="auto">
            <a:xfrm>
              <a:off x="2843808" y="1412776"/>
              <a:ext cx="930063"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800">
                  <a:latin typeface="Arial" panose="020B0604020202020204" pitchFamily="34" charset="0"/>
                  <a:cs typeface="Arial" panose="020B0604020202020204" pitchFamily="34" charset="0"/>
                </a:rPr>
                <a:t>Vibration screen</a:t>
              </a:r>
              <a:endParaRPr lang="th-TH" altLang="en-US" sz="800">
                <a:latin typeface="Arial" panose="020B0604020202020204" pitchFamily="34" charset="0"/>
              </a:endParaRPr>
            </a:p>
          </p:txBody>
        </p:sp>
        <p:sp>
          <p:nvSpPr>
            <p:cNvPr id="237667" name="TextBox 391"/>
            <p:cNvSpPr txBox="1">
              <a:spLocks noChangeArrowheads="1"/>
            </p:cNvSpPr>
            <p:nvPr/>
          </p:nvSpPr>
          <p:spPr bwMode="auto">
            <a:xfrm>
              <a:off x="3419872" y="3140968"/>
              <a:ext cx="793807"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800">
                  <a:latin typeface="Arial" panose="020B0604020202020204" pitchFamily="34" charset="0"/>
                  <a:cs typeface="Arial" panose="020B0604020202020204" pitchFamily="34" charset="0"/>
                </a:rPr>
                <a:t>24PS Screen</a:t>
              </a:r>
              <a:endParaRPr lang="th-TH" altLang="en-US" sz="800">
                <a:latin typeface="Arial" panose="020B0604020202020204" pitchFamily="34" charset="0"/>
              </a:endParaRPr>
            </a:p>
          </p:txBody>
        </p:sp>
        <p:sp>
          <p:nvSpPr>
            <p:cNvPr id="237668" name="TextBox 392"/>
            <p:cNvSpPr txBox="1">
              <a:spLocks noChangeArrowheads="1"/>
            </p:cNvSpPr>
            <p:nvPr/>
          </p:nvSpPr>
          <p:spPr bwMode="auto">
            <a:xfrm>
              <a:off x="4499992" y="1650286"/>
              <a:ext cx="117532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800">
                  <a:latin typeface="Arial" panose="020B0604020202020204" pitchFamily="34" charset="0"/>
                  <a:cs typeface="Arial" panose="020B0604020202020204" pitchFamily="34" charset="0"/>
                </a:rPr>
                <a:t>Brown Stock Washer </a:t>
              </a:r>
            </a:p>
            <a:p>
              <a:pPr algn="ctr">
                <a:spcBef>
                  <a:spcPct val="0"/>
                </a:spcBef>
                <a:buFontTx/>
                <a:buNone/>
              </a:pPr>
              <a:r>
                <a:rPr lang="en-US" altLang="en-US" sz="800">
                  <a:latin typeface="Arial" panose="020B0604020202020204" pitchFamily="34" charset="0"/>
                  <a:cs typeface="Arial" panose="020B0604020202020204" pitchFamily="34" charset="0"/>
                </a:rPr>
                <a:t>Vacuum type</a:t>
              </a:r>
              <a:endParaRPr lang="th-TH" altLang="en-US" sz="800">
                <a:latin typeface="Arial" panose="020B0604020202020204" pitchFamily="34" charset="0"/>
              </a:endParaRPr>
            </a:p>
          </p:txBody>
        </p:sp>
        <p:sp>
          <p:nvSpPr>
            <p:cNvPr id="237669" name="TextBox 393"/>
            <p:cNvSpPr txBox="1">
              <a:spLocks noChangeArrowheads="1"/>
            </p:cNvSpPr>
            <p:nvPr/>
          </p:nvSpPr>
          <p:spPr bwMode="auto">
            <a:xfrm>
              <a:off x="7865143" y="1484784"/>
              <a:ext cx="739305"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800">
                  <a:latin typeface="Arial" panose="020B0604020202020204" pitchFamily="34" charset="0"/>
                  <a:cs typeface="Arial" panose="020B0604020202020204" pitchFamily="34" charset="0"/>
                </a:rPr>
                <a:t>Wash Press</a:t>
              </a:r>
              <a:endParaRPr lang="th-TH" altLang="en-US" sz="800">
                <a:latin typeface="Arial" panose="020B0604020202020204" pitchFamily="34" charset="0"/>
              </a:endParaRPr>
            </a:p>
          </p:txBody>
        </p:sp>
        <p:sp>
          <p:nvSpPr>
            <p:cNvPr id="237670" name="TextBox 394"/>
            <p:cNvSpPr txBox="1">
              <a:spLocks noChangeArrowheads="1"/>
            </p:cNvSpPr>
            <p:nvPr/>
          </p:nvSpPr>
          <p:spPr bwMode="auto">
            <a:xfrm>
              <a:off x="7769725" y="1628800"/>
              <a:ext cx="402675"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800">
                  <a:latin typeface="Arial" panose="020B0604020202020204" pitchFamily="34" charset="0"/>
                  <a:cs typeface="Arial" panose="020B0604020202020204" pitchFamily="34" charset="0"/>
                </a:rPr>
                <a:t>No.1</a:t>
              </a:r>
              <a:endParaRPr lang="th-TH" altLang="en-US" sz="800">
                <a:latin typeface="Arial" panose="020B0604020202020204" pitchFamily="34" charset="0"/>
              </a:endParaRPr>
            </a:p>
          </p:txBody>
        </p:sp>
        <p:sp>
          <p:nvSpPr>
            <p:cNvPr id="237671" name="TextBox 395"/>
            <p:cNvSpPr txBox="1">
              <a:spLocks noChangeArrowheads="1"/>
            </p:cNvSpPr>
            <p:nvPr/>
          </p:nvSpPr>
          <p:spPr bwMode="auto">
            <a:xfrm>
              <a:off x="8244408" y="1628800"/>
              <a:ext cx="402675"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800">
                  <a:latin typeface="Arial" panose="020B0604020202020204" pitchFamily="34" charset="0"/>
                  <a:cs typeface="Arial" panose="020B0604020202020204" pitchFamily="34" charset="0"/>
                </a:rPr>
                <a:t>No.2</a:t>
              </a:r>
              <a:endParaRPr lang="th-TH" altLang="en-US" sz="800">
                <a:latin typeface="Arial" panose="020B0604020202020204" pitchFamily="34" charset="0"/>
              </a:endParaRPr>
            </a:p>
          </p:txBody>
        </p:sp>
        <p:sp>
          <p:nvSpPr>
            <p:cNvPr id="397" name="Freeform 396"/>
            <p:cNvSpPr/>
            <p:nvPr/>
          </p:nvSpPr>
          <p:spPr>
            <a:xfrm>
              <a:off x="8603673" y="1463188"/>
              <a:ext cx="396815" cy="381480"/>
            </a:xfrm>
            <a:custGeom>
              <a:avLst/>
              <a:gdLst>
                <a:gd name="connsiteX0" fmla="*/ 397566 w 397566"/>
                <a:gd name="connsiteY0" fmla="*/ 0 h 381663"/>
                <a:gd name="connsiteX1" fmla="*/ 0 w 397566"/>
                <a:gd name="connsiteY1" fmla="*/ 0 h 381663"/>
                <a:gd name="connsiteX2" fmla="*/ 7952 w 397566"/>
                <a:gd name="connsiteY2" fmla="*/ 381663 h 381663"/>
              </a:gdLst>
              <a:ahLst/>
              <a:cxnLst>
                <a:cxn ang="0">
                  <a:pos x="connsiteX0" y="connsiteY0"/>
                </a:cxn>
                <a:cxn ang="0">
                  <a:pos x="connsiteX1" y="connsiteY1"/>
                </a:cxn>
                <a:cxn ang="0">
                  <a:pos x="connsiteX2" y="connsiteY2"/>
                </a:cxn>
              </a:cxnLst>
              <a:rect l="l" t="t" r="r" b="b"/>
              <a:pathLst>
                <a:path w="397566" h="381663">
                  <a:moveTo>
                    <a:pt x="397566" y="0"/>
                  </a:moveTo>
                  <a:lnTo>
                    <a:pt x="0" y="0"/>
                  </a:lnTo>
                  <a:lnTo>
                    <a:pt x="7952" y="381663"/>
                  </a:lnTo>
                </a:path>
              </a:pathLst>
            </a:cu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th-TH"/>
            </a:p>
          </p:txBody>
        </p:sp>
        <p:sp>
          <p:nvSpPr>
            <p:cNvPr id="398" name="TextBox 397"/>
            <p:cNvSpPr txBox="1"/>
            <p:nvPr/>
          </p:nvSpPr>
          <p:spPr>
            <a:xfrm>
              <a:off x="8244573" y="1146094"/>
              <a:ext cx="865778" cy="338020"/>
            </a:xfrm>
            <a:prstGeom prst="rect">
              <a:avLst/>
            </a:prstGeom>
            <a:noFill/>
          </p:spPr>
          <p:txBody>
            <a:bodyPr wrap="none">
              <a:spAutoFit/>
            </a:bodyPr>
            <a:lstStyle/>
            <a:p>
              <a:pPr algn="r">
                <a:defRPr/>
              </a:pPr>
              <a:r>
                <a:rPr lang="en-US" sz="800" dirty="0">
                  <a:solidFill>
                    <a:schemeClr val="accent2">
                      <a:lumMod val="60000"/>
                      <a:lumOff val="40000"/>
                    </a:schemeClr>
                  </a:solidFill>
                  <a:latin typeface="Arial" pitchFamily="34" charset="0"/>
                  <a:cs typeface="Arial" pitchFamily="34" charset="0"/>
                </a:rPr>
                <a:t>Fresh Water to</a:t>
              </a:r>
            </a:p>
            <a:p>
              <a:pPr algn="r">
                <a:defRPr/>
              </a:pPr>
              <a:r>
                <a:rPr lang="en-US" sz="800" dirty="0">
                  <a:solidFill>
                    <a:schemeClr val="accent2">
                      <a:lumMod val="60000"/>
                      <a:lumOff val="40000"/>
                    </a:schemeClr>
                  </a:solidFill>
                  <a:latin typeface="Arial" pitchFamily="34" charset="0"/>
                  <a:cs typeface="Arial" pitchFamily="34" charset="0"/>
                </a:rPr>
                <a:t>Wash</a:t>
              </a:r>
              <a:endParaRPr lang="th-TH" sz="800" dirty="0">
                <a:solidFill>
                  <a:schemeClr val="accent2">
                    <a:lumMod val="60000"/>
                    <a:lumOff val="40000"/>
                  </a:schemeClr>
                </a:solidFill>
                <a:latin typeface="Arial" pitchFamily="34" charset="0"/>
              </a:endParaRPr>
            </a:p>
          </p:txBody>
        </p:sp>
        <p:sp>
          <p:nvSpPr>
            <p:cNvPr id="237674" name="TextBox 398"/>
            <p:cNvSpPr txBox="1">
              <a:spLocks noChangeArrowheads="1"/>
            </p:cNvSpPr>
            <p:nvPr/>
          </p:nvSpPr>
          <p:spPr bwMode="auto">
            <a:xfrm>
              <a:off x="2771800" y="6021288"/>
              <a:ext cx="223170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400" b="1">
                  <a:solidFill>
                    <a:srgbClr val="0000CC"/>
                  </a:solidFill>
                  <a:latin typeface="Arial" panose="020B0604020202020204" pitchFamily="34" charset="0"/>
                  <a:cs typeface="Arial" panose="020B0604020202020204" pitchFamily="34" charset="0"/>
                </a:rPr>
                <a:t>BLEACHINIG PROCESS</a:t>
              </a:r>
              <a:endParaRPr lang="th-TH" altLang="en-US" sz="1400" b="1">
                <a:solidFill>
                  <a:srgbClr val="0000CC"/>
                </a:solidFill>
                <a:latin typeface="Arial" panose="020B0604020202020204" pitchFamily="34" charset="0"/>
              </a:endParaRPr>
            </a:p>
          </p:txBody>
        </p:sp>
        <p:grpSp>
          <p:nvGrpSpPr>
            <p:cNvPr id="237675" name="Group 137"/>
            <p:cNvGrpSpPr>
              <a:grpSpLocks/>
            </p:cNvGrpSpPr>
            <p:nvPr/>
          </p:nvGrpSpPr>
          <p:grpSpPr bwMode="auto">
            <a:xfrm>
              <a:off x="6444208" y="4653136"/>
              <a:ext cx="648072" cy="1073204"/>
              <a:chOff x="9944100" y="1092200"/>
              <a:chExt cx="98" cy="187"/>
            </a:xfrm>
          </p:grpSpPr>
          <p:grpSp>
            <p:nvGrpSpPr>
              <p:cNvPr id="237684" name="Group 145"/>
              <p:cNvGrpSpPr>
                <a:grpSpLocks/>
              </p:cNvGrpSpPr>
              <p:nvPr/>
            </p:nvGrpSpPr>
            <p:grpSpPr bwMode="auto">
              <a:xfrm>
                <a:off x="9944100" y="1092222"/>
                <a:ext cx="98" cy="165"/>
                <a:chOff x="9944100" y="1092222"/>
                <a:chExt cx="75" cy="132"/>
              </a:xfrm>
            </p:grpSpPr>
            <p:sp>
              <p:nvSpPr>
                <p:cNvPr id="237687" name="Rectangle 403"/>
                <p:cNvSpPr>
                  <a:spLocks noChangeArrowheads="1"/>
                </p:cNvSpPr>
                <p:nvPr/>
              </p:nvSpPr>
              <p:spPr bwMode="auto">
                <a:xfrm>
                  <a:off x="9944100" y="1092222"/>
                  <a:ext cx="75" cy="76"/>
                </a:xfrm>
                <a:prstGeom prst="rect">
                  <a:avLst/>
                </a:prstGeom>
                <a:gradFill rotWithShape="1">
                  <a:gsLst>
                    <a:gs pos="0">
                      <a:srgbClr val="969696"/>
                    </a:gs>
                    <a:gs pos="50000">
                      <a:srgbClr val="FFFFFF"/>
                    </a:gs>
                    <a:gs pos="100000">
                      <a:srgbClr val="969696"/>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688" name="AutoShape 76"/>
                <p:cNvSpPr>
                  <a:spLocks noChangeArrowheads="1"/>
                </p:cNvSpPr>
                <p:nvPr/>
              </p:nvSpPr>
              <p:spPr bwMode="auto">
                <a:xfrm>
                  <a:off x="9944100" y="1092298"/>
                  <a:ext cx="75" cy="33"/>
                </a:xfrm>
                <a:prstGeom prst="flowChartManualOperation">
                  <a:avLst/>
                </a:prstGeom>
                <a:gradFill rotWithShape="1">
                  <a:gsLst>
                    <a:gs pos="0">
                      <a:srgbClr val="969696"/>
                    </a:gs>
                    <a:gs pos="50000">
                      <a:srgbClr val="FFFFFF"/>
                    </a:gs>
                    <a:gs pos="100000">
                      <a:srgbClr val="969696"/>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689" name="Rectangle 405"/>
                <p:cNvSpPr>
                  <a:spLocks noChangeArrowheads="1"/>
                </p:cNvSpPr>
                <p:nvPr/>
              </p:nvSpPr>
              <p:spPr bwMode="auto">
                <a:xfrm>
                  <a:off x="9944115" y="1092331"/>
                  <a:ext cx="45" cy="23"/>
                </a:xfrm>
                <a:prstGeom prst="rect">
                  <a:avLst/>
                </a:prstGeom>
                <a:gradFill rotWithShape="1">
                  <a:gsLst>
                    <a:gs pos="0">
                      <a:srgbClr val="969696"/>
                    </a:gs>
                    <a:gs pos="50000">
                      <a:srgbClr val="FFFFFF"/>
                    </a:gs>
                    <a:gs pos="100000">
                      <a:srgbClr val="969696"/>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grpSp>
          <p:sp>
            <p:nvSpPr>
              <p:cNvPr id="237685" name="Rectangle 401"/>
              <p:cNvSpPr>
                <a:spLocks noChangeArrowheads="1"/>
              </p:cNvSpPr>
              <p:nvPr/>
            </p:nvSpPr>
            <p:spPr bwMode="auto">
              <a:xfrm>
                <a:off x="9944143" y="1092200"/>
                <a:ext cx="10" cy="8"/>
              </a:xfrm>
              <a:prstGeom prst="rect">
                <a:avLst/>
              </a:prstGeom>
              <a:gradFill rotWithShape="1">
                <a:gsLst>
                  <a:gs pos="0">
                    <a:srgbClr val="969696"/>
                  </a:gs>
                  <a:gs pos="50000">
                    <a:srgbClr val="FFFFFF"/>
                  </a:gs>
                  <a:gs pos="100000">
                    <a:srgbClr val="969696"/>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37686" name="Freeform 402"/>
              <p:cNvSpPr>
                <a:spLocks/>
              </p:cNvSpPr>
              <p:nvPr/>
            </p:nvSpPr>
            <p:spPr bwMode="auto">
              <a:xfrm>
                <a:off x="9944100" y="1092208"/>
                <a:ext cx="98" cy="14"/>
              </a:xfrm>
              <a:custGeom>
                <a:avLst/>
                <a:gdLst>
                  <a:gd name="T0" fmla="*/ 0 w 98"/>
                  <a:gd name="T1" fmla="*/ 14 h 14"/>
                  <a:gd name="T2" fmla="*/ 43 w 98"/>
                  <a:gd name="T3" fmla="*/ 0 h 14"/>
                  <a:gd name="T4" fmla="*/ 53 w 98"/>
                  <a:gd name="T5" fmla="*/ 0 h 14"/>
                  <a:gd name="T6" fmla="*/ 98 w 98"/>
                  <a:gd name="T7" fmla="*/ 14 h 14"/>
                  <a:gd name="T8" fmla="*/ 0 w 98"/>
                  <a:gd name="T9" fmla="*/ 14 h 14"/>
                  <a:gd name="T10" fmla="*/ 0 60000 65536"/>
                  <a:gd name="T11" fmla="*/ 0 60000 65536"/>
                  <a:gd name="T12" fmla="*/ 0 60000 65536"/>
                  <a:gd name="T13" fmla="*/ 0 60000 65536"/>
                  <a:gd name="T14" fmla="*/ 0 60000 65536"/>
                  <a:gd name="T15" fmla="*/ 0 w 98"/>
                  <a:gd name="T16" fmla="*/ 0 h 14"/>
                  <a:gd name="T17" fmla="*/ 98 w 98"/>
                  <a:gd name="T18" fmla="*/ 14 h 14"/>
                </a:gdLst>
                <a:ahLst/>
                <a:cxnLst>
                  <a:cxn ang="T10">
                    <a:pos x="T0" y="T1"/>
                  </a:cxn>
                  <a:cxn ang="T11">
                    <a:pos x="T2" y="T3"/>
                  </a:cxn>
                  <a:cxn ang="T12">
                    <a:pos x="T4" y="T5"/>
                  </a:cxn>
                  <a:cxn ang="T13">
                    <a:pos x="T6" y="T7"/>
                  </a:cxn>
                  <a:cxn ang="T14">
                    <a:pos x="T8" y="T9"/>
                  </a:cxn>
                </a:cxnLst>
                <a:rect l="T15" t="T16" r="T17" b="T18"/>
                <a:pathLst>
                  <a:path w="98" h="14">
                    <a:moveTo>
                      <a:pt x="0" y="14"/>
                    </a:moveTo>
                    <a:lnTo>
                      <a:pt x="43" y="0"/>
                    </a:lnTo>
                    <a:lnTo>
                      <a:pt x="53" y="0"/>
                    </a:lnTo>
                    <a:lnTo>
                      <a:pt x="98" y="14"/>
                    </a:lnTo>
                    <a:lnTo>
                      <a:pt x="0" y="14"/>
                    </a:lnTo>
                    <a:close/>
                  </a:path>
                </a:pathLst>
              </a:custGeom>
              <a:gradFill rotWithShape="1">
                <a:gsLst>
                  <a:gs pos="0">
                    <a:srgbClr val="969696"/>
                  </a:gs>
                  <a:gs pos="50000">
                    <a:srgbClr val="FFFFFF"/>
                  </a:gs>
                  <a:gs pos="100000">
                    <a:srgbClr val="969696"/>
                  </a:gs>
                </a:gsLst>
                <a:lin ang="0" scaled="1"/>
              </a:gradFill>
              <a:ln w="9525">
                <a:solidFill>
                  <a:srgbClr val="000000"/>
                </a:solidFill>
                <a:round/>
                <a:headEnd/>
                <a:tailEnd/>
              </a:ln>
            </p:spPr>
            <p:txBody>
              <a:bodyPr/>
              <a:lstStyle/>
              <a:p>
                <a:endParaRPr lang="en-US"/>
              </a:p>
            </p:txBody>
          </p:sp>
        </p:grpSp>
        <p:sp>
          <p:nvSpPr>
            <p:cNvPr id="407" name="Freeform 406"/>
            <p:cNvSpPr/>
            <p:nvPr/>
          </p:nvSpPr>
          <p:spPr>
            <a:xfrm>
              <a:off x="5547213" y="4761297"/>
              <a:ext cx="111502" cy="251100"/>
            </a:xfrm>
            <a:custGeom>
              <a:avLst/>
              <a:gdLst>
                <a:gd name="connsiteX0" fmla="*/ 0 w 112143"/>
                <a:gd name="connsiteY0" fmla="*/ 250166 h 250166"/>
                <a:gd name="connsiteX1" fmla="*/ 112143 w 112143"/>
                <a:gd name="connsiteY1" fmla="*/ 250166 h 250166"/>
                <a:gd name="connsiteX2" fmla="*/ 112143 w 112143"/>
                <a:gd name="connsiteY2" fmla="*/ 0 h 250166"/>
              </a:gdLst>
              <a:ahLst/>
              <a:cxnLst>
                <a:cxn ang="0">
                  <a:pos x="connsiteX0" y="connsiteY0"/>
                </a:cxn>
                <a:cxn ang="0">
                  <a:pos x="connsiteX1" y="connsiteY1"/>
                </a:cxn>
                <a:cxn ang="0">
                  <a:pos x="connsiteX2" y="connsiteY2"/>
                </a:cxn>
              </a:cxnLst>
              <a:rect l="l" t="t" r="r" b="b"/>
              <a:pathLst>
                <a:path w="112143" h="250166">
                  <a:moveTo>
                    <a:pt x="0" y="250166"/>
                  </a:moveTo>
                  <a:lnTo>
                    <a:pt x="112143" y="250166"/>
                  </a:lnTo>
                  <a:lnTo>
                    <a:pt x="112143" y="0"/>
                  </a:lnTo>
                </a:path>
              </a:pathLst>
            </a:custGeom>
            <a:ln w="1905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th-TH"/>
            </a:p>
          </p:txBody>
        </p:sp>
        <p:sp>
          <p:nvSpPr>
            <p:cNvPr id="408" name="Freeform 407"/>
            <p:cNvSpPr/>
            <p:nvPr/>
          </p:nvSpPr>
          <p:spPr>
            <a:xfrm>
              <a:off x="6296571" y="4745201"/>
              <a:ext cx="147576" cy="162571"/>
            </a:xfrm>
            <a:custGeom>
              <a:avLst/>
              <a:gdLst>
                <a:gd name="connsiteX0" fmla="*/ 0 w 146649"/>
                <a:gd name="connsiteY0" fmla="*/ 0 h 163902"/>
                <a:gd name="connsiteX1" fmla="*/ 0 w 146649"/>
                <a:gd name="connsiteY1" fmla="*/ 163902 h 163902"/>
                <a:gd name="connsiteX2" fmla="*/ 146649 w 146649"/>
                <a:gd name="connsiteY2" fmla="*/ 163902 h 163902"/>
              </a:gdLst>
              <a:ahLst/>
              <a:cxnLst>
                <a:cxn ang="0">
                  <a:pos x="connsiteX0" y="connsiteY0"/>
                </a:cxn>
                <a:cxn ang="0">
                  <a:pos x="connsiteX1" y="connsiteY1"/>
                </a:cxn>
                <a:cxn ang="0">
                  <a:pos x="connsiteX2" y="connsiteY2"/>
                </a:cxn>
              </a:cxnLst>
              <a:rect l="l" t="t" r="r" b="b"/>
              <a:pathLst>
                <a:path w="146649" h="163902">
                  <a:moveTo>
                    <a:pt x="0" y="0"/>
                  </a:moveTo>
                  <a:lnTo>
                    <a:pt x="0" y="163902"/>
                  </a:lnTo>
                  <a:lnTo>
                    <a:pt x="146649" y="163902"/>
                  </a:lnTo>
                </a:path>
              </a:pathLst>
            </a:custGeom>
            <a:ln w="190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th-TH"/>
            </a:p>
          </p:txBody>
        </p:sp>
        <p:sp>
          <p:nvSpPr>
            <p:cNvPr id="409" name="Freeform 408"/>
            <p:cNvSpPr/>
            <p:nvPr/>
          </p:nvSpPr>
          <p:spPr>
            <a:xfrm>
              <a:off x="6970500" y="5418021"/>
              <a:ext cx="318108" cy="241443"/>
            </a:xfrm>
            <a:custGeom>
              <a:avLst/>
              <a:gdLst>
                <a:gd name="connsiteX0" fmla="*/ 0 w 319178"/>
                <a:gd name="connsiteY0" fmla="*/ 241539 h 241539"/>
                <a:gd name="connsiteX1" fmla="*/ 319178 w 319178"/>
                <a:gd name="connsiteY1" fmla="*/ 241539 h 241539"/>
                <a:gd name="connsiteX2" fmla="*/ 319178 w 319178"/>
                <a:gd name="connsiteY2" fmla="*/ 0 h 241539"/>
              </a:gdLst>
              <a:ahLst/>
              <a:cxnLst>
                <a:cxn ang="0">
                  <a:pos x="connsiteX0" y="connsiteY0"/>
                </a:cxn>
                <a:cxn ang="0">
                  <a:pos x="connsiteX1" y="connsiteY1"/>
                </a:cxn>
                <a:cxn ang="0">
                  <a:pos x="connsiteX2" y="connsiteY2"/>
                </a:cxn>
              </a:cxnLst>
              <a:rect l="l" t="t" r="r" b="b"/>
              <a:pathLst>
                <a:path w="319178" h="241539">
                  <a:moveTo>
                    <a:pt x="0" y="241539"/>
                  </a:moveTo>
                  <a:lnTo>
                    <a:pt x="319178" y="241539"/>
                  </a:lnTo>
                  <a:lnTo>
                    <a:pt x="319178" y="0"/>
                  </a:lnTo>
                </a:path>
              </a:pathLst>
            </a:custGeom>
            <a:ln w="190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th-TH"/>
            </a:p>
          </p:txBody>
        </p:sp>
        <p:sp>
          <p:nvSpPr>
            <p:cNvPr id="237679" name="TextBox 409"/>
            <p:cNvSpPr txBox="1">
              <a:spLocks noChangeArrowheads="1"/>
            </p:cNvSpPr>
            <p:nvPr/>
          </p:nvSpPr>
          <p:spPr bwMode="auto">
            <a:xfrm>
              <a:off x="539552" y="3284984"/>
              <a:ext cx="197201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400" b="1">
                  <a:solidFill>
                    <a:srgbClr val="0000CC"/>
                  </a:solidFill>
                  <a:latin typeface="Arial" panose="020B0604020202020204" pitchFamily="34" charset="0"/>
                  <a:cs typeface="Arial" panose="020B0604020202020204" pitchFamily="34" charset="0"/>
                </a:rPr>
                <a:t>COOKING PROCESS</a:t>
              </a:r>
              <a:endParaRPr lang="th-TH" altLang="en-US" sz="1400" b="1">
                <a:solidFill>
                  <a:srgbClr val="0000CC"/>
                </a:solidFill>
                <a:latin typeface="Arial" panose="020B0604020202020204" pitchFamily="34" charset="0"/>
              </a:endParaRPr>
            </a:p>
          </p:txBody>
        </p:sp>
        <p:sp>
          <p:nvSpPr>
            <p:cNvPr id="237680" name="TextBox 410"/>
            <p:cNvSpPr txBox="1">
              <a:spLocks noChangeArrowheads="1"/>
            </p:cNvSpPr>
            <p:nvPr/>
          </p:nvSpPr>
          <p:spPr bwMode="auto">
            <a:xfrm>
              <a:off x="3057051" y="3284984"/>
              <a:ext cx="259506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400" b="1">
                  <a:solidFill>
                    <a:srgbClr val="0000CC"/>
                  </a:solidFill>
                  <a:latin typeface="Arial" panose="020B0604020202020204" pitchFamily="34" charset="0"/>
                  <a:cs typeface="Arial" panose="020B0604020202020204" pitchFamily="34" charset="0"/>
                </a:rPr>
                <a:t>SCREENING AND WASHING</a:t>
              </a:r>
              <a:endParaRPr lang="th-TH" altLang="en-US" sz="1400" b="1">
                <a:solidFill>
                  <a:srgbClr val="0000CC"/>
                </a:solidFill>
                <a:latin typeface="Arial" panose="020B0604020202020204" pitchFamily="34" charset="0"/>
              </a:endParaRPr>
            </a:p>
          </p:txBody>
        </p:sp>
        <p:sp>
          <p:nvSpPr>
            <p:cNvPr id="237681" name="TextBox 411"/>
            <p:cNvSpPr txBox="1">
              <a:spLocks noChangeArrowheads="1"/>
            </p:cNvSpPr>
            <p:nvPr/>
          </p:nvSpPr>
          <p:spPr bwMode="auto">
            <a:xfrm>
              <a:off x="5943733" y="3284984"/>
              <a:ext cx="261430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400" b="1">
                  <a:solidFill>
                    <a:srgbClr val="0000CC"/>
                  </a:solidFill>
                  <a:latin typeface="Arial" panose="020B0604020202020204" pitchFamily="34" charset="0"/>
                  <a:cs typeface="Arial" panose="020B0604020202020204" pitchFamily="34" charset="0"/>
                </a:rPr>
                <a:t>OXYGEN DELIGNIFICATION </a:t>
              </a:r>
              <a:endParaRPr lang="th-TH" altLang="en-US" sz="1400" b="1">
                <a:solidFill>
                  <a:srgbClr val="0000CC"/>
                </a:solidFill>
                <a:latin typeface="Arial" panose="020B0604020202020204" pitchFamily="34" charset="0"/>
              </a:endParaRPr>
            </a:p>
          </p:txBody>
        </p:sp>
        <p:sp>
          <p:nvSpPr>
            <p:cNvPr id="237682" name="TextBox 412"/>
            <p:cNvSpPr txBox="1">
              <a:spLocks noChangeArrowheads="1"/>
            </p:cNvSpPr>
            <p:nvPr/>
          </p:nvSpPr>
          <p:spPr bwMode="auto">
            <a:xfrm>
              <a:off x="6452234" y="1916832"/>
              <a:ext cx="712054"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800">
                  <a:latin typeface="Arial" panose="020B0604020202020204" pitchFamily="34" charset="0"/>
                  <a:cs typeface="Arial" panose="020B0604020202020204" pitchFamily="34" charset="0"/>
                </a:rPr>
                <a:t>O2 Reactor</a:t>
              </a:r>
              <a:endParaRPr lang="th-TH" altLang="en-US" sz="800">
                <a:latin typeface="Arial" panose="020B0604020202020204" pitchFamily="34" charset="0"/>
              </a:endParaRPr>
            </a:p>
          </p:txBody>
        </p:sp>
        <p:sp>
          <p:nvSpPr>
            <p:cNvPr id="237683" name="TextBox 413"/>
            <p:cNvSpPr txBox="1">
              <a:spLocks noChangeArrowheads="1"/>
            </p:cNvSpPr>
            <p:nvPr/>
          </p:nvSpPr>
          <p:spPr bwMode="auto">
            <a:xfrm>
              <a:off x="7020272" y="1917412"/>
              <a:ext cx="798617"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800">
                  <a:latin typeface="Arial" panose="020B0604020202020204" pitchFamily="34" charset="0"/>
                  <a:cs typeface="Arial" panose="020B0604020202020204" pitchFamily="34" charset="0"/>
                </a:rPr>
                <a:t>O2 Blow tank</a:t>
              </a:r>
              <a:endParaRPr lang="th-TH" altLang="en-US" sz="800">
                <a:latin typeface="Arial" panose="020B0604020202020204" pitchFamily="34" charset="0"/>
              </a:endParaRPr>
            </a:p>
          </p:txBody>
        </p:sp>
      </p:grpSp>
      <p:sp>
        <p:nvSpPr>
          <p:cNvPr id="237572" name="TextBox 415"/>
          <p:cNvSpPr txBox="1">
            <a:spLocks noChangeArrowheads="1"/>
          </p:cNvSpPr>
          <p:nvPr/>
        </p:nvSpPr>
        <p:spPr bwMode="auto">
          <a:xfrm>
            <a:off x="2019300" y="754063"/>
            <a:ext cx="4506913"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400" b="1">
                <a:solidFill>
                  <a:srgbClr val="0000CC"/>
                </a:solidFill>
                <a:latin typeface="Arial" panose="020B0604020202020204" pitchFamily="34" charset="0"/>
                <a:cs typeface="Arial" panose="020B0604020202020204" pitchFamily="34" charset="0"/>
              </a:rPr>
              <a:t>SCL </a:t>
            </a:r>
            <a:r>
              <a:rPr lang="en-US" altLang="en-US" sz="1400" b="1">
                <a:latin typeface="Arial" panose="020B0604020202020204" pitchFamily="34" charset="0"/>
                <a:cs typeface="Arial" panose="020B0604020202020204" pitchFamily="34" charset="0"/>
              </a:rPr>
              <a:t>Ban Pong Pulp Mill</a:t>
            </a:r>
          </a:p>
          <a:p>
            <a:pPr>
              <a:spcBef>
                <a:spcPct val="0"/>
              </a:spcBef>
              <a:buFontTx/>
              <a:buNone/>
            </a:pPr>
            <a:r>
              <a:rPr lang="en-US" altLang="en-US" sz="1600" b="1">
                <a:solidFill>
                  <a:srgbClr val="FF0000"/>
                </a:solidFill>
                <a:latin typeface="Arial" panose="020B0604020202020204" pitchFamily="34" charset="0"/>
                <a:cs typeface="Arial" panose="020B0604020202020204" pitchFamily="34" charset="0"/>
              </a:rPr>
              <a:t>CHEMICAL PULP PROCESS DIAGRAM</a:t>
            </a:r>
          </a:p>
          <a:p>
            <a:pPr>
              <a:spcBef>
                <a:spcPct val="0"/>
              </a:spcBef>
              <a:buFontTx/>
              <a:buNone/>
            </a:pPr>
            <a:r>
              <a:rPr lang="en-US" altLang="en-US" sz="1200" b="1">
                <a:latin typeface="Arial" panose="020B0604020202020204" pitchFamily="34" charset="0"/>
                <a:cs typeface="Arial" panose="020B0604020202020204" pitchFamily="34" charset="0"/>
              </a:rPr>
              <a:t>135adt/d, 44,000ADT/Y, Bleached Eucalypts pulp 85</a:t>
            </a:r>
            <a:r>
              <a:rPr lang="en-US" altLang="en-US" sz="1200" b="1" u="sng">
                <a:latin typeface="Arial" panose="020B0604020202020204" pitchFamily="34" charset="0"/>
                <a:cs typeface="Arial" panose="020B0604020202020204" pitchFamily="34" charset="0"/>
              </a:rPr>
              <a:t>+</a:t>
            </a:r>
            <a:r>
              <a:rPr lang="en-US" altLang="en-US" sz="1200" b="1">
                <a:latin typeface="Arial" panose="020B0604020202020204" pitchFamily="34" charset="0"/>
                <a:cs typeface="Arial" panose="020B0604020202020204" pitchFamily="34" charset="0"/>
              </a:rPr>
              <a:t>1%ISO</a:t>
            </a:r>
            <a:endParaRPr lang="th-TH" altLang="en-US" sz="1200" b="1">
              <a:latin typeface="Arial" panose="020B0604020202020204" pitchFamily="34" charset="0"/>
            </a:endParaRPr>
          </a:p>
        </p:txBody>
      </p:sp>
      <p:sp>
        <p:nvSpPr>
          <p:cNvPr id="237573" name="TextBox 416"/>
          <p:cNvSpPr txBox="1">
            <a:spLocks noChangeArrowheads="1"/>
          </p:cNvSpPr>
          <p:nvPr/>
        </p:nvSpPr>
        <p:spPr bwMode="auto">
          <a:xfrm>
            <a:off x="-36513" y="6115050"/>
            <a:ext cx="2416176"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a:t>Credit: Weerachai Seachao</a:t>
            </a:r>
          </a:p>
        </p:txBody>
      </p:sp>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Title 1"/>
          <p:cNvSpPr>
            <a:spLocks noGrp="1"/>
          </p:cNvSpPr>
          <p:nvPr>
            <p:ph type="title"/>
          </p:nvPr>
        </p:nvSpPr>
        <p:spPr>
          <a:xfrm>
            <a:off x="457200" y="-17463"/>
            <a:ext cx="8229600" cy="1143001"/>
          </a:xfrm>
        </p:spPr>
        <p:txBody>
          <a:bodyPr/>
          <a:lstStyle/>
          <a:p>
            <a:pPr eaLnBrk="1" hangingPunct="1"/>
            <a:r>
              <a:rPr lang="en-US" altLang="en-US" sz="3200" smtClean="0">
                <a:latin typeface="Tahoma" panose="020B0604030504040204" pitchFamily="34" charset="0"/>
                <a:cs typeface="Tahoma" panose="020B0604030504040204" pitchFamily="34" charset="0"/>
              </a:rPr>
              <a:t>4. Overview of Pulping methodology </a:t>
            </a:r>
          </a:p>
        </p:txBody>
      </p:sp>
      <p:pic>
        <p:nvPicPr>
          <p:cNvPr id="239619" name="Picture 8"/>
          <p:cNvPicPr>
            <a:picLocks noGrp="1" noChangeAspect="1" noChangeArrowheads="1"/>
          </p:cNvPicPr>
          <p:nvPr>
            <p:ph idx="4294967295"/>
          </p:nvPr>
        </p:nvPicPr>
        <p:blipFill>
          <a:blip r:embed="rId3">
            <a:extLst>
              <a:ext uri="{28A0092B-C50C-407E-A947-70E740481C1C}">
                <a14:useLocalDpi xmlns:a14="http://schemas.microsoft.com/office/drawing/2010/main" val="0"/>
              </a:ext>
            </a:extLst>
          </a:blip>
          <a:srcRect/>
          <a:stretch>
            <a:fillRect/>
          </a:stretch>
        </p:blipFill>
        <p:spPr>
          <a:xfrm>
            <a:off x="-36513" y="1916113"/>
            <a:ext cx="9183688" cy="3162300"/>
          </a:xfrm>
          <a:noFill/>
        </p:spPr>
      </p:pic>
      <p:sp>
        <p:nvSpPr>
          <p:cNvPr id="239620" name="TextBox 417"/>
          <p:cNvSpPr txBox="1">
            <a:spLocks noChangeArrowheads="1"/>
          </p:cNvSpPr>
          <p:nvPr/>
        </p:nvSpPr>
        <p:spPr bwMode="auto">
          <a:xfrm>
            <a:off x="-36513" y="6115050"/>
            <a:ext cx="2416176"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a:t>Credit: Weerachai Seachao</a:t>
            </a:r>
          </a:p>
        </p:txBody>
      </p:sp>
      <p:sp>
        <p:nvSpPr>
          <p:cNvPr id="239621" name="TextBox 415"/>
          <p:cNvSpPr txBox="1">
            <a:spLocks noChangeArrowheads="1"/>
          </p:cNvSpPr>
          <p:nvPr/>
        </p:nvSpPr>
        <p:spPr bwMode="auto">
          <a:xfrm>
            <a:off x="2019300" y="754063"/>
            <a:ext cx="4506913"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400" b="1">
                <a:solidFill>
                  <a:srgbClr val="0000CC"/>
                </a:solidFill>
                <a:latin typeface="Arial" panose="020B0604020202020204" pitchFamily="34" charset="0"/>
                <a:cs typeface="Arial" panose="020B0604020202020204" pitchFamily="34" charset="0"/>
              </a:rPr>
              <a:t>SCL </a:t>
            </a:r>
            <a:r>
              <a:rPr lang="en-US" altLang="en-US" sz="1400" b="1">
                <a:latin typeface="Arial" panose="020B0604020202020204" pitchFamily="34" charset="0"/>
                <a:cs typeface="Arial" panose="020B0604020202020204" pitchFamily="34" charset="0"/>
              </a:rPr>
              <a:t>Wangsala Pulp Mill</a:t>
            </a:r>
          </a:p>
          <a:p>
            <a:pPr>
              <a:spcBef>
                <a:spcPct val="0"/>
              </a:spcBef>
              <a:buFontTx/>
              <a:buNone/>
            </a:pPr>
            <a:r>
              <a:rPr lang="en-US" altLang="en-US" sz="1600" b="1">
                <a:solidFill>
                  <a:srgbClr val="FF0000"/>
                </a:solidFill>
                <a:latin typeface="Arial" panose="020B0604020202020204" pitchFamily="34" charset="0"/>
                <a:cs typeface="Arial" panose="020B0604020202020204" pitchFamily="34" charset="0"/>
              </a:rPr>
              <a:t>CHEMICAL PULP PROCESS DIAGRAM</a:t>
            </a:r>
          </a:p>
          <a:p>
            <a:pPr>
              <a:spcBef>
                <a:spcPct val="0"/>
              </a:spcBef>
              <a:buFontTx/>
              <a:buNone/>
            </a:pPr>
            <a:r>
              <a:rPr lang="en-US" altLang="en-US" sz="1200" b="1">
                <a:latin typeface="Arial" panose="020B0604020202020204" pitchFamily="34" charset="0"/>
                <a:cs typeface="Arial" panose="020B0604020202020204" pitchFamily="34" charset="0"/>
              </a:rPr>
              <a:t>250 adt/d, 65,000ADT/Y, Bleached Eucalypts pulp 85</a:t>
            </a:r>
            <a:r>
              <a:rPr lang="en-US" altLang="en-US" sz="1200" b="1" u="sng">
                <a:latin typeface="Arial" panose="020B0604020202020204" pitchFamily="34" charset="0"/>
                <a:cs typeface="Arial" panose="020B0604020202020204" pitchFamily="34" charset="0"/>
              </a:rPr>
              <a:t>+</a:t>
            </a:r>
            <a:r>
              <a:rPr lang="en-US" altLang="en-US" sz="1200" b="1">
                <a:latin typeface="Arial" panose="020B0604020202020204" pitchFamily="34" charset="0"/>
                <a:cs typeface="Arial" panose="020B0604020202020204" pitchFamily="34" charset="0"/>
              </a:rPr>
              <a:t>1%ISO</a:t>
            </a:r>
            <a:endParaRPr lang="th-TH" altLang="en-US" sz="1200" b="1">
              <a:latin typeface="Arial" panose="020B0604020202020204" pitchFamily="34" charset="0"/>
            </a:endParaRPr>
          </a:p>
        </p:txBody>
      </p:sp>
      <p:sp>
        <p:nvSpPr>
          <p:cNvPr id="7" name="Rectangle 16"/>
          <p:cNvSpPr>
            <a:spLocks noChangeArrowheads="1"/>
          </p:cNvSpPr>
          <p:nvPr/>
        </p:nvSpPr>
        <p:spPr bwMode="auto">
          <a:xfrm>
            <a:off x="0" y="1878013"/>
            <a:ext cx="1666875" cy="3200400"/>
          </a:xfrm>
          <a:prstGeom prst="rect">
            <a:avLst/>
          </a:prstGeom>
          <a:noFill/>
          <a:ln w="38100">
            <a:solidFill>
              <a:srgbClr val="FF0000"/>
            </a:solidFill>
            <a:miter lim="800000"/>
            <a:headEnd/>
            <a:tailEnd/>
          </a:ln>
          <a:effectLst/>
          <a:extLst>
            <a:ext uri="{909E8E84-426E-40DD-AFC4-6F175D3DCCD1}">
              <a14:hiddenFill xmlns:a14="http://schemas.microsoft.com/office/drawing/2010/main">
                <a:solidFill>
                  <a:schemeClr val="accent1">
                    <a:alpha val="50195"/>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9669" name="Text Box 165"/>
          <p:cNvSpPr txBox="1">
            <a:spLocks noChangeArrowheads="1"/>
          </p:cNvSpPr>
          <p:nvPr/>
        </p:nvSpPr>
        <p:spPr bwMode="auto">
          <a:xfrm>
            <a:off x="611188" y="200025"/>
            <a:ext cx="26797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3600" b="1" dirty="0">
                <a:solidFill>
                  <a:srgbClr val="FF0000"/>
                </a:solidFill>
                <a:effectLst>
                  <a:outerShdw blurRad="38100" dist="38100" dir="2700000" algn="tl">
                    <a:srgbClr val="000000"/>
                  </a:outerShdw>
                </a:effectLst>
                <a:latin typeface="Century Schoolbook" panose="02040604050505020304" pitchFamily="18" charset="0"/>
              </a:rPr>
              <a:t>Pulping </a:t>
            </a:r>
          </a:p>
          <a:p>
            <a:pPr>
              <a:defRPr/>
            </a:pPr>
            <a:r>
              <a:rPr lang="en-US" altLang="en-US" sz="2400" b="1" dirty="0">
                <a:effectLst>
                  <a:outerShdw blurRad="38100" dist="38100" dir="2700000" algn="tl">
                    <a:srgbClr val="000000"/>
                  </a:outerShdw>
                </a:effectLst>
                <a:latin typeface="Century Schoolbook" panose="02040604050505020304" pitchFamily="18" charset="0"/>
              </a:rPr>
              <a:t>What is pulping</a:t>
            </a:r>
            <a:endParaRPr lang="th-TH" altLang="en-US" sz="2800" b="1" dirty="0">
              <a:effectLst>
                <a:outerShdw blurRad="38100" dist="38100" dir="2700000" algn="tl">
                  <a:srgbClr val="000000"/>
                </a:outerShdw>
              </a:effectLst>
              <a:latin typeface="Century Schoolbook" panose="02040604050505020304" pitchFamily="18" charset="0"/>
            </a:endParaRPr>
          </a:p>
        </p:txBody>
      </p:sp>
      <p:sp>
        <p:nvSpPr>
          <p:cNvPr id="241667" name="Rectangle 166"/>
          <p:cNvSpPr>
            <a:spLocks noGrp="1" noChangeArrowheads="1"/>
          </p:cNvSpPr>
          <p:nvPr>
            <p:ph type="body" idx="1"/>
          </p:nvPr>
        </p:nvSpPr>
        <p:spPr>
          <a:xfrm>
            <a:off x="609600" y="1773238"/>
            <a:ext cx="8283575" cy="1943100"/>
          </a:xfrm>
          <a:noFill/>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r>
              <a:rPr lang="en-US" altLang="en-US" sz="2800" smtClean="0">
                <a:latin typeface="Century Schoolbook" panose="02040604050505020304" pitchFamily="18" charset="0"/>
              </a:rPr>
              <a:t>Pulping is the process by which wood is reduced to a fibrous mass</a:t>
            </a:r>
          </a:p>
          <a:p>
            <a:r>
              <a:rPr lang="en-US" altLang="en-US" sz="2800" smtClean="0">
                <a:latin typeface="Century Schoolbook" panose="02040604050505020304" pitchFamily="18" charset="0"/>
              </a:rPr>
              <a:t>It is the means of rupturing the bonds within the wood structure to separate the fibers</a:t>
            </a:r>
          </a:p>
        </p:txBody>
      </p:sp>
      <p:pic>
        <p:nvPicPr>
          <p:cNvPr id="241668" name="Picture 167" descr="Pulp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50" y="4005263"/>
            <a:ext cx="3417888" cy="2181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1669" name="Picture 168" descr="Pulp2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29238" y="4081463"/>
            <a:ext cx="3275012" cy="2081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1670" name="Line 169"/>
          <p:cNvSpPr>
            <a:spLocks noChangeShapeType="1"/>
          </p:cNvSpPr>
          <p:nvPr/>
        </p:nvSpPr>
        <p:spPr bwMode="auto">
          <a:xfrm>
            <a:off x="4110038" y="5224463"/>
            <a:ext cx="990600" cy="0"/>
          </a:xfrm>
          <a:prstGeom prst="line">
            <a:avLst/>
          </a:prstGeom>
          <a:noFill/>
          <a:ln w="762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0530" name="Text Box 2"/>
          <p:cNvSpPr txBox="1">
            <a:spLocks noChangeArrowheads="1"/>
          </p:cNvSpPr>
          <p:nvPr/>
        </p:nvSpPr>
        <p:spPr bwMode="auto">
          <a:xfrm>
            <a:off x="611188" y="200025"/>
            <a:ext cx="4525962"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3600" b="1" dirty="0">
                <a:solidFill>
                  <a:srgbClr val="FF0000"/>
                </a:solidFill>
                <a:effectLst>
                  <a:outerShdw blurRad="38100" dist="38100" dir="2700000" algn="tl">
                    <a:srgbClr val="000000"/>
                  </a:outerShdw>
                </a:effectLst>
                <a:latin typeface="Century Schoolbook" panose="02040604050505020304" pitchFamily="18" charset="0"/>
              </a:rPr>
              <a:t>Chemical pulping </a:t>
            </a:r>
          </a:p>
          <a:p>
            <a:pPr>
              <a:defRPr/>
            </a:pPr>
            <a:r>
              <a:rPr lang="en-US" altLang="en-US" sz="2400" b="1" dirty="0">
                <a:effectLst>
                  <a:outerShdw blurRad="38100" dist="38100" dir="2700000" algn="tl">
                    <a:srgbClr val="000000"/>
                  </a:outerShdw>
                </a:effectLst>
                <a:latin typeface="Century Schoolbook" panose="02040604050505020304" pitchFamily="18" charset="0"/>
              </a:rPr>
              <a:t>Operation objective</a:t>
            </a:r>
            <a:endParaRPr lang="th-TH" altLang="en-US" sz="2400" b="1" dirty="0">
              <a:effectLst>
                <a:outerShdw blurRad="38100" dist="38100" dir="2700000" algn="tl">
                  <a:srgbClr val="000000"/>
                </a:outerShdw>
              </a:effectLst>
              <a:latin typeface="Century Schoolbook" panose="02040604050505020304" pitchFamily="18" charset="0"/>
            </a:endParaRPr>
          </a:p>
        </p:txBody>
      </p:sp>
      <p:sp>
        <p:nvSpPr>
          <p:cNvPr id="242691" name="Rectangle 3"/>
          <p:cNvSpPr>
            <a:spLocks noGrp="1" noChangeArrowheads="1"/>
          </p:cNvSpPr>
          <p:nvPr>
            <p:ph type="body" idx="1"/>
          </p:nvPr>
        </p:nvSpPr>
        <p:spPr>
          <a:xfrm>
            <a:off x="611188" y="1989138"/>
            <a:ext cx="8283575" cy="2447925"/>
          </a:xfrm>
          <a:noFill/>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pPr>
              <a:lnSpc>
                <a:spcPct val="90000"/>
              </a:lnSpc>
              <a:buFontTx/>
              <a:buNone/>
            </a:pPr>
            <a:r>
              <a:rPr lang="en-US" altLang="en-US" smtClean="0">
                <a:latin typeface="Century Schoolbook" panose="02040604050505020304" pitchFamily="18" charset="0"/>
              </a:rPr>
              <a:t>		The objective of chemical pulping is </a:t>
            </a:r>
          </a:p>
          <a:p>
            <a:pPr>
              <a:lnSpc>
                <a:spcPct val="90000"/>
              </a:lnSpc>
              <a:buFontTx/>
              <a:buNone/>
            </a:pPr>
            <a:r>
              <a:rPr lang="en-US" altLang="en-US" smtClean="0">
                <a:latin typeface="Century Schoolbook" panose="02040604050505020304" pitchFamily="18" charset="0"/>
              </a:rPr>
              <a:t>to </a:t>
            </a:r>
            <a:r>
              <a:rPr lang="en-US" altLang="en-US" i="1" smtClean="0">
                <a:solidFill>
                  <a:srgbClr val="FF0000"/>
                </a:solidFill>
                <a:latin typeface="Century Schoolbook" panose="02040604050505020304" pitchFamily="18" charset="0"/>
              </a:rPr>
              <a:t>remove lignin</a:t>
            </a:r>
            <a:r>
              <a:rPr lang="en-US" altLang="en-US" smtClean="0">
                <a:solidFill>
                  <a:srgbClr val="FF0000"/>
                </a:solidFill>
                <a:latin typeface="Century Schoolbook" panose="02040604050505020304" pitchFamily="18" charset="0"/>
              </a:rPr>
              <a:t> </a:t>
            </a:r>
            <a:r>
              <a:rPr lang="en-US" altLang="en-US" smtClean="0">
                <a:latin typeface="Century Schoolbook" panose="02040604050505020304" pitchFamily="18" charset="0"/>
              </a:rPr>
              <a:t>not only from the fiber</a:t>
            </a:r>
          </a:p>
          <a:p>
            <a:pPr>
              <a:lnSpc>
                <a:spcPct val="90000"/>
              </a:lnSpc>
              <a:buFontTx/>
              <a:buNone/>
            </a:pPr>
            <a:r>
              <a:rPr lang="en-US" altLang="en-US" smtClean="0">
                <a:latin typeface="Century Schoolbook" panose="02040604050505020304" pitchFamily="18" charset="0"/>
              </a:rPr>
              <a:t>walls but also from The middle lamella so</a:t>
            </a:r>
          </a:p>
          <a:p>
            <a:pPr>
              <a:lnSpc>
                <a:spcPct val="90000"/>
              </a:lnSpc>
              <a:buFontTx/>
              <a:buNone/>
            </a:pPr>
            <a:r>
              <a:rPr lang="en-US" altLang="en-US" smtClean="0">
                <a:latin typeface="Century Schoolbook" panose="02040604050505020304" pitchFamily="18" charset="0"/>
              </a:rPr>
              <a:t>that the wood fibers can separate.</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8724" name="Text Box 4"/>
          <p:cNvSpPr txBox="1">
            <a:spLocks noChangeArrowheads="1"/>
          </p:cNvSpPr>
          <p:nvPr/>
        </p:nvSpPr>
        <p:spPr bwMode="auto">
          <a:xfrm>
            <a:off x="611188" y="200025"/>
            <a:ext cx="7489825" cy="1068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en-US" altLang="en-US" sz="3600" b="1" dirty="0">
                <a:solidFill>
                  <a:srgbClr val="FF0000"/>
                </a:solidFill>
                <a:effectLst>
                  <a:outerShdw blurRad="38100" dist="38100" dir="2700000" algn="tl">
                    <a:srgbClr val="000000"/>
                  </a:outerShdw>
                </a:effectLst>
                <a:latin typeface="Century Schoolbook" panose="02040604050505020304" pitchFamily="18" charset="0"/>
              </a:rPr>
              <a:t>Chemical pulping</a:t>
            </a:r>
          </a:p>
          <a:p>
            <a:pPr>
              <a:defRPr/>
            </a:pPr>
            <a:r>
              <a:rPr lang="en-US" altLang="en-US" sz="2800" b="1" dirty="0">
                <a:effectLst>
                  <a:outerShdw blurRad="38100" dist="38100" dir="2700000" algn="tl">
                    <a:srgbClr val="000000"/>
                  </a:outerShdw>
                </a:effectLst>
                <a:latin typeface="Century Schoolbook" panose="02040604050505020304" pitchFamily="18" charset="0"/>
              </a:rPr>
              <a:t>Principle of pulping</a:t>
            </a:r>
            <a:endParaRPr lang="th-TH" altLang="en-US" sz="2800" b="1" dirty="0">
              <a:effectLst>
                <a:outerShdw blurRad="38100" dist="38100" dir="2700000" algn="tl">
                  <a:srgbClr val="000000"/>
                </a:outerShdw>
              </a:effectLst>
              <a:latin typeface="Century Schoolbook" panose="02040604050505020304" pitchFamily="18" charset="0"/>
            </a:endParaRPr>
          </a:p>
        </p:txBody>
      </p:sp>
      <p:sp>
        <p:nvSpPr>
          <p:cNvPr id="158725" name="Text Box 5"/>
          <p:cNvSpPr txBox="1">
            <a:spLocks noChangeArrowheads="1"/>
          </p:cNvSpPr>
          <p:nvPr/>
        </p:nvSpPr>
        <p:spPr bwMode="auto">
          <a:xfrm>
            <a:off x="611188" y="1692275"/>
            <a:ext cx="8280400" cy="4494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800">
                <a:solidFill>
                  <a:schemeClr val="tx1"/>
                </a:solidFill>
                <a:latin typeface="Arial" panose="020B0604020202020204" pitchFamily="34" charset="0"/>
                <a:cs typeface="Angsana New" panose="02020603050405020304" pitchFamily="18" charset="-34"/>
              </a:defRPr>
            </a:lvl1pPr>
            <a:lvl2pPr marL="914400" indent="-457200">
              <a:defRPr sz="2800">
                <a:solidFill>
                  <a:schemeClr val="tx1"/>
                </a:solidFill>
                <a:latin typeface="Arial" panose="020B0604020202020204" pitchFamily="34" charset="0"/>
                <a:cs typeface="Angsana New" panose="02020603050405020304" pitchFamily="18" charset="-34"/>
              </a:defRPr>
            </a:lvl2pPr>
            <a:lvl3pPr marL="1371600" indent="-457200">
              <a:defRPr sz="2800">
                <a:solidFill>
                  <a:schemeClr val="tx1"/>
                </a:solidFill>
                <a:latin typeface="Arial" panose="020B0604020202020204" pitchFamily="34" charset="0"/>
                <a:cs typeface="Angsana New" panose="02020603050405020304" pitchFamily="18" charset="-34"/>
              </a:defRPr>
            </a:lvl3pPr>
            <a:lvl4pPr marL="1828800" indent="-457200">
              <a:defRPr sz="2800">
                <a:solidFill>
                  <a:schemeClr val="tx1"/>
                </a:solidFill>
                <a:latin typeface="Arial" panose="020B0604020202020204" pitchFamily="34" charset="0"/>
                <a:cs typeface="Angsana New" panose="02020603050405020304" pitchFamily="18" charset="-34"/>
              </a:defRPr>
            </a:lvl4pPr>
            <a:lvl5pPr marL="2286000" indent="-457200">
              <a:defRPr sz="2800">
                <a:solidFill>
                  <a:schemeClr val="tx1"/>
                </a:solidFill>
                <a:latin typeface="Arial" panose="020B0604020202020204" pitchFamily="34" charset="0"/>
                <a:cs typeface="Angsana New" panose="02020603050405020304" pitchFamily="18" charset="-34"/>
              </a:defRPr>
            </a:lvl5pPr>
            <a:lvl6pPr marL="2743200" indent="-457200" fontAlgn="base">
              <a:spcBef>
                <a:spcPct val="0"/>
              </a:spcBef>
              <a:spcAft>
                <a:spcPct val="0"/>
              </a:spcAft>
              <a:defRPr sz="2800">
                <a:solidFill>
                  <a:schemeClr val="tx1"/>
                </a:solidFill>
                <a:latin typeface="Arial" panose="020B0604020202020204" pitchFamily="34" charset="0"/>
                <a:cs typeface="Angsana New" panose="02020603050405020304" pitchFamily="18" charset="-34"/>
              </a:defRPr>
            </a:lvl6pPr>
            <a:lvl7pPr marL="3200400" indent="-457200" fontAlgn="base">
              <a:spcBef>
                <a:spcPct val="0"/>
              </a:spcBef>
              <a:spcAft>
                <a:spcPct val="0"/>
              </a:spcAft>
              <a:defRPr sz="2800">
                <a:solidFill>
                  <a:schemeClr val="tx1"/>
                </a:solidFill>
                <a:latin typeface="Arial" panose="020B0604020202020204" pitchFamily="34" charset="0"/>
                <a:cs typeface="Angsana New" panose="02020603050405020304" pitchFamily="18" charset="-34"/>
              </a:defRPr>
            </a:lvl7pPr>
            <a:lvl8pPr marL="3657600" indent="-457200" fontAlgn="base">
              <a:spcBef>
                <a:spcPct val="0"/>
              </a:spcBef>
              <a:spcAft>
                <a:spcPct val="0"/>
              </a:spcAft>
              <a:defRPr sz="2800">
                <a:solidFill>
                  <a:schemeClr val="tx1"/>
                </a:solidFill>
                <a:latin typeface="Arial" panose="020B0604020202020204" pitchFamily="34" charset="0"/>
                <a:cs typeface="Angsana New" panose="02020603050405020304" pitchFamily="18" charset="-34"/>
              </a:defRPr>
            </a:lvl8pPr>
            <a:lvl9pPr marL="4114800" indent="-457200" fontAlgn="base">
              <a:spcBef>
                <a:spcPct val="0"/>
              </a:spcBef>
              <a:spcAft>
                <a:spcPct val="0"/>
              </a:spcAft>
              <a:defRPr sz="2800">
                <a:solidFill>
                  <a:schemeClr val="tx1"/>
                </a:solidFill>
                <a:latin typeface="Arial" panose="020B0604020202020204" pitchFamily="34" charset="0"/>
                <a:cs typeface="Angsana New" panose="02020603050405020304" pitchFamily="18" charset="-34"/>
              </a:defRPr>
            </a:lvl9pPr>
          </a:lstStyle>
          <a:p>
            <a:pPr>
              <a:buFontTx/>
              <a:buAutoNum type="arabicPeriod"/>
              <a:defRPr/>
            </a:pPr>
            <a:r>
              <a:rPr lang="en-US" altLang="en-US" dirty="0" smtClean="0">
                <a:solidFill>
                  <a:srgbClr val="FF66CC"/>
                </a:solidFill>
                <a:effectLst>
                  <a:outerShdw blurRad="38100" dist="38100" dir="2700000" algn="tl">
                    <a:srgbClr val="000000"/>
                  </a:outerShdw>
                </a:effectLst>
                <a:latin typeface="Century Schoolbook" panose="02040604050505020304" pitchFamily="18" charset="0"/>
                <a:cs typeface="Arial" panose="020B0604020202020204" pitchFamily="34" charset="0"/>
              </a:rPr>
              <a:t>Pre-steaming and Impregnation </a:t>
            </a:r>
          </a:p>
          <a:p>
            <a:pPr>
              <a:defRPr/>
            </a:pPr>
            <a:endParaRPr lang="en-US" altLang="en-US" sz="1400" dirty="0" smtClean="0">
              <a:solidFill>
                <a:srgbClr val="FF66CC"/>
              </a:solidFill>
              <a:effectLst>
                <a:outerShdw blurRad="38100" dist="38100" dir="2700000" algn="tl">
                  <a:srgbClr val="000000"/>
                </a:outerShdw>
              </a:effectLst>
              <a:latin typeface="Century Schoolbook" panose="02040604050505020304" pitchFamily="18" charset="0"/>
            </a:endParaRPr>
          </a:p>
          <a:p>
            <a:pPr>
              <a:defRPr/>
            </a:pPr>
            <a:r>
              <a:rPr lang="en-US" altLang="en-US" sz="2400" dirty="0" smtClean="0">
                <a:latin typeface="Century Schoolbook" panose="02040604050505020304" pitchFamily="18" charset="0"/>
                <a:cs typeface="Arial" panose="020B0604020202020204" pitchFamily="34" charset="0"/>
              </a:rPr>
              <a:t>	1.1 </a:t>
            </a:r>
            <a:r>
              <a:rPr lang="en-US" altLang="en-US" sz="2400" dirty="0" smtClean="0">
                <a:solidFill>
                  <a:srgbClr val="FF0000"/>
                </a:solidFill>
                <a:latin typeface="Century Schoolbook" panose="02040604050505020304" pitchFamily="18" charset="0"/>
                <a:cs typeface="Arial" panose="020B0604020202020204" pitchFamily="34" charset="0"/>
              </a:rPr>
              <a:t>Bulk penetration </a:t>
            </a:r>
            <a:r>
              <a:rPr lang="en-US" altLang="en-US" sz="2400" b="1" dirty="0" smtClean="0">
                <a:latin typeface="Century Schoolbook" panose="02040604050505020304" pitchFamily="18" charset="0"/>
                <a:cs typeface="CordiaUPC" panose="020B0304020202020204" pitchFamily="34" charset="-34"/>
              </a:rPr>
              <a:t>(</a:t>
            </a:r>
            <a:r>
              <a:rPr lang="th-TH" altLang="en-US" sz="2400" b="1" dirty="0" smtClean="0">
                <a:latin typeface="Century Schoolbook" panose="02040604050505020304" pitchFamily="18" charset="0"/>
                <a:cs typeface="CordiaUPC" panose="020B0304020202020204" pitchFamily="34" charset="-34"/>
              </a:rPr>
              <a:t>การแทรกซึม</a:t>
            </a:r>
            <a:r>
              <a:rPr lang="en-US" altLang="en-US" sz="2400" b="1" dirty="0" smtClean="0">
                <a:latin typeface="Century Schoolbook" panose="02040604050505020304" pitchFamily="18" charset="0"/>
                <a:cs typeface="CordiaUPC" panose="020B0304020202020204" pitchFamily="34" charset="-34"/>
              </a:rPr>
              <a:t>) : </a:t>
            </a:r>
            <a:r>
              <a:rPr lang="th-TH" altLang="en-US" sz="2400" b="1" dirty="0" smtClean="0">
                <a:latin typeface="Century Schoolbook" panose="02040604050505020304" pitchFamily="18" charset="0"/>
                <a:cs typeface="CordiaUPC" panose="020B0304020202020204" pitchFamily="34" charset="-34"/>
              </a:rPr>
              <a:t>เกิดขึ้นในช่วงแรกของชิ้นไม้สับ</a:t>
            </a:r>
          </a:p>
          <a:p>
            <a:pPr>
              <a:defRPr/>
            </a:pPr>
            <a:r>
              <a:rPr lang="th-TH" altLang="en-US" sz="2400" b="1" dirty="0" smtClean="0">
                <a:latin typeface="Century Schoolbook" panose="02040604050505020304" pitchFamily="18" charset="0"/>
                <a:cs typeface="CordiaUPC" panose="020B0304020202020204" pitchFamily="34" charset="-34"/>
              </a:rPr>
              <a:t>		ถ้าชิ้นไม้ที่ผ่านการอบแห้งและไล่อากาศแล้ว การแทรกซึมจะดี</a:t>
            </a:r>
          </a:p>
          <a:p>
            <a:pPr>
              <a:defRPr/>
            </a:pPr>
            <a:endParaRPr lang="en-US" altLang="en-US" sz="2400" b="1" dirty="0" smtClean="0">
              <a:latin typeface="Century Schoolbook" panose="02040604050505020304" pitchFamily="18" charset="0"/>
              <a:cs typeface="CordiaUPC" panose="020B0304020202020204" pitchFamily="34" charset="-34"/>
            </a:endParaRPr>
          </a:p>
          <a:p>
            <a:pPr>
              <a:defRPr/>
            </a:pPr>
            <a:r>
              <a:rPr lang="en-US" altLang="en-US" sz="2400" dirty="0" smtClean="0">
                <a:latin typeface="Century Schoolbook" panose="02040604050505020304" pitchFamily="18" charset="0"/>
              </a:rPr>
              <a:t>	1.2 </a:t>
            </a:r>
            <a:r>
              <a:rPr lang="en-US" altLang="en-US" sz="2400" dirty="0" smtClean="0">
                <a:solidFill>
                  <a:srgbClr val="FF0000"/>
                </a:solidFill>
                <a:latin typeface="Century Schoolbook" panose="02040604050505020304" pitchFamily="18" charset="0"/>
              </a:rPr>
              <a:t>Diffusion</a:t>
            </a:r>
            <a:r>
              <a:rPr lang="en-US" altLang="en-US" sz="2400" dirty="0" smtClean="0">
                <a:latin typeface="Century Schoolbook" panose="02040604050505020304" pitchFamily="18" charset="0"/>
              </a:rPr>
              <a:t> </a:t>
            </a:r>
            <a:r>
              <a:rPr lang="en-US" altLang="en-US" sz="2400" b="1" dirty="0" smtClean="0">
                <a:latin typeface="Century Schoolbook" panose="02040604050505020304" pitchFamily="18" charset="0"/>
                <a:cs typeface="CordiaUPC" panose="020B0304020202020204" pitchFamily="34" charset="-34"/>
              </a:rPr>
              <a:t>(</a:t>
            </a:r>
            <a:r>
              <a:rPr lang="th-TH" altLang="en-US" sz="2400" b="1" dirty="0" smtClean="0">
                <a:latin typeface="Century Schoolbook" panose="02040604050505020304" pitchFamily="18" charset="0"/>
                <a:cs typeface="CordiaUPC" panose="020B0304020202020204" pitchFamily="34" charset="-34"/>
              </a:rPr>
              <a:t>การแพร่กระจ่าย</a:t>
            </a:r>
            <a:r>
              <a:rPr lang="en-US" altLang="en-US" sz="2400" b="1" dirty="0" smtClean="0">
                <a:latin typeface="Century Schoolbook" panose="02040604050505020304" pitchFamily="18" charset="0"/>
                <a:cs typeface="CordiaUPC" panose="020B0304020202020204" pitchFamily="34" charset="-34"/>
              </a:rPr>
              <a:t>)</a:t>
            </a:r>
            <a:r>
              <a:rPr lang="th-TH" altLang="en-US" sz="2400" b="1" dirty="0" smtClean="0">
                <a:latin typeface="Century Schoolbook" panose="02040604050505020304" pitchFamily="18" charset="0"/>
                <a:cs typeface="CordiaUPC" panose="020B0304020202020204" pitchFamily="34" charset="-34"/>
              </a:rPr>
              <a:t> </a:t>
            </a:r>
            <a:r>
              <a:rPr lang="en-US" altLang="en-US" sz="2400" b="1" dirty="0" smtClean="0">
                <a:latin typeface="Century Schoolbook" panose="02040604050505020304" pitchFamily="18" charset="0"/>
                <a:cs typeface="CordiaUPC" panose="020B0304020202020204" pitchFamily="34" charset="-34"/>
              </a:rPr>
              <a:t>: </a:t>
            </a:r>
            <a:r>
              <a:rPr lang="th-TH" altLang="en-US" sz="2400" b="1" dirty="0" smtClean="0">
                <a:latin typeface="Century Schoolbook" panose="02040604050505020304" pitchFamily="18" charset="0"/>
                <a:cs typeface="CordiaUPC" panose="020B0304020202020204" pitchFamily="34" charset="-34"/>
              </a:rPr>
              <a:t>เกิดหลังการแทรกซึม โดยอัตราการแพร่</a:t>
            </a:r>
          </a:p>
          <a:p>
            <a:pPr>
              <a:defRPr/>
            </a:pPr>
            <a:r>
              <a:rPr lang="th-TH" altLang="en-US" sz="2400" b="1" dirty="0" smtClean="0">
                <a:latin typeface="Century Schoolbook" panose="02040604050505020304" pitchFamily="18" charset="0"/>
                <a:cs typeface="CordiaUPC" panose="020B0304020202020204" pitchFamily="34" charset="-34"/>
              </a:rPr>
              <a:t>		กระจ่ายจะขึ้นกับพื้นที่หน้าตัดของชิ้นไม้สับ และความแตกต่างของความเข้มข้น</a:t>
            </a:r>
          </a:p>
          <a:p>
            <a:pPr>
              <a:defRPr/>
            </a:pPr>
            <a:r>
              <a:rPr lang="th-TH" altLang="en-US" sz="2400" b="1" dirty="0" smtClean="0">
                <a:latin typeface="Century Schoolbook" panose="02040604050505020304" pitchFamily="18" charset="0"/>
                <a:cs typeface="CordiaUPC" panose="020B0304020202020204" pitchFamily="34" charset="-34"/>
              </a:rPr>
              <a:t>		ของ </a:t>
            </a:r>
            <a:r>
              <a:rPr lang="en-US" altLang="en-US" sz="2400" dirty="0" smtClean="0">
                <a:latin typeface="Century Schoolbook" panose="02040604050505020304" pitchFamily="18" charset="0"/>
                <a:cs typeface="CordiaUPC" panose="020B0304020202020204" pitchFamily="34" charset="-34"/>
              </a:rPr>
              <a:t>chemical</a:t>
            </a:r>
            <a:endParaRPr lang="th-TH" altLang="en-US" sz="2400" b="1" dirty="0" smtClean="0">
              <a:latin typeface="Century Schoolbook" panose="02040604050505020304" pitchFamily="18" charset="0"/>
              <a:cs typeface="CordiaUPC" panose="020B0304020202020204" pitchFamily="34" charset="-34"/>
            </a:endParaRPr>
          </a:p>
          <a:p>
            <a:pPr>
              <a:defRPr/>
            </a:pPr>
            <a:r>
              <a:rPr lang="th-TH" altLang="en-US" sz="2400" b="1" dirty="0" smtClean="0">
                <a:latin typeface="Century Schoolbook" panose="02040604050505020304" pitchFamily="18" charset="0"/>
                <a:cs typeface="CordiaUPC" panose="020B0304020202020204" pitchFamily="34" charset="-34"/>
              </a:rPr>
              <a:t>		- อุณหภูมิ</a:t>
            </a:r>
          </a:p>
          <a:p>
            <a:pPr>
              <a:defRPr/>
            </a:pPr>
            <a:r>
              <a:rPr lang="th-TH" altLang="en-US" sz="2400" b="1" dirty="0" smtClean="0">
                <a:latin typeface="Century Schoolbook" panose="02040604050505020304" pitchFamily="18" charset="0"/>
                <a:cs typeface="CordiaUPC" panose="020B0304020202020204" pitchFamily="34" charset="-34"/>
              </a:rPr>
              <a:t>		- ระยะเวลาการแทรกซึม </a:t>
            </a:r>
            <a:r>
              <a:rPr lang="en-US" altLang="en-US" sz="2400" dirty="0" smtClean="0">
                <a:latin typeface="Century Schoolbook" panose="02040604050505020304" pitchFamily="18" charset="0"/>
                <a:cs typeface="CordiaUPC" panose="020B0304020202020204" pitchFamily="34" charset="-34"/>
              </a:rPr>
              <a:t>(check residual alkali)</a:t>
            </a:r>
          </a:p>
          <a:p>
            <a:pPr>
              <a:defRPr/>
            </a:pPr>
            <a:endParaRPr lang="en-US" altLang="en-US" sz="2400" dirty="0" smtClean="0">
              <a:latin typeface="Century Schoolbook" panose="02040604050505020304" pitchFamily="18" charset="0"/>
              <a:cs typeface="CordiaUPC" panose="020B0304020202020204" pitchFamily="34" charset="-34"/>
            </a:endParaRPr>
          </a:p>
          <a:p>
            <a:pPr>
              <a:defRPr/>
            </a:pPr>
            <a:r>
              <a:rPr lang="en-US" altLang="en-US" dirty="0" smtClean="0">
                <a:solidFill>
                  <a:srgbClr val="FF66CC"/>
                </a:solidFill>
                <a:effectLst>
                  <a:outerShdw blurRad="38100" dist="38100" dir="2700000" algn="tl">
                    <a:srgbClr val="000000"/>
                  </a:outerShdw>
                </a:effectLst>
                <a:latin typeface="Century Schoolbook" panose="02040604050505020304" pitchFamily="18" charset="0"/>
                <a:cs typeface="CordiaUPC" panose="020B0304020202020204" pitchFamily="34" charset="-34"/>
              </a:rPr>
              <a:t>2.	Cooking and Delignification</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4738" name="Rectangle 3"/>
          <p:cNvSpPr>
            <a:spLocks noGrp="1" noChangeArrowheads="1"/>
          </p:cNvSpPr>
          <p:nvPr>
            <p:ph type="body" idx="1"/>
          </p:nvPr>
        </p:nvSpPr>
        <p:spPr>
          <a:xfrm>
            <a:off x="519113" y="1903413"/>
            <a:ext cx="8229600" cy="2894012"/>
          </a:xfrm>
        </p:spPr>
        <p:txBody>
          <a:bodyPr/>
          <a:lstStyle/>
          <a:p>
            <a:r>
              <a:rPr lang="en-US" altLang="en-US" sz="2800" smtClean="0">
                <a:latin typeface="Century Schoolbook" panose="02040604050505020304" pitchFamily="18" charset="0"/>
              </a:rPr>
              <a:t>Initial delignification: (Lignin &gt; 22.5%)</a:t>
            </a:r>
          </a:p>
          <a:p>
            <a:endParaRPr lang="en-US" altLang="en-US" sz="2800" smtClean="0">
              <a:latin typeface="Century Schoolbook" panose="02040604050505020304" pitchFamily="18" charset="0"/>
            </a:endParaRPr>
          </a:p>
          <a:p>
            <a:r>
              <a:rPr lang="en-US" altLang="en-US" sz="2800" smtClean="0">
                <a:latin typeface="Century Schoolbook" panose="02040604050505020304" pitchFamily="18" charset="0"/>
              </a:rPr>
              <a:t>Bulk delignification: (2.2% &lt; Lignin &lt;  22.5%)</a:t>
            </a:r>
          </a:p>
          <a:p>
            <a:endParaRPr lang="en-US" altLang="en-US" sz="2800" smtClean="0">
              <a:latin typeface="Century Schoolbook" panose="02040604050505020304" pitchFamily="18" charset="0"/>
            </a:endParaRPr>
          </a:p>
          <a:p>
            <a:r>
              <a:rPr lang="en-US" altLang="en-US" sz="2800" smtClean="0">
                <a:latin typeface="Century Schoolbook" panose="02040604050505020304" pitchFamily="18" charset="0"/>
              </a:rPr>
              <a:t>Residual delignification: (Lignin &lt; 2.2%)</a:t>
            </a:r>
          </a:p>
        </p:txBody>
      </p:sp>
      <p:sp>
        <p:nvSpPr>
          <p:cNvPr id="154628" name="Text Box 4"/>
          <p:cNvSpPr txBox="1">
            <a:spLocks noChangeArrowheads="1"/>
          </p:cNvSpPr>
          <p:nvPr/>
        </p:nvSpPr>
        <p:spPr bwMode="auto">
          <a:xfrm>
            <a:off x="611188" y="200025"/>
            <a:ext cx="62738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3600" b="1" dirty="0">
                <a:solidFill>
                  <a:srgbClr val="FF0000"/>
                </a:solidFill>
                <a:effectLst>
                  <a:outerShdw blurRad="38100" dist="38100" dir="2700000" algn="tl">
                    <a:srgbClr val="000000"/>
                  </a:outerShdw>
                </a:effectLst>
                <a:latin typeface="Century Schoolbook" panose="02040604050505020304" pitchFamily="18" charset="0"/>
              </a:rPr>
              <a:t>Chemical pulping </a:t>
            </a:r>
          </a:p>
          <a:p>
            <a:pPr>
              <a:defRPr/>
            </a:pPr>
            <a:r>
              <a:rPr lang="en-US" altLang="en-US" sz="2400" b="1" dirty="0">
                <a:effectLst>
                  <a:outerShdw blurRad="38100" dist="38100" dir="2700000" algn="tl">
                    <a:srgbClr val="000000"/>
                  </a:outerShdw>
                </a:effectLst>
                <a:latin typeface="Century Schoolbook" panose="02040604050505020304" pitchFamily="18" charset="0"/>
              </a:rPr>
              <a:t>Three Phase Model: Gustafson’s Model</a:t>
            </a:r>
            <a:endParaRPr lang="th-TH" altLang="en-US" sz="2400" b="1" dirty="0">
              <a:effectLst>
                <a:outerShdw blurRad="38100" dist="38100" dir="2700000" algn="tl">
                  <a:srgbClr val="000000"/>
                </a:outerShdw>
              </a:effectLst>
              <a:latin typeface="Century Schoolbook" panose="020406040505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157703" name="Text Box 7"/>
          <p:cNvSpPr txBox="1">
            <a:spLocks noChangeArrowheads="1"/>
          </p:cNvSpPr>
          <p:nvPr/>
        </p:nvSpPr>
        <p:spPr bwMode="auto">
          <a:xfrm>
            <a:off x="611188" y="200025"/>
            <a:ext cx="62738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3600" b="1" dirty="0">
                <a:solidFill>
                  <a:srgbClr val="FF0000"/>
                </a:solidFill>
                <a:effectLst>
                  <a:outerShdw blurRad="38100" dist="38100" dir="2700000" algn="tl">
                    <a:srgbClr val="000000"/>
                  </a:outerShdw>
                </a:effectLst>
                <a:latin typeface="Century Schoolbook" panose="02040604050505020304" pitchFamily="18" charset="0"/>
              </a:rPr>
              <a:t>Chemical pulping </a:t>
            </a:r>
          </a:p>
          <a:p>
            <a:pPr>
              <a:defRPr/>
            </a:pPr>
            <a:r>
              <a:rPr lang="en-US" altLang="en-US" sz="2400" b="1" dirty="0">
                <a:effectLst>
                  <a:outerShdw blurRad="38100" dist="38100" dir="2700000" algn="tl">
                    <a:srgbClr val="000000"/>
                  </a:outerShdw>
                </a:effectLst>
                <a:latin typeface="Century Schoolbook" panose="02040604050505020304" pitchFamily="18" charset="0"/>
              </a:rPr>
              <a:t>Three Phase Model: Gustafson’s Model</a:t>
            </a:r>
            <a:endParaRPr lang="th-TH" altLang="en-US" sz="2400" b="1" dirty="0">
              <a:effectLst>
                <a:outerShdw blurRad="38100" dist="38100" dir="2700000" algn="tl">
                  <a:srgbClr val="000000"/>
                </a:outerShdw>
              </a:effectLst>
              <a:latin typeface="Century Schoolbook" panose="02040604050505020304" pitchFamily="18" charset="0"/>
            </a:endParaRPr>
          </a:p>
        </p:txBody>
      </p:sp>
      <p:pic>
        <p:nvPicPr>
          <p:cNvPr id="245763" name="Picture 4" descr="01_0005_0006_000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0" y="1484313"/>
            <a:ext cx="6911975" cy="494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7701" name="Freeform 5"/>
          <p:cNvSpPr>
            <a:spLocks/>
          </p:cNvSpPr>
          <p:nvPr/>
        </p:nvSpPr>
        <p:spPr bwMode="auto">
          <a:xfrm>
            <a:off x="3132138" y="4581525"/>
            <a:ext cx="719137" cy="360363"/>
          </a:xfrm>
          <a:custGeom>
            <a:avLst/>
            <a:gdLst>
              <a:gd name="T0" fmla="*/ 0 w 453"/>
              <a:gd name="T1" fmla="*/ 0 h 227"/>
              <a:gd name="T2" fmla="*/ 0 w 453"/>
              <a:gd name="T3" fmla="*/ 2147483646 h 227"/>
              <a:gd name="T4" fmla="*/ 2147483646 w 453"/>
              <a:gd name="T5" fmla="*/ 2147483646 h 227"/>
              <a:gd name="T6" fmla="*/ 0 60000 65536"/>
              <a:gd name="T7" fmla="*/ 0 60000 65536"/>
              <a:gd name="T8" fmla="*/ 0 60000 65536"/>
            </a:gdLst>
            <a:ahLst/>
            <a:cxnLst>
              <a:cxn ang="T6">
                <a:pos x="T0" y="T1"/>
              </a:cxn>
              <a:cxn ang="T7">
                <a:pos x="T2" y="T3"/>
              </a:cxn>
              <a:cxn ang="T8">
                <a:pos x="T4" y="T5"/>
              </a:cxn>
            </a:cxnLst>
            <a:rect l="0" t="0" r="r" b="b"/>
            <a:pathLst>
              <a:path w="453" h="227">
                <a:moveTo>
                  <a:pt x="0" y="0"/>
                </a:moveTo>
                <a:lnTo>
                  <a:pt x="0" y="227"/>
                </a:lnTo>
                <a:lnTo>
                  <a:pt x="453" y="227"/>
                </a:lnTo>
              </a:path>
            </a:pathLst>
          </a:custGeom>
          <a:noFill/>
          <a:ln w="28575" cmpd="sng">
            <a:solidFill>
              <a:srgbClr val="FF0000"/>
            </a:solidFill>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57702" name="Text Box 6"/>
          <p:cNvSpPr txBox="1">
            <a:spLocks noChangeArrowheads="1"/>
          </p:cNvSpPr>
          <p:nvPr/>
        </p:nvSpPr>
        <p:spPr bwMode="auto">
          <a:xfrm>
            <a:off x="3851275" y="4724400"/>
            <a:ext cx="2362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th-TH" altLang="en-US" sz="2400" b="1">
                <a:solidFill>
                  <a:srgbClr val="FF0000"/>
                </a:solidFill>
                <a:latin typeface="Arial" panose="020B0604020202020204" pitchFamily="34" charset="0"/>
                <a:cs typeface="CordiaUPC" panose="020B0304020202020204" pitchFamily="34" charset="-34"/>
              </a:rPr>
              <a:t>จุดที่ควรหยุดการต้มเยื่อ</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57701"/>
                                        </p:tgtEl>
                                        <p:attrNameLst>
                                          <p:attrName>style.visibility</p:attrName>
                                        </p:attrNameLst>
                                      </p:cBhvr>
                                      <p:to>
                                        <p:strVal val="visible"/>
                                      </p:to>
                                    </p:set>
                                    <p:animEffect transition="in" filter="dissolve">
                                      <p:cBhvr>
                                        <p:cTn id="7" dur="500"/>
                                        <p:tgtEl>
                                          <p:spTgt spid="157701"/>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57702"/>
                                        </p:tgtEl>
                                        <p:attrNameLst>
                                          <p:attrName>style.visibility</p:attrName>
                                        </p:attrNameLst>
                                      </p:cBhvr>
                                      <p:to>
                                        <p:strVal val="visible"/>
                                      </p:to>
                                    </p:set>
                                    <p:animEffect transition="in" filter="dissolve">
                                      <p:cBhvr>
                                        <p:cTn id="10" dur="500"/>
                                        <p:tgtEl>
                                          <p:spTgt spid="1577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701" grpId="0" animBg="1"/>
      <p:bldP spid="157702" grpId="0"/>
    </p:bldLst>
  </p:timing>
</p:sld>
</file>

<file path=ppt/slides/slide1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6786" name="Rectangle 3"/>
          <p:cNvSpPr>
            <a:spLocks noChangeArrowheads="1"/>
          </p:cNvSpPr>
          <p:nvPr/>
        </p:nvSpPr>
        <p:spPr bwMode="auto">
          <a:xfrm>
            <a:off x="1066800" y="1447800"/>
            <a:ext cx="6934200" cy="46482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1800"/>
          </a:p>
        </p:txBody>
      </p:sp>
      <p:sp>
        <p:nvSpPr>
          <p:cNvPr id="246787" name="Line 4"/>
          <p:cNvSpPr>
            <a:spLocks noChangeShapeType="1"/>
          </p:cNvSpPr>
          <p:nvPr/>
        </p:nvSpPr>
        <p:spPr bwMode="auto">
          <a:xfrm>
            <a:off x="1066800" y="3657600"/>
            <a:ext cx="6934200" cy="476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6788" name="Text Box 5"/>
          <p:cNvSpPr txBox="1">
            <a:spLocks noChangeArrowheads="1"/>
          </p:cNvSpPr>
          <p:nvPr/>
        </p:nvSpPr>
        <p:spPr bwMode="auto">
          <a:xfrm>
            <a:off x="1066800" y="1524000"/>
            <a:ext cx="12858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t>Bulk Phase</a:t>
            </a:r>
          </a:p>
          <a:p>
            <a:pPr>
              <a:spcBef>
                <a:spcPct val="0"/>
              </a:spcBef>
              <a:buFontTx/>
              <a:buNone/>
            </a:pPr>
            <a:r>
              <a:rPr lang="en-US" altLang="en-US" sz="1800" b="1"/>
              <a:t>     HS</a:t>
            </a:r>
            <a:r>
              <a:rPr lang="en-US" altLang="en-US" sz="1800" b="1" baseline="30000"/>
              <a:t>-</a:t>
            </a:r>
          </a:p>
        </p:txBody>
      </p:sp>
      <p:sp>
        <p:nvSpPr>
          <p:cNvPr id="246789" name="Text Box 6"/>
          <p:cNvSpPr txBox="1">
            <a:spLocks noChangeArrowheads="1"/>
          </p:cNvSpPr>
          <p:nvPr/>
        </p:nvSpPr>
        <p:spPr bwMode="auto">
          <a:xfrm>
            <a:off x="1066800" y="3810000"/>
            <a:ext cx="129698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t>Chip Phase</a:t>
            </a:r>
          </a:p>
          <a:p>
            <a:pPr>
              <a:spcBef>
                <a:spcPct val="0"/>
              </a:spcBef>
              <a:buFontTx/>
              <a:buNone/>
            </a:pPr>
            <a:r>
              <a:rPr lang="en-US" altLang="en-US" sz="1800" b="1"/>
              <a:t>     HS</a:t>
            </a:r>
            <a:r>
              <a:rPr lang="en-US" altLang="en-US" sz="1800" b="1" baseline="30000"/>
              <a:t>-</a:t>
            </a:r>
          </a:p>
        </p:txBody>
      </p:sp>
      <p:sp>
        <p:nvSpPr>
          <p:cNvPr id="246790" name="Text Box 7"/>
          <p:cNvSpPr txBox="1">
            <a:spLocks noChangeArrowheads="1"/>
          </p:cNvSpPr>
          <p:nvPr/>
        </p:nvSpPr>
        <p:spPr bwMode="auto">
          <a:xfrm>
            <a:off x="3733800" y="2286000"/>
            <a:ext cx="6715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t> OH</a:t>
            </a:r>
            <a:r>
              <a:rPr lang="en-US" altLang="en-US" sz="1800" b="1" baseline="30000"/>
              <a:t>-</a:t>
            </a:r>
          </a:p>
        </p:txBody>
      </p:sp>
      <p:sp>
        <p:nvSpPr>
          <p:cNvPr id="246791" name="Text Box 8"/>
          <p:cNvSpPr txBox="1">
            <a:spLocks noChangeArrowheads="1"/>
          </p:cNvSpPr>
          <p:nvPr/>
        </p:nvSpPr>
        <p:spPr bwMode="auto">
          <a:xfrm>
            <a:off x="3810000" y="4648200"/>
            <a:ext cx="6715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t> OH</a:t>
            </a:r>
            <a:r>
              <a:rPr lang="en-US" altLang="en-US" sz="1800" b="1" baseline="30000"/>
              <a:t>-</a:t>
            </a:r>
          </a:p>
        </p:txBody>
      </p:sp>
      <p:sp>
        <p:nvSpPr>
          <p:cNvPr id="246792" name="Text Box 9"/>
          <p:cNvSpPr txBox="1">
            <a:spLocks noChangeArrowheads="1"/>
          </p:cNvSpPr>
          <p:nvPr/>
        </p:nvSpPr>
        <p:spPr bwMode="auto">
          <a:xfrm>
            <a:off x="5756275" y="5653088"/>
            <a:ext cx="24733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800" b="1"/>
              <a:t>Wood Components</a:t>
            </a:r>
          </a:p>
        </p:txBody>
      </p:sp>
      <p:sp>
        <p:nvSpPr>
          <p:cNvPr id="246793" name="Line 10"/>
          <p:cNvSpPr>
            <a:spLocks noChangeShapeType="1"/>
          </p:cNvSpPr>
          <p:nvPr/>
        </p:nvSpPr>
        <p:spPr bwMode="auto">
          <a:xfrm>
            <a:off x="4114800" y="3171825"/>
            <a:ext cx="0" cy="457200"/>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6794" name="Line 11"/>
          <p:cNvSpPr>
            <a:spLocks noChangeShapeType="1"/>
          </p:cNvSpPr>
          <p:nvPr/>
        </p:nvSpPr>
        <p:spPr bwMode="auto">
          <a:xfrm>
            <a:off x="4143375" y="4114800"/>
            <a:ext cx="0" cy="457200"/>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6795" name="Text Box 12"/>
          <p:cNvSpPr txBox="1">
            <a:spLocks noChangeArrowheads="1"/>
          </p:cNvSpPr>
          <p:nvPr/>
        </p:nvSpPr>
        <p:spPr bwMode="auto">
          <a:xfrm>
            <a:off x="3563938" y="2743200"/>
            <a:ext cx="12414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solidFill>
                  <a:schemeClr val="hlink"/>
                </a:solidFill>
              </a:rPr>
              <a:t>convection</a:t>
            </a:r>
          </a:p>
        </p:txBody>
      </p:sp>
      <p:sp>
        <p:nvSpPr>
          <p:cNvPr id="246796" name="Text Box 13"/>
          <p:cNvSpPr txBox="1">
            <a:spLocks noChangeArrowheads="1"/>
          </p:cNvSpPr>
          <p:nvPr/>
        </p:nvSpPr>
        <p:spPr bwMode="auto">
          <a:xfrm>
            <a:off x="3657600" y="3733800"/>
            <a:ext cx="10493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solidFill>
                  <a:schemeClr val="hlink"/>
                </a:solidFill>
              </a:rPr>
              <a:t>diffusion</a:t>
            </a:r>
          </a:p>
        </p:txBody>
      </p:sp>
      <p:sp>
        <p:nvSpPr>
          <p:cNvPr id="246797" name="Text Box 14"/>
          <p:cNvSpPr txBox="1">
            <a:spLocks noChangeArrowheads="1"/>
          </p:cNvSpPr>
          <p:nvPr/>
        </p:nvSpPr>
        <p:spPr bwMode="auto">
          <a:xfrm>
            <a:off x="6342063" y="1828800"/>
            <a:ext cx="1403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800" b="1"/>
              <a:t>Degradation</a:t>
            </a:r>
          </a:p>
          <a:p>
            <a:pPr algn="ctr">
              <a:spcBef>
                <a:spcPct val="0"/>
              </a:spcBef>
              <a:buFontTx/>
              <a:buNone/>
            </a:pPr>
            <a:r>
              <a:rPr lang="en-US" altLang="en-US" sz="1800" b="1"/>
              <a:t>products</a:t>
            </a:r>
          </a:p>
        </p:txBody>
      </p:sp>
      <p:sp>
        <p:nvSpPr>
          <p:cNvPr id="246798" name="Line 15"/>
          <p:cNvSpPr>
            <a:spLocks noChangeShapeType="1"/>
          </p:cNvSpPr>
          <p:nvPr/>
        </p:nvSpPr>
        <p:spPr bwMode="auto">
          <a:xfrm>
            <a:off x="7086600" y="3186113"/>
            <a:ext cx="0" cy="457200"/>
          </a:xfrm>
          <a:prstGeom prst="line">
            <a:avLst/>
          </a:prstGeom>
          <a:noFill/>
          <a:ln w="5715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6799" name="Line 16"/>
          <p:cNvSpPr>
            <a:spLocks noChangeShapeType="1"/>
          </p:cNvSpPr>
          <p:nvPr/>
        </p:nvSpPr>
        <p:spPr bwMode="auto">
          <a:xfrm>
            <a:off x="7115175" y="4129088"/>
            <a:ext cx="0" cy="457200"/>
          </a:xfrm>
          <a:prstGeom prst="line">
            <a:avLst/>
          </a:prstGeom>
          <a:noFill/>
          <a:ln w="5715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6800" name="Text Box 17"/>
          <p:cNvSpPr txBox="1">
            <a:spLocks noChangeArrowheads="1"/>
          </p:cNvSpPr>
          <p:nvPr/>
        </p:nvSpPr>
        <p:spPr bwMode="auto">
          <a:xfrm>
            <a:off x="6535738" y="2757488"/>
            <a:ext cx="12414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solidFill>
                  <a:schemeClr val="hlink"/>
                </a:solidFill>
              </a:rPr>
              <a:t>convection</a:t>
            </a:r>
          </a:p>
        </p:txBody>
      </p:sp>
      <p:sp>
        <p:nvSpPr>
          <p:cNvPr id="246801" name="Text Box 18"/>
          <p:cNvSpPr txBox="1">
            <a:spLocks noChangeArrowheads="1"/>
          </p:cNvSpPr>
          <p:nvPr/>
        </p:nvSpPr>
        <p:spPr bwMode="auto">
          <a:xfrm>
            <a:off x="6629400" y="3748088"/>
            <a:ext cx="104933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solidFill>
                  <a:schemeClr val="hlink"/>
                </a:solidFill>
              </a:rPr>
              <a:t>diffusion</a:t>
            </a:r>
          </a:p>
        </p:txBody>
      </p:sp>
      <p:sp>
        <p:nvSpPr>
          <p:cNvPr id="246802" name="Text Box 19"/>
          <p:cNvSpPr txBox="1">
            <a:spLocks noChangeArrowheads="1"/>
          </p:cNvSpPr>
          <p:nvPr/>
        </p:nvSpPr>
        <p:spPr bwMode="auto">
          <a:xfrm>
            <a:off x="6418263" y="4557713"/>
            <a:ext cx="1403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800" b="1"/>
              <a:t>Degradation</a:t>
            </a:r>
          </a:p>
          <a:p>
            <a:pPr algn="ctr">
              <a:spcBef>
                <a:spcPct val="0"/>
              </a:spcBef>
              <a:buFontTx/>
              <a:buNone/>
            </a:pPr>
            <a:r>
              <a:rPr lang="en-US" altLang="en-US" sz="1800" b="1"/>
              <a:t>products</a:t>
            </a:r>
          </a:p>
        </p:txBody>
      </p:sp>
      <p:sp>
        <p:nvSpPr>
          <p:cNvPr id="153620" name="Text Box 20"/>
          <p:cNvSpPr txBox="1">
            <a:spLocks noChangeArrowheads="1"/>
          </p:cNvSpPr>
          <p:nvPr/>
        </p:nvSpPr>
        <p:spPr bwMode="auto">
          <a:xfrm>
            <a:off x="611188" y="200025"/>
            <a:ext cx="4525962"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3600" b="1" dirty="0">
                <a:solidFill>
                  <a:srgbClr val="FF0000"/>
                </a:solidFill>
                <a:effectLst>
                  <a:outerShdw blurRad="38100" dist="38100" dir="2700000" algn="tl">
                    <a:srgbClr val="000000"/>
                  </a:outerShdw>
                </a:effectLst>
                <a:latin typeface="Century Schoolbook" panose="02040604050505020304" pitchFamily="18" charset="0"/>
              </a:rPr>
              <a:t>Chemical pulping </a:t>
            </a:r>
          </a:p>
          <a:p>
            <a:pPr>
              <a:defRPr/>
            </a:pPr>
            <a:r>
              <a:rPr lang="en-US" altLang="en-US" sz="2400" b="1" dirty="0">
                <a:effectLst>
                  <a:outerShdw blurRad="38100" dist="38100" dir="2700000" algn="tl">
                    <a:srgbClr val="000000"/>
                  </a:outerShdw>
                </a:effectLst>
                <a:latin typeface="Century Schoolbook" panose="02040604050505020304" pitchFamily="18" charset="0"/>
              </a:rPr>
              <a:t>Kraft Pulping Process</a:t>
            </a:r>
            <a:endParaRPr lang="th-TH" altLang="en-US" sz="2400" b="1" dirty="0">
              <a:effectLst>
                <a:outerShdw blurRad="38100" dist="38100" dir="2700000" algn="tl">
                  <a:srgbClr val="000000"/>
                </a:outerShdw>
              </a:effectLst>
              <a:latin typeface="Century Schoolbook" panose="020406040505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7810" name="Rectangle 3"/>
          <p:cNvSpPr>
            <a:spLocks noGrp="1" noChangeArrowheads="1"/>
          </p:cNvSpPr>
          <p:nvPr>
            <p:ph type="body" idx="1"/>
          </p:nvPr>
        </p:nvSpPr>
        <p:spPr>
          <a:xfrm>
            <a:off x="611188" y="1773238"/>
            <a:ext cx="8281987" cy="4525962"/>
          </a:xfrm>
        </p:spPr>
        <p:txBody>
          <a:bodyPr/>
          <a:lstStyle/>
          <a:p>
            <a:r>
              <a:rPr lang="en-US" altLang="en-US" sz="2400" smtClean="0">
                <a:latin typeface="Century Schoolbook" panose="02040604050505020304" pitchFamily="18" charset="0"/>
              </a:rPr>
              <a:t>Uniformity of ingredients</a:t>
            </a:r>
          </a:p>
          <a:p>
            <a:r>
              <a:rPr lang="en-US" altLang="en-US" sz="2400" smtClean="0">
                <a:latin typeface="Century Schoolbook" panose="02040604050505020304" pitchFamily="18" charset="0"/>
              </a:rPr>
              <a:t>Sufficient steaming of chips for complete air removal</a:t>
            </a:r>
          </a:p>
          <a:p>
            <a:r>
              <a:rPr lang="en-US" altLang="en-US" sz="2400" smtClean="0">
                <a:latin typeface="Century Schoolbook" panose="02040604050505020304" pitchFamily="18" charset="0"/>
              </a:rPr>
              <a:t>Good access of liquor to all chip surfaces</a:t>
            </a:r>
          </a:p>
        </p:txBody>
      </p:sp>
      <p:sp>
        <p:nvSpPr>
          <p:cNvPr id="247811" name="Oval 4"/>
          <p:cNvSpPr>
            <a:spLocks noChangeArrowheads="1"/>
          </p:cNvSpPr>
          <p:nvPr/>
        </p:nvSpPr>
        <p:spPr bwMode="auto">
          <a:xfrm>
            <a:off x="3657600" y="4448175"/>
            <a:ext cx="1828800" cy="1752600"/>
          </a:xfrm>
          <a:prstGeom prst="ellipse">
            <a:avLst/>
          </a:prstGeom>
          <a:solidFill>
            <a:srgbClr val="FFFF99"/>
          </a:solidFill>
          <a:ln w="9525">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1800">
              <a:solidFill>
                <a:schemeClr val="bg2"/>
              </a:solidFill>
            </a:endParaRPr>
          </a:p>
        </p:txBody>
      </p:sp>
      <p:sp>
        <p:nvSpPr>
          <p:cNvPr id="247812" name="Oval 5"/>
          <p:cNvSpPr>
            <a:spLocks noChangeArrowheads="1"/>
          </p:cNvSpPr>
          <p:nvPr/>
        </p:nvSpPr>
        <p:spPr bwMode="auto">
          <a:xfrm>
            <a:off x="4191000" y="3352800"/>
            <a:ext cx="1828800" cy="1752600"/>
          </a:xfrm>
          <a:prstGeom prst="ellipse">
            <a:avLst/>
          </a:prstGeom>
          <a:solidFill>
            <a:schemeClr val="folHlink"/>
          </a:solidFill>
          <a:ln w="9525">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800" b="1">
                <a:solidFill>
                  <a:schemeClr val="bg1"/>
                </a:solidFill>
                <a:latin typeface="Century Schoolbook" panose="02040604050505020304" pitchFamily="18" charset="0"/>
              </a:rPr>
              <a:t>LIQUOR</a:t>
            </a:r>
          </a:p>
        </p:txBody>
      </p:sp>
      <p:sp>
        <p:nvSpPr>
          <p:cNvPr id="247813" name="Oval 6"/>
          <p:cNvSpPr>
            <a:spLocks noChangeArrowheads="1"/>
          </p:cNvSpPr>
          <p:nvPr/>
        </p:nvSpPr>
        <p:spPr bwMode="auto">
          <a:xfrm>
            <a:off x="2667000" y="3505200"/>
            <a:ext cx="1828800" cy="1752600"/>
          </a:xfrm>
          <a:prstGeom prst="ellipse">
            <a:avLst/>
          </a:prstGeom>
          <a:solidFill>
            <a:srgbClr val="99CCFF"/>
          </a:solidFill>
          <a:ln w="9525">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800" b="1">
                <a:solidFill>
                  <a:srgbClr val="FF0000"/>
                </a:solidFill>
                <a:latin typeface="Century Schoolbook" panose="02040604050505020304" pitchFamily="18" charset="0"/>
              </a:rPr>
              <a:t>WOOD</a:t>
            </a:r>
          </a:p>
        </p:txBody>
      </p:sp>
      <p:sp>
        <p:nvSpPr>
          <p:cNvPr id="247814" name="Text Box 7"/>
          <p:cNvSpPr txBox="1">
            <a:spLocks noChangeArrowheads="1"/>
          </p:cNvSpPr>
          <p:nvPr/>
        </p:nvSpPr>
        <p:spPr bwMode="auto">
          <a:xfrm>
            <a:off x="4191000" y="5243513"/>
            <a:ext cx="89376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solidFill>
                  <a:srgbClr val="0000FF"/>
                </a:solidFill>
                <a:latin typeface="Century Schoolbook" panose="02040604050505020304" pitchFamily="18" charset="0"/>
              </a:rPr>
              <a:t>HEAT</a:t>
            </a:r>
          </a:p>
        </p:txBody>
      </p:sp>
      <p:sp>
        <p:nvSpPr>
          <p:cNvPr id="152584" name="Text Box 8"/>
          <p:cNvSpPr txBox="1">
            <a:spLocks noChangeArrowheads="1"/>
          </p:cNvSpPr>
          <p:nvPr/>
        </p:nvSpPr>
        <p:spPr bwMode="auto">
          <a:xfrm>
            <a:off x="611188" y="200025"/>
            <a:ext cx="43942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3600" b="1" dirty="0">
                <a:solidFill>
                  <a:srgbClr val="FF0000"/>
                </a:solidFill>
                <a:effectLst>
                  <a:outerShdw blurRad="38100" dist="38100" dir="2700000" algn="tl">
                    <a:srgbClr val="000000"/>
                  </a:outerShdw>
                </a:effectLst>
                <a:latin typeface="Century Schoolbook" panose="02040604050505020304" pitchFamily="18" charset="0"/>
              </a:rPr>
              <a:t>Chemical pulping</a:t>
            </a:r>
          </a:p>
          <a:p>
            <a:pPr>
              <a:defRPr/>
            </a:pPr>
            <a:r>
              <a:rPr lang="en-US" altLang="en-US" sz="2400" b="1" dirty="0">
                <a:effectLst>
                  <a:outerShdw blurRad="38100" dist="38100" dir="2700000" algn="tl">
                    <a:srgbClr val="000000"/>
                  </a:outerShdw>
                </a:effectLst>
                <a:latin typeface="Century Schoolbook" panose="02040604050505020304" pitchFamily="18" charset="0"/>
              </a:rPr>
              <a:t>The Kraft Pulping Recipe</a:t>
            </a:r>
            <a:endParaRPr lang="th-TH" altLang="en-US" sz="2400" b="1" dirty="0">
              <a:effectLst>
                <a:outerShdw blurRad="38100" dist="38100" dir="2700000" algn="tl">
                  <a:srgbClr val="000000"/>
                </a:outerShdw>
              </a:effectLst>
              <a:latin typeface="Century Schoolbook" panose="020406040505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9748" name="Text Box 4"/>
          <p:cNvSpPr txBox="1">
            <a:spLocks noChangeArrowheads="1"/>
          </p:cNvSpPr>
          <p:nvPr/>
        </p:nvSpPr>
        <p:spPr bwMode="auto">
          <a:xfrm>
            <a:off x="611188" y="200025"/>
            <a:ext cx="7489825" cy="1068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en-US" altLang="en-US" sz="3600" b="1" dirty="0">
                <a:solidFill>
                  <a:srgbClr val="FF0000"/>
                </a:solidFill>
                <a:effectLst>
                  <a:outerShdw blurRad="38100" dist="38100" dir="2700000" algn="tl">
                    <a:srgbClr val="000000"/>
                  </a:outerShdw>
                </a:effectLst>
                <a:latin typeface="Century Schoolbook" panose="02040604050505020304" pitchFamily="18" charset="0"/>
              </a:rPr>
              <a:t>Chemical pulping </a:t>
            </a:r>
          </a:p>
          <a:p>
            <a:pPr>
              <a:defRPr/>
            </a:pPr>
            <a:r>
              <a:rPr lang="en-US" altLang="en-US" sz="2800" b="1" dirty="0">
                <a:effectLst>
                  <a:outerShdw blurRad="38100" dist="38100" dir="2700000" algn="tl">
                    <a:srgbClr val="000000"/>
                  </a:outerShdw>
                </a:effectLst>
                <a:latin typeface="Century Schoolbook" panose="02040604050505020304" pitchFamily="18" charset="0"/>
              </a:rPr>
              <a:t>Factor for cooking</a:t>
            </a:r>
            <a:endParaRPr lang="th-TH" altLang="en-US" sz="2800" b="1" dirty="0">
              <a:effectLst>
                <a:outerShdw blurRad="38100" dist="38100" dir="2700000" algn="tl">
                  <a:srgbClr val="000000"/>
                </a:outerShdw>
              </a:effectLst>
              <a:latin typeface="Century Schoolbook" panose="02040604050505020304" pitchFamily="18" charset="0"/>
            </a:endParaRPr>
          </a:p>
        </p:txBody>
      </p:sp>
      <p:sp>
        <p:nvSpPr>
          <p:cNvPr id="159749" name="Text Box 5"/>
          <p:cNvSpPr txBox="1">
            <a:spLocks noChangeArrowheads="1"/>
          </p:cNvSpPr>
          <p:nvPr/>
        </p:nvSpPr>
        <p:spPr bwMode="auto">
          <a:xfrm>
            <a:off x="611188" y="1508125"/>
            <a:ext cx="8532812" cy="192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800">
                <a:solidFill>
                  <a:schemeClr val="tx1"/>
                </a:solidFill>
                <a:latin typeface="Arial" panose="020B0604020202020204" pitchFamily="34" charset="0"/>
                <a:cs typeface="Angsana New" panose="02020603050405020304" pitchFamily="18" charset="-34"/>
              </a:defRPr>
            </a:lvl1pPr>
            <a:lvl2pPr marL="914400" indent="-457200">
              <a:defRPr sz="2800">
                <a:solidFill>
                  <a:schemeClr val="tx1"/>
                </a:solidFill>
                <a:latin typeface="Arial" panose="020B0604020202020204" pitchFamily="34" charset="0"/>
                <a:cs typeface="Angsana New" panose="02020603050405020304" pitchFamily="18" charset="-34"/>
              </a:defRPr>
            </a:lvl2pPr>
            <a:lvl3pPr marL="1371600" indent="-457200">
              <a:defRPr sz="2800">
                <a:solidFill>
                  <a:schemeClr val="tx1"/>
                </a:solidFill>
                <a:latin typeface="Arial" panose="020B0604020202020204" pitchFamily="34" charset="0"/>
                <a:cs typeface="Angsana New" panose="02020603050405020304" pitchFamily="18" charset="-34"/>
              </a:defRPr>
            </a:lvl3pPr>
            <a:lvl4pPr marL="1828800" indent="-457200">
              <a:defRPr sz="2800">
                <a:solidFill>
                  <a:schemeClr val="tx1"/>
                </a:solidFill>
                <a:latin typeface="Arial" panose="020B0604020202020204" pitchFamily="34" charset="0"/>
                <a:cs typeface="Angsana New" panose="02020603050405020304" pitchFamily="18" charset="-34"/>
              </a:defRPr>
            </a:lvl4pPr>
            <a:lvl5pPr marL="2286000" indent="-457200">
              <a:defRPr sz="2800">
                <a:solidFill>
                  <a:schemeClr val="tx1"/>
                </a:solidFill>
                <a:latin typeface="Arial" panose="020B0604020202020204" pitchFamily="34" charset="0"/>
                <a:cs typeface="Angsana New" panose="02020603050405020304" pitchFamily="18" charset="-34"/>
              </a:defRPr>
            </a:lvl5pPr>
            <a:lvl6pPr marL="2743200" indent="-457200" fontAlgn="base">
              <a:spcBef>
                <a:spcPct val="0"/>
              </a:spcBef>
              <a:spcAft>
                <a:spcPct val="0"/>
              </a:spcAft>
              <a:defRPr sz="2800">
                <a:solidFill>
                  <a:schemeClr val="tx1"/>
                </a:solidFill>
                <a:latin typeface="Arial" panose="020B0604020202020204" pitchFamily="34" charset="0"/>
                <a:cs typeface="Angsana New" panose="02020603050405020304" pitchFamily="18" charset="-34"/>
              </a:defRPr>
            </a:lvl6pPr>
            <a:lvl7pPr marL="3200400" indent="-457200" fontAlgn="base">
              <a:spcBef>
                <a:spcPct val="0"/>
              </a:spcBef>
              <a:spcAft>
                <a:spcPct val="0"/>
              </a:spcAft>
              <a:defRPr sz="2800">
                <a:solidFill>
                  <a:schemeClr val="tx1"/>
                </a:solidFill>
                <a:latin typeface="Arial" panose="020B0604020202020204" pitchFamily="34" charset="0"/>
                <a:cs typeface="Angsana New" panose="02020603050405020304" pitchFamily="18" charset="-34"/>
              </a:defRPr>
            </a:lvl7pPr>
            <a:lvl8pPr marL="3657600" indent="-457200" fontAlgn="base">
              <a:spcBef>
                <a:spcPct val="0"/>
              </a:spcBef>
              <a:spcAft>
                <a:spcPct val="0"/>
              </a:spcAft>
              <a:defRPr sz="2800">
                <a:solidFill>
                  <a:schemeClr val="tx1"/>
                </a:solidFill>
                <a:latin typeface="Arial" panose="020B0604020202020204" pitchFamily="34" charset="0"/>
                <a:cs typeface="Angsana New" panose="02020603050405020304" pitchFamily="18" charset="-34"/>
              </a:defRPr>
            </a:lvl8pPr>
            <a:lvl9pPr marL="4114800" indent="-457200" fontAlgn="base">
              <a:spcBef>
                <a:spcPct val="0"/>
              </a:spcBef>
              <a:spcAft>
                <a:spcPct val="0"/>
              </a:spcAft>
              <a:defRPr sz="2800">
                <a:solidFill>
                  <a:schemeClr val="tx1"/>
                </a:solidFill>
                <a:latin typeface="Arial" panose="020B0604020202020204" pitchFamily="34" charset="0"/>
                <a:cs typeface="Angsana New" panose="02020603050405020304" pitchFamily="18" charset="-34"/>
              </a:defRPr>
            </a:lvl9pPr>
          </a:lstStyle>
          <a:p>
            <a:pPr>
              <a:buFontTx/>
              <a:buAutoNum type="arabicPeriod"/>
              <a:defRPr/>
            </a:pPr>
            <a:r>
              <a:rPr lang="en-US" altLang="en-US" sz="2400" dirty="0" smtClean="0">
                <a:solidFill>
                  <a:schemeClr val="hlink"/>
                </a:solidFill>
                <a:effectLst>
                  <a:outerShdw blurRad="38100" dist="38100" dir="2700000" algn="tl">
                    <a:srgbClr val="000000"/>
                  </a:outerShdw>
                </a:effectLst>
                <a:latin typeface="Century Schoolbook" panose="02040604050505020304" pitchFamily="18" charset="0"/>
                <a:cs typeface="CordiaUPC" panose="020B0304020202020204" pitchFamily="34" charset="-34"/>
              </a:rPr>
              <a:t>Chip quality</a:t>
            </a:r>
            <a:endParaRPr lang="en-US" altLang="en-US" sz="1400" dirty="0" smtClean="0">
              <a:solidFill>
                <a:schemeClr val="hlink"/>
              </a:solidFill>
              <a:effectLst>
                <a:outerShdw blurRad="38100" dist="38100" dir="2700000" algn="tl">
                  <a:srgbClr val="000000"/>
                </a:outerShdw>
              </a:effectLst>
              <a:latin typeface="Century Schoolbook" panose="02040604050505020304" pitchFamily="18" charset="0"/>
              <a:cs typeface="CordiaUPC" panose="020B0304020202020204" pitchFamily="34" charset="-34"/>
            </a:endParaRPr>
          </a:p>
          <a:p>
            <a:pPr>
              <a:defRPr/>
            </a:pPr>
            <a:r>
              <a:rPr lang="en-US" altLang="en-US" sz="2400" dirty="0" smtClean="0">
                <a:solidFill>
                  <a:schemeClr val="bg2"/>
                </a:solidFill>
                <a:latin typeface="Century Schoolbook" panose="02040604050505020304" pitchFamily="18" charset="0"/>
                <a:cs typeface="CordiaUPC" panose="020B0304020202020204" pitchFamily="34" charset="-34"/>
              </a:rPr>
              <a:t>	</a:t>
            </a:r>
            <a:r>
              <a:rPr lang="en-US" altLang="en-US" sz="1800" dirty="0" smtClean="0">
                <a:latin typeface="Century Schoolbook" panose="02040604050505020304" pitchFamily="18" charset="0"/>
                <a:cs typeface="CordiaUPC" panose="020B0304020202020204" pitchFamily="34" charset="-34"/>
              </a:rPr>
              <a:t>1.1 Chip thickness : </a:t>
            </a:r>
            <a:r>
              <a:rPr lang="th-TH" altLang="en-US" sz="1800" dirty="0" smtClean="0">
                <a:latin typeface="Century Schoolbook" panose="02040604050505020304" pitchFamily="18" charset="0"/>
                <a:cs typeface="CordiaUPC" panose="020B0304020202020204" pitchFamily="34" charset="-34"/>
              </a:rPr>
              <a:t>ขนาดที่หนาเกินไป การ </a:t>
            </a:r>
            <a:r>
              <a:rPr lang="en-US" altLang="en-US" sz="1800" dirty="0" smtClean="0">
                <a:latin typeface="Century Schoolbook" panose="02040604050505020304" pitchFamily="18" charset="0"/>
                <a:cs typeface="CordiaUPC" panose="020B0304020202020204" pitchFamily="34" charset="-34"/>
              </a:rPr>
              <a:t>Impregnation </a:t>
            </a:r>
            <a:r>
              <a:rPr lang="th-TH" altLang="en-US" sz="1800" dirty="0" smtClean="0">
                <a:latin typeface="Century Schoolbook" panose="02040604050505020304" pitchFamily="18" charset="0"/>
                <a:cs typeface="CordiaUPC" panose="020B0304020202020204" pitchFamily="34" charset="-34"/>
              </a:rPr>
              <a:t>จะไม่สมบูรณ์</a:t>
            </a:r>
          </a:p>
          <a:p>
            <a:pPr>
              <a:defRPr/>
            </a:pPr>
            <a:r>
              <a:rPr lang="th-TH" altLang="en-US" sz="1800" dirty="0" smtClean="0">
                <a:latin typeface="Century Schoolbook" panose="02040604050505020304" pitchFamily="18" charset="0"/>
                <a:cs typeface="CordiaUPC" panose="020B0304020202020204" pitchFamily="34" charset="-34"/>
              </a:rPr>
              <a:t>	</a:t>
            </a:r>
            <a:r>
              <a:rPr lang="en-US" altLang="en-US" sz="1800" dirty="0" smtClean="0">
                <a:latin typeface="Century Schoolbook" panose="02040604050505020304" pitchFamily="18" charset="0"/>
                <a:cs typeface="CordiaUPC" panose="020B0304020202020204" pitchFamily="34" charset="-34"/>
              </a:rPr>
              <a:t>1.2 Fine - Pin chip : </a:t>
            </a:r>
            <a:r>
              <a:rPr lang="th-TH" altLang="en-US" sz="1800" dirty="0" smtClean="0">
                <a:latin typeface="Century Schoolbook" panose="02040604050505020304" pitchFamily="18" charset="0"/>
                <a:cs typeface="CordiaUPC" panose="020B0304020202020204" pitchFamily="34" charset="-34"/>
              </a:rPr>
              <a:t>ทำให้เกิดความต้านทานในการไหลของ </a:t>
            </a:r>
            <a:r>
              <a:rPr lang="en-US" altLang="en-US" sz="1800" dirty="0" smtClean="0">
                <a:latin typeface="Century Schoolbook" panose="02040604050505020304" pitchFamily="18" charset="0"/>
                <a:cs typeface="CordiaUPC" panose="020B0304020202020204" pitchFamily="34" charset="-34"/>
              </a:rPr>
              <a:t>Chip </a:t>
            </a:r>
            <a:r>
              <a:rPr lang="th-TH" altLang="en-US" sz="1800" dirty="0" smtClean="0">
                <a:latin typeface="Century Schoolbook" panose="02040604050505020304" pitchFamily="18" charset="0"/>
                <a:cs typeface="CordiaUPC" panose="020B0304020202020204" pitchFamily="34" charset="-34"/>
              </a:rPr>
              <a:t>และอุดตันที่ </a:t>
            </a:r>
            <a:r>
              <a:rPr lang="en-US" altLang="en-US" sz="1800" dirty="0" smtClean="0">
                <a:latin typeface="Century Schoolbook" panose="02040604050505020304" pitchFamily="18" charset="0"/>
                <a:cs typeface="CordiaUPC" panose="020B0304020202020204" pitchFamily="34" charset="-34"/>
              </a:rPr>
              <a:t>Screen</a:t>
            </a:r>
            <a:endParaRPr lang="th-TH" altLang="en-US" sz="1800" dirty="0" smtClean="0">
              <a:latin typeface="Century Schoolbook" panose="02040604050505020304" pitchFamily="18" charset="0"/>
              <a:cs typeface="CordiaUPC" panose="020B0304020202020204" pitchFamily="34" charset="-34"/>
            </a:endParaRPr>
          </a:p>
          <a:p>
            <a:pPr>
              <a:defRPr/>
            </a:pPr>
            <a:r>
              <a:rPr lang="th-TH" altLang="en-US" sz="1800" dirty="0" smtClean="0">
                <a:latin typeface="Century Schoolbook" panose="02040604050505020304" pitchFamily="18" charset="0"/>
                <a:cs typeface="CordiaUPC" panose="020B0304020202020204" pitchFamily="34" charset="-34"/>
              </a:rPr>
              <a:t>	</a:t>
            </a:r>
            <a:r>
              <a:rPr lang="en-US" altLang="en-US" sz="1800" dirty="0" smtClean="0">
                <a:latin typeface="Century Schoolbook" panose="02040604050505020304" pitchFamily="18" charset="0"/>
                <a:cs typeface="CordiaUPC" panose="020B0304020202020204" pitchFamily="34" charset="-34"/>
              </a:rPr>
              <a:t>1.3 Chip movement : </a:t>
            </a:r>
            <a:r>
              <a:rPr lang="th-TH" altLang="en-US" sz="1800" dirty="0" smtClean="0">
                <a:latin typeface="Century Schoolbook" panose="02040604050505020304" pitchFamily="18" charset="0"/>
                <a:cs typeface="CordiaUPC" panose="020B0304020202020204" pitchFamily="34" charset="-34"/>
              </a:rPr>
              <a:t>การเคลื่อนตัวของ </a:t>
            </a:r>
            <a:r>
              <a:rPr lang="en-US" altLang="en-US" sz="1800" dirty="0" smtClean="0">
                <a:latin typeface="Century Schoolbook" panose="02040604050505020304" pitchFamily="18" charset="0"/>
                <a:cs typeface="CordiaUPC" panose="020B0304020202020204" pitchFamily="34" charset="-34"/>
              </a:rPr>
              <a:t>Chip </a:t>
            </a:r>
            <a:r>
              <a:rPr lang="th-TH" altLang="en-US" sz="1800" dirty="0" smtClean="0">
                <a:latin typeface="Century Schoolbook" panose="02040604050505020304" pitchFamily="18" charset="0"/>
                <a:cs typeface="CordiaUPC" panose="020B0304020202020204" pitchFamily="34" charset="-34"/>
              </a:rPr>
              <a:t>ก่อนการต้ม</a:t>
            </a:r>
          </a:p>
          <a:p>
            <a:pPr>
              <a:defRPr/>
            </a:pPr>
            <a:r>
              <a:rPr lang="th-TH" altLang="en-US" sz="1800" dirty="0" smtClean="0">
                <a:latin typeface="Century Schoolbook" panose="02040604050505020304" pitchFamily="18" charset="0"/>
                <a:cs typeface="CordiaUPC" panose="020B0304020202020204" pitchFamily="34" charset="-34"/>
              </a:rPr>
              <a:t>	</a:t>
            </a:r>
            <a:r>
              <a:rPr lang="en-US" altLang="en-US" sz="1800" dirty="0" smtClean="0">
                <a:latin typeface="Century Schoolbook" panose="02040604050505020304" pitchFamily="18" charset="0"/>
                <a:cs typeface="CordiaUPC" panose="020B0304020202020204" pitchFamily="34" charset="-34"/>
              </a:rPr>
              <a:t>1.4 Chip bulk density : </a:t>
            </a:r>
            <a:r>
              <a:rPr lang="th-TH" altLang="en-US" sz="1800" dirty="0" smtClean="0">
                <a:latin typeface="Century Schoolbook" panose="02040604050505020304" pitchFamily="18" charset="0"/>
                <a:cs typeface="CordiaUPC" panose="020B0304020202020204" pitchFamily="34" charset="-34"/>
              </a:rPr>
              <a:t>ส่งผลต่อ </a:t>
            </a:r>
            <a:r>
              <a:rPr lang="en-US" altLang="en-US" sz="1800" dirty="0" smtClean="0">
                <a:latin typeface="Century Schoolbook" panose="02040604050505020304" pitchFamily="18" charset="0"/>
                <a:cs typeface="CordiaUPC" panose="020B0304020202020204" pitchFamily="34" charset="-34"/>
              </a:rPr>
              <a:t>Production</a:t>
            </a:r>
          </a:p>
          <a:p>
            <a:pPr>
              <a:defRPr/>
            </a:pPr>
            <a:r>
              <a:rPr lang="en-US" altLang="en-US" sz="1800" dirty="0" smtClean="0">
                <a:latin typeface="Century Schoolbook" panose="02040604050505020304" pitchFamily="18" charset="0"/>
                <a:cs typeface="CordiaUPC" panose="020B0304020202020204" pitchFamily="34" charset="-34"/>
              </a:rPr>
              <a:t>	1.5 Oversize : </a:t>
            </a:r>
            <a:r>
              <a:rPr lang="th-TH" altLang="en-US" sz="1800" dirty="0" smtClean="0">
                <a:latin typeface="Century Schoolbook" panose="02040604050505020304" pitchFamily="18" charset="0"/>
                <a:cs typeface="CordiaUPC" panose="020B0304020202020204" pitchFamily="34" charset="-34"/>
              </a:rPr>
              <a:t>เกิดความสูญเสียที่ </a:t>
            </a:r>
            <a:r>
              <a:rPr lang="en-US" altLang="en-US" sz="1800" dirty="0" smtClean="0">
                <a:latin typeface="Century Schoolbook" panose="02040604050505020304" pitchFamily="18" charset="0"/>
                <a:cs typeface="CordiaUPC" panose="020B0304020202020204" pitchFamily="34" charset="-34"/>
              </a:rPr>
              <a:t>Screen (Undercook)</a:t>
            </a:r>
          </a:p>
        </p:txBody>
      </p:sp>
      <p:sp>
        <p:nvSpPr>
          <p:cNvPr id="159750" name="Text Box 6"/>
          <p:cNvSpPr txBox="1">
            <a:spLocks noChangeArrowheads="1"/>
          </p:cNvSpPr>
          <p:nvPr/>
        </p:nvSpPr>
        <p:spPr bwMode="auto">
          <a:xfrm>
            <a:off x="611188" y="3522663"/>
            <a:ext cx="8353425" cy="2498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800">
                <a:solidFill>
                  <a:schemeClr val="tx1"/>
                </a:solidFill>
                <a:latin typeface="Arial" panose="020B0604020202020204" pitchFamily="34" charset="0"/>
                <a:cs typeface="Angsana New" panose="02020603050405020304" pitchFamily="18" charset="-34"/>
              </a:defRPr>
            </a:lvl1pPr>
            <a:lvl2pPr marL="914400" indent="-457200">
              <a:defRPr sz="2800">
                <a:solidFill>
                  <a:schemeClr val="tx1"/>
                </a:solidFill>
                <a:latin typeface="Arial" panose="020B0604020202020204" pitchFamily="34" charset="0"/>
                <a:cs typeface="Angsana New" panose="02020603050405020304" pitchFamily="18" charset="-34"/>
              </a:defRPr>
            </a:lvl2pPr>
            <a:lvl3pPr marL="1371600" indent="-457200">
              <a:defRPr sz="2800">
                <a:solidFill>
                  <a:schemeClr val="tx1"/>
                </a:solidFill>
                <a:latin typeface="Arial" panose="020B0604020202020204" pitchFamily="34" charset="0"/>
                <a:cs typeface="Angsana New" panose="02020603050405020304" pitchFamily="18" charset="-34"/>
              </a:defRPr>
            </a:lvl3pPr>
            <a:lvl4pPr marL="1828800" indent="-457200">
              <a:defRPr sz="2800">
                <a:solidFill>
                  <a:schemeClr val="tx1"/>
                </a:solidFill>
                <a:latin typeface="Arial" panose="020B0604020202020204" pitchFamily="34" charset="0"/>
                <a:cs typeface="Angsana New" panose="02020603050405020304" pitchFamily="18" charset="-34"/>
              </a:defRPr>
            </a:lvl4pPr>
            <a:lvl5pPr marL="2286000" indent="-457200">
              <a:defRPr sz="2800">
                <a:solidFill>
                  <a:schemeClr val="tx1"/>
                </a:solidFill>
                <a:latin typeface="Arial" panose="020B0604020202020204" pitchFamily="34" charset="0"/>
                <a:cs typeface="Angsana New" panose="02020603050405020304" pitchFamily="18" charset="-34"/>
              </a:defRPr>
            </a:lvl5pPr>
            <a:lvl6pPr marL="2743200" indent="-457200" fontAlgn="base">
              <a:spcBef>
                <a:spcPct val="0"/>
              </a:spcBef>
              <a:spcAft>
                <a:spcPct val="0"/>
              </a:spcAft>
              <a:defRPr sz="2800">
                <a:solidFill>
                  <a:schemeClr val="tx1"/>
                </a:solidFill>
                <a:latin typeface="Arial" panose="020B0604020202020204" pitchFamily="34" charset="0"/>
                <a:cs typeface="Angsana New" panose="02020603050405020304" pitchFamily="18" charset="-34"/>
              </a:defRPr>
            </a:lvl6pPr>
            <a:lvl7pPr marL="3200400" indent="-457200" fontAlgn="base">
              <a:spcBef>
                <a:spcPct val="0"/>
              </a:spcBef>
              <a:spcAft>
                <a:spcPct val="0"/>
              </a:spcAft>
              <a:defRPr sz="2800">
                <a:solidFill>
                  <a:schemeClr val="tx1"/>
                </a:solidFill>
                <a:latin typeface="Arial" panose="020B0604020202020204" pitchFamily="34" charset="0"/>
                <a:cs typeface="Angsana New" panose="02020603050405020304" pitchFamily="18" charset="-34"/>
              </a:defRPr>
            </a:lvl7pPr>
            <a:lvl8pPr marL="3657600" indent="-457200" fontAlgn="base">
              <a:spcBef>
                <a:spcPct val="0"/>
              </a:spcBef>
              <a:spcAft>
                <a:spcPct val="0"/>
              </a:spcAft>
              <a:defRPr sz="2800">
                <a:solidFill>
                  <a:schemeClr val="tx1"/>
                </a:solidFill>
                <a:latin typeface="Arial" panose="020B0604020202020204" pitchFamily="34" charset="0"/>
                <a:cs typeface="Angsana New" panose="02020603050405020304" pitchFamily="18" charset="-34"/>
              </a:defRPr>
            </a:lvl8pPr>
            <a:lvl9pPr marL="4114800" indent="-457200" fontAlgn="base">
              <a:spcBef>
                <a:spcPct val="0"/>
              </a:spcBef>
              <a:spcAft>
                <a:spcPct val="0"/>
              </a:spcAft>
              <a:defRPr sz="2800">
                <a:solidFill>
                  <a:schemeClr val="tx1"/>
                </a:solidFill>
                <a:latin typeface="Arial" panose="020B0604020202020204" pitchFamily="34" charset="0"/>
                <a:cs typeface="Angsana New" panose="02020603050405020304" pitchFamily="18" charset="-34"/>
              </a:defRPr>
            </a:lvl9pPr>
          </a:lstStyle>
          <a:p>
            <a:pPr>
              <a:defRPr/>
            </a:pPr>
            <a:r>
              <a:rPr lang="en-US" altLang="en-US" sz="2400" smtClean="0">
                <a:solidFill>
                  <a:schemeClr val="hlink"/>
                </a:solidFill>
                <a:effectLst>
                  <a:outerShdw blurRad="38100" dist="38100" dir="2700000" algn="tl">
                    <a:srgbClr val="000000"/>
                  </a:outerShdw>
                </a:effectLst>
                <a:latin typeface="Century Schoolbook" panose="02040604050505020304" pitchFamily="18" charset="0"/>
                <a:cs typeface="CordiaUPC" panose="020B0304020202020204" pitchFamily="34" charset="-34"/>
              </a:rPr>
              <a:t>2.	Alkali Pulping</a:t>
            </a:r>
          </a:p>
          <a:p>
            <a:pPr>
              <a:buFontTx/>
              <a:buChar char="•"/>
              <a:defRPr/>
            </a:pPr>
            <a:endParaRPr lang="en-US" altLang="en-US" sz="1400" smtClean="0">
              <a:solidFill>
                <a:schemeClr val="hlink"/>
              </a:solidFill>
              <a:effectLst>
                <a:outerShdw blurRad="38100" dist="38100" dir="2700000" algn="tl">
                  <a:srgbClr val="000000"/>
                </a:outerShdw>
              </a:effectLst>
              <a:latin typeface="Century Schoolbook" panose="02040604050505020304" pitchFamily="18" charset="0"/>
              <a:cs typeface="CordiaUPC" panose="020B0304020202020204" pitchFamily="34" charset="-34"/>
            </a:endParaRPr>
          </a:p>
          <a:p>
            <a:pPr>
              <a:defRPr/>
            </a:pPr>
            <a:r>
              <a:rPr lang="en-US" altLang="en-US" sz="2400" smtClean="0">
                <a:latin typeface="Century Schoolbook" panose="02040604050505020304" pitchFamily="18" charset="0"/>
                <a:cs typeface="CordiaUPC" panose="020B0304020202020204" pitchFamily="34" charset="-34"/>
              </a:rPr>
              <a:t>	</a:t>
            </a:r>
            <a:r>
              <a:rPr lang="en-US" altLang="en-US" sz="1800" smtClean="0">
                <a:latin typeface="Century Schoolbook" panose="02040604050505020304" pitchFamily="18" charset="0"/>
                <a:cs typeface="CordiaUPC" panose="020B0304020202020204" pitchFamily="34" charset="-34"/>
              </a:rPr>
              <a:t>2.1 Alkali charge (Volume of alkali) : </a:t>
            </a:r>
            <a:r>
              <a:rPr lang="th-TH" altLang="en-US" sz="1800" smtClean="0">
                <a:latin typeface="Century Schoolbook" panose="02040604050505020304" pitchFamily="18" charset="0"/>
                <a:cs typeface="CordiaUPC" panose="020B0304020202020204" pitchFamily="34" charset="-34"/>
              </a:rPr>
              <a:t>ส่งผลต่อระดับการแยก </a:t>
            </a:r>
            <a:r>
              <a:rPr lang="en-US" altLang="en-US" sz="1800" smtClean="0">
                <a:latin typeface="Century Schoolbook" panose="02040604050505020304" pitchFamily="18" charset="0"/>
                <a:cs typeface="CordiaUPC" panose="020B0304020202020204" pitchFamily="34" charset="-34"/>
              </a:rPr>
              <a:t>Lignin (Delignification degree), Pulp yield </a:t>
            </a:r>
            <a:r>
              <a:rPr lang="th-TH" altLang="en-US" sz="1800" smtClean="0">
                <a:latin typeface="Century Schoolbook" panose="02040604050505020304" pitchFamily="18" charset="0"/>
                <a:cs typeface="CordiaUPC" panose="020B0304020202020204" pitchFamily="34" charset="-34"/>
              </a:rPr>
              <a:t>และคุณสมบัติของเยื่อ</a:t>
            </a:r>
          </a:p>
          <a:p>
            <a:pPr>
              <a:defRPr/>
            </a:pPr>
            <a:r>
              <a:rPr lang="th-TH" altLang="en-US" sz="1800" smtClean="0">
                <a:latin typeface="Century Schoolbook" panose="02040604050505020304" pitchFamily="18" charset="0"/>
                <a:cs typeface="CordiaUPC" panose="020B0304020202020204" pitchFamily="34" charset="-34"/>
              </a:rPr>
              <a:t>	</a:t>
            </a:r>
            <a:r>
              <a:rPr lang="en-US" altLang="en-US" sz="1800" smtClean="0">
                <a:latin typeface="Century Schoolbook" panose="02040604050505020304" pitchFamily="18" charset="0"/>
                <a:cs typeface="CordiaUPC" panose="020B0304020202020204" pitchFamily="34" charset="-34"/>
              </a:rPr>
              <a:t>2.2 Alkali concentration : </a:t>
            </a:r>
            <a:r>
              <a:rPr lang="th-TH" altLang="en-US" sz="1800" smtClean="0">
                <a:latin typeface="Century Schoolbook" panose="02040604050505020304" pitchFamily="18" charset="0"/>
                <a:cs typeface="CordiaUPC" panose="020B0304020202020204" pitchFamily="34" charset="-34"/>
              </a:rPr>
              <a:t>ส่งผลในด้านการควบคุมการ </a:t>
            </a:r>
            <a:r>
              <a:rPr lang="en-US" altLang="en-US" sz="1800" smtClean="0">
                <a:latin typeface="Century Schoolbook" panose="02040604050505020304" pitchFamily="18" charset="0"/>
                <a:cs typeface="CordiaUPC" panose="020B0304020202020204" pitchFamily="34" charset="-34"/>
              </a:rPr>
              <a:t>Impregnation </a:t>
            </a:r>
            <a:r>
              <a:rPr lang="th-TH" altLang="en-US" sz="1800" smtClean="0">
                <a:latin typeface="Century Schoolbook" panose="02040604050505020304" pitchFamily="18" charset="0"/>
                <a:cs typeface="CordiaUPC" panose="020B0304020202020204" pitchFamily="34" charset="-34"/>
              </a:rPr>
              <a:t>และอัตราการแยก </a:t>
            </a:r>
            <a:r>
              <a:rPr lang="en-US" altLang="en-US" sz="1800" smtClean="0">
                <a:latin typeface="Century Schoolbook" panose="02040604050505020304" pitchFamily="18" charset="0"/>
                <a:cs typeface="CordiaUPC" panose="020B0304020202020204" pitchFamily="34" charset="-34"/>
              </a:rPr>
              <a:t>Lignin</a:t>
            </a:r>
          </a:p>
          <a:p>
            <a:pPr>
              <a:defRPr/>
            </a:pPr>
            <a:endParaRPr lang="en-US" altLang="en-US" sz="1800" smtClean="0">
              <a:latin typeface="Century Schoolbook" panose="02040604050505020304" pitchFamily="18" charset="0"/>
              <a:cs typeface="CordiaUPC" panose="020B0304020202020204" pitchFamily="34" charset="-34"/>
            </a:endParaRPr>
          </a:p>
          <a:p>
            <a:pPr>
              <a:defRPr/>
            </a:pPr>
            <a:r>
              <a:rPr lang="en-US" altLang="en-US" sz="2400" smtClean="0">
                <a:solidFill>
                  <a:schemeClr val="hlink"/>
                </a:solidFill>
                <a:effectLst>
                  <a:outerShdw blurRad="38100" dist="38100" dir="2700000" algn="tl">
                    <a:srgbClr val="000000"/>
                  </a:outerShdw>
                </a:effectLst>
                <a:latin typeface="Century Schoolbook" panose="02040604050505020304" pitchFamily="18" charset="0"/>
                <a:cs typeface="Arial" panose="020B0604020202020204" pitchFamily="34" charset="0"/>
              </a:rPr>
              <a:t>3.	Liquor to Wood ratio (L/W)</a:t>
            </a:r>
            <a:r>
              <a:rPr lang="en-US" altLang="en-US" sz="2000" smtClean="0">
                <a:solidFill>
                  <a:schemeClr val="hlink"/>
                </a:solidFill>
                <a:latin typeface="Century Schoolbook" panose="02040604050505020304" pitchFamily="18" charset="0"/>
                <a:cs typeface="CordiaUPC" panose="020B0304020202020204" pitchFamily="34" charset="-34"/>
              </a:rPr>
              <a:t> </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1794" name="Text Box 2"/>
          <p:cNvSpPr txBox="1">
            <a:spLocks noChangeArrowheads="1"/>
          </p:cNvSpPr>
          <p:nvPr/>
        </p:nvSpPr>
        <p:spPr bwMode="auto">
          <a:xfrm>
            <a:off x="611188" y="200025"/>
            <a:ext cx="7489825" cy="1068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en-US" altLang="en-US" sz="3600" b="1" dirty="0">
                <a:solidFill>
                  <a:srgbClr val="FF0000"/>
                </a:solidFill>
                <a:effectLst>
                  <a:outerShdw blurRad="38100" dist="38100" dir="2700000" algn="tl">
                    <a:srgbClr val="000000"/>
                  </a:outerShdw>
                </a:effectLst>
                <a:latin typeface="Century Schoolbook" panose="02040604050505020304" pitchFamily="18" charset="0"/>
              </a:rPr>
              <a:t>Chemical pulping </a:t>
            </a:r>
          </a:p>
          <a:p>
            <a:pPr>
              <a:defRPr/>
            </a:pPr>
            <a:r>
              <a:rPr lang="en-US" altLang="en-US" sz="2800" b="1" dirty="0">
                <a:effectLst>
                  <a:outerShdw blurRad="38100" dist="38100" dir="2700000" algn="tl">
                    <a:srgbClr val="000000"/>
                  </a:outerShdw>
                </a:effectLst>
                <a:latin typeface="Century Schoolbook" panose="02040604050505020304" pitchFamily="18" charset="0"/>
              </a:rPr>
              <a:t>Factor for cooking</a:t>
            </a:r>
            <a:endParaRPr lang="th-TH" altLang="en-US" sz="2800" b="1" dirty="0">
              <a:effectLst>
                <a:outerShdw blurRad="38100" dist="38100" dir="2700000" algn="tl">
                  <a:srgbClr val="000000"/>
                </a:outerShdw>
              </a:effectLst>
              <a:latin typeface="Century Schoolbook" panose="02040604050505020304" pitchFamily="18" charset="0"/>
            </a:endParaRPr>
          </a:p>
        </p:txBody>
      </p:sp>
      <p:sp>
        <p:nvSpPr>
          <p:cNvPr id="161797" name="Text Box 5"/>
          <p:cNvSpPr txBox="1">
            <a:spLocks noChangeArrowheads="1"/>
          </p:cNvSpPr>
          <p:nvPr/>
        </p:nvSpPr>
        <p:spPr bwMode="auto">
          <a:xfrm>
            <a:off x="611188" y="1365250"/>
            <a:ext cx="7705725" cy="1127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800">
                <a:solidFill>
                  <a:schemeClr val="tx1"/>
                </a:solidFill>
                <a:latin typeface="Arial" panose="020B0604020202020204" pitchFamily="34" charset="0"/>
                <a:cs typeface="Angsana New" panose="02020603050405020304" pitchFamily="18" charset="-34"/>
              </a:defRPr>
            </a:lvl1pPr>
            <a:lvl2pPr marL="914400" indent="-457200">
              <a:defRPr sz="2800">
                <a:solidFill>
                  <a:schemeClr val="tx1"/>
                </a:solidFill>
                <a:latin typeface="Arial" panose="020B0604020202020204" pitchFamily="34" charset="0"/>
                <a:cs typeface="Angsana New" panose="02020603050405020304" pitchFamily="18" charset="-34"/>
              </a:defRPr>
            </a:lvl2pPr>
            <a:lvl3pPr marL="1371600" indent="-457200">
              <a:defRPr sz="2800">
                <a:solidFill>
                  <a:schemeClr val="tx1"/>
                </a:solidFill>
                <a:latin typeface="Arial" panose="020B0604020202020204" pitchFamily="34" charset="0"/>
                <a:cs typeface="Angsana New" panose="02020603050405020304" pitchFamily="18" charset="-34"/>
              </a:defRPr>
            </a:lvl3pPr>
            <a:lvl4pPr marL="1828800" indent="-457200">
              <a:defRPr sz="2800">
                <a:solidFill>
                  <a:schemeClr val="tx1"/>
                </a:solidFill>
                <a:latin typeface="Arial" panose="020B0604020202020204" pitchFamily="34" charset="0"/>
                <a:cs typeface="Angsana New" panose="02020603050405020304" pitchFamily="18" charset="-34"/>
              </a:defRPr>
            </a:lvl4pPr>
            <a:lvl5pPr marL="2286000" indent="-457200">
              <a:defRPr sz="2800">
                <a:solidFill>
                  <a:schemeClr val="tx1"/>
                </a:solidFill>
                <a:latin typeface="Arial" panose="020B0604020202020204" pitchFamily="34" charset="0"/>
                <a:cs typeface="Angsana New" panose="02020603050405020304" pitchFamily="18" charset="-34"/>
              </a:defRPr>
            </a:lvl5pPr>
            <a:lvl6pPr marL="2743200" indent="-457200" fontAlgn="base">
              <a:spcBef>
                <a:spcPct val="0"/>
              </a:spcBef>
              <a:spcAft>
                <a:spcPct val="0"/>
              </a:spcAft>
              <a:defRPr sz="2800">
                <a:solidFill>
                  <a:schemeClr val="tx1"/>
                </a:solidFill>
                <a:latin typeface="Arial" panose="020B0604020202020204" pitchFamily="34" charset="0"/>
                <a:cs typeface="Angsana New" panose="02020603050405020304" pitchFamily="18" charset="-34"/>
              </a:defRPr>
            </a:lvl6pPr>
            <a:lvl7pPr marL="3200400" indent="-457200" fontAlgn="base">
              <a:spcBef>
                <a:spcPct val="0"/>
              </a:spcBef>
              <a:spcAft>
                <a:spcPct val="0"/>
              </a:spcAft>
              <a:defRPr sz="2800">
                <a:solidFill>
                  <a:schemeClr val="tx1"/>
                </a:solidFill>
                <a:latin typeface="Arial" panose="020B0604020202020204" pitchFamily="34" charset="0"/>
                <a:cs typeface="Angsana New" panose="02020603050405020304" pitchFamily="18" charset="-34"/>
              </a:defRPr>
            </a:lvl7pPr>
            <a:lvl8pPr marL="3657600" indent="-457200" fontAlgn="base">
              <a:spcBef>
                <a:spcPct val="0"/>
              </a:spcBef>
              <a:spcAft>
                <a:spcPct val="0"/>
              </a:spcAft>
              <a:defRPr sz="2800">
                <a:solidFill>
                  <a:schemeClr val="tx1"/>
                </a:solidFill>
                <a:latin typeface="Arial" panose="020B0604020202020204" pitchFamily="34" charset="0"/>
                <a:cs typeface="Angsana New" panose="02020603050405020304" pitchFamily="18" charset="-34"/>
              </a:defRPr>
            </a:lvl8pPr>
            <a:lvl9pPr marL="4114800" indent="-457200" fontAlgn="base">
              <a:spcBef>
                <a:spcPct val="0"/>
              </a:spcBef>
              <a:spcAft>
                <a:spcPct val="0"/>
              </a:spcAft>
              <a:defRPr sz="2800">
                <a:solidFill>
                  <a:schemeClr val="tx1"/>
                </a:solidFill>
                <a:latin typeface="Arial" panose="020B0604020202020204" pitchFamily="34" charset="0"/>
                <a:cs typeface="Angsana New" panose="02020603050405020304" pitchFamily="18" charset="-34"/>
              </a:defRPr>
            </a:lvl9pPr>
          </a:lstStyle>
          <a:p>
            <a:pPr>
              <a:buFontTx/>
              <a:buAutoNum type="arabicPeriod" startAt="4"/>
              <a:defRPr/>
            </a:pPr>
            <a:r>
              <a:rPr lang="en-US" altLang="en-US" sz="2400" smtClean="0">
                <a:solidFill>
                  <a:schemeClr val="hlink"/>
                </a:solidFill>
                <a:effectLst>
                  <a:outerShdw blurRad="38100" dist="38100" dir="2700000" algn="tl">
                    <a:srgbClr val="000000"/>
                  </a:outerShdw>
                </a:effectLst>
                <a:latin typeface="Century Schoolbook" panose="02040604050505020304" pitchFamily="18" charset="0"/>
                <a:cs typeface="CordiaUPC" panose="020B0304020202020204" pitchFamily="34" charset="-34"/>
              </a:rPr>
              <a:t>Alkali Charge : </a:t>
            </a:r>
            <a:r>
              <a:rPr lang="en-US" altLang="en-US" sz="2400" smtClean="0">
                <a:latin typeface="Century Schoolbook" panose="02040604050505020304" pitchFamily="18" charset="0"/>
                <a:cs typeface="CordiaUPC" panose="020B0304020202020204" pitchFamily="34" charset="-34"/>
              </a:rPr>
              <a:t>optimize should be 10% excess</a:t>
            </a:r>
            <a:endParaRPr lang="en-US" altLang="en-US" sz="2400" smtClean="0">
              <a:effectLst>
                <a:outerShdw blurRad="38100" dist="38100" dir="2700000" algn="tl">
                  <a:srgbClr val="000000"/>
                </a:outerShdw>
              </a:effectLst>
              <a:latin typeface="Century Schoolbook" panose="02040604050505020304" pitchFamily="18" charset="0"/>
              <a:cs typeface="CordiaUPC" panose="020B0304020202020204" pitchFamily="34" charset="-34"/>
            </a:endParaRPr>
          </a:p>
          <a:p>
            <a:pPr>
              <a:defRPr/>
            </a:pPr>
            <a:r>
              <a:rPr lang="en-US" altLang="en-US" sz="2400" smtClean="0">
                <a:latin typeface="Century Schoolbook" panose="02040604050505020304" pitchFamily="18" charset="0"/>
                <a:cs typeface="CordiaUPC" panose="020B0304020202020204" pitchFamily="34" charset="-34"/>
              </a:rPr>
              <a:t>	</a:t>
            </a:r>
            <a:r>
              <a:rPr lang="en-US" altLang="en-US" sz="2000" smtClean="0">
                <a:latin typeface="Century Schoolbook" panose="02040604050505020304" pitchFamily="18" charset="0"/>
                <a:cs typeface="CordiaUPC" panose="020B0304020202020204" pitchFamily="34" charset="-34"/>
              </a:rPr>
              <a:t>1.1 Too low : </a:t>
            </a:r>
            <a:r>
              <a:rPr lang="th-TH" altLang="en-US" sz="2000" smtClean="0">
                <a:latin typeface="Century Schoolbook" panose="02040604050505020304" pitchFamily="18" charset="0"/>
                <a:cs typeface="CordiaUPC" panose="020B0304020202020204" pitchFamily="34" charset="-34"/>
              </a:rPr>
              <a:t>ทำให้เกิด</a:t>
            </a:r>
            <a:r>
              <a:rPr lang="th-TH" altLang="en-US" sz="2000" b="1" smtClean="0">
                <a:latin typeface="Century Schoolbook" panose="02040604050505020304" pitchFamily="18" charset="0"/>
                <a:cs typeface="CordiaUPC" panose="020B0304020202020204" pitchFamily="34" charset="-34"/>
              </a:rPr>
              <a:t> </a:t>
            </a:r>
            <a:r>
              <a:rPr lang="en-US" altLang="en-US" sz="2000" smtClean="0">
                <a:latin typeface="Century Schoolbook" panose="02040604050505020304" pitchFamily="18" charset="0"/>
                <a:cs typeface="CordiaUPC" panose="020B0304020202020204" pitchFamily="34" charset="-34"/>
              </a:rPr>
              <a:t>Lignin precipitate</a:t>
            </a:r>
            <a:endParaRPr lang="th-TH" altLang="en-US" sz="2000" smtClean="0">
              <a:latin typeface="Century Schoolbook" panose="02040604050505020304" pitchFamily="18" charset="0"/>
              <a:cs typeface="CordiaUPC" panose="020B0304020202020204" pitchFamily="34" charset="-34"/>
            </a:endParaRPr>
          </a:p>
          <a:p>
            <a:pPr>
              <a:defRPr/>
            </a:pPr>
            <a:r>
              <a:rPr lang="th-TH" altLang="en-US" sz="2000" b="1" smtClean="0">
                <a:latin typeface="Century Schoolbook" panose="02040604050505020304" pitchFamily="18" charset="0"/>
                <a:cs typeface="CordiaUPC" panose="020B0304020202020204" pitchFamily="34" charset="-34"/>
              </a:rPr>
              <a:t>	</a:t>
            </a:r>
            <a:r>
              <a:rPr lang="en-US" altLang="en-US" sz="2000" smtClean="0">
                <a:latin typeface="Century Schoolbook" panose="02040604050505020304" pitchFamily="18" charset="0"/>
                <a:cs typeface="CordiaUPC" panose="020B0304020202020204" pitchFamily="34" charset="-34"/>
              </a:rPr>
              <a:t>1.2 Too high : </a:t>
            </a:r>
            <a:r>
              <a:rPr lang="th-TH" altLang="en-US" sz="2000" smtClean="0">
                <a:latin typeface="Century Schoolbook" panose="02040604050505020304" pitchFamily="18" charset="0"/>
                <a:cs typeface="CordiaUPC" panose="020B0304020202020204" pitchFamily="34" charset="-34"/>
              </a:rPr>
              <a:t>เกิดการทำลาย</a:t>
            </a:r>
            <a:r>
              <a:rPr lang="th-TH" altLang="en-US" sz="2000" b="1" smtClean="0">
                <a:latin typeface="Century Schoolbook" panose="02040604050505020304" pitchFamily="18" charset="0"/>
                <a:cs typeface="CordiaUPC" panose="020B0304020202020204" pitchFamily="34" charset="-34"/>
              </a:rPr>
              <a:t> </a:t>
            </a:r>
            <a:r>
              <a:rPr lang="en-US" altLang="en-US" sz="2000" smtClean="0">
                <a:latin typeface="Century Schoolbook" panose="02040604050505020304" pitchFamily="18" charset="0"/>
                <a:cs typeface="CordiaUPC" panose="020B0304020202020204" pitchFamily="34" charset="-34"/>
              </a:rPr>
              <a:t>Cellulose</a:t>
            </a:r>
          </a:p>
        </p:txBody>
      </p:sp>
      <p:pic>
        <p:nvPicPr>
          <p:cNvPr id="249860" name="Picture 6" descr="01_0001"/>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187450" y="2787650"/>
            <a:ext cx="6480175" cy="3594100"/>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162821" name="Text Box 5"/>
          <p:cNvSpPr txBox="1">
            <a:spLocks noChangeArrowheads="1"/>
          </p:cNvSpPr>
          <p:nvPr/>
        </p:nvSpPr>
        <p:spPr bwMode="auto">
          <a:xfrm>
            <a:off x="611188" y="200025"/>
            <a:ext cx="7489825" cy="1068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en-US" altLang="en-US" sz="3600" b="1" dirty="0">
                <a:solidFill>
                  <a:srgbClr val="FF0000"/>
                </a:solidFill>
                <a:effectLst>
                  <a:outerShdw blurRad="38100" dist="38100" dir="2700000" algn="tl">
                    <a:srgbClr val="000000"/>
                  </a:outerShdw>
                </a:effectLst>
                <a:latin typeface="Century Schoolbook" panose="02040604050505020304" pitchFamily="18" charset="0"/>
              </a:rPr>
              <a:t>Chemical pulping </a:t>
            </a:r>
          </a:p>
          <a:p>
            <a:pPr>
              <a:defRPr/>
            </a:pPr>
            <a:r>
              <a:rPr lang="en-US" altLang="en-US" sz="2800" b="1" dirty="0">
                <a:effectLst>
                  <a:outerShdw blurRad="38100" dist="38100" dir="2700000" algn="tl">
                    <a:srgbClr val="000000"/>
                  </a:outerShdw>
                </a:effectLst>
                <a:latin typeface="Century Schoolbook" panose="02040604050505020304" pitchFamily="18" charset="0"/>
              </a:rPr>
              <a:t>Factor for cooking</a:t>
            </a:r>
            <a:endParaRPr lang="th-TH" altLang="en-US" sz="2800" b="1" dirty="0">
              <a:effectLst>
                <a:outerShdw blurRad="38100" dist="38100" dir="2700000" algn="tl">
                  <a:srgbClr val="000000"/>
                </a:outerShdw>
              </a:effectLst>
              <a:latin typeface="Century Schoolbook" panose="02040604050505020304" pitchFamily="18" charset="0"/>
            </a:endParaRPr>
          </a:p>
        </p:txBody>
      </p:sp>
      <p:sp>
        <p:nvSpPr>
          <p:cNvPr id="162819" name="Text Box 3"/>
          <p:cNvSpPr txBox="1">
            <a:spLocks noChangeArrowheads="1"/>
          </p:cNvSpPr>
          <p:nvPr/>
        </p:nvSpPr>
        <p:spPr bwMode="auto">
          <a:xfrm>
            <a:off x="611188" y="1387475"/>
            <a:ext cx="8280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800">
                <a:solidFill>
                  <a:schemeClr val="tx1"/>
                </a:solidFill>
                <a:latin typeface="Arial" panose="020B0604020202020204" pitchFamily="34" charset="0"/>
                <a:cs typeface="Angsana New" panose="02020603050405020304" pitchFamily="18" charset="-34"/>
              </a:defRPr>
            </a:lvl1pPr>
            <a:lvl2pPr marL="914400" indent="-457200">
              <a:defRPr sz="2800">
                <a:solidFill>
                  <a:schemeClr val="tx1"/>
                </a:solidFill>
                <a:latin typeface="Arial" panose="020B0604020202020204" pitchFamily="34" charset="0"/>
                <a:cs typeface="Angsana New" panose="02020603050405020304" pitchFamily="18" charset="-34"/>
              </a:defRPr>
            </a:lvl2pPr>
            <a:lvl3pPr marL="1371600" indent="-457200">
              <a:defRPr sz="2800">
                <a:solidFill>
                  <a:schemeClr val="tx1"/>
                </a:solidFill>
                <a:latin typeface="Arial" panose="020B0604020202020204" pitchFamily="34" charset="0"/>
                <a:cs typeface="Angsana New" panose="02020603050405020304" pitchFamily="18" charset="-34"/>
              </a:defRPr>
            </a:lvl3pPr>
            <a:lvl4pPr marL="1828800" indent="-457200">
              <a:defRPr sz="2800">
                <a:solidFill>
                  <a:schemeClr val="tx1"/>
                </a:solidFill>
                <a:latin typeface="Arial" panose="020B0604020202020204" pitchFamily="34" charset="0"/>
                <a:cs typeface="Angsana New" panose="02020603050405020304" pitchFamily="18" charset="-34"/>
              </a:defRPr>
            </a:lvl4pPr>
            <a:lvl5pPr marL="2286000" indent="-457200">
              <a:defRPr sz="2800">
                <a:solidFill>
                  <a:schemeClr val="tx1"/>
                </a:solidFill>
                <a:latin typeface="Arial" panose="020B0604020202020204" pitchFamily="34" charset="0"/>
                <a:cs typeface="Angsana New" panose="02020603050405020304" pitchFamily="18" charset="-34"/>
              </a:defRPr>
            </a:lvl5pPr>
            <a:lvl6pPr marL="2743200" indent="-457200" fontAlgn="base">
              <a:spcBef>
                <a:spcPct val="0"/>
              </a:spcBef>
              <a:spcAft>
                <a:spcPct val="0"/>
              </a:spcAft>
              <a:defRPr sz="2800">
                <a:solidFill>
                  <a:schemeClr val="tx1"/>
                </a:solidFill>
                <a:latin typeface="Arial" panose="020B0604020202020204" pitchFamily="34" charset="0"/>
                <a:cs typeface="Angsana New" panose="02020603050405020304" pitchFamily="18" charset="-34"/>
              </a:defRPr>
            </a:lvl6pPr>
            <a:lvl7pPr marL="3200400" indent="-457200" fontAlgn="base">
              <a:spcBef>
                <a:spcPct val="0"/>
              </a:spcBef>
              <a:spcAft>
                <a:spcPct val="0"/>
              </a:spcAft>
              <a:defRPr sz="2800">
                <a:solidFill>
                  <a:schemeClr val="tx1"/>
                </a:solidFill>
                <a:latin typeface="Arial" panose="020B0604020202020204" pitchFamily="34" charset="0"/>
                <a:cs typeface="Angsana New" panose="02020603050405020304" pitchFamily="18" charset="-34"/>
              </a:defRPr>
            </a:lvl7pPr>
            <a:lvl8pPr marL="3657600" indent="-457200" fontAlgn="base">
              <a:spcBef>
                <a:spcPct val="0"/>
              </a:spcBef>
              <a:spcAft>
                <a:spcPct val="0"/>
              </a:spcAft>
              <a:defRPr sz="2800">
                <a:solidFill>
                  <a:schemeClr val="tx1"/>
                </a:solidFill>
                <a:latin typeface="Arial" panose="020B0604020202020204" pitchFamily="34" charset="0"/>
                <a:cs typeface="Angsana New" panose="02020603050405020304" pitchFamily="18" charset="-34"/>
              </a:defRPr>
            </a:lvl8pPr>
            <a:lvl9pPr marL="4114800" indent="-457200" fontAlgn="base">
              <a:spcBef>
                <a:spcPct val="0"/>
              </a:spcBef>
              <a:spcAft>
                <a:spcPct val="0"/>
              </a:spcAft>
              <a:defRPr sz="2800">
                <a:solidFill>
                  <a:schemeClr val="tx1"/>
                </a:solidFill>
                <a:latin typeface="Arial" panose="020B0604020202020204" pitchFamily="34" charset="0"/>
                <a:cs typeface="Angsana New" panose="02020603050405020304" pitchFamily="18" charset="-34"/>
              </a:defRPr>
            </a:lvl9pPr>
          </a:lstStyle>
          <a:p>
            <a:pPr>
              <a:defRPr/>
            </a:pPr>
            <a:r>
              <a:rPr lang="en-US" altLang="en-US" sz="2400" smtClean="0">
                <a:solidFill>
                  <a:schemeClr val="hlink"/>
                </a:solidFill>
                <a:effectLst>
                  <a:outerShdw blurRad="38100" dist="38100" dir="2700000" algn="tl">
                    <a:srgbClr val="000000"/>
                  </a:outerShdw>
                </a:effectLst>
                <a:latin typeface="Century Schoolbook" panose="02040604050505020304" pitchFamily="18" charset="0"/>
                <a:cs typeface="CordiaUPC" panose="020B0304020202020204" pitchFamily="34" charset="-34"/>
              </a:rPr>
              <a:t>5.	Alkali Concentration</a:t>
            </a:r>
            <a:endParaRPr lang="en-US" altLang="en-US" sz="2000" smtClean="0">
              <a:latin typeface="Century Schoolbook" panose="02040604050505020304" pitchFamily="18" charset="0"/>
              <a:cs typeface="CordiaUPC" panose="020B0304020202020204" pitchFamily="34" charset="-34"/>
            </a:endParaRPr>
          </a:p>
        </p:txBody>
      </p:sp>
      <p:pic>
        <p:nvPicPr>
          <p:cNvPr id="250884" name="Picture 4" descr="01_0003_000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258888" y="2089150"/>
            <a:ext cx="6553200" cy="4435475"/>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163843" name="Text Box 3"/>
          <p:cNvSpPr txBox="1">
            <a:spLocks noChangeArrowheads="1"/>
          </p:cNvSpPr>
          <p:nvPr/>
        </p:nvSpPr>
        <p:spPr bwMode="auto">
          <a:xfrm>
            <a:off x="611188" y="1298575"/>
            <a:ext cx="8280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800">
                <a:solidFill>
                  <a:schemeClr val="tx1"/>
                </a:solidFill>
                <a:latin typeface="Arial" panose="020B0604020202020204" pitchFamily="34" charset="0"/>
                <a:cs typeface="Angsana New" panose="02020603050405020304" pitchFamily="18" charset="-34"/>
              </a:defRPr>
            </a:lvl1pPr>
            <a:lvl2pPr marL="914400" indent="-457200">
              <a:defRPr sz="2800">
                <a:solidFill>
                  <a:schemeClr val="tx1"/>
                </a:solidFill>
                <a:latin typeface="Arial" panose="020B0604020202020204" pitchFamily="34" charset="0"/>
                <a:cs typeface="Angsana New" panose="02020603050405020304" pitchFamily="18" charset="-34"/>
              </a:defRPr>
            </a:lvl2pPr>
            <a:lvl3pPr marL="1371600" indent="-457200">
              <a:defRPr sz="2800">
                <a:solidFill>
                  <a:schemeClr val="tx1"/>
                </a:solidFill>
                <a:latin typeface="Arial" panose="020B0604020202020204" pitchFamily="34" charset="0"/>
                <a:cs typeface="Angsana New" panose="02020603050405020304" pitchFamily="18" charset="-34"/>
              </a:defRPr>
            </a:lvl3pPr>
            <a:lvl4pPr marL="1828800" indent="-457200">
              <a:defRPr sz="2800">
                <a:solidFill>
                  <a:schemeClr val="tx1"/>
                </a:solidFill>
                <a:latin typeface="Arial" panose="020B0604020202020204" pitchFamily="34" charset="0"/>
                <a:cs typeface="Angsana New" panose="02020603050405020304" pitchFamily="18" charset="-34"/>
              </a:defRPr>
            </a:lvl4pPr>
            <a:lvl5pPr marL="2286000" indent="-457200">
              <a:defRPr sz="2800">
                <a:solidFill>
                  <a:schemeClr val="tx1"/>
                </a:solidFill>
                <a:latin typeface="Arial" panose="020B0604020202020204" pitchFamily="34" charset="0"/>
                <a:cs typeface="Angsana New" panose="02020603050405020304" pitchFamily="18" charset="-34"/>
              </a:defRPr>
            </a:lvl5pPr>
            <a:lvl6pPr marL="2743200" indent="-457200" fontAlgn="base">
              <a:spcBef>
                <a:spcPct val="0"/>
              </a:spcBef>
              <a:spcAft>
                <a:spcPct val="0"/>
              </a:spcAft>
              <a:defRPr sz="2800">
                <a:solidFill>
                  <a:schemeClr val="tx1"/>
                </a:solidFill>
                <a:latin typeface="Arial" panose="020B0604020202020204" pitchFamily="34" charset="0"/>
                <a:cs typeface="Angsana New" panose="02020603050405020304" pitchFamily="18" charset="-34"/>
              </a:defRPr>
            </a:lvl6pPr>
            <a:lvl7pPr marL="3200400" indent="-457200" fontAlgn="base">
              <a:spcBef>
                <a:spcPct val="0"/>
              </a:spcBef>
              <a:spcAft>
                <a:spcPct val="0"/>
              </a:spcAft>
              <a:defRPr sz="2800">
                <a:solidFill>
                  <a:schemeClr val="tx1"/>
                </a:solidFill>
                <a:latin typeface="Arial" panose="020B0604020202020204" pitchFamily="34" charset="0"/>
                <a:cs typeface="Angsana New" panose="02020603050405020304" pitchFamily="18" charset="-34"/>
              </a:defRPr>
            </a:lvl7pPr>
            <a:lvl8pPr marL="3657600" indent="-457200" fontAlgn="base">
              <a:spcBef>
                <a:spcPct val="0"/>
              </a:spcBef>
              <a:spcAft>
                <a:spcPct val="0"/>
              </a:spcAft>
              <a:defRPr sz="2800">
                <a:solidFill>
                  <a:schemeClr val="tx1"/>
                </a:solidFill>
                <a:latin typeface="Arial" panose="020B0604020202020204" pitchFamily="34" charset="0"/>
                <a:cs typeface="Angsana New" panose="02020603050405020304" pitchFamily="18" charset="-34"/>
              </a:defRPr>
            </a:lvl8pPr>
            <a:lvl9pPr marL="4114800" indent="-457200" fontAlgn="base">
              <a:spcBef>
                <a:spcPct val="0"/>
              </a:spcBef>
              <a:spcAft>
                <a:spcPct val="0"/>
              </a:spcAft>
              <a:defRPr sz="2800">
                <a:solidFill>
                  <a:schemeClr val="tx1"/>
                </a:solidFill>
                <a:latin typeface="Arial" panose="020B0604020202020204" pitchFamily="34" charset="0"/>
                <a:cs typeface="Angsana New" panose="02020603050405020304" pitchFamily="18" charset="-34"/>
              </a:defRPr>
            </a:lvl9pPr>
          </a:lstStyle>
          <a:p>
            <a:pPr>
              <a:defRPr/>
            </a:pPr>
            <a:r>
              <a:rPr lang="en-US" altLang="en-US" sz="2400" smtClean="0">
                <a:solidFill>
                  <a:schemeClr val="hlink"/>
                </a:solidFill>
                <a:effectLst>
                  <a:outerShdw blurRad="38100" dist="38100" dir="2700000" algn="tl">
                    <a:srgbClr val="000000"/>
                  </a:outerShdw>
                </a:effectLst>
                <a:latin typeface="Century Schoolbook" panose="02040604050505020304" pitchFamily="18" charset="0"/>
                <a:cs typeface="CordiaUPC" panose="020B0304020202020204" pitchFamily="34" charset="-34"/>
              </a:rPr>
              <a:t>6.	Time and Temperature</a:t>
            </a:r>
            <a:endParaRPr lang="en-US" altLang="en-US" sz="2000" smtClean="0">
              <a:latin typeface="Century Schoolbook" panose="02040604050505020304" pitchFamily="18" charset="0"/>
              <a:cs typeface="CordiaUPC" panose="020B0304020202020204" pitchFamily="34" charset="-34"/>
            </a:endParaRPr>
          </a:p>
        </p:txBody>
      </p:sp>
      <p:pic>
        <p:nvPicPr>
          <p:cNvPr id="251907" name="Picture 4" descr="01_0005_0005"/>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539750" y="2636838"/>
            <a:ext cx="8064500" cy="3935412"/>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51908" name="Text Box 5"/>
          <p:cNvSpPr txBox="1">
            <a:spLocks noChangeArrowheads="1"/>
          </p:cNvSpPr>
          <p:nvPr/>
        </p:nvSpPr>
        <p:spPr bwMode="auto">
          <a:xfrm>
            <a:off x="1711325" y="1700213"/>
            <a:ext cx="43942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Char char="-"/>
            </a:pPr>
            <a:r>
              <a:rPr lang="en-US" altLang="en-US" sz="2400">
                <a:latin typeface="Century Schoolbook" panose="02040604050505020304" pitchFamily="18" charset="0"/>
                <a:cs typeface="Arial" panose="020B0604020202020204" pitchFamily="34" charset="0"/>
              </a:rPr>
              <a:t> Normal should be 150-190</a:t>
            </a:r>
            <a:r>
              <a:rPr lang="en-US" altLang="en-US" sz="2400" baseline="30000">
                <a:latin typeface="Century Schoolbook" panose="02040604050505020304" pitchFamily="18" charset="0"/>
                <a:cs typeface="Arial" panose="020B0604020202020204" pitchFamily="34" charset="0"/>
              </a:rPr>
              <a:t>o</a:t>
            </a:r>
            <a:r>
              <a:rPr lang="en-US" altLang="en-US" sz="2400">
                <a:latin typeface="Century Schoolbook" panose="02040604050505020304" pitchFamily="18" charset="0"/>
                <a:cs typeface="Arial" panose="020B0604020202020204" pitchFamily="34" charset="0"/>
              </a:rPr>
              <a:t>C</a:t>
            </a:r>
          </a:p>
          <a:p>
            <a:pPr>
              <a:spcBef>
                <a:spcPct val="0"/>
              </a:spcBef>
              <a:buFontTx/>
              <a:buChar char="-"/>
            </a:pPr>
            <a:r>
              <a:rPr lang="en-US" altLang="en-US" sz="2400">
                <a:latin typeface="Century Schoolbook" panose="02040604050505020304" pitchFamily="18" charset="0"/>
                <a:cs typeface="Arial" panose="020B0604020202020204" pitchFamily="34" charset="0"/>
              </a:rPr>
              <a:t> H-Factor control</a:t>
            </a:r>
          </a:p>
        </p:txBody>
      </p:sp>
      <p:sp>
        <p:nvSpPr>
          <p:cNvPr id="163846" name="Text Box 6"/>
          <p:cNvSpPr txBox="1">
            <a:spLocks noChangeArrowheads="1"/>
          </p:cNvSpPr>
          <p:nvPr/>
        </p:nvSpPr>
        <p:spPr bwMode="auto">
          <a:xfrm>
            <a:off x="611188" y="200025"/>
            <a:ext cx="7489825" cy="1068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en-US" altLang="en-US" sz="3600" b="1" dirty="0">
                <a:solidFill>
                  <a:srgbClr val="FF0000"/>
                </a:solidFill>
                <a:effectLst>
                  <a:outerShdw blurRad="38100" dist="38100" dir="2700000" algn="tl">
                    <a:srgbClr val="000000"/>
                  </a:outerShdw>
                </a:effectLst>
                <a:latin typeface="Century Schoolbook" panose="02040604050505020304" pitchFamily="18" charset="0"/>
              </a:rPr>
              <a:t>Chemical pulping </a:t>
            </a:r>
          </a:p>
          <a:p>
            <a:pPr>
              <a:defRPr/>
            </a:pPr>
            <a:r>
              <a:rPr lang="en-US" altLang="en-US" sz="2800" b="1" dirty="0">
                <a:effectLst>
                  <a:outerShdw blurRad="38100" dist="38100" dir="2700000" algn="tl">
                    <a:srgbClr val="000000"/>
                  </a:outerShdw>
                </a:effectLst>
                <a:latin typeface="Century Schoolbook" panose="02040604050505020304" pitchFamily="18" charset="0"/>
              </a:rPr>
              <a:t>Factor for cooking</a:t>
            </a:r>
            <a:endParaRPr lang="th-TH" altLang="en-US" sz="2800" b="1" dirty="0">
              <a:effectLst>
                <a:outerShdw blurRad="38100" dist="38100" dir="2700000" algn="tl">
                  <a:srgbClr val="000000"/>
                </a:outerShdw>
              </a:effectLst>
              <a:latin typeface="Century Schoolbook" panose="02040604050505020304" pitchFamily="18" charset="0"/>
            </a:endParaRPr>
          </a:p>
        </p:txBody>
      </p:sp>
    </p:spTree>
  </p:cSld>
  <p:clrMapOvr>
    <a:masterClrMapping/>
  </p:clrMapOvr>
  <p:transition/>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52930" name="Rectangle 3"/>
          <p:cNvSpPr>
            <a:spLocks noGrp="1" noChangeArrowheads="1"/>
          </p:cNvSpPr>
          <p:nvPr>
            <p:ph type="body" sz="half" idx="1"/>
          </p:nvPr>
        </p:nvSpPr>
        <p:spPr>
          <a:xfrm>
            <a:off x="457200" y="1600200"/>
            <a:ext cx="8382000" cy="4525963"/>
          </a:xfrm>
        </p:spPr>
        <p:txBody>
          <a:bodyPr/>
          <a:lstStyle/>
          <a:p>
            <a:r>
              <a:rPr lang="en-US" altLang="en-US" smtClean="0">
                <a:latin typeface="Century Schoolbook" panose="02040604050505020304" pitchFamily="18" charset="0"/>
              </a:rPr>
              <a:t>H-factor: combines temperature and time into a single variable representing the extent of the cooking (Vroom 1957).</a:t>
            </a:r>
          </a:p>
          <a:p>
            <a:r>
              <a:rPr lang="en-US" altLang="en-US" smtClean="0">
                <a:latin typeface="Century Schoolbook" panose="02040604050505020304" pitchFamily="18" charset="0"/>
              </a:rPr>
              <a:t>The delignification is assumed to be one single reaction.</a:t>
            </a:r>
          </a:p>
        </p:txBody>
      </p:sp>
      <p:graphicFrame>
        <p:nvGraphicFramePr>
          <p:cNvPr id="252931" name="Object 4"/>
          <p:cNvGraphicFramePr>
            <a:graphicFrameLocks noGrp="1" noChangeAspect="1"/>
          </p:cNvGraphicFramePr>
          <p:nvPr>
            <p:ph sz="half" idx="2"/>
          </p:nvPr>
        </p:nvGraphicFramePr>
        <p:xfrm>
          <a:off x="2297113" y="4476750"/>
          <a:ext cx="4471987" cy="1206500"/>
        </p:xfrm>
        <a:graphic>
          <a:graphicData uri="http://schemas.openxmlformats.org/presentationml/2006/ole">
            <mc:AlternateContent xmlns:mc="http://schemas.openxmlformats.org/markup-compatibility/2006">
              <mc:Choice xmlns:v="urn:schemas-microsoft-com:vml" Requires="v">
                <p:oleObj spid="_x0000_s252944" name="Equation" r:id="rId3" imgW="1917700" imgH="520700" progId="Equation.3">
                  <p:embed/>
                </p:oleObj>
              </mc:Choice>
              <mc:Fallback>
                <p:oleObj name="Equation" r:id="rId3" imgW="1917700" imgH="5207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97113" y="4476750"/>
                        <a:ext cx="4471987" cy="12065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52932" name="Line 5"/>
          <p:cNvSpPr>
            <a:spLocks noChangeShapeType="1"/>
          </p:cNvSpPr>
          <p:nvPr/>
        </p:nvSpPr>
        <p:spPr bwMode="auto">
          <a:xfrm flipV="1">
            <a:off x="3505200" y="579120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2933" name="AutoShape 6"/>
          <p:cNvSpPr>
            <a:spLocks noChangeArrowheads="1"/>
          </p:cNvSpPr>
          <p:nvPr/>
        </p:nvSpPr>
        <p:spPr bwMode="auto">
          <a:xfrm>
            <a:off x="3200400" y="4524375"/>
            <a:ext cx="685800" cy="1143000"/>
          </a:xfrm>
          <a:prstGeom prst="flowChartAlternateProcess">
            <a:avLst/>
          </a:prstGeom>
          <a:noFill/>
          <a:ln w="9525">
            <a:solidFill>
              <a:srgbClr val="FF00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52934" name="Text Box 7"/>
          <p:cNvSpPr txBox="1">
            <a:spLocks noChangeArrowheads="1"/>
          </p:cNvSpPr>
          <p:nvPr/>
        </p:nvSpPr>
        <p:spPr bwMode="auto">
          <a:xfrm>
            <a:off x="2438400" y="6156325"/>
            <a:ext cx="25098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a:latin typeface="Century Schoolbook" panose="02040604050505020304" pitchFamily="18" charset="0"/>
              </a:rPr>
              <a:t>Rate of delignification</a:t>
            </a:r>
          </a:p>
        </p:txBody>
      </p:sp>
      <p:sp>
        <p:nvSpPr>
          <p:cNvPr id="155656" name="Text Box 8"/>
          <p:cNvSpPr txBox="1">
            <a:spLocks noChangeArrowheads="1"/>
          </p:cNvSpPr>
          <p:nvPr/>
        </p:nvSpPr>
        <p:spPr bwMode="auto">
          <a:xfrm>
            <a:off x="611188" y="200025"/>
            <a:ext cx="7489825" cy="1068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en-US" altLang="en-US" sz="3600" b="1" dirty="0">
                <a:solidFill>
                  <a:srgbClr val="FF0000"/>
                </a:solidFill>
                <a:effectLst>
                  <a:outerShdw blurRad="38100" dist="38100" dir="2700000" algn="tl">
                    <a:srgbClr val="000000"/>
                  </a:outerShdw>
                </a:effectLst>
                <a:latin typeface="Century Schoolbook" panose="02040604050505020304" pitchFamily="18" charset="0"/>
              </a:rPr>
              <a:t>Chemical pulping </a:t>
            </a:r>
          </a:p>
          <a:p>
            <a:pPr>
              <a:defRPr/>
            </a:pPr>
            <a:r>
              <a:rPr lang="en-US" altLang="en-US" sz="2800" b="1" dirty="0">
                <a:effectLst>
                  <a:outerShdw blurRad="38100" dist="38100" dir="2700000" algn="tl">
                    <a:srgbClr val="000000"/>
                  </a:outerShdw>
                </a:effectLst>
                <a:latin typeface="Century Schoolbook" panose="02040604050505020304" pitchFamily="18" charset="0"/>
              </a:rPr>
              <a:t>Single Variable Model: H-factor</a:t>
            </a:r>
            <a:endParaRPr lang="th-TH" altLang="en-US" sz="2800" b="1" dirty="0">
              <a:effectLst>
                <a:outerShdw blurRad="38100" dist="38100" dir="2700000" algn="tl">
                  <a:srgbClr val="000000"/>
                </a:outerShdw>
              </a:effectLst>
              <a:latin typeface="Century Schoolbook" panose="02040604050505020304" pitchFamily="18" charset="0"/>
            </a:endParaRPr>
          </a:p>
        </p:txBody>
      </p:sp>
    </p:spTree>
  </p:cSld>
  <p:clrMapOvr>
    <a:masterClrMapping/>
  </p:clrMapOvr>
  <p:transition/>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Text Box 2"/>
          <p:cNvSpPr txBox="1">
            <a:spLocks noChangeArrowheads="1"/>
          </p:cNvSpPr>
          <p:nvPr/>
        </p:nvSpPr>
        <p:spPr bwMode="auto">
          <a:xfrm>
            <a:off x="611188" y="306388"/>
            <a:ext cx="6780212"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3600" b="1" dirty="0">
                <a:solidFill>
                  <a:srgbClr val="FF0000"/>
                </a:solidFill>
                <a:effectLst>
                  <a:outerShdw blurRad="38100" dist="38100" dir="2700000" algn="tl">
                    <a:srgbClr val="000000"/>
                  </a:outerShdw>
                </a:effectLst>
                <a:latin typeface="Century Schoolbook" panose="02040604050505020304" pitchFamily="18" charset="0"/>
              </a:rPr>
              <a:t>Chemical pulping</a:t>
            </a:r>
          </a:p>
          <a:p>
            <a:pPr>
              <a:defRPr/>
            </a:pPr>
            <a:r>
              <a:rPr lang="en-US" altLang="en-US" sz="2400" b="1" dirty="0">
                <a:effectLst>
                  <a:outerShdw blurRad="38100" dist="38100" dir="2700000" algn="tl">
                    <a:srgbClr val="000000"/>
                  </a:outerShdw>
                </a:effectLst>
                <a:latin typeface="Century Schoolbook" panose="02040604050505020304" pitchFamily="18" charset="0"/>
              </a:rPr>
              <a:t>Simplify process diagram of </a:t>
            </a:r>
            <a:r>
              <a:rPr lang="en-US" altLang="en-US" sz="2400" b="1" dirty="0" err="1">
                <a:effectLst>
                  <a:outerShdw blurRad="38100" dist="38100" dir="2700000" algn="tl">
                    <a:srgbClr val="000000"/>
                  </a:outerShdw>
                </a:effectLst>
                <a:latin typeface="Century Schoolbook" panose="02040604050505020304" pitchFamily="18" charset="0"/>
              </a:rPr>
              <a:t>kraft</a:t>
            </a:r>
            <a:r>
              <a:rPr lang="en-US" altLang="en-US" sz="2400" b="1" dirty="0">
                <a:effectLst>
                  <a:outerShdw blurRad="38100" dist="38100" dir="2700000" algn="tl">
                    <a:srgbClr val="000000"/>
                  </a:outerShdw>
                </a:effectLst>
                <a:latin typeface="Century Schoolbook" panose="02040604050505020304" pitchFamily="18" charset="0"/>
              </a:rPr>
              <a:t> process</a:t>
            </a:r>
            <a:endParaRPr lang="th-TH" altLang="en-US" sz="2400" b="1" dirty="0">
              <a:effectLst>
                <a:outerShdw blurRad="38100" dist="38100" dir="2700000" algn="tl">
                  <a:srgbClr val="000000"/>
                </a:outerShdw>
              </a:effectLst>
              <a:latin typeface="Century Schoolbook" panose="02040604050505020304" pitchFamily="18" charset="0"/>
            </a:endParaRPr>
          </a:p>
        </p:txBody>
      </p:sp>
      <p:sp>
        <p:nvSpPr>
          <p:cNvPr id="253955" name="Oval 3"/>
          <p:cNvSpPr>
            <a:spLocks noChangeArrowheads="1"/>
          </p:cNvSpPr>
          <p:nvPr/>
        </p:nvSpPr>
        <p:spPr bwMode="auto">
          <a:xfrm>
            <a:off x="457200" y="3276600"/>
            <a:ext cx="1524000" cy="1524000"/>
          </a:xfrm>
          <a:prstGeom prst="ellipse">
            <a:avLst/>
          </a:prstGeom>
          <a:noFill/>
          <a:ln w="38100">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53956" name="Oval 4"/>
          <p:cNvSpPr>
            <a:spLocks noChangeArrowheads="1"/>
          </p:cNvSpPr>
          <p:nvPr/>
        </p:nvSpPr>
        <p:spPr bwMode="auto">
          <a:xfrm>
            <a:off x="1905000" y="2362200"/>
            <a:ext cx="5638800" cy="3657600"/>
          </a:xfrm>
          <a:prstGeom prst="ellipse">
            <a:avLst/>
          </a:prstGeom>
          <a:noFill/>
          <a:ln w="38100">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53957" name="Rectangle 5"/>
          <p:cNvSpPr>
            <a:spLocks noChangeArrowheads="1"/>
          </p:cNvSpPr>
          <p:nvPr/>
        </p:nvSpPr>
        <p:spPr bwMode="auto">
          <a:xfrm>
            <a:off x="4572000" y="1828800"/>
            <a:ext cx="304800" cy="914400"/>
          </a:xfrm>
          <a:prstGeom prst="rect">
            <a:avLst/>
          </a:prstGeom>
          <a:solidFill>
            <a:schemeClr val="folHlink"/>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53958" name="Text Box 6"/>
          <p:cNvSpPr txBox="1">
            <a:spLocks noChangeArrowheads="1"/>
          </p:cNvSpPr>
          <p:nvPr/>
        </p:nvSpPr>
        <p:spPr bwMode="auto">
          <a:xfrm>
            <a:off x="4060825" y="2781300"/>
            <a:ext cx="12874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a:latin typeface="Century Schoolbook" panose="02040604050505020304" pitchFamily="18" charset="0"/>
              </a:rPr>
              <a:t>Pulping</a:t>
            </a:r>
          </a:p>
        </p:txBody>
      </p:sp>
      <p:cxnSp>
        <p:nvCxnSpPr>
          <p:cNvPr id="253959" name="AutoShape 7"/>
          <p:cNvCxnSpPr>
            <a:cxnSpLocks noChangeShapeType="1"/>
            <a:stCxn id="253960" idx="3"/>
            <a:endCxn id="253957" idx="0"/>
          </p:cNvCxnSpPr>
          <p:nvPr/>
        </p:nvCxnSpPr>
        <p:spPr bwMode="auto">
          <a:xfrm>
            <a:off x="4175125" y="1668463"/>
            <a:ext cx="549275" cy="160337"/>
          </a:xfrm>
          <a:prstGeom prst="bentConnector2">
            <a:avLst/>
          </a:prstGeom>
          <a:noFill/>
          <a:ln w="38100">
            <a:solidFill>
              <a:srgbClr val="CC99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3960" name="Text Box 8"/>
          <p:cNvSpPr txBox="1">
            <a:spLocks noChangeArrowheads="1"/>
          </p:cNvSpPr>
          <p:nvPr/>
        </p:nvSpPr>
        <p:spPr bwMode="auto">
          <a:xfrm>
            <a:off x="3173413" y="1439863"/>
            <a:ext cx="10017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a:latin typeface="Century Schoolbook" panose="02040604050505020304" pitchFamily="18" charset="0"/>
              </a:rPr>
              <a:t>Chips</a:t>
            </a:r>
          </a:p>
        </p:txBody>
      </p:sp>
      <p:grpSp>
        <p:nvGrpSpPr>
          <p:cNvPr id="253961" name="Group 9"/>
          <p:cNvGrpSpPr>
            <a:grpSpLocks/>
          </p:cNvGrpSpPr>
          <p:nvPr/>
        </p:nvGrpSpPr>
        <p:grpSpPr bwMode="auto">
          <a:xfrm>
            <a:off x="6858000" y="3683000"/>
            <a:ext cx="1143000" cy="584200"/>
            <a:chOff x="3648" y="2800"/>
            <a:chExt cx="720" cy="368"/>
          </a:xfrm>
        </p:grpSpPr>
        <p:sp>
          <p:nvSpPr>
            <p:cNvPr id="253988" name="Oval 10"/>
            <p:cNvSpPr>
              <a:spLocks noChangeArrowheads="1"/>
            </p:cNvSpPr>
            <p:nvPr/>
          </p:nvSpPr>
          <p:spPr bwMode="auto">
            <a:xfrm>
              <a:off x="3880" y="2800"/>
              <a:ext cx="288" cy="288"/>
            </a:xfrm>
            <a:prstGeom prst="ellipse">
              <a:avLst/>
            </a:prstGeom>
            <a:solidFill>
              <a:schemeClr val="accent1"/>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53989" name="Rectangle 11"/>
            <p:cNvSpPr>
              <a:spLocks noChangeArrowheads="1"/>
            </p:cNvSpPr>
            <p:nvPr/>
          </p:nvSpPr>
          <p:spPr bwMode="auto">
            <a:xfrm>
              <a:off x="3648" y="2928"/>
              <a:ext cx="720" cy="240"/>
            </a:xfrm>
            <a:prstGeom prst="rect">
              <a:avLst/>
            </a:prstGeom>
            <a:solidFill>
              <a:srgbClr val="00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grpSp>
      <p:cxnSp>
        <p:nvCxnSpPr>
          <p:cNvPr id="253962" name="AutoShape 12"/>
          <p:cNvCxnSpPr>
            <a:cxnSpLocks noChangeShapeType="1"/>
            <a:endCxn id="253988" idx="0"/>
          </p:cNvCxnSpPr>
          <p:nvPr/>
        </p:nvCxnSpPr>
        <p:spPr bwMode="auto">
          <a:xfrm rot="10800000" flipV="1">
            <a:off x="7454900" y="3124200"/>
            <a:ext cx="1308100" cy="558800"/>
          </a:xfrm>
          <a:prstGeom prst="bentConnector2">
            <a:avLst/>
          </a:prstGeom>
          <a:noFill/>
          <a:ln w="38100">
            <a:solidFill>
              <a:srgbClr val="00FFFF"/>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3963" name="Text Box 13"/>
          <p:cNvSpPr txBox="1">
            <a:spLocks noChangeArrowheads="1"/>
          </p:cNvSpPr>
          <p:nvPr/>
        </p:nvSpPr>
        <p:spPr bwMode="auto">
          <a:xfrm>
            <a:off x="7654925" y="2263775"/>
            <a:ext cx="1058863"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a:latin typeface="Century Schoolbook" panose="02040604050505020304" pitchFamily="18" charset="0"/>
              </a:rPr>
              <a:t>Wash</a:t>
            </a:r>
          </a:p>
          <a:p>
            <a:pPr algn="ctr">
              <a:spcBef>
                <a:spcPct val="0"/>
              </a:spcBef>
              <a:buFontTx/>
              <a:buNone/>
            </a:pPr>
            <a:r>
              <a:rPr lang="en-US" altLang="en-US" sz="2400">
                <a:latin typeface="Century Schoolbook" panose="02040604050505020304" pitchFamily="18" charset="0"/>
              </a:rPr>
              <a:t>Water</a:t>
            </a:r>
          </a:p>
        </p:txBody>
      </p:sp>
      <p:sp>
        <p:nvSpPr>
          <p:cNvPr id="253964" name="Line 14"/>
          <p:cNvSpPr>
            <a:spLocks noChangeShapeType="1"/>
          </p:cNvSpPr>
          <p:nvPr/>
        </p:nvSpPr>
        <p:spPr bwMode="auto">
          <a:xfrm>
            <a:off x="8001000" y="4038600"/>
            <a:ext cx="762000" cy="0"/>
          </a:xfrm>
          <a:prstGeom prst="line">
            <a:avLst/>
          </a:prstGeom>
          <a:noFill/>
          <a:ln w="38100">
            <a:solidFill>
              <a:srgbClr val="66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3965" name="Text Box 15"/>
          <p:cNvSpPr txBox="1">
            <a:spLocks noChangeArrowheads="1"/>
          </p:cNvSpPr>
          <p:nvPr/>
        </p:nvSpPr>
        <p:spPr bwMode="auto">
          <a:xfrm>
            <a:off x="8312150" y="4016375"/>
            <a:ext cx="8429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a:latin typeface="Century Schoolbook" panose="02040604050505020304" pitchFamily="18" charset="0"/>
              </a:rPr>
              <a:t>Pulp</a:t>
            </a:r>
          </a:p>
        </p:txBody>
      </p:sp>
      <p:pic>
        <p:nvPicPr>
          <p:cNvPr id="253966" name="Picture 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22975" y="4545013"/>
            <a:ext cx="987425" cy="1703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53967" name="Text Box 17"/>
          <p:cNvSpPr txBox="1">
            <a:spLocks noChangeArrowheads="1"/>
          </p:cNvSpPr>
          <p:nvPr/>
        </p:nvSpPr>
        <p:spPr bwMode="auto">
          <a:xfrm>
            <a:off x="6516688" y="6021388"/>
            <a:ext cx="1917700"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a:latin typeface="Century Schoolbook" panose="02040604050505020304" pitchFamily="18" charset="0"/>
              </a:rPr>
              <a:t>Evaporators</a:t>
            </a:r>
          </a:p>
        </p:txBody>
      </p:sp>
      <p:pic>
        <p:nvPicPr>
          <p:cNvPr id="253968" name="Picture 18" descr="edfu"/>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0225" y="5475288"/>
            <a:ext cx="841375"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3969" name="Text Box 19"/>
          <p:cNvSpPr txBox="1">
            <a:spLocks noChangeArrowheads="1"/>
          </p:cNvSpPr>
          <p:nvPr/>
        </p:nvSpPr>
        <p:spPr bwMode="auto">
          <a:xfrm>
            <a:off x="4022725" y="4625975"/>
            <a:ext cx="1458913"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a:latin typeface="Century Schoolbook" panose="02040604050505020304" pitchFamily="18" charset="0"/>
              </a:rPr>
              <a:t>Recovery</a:t>
            </a:r>
          </a:p>
          <a:p>
            <a:pPr algn="ctr">
              <a:spcBef>
                <a:spcPct val="0"/>
              </a:spcBef>
              <a:buFontTx/>
              <a:buNone/>
            </a:pPr>
            <a:r>
              <a:rPr lang="en-US" altLang="en-US" sz="2400">
                <a:latin typeface="Century Schoolbook" panose="02040604050505020304" pitchFamily="18" charset="0"/>
              </a:rPr>
              <a:t>Boiler</a:t>
            </a:r>
          </a:p>
        </p:txBody>
      </p:sp>
      <p:grpSp>
        <p:nvGrpSpPr>
          <p:cNvPr id="253970" name="Group 20"/>
          <p:cNvGrpSpPr>
            <a:grpSpLocks/>
          </p:cNvGrpSpPr>
          <p:nvPr/>
        </p:nvGrpSpPr>
        <p:grpSpPr bwMode="auto">
          <a:xfrm>
            <a:off x="1447800" y="3810000"/>
            <a:ext cx="838200" cy="838200"/>
            <a:chOff x="576" y="2736"/>
            <a:chExt cx="528" cy="528"/>
          </a:xfrm>
        </p:grpSpPr>
        <p:sp>
          <p:nvSpPr>
            <p:cNvPr id="253985" name="Rectangle 21"/>
            <p:cNvSpPr>
              <a:spLocks noChangeArrowheads="1"/>
            </p:cNvSpPr>
            <p:nvPr/>
          </p:nvSpPr>
          <p:spPr bwMode="auto">
            <a:xfrm>
              <a:off x="576" y="2736"/>
              <a:ext cx="336" cy="336"/>
            </a:xfrm>
            <a:prstGeom prst="rect">
              <a:avLst/>
            </a:prstGeom>
            <a:solidFill>
              <a:srgbClr val="66FF33"/>
            </a:solidFill>
            <a:ln w="9525">
              <a:solidFill>
                <a:srgbClr val="66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53986" name="Rectangle 22"/>
            <p:cNvSpPr>
              <a:spLocks noChangeArrowheads="1"/>
            </p:cNvSpPr>
            <p:nvPr/>
          </p:nvSpPr>
          <p:spPr bwMode="auto">
            <a:xfrm>
              <a:off x="672" y="2832"/>
              <a:ext cx="336" cy="336"/>
            </a:xfrm>
            <a:prstGeom prst="rect">
              <a:avLst/>
            </a:prstGeom>
            <a:solidFill>
              <a:srgbClr val="66FF33"/>
            </a:solidFill>
            <a:ln w="9525">
              <a:solidFill>
                <a:srgbClr val="66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53987" name="Rectangle 23"/>
            <p:cNvSpPr>
              <a:spLocks noChangeArrowheads="1"/>
            </p:cNvSpPr>
            <p:nvPr/>
          </p:nvSpPr>
          <p:spPr bwMode="auto">
            <a:xfrm>
              <a:off x="768" y="2928"/>
              <a:ext cx="336" cy="336"/>
            </a:xfrm>
            <a:prstGeom prst="rect">
              <a:avLst/>
            </a:prstGeom>
            <a:solidFill>
              <a:srgbClr val="66FF33"/>
            </a:solidFill>
            <a:ln w="9525">
              <a:solidFill>
                <a:srgbClr val="66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grpSp>
      <p:sp>
        <p:nvSpPr>
          <p:cNvPr id="253971" name="Text Box 24"/>
          <p:cNvSpPr txBox="1">
            <a:spLocks noChangeArrowheads="1"/>
          </p:cNvSpPr>
          <p:nvPr/>
        </p:nvSpPr>
        <p:spPr bwMode="auto">
          <a:xfrm>
            <a:off x="2301875" y="4092575"/>
            <a:ext cx="22145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a:latin typeface="Century Schoolbook" panose="02040604050505020304" pitchFamily="18" charset="0"/>
              </a:rPr>
              <a:t>Causticization</a:t>
            </a:r>
          </a:p>
        </p:txBody>
      </p:sp>
      <p:pic>
        <p:nvPicPr>
          <p:cNvPr id="253972" name="Picture 25" descr="pm_limekiln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0163" y="3714750"/>
            <a:ext cx="960437" cy="65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3973" name="Text Box 26"/>
          <p:cNvSpPr txBox="1">
            <a:spLocks noChangeArrowheads="1"/>
          </p:cNvSpPr>
          <p:nvPr/>
        </p:nvSpPr>
        <p:spPr bwMode="auto">
          <a:xfrm>
            <a:off x="71438" y="2924175"/>
            <a:ext cx="785812"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000">
                <a:latin typeface="Century Schoolbook" panose="02040604050505020304" pitchFamily="18" charset="0"/>
              </a:rPr>
              <a:t>Lime</a:t>
            </a:r>
          </a:p>
          <a:p>
            <a:pPr algn="ctr">
              <a:spcBef>
                <a:spcPct val="0"/>
              </a:spcBef>
              <a:buFontTx/>
              <a:buNone/>
            </a:pPr>
            <a:r>
              <a:rPr lang="en-US" altLang="en-US" sz="2000">
                <a:latin typeface="Century Schoolbook" panose="02040604050505020304" pitchFamily="18" charset="0"/>
              </a:rPr>
              <a:t>Kiln</a:t>
            </a:r>
          </a:p>
        </p:txBody>
      </p:sp>
      <p:sp>
        <p:nvSpPr>
          <p:cNvPr id="253974" name="Line 27"/>
          <p:cNvSpPr>
            <a:spLocks noChangeShapeType="1"/>
          </p:cNvSpPr>
          <p:nvPr/>
        </p:nvSpPr>
        <p:spPr bwMode="auto">
          <a:xfrm>
            <a:off x="1143000" y="3276600"/>
            <a:ext cx="274638" cy="0"/>
          </a:xfrm>
          <a:prstGeom prst="line">
            <a:avLst/>
          </a:prstGeom>
          <a:noFill/>
          <a:ln w="571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3975" name="AutoShape 28"/>
          <p:cNvSpPr>
            <a:spLocks noChangeArrowheads="1"/>
          </p:cNvSpPr>
          <p:nvPr/>
        </p:nvSpPr>
        <p:spPr bwMode="auto">
          <a:xfrm rot="-1873651">
            <a:off x="2590800" y="2743200"/>
            <a:ext cx="381000" cy="228600"/>
          </a:xfrm>
          <a:prstGeom prst="rightArrow">
            <a:avLst>
              <a:gd name="adj1" fmla="val 50000"/>
              <a:gd name="adj2" fmla="val 41667"/>
            </a:avLst>
          </a:prstGeom>
          <a:solidFill>
            <a:schemeClr val="tx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53976" name="AutoShape 29"/>
          <p:cNvSpPr>
            <a:spLocks noChangeArrowheads="1"/>
          </p:cNvSpPr>
          <p:nvPr/>
        </p:nvSpPr>
        <p:spPr bwMode="auto">
          <a:xfrm rot="1530045">
            <a:off x="6019800" y="2514600"/>
            <a:ext cx="381000" cy="228600"/>
          </a:xfrm>
          <a:prstGeom prst="rightArrow">
            <a:avLst>
              <a:gd name="adj1" fmla="val 50000"/>
              <a:gd name="adj2" fmla="val 41667"/>
            </a:avLst>
          </a:prstGeom>
          <a:solidFill>
            <a:schemeClr val="tx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53977" name="AutoShape 30"/>
          <p:cNvSpPr>
            <a:spLocks noChangeArrowheads="1"/>
          </p:cNvSpPr>
          <p:nvPr/>
        </p:nvSpPr>
        <p:spPr bwMode="auto">
          <a:xfrm rot="-9251936">
            <a:off x="2743200" y="5486400"/>
            <a:ext cx="381000" cy="228600"/>
          </a:xfrm>
          <a:prstGeom prst="rightArrow">
            <a:avLst>
              <a:gd name="adj1" fmla="val 50000"/>
              <a:gd name="adj2" fmla="val 41667"/>
            </a:avLst>
          </a:prstGeom>
          <a:solidFill>
            <a:schemeClr val="tx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53978" name="AutoShape 31"/>
          <p:cNvSpPr>
            <a:spLocks noChangeArrowheads="1"/>
          </p:cNvSpPr>
          <p:nvPr/>
        </p:nvSpPr>
        <p:spPr bwMode="auto">
          <a:xfrm rot="7853778">
            <a:off x="7010400" y="4953000"/>
            <a:ext cx="381000" cy="228600"/>
          </a:xfrm>
          <a:prstGeom prst="rightArrow">
            <a:avLst>
              <a:gd name="adj1" fmla="val 50000"/>
              <a:gd name="adj2" fmla="val 41667"/>
            </a:avLst>
          </a:prstGeom>
          <a:solidFill>
            <a:schemeClr val="tx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160800" name="Text Box 32"/>
          <p:cNvSpPr txBox="1">
            <a:spLocks noChangeArrowheads="1"/>
          </p:cNvSpPr>
          <p:nvPr/>
        </p:nvSpPr>
        <p:spPr bwMode="auto">
          <a:xfrm>
            <a:off x="1736725" y="2012950"/>
            <a:ext cx="1582738"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1600" b="1" dirty="0">
                <a:effectLst>
                  <a:outerShdw blurRad="38100" dist="38100" dir="2700000" algn="tl">
                    <a:srgbClr val="000000"/>
                  </a:outerShdw>
                </a:effectLst>
                <a:latin typeface="Century Schoolbook" panose="02040604050505020304" pitchFamily="18" charset="0"/>
              </a:rPr>
              <a:t>White Liquor</a:t>
            </a:r>
          </a:p>
          <a:p>
            <a:pPr>
              <a:defRPr/>
            </a:pPr>
            <a:r>
              <a:rPr lang="en-US" altLang="en-US" sz="1600" b="1" dirty="0" smtClean="0">
                <a:solidFill>
                  <a:srgbClr val="FF9966"/>
                </a:solidFill>
                <a:effectLst>
                  <a:outerShdw blurRad="38100" dist="38100" dir="2700000" algn="tl">
                    <a:srgbClr val="000000"/>
                  </a:outerShdw>
                </a:effectLst>
                <a:latin typeface="Century Schoolbook" panose="02040604050505020304" pitchFamily="18" charset="0"/>
              </a:rPr>
              <a:t>NaOH+Na2S</a:t>
            </a:r>
            <a:endParaRPr lang="th-TH" altLang="en-US" sz="1600" b="1" dirty="0">
              <a:solidFill>
                <a:srgbClr val="FF9966"/>
              </a:solidFill>
              <a:effectLst>
                <a:outerShdw blurRad="38100" dist="38100" dir="2700000" algn="tl">
                  <a:srgbClr val="000000"/>
                </a:outerShdw>
              </a:effectLst>
              <a:latin typeface="Century Schoolbook" panose="02040604050505020304" pitchFamily="18" charset="0"/>
            </a:endParaRPr>
          </a:p>
        </p:txBody>
      </p:sp>
      <p:sp>
        <p:nvSpPr>
          <p:cNvPr id="160801" name="Text Box 33"/>
          <p:cNvSpPr txBox="1">
            <a:spLocks noChangeArrowheads="1"/>
          </p:cNvSpPr>
          <p:nvPr/>
        </p:nvSpPr>
        <p:spPr bwMode="auto">
          <a:xfrm>
            <a:off x="1492250" y="5757863"/>
            <a:ext cx="1711325"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1600" b="1">
                <a:solidFill>
                  <a:schemeClr val="hlink"/>
                </a:solidFill>
                <a:effectLst>
                  <a:outerShdw blurRad="38100" dist="38100" dir="2700000" algn="tl">
                    <a:srgbClr val="000000"/>
                  </a:outerShdw>
                </a:effectLst>
                <a:latin typeface="Century Schoolbook" panose="02040604050505020304" pitchFamily="18" charset="0"/>
              </a:rPr>
              <a:t>Green Liquor</a:t>
            </a:r>
          </a:p>
          <a:p>
            <a:pPr>
              <a:defRPr/>
            </a:pPr>
            <a:r>
              <a:rPr lang="en-US" altLang="en-US" sz="1600" b="1">
                <a:solidFill>
                  <a:srgbClr val="FF9966"/>
                </a:solidFill>
                <a:effectLst>
                  <a:outerShdw blurRad="38100" dist="38100" dir="2700000" algn="tl">
                    <a:srgbClr val="000000"/>
                  </a:outerShdw>
                </a:effectLst>
                <a:latin typeface="Century Schoolbook" panose="02040604050505020304" pitchFamily="18" charset="0"/>
              </a:rPr>
              <a:t>Na2CO3+Na2S</a:t>
            </a:r>
            <a:endParaRPr lang="th-TH" altLang="en-US" sz="1600" b="1">
              <a:solidFill>
                <a:srgbClr val="FF9966"/>
              </a:solidFill>
              <a:effectLst>
                <a:outerShdw blurRad="38100" dist="38100" dir="2700000" algn="tl">
                  <a:srgbClr val="000000"/>
                </a:outerShdw>
              </a:effectLst>
              <a:latin typeface="Century Schoolbook" panose="02040604050505020304" pitchFamily="18" charset="0"/>
            </a:endParaRPr>
          </a:p>
        </p:txBody>
      </p:sp>
      <p:sp>
        <p:nvSpPr>
          <p:cNvPr id="160802" name="Text Box 34"/>
          <p:cNvSpPr txBox="1">
            <a:spLocks noChangeArrowheads="1"/>
          </p:cNvSpPr>
          <p:nvPr/>
        </p:nvSpPr>
        <p:spPr bwMode="auto">
          <a:xfrm>
            <a:off x="900113" y="2589213"/>
            <a:ext cx="72327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1600" b="1" dirty="0">
                <a:solidFill>
                  <a:schemeClr val="hlink"/>
                </a:solidFill>
                <a:effectLst>
                  <a:outerShdw blurRad="38100" dist="38100" dir="2700000" algn="tl">
                    <a:srgbClr val="000000"/>
                  </a:outerShdw>
                </a:effectLst>
                <a:latin typeface="Century Schoolbook" panose="02040604050505020304" pitchFamily="18" charset="0"/>
              </a:rPr>
              <a:t>Lime</a:t>
            </a:r>
          </a:p>
          <a:p>
            <a:pPr>
              <a:defRPr/>
            </a:pPr>
            <a:r>
              <a:rPr lang="en-US" altLang="en-US" sz="1600" b="1" dirty="0" err="1" smtClean="0">
                <a:solidFill>
                  <a:srgbClr val="FF9966"/>
                </a:solidFill>
                <a:effectLst>
                  <a:outerShdw blurRad="38100" dist="38100" dir="2700000" algn="tl">
                    <a:srgbClr val="000000"/>
                  </a:outerShdw>
                </a:effectLst>
                <a:latin typeface="Century Schoolbook" panose="02040604050505020304" pitchFamily="18" charset="0"/>
              </a:rPr>
              <a:t>CaO</a:t>
            </a:r>
            <a:endParaRPr lang="th-TH" altLang="en-US" sz="1600" b="1" dirty="0">
              <a:solidFill>
                <a:srgbClr val="FF9966"/>
              </a:solidFill>
              <a:effectLst>
                <a:outerShdw blurRad="38100" dist="38100" dir="2700000" algn="tl">
                  <a:srgbClr val="000000"/>
                </a:outerShdw>
              </a:effectLst>
              <a:latin typeface="Century Schoolbook" panose="02040604050505020304" pitchFamily="18" charset="0"/>
            </a:endParaRPr>
          </a:p>
        </p:txBody>
      </p:sp>
      <p:sp>
        <p:nvSpPr>
          <p:cNvPr id="160803" name="Text Box 35"/>
          <p:cNvSpPr txBox="1">
            <a:spLocks noChangeArrowheads="1"/>
          </p:cNvSpPr>
          <p:nvPr/>
        </p:nvSpPr>
        <p:spPr bwMode="auto">
          <a:xfrm>
            <a:off x="728663" y="4821238"/>
            <a:ext cx="125095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1600" b="1">
                <a:solidFill>
                  <a:schemeClr val="hlink"/>
                </a:solidFill>
                <a:effectLst>
                  <a:outerShdw blurRad="38100" dist="38100" dir="2700000" algn="tl">
                    <a:srgbClr val="000000"/>
                  </a:outerShdw>
                </a:effectLst>
                <a:latin typeface="Century Schoolbook" panose="02040604050505020304" pitchFamily="18" charset="0"/>
              </a:rPr>
              <a:t>Lime Mud</a:t>
            </a:r>
          </a:p>
          <a:p>
            <a:pPr>
              <a:defRPr/>
            </a:pPr>
            <a:r>
              <a:rPr lang="en-US" altLang="en-US" sz="1600" b="1">
                <a:solidFill>
                  <a:srgbClr val="FF9966"/>
                </a:solidFill>
                <a:effectLst>
                  <a:outerShdw blurRad="38100" dist="38100" dir="2700000" algn="tl">
                    <a:srgbClr val="000000"/>
                  </a:outerShdw>
                </a:effectLst>
                <a:latin typeface="Century Schoolbook" panose="02040604050505020304" pitchFamily="18" charset="0"/>
              </a:rPr>
              <a:t>CaCO3</a:t>
            </a:r>
            <a:endParaRPr lang="th-TH" altLang="en-US" sz="1600" b="1">
              <a:solidFill>
                <a:srgbClr val="FF9966"/>
              </a:solidFill>
              <a:effectLst>
                <a:outerShdw blurRad="38100" dist="38100" dir="2700000" algn="tl">
                  <a:srgbClr val="000000"/>
                </a:outerShdw>
              </a:effectLst>
              <a:latin typeface="Century Schoolbook" panose="02040604050505020304" pitchFamily="18" charset="0"/>
            </a:endParaRPr>
          </a:p>
        </p:txBody>
      </p:sp>
      <p:sp>
        <p:nvSpPr>
          <p:cNvPr id="160804" name="Text Box 36"/>
          <p:cNvSpPr txBox="1">
            <a:spLocks noChangeArrowheads="1"/>
          </p:cNvSpPr>
          <p:nvPr/>
        </p:nvSpPr>
        <p:spPr bwMode="auto">
          <a:xfrm>
            <a:off x="7308850" y="4941888"/>
            <a:ext cx="1727200" cy="942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1400" b="1">
                <a:solidFill>
                  <a:srgbClr val="000000"/>
                </a:solidFill>
                <a:latin typeface="Century Schoolbook" panose="02040604050505020304" pitchFamily="18" charset="0"/>
              </a:rPr>
              <a:t>Black Liquor</a:t>
            </a:r>
          </a:p>
          <a:p>
            <a:pPr>
              <a:defRPr/>
            </a:pPr>
            <a:r>
              <a:rPr lang="en-US" altLang="en-US" sz="1400" b="1">
                <a:solidFill>
                  <a:srgbClr val="FF9966"/>
                </a:solidFill>
                <a:effectLst>
                  <a:outerShdw blurRad="38100" dist="38100" dir="2700000" algn="tl">
                    <a:srgbClr val="000000"/>
                  </a:outerShdw>
                </a:effectLst>
                <a:latin typeface="Century Schoolbook" panose="02040604050505020304" pitchFamily="18" charset="0"/>
              </a:rPr>
              <a:t>Organic (Lignin)</a:t>
            </a:r>
          </a:p>
          <a:p>
            <a:pPr>
              <a:defRPr/>
            </a:pPr>
            <a:r>
              <a:rPr lang="en-US" altLang="en-US" sz="1400" b="1">
                <a:solidFill>
                  <a:srgbClr val="FF9966"/>
                </a:solidFill>
                <a:effectLst>
                  <a:outerShdw blurRad="38100" dist="38100" dir="2700000" algn="tl">
                    <a:srgbClr val="000000"/>
                  </a:outerShdw>
                </a:effectLst>
                <a:latin typeface="Century Schoolbook" panose="02040604050505020304" pitchFamily="18" charset="0"/>
              </a:rPr>
              <a:t>Inorganic </a:t>
            </a:r>
          </a:p>
          <a:p>
            <a:pPr>
              <a:defRPr/>
            </a:pPr>
            <a:r>
              <a:rPr lang="en-US" altLang="en-US" sz="1400" b="1">
                <a:solidFill>
                  <a:srgbClr val="FF9966"/>
                </a:solidFill>
                <a:effectLst>
                  <a:outerShdw blurRad="38100" dist="38100" dir="2700000" algn="tl">
                    <a:srgbClr val="000000"/>
                  </a:outerShdw>
                </a:effectLst>
                <a:latin typeface="Century Schoolbook" panose="02040604050505020304" pitchFamily="18" charset="0"/>
              </a:rPr>
              <a:t>(Chemical)</a:t>
            </a:r>
            <a:endParaRPr lang="th-TH" altLang="en-US" sz="1400" b="1">
              <a:solidFill>
                <a:srgbClr val="FF9966"/>
              </a:solidFill>
              <a:effectLst>
                <a:outerShdw blurRad="38100" dist="38100" dir="2700000" algn="tl">
                  <a:srgbClr val="000000"/>
                </a:outerShdw>
              </a:effectLst>
              <a:latin typeface="Century Schoolbook" panose="02040604050505020304" pitchFamily="18" charset="0"/>
            </a:endParaRPr>
          </a:p>
        </p:txBody>
      </p:sp>
      <p:sp>
        <p:nvSpPr>
          <p:cNvPr id="253984" name="Oval 37"/>
          <p:cNvSpPr>
            <a:spLocks noChangeArrowheads="1"/>
          </p:cNvSpPr>
          <p:nvPr/>
        </p:nvSpPr>
        <p:spPr bwMode="auto">
          <a:xfrm>
            <a:off x="3563938" y="1341438"/>
            <a:ext cx="2232025" cy="2087562"/>
          </a:xfrm>
          <a:prstGeom prst="ellipse">
            <a:avLst/>
          </a:prstGeom>
          <a:solidFill>
            <a:schemeClr val="accent1">
              <a:alpha val="30196"/>
            </a:scheme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Tree>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Freeform 2"/>
          <p:cNvSpPr>
            <a:spLocks/>
          </p:cNvSpPr>
          <p:nvPr/>
        </p:nvSpPr>
        <p:spPr bwMode="auto">
          <a:xfrm>
            <a:off x="5594350" y="3013075"/>
            <a:ext cx="303213" cy="26988"/>
          </a:xfrm>
          <a:custGeom>
            <a:avLst/>
            <a:gdLst>
              <a:gd name="T0" fmla="*/ 2147483646 w 191"/>
              <a:gd name="T1" fmla="*/ 2147483646 h 17"/>
              <a:gd name="T2" fmla="*/ 2147483646 w 191"/>
              <a:gd name="T3" fmla="*/ 0 h 17"/>
              <a:gd name="T4" fmla="*/ 0 w 191"/>
              <a:gd name="T5" fmla="*/ 0 h 17"/>
              <a:gd name="T6" fmla="*/ 0 w 191"/>
              <a:gd name="T7" fmla="*/ 2147483646 h 17"/>
              <a:gd name="T8" fmla="*/ 2147483646 w 191"/>
              <a:gd name="T9" fmla="*/ 2147483646 h 17"/>
              <a:gd name="T10" fmla="*/ 2147483646 w 191"/>
              <a:gd name="T11" fmla="*/ 2147483646 h 1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91" h="17">
                <a:moveTo>
                  <a:pt x="191" y="9"/>
                </a:moveTo>
                <a:lnTo>
                  <a:pt x="191" y="0"/>
                </a:lnTo>
                <a:lnTo>
                  <a:pt x="0" y="0"/>
                </a:lnTo>
                <a:lnTo>
                  <a:pt x="0" y="17"/>
                </a:lnTo>
                <a:lnTo>
                  <a:pt x="191" y="17"/>
                </a:lnTo>
                <a:lnTo>
                  <a:pt x="191" y="9"/>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4979" name="Rectangle 3"/>
          <p:cNvSpPr>
            <a:spLocks noChangeArrowheads="1"/>
          </p:cNvSpPr>
          <p:nvPr/>
        </p:nvSpPr>
        <p:spPr bwMode="auto">
          <a:xfrm>
            <a:off x="5200650" y="2930525"/>
            <a:ext cx="419100" cy="1884363"/>
          </a:xfrm>
          <a:prstGeom prst="rect">
            <a:avLst/>
          </a:prstGeom>
          <a:solidFill>
            <a:srgbClr val="00FFFF"/>
          </a:solidFill>
          <a:ln w="28575">
            <a:solidFill>
              <a:schemeClr val="bg2"/>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54980" name="Freeform 4"/>
          <p:cNvSpPr>
            <a:spLocks/>
          </p:cNvSpPr>
          <p:nvPr/>
        </p:nvSpPr>
        <p:spPr bwMode="auto">
          <a:xfrm>
            <a:off x="5118100" y="4773613"/>
            <a:ext cx="576263" cy="123825"/>
          </a:xfrm>
          <a:custGeom>
            <a:avLst/>
            <a:gdLst>
              <a:gd name="T0" fmla="*/ 2147483646 w 363"/>
              <a:gd name="T1" fmla="*/ 0 h 78"/>
              <a:gd name="T2" fmla="*/ 0 w 363"/>
              <a:gd name="T3" fmla="*/ 2147483646 h 78"/>
              <a:gd name="T4" fmla="*/ 2147483646 w 363"/>
              <a:gd name="T5" fmla="*/ 2147483646 h 78"/>
              <a:gd name="T6" fmla="*/ 2147483646 w 363"/>
              <a:gd name="T7" fmla="*/ 0 h 78"/>
              <a:gd name="T8" fmla="*/ 2147483646 w 363"/>
              <a:gd name="T9" fmla="*/ 0 h 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3" h="78">
                <a:moveTo>
                  <a:pt x="44" y="0"/>
                </a:moveTo>
                <a:lnTo>
                  <a:pt x="0" y="78"/>
                </a:lnTo>
                <a:lnTo>
                  <a:pt x="363" y="78"/>
                </a:lnTo>
                <a:lnTo>
                  <a:pt x="325" y="0"/>
                </a:lnTo>
                <a:lnTo>
                  <a:pt x="44" y="0"/>
                </a:ln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4981" name="Freeform 5"/>
          <p:cNvSpPr>
            <a:spLocks/>
          </p:cNvSpPr>
          <p:nvPr/>
        </p:nvSpPr>
        <p:spPr bwMode="auto">
          <a:xfrm>
            <a:off x="5118100" y="4773613"/>
            <a:ext cx="576263" cy="123825"/>
          </a:xfrm>
          <a:custGeom>
            <a:avLst/>
            <a:gdLst>
              <a:gd name="T0" fmla="*/ 2147483646 w 363"/>
              <a:gd name="T1" fmla="*/ 0 h 78"/>
              <a:gd name="T2" fmla="*/ 0 w 363"/>
              <a:gd name="T3" fmla="*/ 2147483646 h 78"/>
              <a:gd name="T4" fmla="*/ 2147483646 w 363"/>
              <a:gd name="T5" fmla="*/ 2147483646 h 78"/>
              <a:gd name="T6" fmla="*/ 2147483646 w 363"/>
              <a:gd name="T7" fmla="*/ 0 h 78"/>
              <a:gd name="T8" fmla="*/ 2147483646 w 363"/>
              <a:gd name="T9" fmla="*/ 0 h 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3" h="78">
                <a:moveTo>
                  <a:pt x="44" y="0"/>
                </a:moveTo>
                <a:lnTo>
                  <a:pt x="0" y="78"/>
                </a:lnTo>
                <a:lnTo>
                  <a:pt x="363" y="78"/>
                </a:lnTo>
                <a:lnTo>
                  <a:pt x="325" y="0"/>
                </a:lnTo>
                <a:lnTo>
                  <a:pt x="44" y="0"/>
                </a:lnTo>
              </a:path>
            </a:pathLst>
          </a:custGeom>
          <a:noFill/>
          <a:ln w="1746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4982" name="Freeform 6"/>
          <p:cNvSpPr>
            <a:spLocks/>
          </p:cNvSpPr>
          <p:nvPr/>
        </p:nvSpPr>
        <p:spPr bwMode="auto">
          <a:xfrm>
            <a:off x="5105400" y="5653088"/>
            <a:ext cx="595313" cy="268287"/>
          </a:xfrm>
          <a:custGeom>
            <a:avLst/>
            <a:gdLst>
              <a:gd name="T0" fmla="*/ 2147483646 w 375"/>
              <a:gd name="T1" fmla="*/ 0 h 169"/>
              <a:gd name="T2" fmla="*/ 2147483646 w 375"/>
              <a:gd name="T3" fmla="*/ 2147483646 h 169"/>
              <a:gd name="T4" fmla="*/ 2147483646 w 375"/>
              <a:gd name="T5" fmla="*/ 2147483646 h 169"/>
              <a:gd name="T6" fmla="*/ 2147483646 w 375"/>
              <a:gd name="T7" fmla="*/ 2147483646 h 169"/>
              <a:gd name="T8" fmla="*/ 2147483646 w 375"/>
              <a:gd name="T9" fmla="*/ 2147483646 h 169"/>
              <a:gd name="T10" fmla="*/ 2147483646 w 375"/>
              <a:gd name="T11" fmla="*/ 2147483646 h 169"/>
              <a:gd name="T12" fmla="*/ 2147483646 w 375"/>
              <a:gd name="T13" fmla="*/ 2147483646 h 169"/>
              <a:gd name="T14" fmla="*/ 2147483646 w 375"/>
              <a:gd name="T15" fmla="*/ 2147483646 h 169"/>
              <a:gd name="T16" fmla="*/ 2147483646 w 375"/>
              <a:gd name="T17" fmla="*/ 2147483646 h 169"/>
              <a:gd name="T18" fmla="*/ 2147483646 w 375"/>
              <a:gd name="T19" fmla="*/ 2147483646 h 169"/>
              <a:gd name="T20" fmla="*/ 2147483646 w 375"/>
              <a:gd name="T21" fmla="*/ 2147483646 h 169"/>
              <a:gd name="T22" fmla="*/ 2147483646 w 375"/>
              <a:gd name="T23" fmla="*/ 2147483646 h 169"/>
              <a:gd name="T24" fmla="*/ 2147483646 w 375"/>
              <a:gd name="T25" fmla="*/ 2147483646 h 169"/>
              <a:gd name="T26" fmla="*/ 2147483646 w 375"/>
              <a:gd name="T27" fmla="*/ 2147483646 h 169"/>
              <a:gd name="T28" fmla="*/ 2147483646 w 375"/>
              <a:gd name="T29" fmla="*/ 2147483646 h 169"/>
              <a:gd name="T30" fmla="*/ 2147483646 w 375"/>
              <a:gd name="T31" fmla="*/ 2147483646 h 169"/>
              <a:gd name="T32" fmla="*/ 2147483646 w 375"/>
              <a:gd name="T33" fmla="*/ 2147483646 h 169"/>
              <a:gd name="T34" fmla="*/ 2147483646 w 375"/>
              <a:gd name="T35" fmla="*/ 2147483646 h 169"/>
              <a:gd name="T36" fmla="*/ 2147483646 w 375"/>
              <a:gd name="T37" fmla="*/ 2147483646 h 169"/>
              <a:gd name="T38" fmla="*/ 2147483646 w 375"/>
              <a:gd name="T39" fmla="*/ 2147483646 h 169"/>
              <a:gd name="T40" fmla="*/ 2147483646 w 375"/>
              <a:gd name="T41" fmla="*/ 2147483646 h 169"/>
              <a:gd name="T42" fmla="*/ 2147483646 w 375"/>
              <a:gd name="T43" fmla="*/ 2147483646 h 169"/>
              <a:gd name="T44" fmla="*/ 2147483646 w 375"/>
              <a:gd name="T45" fmla="*/ 2147483646 h 169"/>
              <a:gd name="T46" fmla="*/ 2147483646 w 375"/>
              <a:gd name="T47" fmla="*/ 2147483646 h 169"/>
              <a:gd name="T48" fmla="*/ 2147483646 w 375"/>
              <a:gd name="T49" fmla="*/ 2147483646 h 169"/>
              <a:gd name="T50" fmla="*/ 2147483646 w 375"/>
              <a:gd name="T51" fmla="*/ 2147483646 h 169"/>
              <a:gd name="T52" fmla="*/ 2147483646 w 375"/>
              <a:gd name="T53" fmla="*/ 2147483646 h 169"/>
              <a:gd name="T54" fmla="*/ 2147483646 w 375"/>
              <a:gd name="T55" fmla="*/ 2147483646 h 169"/>
              <a:gd name="T56" fmla="*/ 2147483646 w 375"/>
              <a:gd name="T57" fmla="*/ 2147483646 h 169"/>
              <a:gd name="T58" fmla="*/ 2147483646 w 375"/>
              <a:gd name="T59" fmla="*/ 2147483646 h 169"/>
              <a:gd name="T60" fmla="*/ 2147483646 w 375"/>
              <a:gd name="T61" fmla="*/ 2147483646 h 169"/>
              <a:gd name="T62" fmla="*/ 0 w 375"/>
              <a:gd name="T63" fmla="*/ 2147483646 h 169"/>
              <a:gd name="T64" fmla="*/ 0 w 375"/>
              <a:gd name="T65" fmla="*/ 2147483646 h 169"/>
              <a:gd name="T66" fmla="*/ 2147483646 w 375"/>
              <a:gd name="T67" fmla="*/ 0 h 16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75" h="169">
                <a:moveTo>
                  <a:pt x="375" y="0"/>
                </a:moveTo>
                <a:lnTo>
                  <a:pt x="372" y="16"/>
                </a:lnTo>
                <a:lnTo>
                  <a:pt x="369" y="36"/>
                </a:lnTo>
                <a:lnTo>
                  <a:pt x="364" y="50"/>
                </a:lnTo>
                <a:lnTo>
                  <a:pt x="358" y="66"/>
                </a:lnTo>
                <a:lnTo>
                  <a:pt x="350" y="80"/>
                </a:lnTo>
                <a:lnTo>
                  <a:pt x="339" y="94"/>
                </a:lnTo>
                <a:lnTo>
                  <a:pt x="328" y="108"/>
                </a:lnTo>
                <a:lnTo>
                  <a:pt x="317" y="119"/>
                </a:lnTo>
                <a:lnTo>
                  <a:pt x="303" y="130"/>
                </a:lnTo>
                <a:lnTo>
                  <a:pt x="289" y="141"/>
                </a:lnTo>
                <a:lnTo>
                  <a:pt x="272" y="149"/>
                </a:lnTo>
                <a:lnTo>
                  <a:pt x="258" y="155"/>
                </a:lnTo>
                <a:lnTo>
                  <a:pt x="239" y="160"/>
                </a:lnTo>
                <a:lnTo>
                  <a:pt x="222" y="166"/>
                </a:lnTo>
                <a:lnTo>
                  <a:pt x="206" y="169"/>
                </a:lnTo>
                <a:lnTo>
                  <a:pt x="186" y="169"/>
                </a:lnTo>
                <a:lnTo>
                  <a:pt x="167" y="169"/>
                </a:lnTo>
                <a:lnTo>
                  <a:pt x="150" y="166"/>
                </a:lnTo>
                <a:lnTo>
                  <a:pt x="133" y="160"/>
                </a:lnTo>
                <a:lnTo>
                  <a:pt x="117" y="155"/>
                </a:lnTo>
                <a:lnTo>
                  <a:pt x="100" y="149"/>
                </a:lnTo>
                <a:lnTo>
                  <a:pt x="86" y="141"/>
                </a:lnTo>
                <a:lnTo>
                  <a:pt x="72" y="130"/>
                </a:lnTo>
                <a:lnTo>
                  <a:pt x="58" y="122"/>
                </a:lnTo>
                <a:lnTo>
                  <a:pt x="44" y="108"/>
                </a:lnTo>
                <a:lnTo>
                  <a:pt x="33" y="97"/>
                </a:lnTo>
                <a:lnTo>
                  <a:pt x="25" y="83"/>
                </a:lnTo>
                <a:lnTo>
                  <a:pt x="17" y="66"/>
                </a:lnTo>
                <a:lnTo>
                  <a:pt x="11" y="52"/>
                </a:lnTo>
                <a:lnTo>
                  <a:pt x="6" y="36"/>
                </a:lnTo>
                <a:lnTo>
                  <a:pt x="0" y="19"/>
                </a:lnTo>
                <a:lnTo>
                  <a:pt x="0" y="2"/>
                </a:lnTo>
                <a:lnTo>
                  <a:pt x="375" y="0"/>
                </a:lnTo>
                <a:close/>
              </a:path>
            </a:pathLst>
          </a:custGeom>
          <a:solidFill>
            <a:srgbClr val="00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4983" name="Freeform 7"/>
          <p:cNvSpPr>
            <a:spLocks/>
          </p:cNvSpPr>
          <p:nvPr/>
        </p:nvSpPr>
        <p:spPr bwMode="auto">
          <a:xfrm>
            <a:off x="5105400" y="5653088"/>
            <a:ext cx="595313" cy="268287"/>
          </a:xfrm>
          <a:custGeom>
            <a:avLst/>
            <a:gdLst>
              <a:gd name="T0" fmla="*/ 2147483646 w 375"/>
              <a:gd name="T1" fmla="*/ 0 h 169"/>
              <a:gd name="T2" fmla="*/ 2147483646 w 375"/>
              <a:gd name="T3" fmla="*/ 2147483646 h 169"/>
              <a:gd name="T4" fmla="*/ 2147483646 w 375"/>
              <a:gd name="T5" fmla="*/ 2147483646 h 169"/>
              <a:gd name="T6" fmla="*/ 2147483646 w 375"/>
              <a:gd name="T7" fmla="*/ 2147483646 h 169"/>
              <a:gd name="T8" fmla="*/ 2147483646 w 375"/>
              <a:gd name="T9" fmla="*/ 2147483646 h 169"/>
              <a:gd name="T10" fmla="*/ 2147483646 w 375"/>
              <a:gd name="T11" fmla="*/ 2147483646 h 169"/>
              <a:gd name="T12" fmla="*/ 2147483646 w 375"/>
              <a:gd name="T13" fmla="*/ 2147483646 h 169"/>
              <a:gd name="T14" fmla="*/ 2147483646 w 375"/>
              <a:gd name="T15" fmla="*/ 2147483646 h 169"/>
              <a:gd name="T16" fmla="*/ 2147483646 w 375"/>
              <a:gd name="T17" fmla="*/ 2147483646 h 169"/>
              <a:gd name="T18" fmla="*/ 2147483646 w 375"/>
              <a:gd name="T19" fmla="*/ 2147483646 h 169"/>
              <a:gd name="T20" fmla="*/ 2147483646 w 375"/>
              <a:gd name="T21" fmla="*/ 2147483646 h 169"/>
              <a:gd name="T22" fmla="*/ 2147483646 w 375"/>
              <a:gd name="T23" fmla="*/ 2147483646 h 169"/>
              <a:gd name="T24" fmla="*/ 2147483646 w 375"/>
              <a:gd name="T25" fmla="*/ 2147483646 h 169"/>
              <a:gd name="T26" fmla="*/ 2147483646 w 375"/>
              <a:gd name="T27" fmla="*/ 2147483646 h 169"/>
              <a:gd name="T28" fmla="*/ 2147483646 w 375"/>
              <a:gd name="T29" fmla="*/ 2147483646 h 169"/>
              <a:gd name="T30" fmla="*/ 2147483646 w 375"/>
              <a:gd name="T31" fmla="*/ 2147483646 h 169"/>
              <a:gd name="T32" fmla="*/ 2147483646 w 375"/>
              <a:gd name="T33" fmla="*/ 2147483646 h 169"/>
              <a:gd name="T34" fmla="*/ 2147483646 w 375"/>
              <a:gd name="T35" fmla="*/ 2147483646 h 169"/>
              <a:gd name="T36" fmla="*/ 2147483646 w 375"/>
              <a:gd name="T37" fmla="*/ 2147483646 h 169"/>
              <a:gd name="T38" fmla="*/ 2147483646 w 375"/>
              <a:gd name="T39" fmla="*/ 2147483646 h 169"/>
              <a:gd name="T40" fmla="*/ 2147483646 w 375"/>
              <a:gd name="T41" fmla="*/ 2147483646 h 169"/>
              <a:gd name="T42" fmla="*/ 2147483646 w 375"/>
              <a:gd name="T43" fmla="*/ 2147483646 h 169"/>
              <a:gd name="T44" fmla="*/ 2147483646 w 375"/>
              <a:gd name="T45" fmla="*/ 2147483646 h 169"/>
              <a:gd name="T46" fmla="*/ 2147483646 w 375"/>
              <a:gd name="T47" fmla="*/ 2147483646 h 169"/>
              <a:gd name="T48" fmla="*/ 2147483646 w 375"/>
              <a:gd name="T49" fmla="*/ 2147483646 h 169"/>
              <a:gd name="T50" fmla="*/ 2147483646 w 375"/>
              <a:gd name="T51" fmla="*/ 2147483646 h 169"/>
              <a:gd name="T52" fmla="*/ 2147483646 w 375"/>
              <a:gd name="T53" fmla="*/ 2147483646 h 169"/>
              <a:gd name="T54" fmla="*/ 2147483646 w 375"/>
              <a:gd name="T55" fmla="*/ 2147483646 h 169"/>
              <a:gd name="T56" fmla="*/ 2147483646 w 375"/>
              <a:gd name="T57" fmla="*/ 2147483646 h 169"/>
              <a:gd name="T58" fmla="*/ 2147483646 w 375"/>
              <a:gd name="T59" fmla="*/ 2147483646 h 169"/>
              <a:gd name="T60" fmla="*/ 2147483646 w 375"/>
              <a:gd name="T61" fmla="*/ 2147483646 h 169"/>
              <a:gd name="T62" fmla="*/ 0 w 375"/>
              <a:gd name="T63" fmla="*/ 2147483646 h 169"/>
              <a:gd name="T64" fmla="*/ 0 w 375"/>
              <a:gd name="T65" fmla="*/ 2147483646 h 169"/>
              <a:gd name="T66" fmla="*/ 2147483646 w 375"/>
              <a:gd name="T67" fmla="*/ 0 h 16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75" h="169">
                <a:moveTo>
                  <a:pt x="375" y="0"/>
                </a:moveTo>
                <a:lnTo>
                  <a:pt x="372" y="16"/>
                </a:lnTo>
                <a:lnTo>
                  <a:pt x="369" y="36"/>
                </a:lnTo>
                <a:lnTo>
                  <a:pt x="364" y="50"/>
                </a:lnTo>
                <a:lnTo>
                  <a:pt x="358" y="66"/>
                </a:lnTo>
                <a:lnTo>
                  <a:pt x="350" y="80"/>
                </a:lnTo>
                <a:lnTo>
                  <a:pt x="339" y="94"/>
                </a:lnTo>
                <a:lnTo>
                  <a:pt x="328" y="108"/>
                </a:lnTo>
                <a:lnTo>
                  <a:pt x="317" y="119"/>
                </a:lnTo>
                <a:lnTo>
                  <a:pt x="303" y="130"/>
                </a:lnTo>
                <a:lnTo>
                  <a:pt x="289" y="141"/>
                </a:lnTo>
                <a:lnTo>
                  <a:pt x="272" y="149"/>
                </a:lnTo>
                <a:lnTo>
                  <a:pt x="258" y="155"/>
                </a:lnTo>
                <a:lnTo>
                  <a:pt x="239" y="160"/>
                </a:lnTo>
                <a:lnTo>
                  <a:pt x="222" y="166"/>
                </a:lnTo>
                <a:lnTo>
                  <a:pt x="206" y="169"/>
                </a:lnTo>
                <a:lnTo>
                  <a:pt x="186" y="169"/>
                </a:lnTo>
                <a:lnTo>
                  <a:pt x="167" y="169"/>
                </a:lnTo>
                <a:lnTo>
                  <a:pt x="150" y="166"/>
                </a:lnTo>
                <a:lnTo>
                  <a:pt x="133" y="160"/>
                </a:lnTo>
                <a:lnTo>
                  <a:pt x="117" y="155"/>
                </a:lnTo>
                <a:lnTo>
                  <a:pt x="100" y="149"/>
                </a:lnTo>
                <a:lnTo>
                  <a:pt x="86" y="141"/>
                </a:lnTo>
                <a:lnTo>
                  <a:pt x="72" y="130"/>
                </a:lnTo>
                <a:lnTo>
                  <a:pt x="58" y="122"/>
                </a:lnTo>
                <a:lnTo>
                  <a:pt x="44" y="108"/>
                </a:lnTo>
                <a:lnTo>
                  <a:pt x="33" y="97"/>
                </a:lnTo>
                <a:lnTo>
                  <a:pt x="25" y="83"/>
                </a:lnTo>
                <a:lnTo>
                  <a:pt x="17" y="66"/>
                </a:lnTo>
                <a:lnTo>
                  <a:pt x="11" y="52"/>
                </a:lnTo>
                <a:lnTo>
                  <a:pt x="6" y="36"/>
                </a:lnTo>
                <a:lnTo>
                  <a:pt x="0" y="19"/>
                </a:lnTo>
                <a:lnTo>
                  <a:pt x="0" y="2"/>
                </a:lnTo>
                <a:lnTo>
                  <a:pt x="375" y="0"/>
                </a:lnTo>
              </a:path>
            </a:pathLst>
          </a:custGeom>
          <a:noFill/>
          <a:ln w="1746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4984" name="Freeform 8"/>
          <p:cNvSpPr>
            <a:spLocks/>
          </p:cNvSpPr>
          <p:nvPr/>
        </p:nvSpPr>
        <p:spPr bwMode="auto">
          <a:xfrm>
            <a:off x="3808413" y="2781300"/>
            <a:ext cx="22225" cy="17463"/>
          </a:xfrm>
          <a:custGeom>
            <a:avLst/>
            <a:gdLst>
              <a:gd name="T0" fmla="*/ 2147483646 w 14"/>
              <a:gd name="T1" fmla="*/ 2147483646 h 11"/>
              <a:gd name="T2" fmla="*/ 2147483646 w 14"/>
              <a:gd name="T3" fmla="*/ 2147483646 h 11"/>
              <a:gd name="T4" fmla="*/ 2147483646 w 14"/>
              <a:gd name="T5" fmla="*/ 0 h 11"/>
              <a:gd name="T6" fmla="*/ 2147483646 w 14"/>
              <a:gd name="T7" fmla="*/ 0 h 11"/>
              <a:gd name="T8" fmla="*/ 2147483646 w 14"/>
              <a:gd name="T9" fmla="*/ 0 h 11"/>
              <a:gd name="T10" fmla="*/ 2147483646 w 14"/>
              <a:gd name="T11" fmla="*/ 0 h 11"/>
              <a:gd name="T12" fmla="*/ 0 w 14"/>
              <a:gd name="T13" fmla="*/ 0 h 11"/>
              <a:gd name="T14" fmla="*/ 0 w 14"/>
              <a:gd name="T15" fmla="*/ 2147483646 h 11"/>
              <a:gd name="T16" fmla="*/ 2147483646 w 14"/>
              <a:gd name="T17" fmla="*/ 2147483646 h 11"/>
              <a:gd name="T18" fmla="*/ 2147483646 w 14"/>
              <a:gd name="T19" fmla="*/ 2147483646 h 11"/>
              <a:gd name="T20" fmla="*/ 2147483646 w 14"/>
              <a:gd name="T21" fmla="*/ 2147483646 h 11"/>
              <a:gd name="T22" fmla="*/ 2147483646 w 14"/>
              <a:gd name="T23" fmla="*/ 2147483646 h 11"/>
              <a:gd name="T24" fmla="*/ 2147483646 w 14"/>
              <a:gd name="T25" fmla="*/ 2147483646 h 11"/>
              <a:gd name="T26" fmla="*/ 2147483646 w 14"/>
              <a:gd name="T27" fmla="*/ 2147483646 h 11"/>
              <a:gd name="T28" fmla="*/ 2147483646 w 14"/>
              <a:gd name="T29" fmla="*/ 2147483646 h 1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4" h="11">
                <a:moveTo>
                  <a:pt x="3" y="5"/>
                </a:moveTo>
                <a:lnTo>
                  <a:pt x="3" y="2"/>
                </a:lnTo>
                <a:lnTo>
                  <a:pt x="5" y="0"/>
                </a:lnTo>
                <a:lnTo>
                  <a:pt x="8" y="0"/>
                </a:lnTo>
                <a:lnTo>
                  <a:pt x="5" y="0"/>
                </a:lnTo>
                <a:lnTo>
                  <a:pt x="3" y="0"/>
                </a:lnTo>
                <a:lnTo>
                  <a:pt x="0" y="0"/>
                </a:lnTo>
                <a:lnTo>
                  <a:pt x="0" y="11"/>
                </a:lnTo>
                <a:lnTo>
                  <a:pt x="3" y="11"/>
                </a:lnTo>
                <a:lnTo>
                  <a:pt x="5" y="11"/>
                </a:lnTo>
                <a:lnTo>
                  <a:pt x="8" y="11"/>
                </a:lnTo>
                <a:lnTo>
                  <a:pt x="11" y="11"/>
                </a:lnTo>
                <a:lnTo>
                  <a:pt x="14" y="8"/>
                </a:lnTo>
                <a:lnTo>
                  <a:pt x="14" y="5"/>
                </a:lnTo>
                <a:lnTo>
                  <a:pt x="3"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4985" name="Freeform 9"/>
          <p:cNvSpPr>
            <a:spLocks/>
          </p:cNvSpPr>
          <p:nvPr/>
        </p:nvSpPr>
        <p:spPr bwMode="auto">
          <a:xfrm>
            <a:off x="3614738" y="2781300"/>
            <a:ext cx="17462" cy="17463"/>
          </a:xfrm>
          <a:custGeom>
            <a:avLst/>
            <a:gdLst>
              <a:gd name="T0" fmla="*/ 2147483646 w 11"/>
              <a:gd name="T1" fmla="*/ 0 h 11"/>
              <a:gd name="T2" fmla="*/ 0 w 11"/>
              <a:gd name="T3" fmla="*/ 2147483646 h 11"/>
              <a:gd name="T4" fmla="*/ 2147483646 w 11"/>
              <a:gd name="T5" fmla="*/ 2147483646 h 11"/>
              <a:gd name="T6" fmla="*/ 2147483646 w 11"/>
              <a:gd name="T7" fmla="*/ 2147483646 h 11"/>
              <a:gd name="T8" fmla="*/ 2147483646 w 11"/>
              <a:gd name="T9" fmla="*/ 2147483646 h 11"/>
              <a:gd name="T10" fmla="*/ 2147483646 w 11"/>
              <a:gd name="T11" fmla="*/ 2147483646 h 11"/>
              <a:gd name="T12" fmla="*/ 2147483646 w 11"/>
              <a:gd name="T13" fmla="*/ 2147483646 h 11"/>
              <a:gd name="T14" fmla="*/ 0 w 11"/>
              <a:gd name="T15" fmla="*/ 2147483646 h 11"/>
              <a:gd name="T16" fmla="*/ 0 w 11"/>
              <a:gd name="T17" fmla="*/ 2147483646 h 11"/>
              <a:gd name="T18" fmla="*/ 2147483646 w 11"/>
              <a:gd name="T19" fmla="*/ 2147483646 h 11"/>
              <a:gd name="T20" fmla="*/ 2147483646 w 11"/>
              <a:gd name="T21" fmla="*/ 0 h 11"/>
              <a:gd name="T22" fmla="*/ 2147483646 w 11"/>
              <a:gd name="T23" fmla="*/ 0 h 11"/>
              <a:gd name="T24" fmla="*/ 2147483646 w 11"/>
              <a:gd name="T25" fmla="*/ 0 h 11"/>
              <a:gd name="T26" fmla="*/ 2147483646 w 11"/>
              <a:gd name="T27" fmla="*/ 2147483646 h 11"/>
              <a:gd name="T28" fmla="*/ 2147483646 w 11"/>
              <a:gd name="T29" fmla="*/ 0 h 1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1" h="11">
                <a:moveTo>
                  <a:pt x="2" y="0"/>
                </a:moveTo>
                <a:lnTo>
                  <a:pt x="0" y="11"/>
                </a:lnTo>
                <a:lnTo>
                  <a:pt x="2" y="11"/>
                </a:lnTo>
                <a:lnTo>
                  <a:pt x="5" y="11"/>
                </a:lnTo>
                <a:lnTo>
                  <a:pt x="8" y="11"/>
                </a:lnTo>
                <a:lnTo>
                  <a:pt x="11" y="8"/>
                </a:lnTo>
                <a:lnTo>
                  <a:pt x="11" y="5"/>
                </a:lnTo>
                <a:lnTo>
                  <a:pt x="0" y="5"/>
                </a:lnTo>
                <a:lnTo>
                  <a:pt x="0" y="2"/>
                </a:lnTo>
                <a:lnTo>
                  <a:pt x="2" y="2"/>
                </a:lnTo>
                <a:lnTo>
                  <a:pt x="2" y="0"/>
                </a:lnTo>
                <a:lnTo>
                  <a:pt x="5" y="0"/>
                </a:lnTo>
                <a:lnTo>
                  <a:pt x="2" y="0"/>
                </a:lnTo>
                <a:lnTo>
                  <a:pt x="2" y="11"/>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254986" name="Group 10"/>
          <p:cNvGrpSpPr>
            <a:grpSpLocks/>
          </p:cNvGrpSpPr>
          <p:nvPr/>
        </p:nvGrpSpPr>
        <p:grpSpPr bwMode="auto">
          <a:xfrm>
            <a:off x="5181600" y="1995488"/>
            <a:ext cx="457200" cy="941387"/>
            <a:chOff x="3307" y="1391"/>
            <a:chExt cx="194" cy="593"/>
          </a:xfrm>
        </p:grpSpPr>
        <p:sp>
          <p:nvSpPr>
            <p:cNvPr id="255132" name="Rectangle 11"/>
            <p:cNvSpPr>
              <a:spLocks noChangeArrowheads="1"/>
            </p:cNvSpPr>
            <p:nvPr/>
          </p:nvSpPr>
          <p:spPr bwMode="auto">
            <a:xfrm>
              <a:off x="3343" y="1460"/>
              <a:ext cx="122" cy="474"/>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55133" name="Rectangle 12"/>
            <p:cNvSpPr>
              <a:spLocks noChangeArrowheads="1"/>
            </p:cNvSpPr>
            <p:nvPr/>
          </p:nvSpPr>
          <p:spPr bwMode="auto">
            <a:xfrm>
              <a:off x="3343" y="1460"/>
              <a:ext cx="122" cy="474"/>
            </a:xfrm>
            <a:prstGeom prst="rect">
              <a:avLst/>
            </a:prstGeom>
            <a:noFill/>
            <a:ln w="174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55134" name="Freeform 13"/>
            <p:cNvSpPr>
              <a:spLocks/>
            </p:cNvSpPr>
            <p:nvPr/>
          </p:nvSpPr>
          <p:spPr bwMode="auto">
            <a:xfrm>
              <a:off x="3312" y="1934"/>
              <a:ext cx="184" cy="44"/>
            </a:xfrm>
            <a:custGeom>
              <a:avLst/>
              <a:gdLst>
                <a:gd name="T0" fmla="*/ 34 w 184"/>
                <a:gd name="T1" fmla="*/ 0 h 44"/>
                <a:gd name="T2" fmla="*/ 0 w 184"/>
                <a:gd name="T3" fmla="*/ 44 h 44"/>
                <a:gd name="T4" fmla="*/ 184 w 184"/>
                <a:gd name="T5" fmla="*/ 44 h 44"/>
                <a:gd name="T6" fmla="*/ 156 w 184"/>
                <a:gd name="T7" fmla="*/ 0 h 44"/>
                <a:gd name="T8" fmla="*/ 34 w 18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44">
                  <a:moveTo>
                    <a:pt x="34" y="0"/>
                  </a:moveTo>
                  <a:lnTo>
                    <a:pt x="0" y="44"/>
                  </a:lnTo>
                  <a:lnTo>
                    <a:pt x="184" y="44"/>
                  </a:lnTo>
                  <a:lnTo>
                    <a:pt x="156" y="0"/>
                  </a:lnTo>
                  <a:lnTo>
                    <a:pt x="34" y="0"/>
                  </a:ln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135" name="Freeform 14"/>
            <p:cNvSpPr>
              <a:spLocks/>
            </p:cNvSpPr>
            <p:nvPr/>
          </p:nvSpPr>
          <p:spPr bwMode="auto">
            <a:xfrm>
              <a:off x="3307" y="1931"/>
              <a:ext cx="42" cy="53"/>
            </a:xfrm>
            <a:custGeom>
              <a:avLst/>
              <a:gdLst>
                <a:gd name="T0" fmla="*/ 5 w 42"/>
                <a:gd name="T1" fmla="*/ 42 h 53"/>
                <a:gd name="T2" fmla="*/ 11 w 42"/>
                <a:gd name="T3" fmla="*/ 53 h 53"/>
                <a:gd name="T4" fmla="*/ 42 w 42"/>
                <a:gd name="T5" fmla="*/ 5 h 53"/>
                <a:gd name="T6" fmla="*/ 33 w 42"/>
                <a:gd name="T7" fmla="*/ 0 h 53"/>
                <a:gd name="T8" fmla="*/ 0 w 42"/>
                <a:gd name="T9" fmla="*/ 44 h 53"/>
                <a:gd name="T10" fmla="*/ 5 w 42"/>
                <a:gd name="T11" fmla="*/ 53 h 53"/>
                <a:gd name="T12" fmla="*/ 0 w 42"/>
                <a:gd name="T13" fmla="*/ 44 h 53"/>
                <a:gd name="T14" fmla="*/ 0 w 42"/>
                <a:gd name="T15" fmla="*/ 47 h 53"/>
                <a:gd name="T16" fmla="*/ 0 w 42"/>
                <a:gd name="T17" fmla="*/ 50 h 53"/>
                <a:gd name="T18" fmla="*/ 0 w 42"/>
                <a:gd name="T19" fmla="*/ 53 h 53"/>
                <a:gd name="T20" fmla="*/ 3 w 42"/>
                <a:gd name="T21" fmla="*/ 53 h 53"/>
                <a:gd name="T22" fmla="*/ 5 w 42"/>
                <a:gd name="T23" fmla="*/ 53 h 53"/>
                <a:gd name="T24" fmla="*/ 8 w 42"/>
                <a:gd name="T25" fmla="*/ 53 h 53"/>
                <a:gd name="T26" fmla="*/ 11 w 42"/>
                <a:gd name="T27" fmla="*/ 53 h 53"/>
                <a:gd name="T28" fmla="*/ 5 w 42"/>
                <a:gd name="T29" fmla="*/ 42 h 5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42" h="53">
                  <a:moveTo>
                    <a:pt x="5" y="42"/>
                  </a:moveTo>
                  <a:lnTo>
                    <a:pt x="11" y="53"/>
                  </a:lnTo>
                  <a:lnTo>
                    <a:pt x="42" y="5"/>
                  </a:lnTo>
                  <a:lnTo>
                    <a:pt x="33" y="0"/>
                  </a:lnTo>
                  <a:lnTo>
                    <a:pt x="0" y="44"/>
                  </a:lnTo>
                  <a:lnTo>
                    <a:pt x="5" y="53"/>
                  </a:lnTo>
                  <a:lnTo>
                    <a:pt x="0" y="44"/>
                  </a:lnTo>
                  <a:lnTo>
                    <a:pt x="0" y="47"/>
                  </a:lnTo>
                  <a:lnTo>
                    <a:pt x="0" y="50"/>
                  </a:lnTo>
                  <a:lnTo>
                    <a:pt x="0" y="53"/>
                  </a:lnTo>
                  <a:lnTo>
                    <a:pt x="3" y="53"/>
                  </a:lnTo>
                  <a:lnTo>
                    <a:pt x="5" y="53"/>
                  </a:lnTo>
                  <a:lnTo>
                    <a:pt x="8" y="53"/>
                  </a:lnTo>
                  <a:lnTo>
                    <a:pt x="11" y="53"/>
                  </a:lnTo>
                  <a:lnTo>
                    <a:pt x="5" y="4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136" name="Freeform 15"/>
            <p:cNvSpPr>
              <a:spLocks/>
            </p:cNvSpPr>
            <p:nvPr/>
          </p:nvSpPr>
          <p:spPr bwMode="auto">
            <a:xfrm>
              <a:off x="3312" y="1973"/>
              <a:ext cx="189" cy="11"/>
            </a:xfrm>
            <a:custGeom>
              <a:avLst/>
              <a:gdLst>
                <a:gd name="T0" fmla="*/ 181 w 189"/>
                <a:gd name="T1" fmla="*/ 8 h 11"/>
                <a:gd name="T2" fmla="*/ 184 w 189"/>
                <a:gd name="T3" fmla="*/ 0 h 11"/>
                <a:gd name="T4" fmla="*/ 0 w 189"/>
                <a:gd name="T5" fmla="*/ 0 h 11"/>
                <a:gd name="T6" fmla="*/ 0 w 189"/>
                <a:gd name="T7" fmla="*/ 11 h 11"/>
                <a:gd name="T8" fmla="*/ 184 w 189"/>
                <a:gd name="T9" fmla="*/ 11 h 11"/>
                <a:gd name="T10" fmla="*/ 189 w 189"/>
                <a:gd name="T11" fmla="*/ 2 h 11"/>
                <a:gd name="T12" fmla="*/ 184 w 189"/>
                <a:gd name="T13" fmla="*/ 11 h 11"/>
                <a:gd name="T14" fmla="*/ 187 w 189"/>
                <a:gd name="T15" fmla="*/ 11 h 11"/>
                <a:gd name="T16" fmla="*/ 189 w 189"/>
                <a:gd name="T17" fmla="*/ 11 h 11"/>
                <a:gd name="T18" fmla="*/ 189 w 189"/>
                <a:gd name="T19" fmla="*/ 8 h 11"/>
                <a:gd name="T20" fmla="*/ 189 w 189"/>
                <a:gd name="T21" fmla="*/ 5 h 11"/>
                <a:gd name="T22" fmla="*/ 189 w 189"/>
                <a:gd name="T23" fmla="*/ 2 h 11"/>
                <a:gd name="T24" fmla="*/ 187 w 189"/>
                <a:gd name="T25" fmla="*/ 0 h 11"/>
                <a:gd name="T26" fmla="*/ 184 w 189"/>
                <a:gd name="T27" fmla="*/ 0 h 11"/>
                <a:gd name="T28" fmla="*/ 181 w 189"/>
                <a:gd name="T29" fmla="*/ 8 h 1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89" h="11">
                  <a:moveTo>
                    <a:pt x="181" y="8"/>
                  </a:moveTo>
                  <a:lnTo>
                    <a:pt x="184" y="0"/>
                  </a:lnTo>
                  <a:lnTo>
                    <a:pt x="0" y="0"/>
                  </a:lnTo>
                  <a:lnTo>
                    <a:pt x="0" y="11"/>
                  </a:lnTo>
                  <a:lnTo>
                    <a:pt x="184" y="11"/>
                  </a:lnTo>
                  <a:lnTo>
                    <a:pt x="189" y="2"/>
                  </a:lnTo>
                  <a:lnTo>
                    <a:pt x="184" y="11"/>
                  </a:lnTo>
                  <a:lnTo>
                    <a:pt x="187" y="11"/>
                  </a:lnTo>
                  <a:lnTo>
                    <a:pt x="189" y="11"/>
                  </a:lnTo>
                  <a:lnTo>
                    <a:pt x="189" y="8"/>
                  </a:lnTo>
                  <a:lnTo>
                    <a:pt x="189" y="5"/>
                  </a:lnTo>
                  <a:lnTo>
                    <a:pt x="189" y="2"/>
                  </a:lnTo>
                  <a:lnTo>
                    <a:pt x="187" y="0"/>
                  </a:lnTo>
                  <a:lnTo>
                    <a:pt x="184" y="0"/>
                  </a:lnTo>
                  <a:lnTo>
                    <a:pt x="18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137" name="Freeform 16"/>
            <p:cNvSpPr>
              <a:spLocks/>
            </p:cNvSpPr>
            <p:nvPr/>
          </p:nvSpPr>
          <p:spPr bwMode="auto">
            <a:xfrm>
              <a:off x="3462" y="1928"/>
              <a:ext cx="39" cy="53"/>
            </a:xfrm>
            <a:custGeom>
              <a:avLst/>
              <a:gdLst>
                <a:gd name="T0" fmla="*/ 6 w 39"/>
                <a:gd name="T1" fmla="*/ 11 h 53"/>
                <a:gd name="T2" fmla="*/ 3 w 39"/>
                <a:gd name="T3" fmla="*/ 8 h 53"/>
                <a:gd name="T4" fmla="*/ 31 w 39"/>
                <a:gd name="T5" fmla="*/ 53 h 53"/>
                <a:gd name="T6" fmla="*/ 39 w 39"/>
                <a:gd name="T7" fmla="*/ 47 h 53"/>
                <a:gd name="T8" fmla="*/ 12 w 39"/>
                <a:gd name="T9" fmla="*/ 3 h 53"/>
                <a:gd name="T10" fmla="*/ 6 w 39"/>
                <a:gd name="T11" fmla="*/ 0 h 53"/>
                <a:gd name="T12" fmla="*/ 12 w 39"/>
                <a:gd name="T13" fmla="*/ 3 h 53"/>
                <a:gd name="T14" fmla="*/ 9 w 39"/>
                <a:gd name="T15" fmla="*/ 0 h 53"/>
                <a:gd name="T16" fmla="*/ 6 w 39"/>
                <a:gd name="T17" fmla="*/ 0 h 53"/>
                <a:gd name="T18" fmla="*/ 3 w 39"/>
                <a:gd name="T19" fmla="*/ 0 h 53"/>
                <a:gd name="T20" fmla="*/ 3 w 39"/>
                <a:gd name="T21" fmla="*/ 3 h 53"/>
                <a:gd name="T22" fmla="*/ 0 w 39"/>
                <a:gd name="T23" fmla="*/ 6 h 53"/>
                <a:gd name="T24" fmla="*/ 3 w 39"/>
                <a:gd name="T25" fmla="*/ 8 h 53"/>
                <a:gd name="T26" fmla="*/ 6 w 39"/>
                <a:gd name="T27" fmla="*/ 11 h 5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39" h="53">
                  <a:moveTo>
                    <a:pt x="6" y="11"/>
                  </a:moveTo>
                  <a:lnTo>
                    <a:pt x="3" y="8"/>
                  </a:lnTo>
                  <a:lnTo>
                    <a:pt x="31" y="53"/>
                  </a:lnTo>
                  <a:lnTo>
                    <a:pt x="39" y="47"/>
                  </a:lnTo>
                  <a:lnTo>
                    <a:pt x="12" y="3"/>
                  </a:lnTo>
                  <a:lnTo>
                    <a:pt x="6" y="0"/>
                  </a:lnTo>
                  <a:lnTo>
                    <a:pt x="12" y="3"/>
                  </a:lnTo>
                  <a:lnTo>
                    <a:pt x="9" y="0"/>
                  </a:lnTo>
                  <a:lnTo>
                    <a:pt x="6" y="0"/>
                  </a:lnTo>
                  <a:lnTo>
                    <a:pt x="3" y="0"/>
                  </a:lnTo>
                  <a:lnTo>
                    <a:pt x="3" y="3"/>
                  </a:lnTo>
                  <a:lnTo>
                    <a:pt x="0" y="6"/>
                  </a:lnTo>
                  <a:lnTo>
                    <a:pt x="3" y="8"/>
                  </a:lnTo>
                  <a:lnTo>
                    <a:pt x="6"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138" name="Freeform 17"/>
            <p:cNvSpPr>
              <a:spLocks/>
            </p:cNvSpPr>
            <p:nvPr/>
          </p:nvSpPr>
          <p:spPr bwMode="auto">
            <a:xfrm>
              <a:off x="3337" y="1928"/>
              <a:ext cx="131" cy="11"/>
            </a:xfrm>
            <a:custGeom>
              <a:avLst/>
              <a:gdLst>
                <a:gd name="T0" fmla="*/ 12 w 131"/>
                <a:gd name="T1" fmla="*/ 8 h 11"/>
                <a:gd name="T2" fmla="*/ 9 w 131"/>
                <a:gd name="T3" fmla="*/ 11 h 11"/>
                <a:gd name="T4" fmla="*/ 131 w 131"/>
                <a:gd name="T5" fmla="*/ 11 h 11"/>
                <a:gd name="T6" fmla="*/ 131 w 131"/>
                <a:gd name="T7" fmla="*/ 0 h 11"/>
                <a:gd name="T8" fmla="*/ 9 w 131"/>
                <a:gd name="T9" fmla="*/ 0 h 11"/>
                <a:gd name="T10" fmla="*/ 3 w 131"/>
                <a:gd name="T11" fmla="*/ 3 h 11"/>
                <a:gd name="T12" fmla="*/ 9 w 131"/>
                <a:gd name="T13" fmla="*/ 0 h 11"/>
                <a:gd name="T14" fmla="*/ 6 w 131"/>
                <a:gd name="T15" fmla="*/ 0 h 11"/>
                <a:gd name="T16" fmla="*/ 3 w 131"/>
                <a:gd name="T17" fmla="*/ 3 h 11"/>
                <a:gd name="T18" fmla="*/ 0 w 131"/>
                <a:gd name="T19" fmla="*/ 6 h 11"/>
                <a:gd name="T20" fmla="*/ 3 w 131"/>
                <a:gd name="T21" fmla="*/ 8 h 11"/>
                <a:gd name="T22" fmla="*/ 3 w 131"/>
                <a:gd name="T23" fmla="*/ 11 h 11"/>
                <a:gd name="T24" fmla="*/ 6 w 131"/>
                <a:gd name="T25" fmla="*/ 11 h 11"/>
                <a:gd name="T26" fmla="*/ 9 w 131"/>
                <a:gd name="T27" fmla="*/ 11 h 11"/>
                <a:gd name="T28" fmla="*/ 12 w 131"/>
                <a:gd name="T29" fmla="*/ 8 h 1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31" h="11">
                  <a:moveTo>
                    <a:pt x="12" y="8"/>
                  </a:moveTo>
                  <a:lnTo>
                    <a:pt x="9" y="11"/>
                  </a:lnTo>
                  <a:lnTo>
                    <a:pt x="131" y="11"/>
                  </a:lnTo>
                  <a:lnTo>
                    <a:pt x="131" y="0"/>
                  </a:lnTo>
                  <a:lnTo>
                    <a:pt x="9" y="0"/>
                  </a:lnTo>
                  <a:lnTo>
                    <a:pt x="3" y="3"/>
                  </a:lnTo>
                  <a:lnTo>
                    <a:pt x="9" y="0"/>
                  </a:lnTo>
                  <a:lnTo>
                    <a:pt x="6" y="0"/>
                  </a:lnTo>
                  <a:lnTo>
                    <a:pt x="3" y="3"/>
                  </a:lnTo>
                  <a:lnTo>
                    <a:pt x="0" y="6"/>
                  </a:lnTo>
                  <a:lnTo>
                    <a:pt x="3" y="8"/>
                  </a:lnTo>
                  <a:lnTo>
                    <a:pt x="3" y="11"/>
                  </a:lnTo>
                  <a:lnTo>
                    <a:pt x="6" y="11"/>
                  </a:lnTo>
                  <a:lnTo>
                    <a:pt x="9" y="11"/>
                  </a:lnTo>
                  <a:lnTo>
                    <a:pt x="1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139" name="Freeform 18"/>
            <p:cNvSpPr>
              <a:spLocks/>
            </p:cNvSpPr>
            <p:nvPr/>
          </p:nvSpPr>
          <p:spPr bwMode="auto">
            <a:xfrm>
              <a:off x="3340" y="1396"/>
              <a:ext cx="128" cy="64"/>
            </a:xfrm>
            <a:custGeom>
              <a:avLst/>
              <a:gdLst>
                <a:gd name="T0" fmla="*/ 122 w 128"/>
                <a:gd name="T1" fmla="*/ 64 h 64"/>
                <a:gd name="T2" fmla="*/ 122 w 128"/>
                <a:gd name="T3" fmla="*/ 64 h 64"/>
                <a:gd name="T4" fmla="*/ 125 w 128"/>
                <a:gd name="T5" fmla="*/ 64 h 64"/>
                <a:gd name="T6" fmla="*/ 128 w 128"/>
                <a:gd name="T7" fmla="*/ 64 h 64"/>
                <a:gd name="T8" fmla="*/ 128 w 128"/>
                <a:gd name="T9" fmla="*/ 64 h 64"/>
                <a:gd name="T10" fmla="*/ 128 w 128"/>
                <a:gd name="T11" fmla="*/ 64 h 64"/>
                <a:gd name="T12" fmla="*/ 128 w 128"/>
                <a:gd name="T13" fmla="*/ 64 h 64"/>
                <a:gd name="T14" fmla="*/ 128 w 128"/>
                <a:gd name="T15" fmla="*/ 64 h 64"/>
                <a:gd name="T16" fmla="*/ 128 w 128"/>
                <a:gd name="T17" fmla="*/ 64 h 64"/>
                <a:gd name="T18" fmla="*/ 128 w 128"/>
                <a:gd name="T19" fmla="*/ 50 h 64"/>
                <a:gd name="T20" fmla="*/ 125 w 128"/>
                <a:gd name="T21" fmla="*/ 39 h 64"/>
                <a:gd name="T22" fmla="*/ 117 w 128"/>
                <a:gd name="T23" fmla="*/ 28 h 64"/>
                <a:gd name="T24" fmla="*/ 111 w 128"/>
                <a:gd name="T25" fmla="*/ 19 h 64"/>
                <a:gd name="T26" fmla="*/ 100 w 128"/>
                <a:gd name="T27" fmla="*/ 11 h 64"/>
                <a:gd name="T28" fmla="*/ 89 w 128"/>
                <a:gd name="T29" fmla="*/ 6 h 64"/>
                <a:gd name="T30" fmla="*/ 78 w 128"/>
                <a:gd name="T31" fmla="*/ 3 h 64"/>
                <a:gd name="T32" fmla="*/ 67 w 128"/>
                <a:gd name="T33" fmla="*/ 0 h 64"/>
                <a:gd name="T34" fmla="*/ 53 w 128"/>
                <a:gd name="T35" fmla="*/ 3 h 64"/>
                <a:gd name="T36" fmla="*/ 42 w 128"/>
                <a:gd name="T37" fmla="*/ 6 h 64"/>
                <a:gd name="T38" fmla="*/ 31 w 128"/>
                <a:gd name="T39" fmla="*/ 11 h 64"/>
                <a:gd name="T40" fmla="*/ 22 w 128"/>
                <a:gd name="T41" fmla="*/ 19 h 64"/>
                <a:gd name="T42" fmla="*/ 14 w 128"/>
                <a:gd name="T43" fmla="*/ 28 h 64"/>
                <a:gd name="T44" fmla="*/ 9 w 128"/>
                <a:gd name="T45" fmla="*/ 39 h 64"/>
                <a:gd name="T46" fmla="*/ 6 w 128"/>
                <a:gd name="T47" fmla="*/ 50 h 64"/>
                <a:gd name="T48" fmla="*/ 6 w 128"/>
                <a:gd name="T49" fmla="*/ 61 h 64"/>
                <a:gd name="T50" fmla="*/ 6 w 128"/>
                <a:gd name="T51" fmla="*/ 64 h 64"/>
                <a:gd name="T52" fmla="*/ 3 w 128"/>
                <a:gd name="T53" fmla="*/ 64 h 64"/>
                <a:gd name="T54" fmla="*/ 3 w 128"/>
                <a:gd name="T55" fmla="*/ 64 h 64"/>
                <a:gd name="T56" fmla="*/ 3 w 128"/>
                <a:gd name="T57" fmla="*/ 64 h 64"/>
                <a:gd name="T58" fmla="*/ 3 w 128"/>
                <a:gd name="T59" fmla="*/ 64 h 64"/>
                <a:gd name="T60" fmla="*/ 3 w 128"/>
                <a:gd name="T61" fmla="*/ 64 h 64"/>
                <a:gd name="T62" fmla="*/ 3 w 128"/>
                <a:gd name="T63" fmla="*/ 64 h 64"/>
                <a:gd name="T64" fmla="*/ 0 w 128"/>
                <a:gd name="T65" fmla="*/ 64 h 64"/>
                <a:gd name="T66" fmla="*/ 122 w 128"/>
                <a:gd name="T67" fmla="*/ 64 h 6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128" h="64">
                  <a:moveTo>
                    <a:pt x="122" y="64"/>
                  </a:moveTo>
                  <a:lnTo>
                    <a:pt x="122" y="64"/>
                  </a:lnTo>
                  <a:lnTo>
                    <a:pt x="125" y="64"/>
                  </a:lnTo>
                  <a:lnTo>
                    <a:pt x="128" y="64"/>
                  </a:lnTo>
                  <a:lnTo>
                    <a:pt x="128" y="50"/>
                  </a:lnTo>
                  <a:lnTo>
                    <a:pt x="125" y="39"/>
                  </a:lnTo>
                  <a:lnTo>
                    <a:pt x="117" y="28"/>
                  </a:lnTo>
                  <a:lnTo>
                    <a:pt x="111" y="19"/>
                  </a:lnTo>
                  <a:lnTo>
                    <a:pt x="100" y="11"/>
                  </a:lnTo>
                  <a:lnTo>
                    <a:pt x="89" y="6"/>
                  </a:lnTo>
                  <a:lnTo>
                    <a:pt x="78" y="3"/>
                  </a:lnTo>
                  <a:lnTo>
                    <a:pt x="67" y="0"/>
                  </a:lnTo>
                  <a:lnTo>
                    <a:pt x="53" y="3"/>
                  </a:lnTo>
                  <a:lnTo>
                    <a:pt x="42" y="6"/>
                  </a:lnTo>
                  <a:lnTo>
                    <a:pt x="31" y="11"/>
                  </a:lnTo>
                  <a:lnTo>
                    <a:pt x="22" y="19"/>
                  </a:lnTo>
                  <a:lnTo>
                    <a:pt x="14" y="28"/>
                  </a:lnTo>
                  <a:lnTo>
                    <a:pt x="9" y="39"/>
                  </a:lnTo>
                  <a:lnTo>
                    <a:pt x="6" y="50"/>
                  </a:lnTo>
                  <a:lnTo>
                    <a:pt x="6" y="61"/>
                  </a:lnTo>
                  <a:lnTo>
                    <a:pt x="6" y="64"/>
                  </a:lnTo>
                  <a:lnTo>
                    <a:pt x="3" y="64"/>
                  </a:lnTo>
                  <a:lnTo>
                    <a:pt x="0" y="64"/>
                  </a:lnTo>
                  <a:lnTo>
                    <a:pt x="122" y="64"/>
                  </a:ln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140" name="Freeform 19"/>
            <p:cNvSpPr>
              <a:spLocks/>
            </p:cNvSpPr>
            <p:nvPr/>
          </p:nvSpPr>
          <p:spPr bwMode="auto">
            <a:xfrm>
              <a:off x="3460" y="1454"/>
              <a:ext cx="14" cy="11"/>
            </a:xfrm>
            <a:custGeom>
              <a:avLst/>
              <a:gdLst>
                <a:gd name="T0" fmla="*/ 2 w 14"/>
                <a:gd name="T1" fmla="*/ 6 h 11"/>
                <a:gd name="T2" fmla="*/ 5 w 14"/>
                <a:gd name="T3" fmla="*/ 3 h 11"/>
                <a:gd name="T4" fmla="*/ 5 w 14"/>
                <a:gd name="T5" fmla="*/ 0 h 11"/>
                <a:gd name="T6" fmla="*/ 8 w 14"/>
                <a:gd name="T7" fmla="*/ 0 h 11"/>
                <a:gd name="T8" fmla="*/ 5 w 14"/>
                <a:gd name="T9" fmla="*/ 0 h 11"/>
                <a:gd name="T10" fmla="*/ 2 w 14"/>
                <a:gd name="T11" fmla="*/ 0 h 11"/>
                <a:gd name="T12" fmla="*/ 0 w 14"/>
                <a:gd name="T13" fmla="*/ 11 h 11"/>
                <a:gd name="T14" fmla="*/ 2 w 14"/>
                <a:gd name="T15" fmla="*/ 11 h 11"/>
                <a:gd name="T16" fmla="*/ 5 w 14"/>
                <a:gd name="T17" fmla="*/ 11 h 11"/>
                <a:gd name="T18" fmla="*/ 8 w 14"/>
                <a:gd name="T19" fmla="*/ 11 h 11"/>
                <a:gd name="T20" fmla="*/ 11 w 14"/>
                <a:gd name="T21" fmla="*/ 11 h 11"/>
                <a:gd name="T22" fmla="*/ 14 w 14"/>
                <a:gd name="T23" fmla="*/ 9 h 11"/>
                <a:gd name="T24" fmla="*/ 14 w 14"/>
                <a:gd name="T25" fmla="*/ 6 h 11"/>
                <a:gd name="T26" fmla="*/ 2 w 14"/>
                <a:gd name="T27" fmla="*/ 6 h 1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 h="11">
                  <a:moveTo>
                    <a:pt x="2" y="6"/>
                  </a:moveTo>
                  <a:lnTo>
                    <a:pt x="5" y="3"/>
                  </a:lnTo>
                  <a:lnTo>
                    <a:pt x="5" y="0"/>
                  </a:lnTo>
                  <a:lnTo>
                    <a:pt x="8" y="0"/>
                  </a:lnTo>
                  <a:lnTo>
                    <a:pt x="5" y="0"/>
                  </a:lnTo>
                  <a:lnTo>
                    <a:pt x="2" y="0"/>
                  </a:lnTo>
                  <a:lnTo>
                    <a:pt x="0" y="11"/>
                  </a:lnTo>
                  <a:lnTo>
                    <a:pt x="2" y="11"/>
                  </a:lnTo>
                  <a:lnTo>
                    <a:pt x="5" y="11"/>
                  </a:lnTo>
                  <a:lnTo>
                    <a:pt x="8" y="11"/>
                  </a:lnTo>
                  <a:lnTo>
                    <a:pt x="11" y="11"/>
                  </a:lnTo>
                  <a:lnTo>
                    <a:pt x="14" y="9"/>
                  </a:lnTo>
                  <a:lnTo>
                    <a:pt x="14" y="6"/>
                  </a:lnTo>
                  <a:lnTo>
                    <a:pt x="2"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141" name="Freeform 20"/>
            <p:cNvSpPr>
              <a:spLocks/>
            </p:cNvSpPr>
            <p:nvPr/>
          </p:nvSpPr>
          <p:spPr bwMode="auto">
            <a:xfrm>
              <a:off x="3407" y="1391"/>
              <a:ext cx="67" cy="69"/>
            </a:xfrm>
            <a:custGeom>
              <a:avLst/>
              <a:gdLst>
                <a:gd name="T0" fmla="*/ 0 w 67"/>
                <a:gd name="T1" fmla="*/ 11 h 69"/>
                <a:gd name="T2" fmla="*/ 11 w 67"/>
                <a:gd name="T3" fmla="*/ 13 h 69"/>
                <a:gd name="T4" fmla="*/ 22 w 67"/>
                <a:gd name="T5" fmla="*/ 16 h 69"/>
                <a:gd name="T6" fmla="*/ 30 w 67"/>
                <a:gd name="T7" fmla="*/ 22 h 69"/>
                <a:gd name="T8" fmla="*/ 39 w 67"/>
                <a:gd name="T9" fmla="*/ 27 h 69"/>
                <a:gd name="T10" fmla="*/ 47 w 67"/>
                <a:gd name="T11" fmla="*/ 36 h 69"/>
                <a:gd name="T12" fmla="*/ 53 w 67"/>
                <a:gd name="T13" fmla="*/ 47 h 69"/>
                <a:gd name="T14" fmla="*/ 55 w 67"/>
                <a:gd name="T15" fmla="*/ 58 h 69"/>
                <a:gd name="T16" fmla="*/ 55 w 67"/>
                <a:gd name="T17" fmla="*/ 69 h 69"/>
                <a:gd name="T18" fmla="*/ 67 w 67"/>
                <a:gd name="T19" fmla="*/ 69 h 69"/>
                <a:gd name="T20" fmla="*/ 67 w 67"/>
                <a:gd name="T21" fmla="*/ 55 h 69"/>
                <a:gd name="T22" fmla="*/ 61 w 67"/>
                <a:gd name="T23" fmla="*/ 41 h 69"/>
                <a:gd name="T24" fmla="*/ 55 w 67"/>
                <a:gd name="T25" fmla="*/ 30 h 69"/>
                <a:gd name="T26" fmla="*/ 47 w 67"/>
                <a:gd name="T27" fmla="*/ 19 h 69"/>
                <a:gd name="T28" fmla="*/ 36 w 67"/>
                <a:gd name="T29" fmla="*/ 11 h 69"/>
                <a:gd name="T30" fmla="*/ 25 w 67"/>
                <a:gd name="T31" fmla="*/ 5 h 69"/>
                <a:gd name="T32" fmla="*/ 14 w 67"/>
                <a:gd name="T33" fmla="*/ 2 h 69"/>
                <a:gd name="T34" fmla="*/ 0 w 67"/>
                <a:gd name="T35" fmla="*/ 0 h 69"/>
                <a:gd name="T36" fmla="*/ 0 w 67"/>
                <a:gd name="T37" fmla="*/ 11 h 6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7" h="69">
                  <a:moveTo>
                    <a:pt x="0" y="11"/>
                  </a:moveTo>
                  <a:lnTo>
                    <a:pt x="11" y="13"/>
                  </a:lnTo>
                  <a:lnTo>
                    <a:pt x="22" y="16"/>
                  </a:lnTo>
                  <a:lnTo>
                    <a:pt x="30" y="22"/>
                  </a:lnTo>
                  <a:lnTo>
                    <a:pt x="39" y="27"/>
                  </a:lnTo>
                  <a:lnTo>
                    <a:pt x="47" y="36"/>
                  </a:lnTo>
                  <a:lnTo>
                    <a:pt x="53" y="47"/>
                  </a:lnTo>
                  <a:lnTo>
                    <a:pt x="55" y="58"/>
                  </a:lnTo>
                  <a:lnTo>
                    <a:pt x="55" y="69"/>
                  </a:lnTo>
                  <a:lnTo>
                    <a:pt x="67" y="69"/>
                  </a:lnTo>
                  <a:lnTo>
                    <a:pt x="67" y="55"/>
                  </a:lnTo>
                  <a:lnTo>
                    <a:pt x="61" y="41"/>
                  </a:lnTo>
                  <a:lnTo>
                    <a:pt x="55" y="30"/>
                  </a:lnTo>
                  <a:lnTo>
                    <a:pt x="47" y="19"/>
                  </a:lnTo>
                  <a:lnTo>
                    <a:pt x="36" y="11"/>
                  </a:lnTo>
                  <a:lnTo>
                    <a:pt x="25" y="5"/>
                  </a:lnTo>
                  <a:lnTo>
                    <a:pt x="14" y="2"/>
                  </a:lnTo>
                  <a:lnTo>
                    <a:pt x="0" y="0"/>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142" name="Freeform 21"/>
            <p:cNvSpPr>
              <a:spLocks/>
            </p:cNvSpPr>
            <p:nvPr/>
          </p:nvSpPr>
          <p:spPr bwMode="auto">
            <a:xfrm>
              <a:off x="3337" y="1391"/>
              <a:ext cx="70" cy="66"/>
            </a:xfrm>
            <a:custGeom>
              <a:avLst/>
              <a:gdLst>
                <a:gd name="T0" fmla="*/ 14 w 70"/>
                <a:gd name="T1" fmla="*/ 66 h 66"/>
                <a:gd name="T2" fmla="*/ 14 w 70"/>
                <a:gd name="T3" fmla="*/ 55 h 66"/>
                <a:gd name="T4" fmla="*/ 17 w 70"/>
                <a:gd name="T5" fmla="*/ 47 h 66"/>
                <a:gd name="T6" fmla="*/ 23 w 70"/>
                <a:gd name="T7" fmla="*/ 36 h 66"/>
                <a:gd name="T8" fmla="*/ 31 w 70"/>
                <a:gd name="T9" fmla="*/ 27 h 66"/>
                <a:gd name="T10" fmla="*/ 39 w 70"/>
                <a:gd name="T11" fmla="*/ 22 h 66"/>
                <a:gd name="T12" fmla="*/ 48 w 70"/>
                <a:gd name="T13" fmla="*/ 16 h 66"/>
                <a:gd name="T14" fmla="*/ 59 w 70"/>
                <a:gd name="T15" fmla="*/ 13 h 66"/>
                <a:gd name="T16" fmla="*/ 70 w 70"/>
                <a:gd name="T17" fmla="*/ 11 h 66"/>
                <a:gd name="T18" fmla="*/ 70 w 70"/>
                <a:gd name="T19" fmla="*/ 0 h 66"/>
                <a:gd name="T20" fmla="*/ 56 w 70"/>
                <a:gd name="T21" fmla="*/ 2 h 66"/>
                <a:gd name="T22" fmla="*/ 42 w 70"/>
                <a:gd name="T23" fmla="*/ 5 h 66"/>
                <a:gd name="T24" fmla="*/ 31 w 70"/>
                <a:gd name="T25" fmla="*/ 11 h 66"/>
                <a:gd name="T26" fmla="*/ 23 w 70"/>
                <a:gd name="T27" fmla="*/ 19 h 66"/>
                <a:gd name="T28" fmla="*/ 14 w 70"/>
                <a:gd name="T29" fmla="*/ 30 h 66"/>
                <a:gd name="T30" fmla="*/ 6 w 70"/>
                <a:gd name="T31" fmla="*/ 41 h 66"/>
                <a:gd name="T32" fmla="*/ 3 w 70"/>
                <a:gd name="T33" fmla="*/ 55 h 66"/>
                <a:gd name="T34" fmla="*/ 0 w 70"/>
                <a:gd name="T35" fmla="*/ 66 h 66"/>
                <a:gd name="T36" fmla="*/ 14 w 70"/>
                <a:gd name="T37" fmla="*/ 66 h 6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70" h="66">
                  <a:moveTo>
                    <a:pt x="14" y="66"/>
                  </a:moveTo>
                  <a:lnTo>
                    <a:pt x="14" y="55"/>
                  </a:lnTo>
                  <a:lnTo>
                    <a:pt x="17" y="47"/>
                  </a:lnTo>
                  <a:lnTo>
                    <a:pt x="23" y="36"/>
                  </a:lnTo>
                  <a:lnTo>
                    <a:pt x="31" y="27"/>
                  </a:lnTo>
                  <a:lnTo>
                    <a:pt x="39" y="22"/>
                  </a:lnTo>
                  <a:lnTo>
                    <a:pt x="48" y="16"/>
                  </a:lnTo>
                  <a:lnTo>
                    <a:pt x="59" y="13"/>
                  </a:lnTo>
                  <a:lnTo>
                    <a:pt x="70" y="11"/>
                  </a:lnTo>
                  <a:lnTo>
                    <a:pt x="70" y="0"/>
                  </a:lnTo>
                  <a:lnTo>
                    <a:pt x="56" y="2"/>
                  </a:lnTo>
                  <a:lnTo>
                    <a:pt x="42" y="5"/>
                  </a:lnTo>
                  <a:lnTo>
                    <a:pt x="31" y="11"/>
                  </a:lnTo>
                  <a:lnTo>
                    <a:pt x="23" y="19"/>
                  </a:lnTo>
                  <a:lnTo>
                    <a:pt x="14" y="30"/>
                  </a:lnTo>
                  <a:lnTo>
                    <a:pt x="6" y="41"/>
                  </a:lnTo>
                  <a:lnTo>
                    <a:pt x="3" y="55"/>
                  </a:lnTo>
                  <a:lnTo>
                    <a:pt x="0" y="66"/>
                  </a:lnTo>
                  <a:lnTo>
                    <a:pt x="14" y="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143" name="Freeform 22"/>
            <p:cNvSpPr>
              <a:spLocks/>
            </p:cNvSpPr>
            <p:nvPr/>
          </p:nvSpPr>
          <p:spPr bwMode="auto">
            <a:xfrm>
              <a:off x="3337" y="1454"/>
              <a:ext cx="14" cy="11"/>
            </a:xfrm>
            <a:custGeom>
              <a:avLst/>
              <a:gdLst>
                <a:gd name="T0" fmla="*/ 3 w 14"/>
                <a:gd name="T1" fmla="*/ 0 h 11"/>
                <a:gd name="T2" fmla="*/ 3 w 14"/>
                <a:gd name="T3" fmla="*/ 11 h 11"/>
                <a:gd name="T4" fmla="*/ 6 w 14"/>
                <a:gd name="T5" fmla="*/ 11 h 11"/>
                <a:gd name="T6" fmla="*/ 9 w 14"/>
                <a:gd name="T7" fmla="*/ 11 h 11"/>
                <a:gd name="T8" fmla="*/ 12 w 14"/>
                <a:gd name="T9" fmla="*/ 9 h 11"/>
                <a:gd name="T10" fmla="*/ 12 w 14"/>
                <a:gd name="T11" fmla="*/ 6 h 11"/>
                <a:gd name="T12" fmla="*/ 14 w 14"/>
                <a:gd name="T13" fmla="*/ 6 h 11"/>
                <a:gd name="T14" fmla="*/ 14 w 14"/>
                <a:gd name="T15" fmla="*/ 3 h 11"/>
                <a:gd name="T16" fmla="*/ 0 w 14"/>
                <a:gd name="T17" fmla="*/ 3 h 11"/>
                <a:gd name="T18" fmla="*/ 3 w 14"/>
                <a:gd name="T19" fmla="*/ 3 h 11"/>
                <a:gd name="T20" fmla="*/ 3 w 14"/>
                <a:gd name="T21" fmla="*/ 0 h 11"/>
                <a:gd name="T22" fmla="*/ 6 w 14"/>
                <a:gd name="T23" fmla="*/ 0 h 11"/>
                <a:gd name="T24" fmla="*/ 3 w 14"/>
                <a:gd name="T25" fmla="*/ 11 h 11"/>
                <a:gd name="T26" fmla="*/ 3 w 14"/>
                <a:gd name="T27" fmla="*/ 0 h 1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 h="11">
                  <a:moveTo>
                    <a:pt x="3" y="0"/>
                  </a:moveTo>
                  <a:lnTo>
                    <a:pt x="3" y="11"/>
                  </a:lnTo>
                  <a:lnTo>
                    <a:pt x="6" y="11"/>
                  </a:lnTo>
                  <a:lnTo>
                    <a:pt x="9" y="11"/>
                  </a:lnTo>
                  <a:lnTo>
                    <a:pt x="12" y="9"/>
                  </a:lnTo>
                  <a:lnTo>
                    <a:pt x="12" y="6"/>
                  </a:lnTo>
                  <a:lnTo>
                    <a:pt x="14" y="6"/>
                  </a:lnTo>
                  <a:lnTo>
                    <a:pt x="14" y="3"/>
                  </a:lnTo>
                  <a:lnTo>
                    <a:pt x="0" y="3"/>
                  </a:lnTo>
                  <a:lnTo>
                    <a:pt x="3" y="3"/>
                  </a:lnTo>
                  <a:lnTo>
                    <a:pt x="3" y="0"/>
                  </a:lnTo>
                  <a:lnTo>
                    <a:pt x="6" y="0"/>
                  </a:lnTo>
                  <a:lnTo>
                    <a:pt x="3" y="11"/>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144" name="Freeform 23"/>
            <p:cNvSpPr>
              <a:spLocks/>
            </p:cNvSpPr>
            <p:nvPr/>
          </p:nvSpPr>
          <p:spPr bwMode="auto">
            <a:xfrm>
              <a:off x="3340" y="1454"/>
              <a:ext cx="122" cy="11"/>
            </a:xfrm>
            <a:custGeom>
              <a:avLst/>
              <a:gdLst>
                <a:gd name="T0" fmla="*/ 122 w 122"/>
                <a:gd name="T1" fmla="*/ 0 h 11"/>
                <a:gd name="T2" fmla="*/ 0 w 122"/>
                <a:gd name="T3" fmla="*/ 0 h 11"/>
                <a:gd name="T4" fmla="*/ 0 w 122"/>
                <a:gd name="T5" fmla="*/ 11 h 11"/>
                <a:gd name="T6" fmla="*/ 122 w 122"/>
                <a:gd name="T7" fmla="*/ 11 h 11"/>
                <a:gd name="T8" fmla="*/ 120 w 122"/>
                <a:gd name="T9" fmla="*/ 11 h 11"/>
                <a:gd name="T10" fmla="*/ 122 w 122"/>
                <a:gd name="T11" fmla="*/ 0 h 1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2" h="11">
                  <a:moveTo>
                    <a:pt x="122" y="0"/>
                  </a:moveTo>
                  <a:lnTo>
                    <a:pt x="0" y="0"/>
                  </a:lnTo>
                  <a:lnTo>
                    <a:pt x="0" y="11"/>
                  </a:lnTo>
                  <a:lnTo>
                    <a:pt x="122" y="11"/>
                  </a:lnTo>
                  <a:lnTo>
                    <a:pt x="120" y="11"/>
                  </a:lnTo>
                  <a:lnTo>
                    <a:pt x="1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254987" name="Freeform 24"/>
          <p:cNvSpPr>
            <a:spLocks/>
          </p:cNvSpPr>
          <p:nvPr/>
        </p:nvSpPr>
        <p:spPr bwMode="auto">
          <a:xfrm>
            <a:off x="1117600" y="1836738"/>
            <a:ext cx="576263" cy="26987"/>
          </a:xfrm>
          <a:custGeom>
            <a:avLst/>
            <a:gdLst>
              <a:gd name="T0" fmla="*/ 2147483646 w 363"/>
              <a:gd name="T1" fmla="*/ 2147483646 h 17"/>
              <a:gd name="T2" fmla="*/ 2147483646 w 363"/>
              <a:gd name="T3" fmla="*/ 0 h 17"/>
              <a:gd name="T4" fmla="*/ 0 w 363"/>
              <a:gd name="T5" fmla="*/ 0 h 17"/>
              <a:gd name="T6" fmla="*/ 0 w 363"/>
              <a:gd name="T7" fmla="*/ 2147483646 h 17"/>
              <a:gd name="T8" fmla="*/ 2147483646 w 363"/>
              <a:gd name="T9" fmla="*/ 2147483646 h 17"/>
              <a:gd name="T10" fmla="*/ 2147483646 w 363"/>
              <a:gd name="T11" fmla="*/ 2147483646 h 17"/>
              <a:gd name="T12" fmla="*/ 2147483646 w 363"/>
              <a:gd name="T13" fmla="*/ 2147483646 h 17"/>
              <a:gd name="T14" fmla="*/ 2147483646 w 363"/>
              <a:gd name="T15" fmla="*/ 0 h 17"/>
              <a:gd name="T16" fmla="*/ 2147483646 w 363"/>
              <a:gd name="T17" fmla="*/ 0 h 17"/>
              <a:gd name="T18" fmla="*/ 2147483646 w 363"/>
              <a:gd name="T19" fmla="*/ 2147483646 h 1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63" h="17">
                <a:moveTo>
                  <a:pt x="363" y="8"/>
                </a:moveTo>
                <a:lnTo>
                  <a:pt x="355" y="0"/>
                </a:lnTo>
                <a:lnTo>
                  <a:pt x="0" y="0"/>
                </a:lnTo>
                <a:lnTo>
                  <a:pt x="0" y="17"/>
                </a:lnTo>
                <a:lnTo>
                  <a:pt x="355" y="17"/>
                </a:lnTo>
                <a:lnTo>
                  <a:pt x="347" y="8"/>
                </a:lnTo>
                <a:lnTo>
                  <a:pt x="363" y="8"/>
                </a:lnTo>
                <a:lnTo>
                  <a:pt x="363" y="0"/>
                </a:lnTo>
                <a:lnTo>
                  <a:pt x="355" y="0"/>
                </a:lnTo>
                <a:lnTo>
                  <a:pt x="363" y="8"/>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4988" name="Freeform 25"/>
          <p:cNvSpPr>
            <a:spLocks/>
          </p:cNvSpPr>
          <p:nvPr/>
        </p:nvSpPr>
        <p:spPr bwMode="auto">
          <a:xfrm>
            <a:off x="1668463" y="1849438"/>
            <a:ext cx="25400" cy="273050"/>
          </a:xfrm>
          <a:custGeom>
            <a:avLst/>
            <a:gdLst>
              <a:gd name="T0" fmla="*/ 2147483646 w 16"/>
              <a:gd name="T1" fmla="*/ 2147483646 h 172"/>
              <a:gd name="T2" fmla="*/ 2147483646 w 16"/>
              <a:gd name="T3" fmla="*/ 2147483646 h 172"/>
              <a:gd name="T4" fmla="*/ 2147483646 w 16"/>
              <a:gd name="T5" fmla="*/ 0 h 172"/>
              <a:gd name="T6" fmla="*/ 0 w 16"/>
              <a:gd name="T7" fmla="*/ 0 h 172"/>
              <a:gd name="T8" fmla="*/ 0 w 16"/>
              <a:gd name="T9" fmla="*/ 2147483646 h 172"/>
              <a:gd name="T10" fmla="*/ 2147483646 w 16"/>
              <a:gd name="T11" fmla="*/ 2147483646 h 1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172">
                <a:moveTo>
                  <a:pt x="8" y="172"/>
                </a:moveTo>
                <a:lnTo>
                  <a:pt x="16" y="172"/>
                </a:lnTo>
                <a:lnTo>
                  <a:pt x="16" y="0"/>
                </a:lnTo>
                <a:lnTo>
                  <a:pt x="0" y="0"/>
                </a:lnTo>
                <a:lnTo>
                  <a:pt x="0" y="172"/>
                </a:lnTo>
                <a:lnTo>
                  <a:pt x="8" y="17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4989" name="Freeform 26"/>
          <p:cNvSpPr>
            <a:spLocks/>
          </p:cNvSpPr>
          <p:nvPr/>
        </p:nvSpPr>
        <p:spPr bwMode="auto">
          <a:xfrm>
            <a:off x="1601788" y="2030413"/>
            <a:ext cx="158750" cy="184150"/>
          </a:xfrm>
          <a:custGeom>
            <a:avLst/>
            <a:gdLst>
              <a:gd name="T0" fmla="*/ 2147483646 w 100"/>
              <a:gd name="T1" fmla="*/ 2147483646 h 116"/>
              <a:gd name="T2" fmla="*/ 2147483646 w 100"/>
              <a:gd name="T3" fmla="*/ 0 h 116"/>
              <a:gd name="T4" fmla="*/ 2147483646 w 100"/>
              <a:gd name="T5" fmla="*/ 0 h 116"/>
              <a:gd name="T6" fmla="*/ 2147483646 w 100"/>
              <a:gd name="T7" fmla="*/ 2147483646 h 116"/>
              <a:gd name="T8" fmla="*/ 2147483646 w 100"/>
              <a:gd name="T9" fmla="*/ 2147483646 h 116"/>
              <a:gd name="T10" fmla="*/ 2147483646 w 100"/>
              <a:gd name="T11" fmla="*/ 2147483646 h 116"/>
              <a:gd name="T12" fmla="*/ 2147483646 w 100"/>
              <a:gd name="T13" fmla="*/ 2147483646 h 116"/>
              <a:gd name="T14" fmla="*/ 2147483646 w 100"/>
              <a:gd name="T15" fmla="*/ 2147483646 h 116"/>
              <a:gd name="T16" fmla="*/ 2147483646 w 100"/>
              <a:gd name="T17" fmla="*/ 2147483646 h 116"/>
              <a:gd name="T18" fmla="*/ 2147483646 w 100"/>
              <a:gd name="T19" fmla="*/ 2147483646 h 116"/>
              <a:gd name="T20" fmla="*/ 2147483646 w 100"/>
              <a:gd name="T21" fmla="*/ 2147483646 h 116"/>
              <a:gd name="T22" fmla="*/ 2147483646 w 100"/>
              <a:gd name="T23" fmla="*/ 2147483646 h 116"/>
              <a:gd name="T24" fmla="*/ 2147483646 w 100"/>
              <a:gd name="T25" fmla="*/ 2147483646 h 116"/>
              <a:gd name="T26" fmla="*/ 2147483646 w 100"/>
              <a:gd name="T27" fmla="*/ 2147483646 h 116"/>
              <a:gd name="T28" fmla="*/ 2147483646 w 100"/>
              <a:gd name="T29" fmla="*/ 2147483646 h 116"/>
              <a:gd name="T30" fmla="*/ 2147483646 w 100"/>
              <a:gd name="T31" fmla="*/ 2147483646 h 116"/>
              <a:gd name="T32" fmla="*/ 2147483646 w 100"/>
              <a:gd name="T33" fmla="*/ 2147483646 h 116"/>
              <a:gd name="T34" fmla="*/ 2147483646 w 100"/>
              <a:gd name="T35" fmla="*/ 2147483646 h 116"/>
              <a:gd name="T36" fmla="*/ 2147483646 w 100"/>
              <a:gd name="T37" fmla="*/ 2147483646 h 116"/>
              <a:gd name="T38" fmla="*/ 2147483646 w 100"/>
              <a:gd name="T39" fmla="*/ 2147483646 h 116"/>
              <a:gd name="T40" fmla="*/ 2147483646 w 100"/>
              <a:gd name="T41" fmla="*/ 2147483646 h 116"/>
              <a:gd name="T42" fmla="*/ 2147483646 w 100"/>
              <a:gd name="T43" fmla="*/ 2147483646 h 116"/>
              <a:gd name="T44" fmla="*/ 2147483646 w 100"/>
              <a:gd name="T45" fmla="*/ 2147483646 h 116"/>
              <a:gd name="T46" fmla="*/ 2147483646 w 100"/>
              <a:gd name="T47" fmla="*/ 2147483646 h 116"/>
              <a:gd name="T48" fmla="*/ 2147483646 w 100"/>
              <a:gd name="T49" fmla="*/ 2147483646 h 116"/>
              <a:gd name="T50" fmla="*/ 2147483646 w 100"/>
              <a:gd name="T51" fmla="*/ 2147483646 h 116"/>
              <a:gd name="T52" fmla="*/ 2147483646 w 100"/>
              <a:gd name="T53" fmla="*/ 2147483646 h 116"/>
              <a:gd name="T54" fmla="*/ 2147483646 w 100"/>
              <a:gd name="T55" fmla="*/ 2147483646 h 116"/>
              <a:gd name="T56" fmla="*/ 2147483646 w 100"/>
              <a:gd name="T57" fmla="*/ 2147483646 h 116"/>
              <a:gd name="T58" fmla="*/ 2147483646 w 100"/>
              <a:gd name="T59" fmla="*/ 2147483646 h 116"/>
              <a:gd name="T60" fmla="*/ 2147483646 w 100"/>
              <a:gd name="T61" fmla="*/ 2147483646 h 116"/>
              <a:gd name="T62" fmla="*/ 2147483646 w 100"/>
              <a:gd name="T63" fmla="*/ 2147483646 h 116"/>
              <a:gd name="T64" fmla="*/ 2147483646 w 100"/>
              <a:gd name="T65" fmla="*/ 0 h 116"/>
              <a:gd name="T66" fmla="*/ 0 w 100"/>
              <a:gd name="T67" fmla="*/ 0 h 116"/>
              <a:gd name="T68" fmla="*/ 2147483646 w 100"/>
              <a:gd name="T69" fmla="*/ 2147483646 h 11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00" h="116">
                <a:moveTo>
                  <a:pt x="50" y="116"/>
                </a:moveTo>
                <a:lnTo>
                  <a:pt x="100" y="0"/>
                </a:lnTo>
                <a:lnTo>
                  <a:pt x="97" y="0"/>
                </a:lnTo>
                <a:lnTo>
                  <a:pt x="95" y="3"/>
                </a:lnTo>
                <a:lnTo>
                  <a:pt x="89" y="3"/>
                </a:lnTo>
                <a:lnTo>
                  <a:pt x="86" y="6"/>
                </a:lnTo>
                <a:lnTo>
                  <a:pt x="83" y="6"/>
                </a:lnTo>
                <a:lnTo>
                  <a:pt x="81" y="8"/>
                </a:lnTo>
                <a:lnTo>
                  <a:pt x="78" y="8"/>
                </a:lnTo>
                <a:lnTo>
                  <a:pt x="75" y="8"/>
                </a:lnTo>
                <a:lnTo>
                  <a:pt x="72" y="8"/>
                </a:lnTo>
                <a:lnTo>
                  <a:pt x="70" y="11"/>
                </a:lnTo>
                <a:lnTo>
                  <a:pt x="64" y="11"/>
                </a:lnTo>
                <a:lnTo>
                  <a:pt x="61" y="11"/>
                </a:lnTo>
                <a:lnTo>
                  <a:pt x="58" y="11"/>
                </a:lnTo>
                <a:lnTo>
                  <a:pt x="56" y="11"/>
                </a:lnTo>
                <a:lnTo>
                  <a:pt x="53" y="11"/>
                </a:lnTo>
                <a:lnTo>
                  <a:pt x="50" y="11"/>
                </a:lnTo>
                <a:lnTo>
                  <a:pt x="47" y="11"/>
                </a:lnTo>
                <a:lnTo>
                  <a:pt x="45" y="11"/>
                </a:lnTo>
                <a:lnTo>
                  <a:pt x="39" y="11"/>
                </a:lnTo>
                <a:lnTo>
                  <a:pt x="36" y="11"/>
                </a:lnTo>
                <a:lnTo>
                  <a:pt x="33" y="11"/>
                </a:lnTo>
                <a:lnTo>
                  <a:pt x="31" y="11"/>
                </a:lnTo>
                <a:lnTo>
                  <a:pt x="28" y="8"/>
                </a:lnTo>
                <a:lnTo>
                  <a:pt x="25" y="8"/>
                </a:lnTo>
                <a:lnTo>
                  <a:pt x="22" y="8"/>
                </a:lnTo>
                <a:lnTo>
                  <a:pt x="20" y="8"/>
                </a:lnTo>
                <a:lnTo>
                  <a:pt x="14" y="6"/>
                </a:lnTo>
                <a:lnTo>
                  <a:pt x="11" y="6"/>
                </a:lnTo>
                <a:lnTo>
                  <a:pt x="8" y="3"/>
                </a:lnTo>
                <a:lnTo>
                  <a:pt x="6" y="3"/>
                </a:lnTo>
                <a:lnTo>
                  <a:pt x="3" y="0"/>
                </a:lnTo>
                <a:lnTo>
                  <a:pt x="0" y="0"/>
                </a:lnTo>
                <a:lnTo>
                  <a:pt x="50" y="116"/>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4990" name="Freeform 27"/>
          <p:cNvSpPr>
            <a:spLocks/>
          </p:cNvSpPr>
          <p:nvPr/>
        </p:nvSpPr>
        <p:spPr bwMode="auto">
          <a:xfrm>
            <a:off x="1447800" y="2224088"/>
            <a:ext cx="461963" cy="611187"/>
          </a:xfrm>
          <a:custGeom>
            <a:avLst/>
            <a:gdLst>
              <a:gd name="T0" fmla="*/ 0 w 291"/>
              <a:gd name="T1" fmla="*/ 2147483646 h 385"/>
              <a:gd name="T2" fmla="*/ 0 w 291"/>
              <a:gd name="T3" fmla="*/ 2147483646 h 385"/>
              <a:gd name="T4" fmla="*/ 2147483646 w 291"/>
              <a:gd name="T5" fmla="*/ 2147483646 h 385"/>
              <a:gd name="T6" fmla="*/ 2147483646 w 291"/>
              <a:gd name="T7" fmla="*/ 0 h 385"/>
              <a:gd name="T8" fmla="*/ 0 w 291"/>
              <a:gd name="T9" fmla="*/ 2147483646 h 3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1" h="385">
                <a:moveTo>
                  <a:pt x="0" y="80"/>
                </a:moveTo>
                <a:lnTo>
                  <a:pt x="0" y="385"/>
                </a:lnTo>
                <a:lnTo>
                  <a:pt x="291" y="385"/>
                </a:lnTo>
                <a:lnTo>
                  <a:pt x="291" y="0"/>
                </a:lnTo>
                <a:lnTo>
                  <a:pt x="0" y="80"/>
                </a:lnTo>
                <a:close/>
              </a:path>
            </a:pathLst>
          </a:custGeom>
          <a:solidFill>
            <a:srgbClr val="66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4991" name="Freeform 28"/>
          <p:cNvSpPr>
            <a:spLocks/>
          </p:cNvSpPr>
          <p:nvPr/>
        </p:nvSpPr>
        <p:spPr bwMode="auto">
          <a:xfrm>
            <a:off x="1447800" y="2224088"/>
            <a:ext cx="461963" cy="611187"/>
          </a:xfrm>
          <a:custGeom>
            <a:avLst/>
            <a:gdLst>
              <a:gd name="T0" fmla="*/ 0 w 291"/>
              <a:gd name="T1" fmla="*/ 2147483646 h 385"/>
              <a:gd name="T2" fmla="*/ 0 w 291"/>
              <a:gd name="T3" fmla="*/ 2147483646 h 385"/>
              <a:gd name="T4" fmla="*/ 2147483646 w 291"/>
              <a:gd name="T5" fmla="*/ 2147483646 h 385"/>
              <a:gd name="T6" fmla="*/ 2147483646 w 291"/>
              <a:gd name="T7" fmla="*/ 0 h 385"/>
              <a:gd name="T8" fmla="*/ 0 w 291"/>
              <a:gd name="T9" fmla="*/ 2147483646 h 3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1" h="385">
                <a:moveTo>
                  <a:pt x="0" y="80"/>
                </a:moveTo>
                <a:lnTo>
                  <a:pt x="0" y="385"/>
                </a:lnTo>
                <a:lnTo>
                  <a:pt x="291" y="385"/>
                </a:lnTo>
                <a:lnTo>
                  <a:pt x="291" y="0"/>
                </a:lnTo>
                <a:lnTo>
                  <a:pt x="0" y="80"/>
                </a:lnTo>
              </a:path>
            </a:pathLst>
          </a:custGeom>
          <a:noFill/>
          <a:ln w="1746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4992" name="Freeform 29"/>
          <p:cNvSpPr>
            <a:spLocks/>
          </p:cNvSpPr>
          <p:nvPr/>
        </p:nvSpPr>
        <p:spPr bwMode="auto">
          <a:xfrm>
            <a:off x="1460500" y="2830513"/>
            <a:ext cx="428625" cy="228600"/>
          </a:xfrm>
          <a:custGeom>
            <a:avLst/>
            <a:gdLst>
              <a:gd name="T0" fmla="*/ 2147483646 w 270"/>
              <a:gd name="T1" fmla="*/ 0 h 144"/>
              <a:gd name="T2" fmla="*/ 2147483646 w 270"/>
              <a:gd name="T3" fmla="*/ 2147483646 h 144"/>
              <a:gd name="T4" fmla="*/ 2147483646 w 270"/>
              <a:gd name="T5" fmla="*/ 2147483646 h 144"/>
              <a:gd name="T6" fmla="*/ 0 w 270"/>
              <a:gd name="T7" fmla="*/ 0 h 144"/>
              <a:gd name="T8" fmla="*/ 2147483646 w 270"/>
              <a:gd name="T9" fmla="*/ 0 h 1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0" h="144">
                <a:moveTo>
                  <a:pt x="270" y="0"/>
                </a:moveTo>
                <a:lnTo>
                  <a:pt x="184" y="144"/>
                </a:lnTo>
                <a:lnTo>
                  <a:pt x="86" y="144"/>
                </a:lnTo>
                <a:lnTo>
                  <a:pt x="0" y="0"/>
                </a:lnTo>
                <a:lnTo>
                  <a:pt x="270" y="0"/>
                </a:lnTo>
                <a:close/>
              </a:path>
            </a:pathLst>
          </a:custGeom>
          <a:solidFill>
            <a:srgbClr val="66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4993" name="Freeform 30"/>
          <p:cNvSpPr>
            <a:spLocks/>
          </p:cNvSpPr>
          <p:nvPr/>
        </p:nvSpPr>
        <p:spPr bwMode="auto">
          <a:xfrm>
            <a:off x="1460500" y="2830513"/>
            <a:ext cx="428625" cy="228600"/>
          </a:xfrm>
          <a:custGeom>
            <a:avLst/>
            <a:gdLst>
              <a:gd name="T0" fmla="*/ 2147483646 w 270"/>
              <a:gd name="T1" fmla="*/ 0 h 144"/>
              <a:gd name="T2" fmla="*/ 2147483646 w 270"/>
              <a:gd name="T3" fmla="*/ 2147483646 h 144"/>
              <a:gd name="T4" fmla="*/ 2147483646 w 270"/>
              <a:gd name="T5" fmla="*/ 2147483646 h 144"/>
              <a:gd name="T6" fmla="*/ 0 w 270"/>
              <a:gd name="T7" fmla="*/ 0 h 144"/>
              <a:gd name="T8" fmla="*/ 2147483646 w 270"/>
              <a:gd name="T9" fmla="*/ 0 h 1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0" h="144">
                <a:moveTo>
                  <a:pt x="270" y="0"/>
                </a:moveTo>
                <a:lnTo>
                  <a:pt x="184" y="144"/>
                </a:lnTo>
                <a:lnTo>
                  <a:pt x="86" y="144"/>
                </a:lnTo>
                <a:lnTo>
                  <a:pt x="0" y="0"/>
                </a:lnTo>
                <a:lnTo>
                  <a:pt x="270" y="0"/>
                </a:lnTo>
              </a:path>
            </a:pathLst>
          </a:custGeom>
          <a:noFill/>
          <a:ln w="1746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4994" name="Rectangle 31"/>
          <p:cNvSpPr>
            <a:spLocks noChangeArrowheads="1"/>
          </p:cNvSpPr>
          <p:nvPr/>
        </p:nvSpPr>
        <p:spPr bwMode="auto">
          <a:xfrm>
            <a:off x="1593850" y="3059113"/>
            <a:ext cx="153988" cy="153987"/>
          </a:xfrm>
          <a:prstGeom prst="rect">
            <a:avLst/>
          </a:prstGeom>
          <a:solidFill>
            <a:srgbClr val="9999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54995" name="Rectangle 32"/>
          <p:cNvSpPr>
            <a:spLocks noChangeArrowheads="1"/>
          </p:cNvSpPr>
          <p:nvPr/>
        </p:nvSpPr>
        <p:spPr bwMode="auto">
          <a:xfrm>
            <a:off x="1593850" y="3059113"/>
            <a:ext cx="153988" cy="153987"/>
          </a:xfrm>
          <a:prstGeom prst="rect">
            <a:avLst/>
          </a:prstGeom>
          <a:noFill/>
          <a:ln w="174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54996" name="Rectangle 33"/>
          <p:cNvSpPr>
            <a:spLocks noChangeArrowheads="1"/>
          </p:cNvSpPr>
          <p:nvPr/>
        </p:nvSpPr>
        <p:spPr bwMode="auto">
          <a:xfrm>
            <a:off x="1714500" y="3779838"/>
            <a:ext cx="1158875" cy="176212"/>
          </a:xfrm>
          <a:prstGeom prst="rect">
            <a:avLst/>
          </a:prstGeom>
          <a:solidFill>
            <a:srgbClr val="6699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54997" name="Rectangle 34"/>
          <p:cNvSpPr>
            <a:spLocks noChangeArrowheads="1"/>
          </p:cNvSpPr>
          <p:nvPr/>
        </p:nvSpPr>
        <p:spPr bwMode="auto">
          <a:xfrm>
            <a:off x="1714500" y="3779838"/>
            <a:ext cx="1158875" cy="176212"/>
          </a:xfrm>
          <a:prstGeom prst="rect">
            <a:avLst/>
          </a:prstGeom>
          <a:noFill/>
          <a:ln w="174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54998" name="Freeform 35"/>
          <p:cNvSpPr>
            <a:spLocks/>
          </p:cNvSpPr>
          <p:nvPr/>
        </p:nvSpPr>
        <p:spPr bwMode="auto">
          <a:xfrm>
            <a:off x="2719388" y="3959225"/>
            <a:ext cx="25400" cy="242888"/>
          </a:xfrm>
          <a:custGeom>
            <a:avLst/>
            <a:gdLst>
              <a:gd name="T0" fmla="*/ 2147483646 w 16"/>
              <a:gd name="T1" fmla="*/ 2147483646 h 153"/>
              <a:gd name="T2" fmla="*/ 2147483646 w 16"/>
              <a:gd name="T3" fmla="*/ 2147483646 h 153"/>
              <a:gd name="T4" fmla="*/ 2147483646 w 16"/>
              <a:gd name="T5" fmla="*/ 0 h 153"/>
              <a:gd name="T6" fmla="*/ 0 w 16"/>
              <a:gd name="T7" fmla="*/ 0 h 153"/>
              <a:gd name="T8" fmla="*/ 0 w 16"/>
              <a:gd name="T9" fmla="*/ 2147483646 h 153"/>
              <a:gd name="T10" fmla="*/ 2147483646 w 16"/>
              <a:gd name="T11" fmla="*/ 2147483646 h 15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153">
                <a:moveTo>
                  <a:pt x="8" y="153"/>
                </a:moveTo>
                <a:lnTo>
                  <a:pt x="16" y="153"/>
                </a:lnTo>
                <a:lnTo>
                  <a:pt x="16" y="0"/>
                </a:lnTo>
                <a:lnTo>
                  <a:pt x="0" y="0"/>
                </a:lnTo>
                <a:lnTo>
                  <a:pt x="0" y="153"/>
                </a:lnTo>
                <a:lnTo>
                  <a:pt x="8" y="153"/>
                </a:lnTo>
                <a:close/>
              </a:path>
            </a:pathLst>
          </a:custGeom>
          <a:solidFill>
            <a:srgbClr val="FF0000"/>
          </a:solidFill>
          <a:ln w="38100" cmpd="sng">
            <a:solidFill>
              <a:schemeClr val="accent2"/>
            </a:solidFill>
            <a:round/>
            <a:headEnd/>
            <a:tailEnd/>
          </a:ln>
        </p:spPr>
        <p:txBody>
          <a:bodyPr/>
          <a:lstStyle/>
          <a:p>
            <a:endParaRPr lang="en-US"/>
          </a:p>
        </p:txBody>
      </p:sp>
      <p:sp>
        <p:nvSpPr>
          <p:cNvPr id="224292" name="Rectangle 36"/>
          <p:cNvSpPr>
            <a:spLocks noChangeArrowheads="1"/>
          </p:cNvSpPr>
          <p:nvPr/>
        </p:nvSpPr>
        <p:spPr bwMode="auto">
          <a:xfrm>
            <a:off x="1068388" y="1384300"/>
            <a:ext cx="654050"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en-US" sz="1700" b="1">
                <a:effectLst>
                  <a:outerShdw blurRad="38100" dist="38100" dir="2700000" algn="tl">
                    <a:srgbClr val="000000"/>
                  </a:outerShdw>
                </a:effectLst>
                <a:latin typeface="Century Schoolbook" panose="02040604050505020304" pitchFamily="18" charset="0"/>
              </a:rPr>
              <a:t>Chips</a:t>
            </a:r>
            <a:endParaRPr lang="en-US" altLang="en-US" sz="1600">
              <a:effectLst>
                <a:outerShdw blurRad="38100" dist="38100" dir="2700000" algn="tl">
                  <a:srgbClr val="000000"/>
                </a:outerShdw>
              </a:effectLst>
              <a:latin typeface="Century Schoolbook" panose="02040604050505020304" pitchFamily="18" charset="0"/>
            </a:endParaRPr>
          </a:p>
        </p:txBody>
      </p:sp>
      <p:sp>
        <p:nvSpPr>
          <p:cNvPr id="224293" name="Rectangle 37"/>
          <p:cNvSpPr>
            <a:spLocks noChangeArrowheads="1"/>
          </p:cNvSpPr>
          <p:nvPr/>
        </p:nvSpPr>
        <p:spPr bwMode="auto">
          <a:xfrm>
            <a:off x="1905000" y="3062288"/>
            <a:ext cx="706438"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en-US" sz="1700" b="1">
                <a:effectLst>
                  <a:outerShdw blurRad="38100" dist="38100" dir="2700000" algn="tl">
                    <a:srgbClr val="000000"/>
                  </a:outerShdw>
                </a:effectLst>
                <a:latin typeface="Century Schoolbook" panose="02040604050505020304" pitchFamily="18" charset="0"/>
              </a:rPr>
              <a:t>Steam</a:t>
            </a:r>
            <a:endParaRPr lang="en-US" altLang="en-US" sz="1600">
              <a:effectLst>
                <a:outerShdw blurRad="38100" dist="38100" dir="2700000" algn="tl">
                  <a:srgbClr val="000000"/>
                </a:outerShdw>
              </a:effectLst>
              <a:latin typeface="Century Schoolbook" panose="02040604050505020304" pitchFamily="18" charset="0"/>
            </a:endParaRPr>
          </a:p>
        </p:txBody>
      </p:sp>
      <p:sp>
        <p:nvSpPr>
          <p:cNvPr id="224294" name="Rectangle 38"/>
          <p:cNvSpPr>
            <a:spLocks noChangeArrowheads="1"/>
          </p:cNvSpPr>
          <p:nvPr/>
        </p:nvSpPr>
        <p:spPr bwMode="auto">
          <a:xfrm>
            <a:off x="6249988" y="1487488"/>
            <a:ext cx="706437"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en-US" sz="1700" b="1">
                <a:effectLst>
                  <a:outerShdw blurRad="38100" dist="38100" dir="2700000" algn="tl">
                    <a:srgbClr val="000000"/>
                  </a:outerShdw>
                </a:effectLst>
                <a:latin typeface="Century Schoolbook" panose="02040604050505020304" pitchFamily="18" charset="0"/>
              </a:rPr>
              <a:t>Steam</a:t>
            </a:r>
            <a:endParaRPr lang="en-US" altLang="en-US" sz="1600">
              <a:effectLst>
                <a:outerShdw blurRad="38100" dist="38100" dir="2700000" algn="tl">
                  <a:srgbClr val="000000"/>
                </a:outerShdw>
              </a:effectLst>
              <a:latin typeface="Century Schoolbook" panose="02040604050505020304" pitchFamily="18" charset="0"/>
            </a:endParaRPr>
          </a:p>
        </p:txBody>
      </p:sp>
      <p:sp>
        <p:nvSpPr>
          <p:cNvPr id="224295" name="Rectangle 39"/>
          <p:cNvSpPr>
            <a:spLocks noChangeArrowheads="1"/>
          </p:cNvSpPr>
          <p:nvPr/>
        </p:nvSpPr>
        <p:spPr bwMode="auto">
          <a:xfrm rot="16200000">
            <a:off x="4855369" y="4272756"/>
            <a:ext cx="146050"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en-US" sz="1700" b="1">
                <a:effectLst>
                  <a:outerShdw blurRad="38100" dist="38100" dir="2700000" algn="tl">
                    <a:srgbClr val="000000"/>
                  </a:outerShdw>
                </a:effectLst>
                <a:latin typeface="Century Schoolbook" panose="02040604050505020304" pitchFamily="18" charset="0"/>
              </a:rPr>
              <a:t>S</a:t>
            </a:r>
            <a:endParaRPr lang="en-US" altLang="en-US" sz="1600">
              <a:effectLst>
                <a:outerShdw blurRad="38100" dist="38100" dir="2700000" algn="tl">
                  <a:srgbClr val="000000"/>
                </a:outerShdw>
              </a:effectLst>
              <a:latin typeface="Century Schoolbook" panose="02040604050505020304" pitchFamily="18" charset="0"/>
            </a:endParaRPr>
          </a:p>
        </p:txBody>
      </p:sp>
      <p:sp>
        <p:nvSpPr>
          <p:cNvPr id="224296" name="Rectangle 40"/>
          <p:cNvSpPr>
            <a:spLocks noChangeArrowheads="1"/>
          </p:cNvSpPr>
          <p:nvPr/>
        </p:nvSpPr>
        <p:spPr bwMode="auto">
          <a:xfrm rot="16200000">
            <a:off x="4867275" y="4121150"/>
            <a:ext cx="122238"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en-US" sz="1700" b="1">
                <a:effectLst>
                  <a:outerShdw blurRad="38100" dist="38100" dir="2700000" algn="tl">
                    <a:srgbClr val="000000"/>
                  </a:outerShdw>
                </a:effectLst>
                <a:latin typeface="Century Schoolbook" panose="02040604050505020304" pitchFamily="18" charset="0"/>
              </a:rPr>
              <a:t>c</a:t>
            </a:r>
            <a:endParaRPr lang="en-US" altLang="en-US" sz="1600">
              <a:effectLst>
                <a:outerShdw blurRad="38100" dist="38100" dir="2700000" algn="tl">
                  <a:srgbClr val="000000"/>
                </a:outerShdw>
              </a:effectLst>
              <a:latin typeface="Century Schoolbook" panose="02040604050505020304" pitchFamily="18" charset="0"/>
            </a:endParaRPr>
          </a:p>
        </p:txBody>
      </p:sp>
      <p:sp>
        <p:nvSpPr>
          <p:cNvPr id="224297" name="Rectangle 41"/>
          <p:cNvSpPr>
            <a:spLocks noChangeArrowheads="1"/>
          </p:cNvSpPr>
          <p:nvPr/>
        </p:nvSpPr>
        <p:spPr bwMode="auto">
          <a:xfrm rot="16200000">
            <a:off x="4872037" y="3992563"/>
            <a:ext cx="112713"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en-US" sz="1700" b="1">
                <a:effectLst>
                  <a:outerShdw blurRad="38100" dist="38100" dir="2700000" algn="tl">
                    <a:srgbClr val="000000"/>
                  </a:outerShdw>
                </a:effectLst>
                <a:latin typeface="Century Schoolbook" panose="02040604050505020304" pitchFamily="18" charset="0"/>
              </a:rPr>
              <a:t>r</a:t>
            </a:r>
            <a:endParaRPr lang="en-US" altLang="en-US" sz="1600">
              <a:effectLst>
                <a:outerShdw blurRad="38100" dist="38100" dir="2700000" algn="tl">
                  <a:srgbClr val="000000"/>
                </a:outerShdw>
              </a:effectLst>
              <a:latin typeface="Century Schoolbook" panose="02040604050505020304" pitchFamily="18" charset="0"/>
            </a:endParaRPr>
          </a:p>
        </p:txBody>
      </p:sp>
      <p:sp>
        <p:nvSpPr>
          <p:cNvPr id="224298" name="Rectangle 42"/>
          <p:cNvSpPr>
            <a:spLocks noChangeArrowheads="1"/>
          </p:cNvSpPr>
          <p:nvPr/>
        </p:nvSpPr>
        <p:spPr bwMode="auto">
          <a:xfrm rot="16200000">
            <a:off x="4865688" y="3863975"/>
            <a:ext cx="125412"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en-US" sz="1700" b="1">
                <a:effectLst>
                  <a:outerShdw blurRad="38100" dist="38100" dir="2700000" algn="tl">
                    <a:srgbClr val="000000"/>
                  </a:outerShdw>
                </a:effectLst>
                <a:latin typeface="Century Schoolbook" panose="02040604050505020304" pitchFamily="18" charset="0"/>
              </a:rPr>
              <a:t>e</a:t>
            </a:r>
            <a:endParaRPr lang="en-US" altLang="en-US" sz="1600">
              <a:effectLst>
                <a:outerShdw blurRad="38100" dist="38100" dir="2700000" algn="tl">
                  <a:srgbClr val="000000"/>
                </a:outerShdw>
              </a:effectLst>
              <a:latin typeface="Century Schoolbook" panose="02040604050505020304" pitchFamily="18" charset="0"/>
            </a:endParaRPr>
          </a:p>
        </p:txBody>
      </p:sp>
      <p:sp>
        <p:nvSpPr>
          <p:cNvPr id="224299" name="Rectangle 43"/>
          <p:cNvSpPr>
            <a:spLocks noChangeArrowheads="1"/>
          </p:cNvSpPr>
          <p:nvPr/>
        </p:nvSpPr>
        <p:spPr bwMode="auto">
          <a:xfrm rot="16200000">
            <a:off x="4865687" y="3732213"/>
            <a:ext cx="125413"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en-US" sz="1700" b="1">
                <a:effectLst>
                  <a:outerShdw blurRad="38100" dist="38100" dir="2700000" algn="tl">
                    <a:srgbClr val="000000"/>
                  </a:outerShdw>
                </a:effectLst>
                <a:latin typeface="Century Schoolbook" panose="02040604050505020304" pitchFamily="18" charset="0"/>
              </a:rPr>
              <a:t>e</a:t>
            </a:r>
            <a:endParaRPr lang="en-US" altLang="en-US" sz="1600">
              <a:effectLst>
                <a:outerShdw blurRad="38100" dist="38100" dir="2700000" algn="tl">
                  <a:srgbClr val="000000"/>
                </a:outerShdw>
              </a:effectLst>
              <a:latin typeface="Century Schoolbook" panose="02040604050505020304" pitchFamily="18" charset="0"/>
            </a:endParaRPr>
          </a:p>
        </p:txBody>
      </p:sp>
      <p:sp>
        <p:nvSpPr>
          <p:cNvPr id="224300" name="Rectangle 44"/>
          <p:cNvSpPr>
            <a:spLocks noChangeArrowheads="1"/>
          </p:cNvSpPr>
          <p:nvPr/>
        </p:nvSpPr>
        <p:spPr bwMode="auto">
          <a:xfrm rot="16200000">
            <a:off x="4853781" y="3590132"/>
            <a:ext cx="149225"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en-US" sz="1700" b="1">
                <a:effectLst>
                  <a:outerShdw blurRad="38100" dist="38100" dir="2700000" algn="tl">
                    <a:srgbClr val="000000"/>
                  </a:outerShdw>
                </a:effectLst>
                <a:latin typeface="Century Schoolbook" panose="02040604050505020304" pitchFamily="18" charset="0"/>
              </a:rPr>
              <a:t>n</a:t>
            </a:r>
            <a:endParaRPr lang="en-US" altLang="en-US" sz="1600">
              <a:effectLst>
                <a:outerShdw blurRad="38100" dist="38100" dir="2700000" algn="tl">
                  <a:srgbClr val="000000"/>
                </a:outerShdw>
              </a:effectLst>
              <a:latin typeface="Century Schoolbook" panose="02040604050505020304" pitchFamily="18" charset="0"/>
            </a:endParaRPr>
          </a:p>
        </p:txBody>
      </p:sp>
      <p:sp>
        <p:nvSpPr>
          <p:cNvPr id="224301" name="Rectangle 45"/>
          <p:cNvSpPr>
            <a:spLocks noChangeArrowheads="1"/>
          </p:cNvSpPr>
          <p:nvPr/>
        </p:nvSpPr>
        <p:spPr bwMode="auto">
          <a:xfrm rot="16200000">
            <a:off x="4874419" y="3447256"/>
            <a:ext cx="107950"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en-US" sz="1700" b="1">
                <a:effectLst>
                  <a:outerShdw blurRad="38100" dist="38100" dir="2700000" algn="tl">
                    <a:srgbClr val="000000"/>
                  </a:outerShdw>
                </a:effectLst>
                <a:latin typeface="Century Schoolbook" panose="02040604050505020304" pitchFamily="18" charset="0"/>
              </a:rPr>
              <a:t>s</a:t>
            </a:r>
            <a:endParaRPr lang="en-US" altLang="en-US" sz="1600">
              <a:effectLst>
                <a:outerShdw blurRad="38100" dist="38100" dir="2700000" algn="tl">
                  <a:srgbClr val="000000"/>
                </a:outerShdw>
              </a:effectLst>
              <a:latin typeface="Century Schoolbook" panose="02040604050505020304" pitchFamily="18" charset="0"/>
            </a:endParaRPr>
          </a:p>
        </p:txBody>
      </p:sp>
      <p:sp>
        <p:nvSpPr>
          <p:cNvPr id="224302" name="Rectangle 46"/>
          <p:cNvSpPr>
            <a:spLocks noChangeArrowheads="1"/>
          </p:cNvSpPr>
          <p:nvPr/>
        </p:nvSpPr>
        <p:spPr bwMode="auto">
          <a:xfrm>
            <a:off x="3940175" y="1377950"/>
            <a:ext cx="1206500"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en-US" sz="1700" b="1">
                <a:effectLst>
                  <a:outerShdw blurRad="38100" dist="38100" dir="2700000" algn="tl">
                    <a:srgbClr val="000000"/>
                  </a:outerShdw>
                </a:effectLst>
                <a:latin typeface="Century Schoolbook" panose="02040604050505020304" pitchFamily="18" charset="0"/>
              </a:rPr>
              <a:t>Chips and </a:t>
            </a:r>
            <a:endParaRPr lang="en-US" altLang="en-US" sz="1600">
              <a:effectLst>
                <a:outerShdw blurRad="38100" dist="38100" dir="2700000" algn="tl">
                  <a:srgbClr val="000000"/>
                </a:outerShdw>
              </a:effectLst>
              <a:latin typeface="Century Schoolbook" panose="02040604050505020304" pitchFamily="18" charset="0"/>
            </a:endParaRPr>
          </a:p>
        </p:txBody>
      </p:sp>
      <p:sp>
        <p:nvSpPr>
          <p:cNvPr id="224303" name="Rectangle 47"/>
          <p:cNvSpPr>
            <a:spLocks noChangeArrowheads="1"/>
          </p:cNvSpPr>
          <p:nvPr/>
        </p:nvSpPr>
        <p:spPr bwMode="auto">
          <a:xfrm>
            <a:off x="3940175" y="1703388"/>
            <a:ext cx="7747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en-US" sz="1700" b="1">
                <a:effectLst>
                  <a:outerShdw blurRad="38100" dist="38100" dir="2700000" algn="tl">
                    <a:srgbClr val="000000"/>
                  </a:outerShdw>
                </a:effectLst>
                <a:latin typeface="Century Schoolbook" panose="02040604050505020304" pitchFamily="18" charset="0"/>
              </a:rPr>
              <a:t>Liquor</a:t>
            </a:r>
            <a:endParaRPr lang="en-US" altLang="en-US" sz="1600">
              <a:effectLst>
                <a:outerShdw blurRad="38100" dist="38100" dir="2700000" algn="tl">
                  <a:srgbClr val="000000"/>
                </a:outerShdw>
              </a:effectLst>
              <a:latin typeface="Century Schoolbook" panose="02040604050505020304" pitchFamily="18" charset="0"/>
            </a:endParaRPr>
          </a:p>
        </p:txBody>
      </p:sp>
      <p:sp>
        <p:nvSpPr>
          <p:cNvPr id="224304" name="Rectangle 48"/>
          <p:cNvSpPr>
            <a:spLocks noChangeArrowheads="1"/>
          </p:cNvSpPr>
          <p:nvPr/>
        </p:nvSpPr>
        <p:spPr bwMode="auto">
          <a:xfrm>
            <a:off x="5708650" y="3163888"/>
            <a:ext cx="7747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en-US" sz="1700" b="1">
                <a:effectLst>
                  <a:outerShdw blurRad="38100" dist="38100" dir="2700000" algn="tl">
                    <a:srgbClr val="000000"/>
                  </a:outerShdw>
                </a:effectLst>
                <a:latin typeface="Century Schoolbook" panose="02040604050505020304" pitchFamily="18" charset="0"/>
              </a:rPr>
              <a:t>Liquor</a:t>
            </a:r>
            <a:endParaRPr lang="en-US" altLang="en-US" sz="1600">
              <a:effectLst>
                <a:outerShdw blurRad="38100" dist="38100" dir="2700000" algn="tl">
                  <a:srgbClr val="000000"/>
                </a:outerShdw>
              </a:effectLst>
              <a:latin typeface="Century Schoolbook" panose="02040604050505020304" pitchFamily="18" charset="0"/>
            </a:endParaRPr>
          </a:p>
        </p:txBody>
      </p:sp>
      <p:sp>
        <p:nvSpPr>
          <p:cNvPr id="224305" name="Rectangle 49"/>
          <p:cNvSpPr>
            <a:spLocks noChangeArrowheads="1"/>
          </p:cNvSpPr>
          <p:nvPr/>
        </p:nvSpPr>
        <p:spPr bwMode="auto">
          <a:xfrm>
            <a:off x="5756275" y="4495800"/>
            <a:ext cx="774700"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en-US" sz="1700" b="1">
                <a:effectLst>
                  <a:outerShdw blurRad="38100" dist="38100" dir="2700000" algn="tl">
                    <a:srgbClr val="000000"/>
                  </a:outerShdw>
                </a:effectLst>
                <a:latin typeface="Century Schoolbook" panose="02040604050505020304" pitchFamily="18" charset="0"/>
              </a:rPr>
              <a:t>Liquor</a:t>
            </a:r>
            <a:endParaRPr lang="en-US" altLang="en-US" sz="1600">
              <a:effectLst>
                <a:outerShdw blurRad="38100" dist="38100" dir="2700000" algn="tl">
                  <a:srgbClr val="000000"/>
                </a:outerShdw>
              </a:effectLst>
              <a:latin typeface="Century Schoolbook" panose="02040604050505020304" pitchFamily="18" charset="0"/>
            </a:endParaRPr>
          </a:p>
        </p:txBody>
      </p:sp>
      <p:sp>
        <p:nvSpPr>
          <p:cNvPr id="224306" name="Rectangle 50"/>
          <p:cNvSpPr>
            <a:spLocks noChangeArrowheads="1"/>
          </p:cNvSpPr>
          <p:nvPr/>
        </p:nvSpPr>
        <p:spPr bwMode="auto">
          <a:xfrm>
            <a:off x="6934200" y="3595688"/>
            <a:ext cx="996950"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en-US" sz="1700" b="1">
                <a:solidFill>
                  <a:srgbClr val="FF0000"/>
                </a:solidFill>
                <a:effectLst>
                  <a:outerShdw blurRad="38100" dist="38100" dir="2700000" algn="tl">
                    <a:srgbClr val="000000"/>
                  </a:outerShdw>
                </a:effectLst>
                <a:latin typeface="Century Schoolbook" panose="02040604050505020304" pitchFamily="18" charset="0"/>
              </a:rPr>
              <a:t>Cooking </a:t>
            </a:r>
            <a:endParaRPr lang="en-US" altLang="en-US" sz="1600">
              <a:effectLst>
                <a:outerShdw blurRad="38100" dist="38100" dir="2700000" algn="tl">
                  <a:srgbClr val="000000"/>
                </a:outerShdw>
              </a:effectLst>
              <a:latin typeface="Century Schoolbook" panose="02040604050505020304" pitchFamily="18" charset="0"/>
            </a:endParaRPr>
          </a:p>
        </p:txBody>
      </p:sp>
      <p:sp>
        <p:nvSpPr>
          <p:cNvPr id="224307" name="Rectangle 51"/>
          <p:cNvSpPr>
            <a:spLocks noChangeArrowheads="1"/>
          </p:cNvSpPr>
          <p:nvPr/>
        </p:nvSpPr>
        <p:spPr bwMode="auto">
          <a:xfrm>
            <a:off x="6934200" y="3921125"/>
            <a:ext cx="547688"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en-US" sz="1700" b="1">
                <a:solidFill>
                  <a:srgbClr val="FF0000"/>
                </a:solidFill>
                <a:effectLst>
                  <a:outerShdw blurRad="38100" dist="38100" dir="2700000" algn="tl">
                    <a:srgbClr val="000000"/>
                  </a:outerShdw>
                </a:effectLst>
                <a:latin typeface="Century Schoolbook" panose="02040604050505020304" pitchFamily="18" charset="0"/>
              </a:rPr>
              <a:t>Zone</a:t>
            </a:r>
            <a:endParaRPr lang="en-US" altLang="en-US" sz="1600">
              <a:effectLst>
                <a:outerShdw blurRad="38100" dist="38100" dir="2700000" algn="tl">
                  <a:srgbClr val="000000"/>
                </a:outerShdw>
              </a:effectLst>
              <a:latin typeface="Century Schoolbook" panose="02040604050505020304" pitchFamily="18" charset="0"/>
            </a:endParaRPr>
          </a:p>
        </p:txBody>
      </p:sp>
      <p:sp>
        <p:nvSpPr>
          <p:cNvPr id="224308" name="Rectangle 52"/>
          <p:cNvSpPr>
            <a:spLocks noChangeArrowheads="1"/>
          </p:cNvSpPr>
          <p:nvPr/>
        </p:nvSpPr>
        <p:spPr bwMode="auto">
          <a:xfrm>
            <a:off x="6934200" y="4891088"/>
            <a:ext cx="957263"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en-US" sz="1700" b="1">
                <a:solidFill>
                  <a:srgbClr val="FF0000"/>
                </a:solidFill>
                <a:effectLst>
                  <a:outerShdw blurRad="38100" dist="38100" dir="2700000" algn="tl">
                    <a:srgbClr val="000000"/>
                  </a:outerShdw>
                </a:effectLst>
                <a:latin typeface="Century Schoolbook" panose="02040604050505020304" pitchFamily="18" charset="0"/>
              </a:rPr>
              <a:t>Washing</a:t>
            </a:r>
            <a:endParaRPr lang="en-US" altLang="en-US" sz="1600">
              <a:effectLst>
                <a:outerShdw blurRad="38100" dist="38100" dir="2700000" algn="tl">
                  <a:srgbClr val="000000"/>
                </a:outerShdw>
              </a:effectLst>
              <a:latin typeface="Century Schoolbook" panose="02040604050505020304" pitchFamily="18" charset="0"/>
            </a:endParaRPr>
          </a:p>
        </p:txBody>
      </p:sp>
      <p:sp>
        <p:nvSpPr>
          <p:cNvPr id="224309" name="Rectangle 53"/>
          <p:cNvSpPr>
            <a:spLocks noChangeArrowheads="1"/>
          </p:cNvSpPr>
          <p:nvPr/>
        </p:nvSpPr>
        <p:spPr bwMode="auto">
          <a:xfrm>
            <a:off x="6934200" y="5216525"/>
            <a:ext cx="547688"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en-US" sz="1700" b="1">
                <a:solidFill>
                  <a:srgbClr val="FF0000"/>
                </a:solidFill>
                <a:effectLst>
                  <a:outerShdw blurRad="38100" dist="38100" dir="2700000" algn="tl">
                    <a:srgbClr val="000000"/>
                  </a:outerShdw>
                </a:effectLst>
                <a:latin typeface="Century Schoolbook" panose="02040604050505020304" pitchFamily="18" charset="0"/>
              </a:rPr>
              <a:t>Zone</a:t>
            </a:r>
            <a:endParaRPr lang="en-US" altLang="en-US" sz="1600">
              <a:effectLst>
                <a:outerShdw blurRad="38100" dist="38100" dir="2700000" algn="tl">
                  <a:srgbClr val="000000"/>
                </a:outerShdw>
              </a:effectLst>
              <a:latin typeface="Century Schoolbook" panose="02040604050505020304" pitchFamily="18" charset="0"/>
            </a:endParaRPr>
          </a:p>
        </p:txBody>
      </p:sp>
      <p:sp>
        <p:nvSpPr>
          <p:cNvPr id="224310" name="Rectangle 54"/>
          <p:cNvSpPr>
            <a:spLocks noChangeArrowheads="1"/>
          </p:cNvSpPr>
          <p:nvPr/>
        </p:nvSpPr>
        <p:spPr bwMode="auto">
          <a:xfrm>
            <a:off x="6019800" y="5957888"/>
            <a:ext cx="1147763" cy="261937"/>
          </a:xfrm>
          <a:prstGeom prst="rect">
            <a:avLst/>
          </a:prstGeom>
          <a:solidFill>
            <a:schemeClr val="bg1"/>
          </a:solidFill>
          <a:ln>
            <a:noFill/>
          </a:ln>
        </p:spPr>
        <p:txBody>
          <a:bodyPr wrap="none" lIns="0" tIns="0" rIns="0" bIns="0">
            <a:spAutoFit/>
          </a:bodyPr>
          <a:lstStyle/>
          <a:p>
            <a:pPr>
              <a:defRPr/>
            </a:pPr>
            <a:r>
              <a:rPr lang="en-US" altLang="en-US" sz="1700" b="1" dirty="0">
                <a:effectLst>
                  <a:outerShdw blurRad="38100" dist="38100" dir="2700000" algn="tl">
                    <a:srgbClr val="000000"/>
                  </a:outerShdw>
                </a:effectLst>
                <a:latin typeface="Century Schoolbook" panose="02040604050505020304" pitchFamily="18" charset="0"/>
              </a:rPr>
              <a:t>Blow Line</a:t>
            </a:r>
            <a:endParaRPr lang="en-US" altLang="en-US" sz="1600" dirty="0">
              <a:effectLst>
                <a:outerShdw blurRad="38100" dist="38100" dir="2700000" algn="tl">
                  <a:srgbClr val="000000"/>
                </a:outerShdw>
              </a:effectLst>
              <a:latin typeface="Century Schoolbook" panose="02040604050505020304" pitchFamily="18" charset="0"/>
            </a:endParaRPr>
          </a:p>
        </p:txBody>
      </p:sp>
      <p:sp>
        <p:nvSpPr>
          <p:cNvPr id="224311" name="Rectangle 55"/>
          <p:cNvSpPr>
            <a:spLocks noChangeArrowheads="1"/>
          </p:cNvSpPr>
          <p:nvPr/>
        </p:nvSpPr>
        <p:spPr bwMode="auto">
          <a:xfrm>
            <a:off x="7010400" y="2224088"/>
            <a:ext cx="1608138"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en-US" sz="1700" b="1">
                <a:solidFill>
                  <a:srgbClr val="FF0000"/>
                </a:solidFill>
                <a:effectLst>
                  <a:outerShdw blurRad="38100" dist="38100" dir="2700000" algn="tl">
                    <a:srgbClr val="000000"/>
                  </a:outerShdw>
                </a:effectLst>
                <a:latin typeface="Century Schoolbook" panose="02040604050505020304" pitchFamily="18" charset="0"/>
              </a:rPr>
              <a:t>Impregnation</a:t>
            </a:r>
            <a:r>
              <a:rPr lang="en-US" altLang="en-US" sz="1700" b="1">
                <a:solidFill>
                  <a:srgbClr val="FFFF00"/>
                </a:solidFill>
                <a:effectLst>
                  <a:outerShdw blurRad="38100" dist="38100" dir="2700000" algn="tl">
                    <a:srgbClr val="000000"/>
                  </a:outerShdw>
                </a:effectLst>
                <a:latin typeface="Century Schoolbook" panose="02040604050505020304" pitchFamily="18" charset="0"/>
              </a:rPr>
              <a:t> </a:t>
            </a:r>
            <a:endParaRPr lang="en-US" altLang="en-US" sz="1600">
              <a:effectLst>
                <a:outerShdw blurRad="38100" dist="38100" dir="2700000" algn="tl">
                  <a:srgbClr val="000000"/>
                </a:outerShdw>
              </a:effectLst>
              <a:latin typeface="Century Schoolbook" panose="02040604050505020304" pitchFamily="18" charset="0"/>
            </a:endParaRPr>
          </a:p>
        </p:txBody>
      </p:sp>
      <p:sp>
        <p:nvSpPr>
          <p:cNvPr id="224312" name="Rectangle 56"/>
          <p:cNvSpPr>
            <a:spLocks noChangeArrowheads="1"/>
          </p:cNvSpPr>
          <p:nvPr/>
        </p:nvSpPr>
        <p:spPr bwMode="auto">
          <a:xfrm>
            <a:off x="2743200" y="4471988"/>
            <a:ext cx="614363"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en-US" sz="1700" b="1">
                <a:effectLst>
                  <a:outerShdw blurRad="38100" dist="38100" dir="2700000" algn="tl">
                    <a:srgbClr val="000000"/>
                  </a:outerShdw>
                </a:effectLst>
                <a:latin typeface="Century Schoolbook" panose="02040604050505020304" pitchFamily="18" charset="0"/>
              </a:rPr>
              <a:t>High </a:t>
            </a:r>
            <a:endParaRPr lang="en-US" altLang="en-US" sz="1600">
              <a:effectLst>
                <a:outerShdw blurRad="38100" dist="38100" dir="2700000" algn="tl">
                  <a:srgbClr val="000000"/>
                </a:outerShdw>
              </a:effectLst>
              <a:latin typeface="Century Schoolbook" panose="02040604050505020304" pitchFamily="18" charset="0"/>
            </a:endParaRPr>
          </a:p>
        </p:txBody>
      </p:sp>
      <p:sp>
        <p:nvSpPr>
          <p:cNvPr id="224313" name="Rectangle 57"/>
          <p:cNvSpPr>
            <a:spLocks noChangeArrowheads="1"/>
          </p:cNvSpPr>
          <p:nvPr/>
        </p:nvSpPr>
        <p:spPr bwMode="auto">
          <a:xfrm>
            <a:off x="2743200" y="4794250"/>
            <a:ext cx="1009650"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en-US" sz="1700" b="1">
                <a:effectLst>
                  <a:outerShdw blurRad="38100" dist="38100" dir="2700000" algn="tl">
                    <a:srgbClr val="000000"/>
                  </a:outerShdw>
                </a:effectLst>
                <a:latin typeface="Century Schoolbook" panose="02040604050505020304" pitchFamily="18" charset="0"/>
              </a:rPr>
              <a:t>Pressure</a:t>
            </a:r>
            <a:endParaRPr lang="en-US" altLang="en-US" sz="1600">
              <a:effectLst>
                <a:outerShdw blurRad="38100" dist="38100" dir="2700000" algn="tl">
                  <a:srgbClr val="000000"/>
                </a:outerShdw>
              </a:effectLst>
              <a:latin typeface="Century Schoolbook" panose="02040604050505020304" pitchFamily="18" charset="0"/>
            </a:endParaRPr>
          </a:p>
        </p:txBody>
      </p:sp>
      <p:sp>
        <p:nvSpPr>
          <p:cNvPr id="224314" name="Rectangle 58"/>
          <p:cNvSpPr>
            <a:spLocks noChangeArrowheads="1"/>
          </p:cNvSpPr>
          <p:nvPr/>
        </p:nvSpPr>
        <p:spPr bwMode="auto">
          <a:xfrm>
            <a:off x="2743200" y="5119688"/>
            <a:ext cx="792163"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en-US" sz="1700" b="1">
                <a:effectLst>
                  <a:outerShdw blurRad="38100" dist="38100" dir="2700000" algn="tl">
                    <a:srgbClr val="000000"/>
                  </a:outerShdw>
                </a:effectLst>
                <a:latin typeface="Century Schoolbook" panose="02040604050505020304" pitchFamily="18" charset="0"/>
              </a:rPr>
              <a:t>Feeder</a:t>
            </a:r>
            <a:endParaRPr lang="en-US" altLang="en-US" sz="1600">
              <a:effectLst>
                <a:outerShdw blurRad="38100" dist="38100" dir="2700000" algn="tl">
                  <a:srgbClr val="000000"/>
                </a:outerShdw>
              </a:effectLst>
              <a:latin typeface="Century Schoolbook" panose="02040604050505020304" pitchFamily="18" charset="0"/>
            </a:endParaRPr>
          </a:p>
        </p:txBody>
      </p:sp>
      <p:sp>
        <p:nvSpPr>
          <p:cNvPr id="224315" name="Rectangle 59"/>
          <p:cNvSpPr>
            <a:spLocks noChangeArrowheads="1"/>
          </p:cNvSpPr>
          <p:nvPr/>
        </p:nvSpPr>
        <p:spPr bwMode="auto">
          <a:xfrm>
            <a:off x="587375" y="2303463"/>
            <a:ext cx="65405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en-US" sz="1700" b="1">
                <a:effectLst>
                  <a:outerShdw blurRad="38100" dist="38100" dir="2700000" algn="tl">
                    <a:srgbClr val="000000"/>
                  </a:outerShdw>
                </a:effectLst>
                <a:latin typeface="Century Schoolbook" panose="02040604050505020304" pitchFamily="18" charset="0"/>
              </a:rPr>
              <a:t>Chips</a:t>
            </a:r>
            <a:endParaRPr lang="en-US" altLang="en-US" sz="1600">
              <a:effectLst>
                <a:outerShdw blurRad="38100" dist="38100" dir="2700000" algn="tl">
                  <a:srgbClr val="000000"/>
                </a:outerShdw>
              </a:effectLst>
              <a:latin typeface="Century Schoolbook" panose="02040604050505020304" pitchFamily="18" charset="0"/>
            </a:endParaRPr>
          </a:p>
        </p:txBody>
      </p:sp>
      <p:sp>
        <p:nvSpPr>
          <p:cNvPr id="224316" name="Rectangle 60"/>
          <p:cNvSpPr>
            <a:spLocks noChangeArrowheads="1"/>
          </p:cNvSpPr>
          <p:nvPr/>
        </p:nvSpPr>
        <p:spPr bwMode="auto">
          <a:xfrm>
            <a:off x="587375" y="2628900"/>
            <a:ext cx="369888"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en-US" sz="1700" b="1">
                <a:effectLst>
                  <a:outerShdw blurRad="38100" dist="38100" dir="2700000" algn="tl">
                    <a:srgbClr val="000000"/>
                  </a:outerShdw>
                </a:effectLst>
                <a:latin typeface="Century Schoolbook" panose="02040604050505020304" pitchFamily="18" charset="0"/>
              </a:rPr>
              <a:t>bin</a:t>
            </a:r>
            <a:endParaRPr lang="en-US" altLang="en-US" sz="1600">
              <a:effectLst>
                <a:outerShdw blurRad="38100" dist="38100" dir="2700000" algn="tl">
                  <a:srgbClr val="000000"/>
                </a:outerShdw>
              </a:effectLst>
              <a:latin typeface="Century Schoolbook" panose="02040604050505020304" pitchFamily="18" charset="0"/>
            </a:endParaRPr>
          </a:p>
        </p:txBody>
      </p:sp>
      <p:sp>
        <p:nvSpPr>
          <p:cNvPr id="255024" name="Rectangle 61"/>
          <p:cNvSpPr>
            <a:spLocks noChangeArrowheads="1"/>
          </p:cNvSpPr>
          <p:nvPr/>
        </p:nvSpPr>
        <p:spPr bwMode="auto">
          <a:xfrm>
            <a:off x="5108575" y="4900613"/>
            <a:ext cx="590550" cy="752475"/>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55025" name="Rectangle 62"/>
          <p:cNvSpPr>
            <a:spLocks noChangeArrowheads="1"/>
          </p:cNvSpPr>
          <p:nvPr/>
        </p:nvSpPr>
        <p:spPr bwMode="auto">
          <a:xfrm>
            <a:off x="5108575" y="4900613"/>
            <a:ext cx="590550" cy="752475"/>
          </a:xfrm>
          <a:prstGeom prst="rect">
            <a:avLst/>
          </a:prstGeom>
          <a:noFill/>
          <a:ln w="174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55026" name="Freeform 63"/>
          <p:cNvSpPr>
            <a:spLocks/>
          </p:cNvSpPr>
          <p:nvPr/>
        </p:nvSpPr>
        <p:spPr bwMode="auto">
          <a:xfrm>
            <a:off x="5397500" y="5921375"/>
            <a:ext cx="25400" cy="290513"/>
          </a:xfrm>
          <a:custGeom>
            <a:avLst/>
            <a:gdLst>
              <a:gd name="T0" fmla="*/ 2147483646 w 16"/>
              <a:gd name="T1" fmla="*/ 2147483646 h 183"/>
              <a:gd name="T2" fmla="*/ 2147483646 w 16"/>
              <a:gd name="T3" fmla="*/ 2147483646 h 183"/>
              <a:gd name="T4" fmla="*/ 2147483646 w 16"/>
              <a:gd name="T5" fmla="*/ 0 h 183"/>
              <a:gd name="T6" fmla="*/ 0 w 16"/>
              <a:gd name="T7" fmla="*/ 0 h 183"/>
              <a:gd name="T8" fmla="*/ 0 w 16"/>
              <a:gd name="T9" fmla="*/ 2147483646 h 183"/>
              <a:gd name="T10" fmla="*/ 2147483646 w 16"/>
              <a:gd name="T11" fmla="*/ 2147483646 h 183"/>
              <a:gd name="T12" fmla="*/ 0 w 16"/>
              <a:gd name="T13" fmla="*/ 2147483646 h 183"/>
              <a:gd name="T14" fmla="*/ 0 w 16"/>
              <a:gd name="T15" fmla="*/ 2147483646 h 183"/>
              <a:gd name="T16" fmla="*/ 2147483646 w 16"/>
              <a:gd name="T17" fmla="*/ 2147483646 h 183"/>
              <a:gd name="T18" fmla="*/ 2147483646 w 16"/>
              <a:gd name="T19" fmla="*/ 2147483646 h 18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 h="183">
                <a:moveTo>
                  <a:pt x="8" y="167"/>
                </a:moveTo>
                <a:lnTo>
                  <a:pt x="16" y="175"/>
                </a:lnTo>
                <a:lnTo>
                  <a:pt x="16" y="0"/>
                </a:lnTo>
                <a:lnTo>
                  <a:pt x="0" y="0"/>
                </a:lnTo>
                <a:lnTo>
                  <a:pt x="0" y="175"/>
                </a:lnTo>
                <a:lnTo>
                  <a:pt x="8" y="183"/>
                </a:lnTo>
                <a:lnTo>
                  <a:pt x="0" y="175"/>
                </a:lnTo>
                <a:lnTo>
                  <a:pt x="0" y="183"/>
                </a:lnTo>
                <a:lnTo>
                  <a:pt x="8" y="183"/>
                </a:lnTo>
                <a:lnTo>
                  <a:pt x="8" y="167"/>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027" name="Freeform 64"/>
          <p:cNvSpPr>
            <a:spLocks/>
          </p:cNvSpPr>
          <p:nvPr/>
        </p:nvSpPr>
        <p:spPr bwMode="auto">
          <a:xfrm>
            <a:off x="5410200" y="6186488"/>
            <a:ext cx="458788" cy="25400"/>
          </a:xfrm>
          <a:custGeom>
            <a:avLst/>
            <a:gdLst>
              <a:gd name="T0" fmla="*/ 2147483646 w 289"/>
              <a:gd name="T1" fmla="*/ 2147483646 h 16"/>
              <a:gd name="T2" fmla="*/ 2147483646 w 289"/>
              <a:gd name="T3" fmla="*/ 0 h 16"/>
              <a:gd name="T4" fmla="*/ 0 w 289"/>
              <a:gd name="T5" fmla="*/ 0 h 16"/>
              <a:gd name="T6" fmla="*/ 0 w 289"/>
              <a:gd name="T7" fmla="*/ 2147483646 h 16"/>
              <a:gd name="T8" fmla="*/ 2147483646 w 289"/>
              <a:gd name="T9" fmla="*/ 2147483646 h 16"/>
              <a:gd name="T10" fmla="*/ 2147483646 w 289"/>
              <a:gd name="T11" fmla="*/ 2147483646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89" h="16">
                <a:moveTo>
                  <a:pt x="289" y="8"/>
                </a:moveTo>
                <a:lnTo>
                  <a:pt x="289" y="0"/>
                </a:lnTo>
                <a:lnTo>
                  <a:pt x="0" y="0"/>
                </a:lnTo>
                <a:lnTo>
                  <a:pt x="0" y="16"/>
                </a:lnTo>
                <a:lnTo>
                  <a:pt x="289" y="16"/>
                </a:lnTo>
                <a:lnTo>
                  <a:pt x="289" y="8"/>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028" name="Freeform 65"/>
          <p:cNvSpPr>
            <a:spLocks/>
          </p:cNvSpPr>
          <p:nvPr/>
        </p:nvSpPr>
        <p:spPr bwMode="auto">
          <a:xfrm>
            <a:off x="5775325" y="6119813"/>
            <a:ext cx="185738" cy="158750"/>
          </a:xfrm>
          <a:custGeom>
            <a:avLst/>
            <a:gdLst>
              <a:gd name="T0" fmla="*/ 2147483646 w 117"/>
              <a:gd name="T1" fmla="*/ 2147483646 h 100"/>
              <a:gd name="T2" fmla="*/ 0 w 117"/>
              <a:gd name="T3" fmla="*/ 0 h 100"/>
              <a:gd name="T4" fmla="*/ 2147483646 w 117"/>
              <a:gd name="T5" fmla="*/ 2147483646 h 100"/>
              <a:gd name="T6" fmla="*/ 2147483646 w 117"/>
              <a:gd name="T7" fmla="*/ 2147483646 h 100"/>
              <a:gd name="T8" fmla="*/ 2147483646 w 117"/>
              <a:gd name="T9" fmla="*/ 2147483646 h 100"/>
              <a:gd name="T10" fmla="*/ 2147483646 w 117"/>
              <a:gd name="T11" fmla="*/ 2147483646 h 100"/>
              <a:gd name="T12" fmla="*/ 2147483646 w 117"/>
              <a:gd name="T13" fmla="*/ 2147483646 h 100"/>
              <a:gd name="T14" fmla="*/ 2147483646 w 117"/>
              <a:gd name="T15" fmla="*/ 2147483646 h 100"/>
              <a:gd name="T16" fmla="*/ 2147483646 w 117"/>
              <a:gd name="T17" fmla="*/ 2147483646 h 100"/>
              <a:gd name="T18" fmla="*/ 2147483646 w 117"/>
              <a:gd name="T19" fmla="*/ 2147483646 h 100"/>
              <a:gd name="T20" fmla="*/ 2147483646 w 117"/>
              <a:gd name="T21" fmla="*/ 2147483646 h 100"/>
              <a:gd name="T22" fmla="*/ 2147483646 w 117"/>
              <a:gd name="T23" fmla="*/ 2147483646 h 100"/>
              <a:gd name="T24" fmla="*/ 2147483646 w 117"/>
              <a:gd name="T25" fmla="*/ 2147483646 h 100"/>
              <a:gd name="T26" fmla="*/ 2147483646 w 117"/>
              <a:gd name="T27" fmla="*/ 2147483646 h 100"/>
              <a:gd name="T28" fmla="*/ 2147483646 w 117"/>
              <a:gd name="T29" fmla="*/ 2147483646 h 100"/>
              <a:gd name="T30" fmla="*/ 2147483646 w 117"/>
              <a:gd name="T31" fmla="*/ 2147483646 h 100"/>
              <a:gd name="T32" fmla="*/ 2147483646 w 117"/>
              <a:gd name="T33" fmla="*/ 2147483646 h 100"/>
              <a:gd name="T34" fmla="*/ 2147483646 w 117"/>
              <a:gd name="T35" fmla="*/ 2147483646 h 100"/>
              <a:gd name="T36" fmla="*/ 2147483646 w 117"/>
              <a:gd name="T37" fmla="*/ 2147483646 h 100"/>
              <a:gd name="T38" fmla="*/ 2147483646 w 117"/>
              <a:gd name="T39" fmla="*/ 2147483646 h 100"/>
              <a:gd name="T40" fmla="*/ 2147483646 w 117"/>
              <a:gd name="T41" fmla="*/ 2147483646 h 100"/>
              <a:gd name="T42" fmla="*/ 2147483646 w 117"/>
              <a:gd name="T43" fmla="*/ 2147483646 h 100"/>
              <a:gd name="T44" fmla="*/ 2147483646 w 117"/>
              <a:gd name="T45" fmla="*/ 2147483646 h 100"/>
              <a:gd name="T46" fmla="*/ 2147483646 w 117"/>
              <a:gd name="T47" fmla="*/ 2147483646 h 100"/>
              <a:gd name="T48" fmla="*/ 2147483646 w 117"/>
              <a:gd name="T49" fmla="*/ 2147483646 h 100"/>
              <a:gd name="T50" fmla="*/ 2147483646 w 117"/>
              <a:gd name="T51" fmla="*/ 2147483646 h 100"/>
              <a:gd name="T52" fmla="*/ 2147483646 w 117"/>
              <a:gd name="T53" fmla="*/ 2147483646 h 100"/>
              <a:gd name="T54" fmla="*/ 2147483646 w 117"/>
              <a:gd name="T55" fmla="*/ 2147483646 h 100"/>
              <a:gd name="T56" fmla="*/ 2147483646 w 117"/>
              <a:gd name="T57" fmla="*/ 2147483646 h 100"/>
              <a:gd name="T58" fmla="*/ 2147483646 w 117"/>
              <a:gd name="T59" fmla="*/ 2147483646 h 100"/>
              <a:gd name="T60" fmla="*/ 2147483646 w 117"/>
              <a:gd name="T61" fmla="*/ 2147483646 h 100"/>
              <a:gd name="T62" fmla="*/ 2147483646 w 117"/>
              <a:gd name="T63" fmla="*/ 2147483646 h 100"/>
              <a:gd name="T64" fmla="*/ 2147483646 w 117"/>
              <a:gd name="T65" fmla="*/ 2147483646 h 100"/>
              <a:gd name="T66" fmla="*/ 0 w 117"/>
              <a:gd name="T67" fmla="*/ 2147483646 h 100"/>
              <a:gd name="T68" fmla="*/ 2147483646 w 117"/>
              <a:gd name="T69" fmla="*/ 2147483646 h 10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17" h="100">
                <a:moveTo>
                  <a:pt x="117" y="50"/>
                </a:moveTo>
                <a:lnTo>
                  <a:pt x="0" y="0"/>
                </a:lnTo>
                <a:lnTo>
                  <a:pt x="3" y="3"/>
                </a:lnTo>
                <a:lnTo>
                  <a:pt x="3" y="6"/>
                </a:lnTo>
                <a:lnTo>
                  <a:pt x="6" y="8"/>
                </a:lnTo>
                <a:lnTo>
                  <a:pt x="6" y="14"/>
                </a:lnTo>
                <a:lnTo>
                  <a:pt x="6" y="17"/>
                </a:lnTo>
                <a:lnTo>
                  <a:pt x="9" y="19"/>
                </a:lnTo>
                <a:lnTo>
                  <a:pt x="9" y="22"/>
                </a:lnTo>
                <a:lnTo>
                  <a:pt x="9" y="25"/>
                </a:lnTo>
                <a:lnTo>
                  <a:pt x="12" y="28"/>
                </a:lnTo>
                <a:lnTo>
                  <a:pt x="12" y="30"/>
                </a:lnTo>
                <a:lnTo>
                  <a:pt x="12" y="33"/>
                </a:lnTo>
                <a:lnTo>
                  <a:pt x="12" y="39"/>
                </a:lnTo>
                <a:lnTo>
                  <a:pt x="12" y="42"/>
                </a:lnTo>
                <a:lnTo>
                  <a:pt x="12" y="44"/>
                </a:lnTo>
                <a:lnTo>
                  <a:pt x="12" y="47"/>
                </a:lnTo>
                <a:lnTo>
                  <a:pt x="14" y="50"/>
                </a:lnTo>
                <a:lnTo>
                  <a:pt x="12" y="53"/>
                </a:lnTo>
                <a:lnTo>
                  <a:pt x="12" y="55"/>
                </a:lnTo>
                <a:lnTo>
                  <a:pt x="12" y="58"/>
                </a:lnTo>
                <a:lnTo>
                  <a:pt x="12" y="64"/>
                </a:lnTo>
                <a:lnTo>
                  <a:pt x="12" y="66"/>
                </a:lnTo>
                <a:lnTo>
                  <a:pt x="12" y="69"/>
                </a:lnTo>
                <a:lnTo>
                  <a:pt x="12" y="72"/>
                </a:lnTo>
                <a:lnTo>
                  <a:pt x="9" y="75"/>
                </a:lnTo>
                <a:lnTo>
                  <a:pt x="9" y="78"/>
                </a:lnTo>
                <a:lnTo>
                  <a:pt x="9" y="80"/>
                </a:lnTo>
                <a:lnTo>
                  <a:pt x="6" y="83"/>
                </a:lnTo>
                <a:lnTo>
                  <a:pt x="6" y="89"/>
                </a:lnTo>
                <a:lnTo>
                  <a:pt x="6" y="91"/>
                </a:lnTo>
                <a:lnTo>
                  <a:pt x="3" y="94"/>
                </a:lnTo>
                <a:lnTo>
                  <a:pt x="3" y="97"/>
                </a:lnTo>
                <a:lnTo>
                  <a:pt x="0" y="100"/>
                </a:lnTo>
                <a:lnTo>
                  <a:pt x="117" y="5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029" name="Freeform 66"/>
          <p:cNvSpPr>
            <a:spLocks/>
          </p:cNvSpPr>
          <p:nvPr/>
        </p:nvSpPr>
        <p:spPr bwMode="auto">
          <a:xfrm>
            <a:off x="5395913" y="1654175"/>
            <a:ext cx="796925" cy="26988"/>
          </a:xfrm>
          <a:custGeom>
            <a:avLst/>
            <a:gdLst>
              <a:gd name="T0" fmla="*/ 2147483646 w 502"/>
              <a:gd name="T1" fmla="*/ 2147483646 h 17"/>
              <a:gd name="T2" fmla="*/ 2147483646 w 502"/>
              <a:gd name="T3" fmla="*/ 2147483646 h 17"/>
              <a:gd name="T4" fmla="*/ 2147483646 w 502"/>
              <a:gd name="T5" fmla="*/ 2147483646 h 17"/>
              <a:gd name="T6" fmla="*/ 2147483646 w 502"/>
              <a:gd name="T7" fmla="*/ 0 h 17"/>
              <a:gd name="T8" fmla="*/ 2147483646 w 502"/>
              <a:gd name="T9" fmla="*/ 0 h 17"/>
              <a:gd name="T10" fmla="*/ 0 w 502"/>
              <a:gd name="T11" fmla="*/ 2147483646 h 17"/>
              <a:gd name="T12" fmla="*/ 2147483646 w 502"/>
              <a:gd name="T13" fmla="*/ 0 h 17"/>
              <a:gd name="T14" fmla="*/ 0 w 502"/>
              <a:gd name="T15" fmla="*/ 0 h 17"/>
              <a:gd name="T16" fmla="*/ 0 w 502"/>
              <a:gd name="T17" fmla="*/ 2147483646 h 17"/>
              <a:gd name="T18" fmla="*/ 2147483646 w 502"/>
              <a:gd name="T19" fmla="*/ 2147483646 h 1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02" h="17">
                <a:moveTo>
                  <a:pt x="16" y="8"/>
                </a:moveTo>
                <a:lnTo>
                  <a:pt x="8" y="17"/>
                </a:lnTo>
                <a:lnTo>
                  <a:pt x="502" y="17"/>
                </a:lnTo>
                <a:lnTo>
                  <a:pt x="502" y="0"/>
                </a:lnTo>
                <a:lnTo>
                  <a:pt x="8" y="0"/>
                </a:lnTo>
                <a:lnTo>
                  <a:pt x="0" y="8"/>
                </a:lnTo>
                <a:lnTo>
                  <a:pt x="8" y="0"/>
                </a:lnTo>
                <a:lnTo>
                  <a:pt x="0" y="0"/>
                </a:lnTo>
                <a:lnTo>
                  <a:pt x="0" y="8"/>
                </a:lnTo>
                <a:lnTo>
                  <a:pt x="16" y="8"/>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030" name="Freeform 67"/>
          <p:cNvSpPr>
            <a:spLocks/>
          </p:cNvSpPr>
          <p:nvPr/>
        </p:nvSpPr>
        <p:spPr bwMode="auto">
          <a:xfrm>
            <a:off x="5395913" y="1666875"/>
            <a:ext cx="25400" cy="215900"/>
          </a:xfrm>
          <a:custGeom>
            <a:avLst/>
            <a:gdLst>
              <a:gd name="T0" fmla="*/ 2147483646 w 16"/>
              <a:gd name="T1" fmla="*/ 2147483646 h 136"/>
              <a:gd name="T2" fmla="*/ 2147483646 w 16"/>
              <a:gd name="T3" fmla="*/ 2147483646 h 136"/>
              <a:gd name="T4" fmla="*/ 2147483646 w 16"/>
              <a:gd name="T5" fmla="*/ 0 h 136"/>
              <a:gd name="T6" fmla="*/ 0 w 16"/>
              <a:gd name="T7" fmla="*/ 0 h 136"/>
              <a:gd name="T8" fmla="*/ 0 w 16"/>
              <a:gd name="T9" fmla="*/ 2147483646 h 136"/>
              <a:gd name="T10" fmla="*/ 2147483646 w 16"/>
              <a:gd name="T11" fmla="*/ 2147483646 h 1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136">
                <a:moveTo>
                  <a:pt x="8" y="136"/>
                </a:moveTo>
                <a:lnTo>
                  <a:pt x="16" y="136"/>
                </a:lnTo>
                <a:lnTo>
                  <a:pt x="16" y="0"/>
                </a:lnTo>
                <a:lnTo>
                  <a:pt x="0" y="0"/>
                </a:lnTo>
                <a:lnTo>
                  <a:pt x="0" y="136"/>
                </a:lnTo>
                <a:lnTo>
                  <a:pt x="8" y="136"/>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031" name="Freeform 68"/>
          <p:cNvSpPr>
            <a:spLocks/>
          </p:cNvSpPr>
          <p:nvPr/>
        </p:nvSpPr>
        <p:spPr bwMode="auto">
          <a:xfrm>
            <a:off x="5329238" y="1790700"/>
            <a:ext cx="158750" cy="184150"/>
          </a:xfrm>
          <a:custGeom>
            <a:avLst/>
            <a:gdLst>
              <a:gd name="T0" fmla="*/ 2147483646 w 100"/>
              <a:gd name="T1" fmla="*/ 2147483646 h 116"/>
              <a:gd name="T2" fmla="*/ 2147483646 w 100"/>
              <a:gd name="T3" fmla="*/ 0 h 116"/>
              <a:gd name="T4" fmla="*/ 2147483646 w 100"/>
              <a:gd name="T5" fmla="*/ 0 h 116"/>
              <a:gd name="T6" fmla="*/ 2147483646 w 100"/>
              <a:gd name="T7" fmla="*/ 2147483646 h 116"/>
              <a:gd name="T8" fmla="*/ 2147483646 w 100"/>
              <a:gd name="T9" fmla="*/ 2147483646 h 116"/>
              <a:gd name="T10" fmla="*/ 2147483646 w 100"/>
              <a:gd name="T11" fmla="*/ 2147483646 h 116"/>
              <a:gd name="T12" fmla="*/ 2147483646 w 100"/>
              <a:gd name="T13" fmla="*/ 2147483646 h 116"/>
              <a:gd name="T14" fmla="*/ 2147483646 w 100"/>
              <a:gd name="T15" fmla="*/ 2147483646 h 116"/>
              <a:gd name="T16" fmla="*/ 2147483646 w 100"/>
              <a:gd name="T17" fmla="*/ 2147483646 h 116"/>
              <a:gd name="T18" fmla="*/ 2147483646 w 100"/>
              <a:gd name="T19" fmla="*/ 2147483646 h 116"/>
              <a:gd name="T20" fmla="*/ 2147483646 w 100"/>
              <a:gd name="T21" fmla="*/ 2147483646 h 116"/>
              <a:gd name="T22" fmla="*/ 2147483646 w 100"/>
              <a:gd name="T23" fmla="*/ 2147483646 h 116"/>
              <a:gd name="T24" fmla="*/ 2147483646 w 100"/>
              <a:gd name="T25" fmla="*/ 2147483646 h 116"/>
              <a:gd name="T26" fmla="*/ 2147483646 w 100"/>
              <a:gd name="T27" fmla="*/ 2147483646 h 116"/>
              <a:gd name="T28" fmla="*/ 2147483646 w 100"/>
              <a:gd name="T29" fmla="*/ 2147483646 h 116"/>
              <a:gd name="T30" fmla="*/ 2147483646 w 100"/>
              <a:gd name="T31" fmla="*/ 2147483646 h 116"/>
              <a:gd name="T32" fmla="*/ 2147483646 w 100"/>
              <a:gd name="T33" fmla="*/ 2147483646 h 116"/>
              <a:gd name="T34" fmla="*/ 2147483646 w 100"/>
              <a:gd name="T35" fmla="*/ 2147483646 h 116"/>
              <a:gd name="T36" fmla="*/ 2147483646 w 100"/>
              <a:gd name="T37" fmla="*/ 2147483646 h 116"/>
              <a:gd name="T38" fmla="*/ 2147483646 w 100"/>
              <a:gd name="T39" fmla="*/ 2147483646 h 116"/>
              <a:gd name="T40" fmla="*/ 2147483646 w 100"/>
              <a:gd name="T41" fmla="*/ 2147483646 h 116"/>
              <a:gd name="T42" fmla="*/ 2147483646 w 100"/>
              <a:gd name="T43" fmla="*/ 2147483646 h 116"/>
              <a:gd name="T44" fmla="*/ 2147483646 w 100"/>
              <a:gd name="T45" fmla="*/ 2147483646 h 116"/>
              <a:gd name="T46" fmla="*/ 2147483646 w 100"/>
              <a:gd name="T47" fmla="*/ 2147483646 h 116"/>
              <a:gd name="T48" fmla="*/ 2147483646 w 100"/>
              <a:gd name="T49" fmla="*/ 2147483646 h 116"/>
              <a:gd name="T50" fmla="*/ 2147483646 w 100"/>
              <a:gd name="T51" fmla="*/ 2147483646 h 116"/>
              <a:gd name="T52" fmla="*/ 2147483646 w 100"/>
              <a:gd name="T53" fmla="*/ 2147483646 h 116"/>
              <a:gd name="T54" fmla="*/ 2147483646 w 100"/>
              <a:gd name="T55" fmla="*/ 2147483646 h 116"/>
              <a:gd name="T56" fmla="*/ 2147483646 w 100"/>
              <a:gd name="T57" fmla="*/ 2147483646 h 116"/>
              <a:gd name="T58" fmla="*/ 2147483646 w 100"/>
              <a:gd name="T59" fmla="*/ 2147483646 h 116"/>
              <a:gd name="T60" fmla="*/ 2147483646 w 100"/>
              <a:gd name="T61" fmla="*/ 2147483646 h 116"/>
              <a:gd name="T62" fmla="*/ 2147483646 w 100"/>
              <a:gd name="T63" fmla="*/ 2147483646 h 116"/>
              <a:gd name="T64" fmla="*/ 2147483646 w 100"/>
              <a:gd name="T65" fmla="*/ 0 h 116"/>
              <a:gd name="T66" fmla="*/ 0 w 100"/>
              <a:gd name="T67" fmla="*/ 0 h 116"/>
              <a:gd name="T68" fmla="*/ 2147483646 w 100"/>
              <a:gd name="T69" fmla="*/ 2147483646 h 11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00" h="116">
                <a:moveTo>
                  <a:pt x="50" y="116"/>
                </a:moveTo>
                <a:lnTo>
                  <a:pt x="100" y="0"/>
                </a:lnTo>
                <a:lnTo>
                  <a:pt x="97" y="0"/>
                </a:lnTo>
                <a:lnTo>
                  <a:pt x="94" y="3"/>
                </a:lnTo>
                <a:lnTo>
                  <a:pt x="92" y="3"/>
                </a:lnTo>
                <a:lnTo>
                  <a:pt x="89" y="6"/>
                </a:lnTo>
                <a:lnTo>
                  <a:pt x="83" y="6"/>
                </a:lnTo>
                <a:lnTo>
                  <a:pt x="80" y="8"/>
                </a:lnTo>
                <a:lnTo>
                  <a:pt x="78" y="8"/>
                </a:lnTo>
                <a:lnTo>
                  <a:pt x="75" y="8"/>
                </a:lnTo>
                <a:lnTo>
                  <a:pt x="72" y="11"/>
                </a:lnTo>
                <a:lnTo>
                  <a:pt x="69" y="11"/>
                </a:lnTo>
                <a:lnTo>
                  <a:pt x="67" y="11"/>
                </a:lnTo>
                <a:lnTo>
                  <a:pt x="64" y="11"/>
                </a:lnTo>
                <a:lnTo>
                  <a:pt x="58" y="11"/>
                </a:lnTo>
                <a:lnTo>
                  <a:pt x="55" y="11"/>
                </a:lnTo>
                <a:lnTo>
                  <a:pt x="53" y="11"/>
                </a:lnTo>
                <a:lnTo>
                  <a:pt x="50" y="11"/>
                </a:lnTo>
                <a:lnTo>
                  <a:pt x="47" y="11"/>
                </a:lnTo>
                <a:lnTo>
                  <a:pt x="44" y="11"/>
                </a:lnTo>
                <a:lnTo>
                  <a:pt x="42" y="11"/>
                </a:lnTo>
                <a:lnTo>
                  <a:pt x="39" y="11"/>
                </a:lnTo>
                <a:lnTo>
                  <a:pt x="33" y="11"/>
                </a:lnTo>
                <a:lnTo>
                  <a:pt x="30" y="11"/>
                </a:lnTo>
                <a:lnTo>
                  <a:pt x="28" y="11"/>
                </a:lnTo>
                <a:lnTo>
                  <a:pt x="25" y="8"/>
                </a:lnTo>
                <a:lnTo>
                  <a:pt x="22" y="8"/>
                </a:lnTo>
                <a:lnTo>
                  <a:pt x="19" y="8"/>
                </a:lnTo>
                <a:lnTo>
                  <a:pt x="17" y="6"/>
                </a:lnTo>
                <a:lnTo>
                  <a:pt x="14" y="6"/>
                </a:lnTo>
                <a:lnTo>
                  <a:pt x="8" y="3"/>
                </a:lnTo>
                <a:lnTo>
                  <a:pt x="5" y="3"/>
                </a:lnTo>
                <a:lnTo>
                  <a:pt x="3" y="0"/>
                </a:lnTo>
                <a:lnTo>
                  <a:pt x="0" y="0"/>
                </a:lnTo>
                <a:lnTo>
                  <a:pt x="50" y="116"/>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032" name="Freeform 69"/>
          <p:cNvSpPr>
            <a:spLocks/>
          </p:cNvSpPr>
          <p:nvPr/>
        </p:nvSpPr>
        <p:spPr bwMode="auto">
          <a:xfrm>
            <a:off x="5403850" y="4949825"/>
            <a:ext cx="101600" cy="34925"/>
          </a:xfrm>
          <a:custGeom>
            <a:avLst/>
            <a:gdLst>
              <a:gd name="T0" fmla="*/ 2147483646 w 64"/>
              <a:gd name="T1" fmla="*/ 2147483646 h 22"/>
              <a:gd name="T2" fmla="*/ 2147483646 w 64"/>
              <a:gd name="T3" fmla="*/ 0 h 22"/>
              <a:gd name="T4" fmla="*/ 0 w 64"/>
              <a:gd name="T5" fmla="*/ 0 h 22"/>
              <a:gd name="T6" fmla="*/ 0 w 64"/>
              <a:gd name="T7" fmla="*/ 2147483646 h 22"/>
              <a:gd name="T8" fmla="*/ 2147483646 w 64"/>
              <a:gd name="T9" fmla="*/ 2147483646 h 22"/>
              <a:gd name="T10" fmla="*/ 2147483646 w 64"/>
              <a:gd name="T11" fmla="*/ 2147483646 h 22"/>
              <a:gd name="T12" fmla="*/ 2147483646 w 64"/>
              <a:gd name="T13" fmla="*/ 2147483646 h 22"/>
              <a:gd name="T14" fmla="*/ 2147483646 w 64"/>
              <a:gd name="T15" fmla="*/ 0 h 22"/>
              <a:gd name="T16" fmla="*/ 2147483646 w 64"/>
              <a:gd name="T17" fmla="*/ 0 h 22"/>
              <a:gd name="T18" fmla="*/ 2147483646 w 64"/>
              <a:gd name="T19" fmla="*/ 2147483646 h 2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4" h="22">
                <a:moveTo>
                  <a:pt x="64" y="11"/>
                </a:moveTo>
                <a:lnTo>
                  <a:pt x="53" y="0"/>
                </a:lnTo>
                <a:lnTo>
                  <a:pt x="0" y="0"/>
                </a:lnTo>
                <a:lnTo>
                  <a:pt x="0" y="22"/>
                </a:lnTo>
                <a:lnTo>
                  <a:pt x="53" y="22"/>
                </a:lnTo>
                <a:lnTo>
                  <a:pt x="42" y="11"/>
                </a:lnTo>
                <a:lnTo>
                  <a:pt x="64" y="11"/>
                </a:lnTo>
                <a:lnTo>
                  <a:pt x="64" y="0"/>
                </a:lnTo>
                <a:lnTo>
                  <a:pt x="53" y="0"/>
                </a:lnTo>
                <a:lnTo>
                  <a:pt x="6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033" name="Freeform 70"/>
          <p:cNvSpPr>
            <a:spLocks/>
          </p:cNvSpPr>
          <p:nvPr/>
        </p:nvSpPr>
        <p:spPr bwMode="auto">
          <a:xfrm>
            <a:off x="5470525" y="4967288"/>
            <a:ext cx="34925" cy="84137"/>
          </a:xfrm>
          <a:custGeom>
            <a:avLst/>
            <a:gdLst>
              <a:gd name="T0" fmla="*/ 2147483646 w 22"/>
              <a:gd name="T1" fmla="*/ 2147483646 h 53"/>
              <a:gd name="T2" fmla="*/ 2147483646 w 22"/>
              <a:gd name="T3" fmla="*/ 2147483646 h 53"/>
              <a:gd name="T4" fmla="*/ 2147483646 w 22"/>
              <a:gd name="T5" fmla="*/ 0 h 53"/>
              <a:gd name="T6" fmla="*/ 0 w 22"/>
              <a:gd name="T7" fmla="*/ 0 h 53"/>
              <a:gd name="T8" fmla="*/ 0 w 22"/>
              <a:gd name="T9" fmla="*/ 2147483646 h 53"/>
              <a:gd name="T10" fmla="*/ 2147483646 w 22"/>
              <a:gd name="T11" fmla="*/ 2147483646 h 53"/>
              <a:gd name="T12" fmla="*/ 2147483646 w 22"/>
              <a:gd name="T13" fmla="*/ 2147483646 h 53"/>
              <a:gd name="T14" fmla="*/ 2147483646 w 22"/>
              <a:gd name="T15" fmla="*/ 2147483646 h 53"/>
              <a:gd name="T16" fmla="*/ 2147483646 w 22"/>
              <a:gd name="T17" fmla="*/ 2147483646 h 53"/>
              <a:gd name="T18" fmla="*/ 2147483646 w 22"/>
              <a:gd name="T19" fmla="*/ 2147483646 h 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2" h="53">
                <a:moveTo>
                  <a:pt x="11" y="53"/>
                </a:moveTo>
                <a:lnTo>
                  <a:pt x="22" y="39"/>
                </a:lnTo>
                <a:lnTo>
                  <a:pt x="22" y="0"/>
                </a:lnTo>
                <a:lnTo>
                  <a:pt x="0" y="0"/>
                </a:lnTo>
                <a:lnTo>
                  <a:pt x="0" y="39"/>
                </a:lnTo>
                <a:lnTo>
                  <a:pt x="11" y="28"/>
                </a:lnTo>
                <a:lnTo>
                  <a:pt x="11" y="53"/>
                </a:lnTo>
                <a:lnTo>
                  <a:pt x="22" y="53"/>
                </a:lnTo>
                <a:lnTo>
                  <a:pt x="22" y="39"/>
                </a:lnTo>
                <a:lnTo>
                  <a:pt x="11"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034" name="Freeform 71"/>
          <p:cNvSpPr>
            <a:spLocks/>
          </p:cNvSpPr>
          <p:nvPr/>
        </p:nvSpPr>
        <p:spPr bwMode="auto">
          <a:xfrm>
            <a:off x="5381625" y="5011738"/>
            <a:ext cx="106363" cy="39687"/>
          </a:xfrm>
          <a:custGeom>
            <a:avLst/>
            <a:gdLst>
              <a:gd name="T0" fmla="*/ 0 w 67"/>
              <a:gd name="T1" fmla="*/ 2147483646 h 25"/>
              <a:gd name="T2" fmla="*/ 2147483646 w 67"/>
              <a:gd name="T3" fmla="*/ 2147483646 h 25"/>
              <a:gd name="T4" fmla="*/ 2147483646 w 67"/>
              <a:gd name="T5" fmla="*/ 2147483646 h 25"/>
              <a:gd name="T6" fmla="*/ 2147483646 w 67"/>
              <a:gd name="T7" fmla="*/ 0 h 25"/>
              <a:gd name="T8" fmla="*/ 2147483646 w 67"/>
              <a:gd name="T9" fmla="*/ 0 h 25"/>
              <a:gd name="T10" fmla="*/ 2147483646 w 67"/>
              <a:gd name="T11" fmla="*/ 2147483646 h 25"/>
              <a:gd name="T12" fmla="*/ 0 w 67"/>
              <a:gd name="T13" fmla="*/ 2147483646 h 25"/>
              <a:gd name="T14" fmla="*/ 0 w 67"/>
              <a:gd name="T15" fmla="*/ 2147483646 h 25"/>
              <a:gd name="T16" fmla="*/ 2147483646 w 67"/>
              <a:gd name="T17" fmla="*/ 2147483646 h 25"/>
              <a:gd name="T18" fmla="*/ 0 w 67"/>
              <a:gd name="T19" fmla="*/ 2147483646 h 2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7" h="25">
                <a:moveTo>
                  <a:pt x="0" y="11"/>
                </a:moveTo>
                <a:lnTo>
                  <a:pt x="14" y="25"/>
                </a:lnTo>
                <a:lnTo>
                  <a:pt x="67" y="25"/>
                </a:lnTo>
                <a:lnTo>
                  <a:pt x="67" y="0"/>
                </a:lnTo>
                <a:lnTo>
                  <a:pt x="14" y="0"/>
                </a:lnTo>
                <a:lnTo>
                  <a:pt x="25" y="11"/>
                </a:lnTo>
                <a:lnTo>
                  <a:pt x="0" y="11"/>
                </a:lnTo>
                <a:lnTo>
                  <a:pt x="0" y="25"/>
                </a:lnTo>
                <a:lnTo>
                  <a:pt x="14" y="25"/>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035" name="Freeform 72"/>
          <p:cNvSpPr>
            <a:spLocks/>
          </p:cNvSpPr>
          <p:nvPr/>
        </p:nvSpPr>
        <p:spPr bwMode="auto">
          <a:xfrm>
            <a:off x="5381625" y="4949825"/>
            <a:ext cx="39688" cy="79375"/>
          </a:xfrm>
          <a:custGeom>
            <a:avLst/>
            <a:gdLst>
              <a:gd name="T0" fmla="*/ 2147483646 w 25"/>
              <a:gd name="T1" fmla="*/ 0 h 50"/>
              <a:gd name="T2" fmla="*/ 0 w 25"/>
              <a:gd name="T3" fmla="*/ 2147483646 h 50"/>
              <a:gd name="T4" fmla="*/ 0 w 25"/>
              <a:gd name="T5" fmla="*/ 2147483646 h 50"/>
              <a:gd name="T6" fmla="*/ 2147483646 w 25"/>
              <a:gd name="T7" fmla="*/ 2147483646 h 50"/>
              <a:gd name="T8" fmla="*/ 2147483646 w 25"/>
              <a:gd name="T9" fmla="*/ 2147483646 h 50"/>
              <a:gd name="T10" fmla="*/ 2147483646 w 25"/>
              <a:gd name="T11" fmla="*/ 2147483646 h 50"/>
              <a:gd name="T12" fmla="*/ 2147483646 w 25"/>
              <a:gd name="T13" fmla="*/ 0 h 50"/>
              <a:gd name="T14" fmla="*/ 0 w 25"/>
              <a:gd name="T15" fmla="*/ 0 h 50"/>
              <a:gd name="T16" fmla="*/ 0 w 25"/>
              <a:gd name="T17" fmla="*/ 2147483646 h 50"/>
              <a:gd name="T18" fmla="*/ 2147483646 w 25"/>
              <a:gd name="T19" fmla="*/ 0 h 5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5" h="50">
                <a:moveTo>
                  <a:pt x="14" y="0"/>
                </a:moveTo>
                <a:lnTo>
                  <a:pt x="0" y="11"/>
                </a:lnTo>
                <a:lnTo>
                  <a:pt x="0" y="50"/>
                </a:lnTo>
                <a:lnTo>
                  <a:pt x="25" y="50"/>
                </a:lnTo>
                <a:lnTo>
                  <a:pt x="25" y="11"/>
                </a:lnTo>
                <a:lnTo>
                  <a:pt x="14" y="22"/>
                </a:lnTo>
                <a:lnTo>
                  <a:pt x="14" y="0"/>
                </a:lnTo>
                <a:lnTo>
                  <a:pt x="0" y="0"/>
                </a:lnTo>
                <a:lnTo>
                  <a:pt x="0" y="11"/>
                </a:lnTo>
                <a:lnTo>
                  <a:pt x="1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036" name="Freeform 73"/>
          <p:cNvSpPr>
            <a:spLocks/>
          </p:cNvSpPr>
          <p:nvPr/>
        </p:nvSpPr>
        <p:spPr bwMode="auto">
          <a:xfrm>
            <a:off x="5126038" y="4949825"/>
            <a:ext cx="106362" cy="34925"/>
          </a:xfrm>
          <a:custGeom>
            <a:avLst/>
            <a:gdLst>
              <a:gd name="T0" fmla="*/ 2147483646 w 67"/>
              <a:gd name="T1" fmla="*/ 2147483646 h 22"/>
              <a:gd name="T2" fmla="*/ 2147483646 w 67"/>
              <a:gd name="T3" fmla="*/ 0 h 22"/>
              <a:gd name="T4" fmla="*/ 0 w 67"/>
              <a:gd name="T5" fmla="*/ 0 h 22"/>
              <a:gd name="T6" fmla="*/ 0 w 67"/>
              <a:gd name="T7" fmla="*/ 2147483646 h 22"/>
              <a:gd name="T8" fmla="*/ 2147483646 w 67"/>
              <a:gd name="T9" fmla="*/ 2147483646 h 22"/>
              <a:gd name="T10" fmla="*/ 2147483646 w 67"/>
              <a:gd name="T11" fmla="*/ 2147483646 h 22"/>
              <a:gd name="T12" fmla="*/ 2147483646 w 67"/>
              <a:gd name="T13" fmla="*/ 2147483646 h 22"/>
              <a:gd name="T14" fmla="*/ 2147483646 w 67"/>
              <a:gd name="T15" fmla="*/ 0 h 22"/>
              <a:gd name="T16" fmla="*/ 2147483646 w 67"/>
              <a:gd name="T17" fmla="*/ 0 h 22"/>
              <a:gd name="T18" fmla="*/ 2147483646 w 67"/>
              <a:gd name="T19" fmla="*/ 2147483646 h 2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7" h="22">
                <a:moveTo>
                  <a:pt x="67" y="11"/>
                </a:moveTo>
                <a:lnTo>
                  <a:pt x="53" y="0"/>
                </a:lnTo>
                <a:lnTo>
                  <a:pt x="0" y="0"/>
                </a:lnTo>
                <a:lnTo>
                  <a:pt x="0" y="22"/>
                </a:lnTo>
                <a:lnTo>
                  <a:pt x="53" y="22"/>
                </a:lnTo>
                <a:lnTo>
                  <a:pt x="42" y="11"/>
                </a:lnTo>
                <a:lnTo>
                  <a:pt x="67" y="11"/>
                </a:lnTo>
                <a:lnTo>
                  <a:pt x="67" y="0"/>
                </a:lnTo>
                <a:lnTo>
                  <a:pt x="53" y="0"/>
                </a:lnTo>
                <a:lnTo>
                  <a:pt x="67"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037" name="Freeform 74"/>
          <p:cNvSpPr>
            <a:spLocks/>
          </p:cNvSpPr>
          <p:nvPr/>
        </p:nvSpPr>
        <p:spPr bwMode="auto">
          <a:xfrm>
            <a:off x="5192713" y="4967288"/>
            <a:ext cx="39687" cy="84137"/>
          </a:xfrm>
          <a:custGeom>
            <a:avLst/>
            <a:gdLst>
              <a:gd name="T0" fmla="*/ 2147483646 w 25"/>
              <a:gd name="T1" fmla="*/ 2147483646 h 53"/>
              <a:gd name="T2" fmla="*/ 2147483646 w 25"/>
              <a:gd name="T3" fmla="*/ 2147483646 h 53"/>
              <a:gd name="T4" fmla="*/ 2147483646 w 25"/>
              <a:gd name="T5" fmla="*/ 0 h 53"/>
              <a:gd name="T6" fmla="*/ 0 w 25"/>
              <a:gd name="T7" fmla="*/ 0 h 53"/>
              <a:gd name="T8" fmla="*/ 0 w 25"/>
              <a:gd name="T9" fmla="*/ 2147483646 h 53"/>
              <a:gd name="T10" fmla="*/ 2147483646 w 25"/>
              <a:gd name="T11" fmla="*/ 2147483646 h 53"/>
              <a:gd name="T12" fmla="*/ 2147483646 w 25"/>
              <a:gd name="T13" fmla="*/ 2147483646 h 53"/>
              <a:gd name="T14" fmla="*/ 2147483646 w 25"/>
              <a:gd name="T15" fmla="*/ 2147483646 h 53"/>
              <a:gd name="T16" fmla="*/ 2147483646 w 25"/>
              <a:gd name="T17" fmla="*/ 2147483646 h 53"/>
              <a:gd name="T18" fmla="*/ 2147483646 w 25"/>
              <a:gd name="T19" fmla="*/ 2147483646 h 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5" h="53">
                <a:moveTo>
                  <a:pt x="11" y="53"/>
                </a:moveTo>
                <a:lnTo>
                  <a:pt x="25" y="39"/>
                </a:lnTo>
                <a:lnTo>
                  <a:pt x="25" y="0"/>
                </a:lnTo>
                <a:lnTo>
                  <a:pt x="0" y="0"/>
                </a:lnTo>
                <a:lnTo>
                  <a:pt x="0" y="39"/>
                </a:lnTo>
                <a:lnTo>
                  <a:pt x="11" y="28"/>
                </a:lnTo>
                <a:lnTo>
                  <a:pt x="11" y="53"/>
                </a:lnTo>
                <a:lnTo>
                  <a:pt x="25" y="53"/>
                </a:lnTo>
                <a:lnTo>
                  <a:pt x="25" y="39"/>
                </a:lnTo>
                <a:lnTo>
                  <a:pt x="11"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038" name="Freeform 75"/>
          <p:cNvSpPr>
            <a:spLocks/>
          </p:cNvSpPr>
          <p:nvPr/>
        </p:nvSpPr>
        <p:spPr bwMode="auto">
          <a:xfrm>
            <a:off x="5108575" y="5011738"/>
            <a:ext cx="101600" cy="39687"/>
          </a:xfrm>
          <a:custGeom>
            <a:avLst/>
            <a:gdLst>
              <a:gd name="T0" fmla="*/ 0 w 64"/>
              <a:gd name="T1" fmla="*/ 2147483646 h 25"/>
              <a:gd name="T2" fmla="*/ 2147483646 w 64"/>
              <a:gd name="T3" fmla="*/ 2147483646 h 25"/>
              <a:gd name="T4" fmla="*/ 2147483646 w 64"/>
              <a:gd name="T5" fmla="*/ 2147483646 h 25"/>
              <a:gd name="T6" fmla="*/ 2147483646 w 64"/>
              <a:gd name="T7" fmla="*/ 0 h 25"/>
              <a:gd name="T8" fmla="*/ 2147483646 w 64"/>
              <a:gd name="T9" fmla="*/ 0 h 25"/>
              <a:gd name="T10" fmla="*/ 2147483646 w 64"/>
              <a:gd name="T11" fmla="*/ 2147483646 h 25"/>
              <a:gd name="T12" fmla="*/ 0 w 64"/>
              <a:gd name="T13" fmla="*/ 2147483646 h 25"/>
              <a:gd name="T14" fmla="*/ 0 w 64"/>
              <a:gd name="T15" fmla="*/ 2147483646 h 25"/>
              <a:gd name="T16" fmla="*/ 2147483646 w 64"/>
              <a:gd name="T17" fmla="*/ 2147483646 h 25"/>
              <a:gd name="T18" fmla="*/ 0 w 64"/>
              <a:gd name="T19" fmla="*/ 2147483646 h 2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4" h="25">
                <a:moveTo>
                  <a:pt x="0" y="11"/>
                </a:moveTo>
                <a:lnTo>
                  <a:pt x="11" y="25"/>
                </a:lnTo>
                <a:lnTo>
                  <a:pt x="64" y="25"/>
                </a:lnTo>
                <a:lnTo>
                  <a:pt x="64" y="0"/>
                </a:lnTo>
                <a:lnTo>
                  <a:pt x="11" y="0"/>
                </a:lnTo>
                <a:lnTo>
                  <a:pt x="22" y="11"/>
                </a:lnTo>
                <a:lnTo>
                  <a:pt x="0" y="11"/>
                </a:lnTo>
                <a:lnTo>
                  <a:pt x="0" y="25"/>
                </a:lnTo>
                <a:lnTo>
                  <a:pt x="11" y="25"/>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039" name="Freeform 76"/>
          <p:cNvSpPr>
            <a:spLocks/>
          </p:cNvSpPr>
          <p:nvPr/>
        </p:nvSpPr>
        <p:spPr bwMode="auto">
          <a:xfrm>
            <a:off x="5108575" y="4949825"/>
            <a:ext cx="34925" cy="79375"/>
          </a:xfrm>
          <a:custGeom>
            <a:avLst/>
            <a:gdLst>
              <a:gd name="T0" fmla="*/ 2147483646 w 22"/>
              <a:gd name="T1" fmla="*/ 0 h 50"/>
              <a:gd name="T2" fmla="*/ 0 w 22"/>
              <a:gd name="T3" fmla="*/ 2147483646 h 50"/>
              <a:gd name="T4" fmla="*/ 0 w 22"/>
              <a:gd name="T5" fmla="*/ 2147483646 h 50"/>
              <a:gd name="T6" fmla="*/ 2147483646 w 22"/>
              <a:gd name="T7" fmla="*/ 2147483646 h 50"/>
              <a:gd name="T8" fmla="*/ 2147483646 w 22"/>
              <a:gd name="T9" fmla="*/ 2147483646 h 50"/>
              <a:gd name="T10" fmla="*/ 2147483646 w 22"/>
              <a:gd name="T11" fmla="*/ 2147483646 h 50"/>
              <a:gd name="T12" fmla="*/ 2147483646 w 22"/>
              <a:gd name="T13" fmla="*/ 0 h 50"/>
              <a:gd name="T14" fmla="*/ 0 w 22"/>
              <a:gd name="T15" fmla="*/ 0 h 50"/>
              <a:gd name="T16" fmla="*/ 0 w 22"/>
              <a:gd name="T17" fmla="*/ 2147483646 h 50"/>
              <a:gd name="T18" fmla="*/ 2147483646 w 22"/>
              <a:gd name="T19" fmla="*/ 0 h 5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2" h="50">
                <a:moveTo>
                  <a:pt x="11" y="0"/>
                </a:moveTo>
                <a:lnTo>
                  <a:pt x="0" y="11"/>
                </a:lnTo>
                <a:lnTo>
                  <a:pt x="0" y="50"/>
                </a:lnTo>
                <a:lnTo>
                  <a:pt x="22" y="50"/>
                </a:lnTo>
                <a:lnTo>
                  <a:pt x="22" y="11"/>
                </a:lnTo>
                <a:lnTo>
                  <a:pt x="11" y="22"/>
                </a:lnTo>
                <a:lnTo>
                  <a:pt x="11" y="0"/>
                </a:lnTo>
                <a:lnTo>
                  <a:pt x="0" y="0"/>
                </a:lnTo>
                <a:lnTo>
                  <a:pt x="0" y="11"/>
                </a:lnTo>
                <a:lnTo>
                  <a:pt x="1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040" name="Freeform 77"/>
          <p:cNvSpPr>
            <a:spLocks/>
          </p:cNvSpPr>
          <p:nvPr/>
        </p:nvSpPr>
        <p:spPr bwMode="auto">
          <a:xfrm>
            <a:off x="5492750" y="4949825"/>
            <a:ext cx="104775" cy="34925"/>
          </a:xfrm>
          <a:custGeom>
            <a:avLst/>
            <a:gdLst>
              <a:gd name="T0" fmla="*/ 2147483646 w 66"/>
              <a:gd name="T1" fmla="*/ 2147483646 h 22"/>
              <a:gd name="T2" fmla="*/ 2147483646 w 66"/>
              <a:gd name="T3" fmla="*/ 0 h 22"/>
              <a:gd name="T4" fmla="*/ 0 w 66"/>
              <a:gd name="T5" fmla="*/ 0 h 22"/>
              <a:gd name="T6" fmla="*/ 0 w 66"/>
              <a:gd name="T7" fmla="*/ 2147483646 h 22"/>
              <a:gd name="T8" fmla="*/ 2147483646 w 66"/>
              <a:gd name="T9" fmla="*/ 2147483646 h 22"/>
              <a:gd name="T10" fmla="*/ 2147483646 w 66"/>
              <a:gd name="T11" fmla="*/ 2147483646 h 22"/>
              <a:gd name="T12" fmla="*/ 2147483646 w 66"/>
              <a:gd name="T13" fmla="*/ 2147483646 h 22"/>
              <a:gd name="T14" fmla="*/ 2147483646 w 66"/>
              <a:gd name="T15" fmla="*/ 0 h 22"/>
              <a:gd name="T16" fmla="*/ 2147483646 w 66"/>
              <a:gd name="T17" fmla="*/ 0 h 22"/>
              <a:gd name="T18" fmla="*/ 2147483646 w 66"/>
              <a:gd name="T19" fmla="*/ 2147483646 h 2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6" h="22">
                <a:moveTo>
                  <a:pt x="66" y="11"/>
                </a:moveTo>
                <a:lnTo>
                  <a:pt x="55" y="0"/>
                </a:lnTo>
                <a:lnTo>
                  <a:pt x="0" y="0"/>
                </a:lnTo>
                <a:lnTo>
                  <a:pt x="0" y="22"/>
                </a:lnTo>
                <a:lnTo>
                  <a:pt x="55" y="22"/>
                </a:lnTo>
                <a:lnTo>
                  <a:pt x="44" y="11"/>
                </a:lnTo>
                <a:lnTo>
                  <a:pt x="66" y="11"/>
                </a:lnTo>
                <a:lnTo>
                  <a:pt x="66" y="0"/>
                </a:lnTo>
                <a:lnTo>
                  <a:pt x="55" y="0"/>
                </a:lnTo>
                <a:lnTo>
                  <a:pt x="66"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041" name="Freeform 78"/>
          <p:cNvSpPr>
            <a:spLocks/>
          </p:cNvSpPr>
          <p:nvPr/>
        </p:nvSpPr>
        <p:spPr bwMode="auto">
          <a:xfrm>
            <a:off x="5562600" y="4967288"/>
            <a:ext cx="34925" cy="84137"/>
          </a:xfrm>
          <a:custGeom>
            <a:avLst/>
            <a:gdLst>
              <a:gd name="T0" fmla="*/ 2147483646 w 22"/>
              <a:gd name="T1" fmla="*/ 2147483646 h 53"/>
              <a:gd name="T2" fmla="*/ 2147483646 w 22"/>
              <a:gd name="T3" fmla="*/ 2147483646 h 53"/>
              <a:gd name="T4" fmla="*/ 2147483646 w 22"/>
              <a:gd name="T5" fmla="*/ 0 h 53"/>
              <a:gd name="T6" fmla="*/ 0 w 22"/>
              <a:gd name="T7" fmla="*/ 0 h 53"/>
              <a:gd name="T8" fmla="*/ 0 w 22"/>
              <a:gd name="T9" fmla="*/ 2147483646 h 53"/>
              <a:gd name="T10" fmla="*/ 2147483646 w 22"/>
              <a:gd name="T11" fmla="*/ 2147483646 h 53"/>
              <a:gd name="T12" fmla="*/ 2147483646 w 22"/>
              <a:gd name="T13" fmla="*/ 2147483646 h 53"/>
              <a:gd name="T14" fmla="*/ 2147483646 w 22"/>
              <a:gd name="T15" fmla="*/ 2147483646 h 53"/>
              <a:gd name="T16" fmla="*/ 2147483646 w 22"/>
              <a:gd name="T17" fmla="*/ 2147483646 h 53"/>
              <a:gd name="T18" fmla="*/ 2147483646 w 22"/>
              <a:gd name="T19" fmla="*/ 2147483646 h 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2" h="53">
                <a:moveTo>
                  <a:pt x="11" y="53"/>
                </a:moveTo>
                <a:lnTo>
                  <a:pt x="22" y="39"/>
                </a:lnTo>
                <a:lnTo>
                  <a:pt x="22" y="0"/>
                </a:lnTo>
                <a:lnTo>
                  <a:pt x="0" y="0"/>
                </a:lnTo>
                <a:lnTo>
                  <a:pt x="0" y="39"/>
                </a:lnTo>
                <a:lnTo>
                  <a:pt x="11" y="28"/>
                </a:lnTo>
                <a:lnTo>
                  <a:pt x="11" y="53"/>
                </a:lnTo>
                <a:lnTo>
                  <a:pt x="22" y="53"/>
                </a:lnTo>
                <a:lnTo>
                  <a:pt x="22" y="39"/>
                </a:lnTo>
                <a:lnTo>
                  <a:pt x="11"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042" name="Freeform 79"/>
          <p:cNvSpPr>
            <a:spLocks/>
          </p:cNvSpPr>
          <p:nvPr/>
        </p:nvSpPr>
        <p:spPr bwMode="auto">
          <a:xfrm>
            <a:off x="5475288" y="5011738"/>
            <a:ext cx="104775" cy="39687"/>
          </a:xfrm>
          <a:custGeom>
            <a:avLst/>
            <a:gdLst>
              <a:gd name="T0" fmla="*/ 0 w 66"/>
              <a:gd name="T1" fmla="*/ 2147483646 h 25"/>
              <a:gd name="T2" fmla="*/ 2147483646 w 66"/>
              <a:gd name="T3" fmla="*/ 2147483646 h 25"/>
              <a:gd name="T4" fmla="*/ 2147483646 w 66"/>
              <a:gd name="T5" fmla="*/ 2147483646 h 25"/>
              <a:gd name="T6" fmla="*/ 2147483646 w 66"/>
              <a:gd name="T7" fmla="*/ 0 h 25"/>
              <a:gd name="T8" fmla="*/ 2147483646 w 66"/>
              <a:gd name="T9" fmla="*/ 0 h 25"/>
              <a:gd name="T10" fmla="*/ 2147483646 w 66"/>
              <a:gd name="T11" fmla="*/ 2147483646 h 25"/>
              <a:gd name="T12" fmla="*/ 0 w 66"/>
              <a:gd name="T13" fmla="*/ 2147483646 h 25"/>
              <a:gd name="T14" fmla="*/ 0 w 66"/>
              <a:gd name="T15" fmla="*/ 2147483646 h 25"/>
              <a:gd name="T16" fmla="*/ 2147483646 w 66"/>
              <a:gd name="T17" fmla="*/ 2147483646 h 25"/>
              <a:gd name="T18" fmla="*/ 0 w 66"/>
              <a:gd name="T19" fmla="*/ 2147483646 h 2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6" h="25">
                <a:moveTo>
                  <a:pt x="0" y="11"/>
                </a:moveTo>
                <a:lnTo>
                  <a:pt x="11" y="25"/>
                </a:lnTo>
                <a:lnTo>
                  <a:pt x="66" y="25"/>
                </a:lnTo>
                <a:lnTo>
                  <a:pt x="66" y="0"/>
                </a:lnTo>
                <a:lnTo>
                  <a:pt x="11" y="0"/>
                </a:lnTo>
                <a:lnTo>
                  <a:pt x="25" y="11"/>
                </a:lnTo>
                <a:lnTo>
                  <a:pt x="0" y="11"/>
                </a:lnTo>
                <a:lnTo>
                  <a:pt x="0" y="25"/>
                </a:lnTo>
                <a:lnTo>
                  <a:pt x="11" y="25"/>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043" name="Freeform 80"/>
          <p:cNvSpPr>
            <a:spLocks/>
          </p:cNvSpPr>
          <p:nvPr/>
        </p:nvSpPr>
        <p:spPr bwMode="auto">
          <a:xfrm>
            <a:off x="5475288" y="4949825"/>
            <a:ext cx="39687" cy="79375"/>
          </a:xfrm>
          <a:custGeom>
            <a:avLst/>
            <a:gdLst>
              <a:gd name="T0" fmla="*/ 2147483646 w 25"/>
              <a:gd name="T1" fmla="*/ 0 h 50"/>
              <a:gd name="T2" fmla="*/ 0 w 25"/>
              <a:gd name="T3" fmla="*/ 2147483646 h 50"/>
              <a:gd name="T4" fmla="*/ 0 w 25"/>
              <a:gd name="T5" fmla="*/ 2147483646 h 50"/>
              <a:gd name="T6" fmla="*/ 2147483646 w 25"/>
              <a:gd name="T7" fmla="*/ 2147483646 h 50"/>
              <a:gd name="T8" fmla="*/ 2147483646 w 25"/>
              <a:gd name="T9" fmla="*/ 2147483646 h 50"/>
              <a:gd name="T10" fmla="*/ 2147483646 w 25"/>
              <a:gd name="T11" fmla="*/ 2147483646 h 50"/>
              <a:gd name="T12" fmla="*/ 2147483646 w 25"/>
              <a:gd name="T13" fmla="*/ 0 h 50"/>
              <a:gd name="T14" fmla="*/ 0 w 25"/>
              <a:gd name="T15" fmla="*/ 0 h 50"/>
              <a:gd name="T16" fmla="*/ 0 w 25"/>
              <a:gd name="T17" fmla="*/ 2147483646 h 50"/>
              <a:gd name="T18" fmla="*/ 2147483646 w 25"/>
              <a:gd name="T19" fmla="*/ 0 h 5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5" h="50">
                <a:moveTo>
                  <a:pt x="11" y="0"/>
                </a:moveTo>
                <a:lnTo>
                  <a:pt x="0" y="11"/>
                </a:lnTo>
                <a:lnTo>
                  <a:pt x="0" y="50"/>
                </a:lnTo>
                <a:lnTo>
                  <a:pt x="25" y="50"/>
                </a:lnTo>
                <a:lnTo>
                  <a:pt x="25" y="11"/>
                </a:lnTo>
                <a:lnTo>
                  <a:pt x="11" y="22"/>
                </a:lnTo>
                <a:lnTo>
                  <a:pt x="11" y="0"/>
                </a:lnTo>
                <a:lnTo>
                  <a:pt x="0" y="0"/>
                </a:lnTo>
                <a:lnTo>
                  <a:pt x="0" y="11"/>
                </a:lnTo>
                <a:lnTo>
                  <a:pt x="1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044" name="Freeform 81"/>
          <p:cNvSpPr>
            <a:spLocks/>
          </p:cNvSpPr>
          <p:nvPr/>
        </p:nvSpPr>
        <p:spPr bwMode="auto">
          <a:xfrm>
            <a:off x="5218113" y="4949825"/>
            <a:ext cx="106362" cy="34925"/>
          </a:xfrm>
          <a:custGeom>
            <a:avLst/>
            <a:gdLst>
              <a:gd name="T0" fmla="*/ 2147483646 w 67"/>
              <a:gd name="T1" fmla="*/ 2147483646 h 22"/>
              <a:gd name="T2" fmla="*/ 2147483646 w 67"/>
              <a:gd name="T3" fmla="*/ 0 h 22"/>
              <a:gd name="T4" fmla="*/ 0 w 67"/>
              <a:gd name="T5" fmla="*/ 0 h 22"/>
              <a:gd name="T6" fmla="*/ 0 w 67"/>
              <a:gd name="T7" fmla="*/ 2147483646 h 22"/>
              <a:gd name="T8" fmla="*/ 2147483646 w 67"/>
              <a:gd name="T9" fmla="*/ 2147483646 h 22"/>
              <a:gd name="T10" fmla="*/ 2147483646 w 67"/>
              <a:gd name="T11" fmla="*/ 2147483646 h 22"/>
              <a:gd name="T12" fmla="*/ 2147483646 w 67"/>
              <a:gd name="T13" fmla="*/ 2147483646 h 22"/>
              <a:gd name="T14" fmla="*/ 2147483646 w 67"/>
              <a:gd name="T15" fmla="*/ 0 h 22"/>
              <a:gd name="T16" fmla="*/ 2147483646 w 67"/>
              <a:gd name="T17" fmla="*/ 0 h 22"/>
              <a:gd name="T18" fmla="*/ 2147483646 w 67"/>
              <a:gd name="T19" fmla="*/ 2147483646 h 2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7" h="22">
                <a:moveTo>
                  <a:pt x="67" y="11"/>
                </a:moveTo>
                <a:lnTo>
                  <a:pt x="53" y="0"/>
                </a:lnTo>
                <a:lnTo>
                  <a:pt x="0" y="0"/>
                </a:lnTo>
                <a:lnTo>
                  <a:pt x="0" y="22"/>
                </a:lnTo>
                <a:lnTo>
                  <a:pt x="53" y="22"/>
                </a:lnTo>
                <a:lnTo>
                  <a:pt x="42" y="11"/>
                </a:lnTo>
                <a:lnTo>
                  <a:pt x="67" y="11"/>
                </a:lnTo>
                <a:lnTo>
                  <a:pt x="67" y="0"/>
                </a:lnTo>
                <a:lnTo>
                  <a:pt x="53" y="0"/>
                </a:lnTo>
                <a:lnTo>
                  <a:pt x="67"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045" name="Freeform 82"/>
          <p:cNvSpPr>
            <a:spLocks/>
          </p:cNvSpPr>
          <p:nvPr/>
        </p:nvSpPr>
        <p:spPr bwMode="auto">
          <a:xfrm>
            <a:off x="5284788" y="4967288"/>
            <a:ext cx="39687" cy="84137"/>
          </a:xfrm>
          <a:custGeom>
            <a:avLst/>
            <a:gdLst>
              <a:gd name="T0" fmla="*/ 2147483646 w 25"/>
              <a:gd name="T1" fmla="*/ 2147483646 h 53"/>
              <a:gd name="T2" fmla="*/ 2147483646 w 25"/>
              <a:gd name="T3" fmla="*/ 2147483646 h 53"/>
              <a:gd name="T4" fmla="*/ 2147483646 w 25"/>
              <a:gd name="T5" fmla="*/ 0 h 53"/>
              <a:gd name="T6" fmla="*/ 0 w 25"/>
              <a:gd name="T7" fmla="*/ 0 h 53"/>
              <a:gd name="T8" fmla="*/ 0 w 25"/>
              <a:gd name="T9" fmla="*/ 2147483646 h 53"/>
              <a:gd name="T10" fmla="*/ 2147483646 w 25"/>
              <a:gd name="T11" fmla="*/ 2147483646 h 53"/>
              <a:gd name="T12" fmla="*/ 2147483646 w 25"/>
              <a:gd name="T13" fmla="*/ 2147483646 h 53"/>
              <a:gd name="T14" fmla="*/ 2147483646 w 25"/>
              <a:gd name="T15" fmla="*/ 2147483646 h 53"/>
              <a:gd name="T16" fmla="*/ 2147483646 w 25"/>
              <a:gd name="T17" fmla="*/ 2147483646 h 53"/>
              <a:gd name="T18" fmla="*/ 2147483646 w 25"/>
              <a:gd name="T19" fmla="*/ 2147483646 h 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5" h="53">
                <a:moveTo>
                  <a:pt x="11" y="53"/>
                </a:moveTo>
                <a:lnTo>
                  <a:pt x="25" y="39"/>
                </a:lnTo>
                <a:lnTo>
                  <a:pt x="25" y="0"/>
                </a:lnTo>
                <a:lnTo>
                  <a:pt x="0" y="0"/>
                </a:lnTo>
                <a:lnTo>
                  <a:pt x="0" y="39"/>
                </a:lnTo>
                <a:lnTo>
                  <a:pt x="11" y="28"/>
                </a:lnTo>
                <a:lnTo>
                  <a:pt x="11" y="53"/>
                </a:lnTo>
                <a:lnTo>
                  <a:pt x="25" y="53"/>
                </a:lnTo>
                <a:lnTo>
                  <a:pt x="25" y="39"/>
                </a:lnTo>
                <a:lnTo>
                  <a:pt x="11"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046" name="Freeform 83"/>
          <p:cNvSpPr>
            <a:spLocks/>
          </p:cNvSpPr>
          <p:nvPr/>
        </p:nvSpPr>
        <p:spPr bwMode="auto">
          <a:xfrm>
            <a:off x="5200650" y="5011738"/>
            <a:ext cx="101600" cy="39687"/>
          </a:xfrm>
          <a:custGeom>
            <a:avLst/>
            <a:gdLst>
              <a:gd name="T0" fmla="*/ 0 w 64"/>
              <a:gd name="T1" fmla="*/ 2147483646 h 25"/>
              <a:gd name="T2" fmla="*/ 2147483646 w 64"/>
              <a:gd name="T3" fmla="*/ 2147483646 h 25"/>
              <a:gd name="T4" fmla="*/ 2147483646 w 64"/>
              <a:gd name="T5" fmla="*/ 2147483646 h 25"/>
              <a:gd name="T6" fmla="*/ 2147483646 w 64"/>
              <a:gd name="T7" fmla="*/ 0 h 25"/>
              <a:gd name="T8" fmla="*/ 2147483646 w 64"/>
              <a:gd name="T9" fmla="*/ 0 h 25"/>
              <a:gd name="T10" fmla="*/ 2147483646 w 64"/>
              <a:gd name="T11" fmla="*/ 2147483646 h 25"/>
              <a:gd name="T12" fmla="*/ 0 w 64"/>
              <a:gd name="T13" fmla="*/ 2147483646 h 25"/>
              <a:gd name="T14" fmla="*/ 0 w 64"/>
              <a:gd name="T15" fmla="*/ 2147483646 h 25"/>
              <a:gd name="T16" fmla="*/ 2147483646 w 64"/>
              <a:gd name="T17" fmla="*/ 2147483646 h 25"/>
              <a:gd name="T18" fmla="*/ 0 w 64"/>
              <a:gd name="T19" fmla="*/ 2147483646 h 2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4" h="25">
                <a:moveTo>
                  <a:pt x="0" y="11"/>
                </a:moveTo>
                <a:lnTo>
                  <a:pt x="11" y="25"/>
                </a:lnTo>
                <a:lnTo>
                  <a:pt x="64" y="25"/>
                </a:lnTo>
                <a:lnTo>
                  <a:pt x="64" y="0"/>
                </a:lnTo>
                <a:lnTo>
                  <a:pt x="11" y="0"/>
                </a:lnTo>
                <a:lnTo>
                  <a:pt x="23" y="11"/>
                </a:lnTo>
                <a:lnTo>
                  <a:pt x="0" y="11"/>
                </a:lnTo>
                <a:lnTo>
                  <a:pt x="0" y="25"/>
                </a:lnTo>
                <a:lnTo>
                  <a:pt x="11" y="25"/>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047" name="Freeform 84"/>
          <p:cNvSpPr>
            <a:spLocks/>
          </p:cNvSpPr>
          <p:nvPr/>
        </p:nvSpPr>
        <p:spPr bwMode="auto">
          <a:xfrm>
            <a:off x="5200650" y="4949825"/>
            <a:ext cx="36513" cy="79375"/>
          </a:xfrm>
          <a:custGeom>
            <a:avLst/>
            <a:gdLst>
              <a:gd name="T0" fmla="*/ 2147483646 w 23"/>
              <a:gd name="T1" fmla="*/ 0 h 50"/>
              <a:gd name="T2" fmla="*/ 0 w 23"/>
              <a:gd name="T3" fmla="*/ 2147483646 h 50"/>
              <a:gd name="T4" fmla="*/ 0 w 23"/>
              <a:gd name="T5" fmla="*/ 2147483646 h 50"/>
              <a:gd name="T6" fmla="*/ 2147483646 w 23"/>
              <a:gd name="T7" fmla="*/ 2147483646 h 50"/>
              <a:gd name="T8" fmla="*/ 2147483646 w 23"/>
              <a:gd name="T9" fmla="*/ 2147483646 h 50"/>
              <a:gd name="T10" fmla="*/ 2147483646 w 23"/>
              <a:gd name="T11" fmla="*/ 2147483646 h 50"/>
              <a:gd name="T12" fmla="*/ 2147483646 w 23"/>
              <a:gd name="T13" fmla="*/ 0 h 50"/>
              <a:gd name="T14" fmla="*/ 0 w 23"/>
              <a:gd name="T15" fmla="*/ 0 h 50"/>
              <a:gd name="T16" fmla="*/ 0 w 23"/>
              <a:gd name="T17" fmla="*/ 2147483646 h 50"/>
              <a:gd name="T18" fmla="*/ 2147483646 w 23"/>
              <a:gd name="T19" fmla="*/ 0 h 5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3" h="50">
                <a:moveTo>
                  <a:pt x="11" y="0"/>
                </a:moveTo>
                <a:lnTo>
                  <a:pt x="0" y="11"/>
                </a:lnTo>
                <a:lnTo>
                  <a:pt x="0" y="50"/>
                </a:lnTo>
                <a:lnTo>
                  <a:pt x="23" y="50"/>
                </a:lnTo>
                <a:lnTo>
                  <a:pt x="23" y="11"/>
                </a:lnTo>
                <a:lnTo>
                  <a:pt x="11" y="22"/>
                </a:lnTo>
                <a:lnTo>
                  <a:pt x="11" y="0"/>
                </a:lnTo>
                <a:lnTo>
                  <a:pt x="0" y="0"/>
                </a:lnTo>
                <a:lnTo>
                  <a:pt x="0" y="11"/>
                </a:lnTo>
                <a:lnTo>
                  <a:pt x="1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048" name="Freeform 85"/>
          <p:cNvSpPr>
            <a:spLocks/>
          </p:cNvSpPr>
          <p:nvPr/>
        </p:nvSpPr>
        <p:spPr bwMode="auto">
          <a:xfrm>
            <a:off x="5584825" y="4949825"/>
            <a:ext cx="106363" cy="34925"/>
          </a:xfrm>
          <a:custGeom>
            <a:avLst/>
            <a:gdLst>
              <a:gd name="T0" fmla="*/ 2147483646 w 67"/>
              <a:gd name="T1" fmla="*/ 2147483646 h 22"/>
              <a:gd name="T2" fmla="*/ 2147483646 w 67"/>
              <a:gd name="T3" fmla="*/ 0 h 22"/>
              <a:gd name="T4" fmla="*/ 0 w 67"/>
              <a:gd name="T5" fmla="*/ 0 h 22"/>
              <a:gd name="T6" fmla="*/ 0 w 67"/>
              <a:gd name="T7" fmla="*/ 2147483646 h 22"/>
              <a:gd name="T8" fmla="*/ 2147483646 w 67"/>
              <a:gd name="T9" fmla="*/ 2147483646 h 22"/>
              <a:gd name="T10" fmla="*/ 2147483646 w 67"/>
              <a:gd name="T11" fmla="*/ 2147483646 h 22"/>
              <a:gd name="T12" fmla="*/ 2147483646 w 67"/>
              <a:gd name="T13" fmla="*/ 2147483646 h 22"/>
              <a:gd name="T14" fmla="*/ 2147483646 w 67"/>
              <a:gd name="T15" fmla="*/ 0 h 22"/>
              <a:gd name="T16" fmla="*/ 2147483646 w 67"/>
              <a:gd name="T17" fmla="*/ 0 h 22"/>
              <a:gd name="T18" fmla="*/ 2147483646 w 67"/>
              <a:gd name="T19" fmla="*/ 2147483646 h 2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7" h="22">
                <a:moveTo>
                  <a:pt x="67" y="11"/>
                </a:moveTo>
                <a:lnTo>
                  <a:pt x="56" y="0"/>
                </a:lnTo>
                <a:lnTo>
                  <a:pt x="0" y="0"/>
                </a:lnTo>
                <a:lnTo>
                  <a:pt x="0" y="22"/>
                </a:lnTo>
                <a:lnTo>
                  <a:pt x="56" y="22"/>
                </a:lnTo>
                <a:lnTo>
                  <a:pt x="44" y="11"/>
                </a:lnTo>
                <a:lnTo>
                  <a:pt x="67" y="11"/>
                </a:lnTo>
                <a:lnTo>
                  <a:pt x="67" y="0"/>
                </a:lnTo>
                <a:lnTo>
                  <a:pt x="56" y="0"/>
                </a:lnTo>
                <a:lnTo>
                  <a:pt x="67"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049" name="Freeform 86"/>
          <p:cNvSpPr>
            <a:spLocks/>
          </p:cNvSpPr>
          <p:nvPr/>
        </p:nvSpPr>
        <p:spPr bwMode="auto">
          <a:xfrm>
            <a:off x="5654675" y="4967288"/>
            <a:ext cx="36513" cy="84137"/>
          </a:xfrm>
          <a:custGeom>
            <a:avLst/>
            <a:gdLst>
              <a:gd name="T0" fmla="*/ 2147483646 w 23"/>
              <a:gd name="T1" fmla="*/ 2147483646 h 53"/>
              <a:gd name="T2" fmla="*/ 2147483646 w 23"/>
              <a:gd name="T3" fmla="*/ 2147483646 h 53"/>
              <a:gd name="T4" fmla="*/ 2147483646 w 23"/>
              <a:gd name="T5" fmla="*/ 0 h 53"/>
              <a:gd name="T6" fmla="*/ 0 w 23"/>
              <a:gd name="T7" fmla="*/ 0 h 53"/>
              <a:gd name="T8" fmla="*/ 0 w 23"/>
              <a:gd name="T9" fmla="*/ 2147483646 h 53"/>
              <a:gd name="T10" fmla="*/ 2147483646 w 23"/>
              <a:gd name="T11" fmla="*/ 2147483646 h 53"/>
              <a:gd name="T12" fmla="*/ 2147483646 w 23"/>
              <a:gd name="T13" fmla="*/ 2147483646 h 53"/>
              <a:gd name="T14" fmla="*/ 2147483646 w 23"/>
              <a:gd name="T15" fmla="*/ 2147483646 h 53"/>
              <a:gd name="T16" fmla="*/ 2147483646 w 23"/>
              <a:gd name="T17" fmla="*/ 2147483646 h 53"/>
              <a:gd name="T18" fmla="*/ 2147483646 w 23"/>
              <a:gd name="T19" fmla="*/ 2147483646 h 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3" h="53">
                <a:moveTo>
                  <a:pt x="12" y="53"/>
                </a:moveTo>
                <a:lnTo>
                  <a:pt x="23" y="39"/>
                </a:lnTo>
                <a:lnTo>
                  <a:pt x="23" y="0"/>
                </a:lnTo>
                <a:lnTo>
                  <a:pt x="0" y="0"/>
                </a:lnTo>
                <a:lnTo>
                  <a:pt x="0" y="39"/>
                </a:lnTo>
                <a:lnTo>
                  <a:pt x="12" y="28"/>
                </a:lnTo>
                <a:lnTo>
                  <a:pt x="12" y="53"/>
                </a:lnTo>
                <a:lnTo>
                  <a:pt x="23" y="53"/>
                </a:lnTo>
                <a:lnTo>
                  <a:pt x="23" y="39"/>
                </a:lnTo>
                <a:lnTo>
                  <a:pt x="1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050" name="Freeform 87"/>
          <p:cNvSpPr>
            <a:spLocks/>
          </p:cNvSpPr>
          <p:nvPr/>
        </p:nvSpPr>
        <p:spPr bwMode="auto">
          <a:xfrm>
            <a:off x="5567363" y="5011738"/>
            <a:ext cx="106362" cy="39687"/>
          </a:xfrm>
          <a:custGeom>
            <a:avLst/>
            <a:gdLst>
              <a:gd name="T0" fmla="*/ 0 w 67"/>
              <a:gd name="T1" fmla="*/ 2147483646 h 25"/>
              <a:gd name="T2" fmla="*/ 2147483646 w 67"/>
              <a:gd name="T3" fmla="*/ 2147483646 h 25"/>
              <a:gd name="T4" fmla="*/ 2147483646 w 67"/>
              <a:gd name="T5" fmla="*/ 2147483646 h 25"/>
              <a:gd name="T6" fmla="*/ 2147483646 w 67"/>
              <a:gd name="T7" fmla="*/ 0 h 25"/>
              <a:gd name="T8" fmla="*/ 2147483646 w 67"/>
              <a:gd name="T9" fmla="*/ 0 h 25"/>
              <a:gd name="T10" fmla="*/ 2147483646 w 67"/>
              <a:gd name="T11" fmla="*/ 2147483646 h 25"/>
              <a:gd name="T12" fmla="*/ 0 w 67"/>
              <a:gd name="T13" fmla="*/ 2147483646 h 25"/>
              <a:gd name="T14" fmla="*/ 0 w 67"/>
              <a:gd name="T15" fmla="*/ 2147483646 h 25"/>
              <a:gd name="T16" fmla="*/ 2147483646 w 67"/>
              <a:gd name="T17" fmla="*/ 2147483646 h 25"/>
              <a:gd name="T18" fmla="*/ 0 w 67"/>
              <a:gd name="T19" fmla="*/ 2147483646 h 2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7" h="25">
                <a:moveTo>
                  <a:pt x="0" y="11"/>
                </a:moveTo>
                <a:lnTo>
                  <a:pt x="11" y="25"/>
                </a:lnTo>
                <a:lnTo>
                  <a:pt x="67" y="25"/>
                </a:lnTo>
                <a:lnTo>
                  <a:pt x="67" y="0"/>
                </a:lnTo>
                <a:lnTo>
                  <a:pt x="11" y="0"/>
                </a:lnTo>
                <a:lnTo>
                  <a:pt x="25" y="11"/>
                </a:lnTo>
                <a:lnTo>
                  <a:pt x="0" y="11"/>
                </a:lnTo>
                <a:lnTo>
                  <a:pt x="0" y="25"/>
                </a:lnTo>
                <a:lnTo>
                  <a:pt x="11" y="25"/>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051" name="Freeform 88"/>
          <p:cNvSpPr>
            <a:spLocks/>
          </p:cNvSpPr>
          <p:nvPr/>
        </p:nvSpPr>
        <p:spPr bwMode="auto">
          <a:xfrm>
            <a:off x="5567363" y="4949825"/>
            <a:ext cx="39687" cy="79375"/>
          </a:xfrm>
          <a:custGeom>
            <a:avLst/>
            <a:gdLst>
              <a:gd name="T0" fmla="*/ 2147483646 w 25"/>
              <a:gd name="T1" fmla="*/ 0 h 50"/>
              <a:gd name="T2" fmla="*/ 0 w 25"/>
              <a:gd name="T3" fmla="*/ 2147483646 h 50"/>
              <a:gd name="T4" fmla="*/ 0 w 25"/>
              <a:gd name="T5" fmla="*/ 2147483646 h 50"/>
              <a:gd name="T6" fmla="*/ 2147483646 w 25"/>
              <a:gd name="T7" fmla="*/ 2147483646 h 50"/>
              <a:gd name="T8" fmla="*/ 2147483646 w 25"/>
              <a:gd name="T9" fmla="*/ 2147483646 h 50"/>
              <a:gd name="T10" fmla="*/ 2147483646 w 25"/>
              <a:gd name="T11" fmla="*/ 2147483646 h 50"/>
              <a:gd name="T12" fmla="*/ 2147483646 w 25"/>
              <a:gd name="T13" fmla="*/ 0 h 50"/>
              <a:gd name="T14" fmla="*/ 0 w 25"/>
              <a:gd name="T15" fmla="*/ 0 h 50"/>
              <a:gd name="T16" fmla="*/ 0 w 25"/>
              <a:gd name="T17" fmla="*/ 2147483646 h 50"/>
              <a:gd name="T18" fmla="*/ 2147483646 w 25"/>
              <a:gd name="T19" fmla="*/ 0 h 5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5" h="50">
                <a:moveTo>
                  <a:pt x="11" y="0"/>
                </a:moveTo>
                <a:lnTo>
                  <a:pt x="0" y="11"/>
                </a:lnTo>
                <a:lnTo>
                  <a:pt x="0" y="50"/>
                </a:lnTo>
                <a:lnTo>
                  <a:pt x="25" y="50"/>
                </a:lnTo>
                <a:lnTo>
                  <a:pt x="25" y="11"/>
                </a:lnTo>
                <a:lnTo>
                  <a:pt x="11" y="22"/>
                </a:lnTo>
                <a:lnTo>
                  <a:pt x="11" y="0"/>
                </a:lnTo>
                <a:lnTo>
                  <a:pt x="0" y="0"/>
                </a:lnTo>
                <a:lnTo>
                  <a:pt x="0" y="11"/>
                </a:lnTo>
                <a:lnTo>
                  <a:pt x="1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052" name="Freeform 89"/>
          <p:cNvSpPr>
            <a:spLocks/>
          </p:cNvSpPr>
          <p:nvPr/>
        </p:nvSpPr>
        <p:spPr bwMode="auto">
          <a:xfrm>
            <a:off x="5311775" y="4949825"/>
            <a:ext cx="101600" cy="34925"/>
          </a:xfrm>
          <a:custGeom>
            <a:avLst/>
            <a:gdLst>
              <a:gd name="T0" fmla="*/ 2147483646 w 64"/>
              <a:gd name="T1" fmla="*/ 2147483646 h 22"/>
              <a:gd name="T2" fmla="*/ 2147483646 w 64"/>
              <a:gd name="T3" fmla="*/ 0 h 22"/>
              <a:gd name="T4" fmla="*/ 0 w 64"/>
              <a:gd name="T5" fmla="*/ 0 h 22"/>
              <a:gd name="T6" fmla="*/ 0 w 64"/>
              <a:gd name="T7" fmla="*/ 2147483646 h 22"/>
              <a:gd name="T8" fmla="*/ 2147483646 w 64"/>
              <a:gd name="T9" fmla="*/ 2147483646 h 22"/>
              <a:gd name="T10" fmla="*/ 2147483646 w 64"/>
              <a:gd name="T11" fmla="*/ 2147483646 h 22"/>
              <a:gd name="T12" fmla="*/ 2147483646 w 64"/>
              <a:gd name="T13" fmla="*/ 2147483646 h 22"/>
              <a:gd name="T14" fmla="*/ 2147483646 w 64"/>
              <a:gd name="T15" fmla="*/ 0 h 22"/>
              <a:gd name="T16" fmla="*/ 2147483646 w 64"/>
              <a:gd name="T17" fmla="*/ 0 h 22"/>
              <a:gd name="T18" fmla="*/ 2147483646 w 64"/>
              <a:gd name="T19" fmla="*/ 2147483646 h 2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4" h="22">
                <a:moveTo>
                  <a:pt x="64" y="11"/>
                </a:moveTo>
                <a:lnTo>
                  <a:pt x="53" y="0"/>
                </a:lnTo>
                <a:lnTo>
                  <a:pt x="0" y="0"/>
                </a:lnTo>
                <a:lnTo>
                  <a:pt x="0" y="22"/>
                </a:lnTo>
                <a:lnTo>
                  <a:pt x="53" y="22"/>
                </a:lnTo>
                <a:lnTo>
                  <a:pt x="41" y="11"/>
                </a:lnTo>
                <a:lnTo>
                  <a:pt x="64" y="11"/>
                </a:lnTo>
                <a:lnTo>
                  <a:pt x="64" y="0"/>
                </a:lnTo>
                <a:lnTo>
                  <a:pt x="53" y="0"/>
                </a:lnTo>
                <a:lnTo>
                  <a:pt x="6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053" name="Freeform 90"/>
          <p:cNvSpPr>
            <a:spLocks/>
          </p:cNvSpPr>
          <p:nvPr/>
        </p:nvSpPr>
        <p:spPr bwMode="auto">
          <a:xfrm>
            <a:off x="5376863" y="4967288"/>
            <a:ext cx="36512" cy="84137"/>
          </a:xfrm>
          <a:custGeom>
            <a:avLst/>
            <a:gdLst>
              <a:gd name="T0" fmla="*/ 2147483646 w 23"/>
              <a:gd name="T1" fmla="*/ 2147483646 h 53"/>
              <a:gd name="T2" fmla="*/ 2147483646 w 23"/>
              <a:gd name="T3" fmla="*/ 2147483646 h 53"/>
              <a:gd name="T4" fmla="*/ 2147483646 w 23"/>
              <a:gd name="T5" fmla="*/ 0 h 53"/>
              <a:gd name="T6" fmla="*/ 0 w 23"/>
              <a:gd name="T7" fmla="*/ 0 h 53"/>
              <a:gd name="T8" fmla="*/ 0 w 23"/>
              <a:gd name="T9" fmla="*/ 2147483646 h 53"/>
              <a:gd name="T10" fmla="*/ 2147483646 w 23"/>
              <a:gd name="T11" fmla="*/ 2147483646 h 53"/>
              <a:gd name="T12" fmla="*/ 2147483646 w 23"/>
              <a:gd name="T13" fmla="*/ 2147483646 h 53"/>
              <a:gd name="T14" fmla="*/ 2147483646 w 23"/>
              <a:gd name="T15" fmla="*/ 2147483646 h 53"/>
              <a:gd name="T16" fmla="*/ 2147483646 w 23"/>
              <a:gd name="T17" fmla="*/ 2147483646 h 53"/>
              <a:gd name="T18" fmla="*/ 2147483646 w 23"/>
              <a:gd name="T19" fmla="*/ 2147483646 h 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3" h="53">
                <a:moveTo>
                  <a:pt x="12" y="53"/>
                </a:moveTo>
                <a:lnTo>
                  <a:pt x="23" y="39"/>
                </a:lnTo>
                <a:lnTo>
                  <a:pt x="23" y="0"/>
                </a:lnTo>
                <a:lnTo>
                  <a:pt x="0" y="0"/>
                </a:lnTo>
                <a:lnTo>
                  <a:pt x="0" y="39"/>
                </a:lnTo>
                <a:lnTo>
                  <a:pt x="12" y="28"/>
                </a:lnTo>
                <a:lnTo>
                  <a:pt x="12" y="53"/>
                </a:lnTo>
                <a:lnTo>
                  <a:pt x="23" y="53"/>
                </a:lnTo>
                <a:lnTo>
                  <a:pt x="23" y="39"/>
                </a:lnTo>
                <a:lnTo>
                  <a:pt x="1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054" name="Freeform 91"/>
          <p:cNvSpPr>
            <a:spLocks/>
          </p:cNvSpPr>
          <p:nvPr/>
        </p:nvSpPr>
        <p:spPr bwMode="auto">
          <a:xfrm>
            <a:off x="5289550" y="5011738"/>
            <a:ext cx="106363" cy="39687"/>
          </a:xfrm>
          <a:custGeom>
            <a:avLst/>
            <a:gdLst>
              <a:gd name="T0" fmla="*/ 0 w 67"/>
              <a:gd name="T1" fmla="*/ 2147483646 h 25"/>
              <a:gd name="T2" fmla="*/ 2147483646 w 67"/>
              <a:gd name="T3" fmla="*/ 2147483646 h 25"/>
              <a:gd name="T4" fmla="*/ 2147483646 w 67"/>
              <a:gd name="T5" fmla="*/ 2147483646 h 25"/>
              <a:gd name="T6" fmla="*/ 2147483646 w 67"/>
              <a:gd name="T7" fmla="*/ 0 h 25"/>
              <a:gd name="T8" fmla="*/ 2147483646 w 67"/>
              <a:gd name="T9" fmla="*/ 0 h 25"/>
              <a:gd name="T10" fmla="*/ 2147483646 w 67"/>
              <a:gd name="T11" fmla="*/ 2147483646 h 25"/>
              <a:gd name="T12" fmla="*/ 0 w 67"/>
              <a:gd name="T13" fmla="*/ 2147483646 h 25"/>
              <a:gd name="T14" fmla="*/ 0 w 67"/>
              <a:gd name="T15" fmla="*/ 2147483646 h 25"/>
              <a:gd name="T16" fmla="*/ 2147483646 w 67"/>
              <a:gd name="T17" fmla="*/ 2147483646 h 25"/>
              <a:gd name="T18" fmla="*/ 0 w 67"/>
              <a:gd name="T19" fmla="*/ 2147483646 h 2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7" h="25">
                <a:moveTo>
                  <a:pt x="0" y="11"/>
                </a:moveTo>
                <a:lnTo>
                  <a:pt x="14" y="25"/>
                </a:lnTo>
                <a:lnTo>
                  <a:pt x="67" y="25"/>
                </a:lnTo>
                <a:lnTo>
                  <a:pt x="67" y="0"/>
                </a:lnTo>
                <a:lnTo>
                  <a:pt x="14" y="0"/>
                </a:lnTo>
                <a:lnTo>
                  <a:pt x="25" y="11"/>
                </a:lnTo>
                <a:lnTo>
                  <a:pt x="0" y="11"/>
                </a:lnTo>
                <a:lnTo>
                  <a:pt x="0" y="25"/>
                </a:lnTo>
                <a:lnTo>
                  <a:pt x="14" y="25"/>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055" name="Freeform 92"/>
          <p:cNvSpPr>
            <a:spLocks/>
          </p:cNvSpPr>
          <p:nvPr/>
        </p:nvSpPr>
        <p:spPr bwMode="auto">
          <a:xfrm>
            <a:off x="5289550" y="4949825"/>
            <a:ext cx="39688" cy="79375"/>
          </a:xfrm>
          <a:custGeom>
            <a:avLst/>
            <a:gdLst>
              <a:gd name="T0" fmla="*/ 2147483646 w 25"/>
              <a:gd name="T1" fmla="*/ 0 h 50"/>
              <a:gd name="T2" fmla="*/ 0 w 25"/>
              <a:gd name="T3" fmla="*/ 2147483646 h 50"/>
              <a:gd name="T4" fmla="*/ 0 w 25"/>
              <a:gd name="T5" fmla="*/ 2147483646 h 50"/>
              <a:gd name="T6" fmla="*/ 2147483646 w 25"/>
              <a:gd name="T7" fmla="*/ 2147483646 h 50"/>
              <a:gd name="T8" fmla="*/ 2147483646 w 25"/>
              <a:gd name="T9" fmla="*/ 2147483646 h 50"/>
              <a:gd name="T10" fmla="*/ 2147483646 w 25"/>
              <a:gd name="T11" fmla="*/ 2147483646 h 50"/>
              <a:gd name="T12" fmla="*/ 2147483646 w 25"/>
              <a:gd name="T13" fmla="*/ 0 h 50"/>
              <a:gd name="T14" fmla="*/ 0 w 25"/>
              <a:gd name="T15" fmla="*/ 0 h 50"/>
              <a:gd name="T16" fmla="*/ 0 w 25"/>
              <a:gd name="T17" fmla="*/ 2147483646 h 50"/>
              <a:gd name="T18" fmla="*/ 2147483646 w 25"/>
              <a:gd name="T19" fmla="*/ 0 h 5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5" h="50">
                <a:moveTo>
                  <a:pt x="14" y="0"/>
                </a:moveTo>
                <a:lnTo>
                  <a:pt x="0" y="11"/>
                </a:lnTo>
                <a:lnTo>
                  <a:pt x="0" y="50"/>
                </a:lnTo>
                <a:lnTo>
                  <a:pt x="25" y="50"/>
                </a:lnTo>
                <a:lnTo>
                  <a:pt x="25" y="11"/>
                </a:lnTo>
                <a:lnTo>
                  <a:pt x="14" y="22"/>
                </a:lnTo>
                <a:lnTo>
                  <a:pt x="14" y="0"/>
                </a:lnTo>
                <a:lnTo>
                  <a:pt x="0" y="0"/>
                </a:lnTo>
                <a:lnTo>
                  <a:pt x="0" y="11"/>
                </a:lnTo>
                <a:lnTo>
                  <a:pt x="1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056" name="Freeform 93"/>
          <p:cNvSpPr>
            <a:spLocks/>
          </p:cNvSpPr>
          <p:nvPr/>
        </p:nvSpPr>
        <p:spPr bwMode="auto">
          <a:xfrm>
            <a:off x="5448300" y="4052888"/>
            <a:ext cx="101600" cy="38100"/>
          </a:xfrm>
          <a:custGeom>
            <a:avLst/>
            <a:gdLst>
              <a:gd name="T0" fmla="*/ 2147483646 w 64"/>
              <a:gd name="T1" fmla="*/ 2147483646 h 24"/>
              <a:gd name="T2" fmla="*/ 2147483646 w 64"/>
              <a:gd name="T3" fmla="*/ 0 h 24"/>
              <a:gd name="T4" fmla="*/ 0 w 64"/>
              <a:gd name="T5" fmla="*/ 0 h 24"/>
              <a:gd name="T6" fmla="*/ 0 w 64"/>
              <a:gd name="T7" fmla="*/ 2147483646 h 24"/>
              <a:gd name="T8" fmla="*/ 2147483646 w 64"/>
              <a:gd name="T9" fmla="*/ 2147483646 h 24"/>
              <a:gd name="T10" fmla="*/ 2147483646 w 64"/>
              <a:gd name="T11" fmla="*/ 2147483646 h 24"/>
              <a:gd name="T12" fmla="*/ 2147483646 w 64"/>
              <a:gd name="T13" fmla="*/ 2147483646 h 24"/>
              <a:gd name="T14" fmla="*/ 2147483646 w 64"/>
              <a:gd name="T15" fmla="*/ 0 h 24"/>
              <a:gd name="T16" fmla="*/ 2147483646 w 64"/>
              <a:gd name="T17" fmla="*/ 0 h 24"/>
              <a:gd name="T18" fmla="*/ 2147483646 w 64"/>
              <a:gd name="T19" fmla="*/ 2147483646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4" h="24">
                <a:moveTo>
                  <a:pt x="64" y="11"/>
                </a:moveTo>
                <a:lnTo>
                  <a:pt x="50" y="0"/>
                </a:lnTo>
                <a:lnTo>
                  <a:pt x="0" y="0"/>
                </a:lnTo>
                <a:lnTo>
                  <a:pt x="0" y="24"/>
                </a:lnTo>
                <a:lnTo>
                  <a:pt x="50" y="24"/>
                </a:lnTo>
                <a:lnTo>
                  <a:pt x="39" y="11"/>
                </a:lnTo>
                <a:lnTo>
                  <a:pt x="64" y="11"/>
                </a:lnTo>
                <a:lnTo>
                  <a:pt x="64" y="0"/>
                </a:lnTo>
                <a:lnTo>
                  <a:pt x="50" y="0"/>
                </a:lnTo>
                <a:lnTo>
                  <a:pt x="6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057" name="Freeform 94"/>
          <p:cNvSpPr>
            <a:spLocks/>
          </p:cNvSpPr>
          <p:nvPr/>
        </p:nvSpPr>
        <p:spPr bwMode="auto">
          <a:xfrm>
            <a:off x="5510213" y="4070350"/>
            <a:ext cx="39687" cy="77788"/>
          </a:xfrm>
          <a:custGeom>
            <a:avLst/>
            <a:gdLst>
              <a:gd name="T0" fmla="*/ 2147483646 w 25"/>
              <a:gd name="T1" fmla="*/ 2147483646 h 49"/>
              <a:gd name="T2" fmla="*/ 2147483646 w 25"/>
              <a:gd name="T3" fmla="*/ 2147483646 h 49"/>
              <a:gd name="T4" fmla="*/ 2147483646 w 25"/>
              <a:gd name="T5" fmla="*/ 0 h 49"/>
              <a:gd name="T6" fmla="*/ 0 w 25"/>
              <a:gd name="T7" fmla="*/ 0 h 49"/>
              <a:gd name="T8" fmla="*/ 0 w 25"/>
              <a:gd name="T9" fmla="*/ 2147483646 h 49"/>
              <a:gd name="T10" fmla="*/ 2147483646 w 25"/>
              <a:gd name="T11" fmla="*/ 2147483646 h 49"/>
              <a:gd name="T12" fmla="*/ 2147483646 w 25"/>
              <a:gd name="T13" fmla="*/ 2147483646 h 49"/>
              <a:gd name="T14" fmla="*/ 2147483646 w 25"/>
              <a:gd name="T15" fmla="*/ 2147483646 h 49"/>
              <a:gd name="T16" fmla="*/ 2147483646 w 25"/>
              <a:gd name="T17" fmla="*/ 2147483646 h 49"/>
              <a:gd name="T18" fmla="*/ 2147483646 w 25"/>
              <a:gd name="T19" fmla="*/ 2147483646 h 4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5" h="49">
                <a:moveTo>
                  <a:pt x="11" y="49"/>
                </a:moveTo>
                <a:lnTo>
                  <a:pt x="25" y="38"/>
                </a:lnTo>
                <a:lnTo>
                  <a:pt x="25" y="0"/>
                </a:lnTo>
                <a:lnTo>
                  <a:pt x="0" y="0"/>
                </a:lnTo>
                <a:lnTo>
                  <a:pt x="0" y="38"/>
                </a:lnTo>
                <a:lnTo>
                  <a:pt x="11" y="25"/>
                </a:lnTo>
                <a:lnTo>
                  <a:pt x="11" y="49"/>
                </a:lnTo>
                <a:lnTo>
                  <a:pt x="25" y="49"/>
                </a:lnTo>
                <a:lnTo>
                  <a:pt x="25" y="38"/>
                </a:lnTo>
                <a:lnTo>
                  <a:pt x="11" y="4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058" name="Freeform 95"/>
          <p:cNvSpPr>
            <a:spLocks/>
          </p:cNvSpPr>
          <p:nvPr/>
        </p:nvSpPr>
        <p:spPr bwMode="auto">
          <a:xfrm>
            <a:off x="5430838" y="4110038"/>
            <a:ext cx="96837" cy="38100"/>
          </a:xfrm>
          <a:custGeom>
            <a:avLst/>
            <a:gdLst>
              <a:gd name="T0" fmla="*/ 0 w 61"/>
              <a:gd name="T1" fmla="*/ 2147483646 h 24"/>
              <a:gd name="T2" fmla="*/ 2147483646 w 61"/>
              <a:gd name="T3" fmla="*/ 2147483646 h 24"/>
              <a:gd name="T4" fmla="*/ 2147483646 w 61"/>
              <a:gd name="T5" fmla="*/ 2147483646 h 24"/>
              <a:gd name="T6" fmla="*/ 2147483646 w 61"/>
              <a:gd name="T7" fmla="*/ 0 h 24"/>
              <a:gd name="T8" fmla="*/ 2147483646 w 61"/>
              <a:gd name="T9" fmla="*/ 0 h 24"/>
              <a:gd name="T10" fmla="*/ 2147483646 w 61"/>
              <a:gd name="T11" fmla="*/ 2147483646 h 24"/>
              <a:gd name="T12" fmla="*/ 0 w 61"/>
              <a:gd name="T13" fmla="*/ 2147483646 h 24"/>
              <a:gd name="T14" fmla="*/ 0 w 61"/>
              <a:gd name="T15" fmla="*/ 2147483646 h 24"/>
              <a:gd name="T16" fmla="*/ 2147483646 w 61"/>
              <a:gd name="T17" fmla="*/ 2147483646 h 24"/>
              <a:gd name="T18" fmla="*/ 0 w 61"/>
              <a:gd name="T19" fmla="*/ 2147483646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1" h="24">
                <a:moveTo>
                  <a:pt x="0" y="13"/>
                </a:moveTo>
                <a:lnTo>
                  <a:pt x="11" y="24"/>
                </a:lnTo>
                <a:lnTo>
                  <a:pt x="61" y="24"/>
                </a:lnTo>
                <a:lnTo>
                  <a:pt x="61" y="0"/>
                </a:lnTo>
                <a:lnTo>
                  <a:pt x="11" y="0"/>
                </a:lnTo>
                <a:lnTo>
                  <a:pt x="25" y="13"/>
                </a:lnTo>
                <a:lnTo>
                  <a:pt x="0" y="13"/>
                </a:lnTo>
                <a:lnTo>
                  <a:pt x="0" y="24"/>
                </a:lnTo>
                <a:lnTo>
                  <a:pt x="11" y="24"/>
                </a:lnTo>
                <a:lnTo>
                  <a:pt x="0" y="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059" name="Freeform 96"/>
          <p:cNvSpPr>
            <a:spLocks/>
          </p:cNvSpPr>
          <p:nvPr/>
        </p:nvSpPr>
        <p:spPr bwMode="auto">
          <a:xfrm>
            <a:off x="5430838" y="4052888"/>
            <a:ext cx="39687" cy="77787"/>
          </a:xfrm>
          <a:custGeom>
            <a:avLst/>
            <a:gdLst>
              <a:gd name="T0" fmla="*/ 2147483646 w 25"/>
              <a:gd name="T1" fmla="*/ 0 h 49"/>
              <a:gd name="T2" fmla="*/ 0 w 25"/>
              <a:gd name="T3" fmla="*/ 2147483646 h 49"/>
              <a:gd name="T4" fmla="*/ 0 w 25"/>
              <a:gd name="T5" fmla="*/ 2147483646 h 49"/>
              <a:gd name="T6" fmla="*/ 2147483646 w 25"/>
              <a:gd name="T7" fmla="*/ 2147483646 h 49"/>
              <a:gd name="T8" fmla="*/ 2147483646 w 25"/>
              <a:gd name="T9" fmla="*/ 2147483646 h 49"/>
              <a:gd name="T10" fmla="*/ 2147483646 w 25"/>
              <a:gd name="T11" fmla="*/ 2147483646 h 49"/>
              <a:gd name="T12" fmla="*/ 2147483646 w 25"/>
              <a:gd name="T13" fmla="*/ 0 h 49"/>
              <a:gd name="T14" fmla="*/ 0 w 25"/>
              <a:gd name="T15" fmla="*/ 0 h 49"/>
              <a:gd name="T16" fmla="*/ 0 w 25"/>
              <a:gd name="T17" fmla="*/ 2147483646 h 49"/>
              <a:gd name="T18" fmla="*/ 2147483646 w 25"/>
              <a:gd name="T19" fmla="*/ 0 h 4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5" h="49">
                <a:moveTo>
                  <a:pt x="11" y="0"/>
                </a:moveTo>
                <a:lnTo>
                  <a:pt x="0" y="11"/>
                </a:lnTo>
                <a:lnTo>
                  <a:pt x="0" y="49"/>
                </a:lnTo>
                <a:lnTo>
                  <a:pt x="25" y="49"/>
                </a:lnTo>
                <a:lnTo>
                  <a:pt x="25" y="11"/>
                </a:lnTo>
                <a:lnTo>
                  <a:pt x="11" y="24"/>
                </a:lnTo>
                <a:lnTo>
                  <a:pt x="11" y="0"/>
                </a:lnTo>
                <a:lnTo>
                  <a:pt x="0" y="0"/>
                </a:lnTo>
                <a:lnTo>
                  <a:pt x="0" y="11"/>
                </a:lnTo>
                <a:lnTo>
                  <a:pt x="1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060" name="Freeform 97"/>
          <p:cNvSpPr>
            <a:spLocks/>
          </p:cNvSpPr>
          <p:nvPr/>
        </p:nvSpPr>
        <p:spPr bwMode="auto">
          <a:xfrm>
            <a:off x="5448300" y="3937000"/>
            <a:ext cx="96838" cy="36513"/>
          </a:xfrm>
          <a:custGeom>
            <a:avLst/>
            <a:gdLst>
              <a:gd name="T0" fmla="*/ 2147483646 w 61"/>
              <a:gd name="T1" fmla="*/ 2147483646 h 23"/>
              <a:gd name="T2" fmla="*/ 2147483646 w 61"/>
              <a:gd name="T3" fmla="*/ 0 h 23"/>
              <a:gd name="T4" fmla="*/ 0 w 61"/>
              <a:gd name="T5" fmla="*/ 0 h 23"/>
              <a:gd name="T6" fmla="*/ 0 w 61"/>
              <a:gd name="T7" fmla="*/ 2147483646 h 23"/>
              <a:gd name="T8" fmla="*/ 2147483646 w 61"/>
              <a:gd name="T9" fmla="*/ 2147483646 h 23"/>
              <a:gd name="T10" fmla="*/ 2147483646 w 61"/>
              <a:gd name="T11" fmla="*/ 2147483646 h 23"/>
              <a:gd name="T12" fmla="*/ 2147483646 w 61"/>
              <a:gd name="T13" fmla="*/ 2147483646 h 23"/>
              <a:gd name="T14" fmla="*/ 2147483646 w 61"/>
              <a:gd name="T15" fmla="*/ 0 h 23"/>
              <a:gd name="T16" fmla="*/ 2147483646 w 61"/>
              <a:gd name="T17" fmla="*/ 0 h 23"/>
              <a:gd name="T18" fmla="*/ 2147483646 w 61"/>
              <a:gd name="T19" fmla="*/ 2147483646 h 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1" h="23">
                <a:moveTo>
                  <a:pt x="61" y="12"/>
                </a:moveTo>
                <a:lnTo>
                  <a:pt x="50" y="0"/>
                </a:lnTo>
                <a:lnTo>
                  <a:pt x="0" y="0"/>
                </a:lnTo>
                <a:lnTo>
                  <a:pt x="0" y="23"/>
                </a:lnTo>
                <a:lnTo>
                  <a:pt x="50" y="23"/>
                </a:lnTo>
                <a:lnTo>
                  <a:pt x="39" y="12"/>
                </a:lnTo>
                <a:lnTo>
                  <a:pt x="61" y="12"/>
                </a:lnTo>
                <a:lnTo>
                  <a:pt x="61" y="0"/>
                </a:lnTo>
                <a:lnTo>
                  <a:pt x="50" y="0"/>
                </a:lnTo>
                <a:lnTo>
                  <a:pt x="61"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061" name="Freeform 98"/>
          <p:cNvSpPr>
            <a:spLocks/>
          </p:cNvSpPr>
          <p:nvPr/>
        </p:nvSpPr>
        <p:spPr bwMode="auto">
          <a:xfrm>
            <a:off x="5510213" y="3956050"/>
            <a:ext cx="34925" cy="74613"/>
          </a:xfrm>
          <a:custGeom>
            <a:avLst/>
            <a:gdLst>
              <a:gd name="T0" fmla="*/ 2147483646 w 22"/>
              <a:gd name="T1" fmla="*/ 2147483646 h 47"/>
              <a:gd name="T2" fmla="*/ 2147483646 w 22"/>
              <a:gd name="T3" fmla="*/ 2147483646 h 47"/>
              <a:gd name="T4" fmla="*/ 2147483646 w 22"/>
              <a:gd name="T5" fmla="*/ 0 h 47"/>
              <a:gd name="T6" fmla="*/ 0 w 22"/>
              <a:gd name="T7" fmla="*/ 0 h 47"/>
              <a:gd name="T8" fmla="*/ 0 w 22"/>
              <a:gd name="T9" fmla="*/ 2147483646 h 47"/>
              <a:gd name="T10" fmla="*/ 2147483646 w 22"/>
              <a:gd name="T11" fmla="*/ 2147483646 h 47"/>
              <a:gd name="T12" fmla="*/ 2147483646 w 22"/>
              <a:gd name="T13" fmla="*/ 2147483646 h 47"/>
              <a:gd name="T14" fmla="*/ 2147483646 w 22"/>
              <a:gd name="T15" fmla="*/ 2147483646 h 47"/>
              <a:gd name="T16" fmla="*/ 2147483646 w 22"/>
              <a:gd name="T17" fmla="*/ 2147483646 h 47"/>
              <a:gd name="T18" fmla="*/ 2147483646 w 22"/>
              <a:gd name="T19" fmla="*/ 2147483646 h 4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2" h="47">
                <a:moveTo>
                  <a:pt x="11" y="47"/>
                </a:moveTo>
                <a:lnTo>
                  <a:pt x="22" y="36"/>
                </a:lnTo>
                <a:lnTo>
                  <a:pt x="22" y="0"/>
                </a:lnTo>
                <a:lnTo>
                  <a:pt x="0" y="0"/>
                </a:lnTo>
                <a:lnTo>
                  <a:pt x="0" y="36"/>
                </a:lnTo>
                <a:lnTo>
                  <a:pt x="11" y="24"/>
                </a:lnTo>
                <a:lnTo>
                  <a:pt x="11" y="47"/>
                </a:lnTo>
                <a:lnTo>
                  <a:pt x="22" y="47"/>
                </a:lnTo>
                <a:lnTo>
                  <a:pt x="22" y="36"/>
                </a:lnTo>
                <a:lnTo>
                  <a:pt x="11" y="4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062" name="Freeform 99"/>
          <p:cNvSpPr>
            <a:spLocks/>
          </p:cNvSpPr>
          <p:nvPr/>
        </p:nvSpPr>
        <p:spPr bwMode="auto">
          <a:xfrm>
            <a:off x="5430838" y="3994150"/>
            <a:ext cx="96837" cy="36513"/>
          </a:xfrm>
          <a:custGeom>
            <a:avLst/>
            <a:gdLst>
              <a:gd name="T0" fmla="*/ 0 w 61"/>
              <a:gd name="T1" fmla="*/ 2147483646 h 23"/>
              <a:gd name="T2" fmla="*/ 2147483646 w 61"/>
              <a:gd name="T3" fmla="*/ 2147483646 h 23"/>
              <a:gd name="T4" fmla="*/ 2147483646 w 61"/>
              <a:gd name="T5" fmla="*/ 2147483646 h 23"/>
              <a:gd name="T6" fmla="*/ 2147483646 w 61"/>
              <a:gd name="T7" fmla="*/ 0 h 23"/>
              <a:gd name="T8" fmla="*/ 2147483646 w 61"/>
              <a:gd name="T9" fmla="*/ 0 h 23"/>
              <a:gd name="T10" fmla="*/ 2147483646 w 61"/>
              <a:gd name="T11" fmla="*/ 2147483646 h 23"/>
              <a:gd name="T12" fmla="*/ 0 w 61"/>
              <a:gd name="T13" fmla="*/ 2147483646 h 23"/>
              <a:gd name="T14" fmla="*/ 0 w 61"/>
              <a:gd name="T15" fmla="*/ 2147483646 h 23"/>
              <a:gd name="T16" fmla="*/ 2147483646 w 61"/>
              <a:gd name="T17" fmla="*/ 2147483646 h 23"/>
              <a:gd name="T18" fmla="*/ 0 w 61"/>
              <a:gd name="T19" fmla="*/ 2147483646 h 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1" h="23">
                <a:moveTo>
                  <a:pt x="0" y="12"/>
                </a:moveTo>
                <a:lnTo>
                  <a:pt x="11" y="23"/>
                </a:lnTo>
                <a:lnTo>
                  <a:pt x="61" y="23"/>
                </a:lnTo>
                <a:lnTo>
                  <a:pt x="61" y="0"/>
                </a:lnTo>
                <a:lnTo>
                  <a:pt x="11" y="0"/>
                </a:lnTo>
                <a:lnTo>
                  <a:pt x="22" y="12"/>
                </a:lnTo>
                <a:lnTo>
                  <a:pt x="0" y="12"/>
                </a:lnTo>
                <a:lnTo>
                  <a:pt x="0" y="23"/>
                </a:lnTo>
                <a:lnTo>
                  <a:pt x="11" y="23"/>
                </a:lnTo>
                <a:lnTo>
                  <a:pt x="0"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063" name="Freeform 100"/>
          <p:cNvSpPr>
            <a:spLocks/>
          </p:cNvSpPr>
          <p:nvPr/>
        </p:nvSpPr>
        <p:spPr bwMode="auto">
          <a:xfrm>
            <a:off x="5430838" y="3937000"/>
            <a:ext cx="34925" cy="76200"/>
          </a:xfrm>
          <a:custGeom>
            <a:avLst/>
            <a:gdLst>
              <a:gd name="T0" fmla="*/ 2147483646 w 22"/>
              <a:gd name="T1" fmla="*/ 0 h 48"/>
              <a:gd name="T2" fmla="*/ 0 w 22"/>
              <a:gd name="T3" fmla="*/ 2147483646 h 48"/>
              <a:gd name="T4" fmla="*/ 0 w 22"/>
              <a:gd name="T5" fmla="*/ 2147483646 h 48"/>
              <a:gd name="T6" fmla="*/ 2147483646 w 22"/>
              <a:gd name="T7" fmla="*/ 2147483646 h 48"/>
              <a:gd name="T8" fmla="*/ 2147483646 w 22"/>
              <a:gd name="T9" fmla="*/ 2147483646 h 48"/>
              <a:gd name="T10" fmla="*/ 2147483646 w 22"/>
              <a:gd name="T11" fmla="*/ 2147483646 h 48"/>
              <a:gd name="T12" fmla="*/ 2147483646 w 22"/>
              <a:gd name="T13" fmla="*/ 0 h 48"/>
              <a:gd name="T14" fmla="*/ 0 w 22"/>
              <a:gd name="T15" fmla="*/ 0 h 48"/>
              <a:gd name="T16" fmla="*/ 0 w 22"/>
              <a:gd name="T17" fmla="*/ 2147483646 h 48"/>
              <a:gd name="T18" fmla="*/ 2147483646 w 22"/>
              <a:gd name="T19" fmla="*/ 0 h 4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2" h="48">
                <a:moveTo>
                  <a:pt x="11" y="0"/>
                </a:moveTo>
                <a:lnTo>
                  <a:pt x="0" y="12"/>
                </a:lnTo>
                <a:lnTo>
                  <a:pt x="0" y="48"/>
                </a:lnTo>
                <a:lnTo>
                  <a:pt x="22" y="48"/>
                </a:lnTo>
                <a:lnTo>
                  <a:pt x="22" y="12"/>
                </a:lnTo>
                <a:lnTo>
                  <a:pt x="11" y="23"/>
                </a:lnTo>
                <a:lnTo>
                  <a:pt x="11" y="0"/>
                </a:lnTo>
                <a:lnTo>
                  <a:pt x="0" y="0"/>
                </a:lnTo>
                <a:lnTo>
                  <a:pt x="0" y="12"/>
                </a:lnTo>
                <a:lnTo>
                  <a:pt x="1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064" name="Freeform 101"/>
          <p:cNvSpPr>
            <a:spLocks/>
          </p:cNvSpPr>
          <p:nvPr/>
        </p:nvSpPr>
        <p:spPr bwMode="auto">
          <a:xfrm>
            <a:off x="5197475" y="4052888"/>
            <a:ext cx="96838" cy="38100"/>
          </a:xfrm>
          <a:custGeom>
            <a:avLst/>
            <a:gdLst>
              <a:gd name="T0" fmla="*/ 2147483646 w 61"/>
              <a:gd name="T1" fmla="*/ 2147483646 h 24"/>
              <a:gd name="T2" fmla="*/ 2147483646 w 61"/>
              <a:gd name="T3" fmla="*/ 0 h 24"/>
              <a:gd name="T4" fmla="*/ 0 w 61"/>
              <a:gd name="T5" fmla="*/ 0 h 24"/>
              <a:gd name="T6" fmla="*/ 0 w 61"/>
              <a:gd name="T7" fmla="*/ 2147483646 h 24"/>
              <a:gd name="T8" fmla="*/ 2147483646 w 61"/>
              <a:gd name="T9" fmla="*/ 2147483646 h 24"/>
              <a:gd name="T10" fmla="*/ 2147483646 w 61"/>
              <a:gd name="T11" fmla="*/ 2147483646 h 24"/>
              <a:gd name="T12" fmla="*/ 2147483646 w 61"/>
              <a:gd name="T13" fmla="*/ 2147483646 h 24"/>
              <a:gd name="T14" fmla="*/ 2147483646 w 61"/>
              <a:gd name="T15" fmla="*/ 0 h 24"/>
              <a:gd name="T16" fmla="*/ 2147483646 w 61"/>
              <a:gd name="T17" fmla="*/ 0 h 24"/>
              <a:gd name="T18" fmla="*/ 2147483646 w 61"/>
              <a:gd name="T19" fmla="*/ 2147483646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1" h="24">
                <a:moveTo>
                  <a:pt x="61" y="11"/>
                </a:moveTo>
                <a:lnTo>
                  <a:pt x="50" y="0"/>
                </a:lnTo>
                <a:lnTo>
                  <a:pt x="0" y="0"/>
                </a:lnTo>
                <a:lnTo>
                  <a:pt x="0" y="24"/>
                </a:lnTo>
                <a:lnTo>
                  <a:pt x="50" y="24"/>
                </a:lnTo>
                <a:lnTo>
                  <a:pt x="38" y="11"/>
                </a:lnTo>
                <a:lnTo>
                  <a:pt x="61" y="11"/>
                </a:lnTo>
                <a:lnTo>
                  <a:pt x="61" y="0"/>
                </a:lnTo>
                <a:lnTo>
                  <a:pt x="50" y="0"/>
                </a:lnTo>
                <a:lnTo>
                  <a:pt x="61"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065" name="Freeform 102"/>
          <p:cNvSpPr>
            <a:spLocks/>
          </p:cNvSpPr>
          <p:nvPr/>
        </p:nvSpPr>
        <p:spPr bwMode="auto">
          <a:xfrm>
            <a:off x="5257800" y="4070350"/>
            <a:ext cx="36513" cy="77788"/>
          </a:xfrm>
          <a:custGeom>
            <a:avLst/>
            <a:gdLst>
              <a:gd name="T0" fmla="*/ 2147483646 w 23"/>
              <a:gd name="T1" fmla="*/ 2147483646 h 49"/>
              <a:gd name="T2" fmla="*/ 2147483646 w 23"/>
              <a:gd name="T3" fmla="*/ 2147483646 h 49"/>
              <a:gd name="T4" fmla="*/ 2147483646 w 23"/>
              <a:gd name="T5" fmla="*/ 0 h 49"/>
              <a:gd name="T6" fmla="*/ 0 w 23"/>
              <a:gd name="T7" fmla="*/ 0 h 49"/>
              <a:gd name="T8" fmla="*/ 0 w 23"/>
              <a:gd name="T9" fmla="*/ 2147483646 h 49"/>
              <a:gd name="T10" fmla="*/ 2147483646 w 23"/>
              <a:gd name="T11" fmla="*/ 2147483646 h 49"/>
              <a:gd name="T12" fmla="*/ 2147483646 w 23"/>
              <a:gd name="T13" fmla="*/ 2147483646 h 49"/>
              <a:gd name="T14" fmla="*/ 2147483646 w 23"/>
              <a:gd name="T15" fmla="*/ 2147483646 h 49"/>
              <a:gd name="T16" fmla="*/ 2147483646 w 23"/>
              <a:gd name="T17" fmla="*/ 2147483646 h 49"/>
              <a:gd name="T18" fmla="*/ 2147483646 w 23"/>
              <a:gd name="T19" fmla="*/ 2147483646 h 4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3" h="49">
                <a:moveTo>
                  <a:pt x="12" y="49"/>
                </a:moveTo>
                <a:lnTo>
                  <a:pt x="23" y="38"/>
                </a:lnTo>
                <a:lnTo>
                  <a:pt x="23" y="0"/>
                </a:lnTo>
                <a:lnTo>
                  <a:pt x="0" y="0"/>
                </a:lnTo>
                <a:lnTo>
                  <a:pt x="0" y="38"/>
                </a:lnTo>
                <a:lnTo>
                  <a:pt x="12" y="25"/>
                </a:lnTo>
                <a:lnTo>
                  <a:pt x="12" y="49"/>
                </a:lnTo>
                <a:lnTo>
                  <a:pt x="23" y="49"/>
                </a:lnTo>
                <a:lnTo>
                  <a:pt x="23" y="38"/>
                </a:lnTo>
                <a:lnTo>
                  <a:pt x="12" y="4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066" name="Freeform 103"/>
          <p:cNvSpPr>
            <a:spLocks/>
          </p:cNvSpPr>
          <p:nvPr/>
        </p:nvSpPr>
        <p:spPr bwMode="auto">
          <a:xfrm>
            <a:off x="5178425" y="4110038"/>
            <a:ext cx="98425" cy="38100"/>
          </a:xfrm>
          <a:custGeom>
            <a:avLst/>
            <a:gdLst>
              <a:gd name="T0" fmla="*/ 0 w 62"/>
              <a:gd name="T1" fmla="*/ 2147483646 h 24"/>
              <a:gd name="T2" fmla="*/ 2147483646 w 62"/>
              <a:gd name="T3" fmla="*/ 2147483646 h 24"/>
              <a:gd name="T4" fmla="*/ 2147483646 w 62"/>
              <a:gd name="T5" fmla="*/ 2147483646 h 24"/>
              <a:gd name="T6" fmla="*/ 2147483646 w 62"/>
              <a:gd name="T7" fmla="*/ 0 h 24"/>
              <a:gd name="T8" fmla="*/ 2147483646 w 62"/>
              <a:gd name="T9" fmla="*/ 0 h 24"/>
              <a:gd name="T10" fmla="*/ 2147483646 w 62"/>
              <a:gd name="T11" fmla="*/ 2147483646 h 24"/>
              <a:gd name="T12" fmla="*/ 0 w 62"/>
              <a:gd name="T13" fmla="*/ 2147483646 h 24"/>
              <a:gd name="T14" fmla="*/ 0 w 62"/>
              <a:gd name="T15" fmla="*/ 2147483646 h 24"/>
              <a:gd name="T16" fmla="*/ 2147483646 w 62"/>
              <a:gd name="T17" fmla="*/ 2147483646 h 24"/>
              <a:gd name="T18" fmla="*/ 0 w 62"/>
              <a:gd name="T19" fmla="*/ 2147483646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2" h="24">
                <a:moveTo>
                  <a:pt x="0" y="13"/>
                </a:moveTo>
                <a:lnTo>
                  <a:pt x="12" y="24"/>
                </a:lnTo>
                <a:lnTo>
                  <a:pt x="62" y="24"/>
                </a:lnTo>
                <a:lnTo>
                  <a:pt x="62" y="0"/>
                </a:lnTo>
                <a:lnTo>
                  <a:pt x="12" y="0"/>
                </a:lnTo>
                <a:lnTo>
                  <a:pt x="23" y="13"/>
                </a:lnTo>
                <a:lnTo>
                  <a:pt x="0" y="13"/>
                </a:lnTo>
                <a:lnTo>
                  <a:pt x="0" y="24"/>
                </a:lnTo>
                <a:lnTo>
                  <a:pt x="12" y="24"/>
                </a:lnTo>
                <a:lnTo>
                  <a:pt x="0" y="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067" name="Freeform 104"/>
          <p:cNvSpPr>
            <a:spLocks/>
          </p:cNvSpPr>
          <p:nvPr/>
        </p:nvSpPr>
        <p:spPr bwMode="auto">
          <a:xfrm>
            <a:off x="5178425" y="4052888"/>
            <a:ext cx="36513" cy="77787"/>
          </a:xfrm>
          <a:custGeom>
            <a:avLst/>
            <a:gdLst>
              <a:gd name="T0" fmla="*/ 2147483646 w 23"/>
              <a:gd name="T1" fmla="*/ 0 h 49"/>
              <a:gd name="T2" fmla="*/ 0 w 23"/>
              <a:gd name="T3" fmla="*/ 2147483646 h 49"/>
              <a:gd name="T4" fmla="*/ 0 w 23"/>
              <a:gd name="T5" fmla="*/ 2147483646 h 49"/>
              <a:gd name="T6" fmla="*/ 2147483646 w 23"/>
              <a:gd name="T7" fmla="*/ 2147483646 h 49"/>
              <a:gd name="T8" fmla="*/ 2147483646 w 23"/>
              <a:gd name="T9" fmla="*/ 2147483646 h 49"/>
              <a:gd name="T10" fmla="*/ 2147483646 w 23"/>
              <a:gd name="T11" fmla="*/ 2147483646 h 49"/>
              <a:gd name="T12" fmla="*/ 2147483646 w 23"/>
              <a:gd name="T13" fmla="*/ 0 h 49"/>
              <a:gd name="T14" fmla="*/ 0 w 23"/>
              <a:gd name="T15" fmla="*/ 0 h 49"/>
              <a:gd name="T16" fmla="*/ 0 w 23"/>
              <a:gd name="T17" fmla="*/ 2147483646 h 49"/>
              <a:gd name="T18" fmla="*/ 2147483646 w 23"/>
              <a:gd name="T19" fmla="*/ 0 h 4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3" h="49">
                <a:moveTo>
                  <a:pt x="12" y="0"/>
                </a:moveTo>
                <a:lnTo>
                  <a:pt x="0" y="11"/>
                </a:lnTo>
                <a:lnTo>
                  <a:pt x="0" y="49"/>
                </a:lnTo>
                <a:lnTo>
                  <a:pt x="23" y="49"/>
                </a:lnTo>
                <a:lnTo>
                  <a:pt x="23" y="11"/>
                </a:lnTo>
                <a:lnTo>
                  <a:pt x="12" y="24"/>
                </a:lnTo>
                <a:lnTo>
                  <a:pt x="12" y="0"/>
                </a:lnTo>
                <a:lnTo>
                  <a:pt x="0" y="0"/>
                </a:lnTo>
                <a:lnTo>
                  <a:pt x="0" y="11"/>
                </a:lnTo>
                <a:lnTo>
                  <a:pt x="1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068" name="Freeform 105"/>
          <p:cNvSpPr>
            <a:spLocks/>
          </p:cNvSpPr>
          <p:nvPr/>
        </p:nvSpPr>
        <p:spPr bwMode="auto">
          <a:xfrm>
            <a:off x="5197475" y="3937000"/>
            <a:ext cx="96838" cy="36513"/>
          </a:xfrm>
          <a:custGeom>
            <a:avLst/>
            <a:gdLst>
              <a:gd name="T0" fmla="*/ 2147483646 w 61"/>
              <a:gd name="T1" fmla="*/ 2147483646 h 23"/>
              <a:gd name="T2" fmla="*/ 2147483646 w 61"/>
              <a:gd name="T3" fmla="*/ 0 h 23"/>
              <a:gd name="T4" fmla="*/ 0 w 61"/>
              <a:gd name="T5" fmla="*/ 0 h 23"/>
              <a:gd name="T6" fmla="*/ 0 w 61"/>
              <a:gd name="T7" fmla="*/ 2147483646 h 23"/>
              <a:gd name="T8" fmla="*/ 2147483646 w 61"/>
              <a:gd name="T9" fmla="*/ 2147483646 h 23"/>
              <a:gd name="T10" fmla="*/ 2147483646 w 61"/>
              <a:gd name="T11" fmla="*/ 2147483646 h 23"/>
              <a:gd name="T12" fmla="*/ 2147483646 w 61"/>
              <a:gd name="T13" fmla="*/ 2147483646 h 23"/>
              <a:gd name="T14" fmla="*/ 2147483646 w 61"/>
              <a:gd name="T15" fmla="*/ 0 h 23"/>
              <a:gd name="T16" fmla="*/ 2147483646 w 61"/>
              <a:gd name="T17" fmla="*/ 0 h 23"/>
              <a:gd name="T18" fmla="*/ 2147483646 w 61"/>
              <a:gd name="T19" fmla="*/ 2147483646 h 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1" h="23">
                <a:moveTo>
                  <a:pt x="61" y="12"/>
                </a:moveTo>
                <a:lnTo>
                  <a:pt x="50" y="0"/>
                </a:lnTo>
                <a:lnTo>
                  <a:pt x="0" y="0"/>
                </a:lnTo>
                <a:lnTo>
                  <a:pt x="0" y="23"/>
                </a:lnTo>
                <a:lnTo>
                  <a:pt x="50" y="23"/>
                </a:lnTo>
                <a:lnTo>
                  <a:pt x="38" y="12"/>
                </a:lnTo>
                <a:lnTo>
                  <a:pt x="61" y="12"/>
                </a:lnTo>
                <a:lnTo>
                  <a:pt x="61" y="0"/>
                </a:lnTo>
                <a:lnTo>
                  <a:pt x="50" y="0"/>
                </a:lnTo>
                <a:lnTo>
                  <a:pt x="61"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069" name="Freeform 106"/>
          <p:cNvSpPr>
            <a:spLocks/>
          </p:cNvSpPr>
          <p:nvPr/>
        </p:nvSpPr>
        <p:spPr bwMode="auto">
          <a:xfrm>
            <a:off x="5257800" y="3956050"/>
            <a:ext cx="36513" cy="74613"/>
          </a:xfrm>
          <a:custGeom>
            <a:avLst/>
            <a:gdLst>
              <a:gd name="T0" fmla="*/ 2147483646 w 23"/>
              <a:gd name="T1" fmla="*/ 2147483646 h 47"/>
              <a:gd name="T2" fmla="*/ 2147483646 w 23"/>
              <a:gd name="T3" fmla="*/ 2147483646 h 47"/>
              <a:gd name="T4" fmla="*/ 2147483646 w 23"/>
              <a:gd name="T5" fmla="*/ 0 h 47"/>
              <a:gd name="T6" fmla="*/ 0 w 23"/>
              <a:gd name="T7" fmla="*/ 0 h 47"/>
              <a:gd name="T8" fmla="*/ 0 w 23"/>
              <a:gd name="T9" fmla="*/ 2147483646 h 47"/>
              <a:gd name="T10" fmla="*/ 2147483646 w 23"/>
              <a:gd name="T11" fmla="*/ 2147483646 h 47"/>
              <a:gd name="T12" fmla="*/ 2147483646 w 23"/>
              <a:gd name="T13" fmla="*/ 2147483646 h 47"/>
              <a:gd name="T14" fmla="*/ 2147483646 w 23"/>
              <a:gd name="T15" fmla="*/ 2147483646 h 47"/>
              <a:gd name="T16" fmla="*/ 2147483646 w 23"/>
              <a:gd name="T17" fmla="*/ 2147483646 h 47"/>
              <a:gd name="T18" fmla="*/ 2147483646 w 23"/>
              <a:gd name="T19" fmla="*/ 2147483646 h 4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3" h="47">
                <a:moveTo>
                  <a:pt x="12" y="47"/>
                </a:moveTo>
                <a:lnTo>
                  <a:pt x="23" y="36"/>
                </a:lnTo>
                <a:lnTo>
                  <a:pt x="23" y="0"/>
                </a:lnTo>
                <a:lnTo>
                  <a:pt x="0" y="0"/>
                </a:lnTo>
                <a:lnTo>
                  <a:pt x="0" y="36"/>
                </a:lnTo>
                <a:lnTo>
                  <a:pt x="12" y="24"/>
                </a:lnTo>
                <a:lnTo>
                  <a:pt x="12" y="47"/>
                </a:lnTo>
                <a:lnTo>
                  <a:pt x="23" y="47"/>
                </a:lnTo>
                <a:lnTo>
                  <a:pt x="23" y="36"/>
                </a:lnTo>
                <a:lnTo>
                  <a:pt x="12" y="4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070" name="Freeform 107"/>
          <p:cNvSpPr>
            <a:spLocks/>
          </p:cNvSpPr>
          <p:nvPr/>
        </p:nvSpPr>
        <p:spPr bwMode="auto">
          <a:xfrm>
            <a:off x="5178425" y="3994150"/>
            <a:ext cx="98425" cy="36513"/>
          </a:xfrm>
          <a:custGeom>
            <a:avLst/>
            <a:gdLst>
              <a:gd name="T0" fmla="*/ 0 w 62"/>
              <a:gd name="T1" fmla="*/ 2147483646 h 23"/>
              <a:gd name="T2" fmla="*/ 2147483646 w 62"/>
              <a:gd name="T3" fmla="*/ 2147483646 h 23"/>
              <a:gd name="T4" fmla="*/ 2147483646 w 62"/>
              <a:gd name="T5" fmla="*/ 2147483646 h 23"/>
              <a:gd name="T6" fmla="*/ 2147483646 w 62"/>
              <a:gd name="T7" fmla="*/ 0 h 23"/>
              <a:gd name="T8" fmla="*/ 2147483646 w 62"/>
              <a:gd name="T9" fmla="*/ 0 h 23"/>
              <a:gd name="T10" fmla="*/ 2147483646 w 62"/>
              <a:gd name="T11" fmla="*/ 2147483646 h 23"/>
              <a:gd name="T12" fmla="*/ 0 w 62"/>
              <a:gd name="T13" fmla="*/ 2147483646 h 23"/>
              <a:gd name="T14" fmla="*/ 0 w 62"/>
              <a:gd name="T15" fmla="*/ 2147483646 h 23"/>
              <a:gd name="T16" fmla="*/ 2147483646 w 62"/>
              <a:gd name="T17" fmla="*/ 2147483646 h 23"/>
              <a:gd name="T18" fmla="*/ 0 w 62"/>
              <a:gd name="T19" fmla="*/ 2147483646 h 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2" h="23">
                <a:moveTo>
                  <a:pt x="0" y="12"/>
                </a:moveTo>
                <a:lnTo>
                  <a:pt x="12" y="23"/>
                </a:lnTo>
                <a:lnTo>
                  <a:pt x="62" y="23"/>
                </a:lnTo>
                <a:lnTo>
                  <a:pt x="62" y="0"/>
                </a:lnTo>
                <a:lnTo>
                  <a:pt x="12" y="0"/>
                </a:lnTo>
                <a:lnTo>
                  <a:pt x="23" y="12"/>
                </a:lnTo>
                <a:lnTo>
                  <a:pt x="0" y="12"/>
                </a:lnTo>
                <a:lnTo>
                  <a:pt x="0" y="23"/>
                </a:lnTo>
                <a:lnTo>
                  <a:pt x="12" y="23"/>
                </a:lnTo>
                <a:lnTo>
                  <a:pt x="0"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071" name="Freeform 108"/>
          <p:cNvSpPr>
            <a:spLocks/>
          </p:cNvSpPr>
          <p:nvPr/>
        </p:nvSpPr>
        <p:spPr bwMode="auto">
          <a:xfrm>
            <a:off x="5178425" y="3937000"/>
            <a:ext cx="36513" cy="76200"/>
          </a:xfrm>
          <a:custGeom>
            <a:avLst/>
            <a:gdLst>
              <a:gd name="T0" fmla="*/ 2147483646 w 23"/>
              <a:gd name="T1" fmla="*/ 0 h 48"/>
              <a:gd name="T2" fmla="*/ 0 w 23"/>
              <a:gd name="T3" fmla="*/ 2147483646 h 48"/>
              <a:gd name="T4" fmla="*/ 0 w 23"/>
              <a:gd name="T5" fmla="*/ 2147483646 h 48"/>
              <a:gd name="T6" fmla="*/ 2147483646 w 23"/>
              <a:gd name="T7" fmla="*/ 2147483646 h 48"/>
              <a:gd name="T8" fmla="*/ 2147483646 w 23"/>
              <a:gd name="T9" fmla="*/ 2147483646 h 48"/>
              <a:gd name="T10" fmla="*/ 2147483646 w 23"/>
              <a:gd name="T11" fmla="*/ 2147483646 h 48"/>
              <a:gd name="T12" fmla="*/ 2147483646 w 23"/>
              <a:gd name="T13" fmla="*/ 0 h 48"/>
              <a:gd name="T14" fmla="*/ 0 w 23"/>
              <a:gd name="T15" fmla="*/ 0 h 48"/>
              <a:gd name="T16" fmla="*/ 0 w 23"/>
              <a:gd name="T17" fmla="*/ 2147483646 h 48"/>
              <a:gd name="T18" fmla="*/ 2147483646 w 23"/>
              <a:gd name="T19" fmla="*/ 0 h 4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3" h="48">
                <a:moveTo>
                  <a:pt x="12" y="0"/>
                </a:moveTo>
                <a:lnTo>
                  <a:pt x="0" y="12"/>
                </a:lnTo>
                <a:lnTo>
                  <a:pt x="0" y="48"/>
                </a:lnTo>
                <a:lnTo>
                  <a:pt x="23" y="48"/>
                </a:lnTo>
                <a:lnTo>
                  <a:pt x="23" y="12"/>
                </a:lnTo>
                <a:lnTo>
                  <a:pt x="12" y="23"/>
                </a:lnTo>
                <a:lnTo>
                  <a:pt x="12" y="0"/>
                </a:lnTo>
                <a:lnTo>
                  <a:pt x="0" y="0"/>
                </a:lnTo>
                <a:lnTo>
                  <a:pt x="0" y="12"/>
                </a:lnTo>
                <a:lnTo>
                  <a:pt x="1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072" name="Freeform 109"/>
          <p:cNvSpPr>
            <a:spLocks/>
          </p:cNvSpPr>
          <p:nvPr/>
        </p:nvSpPr>
        <p:spPr bwMode="auto">
          <a:xfrm>
            <a:off x="5532438" y="4052888"/>
            <a:ext cx="101600" cy="38100"/>
          </a:xfrm>
          <a:custGeom>
            <a:avLst/>
            <a:gdLst>
              <a:gd name="T0" fmla="*/ 2147483646 w 64"/>
              <a:gd name="T1" fmla="*/ 2147483646 h 24"/>
              <a:gd name="T2" fmla="*/ 2147483646 w 64"/>
              <a:gd name="T3" fmla="*/ 0 h 24"/>
              <a:gd name="T4" fmla="*/ 0 w 64"/>
              <a:gd name="T5" fmla="*/ 0 h 24"/>
              <a:gd name="T6" fmla="*/ 0 w 64"/>
              <a:gd name="T7" fmla="*/ 2147483646 h 24"/>
              <a:gd name="T8" fmla="*/ 2147483646 w 64"/>
              <a:gd name="T9" fmla="*/ 2147483646 h 24"/>
              <a:gd name="T10" fmla="*/ 2147483646 w 64"/>
              <a:gd name="T11" fmla="*/ 2147483646 h 24"/>
              <a:gd name="T12" fmla="*/ 2147483646 w 64"/>
              <a:gd name="T13" fmla="*/ 2147483646 h 24"/>
              <a:gd name="T14" fmla="*/ 2147483646 w 64"/>
              <a:gd name="T15" fmla="*/ 0 h 24"/>
              <a:gd name="T16" fmla="*/ 2147483646 w 64"/>
              <a:gd name="T17" fmla="*/ 0 h 24"/>
              <a:gd name="T18" fmla="*/ 2147483646 w 64"/>
              <a:gd name="T19" fmla="*/ 2147483646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4" h="24">
                <a:moveTo>
                  <a:pt x="64" y="11"/>
                </a:moveTo>
                <a:lnTo>
                  <a:pt x="50" y="0"/>
                </a:lnTo>
                <a:lnTo>
                  <a:pt x="0" y="0"/>
                </a:lnTo>
                <a:lnTo>
                  <a:pt x="0" y="24"/>
                </a:lnTo>
                <a:lnTo>
                  <a:pt x="50" y="24"/>
                </a:lnTo>
                <a:lnTo>
                  <a:pt x="39" y="11"/>
                </a:lnTo>
                <a:lnTo>
                  <a:pt x="64" y="11"/>
                </a:lnTo>
                <a:lnTo>
                  <a:pt x="64" y="0"/>
                </a:lnTo>
                <a:lnTo>
                  <a:pt x="50" y="0"/>
                </a:lnTo>
                <a:lnTo>
                  <a:pt x="6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073" name="Freeform 110"/>
          <p:cNvSpPr>
            <a:spLocks/>
          </p:cNvSpPr>
          <p:nvPr/>
        </p:nvSpPr>
        <p:spPr bwMode="auto">
          <a:xfrm>
            <a:off x="5594350" y="4070350"/>
            <a:ext cx="39688" cy="77788"/>
          </a:xfrm>
          <a:custGeom>
            <a:avLst/>
            <a:gdLst>
              <a:gd name="T0" fmla="*/ 2147483646 w 25"/>
              <a:gd name="T1" fmla="*/ 2147483646 h 49"/>
              <a:gd name="T2" fmla="*/ 2147483646 w 25"/>
              <a:gd name="T3" fmla="*/ 2147483646 h 49"/>
              <a:gd name="T4" fmla="*/ 2147483646 w 25"/>
              <a:gd name="T5" fmla="*/ 0 h 49"/>
              <a:gd name="T6" fmla="*/ 0 w 25"/>
              <a:gd name="T7" fmla="*/ 0 h 49"/>
              <a:gd name="T8" fmla="*/ 0 w 25"/>
              <a:gd name="T9" fmla="*/ 2147483646 h 49"/>
              <a:gd name="T10" fmla="*/ 2147483646 w 25"/>
              <a:gd name="T11" fmla="*/ 2147483646 h 49"/>
              <a:gd name="T12" fmla="*/ 2147483646 w 25"/>
              <a:gd name="T13" fmla="*/ 2147483646 h 49"/>
              <a:gd name="T14" fmla="*/ 2147483646 w 25"/>
              <a:gd name="T15" fmla="*/ 2147483646 h 49"/>
              <a:gd name="T16" fmla="*/ 2147483646 w 25"/>
              <a:gd name="T17" fmla="*/ 2147483646 h 49"/>
              <a:gd name="T18" fmla="*/ 2147483646 w 25"/>
              <a:gd name="T19" fmla="*/ 2147483646 h 4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5" h="49">
                <a:moveTo>
                  <a:pt x="11" y="49"/>
                </a:moveTo>
                <a:lnTo>
                  <a:pt x="25" y="38"/>
                </a:lnTo>
                <a:lnTo>
                  <a:pt x="25" y="0"/>
                </a:lnTo>
                <a:lnTo>
                  <a:pt x="0" y="0"/>
                </a:lnTo>
                <a:lnTo>
                  <a:pt x="0" y="38"/>
                </a:lnTo>
                <a:lnTo>
                  <a:pt x="11" y="25"/>
                </a:lnTo>
                <a:lnTo>
                  <a:pt x="11" y="49"/>
                </a:lnTo>
                <a:lnTo>
                  <a:pt x="25" y="49"/>
                </a:lnTo>
                <a:lnTo>
                  <a:pt x="25" y="38"/>
                </a:lnTo>
                <a:lnTo>
                  <a:pt x="11" y="4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074" name="Freeform 111"/>
          <p:cNvSpPr>
            <a:spLocks/>
          </p:cNvSpPr>
          <p:nvPr/>
        </p:nvSpPr>
        <p:spPr bwMode="auto">
          <a:xfrm>
            <a:off x="5514975" y="4110038"/>
            <a:ext cx="96838" cy="38100"/>
          </a:xfrm>
          <a:custGeom>
            <a:avLst/>
            <a:gdLst>
              <a:gd name="T0" fmla="*/ 0 w 61"/>
              <a:gd name="T1" fmla="*/ 2147483646 h 24"/>
              <a:gd name="T2" fmla="*/ 2147483646 w 61"/>
              <a:gd name="T3" fmla="*/ 2147483646 h 24"/>
              <a:gd name="T4" fmla="*/ 2147483646 w 61"/>
              <a:gd name="T5" fmla="*/ 2147483646 h 24"/>
              <a:gd name="T6" fmla="*/ 2147483646 w 61"/>
              <a:gd name="T7" fmla="*/ 0 h 24"/>
              <a:gd name="T8" fmla="*/ 2147483646 w 61"/>
              <a:gd name="T9" fmla="*/ 0 h 24"/>
              <a:gd name="T10" fmla="*/ 2147483646 w 61"/>
              <a:gd name="T11" fmla="*/ 2147483646 h 24"/>
              <a:gd name="T12" fmla="*/ 0 w 61"/>
              <a:gd name="T13" fmla="*/ 2147483646 h 24"/>
              <a:gd name="T14" fmla="*/ 0 w 61"/>
              <a:gd name="T15" fmla="*/ 2147483646 h 24"/>
              <a:gd name="T16" fmla="*/ 2147483646 w 61"/>
              <a:gd name="T17" fmla="*/ 2147483646 h 24"/>
              <a:gd name="T18" fmla="*/ 0 w 61"/>
              <a:gd name="T19" fmla="*/ 2147483646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1" h="24">
                <a:moveTo>
                  <a:pt x="0" y="13"/>
                </a:moveTo>
                <a:lnTo>
                  <a:pt x="11" y="24"/>
                </a:lnTo>
                <a:lnTo>
                  <a:pt x="61" y="24"/>
                </a:lnTo>
                <a:lnTo>
                  <a:pt x="61" y="0"/>
                </a:lnTo>
                <a:lnTo>
                  <a:pt x="11" y="0"/>
                </a:lnTo>
                <a:lnTo>
                  <a:pt x="25" y="13"/>
                </a:lnTo>
                <a:lnTo>
                  <a:pt x="0" y="13"/>
                </a:lnTo>
                <a:lnTo>
                  <a:pt x="0" y="24"/>
                </a:lnTo>
                <a:lnTo>
                  <a:pt x="11" y="24"/>
                </a:lnTo>
                <a:lnTo>
                  <a:pt x="0" y="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075" name="Freeform 112"/>
          <p:cNvSpPr>
            <a:spLocks/>
          </p:cNvSpPr>
          <p:nvPr/>
        </p:nvSpPr>
        <p:spPr bwMode="auto">
          <a:xfrm>
            <a:off x="5514975" y="4052888"/>
            <a:ext cx="39688" cy="77787"/>
          </a:xfrm>
          <a:custGeom>
            <a:avLst/>
            <a:gdLst>
              <a:gd name="T0" fmla="*/ 2147483646 w 25"/>
              <a:gd name="T1" fmla="*/ 0 h 49"/>
              <a:gd name="T2" fmla="*/ 0 w 25"/>
              <a:gd name="T3" fmla="*/ 2147483646 h 49"/>
              <a:gd name="T4" fmla="*/ 0 w 25"/>
              <a:gd name="T5" fmla="*/ 2147483646 h 49"/>
              <a:gd name="T6" fmla="*/ 2147483646 w 25"/>
              <a:gd name="T7" fmla="*/ 2147483646 h 49"/>
              <a:gd name="T8" fmla="*/ 2147483646 w 25"/>
              <a:gd name="T9" fmla="*/ 2147483646 h 49"/>
              <a:gd name="T10" fmla="*/ 2147483646 w 25"/>
              <a:gd name="T11" fmla="*/ 2147483646 h 49"/>
              <a:gd name="T12" fmla="*/ 2147483646 w 25"/>
              <a:gd name="T13" fmla="*/ 0 h 49"/>
              <a:gd name="T14" fmla="*/ 0 w 25"/>
              <a:gd name="T15" fmla="*/ 0 h 49"/>
              <a:gd name="T16" fmla="*/ 0 w 25"/>
              <a:gd name="T17" fmla="*/ 2147483646 h 49"/>
              <a:gd name="T18" fmla="*/ 2147483646 w 25"/>
              <a:gd name="T19" fmla="*/ 0 h 4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5" h="49">
                <a:moveTo>
                  <a:pt x="11" y="0"/>
                </a:moveTo>
                <a:lnTo>
                  <a:pt x="0" y="11"/>
                </a:lnTo>
                <a:lnTo>
                  <a:pt x="0" y="49"/>
                </a:lnTo>
                <a:lnTo>
                  <a:pt x="25" y="49"/>
                </a:lnTo>
                <a:lnTo>
                  <a:pt x="25" y="11"/>
                </a:lnTo>
                <a:lnTo>
                  <a:pt x="11" y="24"/>
                </a:lnTo>
                <a:lnTo>
                  <a:pt x="11" y="0"/>
                </a:lnTo>
                <a:lnTo>
                  <a:pt x="0" y="0"/>
                </a:lnTo>
                <a:lnTo>
                  <a:pt x="0" y="11"/>
                </a:lnTo>
                <a:lnTo>
                  <a:pt x="1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076" name="Freeform 113"/>
          <p:cNvSpPr>
            <a:spLocks/>
          </p:cNvSpPr>
          <p:nvPr/>
        </p:nvSpPr>
        <p:spPr bwMode="auto">
          <a:xfrm>
            <a:off x="5532438" y="3937000"/>
            <a:ext cx="96837" cy="36513"/>
          </a:xfrm>
          <a:custGeom>
            <a:avLst/>
            <a:gdLst>
              <a:gd name="T0" fmla="*/ 2147483646 w 61"/>
              <a:gd name="T1" fmla="*/ 2147483646 h 23"/>
              <a:gd name="T2" fmla="*/ 2147483646 w 61"/>
              <a:gd name="T3" fmla="*/ 0 h 23"/>
              <a:gd name="T4" fmla="*/ 0 w 61"/>
              <a:gd name="T5" fmla="*/ 0 h 23"/>
              <a:gd name="T6" fmla="*/ 0 w 61"/>
              <a:gd name="T7" fmla="*/ 2147483646 h 23"/>
              <a:gd name="T8" fmla="*/ 2147483646 w 61"/>
              <a:gd name="T9" fmla="*/ 2147483646 h 23"/>
              <a:gd name="T10" fmla="*/ 2147483646 w 61"/>
              <a:gd name="T11" fmla="*/ 2147483646 h 23"/>
              <a:gd name="T12" fmla="*/ 2147483646 w 61"/>
              <a:gd name="T13" fmla="*/ 2147483646 h 23"/>
              <a:gd name="T14" fmla="*/ 2147483646 w 61"/>
              <a:gd name="T15" fmla="*/ 0 h 23"/>
              <a:gd name="T16" fmla="*/ 2147483646 w 61"/>
              <a:gd name="T17" fmla="*/ 0 h 23"/>
              <a:gd name="T18" fmla="*/ 2147483646 w 61"/>
              <a:gd name="T19" fmla="*/ 2147483646 h 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1" h="23">
                <a:moveTo>
                  <a:pt x="61" y="12"/>
                </a:moveTo>
                <a:lnTo>
                  <a:pt x="50" y="0"/>
                </a:lnTo>
                <a:lnTo>
                  <a:pt x="0" y="0"/>
                </a:lnTo>
                <a:lnTo>
                  <a:pt x="0" y="23"/>
                </a:lnTo>
                <a:lnTo>
                  <a:pt x="50" y="23"/>
                </a:lnTo>
                <a:lnTo>
                  <a:pt x="39" y="12"/>
                </a:lnTo>
                <a:lnTo>
                  <a:pt x="61" y="12"/>
                </a:lnTo>
                <a:lnTo>
                  <a:pt x="61" y="0"/>
                </a:lnTo>
                <a:lnTo>
                  <a:pt x="50" y="0"/>
                </a:lnTo>
                <a:lnTo>
                  <a:pt x="61"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077" name="Freeform 114"/>
          <p:cNvSpPr>
            <a:spLocks/>
          </p:cNvSpPr>
          <p:nvPr/>
        </p:nvSpPr>
        <p:spPr bwMode="auto">
          <a:xfrm>
            <a:off x="5594350" y="3956050"/>
            <a:ext cx="34925" cy="74613"/>
          </a:xfrm>
          <a:custGeom>
            <a:avLst/>
            <a:gdLst>
              <a:gd name="T0" fmla="*/ 2147483646 w 22"/>
              <a:gd name="T1" fmla="*/ 2147483646 h 47"/>
              <a:gd name="T2" fmla="*/ 2147483646 w 22"/>
              <a:gd name="T3" fmla="*/ 2147483646 h 47"/>
              <a:gd name="T4" fmla="*/ 2147483646 w 22"/>
              <a:gd name="T5" fmla="*/ 0 h 47"/>
              <a:gd name="T6" fmla="*/ 0 w 22"/>
              <a:gd name="T7" fmla="*/ 0 h 47"/>
              <a:gd name="T8" fmla="*/ 0 w 22"/>
              <a:gd name="T9" fmla="*/ 2147483646 h 47"/>
              <a:gd name="T10" fmla="*/ 2147483646 w 22"/>
              <a:gd name="T11" fmla="*/ 2147483646 h 47"/>
              <a:gd name="T12" fmla="*/ 2147483646 w 22"/>
              <a:gd name="T13" fmla="*/ 2147483646 h 47"/>
              <a:gd name="T14" fmla="*/ 2147483646 w 22"/>
              <a:gd name="T15" fmla="*/ 2147483646 h 47"/>
              <a:gd name="T16" fmla="*/ 2147483646 w 22"/>
              <a:gd name="T17" fmla="*/ 2147483646 h 47"/>
              <a:gd name="T18" fmla="*/ 2147483646 w 22"/>
              <a:gd name="T19" fmla="*/ 2147483646 h 4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2" h="47">
                <a:moveTo>
                  <a:pt x="11" y="47"/>
                </a:moveTo>
                <a:lnTo>
                  <a:pt x="22" y="36"/>
                </a:lnTo>
                <a:lnTo>
                  <a:pt x="22" y="0"/>
                </a:lnTo>
                <a:lnTo>
                  <a:pt x="0" y="0"/>
                </a:lnTo>
                <a:lnTo>
                  <a:pt x="0" y="36"/>
                </a:lnTo>
                <a:lnTo>
                  <a:pt x="11" y="24"/>
                </a:lnTo>
                <a:lnTo>
                  <a:pt x="11" y="47"/>
                </a:lnTo>
                <a:lnTo>
                  <a:pt x="22" y="47"/>
                </a:lnTo>
                <a:lnTo>
                  <a:pt x="22" y="36"/>
                </a:lnTo>
                <a:lnTo>
                  <a:pt x="11" y="4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078" name="Freeform 115"/>
          <p:cNvSpPr>
            <a:spLocks/>
          </p:cNvSpPr>
          <p:nvPr/>
        </p:nvSpPr>
        <p:spPr bwMode="auto">
          <a:xfrm>
            <a:off x="5514975" y="3994150"/>
            <a:ext cx="96838" cy="36513"/>
          </a:xfrm>
          <a:custGeom>
            <a:avLst/>
            <a:gdLst>
              <a:gd name="T0" fmla="*/ 0 w 61"/>
              <a:gd name="T1" fmla="*/ 2147483646 h 23"/>
              <a:gd name="T2" fmla="*/ 2147483646 w 61"/>
              <a:gd name="T3" fmla="*/ 2147483646 h 23"/>
              <a:gd name="T4" fmla="*/ 2147483646 w 61"/>
              <a:gd name="T5" fmla="*/ 2147483646 h 23"/>
              <a:gd name="T6" fmla="*/ 2147483646 w 61"/>
              <a:gd name="T7" fmla="*/ 0 h 23"/>
              <a:gd name="T8" fmla="*/ 2147483646 w 61"/>
              <a:gd name="T9" fmla="*/ 0 h 23"/>
              <a:gd name="T10" fmla="*/ 2147483646 w 61"/>
              <a:gd name="T11" fmla="*/ 2147483646 h 23"/>
              <a:gd name="T12" fmla="*/ 0 w 61"/>
              <a:gd name="T13" fmla="*/ 2147483646 h 23"/>
              <a:gd name="T14" fmla="*/ 0 w 61"/>
              <a:gd name="T15" fmla="*/ 2147483646 h 23"/>
              <a:gd name="T16" fmla="*/ 2147483646 w 61"/>
              <a:gd name="T17" fmla="*/ 2147483646 h 23"/>
              <a:gd name="T18" fmla="*/ 0 w 61"/>
              <a:gd name="T19" fmla="*/ 2147483646 h 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1" h="23">
                <a:moveTo>
                  <a:pt x="0" y="12"/>
                </a:moveTo>
                <a:lnTo>
                  <a:pt x="11" y="23"/>
                </a:lnTo>
                <a:lnTo>
                  <a:pt x="61" y="23"/>
                </a:lnTo>
                <a:lnTo>
                  <a:pt x="61" y="0"/>
                </a:lnTo>
                <a:lnTo>
                  <a:pt x="11" y="0"/>
                </a:lnTo>
                <a:lnTo>
                  <a:pt x="22" y="12"/>
                </a:lnTo>
                <a:lnTo>
                  <a:pt x="0" y="12"/>
                </a:lnTo>
                <a:lnTo>
                  <a:pt x="0" y="23"/>
                </a:lnTo>
                <a:lnTo>
                  <a:pt x="11" y="23"/>
                </a:lnTo>
                <a:lnTo>
                  <a:pt x="0"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079" name="Freeform 116"/>
          <p:cNvSpPr>
            <a:spLocks/>
          </p:cNvSpPr>
          <p:nvPr/>
        </p:nvSpPr>
        <p:spPr bwMode="auto">
          <a:xfrm>
            <a:off x="5514975" y="3937000"/>
            <a:ext cx="34925" cy="76200"/>
          </a:xfrm>
          <a:custGeom>
            <a:avLst/>
            <a:gdLst>
              <a:gd name="T0" fmla="*/ 2147483646 w 22"/>
              <a:gd name="T1" fmla="*/ 0 h 48"/>
              <a:gd name="T2" fmla="*/ 0 w 22"/>
              <a:gd name="T3" fmla="*/ 2147483646 h 48"/>
              <a:gd name="T4" fmla="*/ 0 w 22"/>
              <a:gd name="T5" fmla="*/ 2147483646 h 48"/>
              <a:gd name="T6" fmla="*/ 2147483646 w 22"/>
              <a:gd name="T7" fmla="*/ 2147483646 h 48"/>
              <a:gd name="T8" fmla="*/ 2147483646 w 22"/>
              <a:gd name="T9" fmla="*/ 2147483646 h 48"/>
              <a:gd name="T10" fmla="*/ 2147483646 w 22"/>
              <a:gd name="T11" fmla="*/ 2147483646 h 48"/>
              <a:gd name="T12" fmla="*/ 2147483646 w 22"/>
              <a:gd name="T13" fmla="*/ 0 h 48"/>
              <a:gd name="T14" fmla="*/ 0 w 22"/>
              <a:gd name="T15" fmla="*/ 0 h 48"/>
              <a:gd name="T16" fmla="*/ 0 w 22"/>
              <a:gd name="T17" fmla="*/ 2147483646 h 48"/>
              <a:gd name="T18" fmla="*/ 2147483646 w 22"/>
              <a:gd name="T19" fmla="*/ 0 h 4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2" h="48">
                <a:moveTo>
                  <a:pt x="11" y="0"/>
                </a:moveTo>
                <a:lnTo>
                  <a:pt x="0" y="12"/>
                </a:lnTo>
                <a:lnTo>
                  <a:pt x="0" y="48"/>
                </a:lnTo>
                <a:lnTo>
                  <a:pt x="22" y="48"/>
                </a:lnTo>
                <a:lnTo>
                  <a:pt x="22" y="12"/>
                </a:lnTo>
                <a:lnTo>
                  <a:pt x="11" y="23"/>
                </a:lnTo>
                <a:lnTo>
                  <a:pt x="11" y="0"/>
                </a:lnTo>
                <a:lnTo>
                  <a:pt x="0" y="0"/>
                </a:lnTo>
                <a:lnTo>
                  <a:pt x="0" y="12"/>
                </a:lnTo>
                <a:lnTo>
                  <a:pt x="1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080" name="Freeform 117"/>
          <p:cNvSpPr>
            <a:spLocks/>
          </p:cNvSpPr>
          <p:nvPr/>
        </p:nvSpPr>
        <p:spPr bwMode="auto">
          <a:xfrm>
            <a:off x="5280025" y="4052888"/>
            <a:ext cx="96838" cy="38100"/>
          </a:xfrm>
          <a:custGeom>
            <a:avLst/>
            <a:gdLst>
              <a:gd name="T0" fmla="*/ 2147483646 w 61"/>
              <a:gd name="T1" fmla="*/ 2147483646 h 24"/>
              <a:gd name="T2" fmla="*/ 2147483646 w 61"/>
              <a:gd name="T3" fmla="*/ 0 h 24"/>
              <a:gd name="T4" fmla="*/ 0 w 61"/>
              <a:gd name="T5" fmla="*/ 0 h 24"/>
              <a:gd name="T6" fmla="*/ 0 w 61"/>
              <a:gd name="T7" fmla="*/ 2147483646 h 24"/>
              <a:gd name="T8" fmla="*/ 2147483646 w 61"/>
              <a:gd name="T9" fmla="*/ 2147483646 h 24"/>
              <a:gd name="T10" fmla="*/ 2147483646 w 61"/>
              <a:gd name="T11" fmla="*/ 2147483646 h 24"/>
              <a:gd name="T12" fmla="*/ 2147483646 w 61"/>
              <a:gd name="T13" fmla="*/ 2147483646 h 24"/>
              <a:gd name="T14" fmla="*/ 2147483646 w 61"/>
              <a:gd name="T15" fmla="*/ 0 h 24"/>
              <a:gd name="T16" fmla="*/ 2147483646 w 61"/>
              <a:gd name="T17" fmla="*/ 0 h 24"/>
              <a:gd name="T18" fmla="*/ 2147483646 w 61"/>
              <a:gd name="T19" fmla="*/ 2147483646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1" h="24">
                <a:moveTo>
                  <a:pt x="61" y="11"/>
                </a:moveTo>
                <a:lnTo>
                  <a:pt x="50" y="0"/>
                </a:lnTo>
                <a:lnTo>
                  <a:pt x="0" y="0"/>
                </a:lnTo>
                <a:lnTo>
                  <a:pt x="0" y="24"/>
                </a:lnTo>
                <a:lnTo>
                  <a:pt x="50" y="24"/>
                </a:lnTo>
                <a:lnTo>
                  <a:pt x="39" y="11"/>
                </a:lnTo>
                <a:lnTo>
                  <a:pt x="61" y="11"/>
                </a:lnTo>
                <a:lnTo>
                  <a:pt x="61" y="0"/>
                </a:lnTo>
                <a:lnTo>
                  <a:pt x="50" y="0"/>
                </a:lnTo>
                <a:lnTo>
                  <a:pt x="61"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081" name="Freeform 118"/>
          <p:cNvSpPr>
            <a:spLocks/>
          </p:cNvSpPr>
          <p:nvPr/>
        </p:nvSpPr>
        <p:spPr bwMode="auto">
          <a:xfrm>
            <a:off x="5341938" y="4070350"/>
            <a:ext cx="34925" cy="77788"/>
          </a:xfrm>
          <a:custGeom>
            <a:avLst/>
            <a:gdLst>
              <a:gd name="T0" fmla="*/ 2147483646 w 22"/>
              <a:gd name="T1" fmla="*/ 2147483646 h 49"/>
              <a:gd name="T2" fmla="*/ 2147483646 w 22"/>
              <a:gd name="T3" fmla="*/ 2147483646 h 49"/>
              <a:gd name="T4" fmla="*/ 2147483646 w 22"/>
              <a:gd name="T5" fmla="*/ 0 h 49"/>
              <a:gd name="T6" fmla="*/ 0 w 22"/>
              <a:gd name="T7" fmla="*/ 0 h 49"/>
              <a:gd name="T8" fmla="*/ 0 w 22"/>
              <a:gd name="T9" fmla="*/ 2147483646 h 49"/>
              <a:gd name="T10" fmla="*/ 2147483646 w 22"/>
              <a:gd name="T11" fmla="*/ 2147483646 h 49"/>
              <a:gd name="T12" fmla="*/ 2147483646 w 22"/>
              <a:gd name="T13" fmla="*/ 2147483646 h 49"/>
              <a:gd name="T14" fmla="*/ 2147483646 w 22"/>
              <a:gd name="T15" fmla="*/ 2147483646 h 49"/>
              <a:gd name="T16" fmla="*/ 2147483646 w 22"/>
              <a:gd name="T17" fmla="*/ 2147483646 h 49"/>
              <a:gd name="T18" fmla="*/ 2147483646 w 22"/>
              <a:gd name="T19" fmla="*/ 2147483646 h 4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2" h="49">
                <a:moveTo>
                  <a:pt x="11" y="49"/>
                </a:moveTo>
                <a:lnTo>
                  <a:pt x="22" y="38"/>
                </a:lnTo>
                <a:lnTo>
                  <a:pt x="22" y="0"/>
                </a:lnTo>
                <a:lnTo>
                  <a:pt x="0" y="0"/>
                </a:lnTo>
                <a:lnTo>
                  <a:pt x="0" y="38"/>
                </a:lnTo>
                <a:lnTo>
                  <a:pt x="11" y="25"/>
                </a:lnTo>
                <a:lnTo>
                  <a:pt x="11" y="49"/>
                </a:lnTo>
                <a:lnTo>
                  <a:pt x="22" y="49"/>
                </a:lnTo>
                <a:lnTo>
                  <a:pt x="22" y="38"/>
                </a:lnTo>
                <a:lnTo>
                  <a:pt x="11" y="4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082" name="Freeform 119"/>
          <p:cNvSpPr>
            <a:spLocks/>
          </p:cNvSpPr>
          <p:nvPr/>
        </p:nvSpPr>
        <p:spPr bwMode="auto">
          <a:xfrm>
            <a:off x="5262563" y="4110038"/>
            <a:ext cx="96837" cy="38100"/>
          </a:xfrm>
          <a:custGeom>
            <a:avLst/>
            <a:gdLst>
              <a:gd name="T0" fmla="*/ 0 w 61"/>
              <a:gd name="T1" fmla="*/ 2147483646 h 24"/>
              <a:gd name="T2" fmla="*/ 2147483646 w 61"/>
              <a:gd name="T3" fmla="*/ 2147483646 h 24"/>
              <a:gd name="T4" fmla="*/ 2147483646 w 61"/>
              <a:gd name="T5" fmla="*/ 2147483646 h 24"/>
              <a:gd name="T6" fmla="*/ 2147483646 w 61"/>
              <a:gd name="T7" fmla="*/ 0 h 24"/>
              <a:gd name="T8" fmla="*/ 2147483646 w 61"/>
              <a:gd name="T9" fmla="*/ 0 h 24"/>
              <a:gd name="T10" fmla="*/ 2147483646 w 61"/>
              <a:gd name="T11" fmla="*/ 2147483646 h 24"/>
              <a:gd name="T12" fmla="*/ 0 w 61"/>
              <a:gd name="T13" fmla="*/ 2147483646 h 24"/>
              <a:gd name="T14" fmla="*/ 0 w 61"/>
              <a:gd name="T15" fmla="*/ 2147483646 h 24"/>
              <a:gd name="T16" fmla="*/ 2147483646 w 61"/>
              <a:gd name="T17" fmla="*/ 2147483646 h 24"/>
              <a:gd name="T18" fmla="*/ 0 w 61"/>
              <a:gd name="T19" fmla="*/ 2147483646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1" h="24">
                <a:moveTo>
                  <a:pt x="0" y="13"/>
                </a:moveTo>
                <a:lnTo>
                  <a:pt x="11" y="24"/>
                </a:lnTo>
                <a:lnTo>
                  <a:pt x="61" y="24"/>
                </a:lnTo>
                <a:lnTo>
                  <a:pt x="61" y="0"/>
                </a:lnTo>
                <a:lnTo>
                  <a:pt x="11" y="0"/>
                </a:lnTo>
                <a:lnTo>
                  <a:pt x="25" y="13"/>
                </a:lnTo>
                <a:lnTo>
                  <a:pt x="0" y="13"/>
                </a:lnTo>
                <a:lnTo>
                  <a:pt x="0" y="24"/>
                </a:lnTo>
                <a:lnTo>
                  <a:pt x="11" y="24"/>
                </a:lnTo>
                <a:lnTo>
                  <a:pt x="0" y="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083" name="Freeform 120"/>
          <p:cNvSpPr>
            <a:spLocks/>
          </p:cNvSpPr>
          <p:nvPr/>
        </p:nvSpPr>
        <p:spPr bwMode="auto">
          <a:xfrm>
            <a:off x="5262563" y="4052888"/>
            <a:ext cx="39687" cy="77787"/>
          </a:xfrm>
          <a:custGeom>
            <a:avLst/>
            <a:gdLst>
              <a:gd name="T0" fmla="*/ 2147483646 w 25"/>
              <a:gd name="T1" fmla="*/ 0 h 49"/>
              <a:gd name="T2" fmla="*/ 0 w 25"/>
              <a:gd name="T3" fmla="*/ 2147483646 h 49"/>
              <a:gd name="T4" fmla="*/ 0 w 25"/>
              <a:gd name="T5" fmla="*/ 2147483646 h 49"/>
              <a:gd name="T6" fmla="*/ 2147483646 w 25"/>
              <a:gd name="T7" fmla="*/ 2147483646 h 49"/>
              <a:gd name="T8" fmla="*/ 2147483646 w 25"/>
              <a:gd name="T9" fmla="*/ 2147483646 h 49"/>
              <a:gd name="T10" fmla="*/ 2147483646 w 25"/>
              <a:gd name="T11" fmla="*/ 2147483646 h 49"/>
              <a:gd name="T12" fmla="*/ 2147483646 w 25"/>
              <a:gd name="T13" fmla="*/ 0 h 49"/>
              <a:gd name="T14" fmla="*/ 0 w 25"/>
              <a:gd name="T15" fmla="*/ 0 h 49"/>
              <a:gd name="T16" fmla="*/ 0 w 25"/>
              <a:gd name="T17" fmla="*/ 2147483646 h 49"/>
              <a:gd name="T18" fmla="*/ 2147483646 w 25"/>
              <a:gd name="T19" fmla="*/ 0 h 4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5" h="49">
                <a:moveTo>
                  <a:pt x="11" y="0"/>
                </a:moveTo>
                <a:lnTo>
                  <a:pt x="0" y="11"/>
                </a:lnTo>
                <a:lnTo>
                  <a:pt x="0" y="49"/>
                </a:lnTo>
                <a:lnTo>
                  <a:pt x="25" y="49"/>
                </a:lnTo>
                <a:lnTo>
                  <a:pt x="25" y="11"/>
                </a:lnTo>
                <a:lnTo>
                  <a:pt x="11" y="24"/>
                </a:lnTo>
                <a:lnTo>
                  <a:pt x="11" y="0"/>
                </a:lnTo>
                <a:lnTo>
                  <a:pt x="0" y="0"/>
                </a:lnTo>
                <a:lnTo>
                  <a:pt x="0" y="11"/>
                </a:lnTo>
                <a:lnTo>
                  <a:pt x="1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084" name="Freeform 121"/>
          <p:cNvSpPr>
            <a:spLocks/>
          </p:cNvSpPr>
          <p:nvPr/>
        </p:nvSpPr>
        <p:spPr bwMode="auto">
          <a:xfrm>
            <a:off x="5280025" y="3937000"/>
            <a:ext cx="96838" cy="36513"/>
          </a:xfrm>
          <a:custGeom>
            <a:avLst/>
            <a:gdLst>
              <a:gd name="T0" fmla="*/ 2147483646 w 61"/>
              <a:gd name="T1" fmla="*/ 2147483646 h 23"/>
              <a:gd name="T2" fmla="*/ 2147483646 w 61"/>
              <a:gd name="T3" fmla="*/ 0 h 23"/>
              <a:gd name="T4" fmla="*/ 0 w 61"/>
              <a:gd name="T5" fmla="*/ 0 h 23"/>
              <a:gd name="T6" fmla="*/ 0 w 61"/>
              <a:gd name="T7" fmla="*/ 2147483646 h 23"/>
              <a:gd name="T8" fmla="*/ 2147483646 w 61"/>
              <a:gd name="T9" fmla="*/ 2147483646 h 23"/>
              <a:gd name="T10" fmla="*/ 2147483646 w 61"/>
              <a:gd name="T11" fmla="*/ 2147483646 h 23"/>
              <a:gd name="T12" fmla="*/ 2147483646 w 61"/>
              <a:gd name="T13" fmla="*/ 2147483646 h 23"/>
              <a:gd name="T14" fmla="*/ 2147483646 w 61"/>
              <a:gd name="T15" fmla="*/ 0 h 23"/>
              <a:gd name="T16" fmla="*/ 2147483646 w 61"/>
              <a:gd name="T17" fmla="*/ 0 h 23"/>
              <a:gd name="T18" fmla="*/ 2147483646 w 61"/>
              <a:gd name="T19" fmla="*/ 2147483646 h 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1" h="23">
                <a:moveTo>
                  <a:pt x="61" y="12"/>
                </a:moveTo>
                <a:lnTo>
                  <a:pt x="50" y="0"/>
                </a:lnTo>
                <a:lnTo>
                  <a:pt x="0" y="0"/>
                </a:lnTo>
                <a:lnTo>
                  <a:pt x="0" y="23"/>
                </a:lnTo>
                <a:lnTo>
                  <a:pt x="50" y="23"/>
                </a:lnTo>
                <a:lnTo>
                  <a:pt x="39" y="12"/>
                </a:lnTo>
                <a:lnTo>
                  <a:pt x="61" y="12"/>
                </a:lnTo>
                <a:lnTo>
                  <a:pt x="61" y="0"/>
                </a:lnTo>
                <a:lnTo>
                  <a:pt x="50" y="0"/>
                </a:lnTo>
                <a:lnTo>
                  <a:pt x="61"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085" name="Freeform 122"/>
          <p:cNvSpPr>
            <a:spLocks/>
          </p:cNvSpPr>
          <p:nvPr/>
        </p:nvSpPr>
        <p:spPr bwMode="auto">
          <a:xfrm>
            <a:off x="5341938" y="3956050"/>
            <a:ext cx="34925" cy="74613"/>
          </a:xfrm>
          <a:custGeom>
            <a:avLst/>
            <a:gdLst>
              <a:gd name="T0" fmla="*/ 2147483646 w 22"/>
              <a:gd name="T1" fmla="*/ 2147483646 h 47"/>
              <a:gd name="T2" fmla="*/ 2147483646 w 22"/>
              <a:gd name="T3" fmla="*/ 2147483646 h 47"/>
              <a:gd name="T4" fmla="*/ 2147483646 w 22"/>
              <a:gd name="T5" fmla="*/ 0 h 47"/>
              <a:gd name="T6" fmla="*/ 0 w 22"/>
              <a:gd name="T7" fmla="*/ 0 h 47"/>
              <a:gd name="T8" fmla="*/ 0 w 22"/>
              <a:gd name="T9" fmla="*/ 2147483646 h 47"/>
              <a:gd name="T10" fmla="*/ 2147483646 w 22"/>
              <a:gd name="T11" fmla="*/ 2147483646 h 47"/>
              <a:gd name="T12" fmla="*/ 2147483646 w 22"/>
              <a:gd name="T13" fmla="*/ 2147483646 h 47"/>
              <a:gd name="T14" fmla="*/ 2147483646 w 22"/>
              <a:gd name="T15" fmla="*/ 2147483646 h 47"/>
              <a:gd name="T16" fmla="*/ 2147483646 w 22"/>
              <a:gd name="T17" fmla="*/ 2147483646 h 47"/>
              <a:gd name="T18" fmla="*/ 2147483646 w 22"/>
              <a:gd name="T19" fmla="*/ 2147483646 h 4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2" h="47">
                <a:moveTo>
                  <a:pt x="11" y="47"/>
                </a:moveTo>
                <a:lnTo>
                  <a:pt x="22" y="36"/>
                </a:lnTo>
                <a:lnTo>
                  <a:pt x="22" y="0"/>
                </a:lnTo>
                <a:lnTo>
                  <a:pt x="0" y="0"/>
                </a:lnTo>
                <a:lnTo>
                  <a:pt x="0" y="36"/>
                </a:lnTo>
                <a:lnTo>
                  <a:pt x="11" y="24"/>
                </a:lnTo>
                <a:lnTo>
                  <a:pt x="11" y="47"/>
                </a:lnTo>
                <a:lnTo>
                  <a:pt x="22" y="47"/>
                </a:lnTo>
                <a:lnTo>
                  <a:pt x="22" y="36"/>
                </a:lnTo>
                <a:lnTo>
                  <a:pt x="11" y="4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086" name="Freeform 123"/>
          <p:cNvSpPr>
            <a:spLocks/>
          </p:cNvSpPr>
          <p:nvPr/>
        </p:nvSpPr>
        <p:spPr bwMode="auto">
          <a:xfrm>
            <a:off x="5262563" y="3994150"/>
            <a:ext cx="96837" cy="36513"/>
          </a:xfrm>
          <a:custGeom>
            <a:avLst/>
            <a:gdLst>
              <a:gd name="T0" fmla="*/ 0 w 61"/>
              <a:gd name="T1" fmla="*/ 2147483646 h 23"/>
              <a:gd name="T2" fmla="*/ 2147483646 w 61"/>
              <a:gd name="T3" fmla="*/ 2147483646 h 23"/>
              <a:gd name="T4" fmla="*/ 2147483646 w 61"/>
              <a:gd name="T5" fmla="*/ 2147483646 h 23"/>
              <a:gd name="T6" fmla="*/ 2147483646 w 61"/>
              <a:gd name="T7" fmla="*/ 0 h 23"/>
              <a:gd name="T8" fmla="*/ 2147483646 w 61"/>
              <a:gd name="T9" fmla="*/ 0 h 23"/>
              <a:gd name="T10" fmla="*/ 2147483646 w 61"/>
              <a:gd name="T11" fmla="*/ 2147483646 h 23"/>
              <a:gd name="T12" fmla="*/ 0 w 61"/>
              <a:gd name="T13" fmla="*/ 2147483646 h 23"/>
              <a:gd name="T14" fmla="*/ 0 w 61"/>
              <a:gd name="T15" fmla="*/ 2147483646 h 23"/>
              <a:gd name="T16" fmla="*/ 2147483646 w 61"/>
              <a:gd name="T17" fmla="*/ 2147483646 h 23"/>
              <a:gd name="T18" fmla="*/ 0 w 61"/>
              <a:gd name="T19" fmla="*/ 2147483646 h 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1" h="23">
                <a:moveTo>
                  <a:pt x="0" y="12"/>
                </a:moveTo>
                <a:lnTo>
                  <a:pt x="11" y="23"/>
                </a:lnTo>
                <a:lnTo>
                  <a:pt x="61" y="23"/>
                </a:lnTo>
                <a:lnTo>
                  <a:pt x="61" y="0"/>
                </a:lnTo>
                <a:lnTo>
                  <a:pt x="11" y="0"/>
                </a:lnTo>
                <a:lnTo>
                  <a:pt x="22" y="12"/>
                </a:lnTo>
                <a:lnTo>
                  <a:pt x="0" y="12"/>
                </a:lnTo>
                <a:lnTo>
                  <a:pt x="0" y="23"/>
                </a:lnTo>
                <a:lnTo>
                  <a:pt x="11" y="23"/>
                </a:lnTo>
                <a:lnTo>
                  <a:pt x="0"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087" name="Freeform 124"/>
          <p:cNvSpPr>
            <a:spLocks/>
          </p:cNvSpPr>
          <p:nvPr/>
        </p:nvSpPr>
        <p:spPr bwMode="auto">
          <a:xfrm>
            <a:off x="5262563" y="3937000"/>
            <a:ext cx="34925" cy="76200"/>
          </a:xfrm>
          <a:custGeom>
            <a:avLst/>
            <a:gdLst>
              <a:gd name="T0" fmla="*/ 2147483646 w 22"/>
              <a:gd name="T1" fmla="*/ 0 h 48"/>
              <a:gd name="T2" fmla="*/ 0 w 22"/>
              <a:gd name="T3" fmla="*/ 2147483646 h 48"/>
              <a:gd name="T4" fmla="*/ 0 w 22"/>
              <a:gd name="T5" fmla="*/ 2147483646 h 48"/>
              <a:gd name="T6" fmla="*/ 2147483646 w 22"/>
              <a:gd name="T7" fmla="*/ 2147483646 h 48"/>
              <a:gd name="T8" fmla="*/ 2147483646 w 22"/>
              <a:gd name="T9" fmla="*/ 2147483646 h 48"/>
              <a:gd name="T10" fmla="*/ 2147483646 w 22"/>
              <a:gd name="T11" fmla="*/ 2147483646 h 48"/>
              <a:gd name="T12" fmla="*/ 2147483646 w 22"/>
              <a:gd name="T13" fmla="*/ 0 h 48"/>
              <a:gd name="T14" fmla="*/ 0 w 22"/>
              <a:gd name="T15" fmla="*/ 0 h 48"/>
              <a:gd name="T16" fmla="*/ 0 w 22"/>
              <a:gd name="T17" fmla="*/ 2147483646 h 48"/>
              <a:gd name="T18" fmla="*/ 2147483646 w 22"/>
              <a:gd name="T19" fmla="*/ 0 h 4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2" h="48">
                <a:moveTo>
                  <a:pt x="11" y="0"/>
                </a:moveTo>
                <a:lnTo>
                  <a:pt x="0" y="12"/>
                </a:lnTo>
                <a:lnTo>
                  <a:pt x="0" y="48"/>
                </a:lnTo>
                <a:lnTo>
                  <a:pt x="22" y="48"/>
                </a:lnTo>
                <a:lnTo>
                  <a:pt x="22" y="12"/>
                </a:lnTo>
                <a:lnTo>
                  <a:pt x="11" y="23"/>
                </a:lnTo>
                <a:lnTo>
                  <a:pt x="11" y="0"/>
                </a:lnTo>
                <a:lnTo>
                  <a:pt x="0" y="0"/>
                </a:lnTo>
                <a:lnTo>
                  <a:pt x="0" y="12"/>
                </a:lnTo>
                <a:lnTo>
                  <a:pt x="1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088" name="Freeform 125"/>
          <p:cNvSpPr>
            <a:spLocks/>
          </p:cNvSpPr>
          <p:nvPr/>
        </p:nvSpPr>
        <p:spPr bwMode="auto">
          <a:xfrm>
            <a:off x="5364163" y="4052888"/>
            <a:ext cx="96837" cy="38100"/>
          </a:xfrm>
          <a:custGeom>
            <a:avLst/>
            <a:gdLst>
              <a:gd name="T0" fmla="*/ 2147483646 w 61"/>
              <a:gd name="T1" fmla="*/ 2147483646 h 24"/>
              <a:gd name="T2" fmla="*/ 2147483646 w 61"/>
              <a:gd name="T3" fmla="*/ 0 h 24"/>
              <a:gd name="T4" fmla="*/ 0 w 61"/>
              <a:gd name="T5" fmla="*/ 0 h 24"/>
              <a:gd name="T6" fmla="*/ 0 w 61"/>
              <a:gd name="T7" fmla="*/ 2147483646 h 24"/>
              <a:gd name="T8" fmla="*/ 2147483646 w 61"/>
              <a:gd name="T9" fmla="*/ 2147483646 h 24"/>
              <a:gd name="T10" fmla="*/ 2147483646 w 61"/>
              <a:gd name="T11" fmla="*/ 2147483646 h 24"/>
              <a:gd name="T12" fmla="*/ 2147483646 w 61"/>
              <a:gd name="T13" fmla="*/ 2147483646 h 24"/>
              <a:gd name="T14" fmla="*/ 2147483646 w 61"/>
              <a:gd name="T15" fmla="*/ 0 h 24"/>
              <a:gd name="T16" fmla="*/ 2147483646 w 61"/>
              <a:gd name="T17" fmla="*/ 0 h 24"/>
              <a:gd name="T18" fmla="*/ 2147483646 w 61"/>
              <a:gd name="T19" fmla="*/ 2147483646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1" h="24">
                <a:moveTo>
                  <a:pt x="61" y="11"/>
                </a:moveTo>
                <a:lnTo>
                  <a:pt x="50" y="0"/>
                </a:lnTo>
                <a:lnTo>
                  <a:pt x="0" y="0"/>
                </a:lnTo>
                <a:lnTo>
                  <a:pt x="0" y="24"/>
                </a:lnTo>
                <a:lnTo>
                  <a:pt x="50" y="24"/>
                </a:lnTo>
                <a:lnTo>
                  <a:pt x="39" y="11"/>
                </a:lnTo>
                <a:lnTo>
                  <a:pt x="61" y="11"/>
                </a:lnTo>
                <a:lnTo>
                  <a:pt x="61" y="0"/>
                </a:lnTo>
                <a:lnTo>
                  <a:pt x="50" y="0"/>
                </a:lnTo>
                <a:lnTo>
                  <a:pt x="61"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089" name="Freeform 126"/>
          <p:cNvSpPr>
            <a:spLocks/>
          </p:cNvSpPr>
          <p:nvPr/>
        </p:nvSpPr>
        <p:spPr bwMode="auto">
          <a:xfrm>
            <a:off x="5426075" y="4070350"/>
            <a:ext cx="34925" cy="77788"/>
          </a:xfrm>
          <a:custGeom>
            <a:avLst/>
            <a:gdLst>
              <a:gd name="T0" fmla="*/ 2147483646 w 22"/>
              <a:gd name="T1" fmla="*/ 2147483646 h 49"/>
              <a:gd name="T2" fmla="*/ 2147483646 w 22"/>
              <a:gd name="T3" fmla="*/ 2147483646 h 49"/>
              <a:gd name="T4" fmla="*/ 2147483646 w 22"/>
              <a:gd name="T5" fmla="*/ 0 h 49"/>
              <a:gd name="T6" fmla="*/ 0 w 22"/>
              <a:gd name="T7" fmla="*/ 0 h 49"/>
              <a:gd name="T8" fmla="*/ 0 w 22"/>
              <a:gd name="T9" fmla="*/ 2147483646 h 49"/>
              <a:gd name="T10" fmla="*/ 2147483646 w 22"/>
              <a:gd name="T11" fmla="*/ 2147483646 h 49"/>
              <a:gd name="T12" fmla="*/ 2147483646 w 22"/>
              <a:gd name="T13" fmla="*/ 2147483646 h 49"/>
              <a:gd name="T14" fmla="*/ 2147483646 w 22"/>
              <a:gd name="T15" fmla="*/ 2147483646 h 49"/>
              <a:gd name="T16" fmla="*/ 2147483646 w 22"/>
              <a:gd name="T17" fmla="*/ 2147483646 h 49"/>
              <a:gd name="T18" fmla="*/ 2147483646 w 22"/>
              <a:gd name="T19" fmla="*/ 2147483646 h 4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2" h="49">
                <a:moveTo>
                  <a:pt x="11" y="49"/>
                </a:moveTo>
                <a:lnTo>
                  <a:pt x="22" y="38"/>
                </a:lnTo>
                <a:lnTo>
                  <a:pt x="22" y="0"/>
                </a:lnTo>
                <a:lnTo>
                  <a:pt x="0" y="0"/>
                </a:lnTo>
                <a:lnTo>
                  <a:pt x="0" y="38"/>
                </a:lnTo>
                <a:lnTo>
                  <a:pt x="11" y="25"/>
                </a:lnTo>
                <a:lnTo>
                  <a:pt x="11" y="49"/>
                </a:lnTo>
                <a:lnTo>
                  <a:pt x="22" y="49"/>
                </a:lnTo>
                <a:lnTo>
                  <a:pt x="22" y="38"/>
                </a:lnTo>
                <a:lnTo>
                  <a:pt x="11" y="4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090" name="Freeform 127"/>
          <p:cNvSpPr>
            <a:spLocks/>
          </p:cNvSpPr>
          <p:nvPr/>
        </p:nvSpPr>
        <p:spPr bwMode="auto">
          <a:xfrm>
            <a:off x="5346700" y="4110038"/>
            <a:ext cx="96838" cy="38100"/>
          </a:xfrm>
          <a:custGeom>
            <a:avLst/>
            <a:gdLst>
              <a:gd name="T0" fmla="*/ 0 w 61"/>
              <a:gd name="T1" fmla="*/ 2147483646 h 24"/>
              <a:gd name="T2" fmla="*/ 2147483646 w 61"/>
              <a:gd name="T3" fmla="*/ 2147483646 h 24"/>
              <a:gd name="T4" fmla="*/ 2147483646 w 61"/>
              <a:gd name="T5" fmla="*/ 2147483646 h 24"/>
              <a:gd name="T6" fmla="*/ 2147483646 w 61"/>
              <a:gd name="T7" fmla="*/ 0 h 24"/>
              <a:gd name="T8" fmla="*/ 2147483646 w 61"/>
              <a:gd name="T9" fmla="*/ 0 h 24"/>
              <a:gd name="T10" fmla="*/ 2147483646 w 61"/>
              <a:gd name="T11" fmla="*/ 2147483646 h 24"/>
              <a:gd name="T12" fmla="*/ 0 w 61"/>
              <a:gd name="T13" fmla="*/ 2147483646 h 24"/>
              <a:gd name="T14" fmla="*/ 0 w 61"/>
              <a:gd name="T15" fmla="*/ 2147483646 h 24"/>
              <a:gd name="T16" fmla="*/ 2147483646 w 61"/>
              <a:gd name="T17" fmla="*/ 2147483646 h 24"/>
              <a:gd name="T18" fmla="*/ 0 w 61"/>
              <a:gd name="T19" fmla="*/ 2147483646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1" h="24">
                <a:moveTo>
                  <a:pt x="0" y="13"/>
                </a:moveTo>
                <a:lnTo>
                  <a:pt x="11" y="24"/>
                </a:lnTo>
                <a:lnTo>
                  <a:pt x="61" y="24"/>
                </a:lnTo>
                <a:lnTo>
                  <a:pt x="61" y="0"/>
                </a:lnTo>
                <a:lnTo>
                  <a:pt x="11" y="0"/>
                </a:lnTo>
                <a:lnTo>
                  <a:pt x="25" y="13"/>
                </a:lnTo>
                <a:lnTo>
                  <a:pt x="0" y="13"/>
                </a:lnTo>
                <a:lnTo>
                  <a:pt x="0" y="24"/>
                </a:lnTo>
                <a:lnTo>
                  <a:pt x="11" y="24"/>
                </a:lnTo>
                <a:lnTo>
                  <a:pt x="0" y="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091" name="Freeform 128"/>
          <p:cNvSpPr>
            <a:spLocks/>
          </p:cNvSpPr>
          <p:nvPr/>
        </p:nvSpPr>
        <p:spPr bwMode="auto">
          <a:xfrm>
            <a:off x="5346700" y="4052888"/>
            <a:ext cx="39688" cy="77787"/>
          </a:xfrm>
          <a:custGeom>
            <a:avLst/>
            <a:gdLst>
              <a:gd name="T0" fmla="*/ 2147483646 w 25"/>
              <a:gd name="T1" fmla="*/ 0 h 49"/>
              <a:gd name="T2" fmla="*/ 0 w 25"/>
              <a:gd name="T3" fmla="*/ 2147483646 h 49"/>
              <a:gd name="T4" fmla="*/ 0 w 25"/>
              <a:gd name="T5" fmla="*/ 2147483646 h 49"/>
              <a:gd name="T6" fmla="*/ 2147483646 w 25"/>
              <a:gd name="T7" fmla="*/ 2147483646 h 49"/>
              <a:gd name="T8" fmla="*/ 2147483646 w 25"/>
              <a:gd name="T9" fmla="*/ 2147483646 h 49"/>
              <a:gd name="T10" fmla="*/ 2147483646 w 25"/>
              <a:gd name="T11" fmla="*/ 2147483646 h 49"/>
              <a:gd name="T12" fmla="*/ 2147483646 w 25"/>
              <a:gd name="T13" fmla="*/ 0 h 49"/>
              <a:gd name="T14" fmla="*/ 0 w 25"/>
              <a:gd name="T15" fmla="*/ 0 h 49"/>
              <a:gd name="T16" fmla="*/ 0 w 25"/>
              <a:gd name="T17" fmla="*/ 2147483646 h 49"/>
              <a:gd name="T18" fmla="*/ 2147483646 w 25"/>
              <a:gd name="T19" fmla="*/ 0 h 4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5" h="49">
                <a:moveTo>
                  <a:pt x="11" y="0"/>
                </a:moveTo>
                <a:lnTo>
                  <a:pt x="0" y="11"/>
                </a:lnTo>
                <a:lnTo>
                  <a:pt x="0" y="49"/>
                </a:lnTo>
                <a:lnTo>
                  <a:pt x="25" y="49"/>
                </a:lnTo>
                <a:lnTo>
                  <a:pt x="25" y="11"/>
                </a:lnTo>
                <a:lnTo>
                  <a:pt x="11" y="24"/>
                </a:lnTo>
                <a:lnTo>
                  <a:pt x="11" y="0"/>
                </a:lnTo>
                <a:lnTo>
                  <a:pt x="0" y="0"/>
                </a:lnTo>
                <a:lnTo>
                  <a:pt x="0" y="11"/>
                </a:lnTo>
                <a:lnTo>
                  <a:pt x="1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092" name="Freeform 129"/>
          <p:cNvSpPr>
            <a:spLocks/>
          </p:cNvSpPr>
          <p:nvPr/>
        </p:nvSpPr>
        <p:spPr bwMode="auto">
          <a:xfrm>
            <a:off x="5364163" y="3937000"/>
            <a:ext cx="96837" cy="36513"/>
          </a:xfrm>
          <a:custGeom>
            <a:avLst/>
            <a:gdLst>
              <a:gd name="T0" fmla="*/ 2147483646 w 61"/>
              <a:gd name="T1" fmla="*/ 2147483646 h 23"/>
              <a:gd name="T2" fmla="*/ 2147483646 w 61"/>
              <a:gd name="T3" fmla="*/ 0 h 23"/>
              <a:gd name="T4" fmla="*/ 0 w 61"/>
              <a:gd name="T5" fmla="*/ 0 h 23"/>
              <a:gd name="T6" fmla="*/ 0 w 61"/>
              <a:gd name="T7" fmla="*/ 2147483646 h 23"/>
              <a:gd name="T8" fmla="*/ 2147483646 w 61"/>
              <a:gd name="T9" fmla="*/ 2147483646 h 23"/>
              <a:gd name="T10" fmla="*/ 2147483646 w 61"/>
              <a:gd name="T11" fmla="*/ 2147483646 h 23"/>
              <a:gd name="T12" fmla="*/ 2147483646 w 61"/>
              <a:gd name="T13" fmla="*/ 2147483646 h 23"/>
              <a:gd name="T14" fmla="*/ 2147483646 w 61"/>
              <a:gd name="T15" fmla="*/ 0 h 23"/>
              <a:gd name="T16" fmla="*/ 2147483646 w 61"/>
              <a:gd name="T17" fmla="*/ 0 h 23"/>
              <a:gd name="T18" fmla="*/ 2147483646 w 61"/>
              <a:gd name="T19" fmla="*/ 2147483646 h 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1" h="23">
                <a:moveTo>
                  <a:pt x="61" y="12"/>
                </a:moveTo>
                <a:lnTo>
                  <a:pt x="50" y="0"/>
                </a:lnTo>
                <a:lnTo>
                  <a:pt x="0" y="0"/>
                </a:lnTo>
                <a:lnTo>
                  <a:pt x="0" y="23"/>
                </a:lnTo>
                <a:lnTo>
                  <a:pt x="50" y="23"/>
                </a:lnTo>
                <a:lnTo>
                  <a:pt x="39" y="12"/>
                </a:lnTo>
                <a:lnTo>
                  <a:pt x="61" y="12"/>
                </a:lnTo>
                <a:lnTo>
                  <a:pt x="61" y="0"/>
                </a:lnTo>
                <a:lnTo>
                  <a:pt x="50" y="0"/>
                </a:lnTo>
                <a:lnTo>
                  <a:pt x="61"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093" name="Freeform 130"/>
          <p:cNvSpPr>
            <a:spLocks/>
          </p:cNvSpPr>
          <p:nvPr/>
        </p:nvSpPr>
        <p:spPr bwMode="auto">
          <a:xfrm>
            <a:off x="5426075" y="3956050"/>
            <a:ext cx="34925" cy="74613"/>
          </a:xfrm>
          <a:custGeom>
            <a:avLst/>
            <a:gdLst>
              <a:gd name="T0" fmla="*/ 2147483646 w 22"/>
              <a:gd name="T1" fmla="*/ 2147483646 h 47"/>
              <a:gd name="T2" fmla="*/ 2147483646 w 22"/>
              <a:gd name="T3" fmla="*/ 2147483646 h 47"/>
              <a:gd name="T4" fmla="*/ 2147483646 w 22"/>
              <a:gd name="T5" fmla="*/ 0 h 47"/>
              <a:gd name="T6" fmla="*/ 0 w 22"/>
              <a:gd name="T7" fmla="*/ 0 h 47"/>
              <a:gd name="T8" fmla="*/ 0 w 22"/>
              <a:gd name="T9" fmla="*/ 2147483646 h 47"/>
              <a:gd name="T10" fmla="*/ 2147483646 w 22"/>
              <a:gd name="T11" fmla="*/ 2147483646 h 47"/>
              <a:gd name="T12" fmla="*/ 2147483646 w 22"/>
              <a:gd name="T13" fmla="*/ 2147483646 h 47"/>
              <a:gd name="T14" fmla="*/ 2147483646 w 22"/>
              <a:gd name="T15" fmla="*/ 2147483646 h 47"/>
              <a:gd name="T16" fmla="*/ 2147483646 w 22"/>
              <a:gd name="T17" fmla="*/ 2147483646 h 47"/>
              <a:gd name="T18" fmla="*/ 2147483646 w 22"/>
              <a:gd name="T19" fmla="*/ 2147483646 h 4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2" h="47">
                <a:moveTo>
                  <a:pt x="11" y="47"/>
                </a:moveTo>
                <a:lnTo>
                  <a:pt x="22" y="36"/>
                </a:lnTo>
                <a:lnTo>
                  <a:pt x="22" y="0"/>
                </a:lnTo>
                <a:lnTo>
                  <a:pt x="0" y="0"/>
                </a:lnTo>
                <a:lnTo>
                  <a:pt x="0" y="36"/>
                </a:lnTo>
                <a:lnTo>
                  <a:pt x="11" y="24"/>
                </a:lnTo>
                <a:lnTo>
                  <a:pt x="11" y="47"/>
                </a:lnTo>
                <a:lnTo>
                  <a:pt x="22" y="47"/>
                </a:lnTo>
                <a:lnTo>
                  <a:pt x="22" y="36"/>
                </a:lnTo>
                <a:lnTo>
                  <a:pt x="11" y="4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094" name="Freeform 131"/>
          <p:cNvSpPr>
            <a:spLocks/>
          </p:cNvSpPr>
          <p:nvPr/>
        </p:nvSpPr>
        <p:spPr bwMode="auto">
          <a:xfrm>
            <a:off x="5346700" y="3994150"/>
            <a:ext cx="96838" cy="36513"/>
          </a:xfrm>
          <a:custGeom>
            <a:avLst/>
            <a:gdLst>
              <a:gd name="T0" fmla="*/ 0 w 61"/>
              <a:gd name="T1" fmla="*/ 2147483646 h 23"/>
              <a:gd name="T2" fmla="*/ 2147483646 w 61"/>
              <a:gd name="T3" fmla="*/ 2147483646 h 23"/>
              <a:gd name="T4" fmla="*/ 2147483646 w 61"/>
              <a:gd name="T5" fmla="*/ 2147483646 h 23"/>
              <a:gd name="T6" fmla="*/ 2147483646 w 61"/>
              <a:gd name="T7" fmla="*/ 0 h 23"/>
              <a:gd name="T8" fmla="*/ 2147483646 w 61"/>
              <a:gd name="T9" fmla="*/ 0 h 23"/>
              <a:gd name="T10" fmla="*/ 2147483646 w 61"/>
              <a:gd name="T11" fmla="*/ 2147483646 h 23"/>
              <a:gd name="T12" fmla="*/ 0 w 61"/>
              <a:gd name="T13" fmla="*/ 2147483646 h 23"/>
              <a:gd name="T14" fmla="*/ 0 w 61"/>
              <a:gd name="T15" fmla="*/ 2147483646 h 23"/>
              <a:gd name="T16" fmla="*/ 2147483646 w 61"/>
              <a:gd name="T17" fmla="*/ 2147483646 h 23"/>
              <a:gd name="T18" fmla="*/ 0 w 61"/>
              <a:gd name="T19" fmla="*/ 2147483646 h 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1" h="23">
                <a:moveTo>
                  <a:pt x="0" y="12"/>
                </a:moveTo>
                <a:lnTo>
                  <a:pt x="11" y="23"/>
                </a:lnTo>
                <a:lnTo>
                  <a:pt x="61" y="23"/>
                </a:lnTo>
                <a:lnTo>
                  <a:pt x="61" y="0"/>
                </a:lnTo>
                <a:lnTo>
                  <a:pt x="11" y="0"/>
                </a:lnTo>
                <a:lnTo>
                  <a:pt x="22" y="12"/>
                </a:lnTo>
                <a:lnTo>
                  <a:pt x="0" y="12"/>
                </a:lnTo>
                <a:lnTo>
                  <a:pt x="0" y="23"/>
                </a:lnTo>
                <a:lnTo>
                  <a:pt x="11" y="23"/>
                </a:lnTo>
                <a:lnTo>
                  <a:pt x="0"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095" name="Freeform 132"/>
          <p:cNvSpPr>
            <a:spLocks/>
          </p:cNvSpPr>
          <p:nvPr/>
        </p:nvSpPr>
        <p:spPr bwMode="auto">
          <a:xfrm>
            <a:off x="5346700" y="3937000"/>
            <a:ext cx="34925" cy="76200"/>
          </a:xfrm>
          <a:custGeom>
            <a:avLst/>
            <a:gdLst>
              <a:gd name="T0" fmla="*/ 2147483646 w 22"/>
              <a:gd name="T1" fmla="*/ 0 h 48"/>
              <a:gd name="T2" fmla="*/ 0 w 22"/>
              <a:gd name="T3" fmla="*/ 2147483646 h 48"/>
              <a:gd name="T4" fmla="*/ 0 w 22"/>
              <a:gd name="T5" fmla="*/ 2147483646 h 48"/>
              <a:gd name="T6" fmla="*/ 2147483646 w 22"/>
              <a:gd name="T7" fmla="*/ 2147483646 h 48"/>
              <a:gd name="T8" fmla="*/ 2147483646 w 22"/>
              <a:gd name="T9" fmla="*/ 2147483646 h 48"/>
              <a:gd name="T10" fmla="*/ 2147483646 w 22"/>
              <a:gd name="T11" fmla="*/ 2147483646 h 48"/>
              <a:gd name="T12" fmla="*/ 2147483646 w 22"/>
              <a:gd name="T13" fmla="*/ 0 h 48"/>
              <a:gd name="T14" fmla="*/ 0 w 22"/>
              <a:gd name="T15" fmla="*/ 0 h 48"/>
              <a:gd name="T16" fmla="*/ 0 w 22"/>
              <a:gd name="T17" fmla="*/ 2147483646 h 48"/>
              <a:gd name="T18" fmla="*/ 2147483646 w 22"/>
              <a:gd name="T19" fmla="*/ 0 h 4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2" h="48">
                <a:moveTo>
                  <a:pt x="11" y="0"/>
                </a:moveTo>
                <a:lnTo>
                  <a:pt x="0" y="12"/>
                </a:lnTo>
                <a:lnTo>
                  <a:pt x="0" y="48"/>
                </a:lnTo>
                <a:lnTo>
                  <a:pt x="22" y="48"/>
                </a:lnTo>
                <a:lnTo>
                  <a:pt x="22" y="12"/>
                </a:lnTo>
                <a:lnTo>
                  <a:pt x="11" y="23"/>
                </a:lnTo>
                <a:lnTo>
                  <a:pt x="11" y="0"/>
                </a:lnTo>
                <a:lnTo>
                  <a:pt x="0" y="0"/>
                </a:lnTo>
                <a:lnTo>
                  <a:pt x="0" y="12"/>
                </a:lnTo>
                <a:lnTo>
                  <a:pt x="1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255096" name="Group 133"/>
          <p:cNvGrpSpPr>
            <a:grpSpLocks/>
          </p:cNvGrpSpPr>
          <p:nvPr/>
        </p:nvGrpSpPr>
        <p:grpSpPr bwMode="auto">
          <a:xfrm>
            <a:off x="5202238" y="2970213"/>
            <a:ext cx="404812" cy="92075"/>
            <a:chOff x="3304" y="2006"/>
            <a:chExt cx="195" cy="64"/>
          </a:xfrm>
        </p:grpSpPr>
        <p:sp>
          <p:nvSpPr>
            <p:cNvPr id="255120" name="Freeform 134"/>
            <p:cNvSpPr>
              <a:spLocks/>
            </p:cNvSpPr>
            <p:nvPr/>
          </p:nvSpPr>
          <p:spPr bwMode="auto">
            <a:xfrm>
              <a:off x="3432" y="2006"/>
              <a:ext cx="67" cy="25"/>
            </a:xfrm>
            <a:custGeom>
              <a:avLst/>
              <a:gdLst>
                <a:gd name="T0" fmla="*/ 67 w 67"/>
                <a:gd name="T1" fmla="*/ 14 h 25"/>
                <a:gd name="T2" fmla="*/ 55 w 67"/>
                <a:gd name="T3" fmla="*/ 0 h 25"/>
                <a:gd name="T4" fmla="*/ 0 w 67"/>
                <a:gd name="T5" fmla="*/ 0 h 25"/>
                <a:gd name="T6" fmla="*/ 0 w 67"/>
                <a:gd name="T7" fmla="*/ 25 h 25"/>
                <a:gd name="T8" fmla="*/ 55 w 67"/>
                <a:gd name="T9" fmla="*/ 25 h 25"/>
                <a:gd name="T10" fmla="*/ 44 w 67"/>
                <a:gd name="T11" fmla="*/ 14 h 25"/>
                <a:gd name="T12" fmla="*/ 67 w 67"/>
                <a:gd name="T13" fmla="*/ 14 h 25"/>
                <a:gd name="T14" fmla="*/ 67 w 67"/>
                <a:gd name="T15" fmla="*/ 0 h 25"/>
                <a:gd name="T16" fmla="*/ 55 w 67"/>
                <a:gd name="T17" fmla="*/ 0 h 25"/>
                <a:gd name="T18" fmla="*/ 67 w 67"/>
                <a:gd name="T19" fmla="*/ 14 h 2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7" h="25">
                  <a:moveTo>
                    <a:pt x="67" y="14"/>
                  </a:moveTo>
                  <a:lnTo>
                    <a:pt x="55" y="0"/>
                  </a:lnTo>
                  <a:lnTo>
                    <a:pt x="0" y="0"/>
                  </a:lnTo>
                  <a:lnTo>
                    <a:pt x="0" y="25"/>
                  </a:lnTo>
                  <a:lnTo>
                    <a:pt x="55" y="25"/>
                  </a:lnTo>
                  <a:lnTo>
                    <a:pt x="44" y="14"/>
                  </a:lnTo>
                  <a:lnTo>
                    <a:pt x="67" y="14"/>
                  </a:lnTo>
                  <a:lnTo>
                    <a:pt x="67" y="0"/>
                  </a:lnTo>
                  <a:lnTo>
                    <a:pt x="55" y="0"/>
                  </a:lnTo>
                  <a:lnTo>
                    <a:pt x="67" y="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121" name="Freeform 135"/>
            <p:cNvSpPr>
              <a:spLocks/>
            </p:cNvSpPr>
            <p:nvPr/>
          </p:nvSpPr>
          <p:spPr bwMode="auto">
            <a:xfrm>
              <a:off x="3476" y="2020"/>
              <a:ext cx="23" cy="50"/>
            </a:xfrm>
            <a:custGeom>
              <a:avLst/>
              <a:gdLst>
                <a:gd name="T0" fmla="*/ 11 w 23"/>
                <a:gd name="T1" fmla="*/ 50 h 50"/>
                <a:gd name="T2" fmla="*/ 23 w 23"/>
                <a:gd name="T3" fmla="*/ 38 h 50"/>
                <a:gd name="T4" fmla="*/ 23 w 23"/>
                <a:gd name="T5" fmla="*/ 0 h 50"/>
                <a:gd name="T6" fmla="*/ 0 w 23"/>
                <a:gd name="T7" fmla="*/ 0 h 50"/>
                <a:gd name="T8" fmla="*/ 0 w 23"/>
                <a:gd name="T9" fmla="*/ 38 h 50"/>
                <a:gd name="T10" fmla="*/ 11 w 23"/>
                <a:gd name="T11" fmla="*/ 27 h 50"/>
                <a:gd name="T12" fmla="*/ 11 w 23"/>
                <a:gd name="T13" fmla="*/ 50 h 50"/>
                <a:gd name="T14" fmla="*/ 23 w 23"/>
                <a:gd name="T15" fmla="*/ 50 h 50"/>
                <a:gd name="T16" fmla="*/ 23 w 23"/>
                <a:gd name="T17" fmla="*/ 38 h 50"/>
                <a:gd name="T18" fmla="*/ 11 w 23"/>
                <a:gd name="T19" fmla="*/ 50 h 5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3" h="50">
                  <a:moveTo>
                    <a:pt x="11" y="50"/>
                  </a:moveTo>
                  <a:lnTo>
                    <a:pt x="23" y="38"/>
                  </a:lnTo>
                  <a:lnTo>
                    <a:pt x="23" y="0"/>
                  </a:lnTo>
                  <a:lnTo>
                    <a:pt x="0" y="0"/>
                  </a:lnTo>
                  <a:lnTo>
                    <a:pt x="0" y="38"/>
                  </a:lnTo>
                  <a:lnTo>
                    <a:pt x="11" y="27"/>
                  </a:lnTo>
                  <a:lnTo>
                    <a:pt x="11" y="50"/>
                  </a:lnTo>
                  <a:lnTo>
                    <a:pt x="23" y="50"/>
                  </a:lnTo>
                  <a:lnTo>
                    <a:pt x="23" y="38"/>
                  </a:lnTo>
                  <a:lnTo>
                    <a:pt x="11" y="5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122" name="Freeform 136"/>
            <p:cNvSpPr>
              <a:spLocks/>
            </p:cNvSpPr>
            <p:nvPr/>
          </p:nvSpPr>
          <p:spPr bwMode="auto">
            <a:xfrm>
              <a:off x="3421" y="2047"/>
              <a:ext cx="66" cy="23"/>
            </a:xfrm>
            <a:custGeom>
              <a:avLst/>
              <a:gdLst>
                <a:gd name="T0" fmla="*/ 0 w 66"/>
                <a:gd name="T1" fmla="*/ 11 h 23"/>
                <a:gd name="T2" fmla="*/ 11 w 66"/>
                <a:gd name="T3" fmla="*/ 23 h 23"/>
                <a:gd name="T4" fmla="*/ 66 w 66"/>
                <a:gd name="T5" fmla="*/ 23 h 23"/>
                <a:gd name="T6" fmla="*/ 66 w 66"/>
                <a:gd name="T7" fmla="*/ 0 h 23"/>
                <a:gd name="T8" fmla="*/ 11 w 66"/>
                <a:gd name="T9" fmla="*/ 0 h 23"/>
                <a:gd name="T10" fmla="*/ 22 w 66"/>
                <a:gd name="T11" fmla="*/ 11 h 23"/>
                <a:gd name="T12" fmla="*/ 0 w 66"/>
                <a:gd name="T13" fmla="*/ 11 h 23"/>
                <a:gd name="T14" fmla="*/ 0 w 66"/>
                <a:gd name="T15" fmla="*/ 23 h 23"/>
                <a:gd name="T16" fmla="*/ 11 w 66"/>
                <a:gd name="T17" fmla="*/ 23 h 23"/>
                <a:gd name="T18" fmla="*/ 0 w 66"/>
                <a:gd name="T19" fmla="*/ 11 h 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6" h="23">
                  <a:moveTo>
                    <a:pt x="0" y="11"/>
                  </a:moveTo>
                  <a:lnTo>
                    <a:pt x="11" y="23"/>
                  </a:lnTo>
                  <a:lnTo>
                    <a:pt x="66" y="23"/>
                  </a:lnTo>
                  <a:lnTo>
                    <a:pt x="66" y="0"/>
                  </a:lnTo>
                  <a:lnTo>
                    <a:pt x="11" y="0"/>
                  </a:lnTo>
                  <a:lnTo>
                    <a:pt x="22" y="11"/>
                  </a:lnTo>
                  <a:lnTo>
                    <a:pt x="0" y="11"/>
                  </a:lnTo>
                  <a:lnTo>
                    <a:pt x="0" y="23"/>
                  </a:lnTo>
                  <a:lnTo>
                    <a:pt x="11" y="23"/>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123" name="Freeform 137"/>
            <p:cNvSpPr>
              <a:spLocks/>
            </p:cNvSpPr>
            <p:nvPr/>
          </p:nvSpPr>
          <p:spPr bwMode="auto">
            <a:xfrm>
              <a:off x="3421" y="2006"/>
              <a:ext cx="22" cy="52"/>
            </a:xfrm>
            <a:custGeom>
              <a:avLst/>
              <a:gdLst>
                <a:gd name="T0" fmla="*/ 11 w 22"/>
                <a:gd name="T1" fmla="*/ 0 h 52"/>
                <a:gd name="T2" fmla="*/ 0 w 22"/>
                <a:gd name="T3" fmla="*/ 14 h 52"/>
                <a:gd name="T4" fmla="*/ 0 w 22"/>
                <a:gd name="T5" fmla="*/ 52 h 52"/>
                <a:gd name="T6" fmla="*/ 22 w 22"/>
                <a:gd name="T7" fmla="*/ 52 h 52"/>
                <a:gd name="T8" fmla="*/ 22 w 22"/>
                <a:gd name="T9" fmla="*/ 14 h 52"/>
                <a:gd name="T10" fmla="*/ 11 w 22"/>
                <a:gd name="T11" fmla="*/ 25 h 52"/>
                <a:gd name="T12" fmla="*/ 11 w 22"/>
                <a:gd name="T13" fmla="*/ 0 h 52"/>
                <a:gd name="T14" fmla="*/ 0 w 22"/>
                <a:gd name="T15" fmla="*/ 0 h 52"/>
                <a:gd name="T16" fmla="*/ 0 w 22"/>
                <a:gd name="T17" fmla="*/ 14 h 52"/>
                <a:gd name="T18" fmla="*/ 11 w 22"/>
                <a:gd name="T19" fmla="*/ 0 h 5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2" h="52">
                  <a:moveTo>
                    <a:pt x="11" y="0"/>
                  </a:moveTo>
                  <a:lnTo>
                    <a:pt x="0" y="14"/>
                  </a:lnTo>
                  <a:lnTo>
                    <a:pt x="0" y="52"/>
                  </a:lnTo>
                  <a:lnTo>
                    <a:pt x="22" y="52"/>
                  </a:lnTo>
                  <a:lnTo>
                    <a:pt x="22" y="14"/>
                  </a:lnTo>
                  <a:lnTo>
                    <a:pt x="11" y="25"/>
                  </a:lnTo>
                  <a:lnTo>
                    <a:pt x="11" y="0"/>
                  </a:lnTo>
                  <a:lnTo>
                    <a:pt x="0" y="0"/>
                  </a:lnTo>
                  <a:lnTo>
                    <a:pt x="0" y="14"/>
                  </a:lnTo>
                  <a:lnTo>
                    <a:pt x="1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124" name="Freeform 138"/>
            <p:cNvSpPr>
              <a:spLocks/>
            </p:cNvSpPr>
            <p:nvPr/>
          </p:nvSpPr>
          <p:spPr bwMode="auto">
            <a:xfrm>
              <a:off x="3315" y="2006"/>
              <a:ext cx="67" cy="25"/>
            </a:xfrm>
            <a:custGeom>
              <a:avLst/>
              <a:gdLst>
                <a:gd name="T0" fmla="*/ 67 w 67"/>
                <a:gd name="T1" fmla="*/ 14 h 25"/>
                <a:gd name="T2" fmla="*/ 56 w 67"/>
                <a:gd name="T3" fmla="*/ 0 h 25"/>
                <a:gd name="T4" fmla="*/ 0 w 67"/>
                <a:gd name="T5" fmla="*/ 0 h 25"/>
                <a:gd name="T6" fmla="*/ 0 w 67"/>
                <a:gd name="T7" fmla="*/ 25 h 25"/>
                <a:gd name="T8" fmla="*/ 56 w 67"/>
                <a:gd name="T9" fmla="*/ 25 h 25"/>
                <a:gd name="T10" fmla="*/ 45 w 67"/>
                <a:gd name="T11" fmla="*/ 14 h 25"/>
                <a:gd name="T12" fmla="*/ 67 w 67"/>
                <a:gd name="T13" fmla="*/ 14 h 25"/>
                <a:gd name="T14" fmla="*/ 67 w 67"/>
                <a:gd name="T15" fmla="*/ 0 h 25"/>
                <a:gd name="T16" fmla="*/ 56 w 67"/>
                <a:gd name="T17" fmla="*/ 0 h 25"/>
                <a:gd name="T18" fmla="*/ 67 w 67"/>
                <a:gd name="T19" fmla="*/ 14 h 2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7" h="25">
                  <a:moveTo>
                    <a:pt x="67" y="14"/>
                  </a:moveTo>
                  <a:lnTo>
                    <a:pt x="56" y="0"/>
                  </a:lnTo>
                  <a:lnTo>
                    <a:pt x="0" y="0"/>
                  </a:lnTo>
                  <a:lnTo>
                    <a:pt x="0" y="25"/>
                  </a:lnTo>
                  <a:lnTo>
                    <a:pt x="56" y="25"/>
                  </a:lnTo>
                  <a:lnTo>
                    <a:pt x="45" y="14"/>
                  </a:lnTo>
                  <a:lnTo>
                    <a:pt x="67" y="14"/>
                  </a:lnTo>
                  <a:lnTo>
                    <a:pt x="67" y="0"/>
                  </a:lnTo>
                  <a:lnTo>
                    <a:pt x="56" y="0"/>
                  </a:lnTo>
                  <a:lnTo>
                    <a:pt x="67" y="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125" name="Freeform 139"/>
            <p:cNvSpPr>
              <a:spLocks/>
            </p:cNvSpPr>
            <p:nvPr/>
          </p:nvSpPr>
          <p:spPr bwMode="auto">
            <a:xfrm>
              <a:off x="3360" y="2020"/>
              <a:ext cx="22" cy="50"/>
            </a:xfrm>
            <a:custGeom>
              <a:avLst/>
              <a:gdLst>
                <a:gd name="T0" fmla="*/ 11 w 22"/>
                <a:gd name="T1" fmla="*/ 50 h 50"/>
                <a:gd name="T2" fmla="*/ 22 w 22"/>
                <a:gd name="T3" fmla="*/ 38 h 50"/>
                <a:gd name="T4" fmla="*/ 22 w 22"/>
                <a:gd name="T5" fmla="*/ 0 h 50"/>
                <a:gd name="T6" fmla="*/ 0 w 22"/>
                <a:gd name="T7" fmla="*/ 0 h 50"/>
                <a:gd name="T8" fmla="*/ 0 w 22"/>
                <a:gd name="T9" fmla="*/ 38 h 50"/>
                <a:gd name="T10" fmla="*/ 11 w 22"/>
                <a:gd name="T11" fmla="*/ 27 h 50"/>
                <a:gd name="T12" fmla="*/ 11 w 22"/>
                <a:gd name="T13" fmla="*/ 50 h 50"/>
                <a:gd name="T14" fmla="*/ 22 w 22"/>
                <a:gd name="T15" fmla="*/ 50 h 50"/>
                <a:gd name="T16" fmla="*/ 22 w 22"/>
                <a:gd name="T17" fmla="*/ 38 h 50"/>
                <a:gd name="T18" fmla="*/ 11 w 22"/>
                <a:gd name="T19" fmla="*/ 50 h 5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2" h="50">
                  <a:moveTo>
                    <a:pt x="11" y="50"/>
                  </a:moveTo>
                  <a:lnTo>
                    <a:pt x="22" y="38"/>
                  </a:lnTo>
                  <a:lnTo>
                    <a:pt x="22" y="0"/>
                  </a:lnTo>
                  <a:lnTo>
                    <a:pt x="0" y="0"/>
                  </a:lnTo>
                  <a:lnTo>
                    <a:pt x="0" y="38"/>
                  </a:lnTo>
                  <a:lnTo>
                    <a:pt x="11" y="27"/>
                  </a:lnTo>
                  <a:lnTo>
                    <a:pt x="11" y="50"/>
                  </a:lnTo>
                  <a:lnTo>
                    <a:pt x="22" y="50"/>
                  </a:lnTo>
                  <a:lnTo>
                    <a:pt x="22" y="38"/>
                  </a:lnTo>
                  <a:lnTo>
                    <a:pt x="11" y="5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126" name="Freeform 140"/>
            <p:cNvSpPr>
              <a:spLocks/>
            </p:cNvSpPr>
            <p:nvPr/>
          </p:nvSpPr>
          <p:spPr bwMode="auto">
            <a:xfrm>
              <a:off x="3304" y="2047"/>
              <a:ext cx="67" cy="23"/>
            </a:xfrm>
            <a:custGeom>
              <a:avLst/>
              <a:gdLst>
                <a:gd name="T0" fmla="*/ 0 w 67"/>
                <a:gd name="T1" fmla="*/ 11 h 23"/>
                <a:gd name="T2" fmla="*/ 11 w 67"/>
                <a:gd name="T3" fmla="*/ 23 h 23"/>
                <a:gd name="T4" fmla="*/ 67 w 67"/>
                <a:gd name="T5" fmla="*/ 23 h 23"/>
                <a:gd name="T6" fmla="*/ 67 w 67"/>
                <a:gd name="T7" fmla="*/ 0 h 23"/>
                <a:gd name="T8" fmla="*/ 11 w 67"/>
                <a:gd name="T9" fmla="*/ 0 h 23"/>
                <a:gd name="T10" fmla="*/ 25 w 67"/>
                <a:gd name="T11" fmla="*/ 11 h 23"/>
                <a:gd name="T12" fmla="*/ 0 w 67"/>
                <a:gd name="T13" fmla="*/ 11 h 23"/>
                <a:gd name="T14" fmla="*/ 0 w 67"/>
                <a:gd name="T15" fmla="*/ 23 h 23"/>
                <a:gd name="T16" fmla="*/ 11 w 67"/>
                <a:gd name="T17" fmla="*/ 23 h 23"/>
                <a:gd name="T18" fmla="*/ 0 w 67"/>
                <a:gd name="T19" fmla="*/ 11 h 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7" h="23">
                  <a:moveTo>
                    <a:pt x="0" y="11"/>
                  </a:moveTo>
                  <a:lnTo>
                    <a:pt x="11" y="23"/>
                  </a:lnTo>
                  <a:lnTo>
                    <a:pt x="67" y="23"/>
                  </a:lnTo>
                  <a:lnTo>
                    <a:pt x="67" y="0"/>
                  </a:lnTo>
                  <a:lnTo>
                    <a:pt x="11" y="0"/>
                  </a:lnTo>
                  <a:lnTo>
                    <a:pt x="25" y="11"/>
                  </a:lnTo>
                  <a:lnTo>
                    <a:pt x="0" y="11"/>
                  </a:lnTo>
                  <a:lnTo>
                    <a:pt x="0" y="23"/>
                  </a:lnTo>
                  <a:lnTo>
                    <a:pt x="11" y="23"/>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127" name="Freeform 141"/>
            <p:cNvSpPr>
              <a:spLocks/>
            </p:cNvSpPr>
            <p:nvPr/>
          </p:nvSpPr>
          <p:spPr bwMode="auto">
            <a:xfrm>
              <a:off x="3304" y="2006"/>
              <a:ext cx="25" cy="52"/>
            </a:xfrm>
            <a:custGeom>
              <a:avLst/>
              <a:gdLst>
                <a:gd name="T0" fmla="*/ 11 w 25"/>
                <a:gd name="T1" fmla="*/ 0 h 52"/>
                <a:gd name="T2" fmla="*/ 0 w 25"/>
                <a:gd name="T3" fmla="*/ 14 h 52"/>
                <a:gd name="T4" fmla="*/ 0 w 25"/>
                <a:gd name="T5" fmla="*/ 52 h 52"/>
                <a:gd name="T6" fmla="*/ 25 w 25"/>
                <a:gd name="T7" fmla="*/ 52 h 52"/>
                <a:gd name="T8" fmla="*/ 25 w 25"/>
                <a:gd name="T9" fmla="*/ 14 h 52"/>
                <a:gd name="T10" fmla="*/ 11 w 25"/>
                <a:gd name="T11" fmla="*/ 25 h 52"/>
                <a:gd name="T12" fmla="*/ 11 w 25"/>
                <a:gd name="T13" fmla="*/ 0 h 52"/>
                <a:gd name="T14" fmla="*/ 0 w 25"/>
                <a:gd name="T15" fmla="*/ 0 h 52"/>
                <a:gd name="T16" fmla="*/ 0 w 25"/>
                <a:gd name="T17" fmla="*/ 14 h 52"/>
                <a:gd name="T18" fmla="*/ 11 w 25"/>
                <a:gd name="T19" fmla="*/ 0 h 5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5" h="52">
                  <a:moveTo>
                    <a:pt x="11" y="0"/>
                  </a:moveTo>
                  <a:lnTo>
                    <a:pt x="0" y="14"/>
                  </a:lnTo>
                  <a:lnTo>
                    <a:pt x="0" y="52"/>
                  </a:lnTo>
                  <a:lnTo>
                    <a:pt x="25" y="52"/>
                  </a:lnTo>
                  <a:lnTo>
                    <a:pt x="25" y="14"/>
                  </a:lnTo>
                  <a:lnTo>
                    <a:pt x="11" y="25"/>
                  </a:lnTo>
                  <a:lnTo>
                    <a:pt x="11" y="0"/>
                  </a:lnTo>
                  <a:lnTo>
                    <a:pt x="0" y="0"/>
                  </a:lnTo>
                  <a:lnTo>
                    <a:pt x="0" y="14"/>
                  </a:lnTo>
                  <a:lnTo>
                    <a:pt x="1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128" name="Freeform 142"/>
            <p:cNvSpPr>
              <a:spLocks/>
            </p:cNvSpPr>
            <p:nvPr/>
          </p:nvSpPr>
          <p:spPr bwMode="auto">
            <a:xfrm>
              <a:off x="3374" y="2006"/>
              <a:ext cx="66" cy="25"/>
            </a:xfrm>
            <a:custGeom>
              <a:avLst/>
              <a:gdLst>
                <a:gd name="T0" fmla="*/ 66 w 66"/>
                <a:gd name="T1" fmla="*/ 14 h 25"/>
                <a:gd name="T2" fmla="*/ 55 w 66"/>
                <a:gd name="T3" fmla="*/ 0 h 25"/>
                <a:gd name="T4" fmla="*/ 0 w 66"/>
                <a:gd name="T5" fmla="*/ 0 h 25"/>
                <a:gd name="T6" fmla="*/ 0 w 66"/>
                <a:gd name="T7" fmla="*/ 25 h 25"/>
                <a:gd name="T8" fmla="*/ 55 w 66"/>
                <a:gd name="T9" fmla="*/ 25 h 25"/>
                <a:gd name="T10" fmla="*/ 44 w 66"/>
                <a:gd name="T11" fmla="*/ 14 h 25"/>
                <a:gd name="T12" fmla="*/ 66 w 66"/>
                <a:gd name="T13" fmla="*/ 14 h 25"/>
                <a:gd name="T14" fmla="*/ 66 w 66"/>
                <a:gd name="T15" fmla="*/ 0 h 25"/>
                <a:gd name="T16" fmla="*/ 55 w 66"/>
                <a:gd name="T17" fmla="*/ 0 h 25"/>
                <a:gd name="T18" fmla="*/ 66 w 66"/>
                <a:gd name="T19" fmla="*/ 14 h 2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6" h="25">
                  <a:moveTo>
                    <a:pt x="66" y="14"/>
                  </a:moveTo>
                  <a:lnTo>
                    <a:pt x="55" y="0"/>
                  </a:lnTo>
                  <a:lnTo>
                    <a:pt x="0" y="0"/>
                  </a:lnTo>
                  <a:lnTo>
                    <a:pt x="0" y="25"/>
                  </a:lnTo>
                  <a:lnTo>
                    <a:pt x="55" y="25"/>
                  </a:lnTo>
                  <a:lnTo>
                    <a:pt x="44" y="14"/>
                  </a:lnTo>
                  <a:lnTo>
                    <a:pt x="66" y="14"/>
                  </a:lnTo>
                  <a:lnTo>
                    <a:pt x="66" y="0"/>
                  </a:lnTo>
                  <a:lnTo>
                    <a:pt x="55" y="0"/>
                  </a:lnTo>
                  <a:lnTo>
                    <a:pt x="66" y="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129" name="Freeform 143"/>
            <p:cNvSpPr>
              <a:spLocks/>
            </p:cNvSpPr>
            <p:nvPr/>
          </p:nvSpPr>
          <p:spPr bwMode="auto">
            <a:xfrm>
              <a:off x="3418" y="2020"/>
              <a:ext cx="22" cy="50"/>
            </a:xfrm>
            <a:custGeom>
              <a:avLst/>
              <a:gdLst>
                <a:gd name="T0" fmla="*/ 11 w 22"/>
                <a:gd name="T1" fmla="*/ 50 h 50"/>
                <a:gd name="T2" fmla="*/ 22 w 22"/>
                <a:gd name="T3" fmla="*/ 38 h 50"/>
                <a:gd name="T4" fmla="*/ 22 w 22"/>
                <a:gd name="T5" fmla="*/ 0 h 50"/>
                <a:gd name="T6" fmla="*/ 0 w 22"/>
                <a:gd name="T7" fmla="*/ 0 h 50"/>
                <a:gd name="T8" fmla="*/ 0 w 22"/>
                <a:gd name="T9" fmla="*/ 38 h 50"/>
                <a:gd name="T10" fmla="*/ 11 w 22"/>
                <a:gd name="T11" fmla="*/ 27 h 50"/>
                <a:gd name="T12" fmla="*/ 11 w 22"/>
                <a:gd name="T13" fmla="*/ 50 h 50"/>
                <a:gd name="T14" fmla="*/ 22 w 22"/>
                <a:gd name="T15" fmla="*/ 50 h 50"/>
                <a:gd name="T16" fmla="*/ 22 w 22"/>
                <a:gd name="T17" fmla="*/ 38 h 50"/>
                <a:gd name="T18" fmla="*/ 11 w 22"/>
                <a:gd name="T19" fmla="*/ 50 h 5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2" h="50">
                  <a:moveTo>
                    <a:pt x="11" y="50"/>
                  </a:moveTo>
                  <a:lnTo>
                    <a:pt x="22" y="38"/>
                  </a:lnTo>
                  <a:lnTo>
                    <a:pt x="22" y="0"/>
                  </a:lnTo>
                  <a:lnTo>
                    <a:pt x="0" y="0"/>
                  </a:lnTo>
                  <a:lnTo>
                    <a:pt x="0" y="38"/>
                  </a:lnTo>
                  <a:lnTo>
                    <a:pt x="11" y="27"/>
                  </a:lnTo>
                  <a:lnTo>
                    <a:pt x="11" y="50"/>
                  </a:lnTo>
                  <a:lnTo>
                    <a:pt x="22" y="50"/>
                  </a:lnTo>
                  <a:lnTo>
                    <a:pt x="22" y="38"/>
                  </a:lnTo>
                  <a:lnTo>
                    <a:pt x="11" y="5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130" name="Freeform 144"/>
            <p:cNvSpPr>
              <a:spLocks/>
            </p:cNvSpPr>
            <p:nvPr/>
          </p:nvSpPr>
          <p:spPr bwMode="auto">
            <a:xfrm>
              <a:off x="3362" y="2047"/>
              <a:ext cx="67" cy="23"/>
            </a:xfrm>
            <a:custGeom>
              <a:avLst/>
              <a:gdLst>
                <a:gd name="T0" fmla="*/ 0 w 67"/>
                <a:gd name="T1" fmla="*/ 11 h 23"/>
                <a:gd name="T2" fmla="*/ 12 w 67"/>
                <a:gd name="T3" fmla="*/ 23 h 23"/>
                <a:gd name="T4" fmla="*/ 67 w 67"/>
                <a:gd name="T5" fmla="*/ 23 h 23"/>
                <a:gd name="T6" fmla="*/ 67 w 67"/>
                <a:gd name="T7" fmla="*/ 0 h 23"/>
                <a:gd name="T8" fmla="*/ 12 w 67"/>
                <a:gd name="T9" fmla="*/ 0 h 23"/>
                <a:gd name="T10" fmla="*/ 25 w 67"/>
                <a:gd name="T11" fmla="*/ 11 h 23"/>
                <a:gd name="T12" fmla="*/ 0 w 67"/>
                <a:gd name="T13" fmla="*/ 11 h 23"/>
                <a:gd name="T14" fmla="*/ 0 w 67"/>
                <a:gd name="T15" fmla="*/ 23 h 23"/>
                <a:gd name="T16" fmla="*/ 12 w 67"/>
                <a:gd name="T17" fmla="*/ 23 h 23"/>
                <a:gd name="T18" fmla="*/ 0 w 67"/>
                <a:gd name="T19" fmla="*/ 11 h 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7" h="23">
                  <a:moveTo>
                    <a:pt x="0" y="11"/>
                  </a:moveTo>
                  <a:lnTo>
                    <a:pt x="12" y="23"/>
                  </a:lnTo>
                  <a:lnTo>
                    <a:pt x="67" y="23"/>
                  </a:lnTo>
                  <a:lnTo>
                    <a:pt x="67" y="0"/>
                  </a:lnTo>
                  <a:lnTo>
                    <a:pt x="12" y="0"/>
                  </a:lnTo>
                  <a:lnTo>
                    <a:pt x="25" y="11"/>
                  </a:lnTo>
                  <a:lnTo>
                    <a:pt x="0" y="11"/>
                  </a:lnTo>
                  <a:lnTo>
                    <a:pt x="0" y="23"/>
                  </a:lnTo>
                  <a:lnTo>
                    <a:pt x="12" y="23"/>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131" name="Freeform 145"/>
            <p:cNvSpPr>
              <a:spLocks/>
            </p:cNvSpPr>
            <p:nvPr/>
          </p:nvSpPr>
          <p:spPr bwMode="auto">
            <a:xfrm>
              <a:off x="3362" y="2006"/>
              <a:ext cx="25" cy="52"/>
            </a:xfrm>
            <a:custGeom>
              <a:avLst/>
              <a:gdLst>
                <a:gd name="T0" fmla="*/ 12 w 25"/>
                <a:gd name="T1" fmla="*/ 0 h 52"/>
                <a:gd name="T2" fmla="*/ 0 w 25"/>
                <a:gd name="T3" fmla="*/ 14 h 52"/>
                <a:gd name="T4" fmla="*/ 0 w 25"/>
                <a:gd name="T5" fmla="*/ 52 h 52"/>
                <a:gd name="T6" fmla="*/ 25 w 25"/>
                <a:gd name="T7" fmla="*/ 52 h 52"/>
                <a:gd name="T8" fmla="*/ 25 w 25"/>
                <a:gd name="T9" fmla="*/ 14 h 52"/>
                <a:gd name="T10" fmla="*/ 12 w 25"/>
                <a:gd name="T11" fmla="*/ 25 h 52"/>
                <a:gd name="T12" fmla="*/ 12 w 25"/>
                <a:gd name="T13" fmla="*/ 0 h 52"/>
                <a:gd name="T14" fmla="*/ 0 w 25"/>
                <a:gd name="T15" fmla="*/ 0 h 52"/>
                <a:gd name="T16" fmla="*/ 0 w 25"/>
                <a:gd name="T17" fmla="*/ 14 h 52"/>
                <a:gd name="T18" fmla="*/ 12 w 25"/>
                <a:gd name="T19" fmla="*/ 0 h 5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5" h="52">
                  <a:moveTo>
                    <a:pt x="12" y="0"/>
                  </a:moveTo>
                  <a:lnTo>
                    <a:pt x="0" y="14"/>
                  </a:lnTo>
                  <a:lnTo>
                    <a:pt x="0" y="52"/>
                  </a:lnTo>
                  <a:lnTo>
                    <a:pt x="25" y="52"/>
                  </a:lnTo>
                  <a:lnTo>
                    <a:pt x="25" y="14"/>
                  </a:lnTo>
                  <a:lnTo>
                    <a:pt x="12" y="25"/>
                  </a:lnTo>
                  <a:lnTo>
                    <a:pt x="12" y="0"/>
                  </a:lnTo>
                  <a:lnTo>
                    <a:pt x="0" y="0"/>
                  </a:lnTo>
                  <a:lnTo>
                    <a:pt x="0" y="14"/>
                  </a:lnTo>
                  <a:lnTo>
                    <a:pt x="1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255097" name="Freeform 146"/>
          <p:cNvSpPr>
            <a:spLocks/>
          </p:cNvSpPr>
          <p:nvPr/>
        </p:nvSpPr>
        <p:spPr bwMode="auto">
          <a:xfrm>
            <a:off x="5805488" y="2947988"/>
            <a:ext cx="185737" cy="158750"/>
          </a:xfrm>
          <a:custGeom>
            <a:avLst/>
            <a:gdLst>
              <a:gd name="T0" fmla="*/ 2147483646 w 117"/>
              <a:gd name="T1" fmla="*/ 2147483646 h 100"/>
              <a:gd name="T2" fmla="*/ 0 w 117"/>
              <a:gd name="T3" fmla="*/ 0 h 100"/>
              <a:gd name="T4" fmla="*/ 0 w 117"/>
              <a:gd name="T5" fmla="*/ 2147483646 h 100"/>
              <a:gd name="T6" fmla="*/ 2147483646 w 117"/>
              <a:gd name="T7" fmla="*/ 2147483646 h 100"/>
              <a:gd name="T8" fmla="*/ 2147483646 w 117"/>
              <a:gd name="T9" fmla="*/ 2147483646 h 100"/>
              <a:gd name="T10" fmla="*/ 2147483646 w 117"/>
              <a:gd name="T11" fmla="*/ 2147483646 h 100"/>
              <a:gd name="T12" fmla="*/ 2147483646 w 117"/>
              <a:gd name="T13" fmla="*/ 2147483646 h 100"/>
              <a:gd name="T14" fmla="*/ 2147483646 w 117"/>
              <a:gd name="T15" fmla="*/ 2147483646 h 100"/>
              <a:gd name="T16" fmla="*/ 2147483646 w 117"/>
              <a:gd name="T17" fmla="*/ 2147483646 h 100"/>
              <a:gd name="T18" fmla="*/ 2147483646 w 117"/>
              <a:gd name="T19" fmla="*/ 2147483646 h 100"/>
              <a:gd name="T20" fmla="*/ 2147483646 w 117"/>
              <a:gd name="T21" fmla="*/ 2147483646 h 100"/>
              <a:gd name="T22" fmla="*/ 2147483646 w 117"/>
              <a:gd name="T23" fmla="*/ 2147483646 h 100"/>
              <a:gd name="T24" fmla="*/ 2147483646 w 117"/>
              <a:gd name="T25" fmla="*/ 2147483646 h 100"/>
              <a:gd name="T26" fmla="*/ 2147483646 w 117"/>
              <a:gd name="T27" fmla="*/ 2147483646 h 100"/>
              <a:gd name="T28" fmla="*/ 2147483646 w 117"/>
              <a:gd name="T29" fmla="*/ 2147483646 h 100"/>
              <a:gd name="T30" fmla="*/ 2147483646 w 117"/>
              <a:gd name="T31" fmla="*/ 2147483646 h 100"/>
              <a:gd name="T32" fmla="*/ 2147483646 w 117"/>
              <a:gd name="T33" fmla="*/ 2147483646 h 100"/>
              <a:gd name="T34" fmla="*/ 2147483646 w 117"/>
              <a:gd name="T35" fmla="*/ 2147483646 h 100"/>
              <a:gd name="T36" fmla="*/ 2147483646 w 117"/>
              <a:gd name="T37" fmla="*/ 2147483646 h 100"/>
              <a:gd name="T38" fmla="*/ 2147483646 w 117"/>
              <a:gd name="T39" fmla="*/ 2147483646 h 100"/>
              <a:gd name="T40" fmla="*/ 2147483646 w 117"/>
              <a:gd name="T41" fmla="*/ 2147483646 h 100"/>
              <a:gd name="T42" fmla="*/ 2147483646 w 117"/>
              <a:gd name="T43" fmla="*/ 2147483646 h 100"/>
              <a:gd name="T44" fmla="*/ 2147483646 w 117"/>
              <a:gd name="T45" fmla="*/ 2147483646 h 100"/>
              <a:gd name="T46" fmla="*/ 2147483646 w 117"/>
              <a:gd name="T47" fmla="*/ 2147483646 h 100"/>
              <a:gd name="T48" fmla="*/ 2147483646 w 117"/>
              <a:gd name="T49" fmla="*/ 2147483646 h 100"/>
              <a:gd name="T50" fmla="*/ 2147483646 w 117"/>
              <a:gd name="T51" fmla="*/ 2147483646 h 100"/>
              <a:gd name="T52" fmla="*/ 2147483646 w 117"/>
              <a:gd name="T53" fmla="*/ 2147483646 h 100"/>
              <a:gd name="T54" fmla="*/ 2147483646 w 117"/>
              <a:gd name="T55" fmla="*/ 2147483646 h 100"/>
              <a:gd name="T56" fmla="*/ 2147483646 w 117"/>
              <a:gd name="T57" fmla="*/ 2147483646 h 100"/>
              <a:gd name="T58" fmla="*/ 2147483646 w 117"/>
              <a:gd name="T59" fmla="*/ 2147483646 h 100"/>
              <a:gd name="T60" fmla="*/ 2147483646 w 117"/>
              <a:gd name="T61" fmla="*/ 2147483646 h 100"/>
              <a:gd name="T62" fmla="*/ 2147483646 w 117"/>
              <a:gd name="T63" fmla="*/ 2147483646 h 100"/>
              <a:gd name="T64" fmla="*/ 0 w 117"/>
              <a:gd name="T65" fmla="*/ 2147483646 h 100"/>
              <a:gd name="T66" fmla="*/ 0 w 117"/>
              <a:gd name="T67" fmla="*/ 2147483646 h 100"/>
              <a:gd name="T68" fmla="*/ 2147483646 w 117"/>
              <a:gd name="T69" fmla="*/ 2147483646 h 10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17" h="100">
                <a:moveTo>
                  <a:pt x="117" y="50"/>
                </a:moveTo>
                <a:lnTo>
                  <a:pt x="0" y="0"/>
                </a:lnTo>
                <a:lnTo>
                  <a:pt x="0" y="3"/>
                </a:lnTo>
                <a:lnTo>
                  <a:pt x="3" y="5"/>
                </a:lnTo>
                <a:lnTo>
                  <a:pt x="3" y="8"/>
                </a:lnTo>
                <a:lnTo>
                  <a:pt x="5" y="14"/>
                </a:lnTo>
                <a:lnTo>
                  <a:pt x="5" y="17"/>
                </a:lnTo>
                <a:lnTo>
                  <a:pt x="5" y="19"/>
                </a:lnTo>
                <a:lnTo>
                  <a:pt x="8" y="22"/>
                </a:lnTo>
                <a:lnTo>
                  <a:pt x="8" y="25"/>
                </a:lnTo>
                <a:lnTo>
                  <a:pt x="8" y="28"/>
                </a:lnTo>
                <a:lnTo>
                  <a:pt x="11" y="30"/>
                </a:lnTo>
                <a:lnTo>
                  <a:pt x="11" y="33"/>
                </a:lnTo>
                <a:lnTo>
                  <a:pt x="11" y="39"/>
                </a:lnTo>
                <a:lnTo>
                  <a:pt x="11" y="41"/>
                </a:lnTo>
                <a:lnTo>
                  <a:pt x="11" y="44"/>
                </a:lnTo>
                <a:lnTo>
                  <a:pt x="11" y="47"/>
                </a:lnTo>
                <a:lnTo>
                  <a:pt x="11" y="50"/>
                </a:lnTo>
                <a:lnTo>
                  <a:pt x="11" y="53"/>
                </a:lnTo>
                <a:lnTo>
                  <a:pt x="11" y="55"/>
                </a:lnTo>
                <a:lnTo>
                  <a:pt x="11" y="58"/>
                </a:lnTo>
                <a:lnTo>
                  <a:pt x="11" y="64"/>
                </a:lnTo>
                <a:lnTo>
                  <a:pt x="11" y="66"/>
                </a:lnTo>
                <a:lnTo>
                  <a:pt x="11" y="69"/>
                </a:lnTo>
                <a:lnTo>
                  <a:pt x="8" y="72"/>
                </a:lnTo>
                <a:lnTo>
                  <a:pt x="8" y="75"/>
                </a:lnTo>
                <a:lnTo>
                  <a:pt x="8" y="78"/>
                </a:lnTo>
                <a:lnTo>
                  <a:pt x="5" y="80"/>
                </a:lnTo>
                <a:lnTo>
                  <a:pt x="5" y="83"/>
                </a:lnTo>
                <a:lnTo>
                  <a:pt x="5" y="89"/>
                </a:lnTo>
                <a:lnTo>
                  <a:pt x="3" y="91"/>
                </a:lnTo>
                <a:lnTo>
                  <a:pt x="3" y="94"/>
                </a:lnTo>
                <a:lnTo>
                  <a:pt x="0" y="97"/>
                </a:lnTo>
                <a:lnTo>
                  <a:pt x="0" y="100"/>
                </a:lnTo>
                <a:lnTo>
                  <a:pt x="117" y="5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098" name="Freeform 147"/>
          <p:cNvSpPr>
            <a:spLocks/>
          </p:cNvSpPr>
          <p:nvPr/>
        </p:nvSpPr>
        <p:spPr bwMode="auto">
          <a:xfrm>
            <a:off x="5651500" y="3976688"/>
            <a:ext cx="303213" cy="26987"/>
          </a:xfrm>
          <a:custGeom>
            <a:avLst/>
            <a:gdLst>
              <a:gd name="T0" fmla="*/ 2147483646 w 191"/>
              <a:gd name="T1" fmla="*/ 2147483646 h 17"/>
              <a:gd name="T2" fmla="*/ 2147483646 w 191"/>
              <a:gd name="T3" fmla="*/ 0 h 17"/>
              <a:gd name="T4" fmla="*/ 0 w 191"/>
              <a:gd name="T5" fmla="*/ 0 h 17"/>
              <a:gd name="T6" fmla="*/ 0 w 191"/>
              <a:gd name="T7" fmla="*/ 2147483646 h 17"/>
              <a:gd name="T8" fmla="*/ 2147483646 w 191"/>
              <a:gd name="T9" fmla="*/ 2147483646 h 17"/>
              <a:gd name="T10" fmla="*/ 2147483646 w 191"/>
              <a:gd name="T11" fmla="*/ 2147483646 h 1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91" h="17">
                <a:moveTo>
                  <a:pt x="191" y="8"/>
                </a:moveTo>
                <a:lnTo>
                  <a:pt x="191" y="0"/>
                </a:lnTo>
                <a:lnTo>
                  <a:pt x="0" y="0"/>
                </a:lnTo>
                <a:lnTo>
                  <a:pt x="0" y="17"/>
                </a:lnTo>
                <a:lnTo>
                  <a:pt x="191" y="17"/>
                </a:lnTo>
                <a:lnTo>
                  <a:pt x="191" y="8"/>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099" name="Freeform 148"/>
          <p:cNvSpPr>
            <a:spLocks/>
          </p:cNvSpPr>
          <p:nvPr/>
        </p:nvSpPr>
        <p:spPr bwMode="auto">
          <a:xfrm>
            <a:off x="5862638" y="3910013"/>
            <a:ext cx="184150" cy="158750"/>
          </a:xfrm>
          <a:custGeom>
            <a:avLst/>
            <a:gdLst>
              <a:gd name="T0" fmla="*/ 2147483646 w 116"/>
              <a:gd name="T1" fmla="*/ 2147483646 h 100"/>
              <a:gd name="T2" fmla="*/ 0 w 116"/>
              <a:gd name="T3" fmla="*/ 0 h 100"/>
              <a:gd name="T4" fmla="*/ 0 w 116"/>
              <a:gd name="T5" fmla="*/ 2147483646 h 100"/>
              <a:gd name="T6" fmla="*/ 2147483646 w 116"/>
              <a:gd name="T7" fmla="*/ 2147483646 h 100"/>
              <a:gd name="T8" fmla="*/ 2147483646 w 116"/>
              <a:gd name="T9" fmla="*/ 2147483646 h 100"/>
              <a:gd name="T10" fmla="*/ 2147483646 w 116"/>
              <a:gd name="T11" fmla="*/ 2147483646 h 100"/>
              <a:gd name="T12" fmla="*/ 2147483646 w 116"/>
              <a:gd name="T13" fmla="*/ 2147483646 h 100"/>
              <a:gd name="T14" fmla="*/ 2147483646 w 116"/>
              <a:gd name="T15" fmla="*/ 2147483646 h 100"/>
              <a:gd name="T16" fmla="*/ 2147483646 w 116"/>
              <a:gd name="T17" fmla="*/ 2147483646 h 100"/>
              <a:gd name="T18" fmla="*/ 2147483646 w 116"/>
              <a:gd name="T19" fmla="*/ 2147483646 h 100"/>
              <a:gd name="T20" fmla="*/ 2147483646 w 116"/>
              <a:gd name="T21" fmla="*/ 2147483646 h 100"/>
              <a:gd name="T22" fmla="*/ 2147483646 w 116"/>
              <a:gd name="T23" fmla="*/ 2147483646 h 100"/>
              <a:gd name="T24" fmla="*/ 2147483646 w 116"/>
              <a:gd name="T25" fmla="*/ 2147483646 h 100"/>
              <a:gd name="T26" fmla="*/ 2147483646 w 116"/>
              <a:gd name="T27" fmla="*/ 2147483646 h 100"/>
              <a:gd name="T28" fmla="*/ 2147483646 w 116"/>
              <a:gd name="T29" fmla="*/ 2147483646 h 100"/>
              <a:gd name="T30" fmla="*/ 2147483646 w 116"/>
              <a:gd name="T31" fmla="*/ 2147483646 h 100"/>
              <a:gd name="T32" fmla="*/ 2147483646 w 116"/>
              <a:gd name="T33" fmla="*/ 2147483646 h 100"/>
              <a:gd name="T34" fmla="*/ 2147483646 w 116"/>
              <a:gd name="T35" fmla="*/ 2147483646 h 100"/>
              <a:gd name="T36" fmla="*/ 2147483646 w 116"/>
              <a:gd name="T37" fmla="*/ 2147483646 h 100"/>
              <a:gd name="T38" fmla="*/ 2147483646 w 116"/>
              <a:gd name="T39" fmla="*/ 2147483646 h 100"/>
              <a:gd name="T40" fmla="*/ 2147483646 w 116"/>
              <a:gd name="T41" fmla="*/ 2147483646 h 100"/>
              <a:gd name="T42" fmla="*/ 2147483646 w 116"/>
              <a:gd name="T43" fmla="*/ 2147483646 h 100"/>
              <a:gd name="T44" fmla="*/ 2147483646 w 116"/>
              <a:gd name="T45" fmla="*/ 2147483646 h 100"/>
              <a:gd name="T46" fmla="*/ 2147483646 w 116"/>
              <a:gd name="T47" fmla="*/ 2147483646 h 100"/>
              <a:gd name="T48" fmla="*/ 2147483646 w 116"/>
              <a:gd name="T49" fmla="*/ 2147483646 h 100"/>
              <a:gd name="T50" fmla="*/ 2147483646 w 116"/>
              <a:gd name="T51" fmla="*/ 2147483646 h 100"/>
              <a:gd name="T52" fmla="*/ 2147483646 w 116"/>
              <a:gd name="T53" fmla="*/ 2147483646 h 100"/>
              <a:gd name="T54" fmla="*/ 2147483646 w 116"/>
              <a:gd name="T55" fmla="*/ 2147483646 h 100"/>
              <a:gd name="T56" fmla="*/ 2147483646 w 116"/>
              <a:gd name="T57" fmla="*/ 2147483646 h 100"/>
              <a:gd name="T58" fmla="*/ 2147483646 w 116"/>
              <a:gd name="T59" fmla="*/ 2147483646 h 100"/>
              <a:gd name="T60" fmla="*/ 2147483646 w 116"/>
              <a:gd name="T61" fmla="*/ 2147483646 h 100"/>
              <a:gd name="T62" fmla="*/ 2147483646 w 116"/>
              <a:gd name="T63" fmla="*/ 2147483646 h 100"/>
              <a:gd name="T64" fmla="*/ 0 w 116"/>
              <a:gd name="T65" fmla="*/ 2147483646 h 100"/>
              <a:gd name="T66" fmla="*/ 0 w 116"/>
              <a:gd name="T67" fmla="*/ 2147483646 h 100"/>
              <a:gd name="T68" fmla="*/ 2147483646 w 116"/>
              <a:gd name="T69" fmla="*/ 2147483646 h 10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16" h="100">
                <a:moveTo>
                  <a:pt x="116" y="50"/>
                </a:moveTo>
                <a:lnTo>
                  <a:pt x="0" y="0"/>
                </a:lnTo>
                <a:lnTo>
                  <a:pt x="0" y="3"/>
                </a:lnTo>
                <a:lnTo>
                  <a:pt x="3" y="6"/>
                </a:lnTo>
                <a:lnTo>
                  <a:pt x="3" y="9"/>
                </a:lnTo>
                <a:lnTo>
                  <a:pt x="5" y="12"/>
                </a:lnTo>
                <a:lnTo>
                  <a:pt x="5" y="14"/>
                </a:lnTo>
                <a:lnTo>
                  <a:pt x="5" y="17"/>
                </a:lnTo>
                <a:lnTo>
                  <a:pt x="8" y="23"/>
                </a:lnTo>
                <a:lnTo>
                  <a:pt x="8" y="25"/>
                </a:lnTo>
                <a:lnTo>
                  <a:pt x="8" y="28"/>
                </a:lnTo>
                <a:lnTo>
                  <a:pt x="11" y="31"/>
                </a:lnTo>
                <a:lnTo>
                  <a:pt x="11" y="34"/>
                </a:lnTo>
                <a:lnTo>
                  <a:pt x="11" y="36"/>
                </a:lnTo>
                <a:lnTo>
                  <a:pt x="11" y="39"/>
                </a:lnTo>
                <a:lnTo>
                  <a:pt x="11" y="42"/>
                </a:lnTo>
                <a:lnTo>
                  <a:pt x="11" y="48"/>
                </a:lnTo>
                <a:lnTo>
                  <a:pt x="11" y="50"/>
                </a:lnTo>
                <a:lnTo>
                  <a:pt x="11" y="53"/>
                </a:lnTo>
                <a:lnTo>
                  <a:pt x="11" y="56"/>
                </a:lnTo>
                <a:lnTo>
                  <a:pt x="11" y="59"/>
                </a:lnTo>
                <a:lnTo>
                  <a:pt x="11" y="61"/>
                </a:lnTo>
                <a:lnTo>
                  <a:pt x="11" y="64"/>
                </a:lnTo>
                <a:lnTo>
                  <a:pt x="11" y="67"/>
                </a:lnTo>
                <a:lnTo>
                  <a:pt x="8" y="73"/>
                </a:lnTo>
                <a:lnTo>
                  <a:pt x="8" y="75"/>
                </a:lnTo>
                <a:lnTo>
                  <a:pt x="8" y="78"/>
                </a:lnTo>
                <a:lnTo>
                  <a:pt x="5" y="81"/>
                </a:lnTo>
                <a:lnTo>
                  <a:pt x="5" y="84"/>
                </a:lnTo>
                <a:lnTo>
                  <a:pt x="5" y="86"/>
                </a:lnTo>
                <a:lnTo>
                  <a:pt x="3" y="89"/>
                </a:lnTo>
                <a:lnTo>
                  <a:pt x="3" y="92"/>
                </a:lnTo>
                <a:lnTo>
                  <a:pt x="0" y="97"/>
                </a:lnTo>
                <a:lnTo>
                  <a:pt x="0" y="100"/>
                </a:lnTo>
                <a:lnTo>
                  <a:pt x="116" y="5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100" name="Freeform 149"/>
          <p:cNvSpPr>
            <a:spLocks/>
          </p:cNvSpPr>
          <p:nvPr/>
        </p:nvSpPr>
        <p:spPr bwMode="auto">
          <a:xfrm>
            <a:off x="5743575" y="4984750"/>
            <a:ext cx="304800" cy="26988"/>
          </a:xfrm>
          <a:custGeom>
            <a:avLst/>
            <a:gdLst>
              <a:gd name="T0" fmla="*/ 2147483646 w 192"/>
              <a:gd name="T1" fmla="*/ 2147483646 h 17"/>
              <a:gd name="T2" fmla="*/ 2147483646 w 192"/>
              <a:gd name="T3" fmla="*/ 0 h 17"/>
              <a:gd name="T4" fmla="*/ 0 w 192"/>
              <a:gd name="T5" fmla="*/ 0 h 17"/>
              <a:gd name="T6" fmla="*/ 0 w 192"/>
              <a:gd name="T7" fmla="*/ 2147483646 h 17"/>
              <a:gd name="T8" fmla="*/ 2147483646 w 192"/>
              <a:gd name="T9" fmla="*/ 2147483646 h 17"/>
              <a:gd name="T10" fmla="*/ 2147483646 w 192"/>
              <a:gd name="T11" fmla="*/ 2147483646 h 1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92" h="17">
                <a:moveTo>
                  <a:pt x="192" y="8"/>
                </a:moveTo>
                <a:lnTo>
                  <a:pt x="192" y="0"/>
                </a:lnTo>
                <a:lnTo>
                  <a:pt x="0" y="0"/>
                </a:lnTo>
                <a:lnTo>
                  <a:pt x="0" y="17"/>
                </a:lnTo>
                <a:lnTo>
                  <a:pt x="192" y="17"/>
                </a:lnTo>
                <a:lnTo>
                  <a:pt x="192" y="8"/>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101" name="Freeform 150"/>
          <p:cNvSpPr>
            <a:spLocks/>
          </p:cNvSpPr>
          <p:nvPr/>
        </p:nvSpPr>
        <p:spPr bwMode="auto">
          <a:xfrm>
            <a:off x="5954713" y="4918075"/>
            <a:ext cx="185737" cy="158750"/>
          </a:xfrm>
          <a:custGeom>
            <a:avLst/>
            <a:gdLst>
              <a:gd name="T0" fmla="*/ 2147483646 w 117"/>
              <a:gd name="T1" fmla="*/ 2147483646 h 100"/>
              <a:gd name="T2" fmla="*/ 0 w 117"/>
              <a:gd name="T3" fmla="*/ 0 h 100"/>
              <a:gd name="T4" fmla="*/ 2147483646 w 117"/>
              <a:gd name="T5" fmla="*/ 2147483646 h 100"/>
              <a:gd name="T6" fmla="*/ 2147483646 w 117"/>
              <a:gd name="T7" fmla="*/ 2147483646 h 100"/>
              <a:gd name="T8" fmla="*/ 2147483646 w 117"/>
              <a:gd name="T9" fmla="*/ 2147483646 h 100"/>
              <a:gd name="T10" fmla="*/ 2147483646 w 117"/>
              <a:gd name="T11" fmla="*/ 2147483646 h 100"/>
              <a:gd name="T12" fmla="*/ 2147483646 w 117"/>
              <a:gd name="T13" fmla="*/ 2147483646 h 100"/>
              <a:gd name="T14" fmla="*/ 2147483646 w 117"/>
              <a:gd name="T15" fmla="*/ 2147483646 h 100"/>
              <a:gd name="T16" fmla="*/ 2147483646 w 117"/>
              <a:gd name="T17" fmla="*/ 2147483646 h 100"/>
              <a:gd name="T18" fmla="*/ 2147483646 w 117"/>
              <a:gd name="T19" fmla="*/ 2147483646 h 100"/>
              <a:gd name="T20" fmla="*/ 2147483646 w 117"/>
              <a:gd name="T21" fmla="*/ 2147483646 h 100"/>
              <a:gd name="T22" fmla="*/ 2147483646 w 117"/>
              <a:gd name="T23" fmla="*/ 2147483646 h 100"/>
              <a:gd name="T24" fmla="*/ 2147483646 w 117"/>
              <a:gd name="T25" fmla="*/ 2147483646 h 100"/>
              <a:gd name="T26" fmla="*/ 2147483646 w 117"/>
              <a:gd name="T27" fmla="*/ 2147483646 h 100"/>
              <a:gd name="T28" fmla="*/ 2147483646 w 117"/>
              <a:gd name="T29" fmla="*/ 2147483646 h 100"/>
              <a:gd name="T30" fmla="*/ 2147483646 w 117"/>
              <a:gd name="T31" fmla="*/ 2147483646 h 100"/>
              <a:gd name="T32" fmla="*/ 2147483646 w 117"/>
              <a:gd name="T33" fmla="*/ 2147483646 h 100"/>
              <a:gd name="T34" fmla="*/ 2147483646 w 117"/>
              <a:gd name="T35" fmla="*/ 2147483646 h 100"/>
              <a:gd name="T36" fmla="*/ 2147483646 w 117"/>
              <a:gd name="T37" fmla="*/ 2147483646 h 100"/>
              <a:gd name="T38" fmla="*/ 2147483646 w 117"/>
              <a:gd name="T39" fmla="*/ 2147483646 h 100"/>
              <a:gd name="T40" fmla="*/ 2147483646 w 117"/>
              <a:gd name="T41" fmla="*/ 2147483646 h 100"/>
              <a:gd name="T42" fmla="*/ 2147483646 w 117"/>
              <a:gd name="T43" fmla="*/ 2147483646 h 100"/>
              <a:gd name="T44" fmla="*/ 2147483646 w 117"/>
              <a:gd name="T45" fmla="*/ 2147483646 h 100"/>
              <a:gd name="T46" fmla="*/ 2147483646 w 117"/>
              <a:gd name="T47" fmla="*/ 2147483646 h 100"/>
              <a:gd name="T48" fmla="*/ 2147483646 w 117"/>
              <a:gd name="T49" fmla="*/ 2147483646 h 100"/>
              <a:gd name="T50" fmla="*/ 2147483646 w 117"/>
              <a:gd name="T51" fmla="*/ 2147483646 h 100"/>
              <a:gd name="T52" fmla="*/ 2147483646 w 117"/>
              <a:gd name="T53" fmla="*/ 2147483646 h 100"/>
              <a:gd name="T54" fmla="*/ 2147483646 w 117"/>
              <a:gd name="T55" fmla="*/ 2147483646 h 100"/>
              <a:gd name="T56" fmla="*/ 2147483646 w 117"/>
              <a:gd name="T57" fmla="*/ 2147483646 h 100"/>
              <a:gd name="T58" fmla="*/ 2147483646 w 117"/>
              <a:gd name="T59" fmla="*/ 2147483646 h 100"/>
              <a:gd name="T60" fmla="*/ 2147483646 w 117"/>
              <a:gd name="T61" fmla="*/ 2147483646 h 100"/>
              <a:gd name="T62" fmla="*/ 2147483646 w 117"/>
              <a:gd name="T63" fmla="*/ 2147483646 h 100"/>
              <a:gd name="T64" fmla="*/ 2147483646 w 117"/>
              <a:gd name="T65" fmla="*/ 2147483646 h 100"/>
              <a:gd name="T66" fmla="*/ 0 w 117"/>
              <a:gd name="T67" fmla="*/ 2147483646 h 100"/>
              <a:gd name="T68" fmla="*/ 2147483646 w 117"/>
              <a:gd name="T69" fmla="*/ 2147483646 h 10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17" h="100">
                <a:moveTo>
                  <a:pt x="117" y="50"/>
                </a:moveTo>
                <a:lnTo>
                  <a:pt x="0" y="0"/>
                </a:lnTo>
                <a:lnTo>
                  <a:pt x="3" y="3"/>
                </a:lnTo>
                <a:lnTo>
                  <a:pt x="3" y="6"/>
                </a:lnTo>
                <a:lnTo>
                  <a:pt x="6" y="12"/>
                </a:lnTo>
                <a:lnTo>
                  <a:pt x="6" y="14"/>
                </a:lnTo>
                <a:lnTo>
                  <a:pt x="9" y="17"/>
                </a:lnTo>
                <a:lnTo>
                  <a:pt x="9" y="20"/>
                </a:lnTo>
                <a:lnTo>
                  <a:pt x="9" y="23"/>
                </a:lnTo>
                <a:lnTo>
                  <a:pt x="11" y="25"/>
                </a:lnTo>
                <a:lnTo>
                  <a:pt x="11" y="28"/>
                </a:lnTo>
                <a:lnTo>
                  <a:pt x="11" y="31"/>
                </a:lnTo>
                <a:lnTo>
                  <a:pt x="11" y="36"/>
                </a:lnTo>
                <a:lnTo>
                  <a:pt x="14" y="39"/>
                </a:lnTo>
                <a:lnTo>
                  <a:pt x="14" y="42"/>
                </a:lnTo>
                <a:lnTo>
                  <a:pt x="14" y="45"/>
                </a:lnTo>
                <a:lnTo>
                  <a:pt x="14" y="48"/>
                </a:lnTo>
                <a:lnTo>
                  <a:pt x="14" y="50"/>
                </a:lnTo>
                <a:lnTo>
                  <a:pt x="14" y="53"/>
                </a:lnTo>
                <a:lnTo>
                  <a:pt x="14" y="56"/>
                </a:lnTo>
                <a:lnTo>
                  <a:pt x="14" y="61"/>
                </a:lnTo>
                <a:lnTo>
                  <a:pt x="14" y="64"/>
                </a:lnTo>
                <a:lnTo>
                  <a:pt x="11" y="67"/>
                </a:lnTo>
                <a:lnTo>
                  <a:pt x="11" y="70"/>
                </a:lnTo>
                <a:lnTo>
                  <a:pt x="11" y="73"/>
                </a:lnTo>
                <a:lnTo>
                  <a:pt x="11" y="75"/>
                </a:lnTo>
                <a:lnTo>
                  <a:pt x="9" y="78"/>
                </a:lnTo>
                <a:lnTo>
                  <a:pt x="9" y="81"/>
                </a:lnTo>
                <a:lnTo>
                  <a:pt x="9" y="86"/>
                </a:lnTo>
                <a:lnTo>
                  <a:pt x="6" y="89"/>
                </a:lnTo>
                <a:lnTo>
                  <a:pt x="6" y="92"/>
                </a:lnTo>
                <a:lnTo>
                  <a:pt x="3" y="95"/>
                </a:lnTo>
                <a:lnTo>
                  <a:pt x="3" y="97"/>
                </a:lnTo>
                <a:lnTo>
                  <a:pt x="0" y="100"/>
                </a:lnTo>
                <a:lnTo>
                  <a:pt x="117" y="5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102" name="Line 151"/>
          <p:cNvSpPr>
            <a:spLocks noChangeShapeType="1"/>
          </p:cNvSpPr>
          <p:nvPr/>
        </p:nvSpPr>
        <p:spPr bwMode="auto">
          <a:xfrm>
            <a:off x="3200400" y="2071688"/>
            <a:ext cx="2057400" cy="0"/>
          </a:xfrm>
          <a:prstGeom prst="line">
            <a:avLst/>
          </a:prstGeom>
          <a:noFill/>
          <a:ln w="381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55103" name="Line 152"/>
          <p:cNvSpPr>
            <a:spLocks noChangeShapeType="1"/>
          </p:cNvSpPr>
          <p:nvPr/>
        </p:nvSpPr>
        <p:spPr bwMode="auto">
          <a:xfrm flipV="1">
            <a:off x="3200400" y="2071688"/>
            <a:ext cx="0" cy="220980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55104" name="Line 153"/>
          <p:cNvSpPr>
            <a:spLocks noChangeShapeType="1"/>
          </p:cNvSpPr>
          <p:nvPr/>
        </p:nvSpPr>
        <p:spPr bwMode="auto">
          <a:xfrm flipV="1">
            <a:off x="6781800" y="4738688"/>
            <a:ext cx="0" cy="1066800"/>
          </a:xfrm>
          <a:prstGeom prst="line">
            <a:avLst/>
          </a:prstGeom>
          <a:noFill/>
          <a:ln w="57150">
            <a:solidFill>
              <a:schemeClr val="accent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55105" name="Line 154"/>
          <p:cNvSpPr>
            <a:spLocks noChangeShapeType="1"/>
          </p:cNvSpPr>
          <p:nvPr/>
        </p:nvSpPr>
        <p:spPr bwMode="auto">
          <a:xfrm flipV="1">
            <a:off x="6781800" y="3062288"/>
            <a:ext cx="0" cy="1676400"/>
          </a:xfrm>
          <a:prstGeom prst="line">
            <a:avLst/>
          </a:prstGeom>
          <a:noFill/>
          <a:ln w="57150">
            <a:solidFill>
              <a:schemeClr val="accent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55106" name="Line 155"/>
          <p:cNvSpPr>
            <a:spLocks noChangeShapeType="1"/>
          </p:cNvSpPr>
          <p:nvPr/>
        </p:nvSpPr>
        <p:spPr bwMode="auto">
          <a:xfrm flipV="1">
            <a:off x="6781800" y="1995488"/>
            <a:ext cx="0" cy="1066800"/>
          </a:xfrm>
          <a:prstGeom prst="line">
            <a:avLst/>
          </a:prstGeom>
          <a:noFill/>
          <a:ln w="57150">
            <a:solidFill>
              <a:schemeClr val="accent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24412" name="Rectangle 156"/>
          <p:cNvSpPr>
            <a:spLocks noChangeArrowheads="1"/>
          </p:cNvSpPr>
          <p:nvPr/>
        </p:nvSpPr>
        <p:spPr bwMode="auto">
          <a:xfrm>
            <a:off x="7010400" y="2605088"/>
            <a:ext cx="547688"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en-US" sz="1700" b="1">
                <a:solidFill>
                  <a:srgbClr val="FF0000"/>
                </a:solidFill>
                <a:effectLst>
                  <a:outerShdw blurRad="38100" dist="38100" dir="2700000" algn="tl">
                    <a:srgbClr val="000000"/>
                  </a:outerShdw>
                </a:effectLst>
                <a:latin typeface="Century Schoolbook" panose="02040604050505020304" pitchFamily="18" charset="0"/>
              </a:rPr>
              <a:t>Zone</a:t>
            </a:r>
            <a:endParaRPr lang="en-US" altLang="en-US" sz="1600">
              <a:effectLst>
                <a:outerShdw blurRad="38100" dist="38100" dir="2700000" algn="tl">
                  <a:srgbClr val="000000"/>
                </a:outerShdw>
              </a:effectLst>
              <a:latin typeface="Century Schoolbook" panose="02040604050505020304" pitchFamily="18" charset="0"/>
            </a:endParaRPr>
          </a:p>
        </p:txBody>
      </p:sp>
      <p:sp>
        <p:nvSpPr>
          <p:cNvPr id="255108" name="Line 157"/>
          <p:cNvSpPr>
            <a:spLocks noChangeShapeType="1"/>
          </p:cNvSpPr>
          <p:nvPr/>
        </p:nvSpPr>
        <p:spPr bwMode="auto">
          <a:xfrm flipV="1">
            <a:off x="2646363" y="3419475"/>
            <a:ext cx="0" cy="381000"/>
          </a:xfrm>
          <a:prstGeom prst="line">
            <a:avLst/>
          </a:prstGeom>
          <a:noFill/>
          <a:ln w="381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55109" name="Line 158"/>
          <p:cNvSpPr>
            <a:spLocks noChangeShapeType="1"/>
          </p:cNvSpPr>
          <p:nvPr/>
        </p:nvSpPr>
        <p:spPr bwMode="auto">
          <a:xfrm rot="10800000" flipV="1">
            <a:off x="1905000" y="3443288"/>
            <a:ext cx="1588" cy="381000"/>
          </a:xfrm>
          <a:prstGeom prst="line">
            <a:avLst/>
          </a:prstGeom>
          <a:noFill/>
          <a:ln w="381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55110" name="Line 159"/>
          <p:cNvSpPr>
            <a:spLocks noChangeShapeType="1"/>
          </p:cNvSpPr>
          <p:nvPr/>
        </p:nvSpPr>
        <p:spPr bwMode="auto">
          <a:xfrm>
            <a:off x="1676400" y="3214688"/>
            <a:ext cx="0" cy="68580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55111" name="Line 160"/>
          <p:cNvSpPr>
            <a:spLocks noChangeShapeType="1"/>
          </p:cNvSpPr>
          <p:nvPr/>
        </p:nvSpPr>
        <p:spPr bwMode="auto">
          <a:xfrm>
            <a:off x="2895600" y="4205288"/>
            <a:ext cx="304800"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55112" name="Line 161"/>
          <p:cNvSpPr>
            <a:spLocks noChangeShapeType="1"/>
          </p:cNvSpPr>
          <p:nvPr/>
        </p:nvSpPr>
        <p:spPr bwMode="auto">
          <a:xfrm flipV="1">
            <a:off x="2895600" y="4281488"/>
            <a:ext cx="304800" cy="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55113" name="Oval 162"/>
          <p:cNvSpPr>
            <a:spLocks noChangeArrowheads="1"/>
          </p:cNvSpPr>
          <p:nvPr/>
        </p:nvSpPr>
        <p:spPr bwMode="auto">
          <a:xfrm>
            <a:off x="2514600" y="4052888"/>
            <a:ext cx="457200" cy="457200"/>
          </a:xfrm>
          <a:prstGeom prst="ellipse">
            <a:avLst/>
          </a:prstGeom>
          <a:solidFill>
            <a:schemeClr val="bg1">
              <a:lumMod val="65000"/>
            </a:schemeClr>
          </a:solidFill>
          <a:ln w="9525">
            <a:solidFill>
              <a:schemeClr val="bg2"/>
            </a:solidFill>
            <a:round/>
            <a:headEnd/>
            <a:tailEnd/>
          </a:ln>
          <a:effec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defRPr/>
            </a:pPr>
            <a:endParaRPr lang="en-US" altLang="en-US" sz="1800" smtClean="0"/>
          </a:p>
        </p:txBody>
      </p:sp>
      <p:sp>
        <p:nvSpPr>
          <p:cNvPr id="255114" name="Line 163"/>
          <p:cNvSpPr>
            <a:spLocks noChangeShapeType="1"/>
          </p:cNvSpPr>
          <p:nvPr/>
        </p:nvSpPr>
        <p:spPr bwMode="auto">
          <a:xfrm>
            <a:off x="914400" y="4281488"/>
            <a:ext cx="1600200" cy="0"/>
          </a:xfrm>
          <a:prstGeom prst="line">
            <a:avLst/>
          </a:prstGeom>
          <a:noFill/>
          <a:ln w="381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24420" name="Rectangle 164"/>
          <p:cNvSpPr>
            <a:spLocks noChangeArrowheads="1"/>
          </p:cNvSpPr>
          <p:nvPr/>
        </p:nvSpPr>
        <p:spPr bwMode="auto">
          <a:xfrm>
            <a:off x="323850" y="4405313"/>
            <a:ext cx="1497013"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en-US" sz="1700" b="1">
                <a:effectLst>
                  <a:outerShdw blurRad="38100" dist="38100" dir="2700000" algn="tl">
                    <a:srgbClr val="000000"/>
                  </a:outerShdw>
                </a:effectLst>
                <a:latin typeface="Century Schoolbook" panose="02040604050505020304" pitchFamily="18" charset="0"/>
              </a:rPr>
              <a:t>White Liquor</a:t>
            </a:r>
            <a:endParaRPr lang="en-US" altLang="en-US" sz="1600">
              <a:effectLst>
                <a:outerShdw blurRad="38100" dist="38100" dir="2700000" algn="tl">
                  <a:srgbClr val="000000"/>
                </a:outerShdw>
              </a:effectLst>
              <a:latin typeface="Century Schoolbook" panose="02040604050505020304" pitchFamily="18" charset="0"/>
            </a:endParaRPr>
          </a:p>
        </p:txBody>
      </p:sp>
      <p:sp>
        <p:nvSpPr>
          <p:cNvPr id="255116" name="Line 165"/>
          <p:cNvSpPr>
            <a:spLocks noChangeShapeType="1"/>
          </p:cNvSpPr>
          <p:nvPr/>
        </p:nvSpPr>
        <p:spPr bwMode="auto">
          <a:xfrm flipV="1">
            <a:off x="1979613" y="4333875"/>
            <a:ext cx="0" cy="1223963"/>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4422" name="Rectangle 166"/>
          <p:cNvSpPr>
            <a:spLocks noChangeArrowheads="1"/>
          </p:cNvSpPr>
          <p:nvPr/>
        </p:nvSpPr>
        <p:spPr bwMode="auto">
          <a:xfrm>
            <a:off x="827088" y="5630863"/>
            <a:ext cx="1484312"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en-US" sz="1700" b="1">
                <a:effectLst>
                  <a:outerShdw blurRad="38100" dist="38100" dir="2700000" algn="tl">
                    <a:srgbClr val="000000"/>
                  </a:outerShdw>
                </a:effectLst>
                <a:latin typeface="Century Schoolbook" panose="02040604050505020304" pitchFamily="18" charset="0"/>
              </a:rPr>
              <a:t>Black Liquor</a:t>
            </a:r>
            <a:endParaRPr lang="en-US" altLang="en-US" sz="1600">
              <a:effectLst>
                <a:outerShdw blurRad="38100" dist="38100" dir="2700000" algn="tl">
                  <a:srgbClr val="000000"/>
                </a:outerShdw>
              </a:effectLst>
              <a:latin typeface="Century Schoolbook" panose="02040604050505020304" pitchFamily="18" charset="0"/>
            </a:endParaRPr>
          </a:p>
        </p:txBody>
      </p:sp>
      <p:sp>
        <p:nvSpPr>
          <p:cNvPr id="224423" name="Rectangle 167"/>
          <p:cNvSpPr>
            <a:spLocks noChangeArrowheads="1"/>
          </p:cNvSpPr>
          <p:nvPr/>
        </p:nvSpPr>
        <p:spPr bwMode="auto">
          <a:xfrm>
            <a:off x="250825" y="3757613"/>
            <a:ext cx="1608138"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en-US" sz="1700" b="1">
                <a:solidFill>
                  <a:srgbClr val="FF0000"/>
                </a:solidFill>
                <a:effectLst>
                  <a:outerShdw blurRad="38100" dist="38100" dir="2700000" algn="tl">
                    <a:srgbClr val="000000"/>
                  </a:outerShdw>
                </a:effectLst>
                <a:latin typeface="Century Schoolbook" panose="02040604050505020304" pitchFamily="18" charset="0"/>
              </a:rPr>
              <a:t>Pre-steaming</a:t>
            </a:r>
          </a:p>
          <a:p>
            <a:pPr>
              <a:defRPr/>
            </a:pPr>
            <a:r>
              <a:rPr lang="en-US" altLang="en-US" sz="1700" b="1">
                <a:solidFill>
                  <a:srgbClr val="FF0000"/>
                </a:solidFill>
                <a:effectLst>
                  <a:outerShdw blurRad="38100" dist="38100" dir="2700000" algn="tl">
                    <a:srgbClr val="000000"/>
                  </a:outerShdw>
                </a:effectLst>
                <a:latin typeface="Century Schoolbook" panose="02040604050505020304" pitchFamily="18" charset="0"/>
              </a:rPr>
              <a:t>Impregnation</a:t>
            </a:r>
            <a:r>
              <a:rPr lang="en-US" altLang="en-US" sz="1700" b="1">
                <a:solidFill>
                  <a:srgbClr val="FFFF00"/>
                </a:solidFill>
                <a:effectLst>
                  <a:outerShdw blurRad="38100" dist="38100" dir="2700000" algn="tl">
                    <a:srgbClr val="000000"/>
                  </a:outerShdw>
                </a:effectLst>
                <a:latin typeface="Century Schoolbook" panose="02040604050505020304" pitchFamily="18" charset="0"/>
              </a:rPr>
              <a:t> </a:t>
            </a:r>
            <a:endParaRPr lang="en-US" altLang="en-US" sz="1600">
              <a:effectLst>
                <a:outerShdw blurRad="38100" dist="38100" dir="2700000" algn="tl">
                  <a:srgbClr val="000000"/>
                </a:outerShdw>
              </a:effectLst>
              <a:latin typeface="Century Schoolbook" panose="02040604050505020304" pitchFamily="18" charset="0"/>
            </a:endParaRPr>
          </a:p>
        </p:txBody>
      </p:sp>
      <p:sp>
        <p:nvSpPr>
          <p:cNvPr id="224424" name="Text Box 168"/>
          <p:cNvSpPr txBox="1">
            <a:spLocks noChangeArrowheads="1"/>
          </p:cNvSpPr>
          <p:nvPr/>
        </p:nvSpPr>
        <p:spPr bwMode="auto">
          <a:xfrm>
            <a:off x="611188" y="200025"/>
            <a:ext cx="5794375" cy="1068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3600" b="1" dirty="0">
                <a:solidFill>
                  <a:srgbClr val="FF0000"/>
                </a:solidFill>
                <a:effectLst>
                  <a:outerShdw blurRad="38100" dist="38100" dir="2700000" algn="tl">
                    <a:srgbClr val="000000"/>
                  </a:outerShdw>
                </a:effectLst>
                <a:latin typeface="Century Schoolbook" panose="02040604050505020304" pitchFamily="18" charset="0"/>
              </a:rPr>
              <a:t>Continuous digester </a:t>
            </a:r>
          </a:p>
          <a:p>
            <a:pPr>
              <a:defRPr/>
            </a:pPr>
            <a:r>
              <a:rPr lang="en-US" altLang="en-US" sz="2800" b="1" dirty="0">
                <a:effectLst>
                  <a:outerShdw blurRad="38100" dist="38100" dir="2700000" algn="tl">
                    <a:srgbClr val="000000"/>
                  </a:outerShdw>
                </a:effectLst>
                <a:latin typeface="Century Schoolbook" panose="02040604050505020304" pitchFamily="18" charset="0"/>
              </a:rPr>
              <a:t>Unit operation and machinery</a:t>
            </a:r>
          </a:p>
        </p:txBody>
      </p:sp>
    </p:spTree>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Text Box 3"/>
          <p:cNvSpPr txBox="1">
            <a:spLocks noChangeArrowheads="1"/>
          </p:cNvSpPr>
          <p:nvPr/>
        </p:nvSpPr>
        <p:spPr bwMode="auto">
          <a:xfrm>
            <a:off x="3922713" y="1773238"/>
            <a:ext cx="5041900" cy="405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a:solidFill>
                  <a:schemeClr val="tx1"/>
                </a:solidFill>
                <a:latin typeface="Calibri" panose="020F0502020204030204" pitchFamily="34" charset="0"/>
              </a:defRPr>
            </a:lvl1pPr>
            <a:lvl2pPr marL="914400" indent="-457200">
              <a:defRPr>
                <a:solidFill>
                  <a:schemeClr val="tx1"/>
                </a:solidFill>
                <a:latin typeface="Calibri" panose="020F0502020204030204" pitchFamily="34" charset="0"/>
              </a:defRPr>
            </a:lvl2pPr>
            <a:lvl3pPr marL="1371600" indent="-457200">
              <a:defRPr>
                <a:solidFill>
                  <a:schemeClr val="tx1"/>
                </a:solidFill>
                <a:latin typeface="Calibri" panose="020F0502020204030204" pitchFamily="34" charset="0"/>
              </a:defRPr>
            </a:lvl3pPr>
            <a:lvl4pPr marL="1828800" indent="-457200">
              <a:defRPr>
                <a:solidFill>
                  <a:schemeClr val="tx1"/>
                </a:solidFill>
                <a:latin typeface="Calibri" panose="020F0502020204030204" pitchFamily="34" charset="0"/>
              </a:defRPr>
            </a:lvl4pPr>
            <a:lvl5pPr marL="2286000" indent="-457200">
              <a:defRPr>
                <a:solidFill>
                  <a:schemeClr val="tx1"/>
                </a:solidFill>
                <a:latin typeface="Calibri" panose="020F0502020204030204" pitchFamily="34" charset="0"/>
              </a:defRPr>
            </a:lvl5pPr>
            <a:lvl6pPr marL="2743200" indent="-457200" eaLnBrk="0" fontAlgn="base" hangingPunct="0">
              <a:spcBef>
                <a:spcPct val="0"/>
              </a:spcBef>
              <a:spcAft>
                <a:spcPct val="0"/>
              </a:spcAft>
              <a:defRPr>
                <a:solidFill>
                  <a:schemeClr val="tx1"/>
                </a:solidFill>
                <a:latin typeface="Calibri" panose="020F0502020204030204" pitchFamily="34" charset="0"/>
              </a:defRPr>
            </a:lvl6pPr>
            <a:lvl7pPr marL="3200400" indent="-457200" eaLnBrk="0" fontAlgn="base" hangingPunct="0">
              <a:spcBef>
                <a:spcPct val="0"/>
              </a:spcBef>
              <a:spcAft>
                <a:spcPct val="0"/>
              </a:spcAft>
              <a:defRPr>
                <a:solidFill>
                  <a:schemeClr val="tx1"/>
                </a:solidFill>
                <a:latin typeface="Calibri" panose="020F0502020204030204" pitchFamily="34" charset="0"/>
              </a:defRPr>
            </a:lvl7pPr>
            <a:lvl8pPr marL="3657600" indent="-457200" eaLnBrk="0" fontAlgn="base" hangingPunct="0">
              <a:spcBef>
                <a:spcPct val="0"/>
              </a:spcBef>
              <a:spcAft>
                <a:spcPct val="0"/>
              </a:spcAft>
              <a:defRPr>
                <a:solidFill>
                  <a:schemeClr val="tx1"/>
                </a:solidFill>
                <a:latin typeface="Calibri" panose="020F0502020204030204" pitchFamily="34" charset="0"/>
              </a:defRPr>
            </a:lvl8pPr>
            <a:lvl9pPr marL="4114800" indent="-457200" eaLnBrk="0" fontAlgn="base" hangingPunct="0">
              <a:spcBef>
                <a:spcPct val="0"/>
              </a:spcBef>
              <a:spcAft>
                <a:spcPct val="0"/>
              </a:spcAft>
              <a:defRPr>
                <a:solidFill>
                  <a:schemeClr val="tx1"/>
                </a:solidFill>
                <a:latin typeface="Calibri" panose="020F0502020204030204" pitchFamily="34" charset="0"/>
              </a:defRPr>
            </a:lvl9pPr>
          </a:lstStyle>
          <a:p>
            <a:pPr>
              <a:buFontTx/>
              <a:buAutoNum type="arabicPeriod"/>
            </a:pPr>
            <a:r>
              <a:rPr lang="en-US" altLang="en-US" sz="2000">
                <a:latin typeface="Century Schoolbook" panose="02040604050505020304" pitchFamily="18" charset="0"/>
                <a:cs typeface="Arial" panose="020B0604020202020204" pitchFamily="34" charset="0"/>
              </a:rPr>
              <a:t>Chip bin (Vibra bin) (C23)</a:t>
            </a:r>
          </a:p>
          <a:p>
            <a:pPr>
              <a:buFontTx/>
              <a:buAutoNum type="arabicPeriod"/>
            </a:pPr>
            <a:r>
              <a:rPr lang="en-US" altLang="en-US" sz="2000">
                <a:latin typeface="Century Schoolbook" panose="02040604050505020304" pitchFamily="18" charset="0"/>
                <a:cs typeface="Arial" panose="020B0604020202020204" pitchFamily="34" charset="0"/>
              </a:rPr>
              <a:t>Chip meter (C24)</a:t>
            </a:r>
          </a:p>
          <a:p>
            <a:pPr>
              <a:buFontTx/>
              <a:buAutoNum type="arabicPeriod"/>
            </a:pPr>
            <a:r>
              <a:rPr lang="en-US" altLang="en-US" sz="2000">
                <a:latin typeface="Century Schoolbook" panose="02040604050505020304" pitchFamily="18" charset="0"/>
                <a:cs typeface="Arial" panose="020B0604020202020204" pitchFamily="34" charset="0"/>
              </a:rPr>
              <a:t>Low pressure feeder (LP feeder) (C25)</a:t>
            </a:r>
          </a:p>
          <a:p>
            <a:pPr>
              <a:buFontTx/>
              <a:buAutoNum type="arabicPeriod"/>
            </a:pPr>
            <a:r>
              <a:rPr lang="en-US" altLang="en-US" sz="2000">
                <a:latin typeface="Century Schoolbook" panose="02040604050505020304" pitchFamily="18" charset="0"/>
                <a:cs typeface="Arial" panose="020B0604020202020204" pitchFamily="34" charset="0"/>
              </a:rPr>
              <a:t>Steaming vessel (C26)</a:t>
            </a:r>
          </a:p>
          <a:p>
            <a:pPr>
              <a:buFontTx/>
              <a:buAutoNum type="arabicPeriod"/>
            </a:pPr>
            <a:r>
              <a:rPr lang="en-US" altLang="en-US" sz="2000">
                <a:latin typeface="Century Schoolbook" panose="02040604050505020304" pitchFamily="18" charset="0"/>
                <a:cs typeface="Arial" panose="020B0604020202020204" pitchFamily="34" charset="0"/>
              </a:rPr>
              <a:t>Chip chute (C29)</a:t>
            </a:r>
          </a:p>
          <a:p>
            <a:pPr>
              <a:buFontTx/>
              <a:buAutoNum type="arabicPeriod"/>
            </a:pPr>
            <a:r>
              <a:rPr lang="en-US" altLang="en-US" sz="2000">
                <a:latin typeface="Century Schoolbook" panose="02040604050505020304" pitchFamily="18" charset="0"/>
                <a:cs typeface="Arial" panose="020B0604020202020204" pitchFamily="34" charset="0"/>
              </a:rPr>
              <a:t>High pressure feeder (HP feeder) (C30)</a:t>
            </a:r>
            <a:endParaRPr lang="th-TH" altLang="en-US" sz="2000">
              <a:latin typeface="Century Schoolbook" panose="02040604050505020304" pitchFamily="18" charset="0"/>
              <a:cs typeface="Arial" panose="020B0604020202020204" pitchFamily="34" charset="0"/>
            </a:endParaRPr>
          </a:p>
          <a:p>
            <a:pPr>
              <a:buFontTx/>
              <a:buAutoNum type="arabicPeriod"/>
            </a:pPr>
            <a:r>
              <a:rPr lang="en-US" altLang="en-US" sz="2000">
                <a:latin typeface="Century Schoolbook" panose="02040604050505020304" pitchFamily="18" charset="0"/>
                <a:cs typeface="Arial" panose="020B0604020202020204" pitchFamily="34" charset="0"/>
              </a:rPr>
              <a:t>Chip chute circulation pump (C3)</a:t>
            </a:r>
          </a:p>
          <a:p>
            <a:pPr>
              <a:buFontTx/>
              <a:buAutoNum type="arabicPeriod"/>
            </a:pPr>
            <a:r>
              <a:rPr lang="en-US" altLang="en-US" sz="2000">
                <a:latin typeface="Century Schoolbook" panose="02040604050505020304" pitchFamily="18" charset="0"/>
                <a:cs typeface="Arial" panose="020B0604020202020204" pitchFamily="34" charset="0"/>
              </a:rPr>
              <a:t>Sand separator (C31)</a:t>
            </a:r>
          </a:p>
          <a:p>
            <a:pPr>
              <a:buFontTx/>
              <a:buAutoNum type="arabicPeriod"/>
            </a:pPr>
            <a:r>
              <a:rPr lang="en-US" altLang="en-US" sz="2000">
                <a:latin typeface="Century Schoolbook" panose="02040604050505020304" pitchFamily="18" charset="0"/>
                <a:cs typeface="Arial" panose="020B0604020202020204" pitchFamily="34" charset="0"/>
              </a:rPr>
              <a:t>Inline drainer (C32)</a:t>
            </a:r>
          </a:p>
          <a:p>
            <a:pPr>
              <a:buFontTx/>
              <a:buAutoNum type="arabicPeriod"/>
            </a:pPr>
            <a:r>
              <a:rPr lang="en-US" altLang="en-US" sz="2000">
                <a:latin typeface="Century Schoolbook" panose="02040604050505020304" pitchFamily="18" charset="0"/>
                <a:cs typeface="Arial" panose="020B0604020202020204" pitchFamily="34" charset="0"/>
              </a:rPr>
              <a:t>Level tank (C34)</a:t>
            </a:r>
          </a:p>
          <a:p>
            <a:pPr>
              <a:buFontTx/>
              <a:buAutoNum type="arabicPeriod"/>
            </a:pPr>
            <a:r>
              <a:rPr lang="en-US" altLang="en-US" sz="2000">
                <a:latin typeface="Century Schoolbook" panose="02040604050505020304" pitchFamily="18" charset="0"/>
                <a:cs typeface="Arial" panose="020B0604020202020204" pitchFamily="34" charset="0"/>
              </a:rPr>
              <a:t>Top circulation pump (C4)</a:t>
            </a:r>
            <a:endParaRPr lang="th-TH" altLang="en-US" sz="2000">
              <a:latin typeface="Century Schoolbook" panose="02040604050505020304" pitchFamily="18" charset="0"/>
              <a:cs typeface="Arial" panose="020B0604020202020204" pitchFamily="34" charset="0"/>
            </a:endParaRPr>
          </a:p>
        </p:txBody>
      </p:sp>
      <p:grpSp>
        <p:nvGrpSpPr>
          <p:cNvPr id="256003" name="Group 4"/>
          <p:cNvGrpSpPr>
            <a:grpSpLocks/>
          </p:cNvGrpSpPr>
          <p:nvPr/>
        </p:nvGrpSpPr>
        <p:grpSpPr bwMode="auto">
          <a:xfrm>
            <a:off x="762000" y="1835150"/>
            <a:ext cx="2438400" cy="4114800"/>
            <a:chOff x="48" y="609"/>
            <a:chExt cx="96" cy="176"/>
          </a:xfrm>
        </p:grpSpPr>
        <p:sp>
          <p:nvSpPr>
            <p:cNvPr id="256012" name="Freeform 5"/>
            <p:cNvSpPr>
              <a:spLocks/>
            </p:cNvSpPr>
            <p:nvPr/>
          </p:nvSpPr>
          <p:spPr bwMode="auto">
            <a:xfrm>
              <a:off x="58" y="653"/>
              <a:ext cx="10" cy="9"/>
            </a:xfrm>
            <a:custGeom>
              <a:avLst/>
              <a:gdLst>
                <a:gd name="T0" fmla="*/ 2 w 10"/>
                <a:gd name="T1" fmla="*/ 5 h 10"/>
                <a:gd name="T2" fmla="*/ 0 w 10"/>
                <a:gd name="T3" fmla="*/ 0 h 10"/>
                <a:gd name="T4" fmla="*/ 9 w 10"/>
                <a:gd name="T5" fmla="*/ 0 h 10"/>
                <a:gd name="T6" fmla="*/ 10 w 10"/>
                <a:gd name="T7" fmla="*/ 5 h 1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 h="10">
                  <a:moveTo>
                    <a:pt x="2" y="10"/>
                  </a:moveTo>
                  <a:lnTo>
                    <a:pt x="0" y="0"/>
                  </a:lnTo>
                  <a:lnTo>
                    <a:pt x="9" y="0"/>
                  </a:lnTo>
                  <a:lnTo>
                    <a:pt x="10" y="6"/>
                  </a:lnTo>
                </a:path>
              </a:pathLst>
            </a:custGeom>
            <a:gradFill rotWithShape="0">
              <a:gsLst>
                <a:gs pos="0">
                  <a:srgbClr val="808080"/>
                </a:gs>
                <a:gs pos="50000">
                  <a:srgbClr val="FFFFFF"/>
                </a:gs>
                <a:gs pos="100000">
                  <a:srgbClr val="808080"/>
                </a:gs>
              </a:gsLst>
              <a:lin ang="0" scaled="1"/>
            </a:gradFill>
            <a:ln w="9525">
              <a:solidFill>
                <a:srgbClr val="000000"/>
              </a:solidFill>
              <a:round/>
              <a:headEnd/>
              <a:tailEnd/>
            </a:ln>
          </p:spPr>
          <p:txBody>
            <a:bodyPr/>
            <a:lstStyle/>
            <a:p>
              <a:endParaRPr lang="en-US"/>
            </a:p>
          </p:txBody>
        </p:sp>
        <p:grpSp>
          <p:nvGrpSpPr>
            <p:cNvPr id="256013" name="Group 6"/>
            <p:cNvGrpSpPr>
              <a:grpSpLocks/>
            </p:cNvGrpSpPr>
            <p:nvPr/>
          </p:nvGrpSpPr>
          <p:grpSpPr bwMode="auto">
            <a:xfrm>
              <a:off x="125" y="750"/>
              <a:ext cx="19" cy="18"/>
              <a:chOff x="125" y="750"/>
              <a:chExt cx="19" cy="18"/>
            </a:xfrm>
          </p:grpSpPr>
          <p:sp>
            <p:nvSpPr>
              <p:cNvPr id="256026" name="AutoShape 7"/>
              <p:cNvSpPr>
                <a:spLocks noChangeArrowheads="1"/>
              </p:cNvSpPr>
              <p:nvPr/>
            </p:nvSpPr>
            <p:spPr bwMode="auto">
              <a:xfrm>
                <a:off x="125" y="750"/>
                <a:ext cx="19" cy="18"/>
              </a:xfrm>
              <a:prstGeom prst="plaque">
                <a:avLst>
                  <a:gd name="adj" fmla="val 16667"/>
                </a:avLst>
              </a:prstGeom>
              <a:gradFill rotWithShape="1">
                <a:gsLst>
                  <a:gs pos="0">
                    <a:srgbClr val="808080"/>
                  </a:gs>
                  <a:gs pos="50000">
                    <a:srgbClr val="FFFFFF"/>
                  </a:gs>
                  <a:gs pos="100000">
                    <a:srgbClr val="80808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56027" name="Oval 8"/>
              <p:cNvSpPr>
                <a:spLocks noChangeArrowheads="1"/>
              </p:cNvSpPr>
              <p:nvPr/>
            </p:nvSpPr>
            <p:spPr bwMode="auto">
              <a:xfrm>
                <a:off x="128" y="752"/>
                <a:ext cx="13" cy="13"/>
              </a:xfrm>
              <a:prstGeom prst="ellipse">
                <a:avLst/>
              </a:prstGeom>
              <a:solidFill>
                <a:srgbClr val="FFFFFF"/>
              </a:solidFill>
              <a:ln w="9525">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grpSp>
        <p:sp>
          <p:nvSpPr>
            <p:cNvPr id="256014" name="Rectangle 9"/>
            <p:cNvSpPr>
              <a:spLocks noChangeArrowheads="1"/>
            </p:cNvSpPr>
            <p:nvPr/>
          </p:nvSpPr>
          <p:spPr bwMode="auto">
            <a:xfrm>
              <a:off x="131" y="698"/>
              <a:ext cx="8" cy="52"/>
            </a:xfrm>
            <a:prstGeom prst="rect">
              <a:avLst/>
            </a:prstGeom>
            <a:gradFill rotWithShape="1">
              <a:gsLst>
                <a:gs pos="0">
                  <a:srgbClr val="808080"/>
                </a:gs>
                <a:gs pos="50000">
                  <a:srgbClr val="FFFFFF"/>
                </a:gs>
                <a:gs pos="100000">
                  <a:srgbClr val="80808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56015" name="Freeform 10"/>
            <p:cNvSpPr>
              <a:spLocks/>
            </p:cNvSpPr>
            <p:nvPr/>
          </p:nvSpPr>
          <p:spPr bwMode="auto">
            <a:xfrm>
              <a:off x="78" y="725"/>
              <a:ext cx="57" cy="60"/>
            </a:xfrm>
            <a:custGeom>
              <a:avLst/>
              <a:gdLst>
                <a:gd name="T0" fmla="*/ 57 w 57"/>
                <a:gd name="T1" fmla="*/ 43 h 60"/>
                <a:gd name="T2" fmla="*/ 57 w 57"/>
                <a:gd name="T3" fmla="*/ 60 h 60"/>
                <a:gd name="T4" fmla="*/ 0 w 57"/>
                <a:gd name="T5" fmla="*/ 60 h 60"/>
                <a:gd name="T6" fmla="*/ 0 w 57"/>
                <a:gd name="T7" fmla="*/ 0 h 60"/>
                <a:gd name="T8" fmla="*/ 53 w 57"/>
                <a:gd name="T9" fmla="*/ 0 h 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 h="60">
                  <a:moveTo>
                    <a:pt x="57" y="43"/>
                  </a:moveTo>
                  <a:lnTo>
                    <a:pt x="57" y="60"/>
                  </a:lnTo>
                  <a:lnTo>
                    <a:pt x="0" y="60"/>
                  </a:lnTo>
                  <a:lnTo>
                    <a:pt x="0" y="0"/>
                  </a:lnTo>
                  <a:lnTo>
                    <a:pt x="53" y="0"/>
                  </a:lnTo>
                </a:path>
              </a:pathLst>
            </a:custGeom>
            <a:noFill/>
            <a:ln w="9525">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256016" name="Group 11"/>
            <p:cNvGrpSpPr>
              <a:grpSpLocks/>
            </p:cNvGrpSpPr>
            <p:nvPr/>
          </p:nvGrpSpPr>
          <p:grpSpPr bwMode="auto">
            <a:xfrm>
              <a:off x="62" y="685"/>
              <a:ext cx="77" cy="13"/>
              <a:chOff x="62" y="685"/>
              <a:chExt cx="77" cy="13"/>
            </a:xfrm>
          </p:grpSpPr>
          <p:sp>
            <p:nvSpPr>
              <p:cNvPr id="256024" name="Rectangle 12"/>
              <p:cNvSpPr>
                <a:spLocks noChangeArrowheads="1"/>
              </p:cNvSpPr>
              <p:nvPr/>
            </p:nvSpPr>
            <p:spPr bwMode="auto">
              <a:xfrm>
                <a:off x="62" y="685"/>
                <a:ext cx="77" cy="13"/>
              </a:xfrm>
              <a:prstGeom prst="rect">
                <a:avLst/>
              </a:prstGeom>
              <a:gradFill rotWithShape="1">
                <a:gsLst>
                  <a:gs pos="0">
                    <a:srgbClr val="808080"/>
                  </a:gs>
                  <a:gs pos="50000">
                    <a:srgbClr val="FFFFFF"/>
                  </a:gs>
                  <a:gs pos="100000">
                    <a:srgbClr val="80808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56025" name="Freeform 13"/>
              <p:cNvSpPr>
                <a:spLocks/>
              </p:cNvSpPr>
              <p:nvPr/>
            </p:nvSpPr>
            <p:spPr bwMode="auto">
              <a:xfrm>
                <a:off x="65" y="685"/>
                <a:ext cx="74" cy="13"/>
              </a:xfrm>
              <a:custGeom>
                <a:avLst/>
                <a:gdLst>
                  <a:gd name="T0" fmla="*/ 0 w 74"/>
                  <a:gd name="T1" fmla="*/ 0 h 13"/>
                  <a:gd name="T2" fmla="*/ 5 w 74"/>
                  <a:gd name="T3" fmla="*/ 13 h 13"/>
                  <a:gd name="T4" fmla="*/ 11 w 74"/>
                  <a:gd name="T5" fmla="*/ 0 h 13"/>
                  <a:gd name="T6" fmla="*/ 16 w 74"/>
                  <a:gd name="T7" fmla="*/ 13 h 13"/>
                  <a:gd name="T8" fmla="*/ 22 w 74"/>
                  <a:gd name="T9" fmla="*/ 0 h 13"/>
                  <a:gd name="T10" fmla="*/ 27 w 74"/>
                  <a:gd name="T11" fmla="*/ 13 h 13"/>
                  <a:gd name="T12" fmla="*/ 34 w 74"/>
                  <a:gd name="T13" fmla="*/ 0 h 13"/>
                  <a:gd name="T14" fmla="*/ 39 w 74"/>
                  <a:gd name="T15" fmla="*/ 13 h 13"/>
                  <a:gd name="T16" fmla="*/ 46 w 74"/>
                  <a:gd name="T17" fmla="*/ 0 h 13"/>
                  <a:gd name="T18" fmla="*/ 50 w 74"/>
                  <a:gd name="T19" fmla="*/ 13 h 13"/>
                  <a:gd name="T20" fmla="*/ 56 w 74"/>
                  <a:gd name="T21" fmla="*/ 0 h 13"/>
                  <a:gd name="T22" fmla="*/ 61 w 74"/>
                  <a:gd name="T23" fmla="*/ 13 h 13"/>
                  <a:gd name="T24" fmla="*/ 67 w 74"/>
                  <a:gd name="T25" fmla="*/ 0 h 13"/>
                  <a:gd name="T26" fmla="*/ 74 w 74"/>
                  <a:gd name="T27" fmla="*/ 13 h 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3">
                    <a:moveTo>
                      <a:pt x="0" y="0"/>
                    </a:moveTo>
                    <a:lnTo>
                      <a:pt x="5" y="13"/>
                    </a:lnTo>
                    <a:lnTo>
                      <a:pt x="11" y="0"/>
                    </a:lnTo>
                    <a:lnTo>
                      <a:pt x="16" y="13"/>
                    </a:lnTo>
                    <a:lnTo>
                      <a:pt x="22" y="0"/>
                    </a:lnTo>
                    <a:lnTo>
                      <a:pt x="27" y="13"/>
                    </a:lnTo>
                    <a:lnTo>
                      <a:pt x="34" y="0"/>
                    </a:lnTo>
                    <a:lnTo>
                      <a:pt x="39" y="13"/>
                    </a:lnTo>
                    <a:lnTo>
                      <a:pt x="46" y="0"/>
                    </a:lnTo>
                    <a:lnTo>
                      <a:pt x="50" y="13"/>
                    </a:lnTo>
                    <a:lnTo>
                      <a:pt x="56" y="0"/>
                    </a:lnTo>
                    <a:lnTo>
                      <a:pt x="61" y="13"/>
                    </a:lnTo>
                    <a:lnTo>
                      <a:pt x="67" y="0"/>
                    </a:lnTo>
                    <a:lnTo>
                      <a:pt x="74" y="13"/>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56017" name="Rectangle 14"/>
            <p:cNvSpPr>
              <a:spLocks noChangeArrowheads="1"/>
            </p:cNvSpPr>
            <p:nvPr/>
          </p:nvSpPr>
          <p:spPr bwMode="auto">
            <a:xfrm>
              <a:off x="62" y="663"/>
              <a:ext cx="7" cy="9"/>
            </a:xfrm>
            <a:prstGeom prst="rect">
              <a:avLst/>
            </a:prstGeom>
            <a:gradFill rotWithShape="0">
              <a:gsLst>
                <a:gs pos="0">
                  <a:srgbClr val="808080"/>
                </a:gs>
                <a:gs pos="50000">
                  <a:srgbClr val="FFFFFF"/>
                </a:gs>
                <a:gs pos="100000">
                  <a:srgbClr val="80808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56018" name="Rectangle 15"/>
            <p:cNvSpPr>
              <a:spLocks noChangeArrowheads="1"/>
            </p:cNvSpPr>
            <p:nvPr/>
          </p:nvSpPr>
          <p:spPr bwMode="auto">
            <a:xfrm>
              <a:off x="62" y="676"/>
              <a:ext cx="7" cy="9"/>
            </a:xfrm>
            <a:prstGeom prst="rect">
              <a:avLst/>
            </a:prstGeom>
            <a:gradFill rotWithShape="0">
              <a:gsLst>
                <a:gs pos="0">
                  <a:srgbClr val="808080"/>
                </a:gs>
                <a:gs pos="50000">
                  <a:srgbClr val="FFFFFF"/>
                </a:gs>
                <a:gs pos="100000">
                  <a:srgbClr val="80808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56019" name="Oval 16"/>
            <p:cNvSpPr>
              <a:spLocks noChangeArrowheads="1"/>
            </p:cNvSpPr>
            <p:nvPr/>
          </p:nvSpPr>
          <p:spPr bwMode="auto">
            <a:xfrm>
              <a:off x="60" y="670"/>
              <a:ext cx="10" cy="10"/>
            </a:xfrm>
            <a:prstGeom prst="ellipse">
              <a:avLst/>
            </a:prstGeom>
            <a:gradFill rotWithShape="0">
              <a:gsLst>
                <a:gs pos="0">
                  <a:srgbClr val="808080"/>
                </a:gs>
                <a:gs pos="50000">
                  <a:srgbClr val="FFFFFF"/>
                </a:gs>
                <a:gs pos="100000">
                  <a:srgbClr val="808080"/>
                </a:gs>
              </a:gsLst>
              <a:lin ang="0" scaled="1"/>
            </a:gradFill>
            <a:ln w="9525">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56020" name="AutoShape 17"/>
            <p:cNvSpPr>
              <a:spLocks noChangeArrowheads="1"/>
            </p:cNvSpPr>
            <p:nvPr/>
          </p:nvSpPr>
          <p:spPr bwMode="auto">
            <a:xfrm rot="5400000">
              <a:off x="60" y="633"/>
              <a:ext cx="5" cy="29"/>
            </a:xfrm>
            <a:prstGeom prst="flowChartDelay">
              <a:avLst/>
            </a:prstGeom>
            <a:gradFill rotWithShape="0">
              <a:gsLst>
                <a:gs pos="0">
                  <a:srgbClr val="808080"/>
                </a:gs>
                <a:gs pos="50000">
                  <a:srgbClr val="FFFFFF"/>
                </a:gs>
                <a:gs pos="100000">
                  <a:srgbClr val="80808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56021" name="Oval 18"/>
            <p:cNvSpPr>
              <a:spLocks noChangeArrowheads="1"/>
            </p:cNvSpPr>
            <p:nvPr/>
          </p:nvSpPr>
          <p:spPr bwMode="auto">
            <a:xfrm>
              <a:off x="60" y="657"/>
              <a:ext cx="10" cy="10"/>
            </a:xfrm>
            <a:prstGeom prst="ellipse">
              <a:avLst/>
            </a:prstGeom>
            <a:gradFill rotWithShape="0">
              <a:gsLst>
                <a:gs pos="0">
                  <a:srgbClr val="808080"/>
                </a:gs>
                <a:gs pos="50000">
                  <a:srgbClr val="FFFFFF"/>
                </a:gs>
                <a:gs pos="100000">
                  <a:srgbClr val="808080"/>
                </a:gs>
              </a:gsLst>
              <a:lin ang="0" scaled="1"/>
            </a:gradFill>
            <a:ln w="9525">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56022" name="Rectangle 19"/>
            <p:cNvSpPr>
              <a:spLocks noChangeArrowheads="1"/>
            </p:cNvSpPr>
            <p:nvPr/>
          </p:nvSpPr>
          <p:spPr bwMode="auto">
            <a:xfrm>
              <a:off x="56" y="650"/>
              <a:ext cx="12" cy="3"/>
            </a:xfrm>
            <a:prstGeom prst="rect">
              <a:avLst/>
            </a:prstGeom>
            <a:gradFill rotWithShape="0">
              <a:gsLst>
                <a:gs pos="0">
                  <a:srgbClr val="808080"/>
                </a:gs>
                <a:gs pos="50000">
                  <a:srgbClr val="FFFFFF"/>
                </a:gs>
                <a:gs pos="100000">
                  <a:srgbClr val="80808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56023" name="Rectangle 20"/>
            <p:cNvSpPr>
              <a:spLocks noChangeArrowheads="1"/>
            </p:cNvSpPr>
            <p:nvPr/>
          </p:nvSpPr>
          <p:spPr bwMode="auto">
            <a:xfrm>
              <a:off x="48" y="609"/>
              <a:ext cx="29" cy="36"/>
            </a:xfrm>
            <a:prstGeom prst="rect">
              <a:avLst/>
            </a:prstGeom>
            <a:gradFill rotWithShape="1">
              <a:gsLst>
                <a:gs pos="0">
                  <a:srgbClr val="808080"/>
                </a:gs>
                <a:gs pos="50000">
                  <a:srgbClr val="FFFFFF"/>
                </a:gs>
                <a:gs pos="100000">
                  <a:srgbClr val="80808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grpSp>
      <p:sp>
        <p:nvSpPr>
          <p:cNvPr id="256004" name="Text Box 21"/>
          <p:cNvSpPr txBox="1">
            <a:spLocks noChangeArrowheads="1"/>
          </p:cNvSpPr>
          <p:nvPr/>
        </p:nvSpPr>
        <p:spPr bwMode="auto">
          <a:xfrm>
            <a:off x="1584325" y="1970088"/>
            <a:ext cx="10969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b="1">
                <a:latin typeface="Century Schoolbook" panose="02040604050505020304" pitchFamily="18" charset="0"/>
                <a:cs typeface="Arial" panose="020B0604020202020204" pitchFamily="34" charset="0"/>
              </a:rPr>
              <a:t>Chip bin</a:t>
            </a:r>
            <a:endParaRPr lang="th-TH" altLang="en-US" sz="1600" b="1">
              <a:latin typeface="Century Schoolbook" panose="02040604050505020304" pitchFamily="18" charset="0"/>
              <a:cs typeface="Arial" panose="020B0604020202020204" pitchFamily="34" charset="0"/>
            </a:endParaRPr>
          </a:p>
        </p:txBody>
      </p:sp>
      <p:sp>
        <p:nvSpPr>
          <p:cNvPr id="256005" name="Text Box 22"/>
          <p:cNvSpPr txBox="1">
            <a:spLocks noChangeArrowheads="1"/>
          </p:cNvSpPr>
          <p:nvPr/>
        </p:nvSpPr>
        <p:spPr bwMode="auto">
          <a:xfrm>
            <a:off x="1600200" y="2519363"/>
            <a:ext cx="1177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b="1">
                <a:latin typeface="Century Schoolbook" panose="02040604050505020304" pitchFamily="18" charset="0"/>
                <a:cs typeface="Arial" panose="020B0604020202020204" pitchFamily="34" charset="0"/>
              </a:rPr>
              <a:t>Vibra bin</a:t>
            </a:r>
            <a:endParaRPr lang="th-TH" altLang="en-US" sz="1600" b="1">
              <a:latin typeface="Century Schoolbook" panose="02040604050505020304" pitchFamily="18" charset="0"/>
              <a:cs typeface="Arial" panose="020B0604020202020204" pitchFamily="34" charset="0"/>
            </a:endParaRPr>
          </a:p>
        </p:txBody>
      </p:sp>
      <p:sp>
        <p:nvSpPr>
          <p:cNvPr id="256006" name="Text Box 23"/>
          <p:cNvSpPr txBox="1">
            <a:spLocks noChangeArrowheads="1"/>
          </p:cNvSpPr>
          <p:nvPr/>
        </p:nvSpPr>
        <p:spPr bwMode="auto">
          <a:xfrm>
            <a:off x="1371600" y="2900363"/>
            <a:ext cx="13731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b="1">
                <a:latin typeface="Century Schoolbook" panose="02040604050505020304" pitchFamily="18" charset="0"/>
                <a:cs typeface="Arial" panose="020B0604020202020204" pitchFamily="34" charset="0"/>
              </a:rPr>
              <a:t>Chip meter</a:t>
            </a:r>
            <a:endParaRPr lang="th-TH" altLang="en-US" sz="1600" b="1">
              <a:latin typeface="Century Schoolbook" panose="02040604050505020304" pitchFamily="18" charset="0"/>
              <a:cs typeface="Arial" panose="020B0604020202020204" pitchFamily="34" charset="0"/>
            </a:endParaRPr>
          </a:p>
        </p:txBody>
      </p:sp>
      <p:sp>
        <p:nvSpPr>
          <p:cNvPr id="256007" name="Text Box 24"/>
          <p:cNvSpPr txBox="1">
            <a:spLocks noChangeArrowheads="1"/>
          </p:cNvSpPr>
          <p:nvPr/>
        </p:nvSpPr>
        <p:spPr bwMode="auto">
          <a:xfrm>
            <a:off x="1371600" y="3249613"/>
            <a:ext cx="12811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b="1">
                <a:latin typeface="Century Schoolbook" panose="02040604050505020304" pitchFamily="18" charset="0"/>
                <a:cs typeface="Arial" panose="020B0604020202020204" pitchFamily="34" charset="0"/>
              </a:rPr>
              <a:t>LP Feeder</a:t>
            </a:r>
            <a:endParaRPr lang="th-TH" altLang="en-US" sz="1600" b="1">
              <a:latin typeface="Century Schoolbook" panose="02040604050505020304" pitchFamily="18" charset="0"/>
              <a:cs typeface="Arial" panose="020B0604020202020204" pitchFamily="34" charset="0"/>
            </a:endParaRPr>
          </a:p>
        </p:txBody>
      </p:sp>
      <p:sp>
        <p:nvSpPr>
          <p:cNvPr id="256008" name="Text Box 25"/>
          <p:cNvSpPr txBox="1">
            <a:spLocks noChangeArrowheads="1"/>
          </p:cNvSpPr>
          <p:nvPr/>
        </p:nvSpPr>
        <p:spPr bwMode="auto">
          <a:xfrm>
            <a:off x="990600" y="3967163"/>
            <a:ext cx="18732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b="1">
                <a:latin typeface="Century Schoolbook" panose="02040604050505020304" pitchFamily="18" charset="0"/>
                <a:cs typeface="Arial" panose="020B0604020202020204" pitchFamily="34" charset="0"/>
              </a:rPr>
              <a:t>Steaming vessel</a:t>
            </a:r>
            <a:endParaRPr lang="th-TH" altLang="en-US" sz="1600" b="1">
              <a:latin typeface="Century Schoolbook" panose="02040604050505020304" pitchFamily="18" charset="0"/>
              <a:cs typeface="Arial" panose="020B0604020202020204" pitchFamily="34" charset="0"/>
            </a:endParaRPr>
          </a:p>
        </p:txBody>
      </p:sp>
      <p:sp>
        <p:nvSpPr>
          <p:cNvPr id="256009" name="Text Box 26"/>
          <p:cNvSpPr txBox="1">
            <a:spLocks noChangeArrowheads="1"/>
          </p:cNvSpPr>
          <p:nvPr/>
        </p:nvSpPr>
        <p:spPr bwMode="auto">
          <a:xfrm>
            <a:off x="3084513" y="4119563"/>
            <a:ext cx="78105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b="1">
                <a:latin typeface="Century Schoolbook" panose="02040604050505020304" pitchFamily="18" charset="0"/>
                <a:cs typeface="Arial" panose="020B0604020202020204" pitchFamily="34" charset="0"/>
              </a:rPr>
              <a:t>Chip</a:t>
            </a:r>
          </a:p>
          <a:p>
            <a:pPr>
              <a:spcBef>
                <a:spcPct val="0"/>
              </a:spcBef>
              <a:buFontTx/>
              <a:buNone/>
            </a:pPr>
            <a:r>
              <a:rPr lang="en-US" altLang="en-US" sz="1600" b="1">
                <a:latin typeface="Century Schoolbook" panose="02040604050505020304" pitchFamily="18" charset="0"/>
                <a:cs typeface="Arial" panose="020B0604020202020204" pitchFamily="34" charset="0"/>
              </a:rPr>
              <a:t>chute</a:t>
            </a:r>
            <a:endParaRPr lang="th-TH" altLang="en-US" sz="1600" b="1">
              <a:latin typeface="Century Schoolbook" panose="02040604050505020304" pitchFamily="18" charset="0"/>
              <a:cs typeface="Arial" panose="020B0604020202020204" pitchFamily="34" charset="0"/>
            </a:endParaRPr>
          </a:p>
        </p:txBody>
      </p:sp>
      <p:sp>
        <p:nvSpPr>
          <p:cNvPr id="256010" name="Text Box 27"/>
          <p:cNvSpPr txBox="1">
            <a:spLocks noChangeArrowheads="1"/>
          </p:cNvSpPr>
          <p:nvPr/>
        </p:nvSpPr>
        <p:spPr bwMode="auto">
          <a:xfrm>
            <a:off x="1619250" y="5567363"/>
            <a:ext cx="13112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b="1">
                <a:latin typeface="Century Schoolbook" panose="02040604050505020304" pitchFamily="18" charset="0"/>
                <a:cs typeface="Arial" panose="020B0604020202020204" pitchFamily="34" charset="0"/>
              </a:rPr>
              <a:t>HP Feeder</a:t>
            </a:r>
            <a:endParaRPr lang="th-TH" altLang="en-US" sz="1600" b="1">
              <a:latin typeface="Century Schoolbook" panose="02040604050505020304" pitchFamily="18" charset="0"/>
              <a:cs typeface="Arial" panose="020B0604020202020204" pitchFamily="34" charset="0"/>
            </a:endParaRPr>
          </a:p>
        </p:txBody>
      </p:sp>
      <p:sp>
        <p:nvSpPr>
          <p:cNvPr id="166940" name="Text Box 28"/>
          <p:cNvSpPr txBox="1">
            <a:spLocks noChangeArrowheads="1"/>
          </p:cNvSpPr>
          <p:nvPr/>
        </p:nvSpPr>
        <p:spPr bwMode="auto">
          <a:xfrm>
            <a:off x="611188" y="200025"/>
            <a:ext cx="6661150" cy="1068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3600" b="1" dirty="0">
                <a:solidFill>
                  <a:srgbClr val="FF0000"/>
                </a:solidFill>
                <a:effectLst>
                  <a:outerShdw blurRad="38100" dist="38100" dir="2700000" algn="tl">
                    <a:srgbClr val="000000"/>
                  </a:outerShdw>
                </a:effectLst>
                <a:latin typeface="Century Schoolbook" panose="02040604050505020304" pitchFamily="18" charset="0"/>
              </a:rPr>
              <a:t>Continuous digester </a:t>
            </a:r>
          </a:p>
          <a:p>
            <a:pPr>
              <a:defRPr/>
            </a:pPr>
            <a:r>
              <a:rPr lang="en-US" altLang="en-US" sz="2800" b="1" dirty="0">
                <a:effectLst>
                  <a:outerShdw blurRad="38100" dist="38100" dir="2700000" algn="tl">
                    <a:srgbClr val="000000"/>
                  </a:outerShdw>
                </a:effectLst>
                <a:latin typeface="Century Schoolbook" panose="02040604050505020304" pitchFamily="18" charset="0"/>
              </a:rPr>
              <a:t>Chip pre-steaming and feed system</a:t>
            </a:r>
          </a:p>
        </p:txBody>
      </p:sp>
    </p:spTree>
  </p:cSld>
  <p:clrMapOvr>
    <a:masterClrMapping/>
  </p:clrMapOvr>
  <p:transition/>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Rectangle 20"/>
          <p:cNvSpPr>
            <a:spLocks noChangeArrowheads="1"/>
          </p:cNvSpPr>
          <p:nvPr/>
        </p:nvSpPr>
        <p:spPr bwMode="auto">
          <a:xfrm>
            <a:off x="5867400" y="404813"/>
            <a:ext cx="457200" cy="609600"/>
          </a:xfrm>
          <a:prstGeom prst="rect">
            <a:avLst/>
          </a:prstGeom>
          <a:solidFill>
            <a:srgbClr val="66FFFF">
              <a:alpha val="50195"/>
            </a:srgbClr>
          </a:solidFill>
          <a:ln w="19050">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grpSp>
        <p:nvGrpSpPr>
          <p:cNvPr id="257027" name="Group 3"/>
          <p:cNvGrpSpPr>
            <a:grpSpLocks/>
          </p:cNvGrpSpPr>
          <p:nvPr/>
        </p:nvGrpSpPr>
        <p:grpSpPr bwMode="auto">
          <a:xfrm>
            <a:off x="5943600" y="481013"/>
            <a:ext cx="1066800" cy="1981200"/>
            <a:chOff x="48" y="609"/>
            <a:chExt cx="96" cy="176"/>
          </a:xfrm>
        </p:grpSpPr>
        <p:sp>
          <p:nvSpPr>
            <p:cNvPr id="257031" name="Freeform 4"/>
            <p:cNvSpPr>
              <a:spLocks/>
            </p:cNvSpPr>
            <p:nvPr/>
          </p:nvSpPr>
          <p:spPr bwMode="auto">
            <a:xfrm>
              <a:off x="58" y="653"/>
              <a:ext cx="10" cy="9"/>
            </a:xfrm>
            <a:custGeom>
              <a:avLst/>
              <a:gdLst>
                <a:gd name="T0" fmla="*/ 2 w 10"/>
                <a:gd name="T1" fmla="*/ 5 h 10"/>
                <a:gd name="T2" fmla="*/ 0 w 10"/>
                <a:gd name="T3" fmla="*/ 0 h 10"/>
                <a:gd name="T4" fmla="*/ 9 w 10"/>
                <a:gd name="T5" fmla="*/ 0 h 10"/>
                <a:gd name="T6" fmla="*/ 10 w 10"/>
                <a:gd name="T7" fmla="*/ 5 h 1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 h="10">
                  <a:moveTo>
                    <a:pt x="2" y="10"/>
                  </a:moveTo>
                  <a:lnTo>
                    <a:pt x="0" y="0"/>
                  </a:lnTo>
                  <a:lnTo>
                    <a:pt x="9" y="0"/>
                  </a:lnTo>
                  <a:lnTo>
                    <a:pt x="10" y="6"/>
                  </a:lnTo>
                </a:path>
              </a:pathLst>
            </a:custGeom>
            <a:gradFill rotWithShape="0">
              <a:gsLst>
                <a:gs pos="0">
                  <a:srgbClr val="808080"/>
                </a:gs>
                <a:gs pos="50000">
                  <a:srgbClr val="FFFFFF"/>
                </a:gs>
                <a:gs pos="100000">
                  <a:srgbClr val="808080"/>
                </a:gs>
              </a:gsLst>
              <a:lin ang="0" scaled="1"/>
            </a:gradFill>
            <a:ln w="9525">
              <a:solidFill>
                <a:srgbClr val="000000"/>
              </a:solidFill>
              <a:round/>
              <a:headEnd/>
              <a:tailEnd/>
            </a:ln>
          </p:spPr>
          <p:txBody>
            <a:bodyPr/>
            <a:lstStyle/>
            <a:p>
              <a:endParaRPr lang="en-US"/>
            </a:p>
          </p:txBody>
        </p:sp>
        <p:grpSp>
          <p:nvGrpSpPr>
            <p:cNvPr id="257032" name="Group 5"/>
            <p:cNvGrpSpPr>
              <a:grpSpLocks/>
            </p:cNvGrpSpPr>
            <p:nvPr/>
          </p:nvGrpSpPr>
          <p:grpSpPr bwMode="auto">
            <a:xfrm>
              <a:off x="125" y="750"/>
              <a:ext cx="19" cy="18"/>
              <a:chOff x="125" y="750"/>
              <a:chExt cx="19" cy="18"/>
            </a:xfrm>
          </p:grpSpPr>
          <p:sp>
            <p:nvSpPr>
              <p:cNvPr id="257045" name="AutoShape 6"/>
              <p:cNvSpPr>
                <a:spLocks noChangeArrowheads="1"/>
              </p:cNvSpPr>
              <p:nvPr/>
            </p:nvSpPr>
            <p:spPr bwMode="auto">
              <a:xfrm>
                <a:off x="125" y="750"/>
                <a:ext cx="19" cy="18"/>
              </a:xfrm>
              <a:prstGeom prst="plaque">
                <a:avLst>
                  <a:gd name="adj" fmla="val 16667"/>
                </a:avLst>
              </a:prstGeom>
              <a:gradFill rotWithShape="1">
                <a:gsLst>
                  <a:gs pos="0">
                    <a:srgbClr val="808080"/>
                  </a:gs>
                  <a:gs pos="50000">
                    <a:srgbClr val="FFFFFF"/>
                  </a:gs>
                  <a:gs pos="100000">
                    <a:srgbClr val="80808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57046" name="Oval 7"/>
              <p:cNvSpPr>
                <a:spLocks noChangeArrowheads="1"/>
              </p:cNvSpPr>
              <p:nvPr/>
            </p:nvSpPr>
            <p:spPr bwMode="auto">
              <a:xfrm>
                <a:off x="128" y="752"/>
                <a:ext cx="13" cy="13"/>
              </a:xfrm>
              <a:prstGeom prst="ellipse">
                <a:avLst/>
              </a:prstGeom>
              <a:solidFill>
                <a:srgbClr val="FFFFFF"/>
              </a:solidFill>
              <a:ln w="9525">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grpSp>
        <p:sp>
          <p:nvSpPr>
            <p:cNvPr id="257033" name="Rectangle 8"/>
            <p:cNvSpPr>
              <a:spLocks noChangeArrowheads="1"/>
            </p:cNvSpPr>
            <p:nvPr/>
          </p:nvSpPr>
          <p:spPr bwMode="auto">
            <a:xfrm>
              <a:off x="131" y="698"/>
              <a:ext cx="8" cy="52"/>
            </a:xfrm>
            <a:prstGeom prst="rect">
              <a:avLst/>
            </a:prstGeom>
            <a:gradFill rotWithShape="1">
              <a:gsLst>
                <a:gs pos="0">
                  <a:srgbClr val="808080"/>
                </a:gs>
                <a:gs pos="50000">
                  <a:srgbClr val="FFFFFF"/>
                </a:gs>
                <a:gs pos="100000">
                  <a:srgbClr val="80808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57034" name="Freeform 9"/>
            <p:cNvSpPr>
              <a:spLocks/>
            </p:cNvSpPr>
            <p:nvPr/>
          </p:nvSpPr>
          <p:spPr bwMode="auto">
            <a:xfrm>
              <a:off x="78" y="725"/>
              <a:ext cx="57" cy="60"/>
            </a:xfrm>
            <a:custGeom>
              <a:avLst/>
              <a:gdLst>
                <a:gd name="T0" fmla="*/ 57 w 57"/>
                <a:gd name="T1" fmla="*/ 43 h 60"/>
                <a:gd name="T2" fmla="*/ 57 w 57"/>
                <a:gd name="T3" fmla="*/ 60 h 60"/>
                <a:gd name="T4" fmla="*/ 0 w 57"/>
                <a:gd name="T5" fmla="*/ 60 h 60"/>
                <a:gd name="T6" fmla="*/ 0 w 57"/>
                <a:gd name="T7" fmla="*/ 0 h 60"/>
                <a:gd name="T8" fmla="*/ 53 w 57"/>
                <a:gd name="T9" fmla="*/ 0 h 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 h="60">
                  <a:moveTo>
                    <a:pt x="57" y="43"/>
                  </a:moveTo>
                  <a:lnTo>
                    <a:pt x="57" y="60"/>
                  </a:lnTo>
                  <a:lnTo>
                    <a:pt x="0" y="60"/>
                  </a:lnTo>
                  <a:lnTo>
                    <a:pt x="0" y="0"/>
                  </a:lnTo>
                  <a:lnTo>
                    <a:pt x="53" y="0"/>
                  </a:lnTo>
                </a:path>
              </a:pathLst>
            </a:custGeom>
            <a:noFill/>
            <a:ln w="9525">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257035" name="Group 10"/>
            <p:cNvGrpSpPr>
              <a:grpSpLocks/>
            </p:cNvGrpSpPr>
            <p:nvPr/>
          </p:nvGrpSpPr>
          <p:grpSpPr bwMode="auto">
            <a:xfrm>
              <a:off x="62" y="685"/>
              <a:ext cx="77" cy="13"/>
              <a:chOff x="62" y="685"/>
              <a:chExt cx="77" cy="13"/>
            </a:xfrm>
          </p:grpSpPr>
          <p:sp>
            <p:nvSpPr>
              <p:cNvPr id="257043" name="Rectangle 11"/>
              <p:cNvSpPr>
                <a:spLocks noChangeArrowheads="1"/>
              </p:cNvSpPr>
              <p:nvPr/>
            </p:nvSpPr>
            <p:spPr bwMode="auto">
              <a:xfrm>
                <a:off x="62" y="685"/>
                <a:ext cx="77" cy="13"/>
              </a:xfrm>
              <a:prstGeom prst="rect">
                <a:avLst/>
              </a:prstGeom>
              <a:gradFill rotWithShape="1">
                <a:gsLst>
                  <a:gs pos="0">
                    <a:srgbClr val="808080"/>
                  </a:gs>
                  <a:gs pos="50000">
                    <a:srgbClr val="FFFFFF"/>
                  </a:gs>
                  <a:gs pos="100000">
                    <a:srgbClr val="80808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57044" name="Freeform 12"/>
              <p:cNvSpPr>
                <a:spLocks/>
              </p:cNvSpPr>
              <p:nvPr/>
            </p:nvSpPr>
            <p:spPr bwMode="auto">
              <a:xfrm>
                <a:off x="65" y="685"/>
                <a:ext cx="74" cy="13"/>
              </a:xfrm>
              <a:custGeom>
                <a:avLst/>
                <a:gdLst>
                  <a:gd name="T0" fmla="*/ 0 w 74"/>
                  <a:gd name="T1" fmla="*/ 0 h 13"/>
                  <a:gd name="T2" fmla="*/ 5 w 74"/>
                  <a:gd name="T3" fmla="*/ 13 h 13"/>
                  <a:gd name="T4" fmla="*/ 11 w 74"/>
                  <a:gd name="T5" fmla="*/ 0 h 13"/>
                  <a:gd name="T6" fmla="*/ 16 w 74"/>
                  <a:gd name="T7" fmla="*/ 13 h 13"/>
                  <a:gd name="T8" fmla="*/ 22 w 74"/>
                  <a:gd name="T9" fmla="*/ 0 h 13"/>
                  <a:gd name="T10" fmla="*/ 27 w 74"/>
                  <a:gd name="T11" fmla="*/ 13 h 13"/>
                  <a:gd name="T12" fmla="*/ 34 w 74"/>
                  <a:gd name="T13" fmla="*/ 0 h 13"/>
                  <a:gd name="T14" fmla="*/ 39 w 74"/>
                  <a:gd name="T15" fmla="*/ 13 h 13"/>
                  <a:gd name="T16" fmla="*/ 46 w 74"/>
                  <a:gd name="T17" fmla="*/ 0 h 13"/>
                  <a:gd name="T18" fmla="*/ 50 w 74"/>
                  <a:gd name="T19" fmla="*/ 13 h 13"/>
                  <a:gd name="T20" fmla="*/ 56 w 74"/>
                  <a:gd name="T21" fmla="*/ 0 h 13"/>
                  <a:gd name="T22" fmla="*/ 61 w 74"/>
                  <a:gd name="T23" fmla="*/ 13 h 13"/>
                  <a:gd name="T24" fmla="*/ 67 w 74"/>
                  <a:gd name="T25" fmla="*/ 0 h 13"/>
                  <a:gd name="T26" fmla="*/ 74 w 74"/>
                  <a:gd name="T27" fmla="*/ 13 h 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3">
                    <a:moveTo>
                      <a:pt x="0" y="0"/>
                    </a:moveTo>
                    <a:lnTo>
                      <a:pt x="5" y="13"/>
                    </a:lnTo>
                    <a:lnTo>
                      <a:pt x="11" y="0"/>
                    </a:lnTo>
                    <a:lnTo>
                      <a:pt x="16" y="13"/>
                    </a:lnTo>
                    <a:lnTo>
                      <a:pt x="22" y="0"/>
                    </a:lnTo>
                    <a:lnTo>
                      <a:pt x="27" y="13"/>
                    </a:lnTo>
                    <a:lnTo>
                      <a:pt x="34" y="0"/>
                    </a:lnTo>
                    <a:lnTo>
                      <a:pt x="39" y="13"/>
                    </a:lnTo>
                    <a:lnTo>
                      <a:pt x="46" y="0"/>
                    </a:lnTo>
                    <a:lnTo>
                      <a:pt x="50" y="13"/>
                    </a:lnTo>
                    <a:lnTo>
                      <a:pt x="56" y="0"/>
                    </a:lnTo>
                    <a:lnTo>
                      <a:pt x="61" y="13"/>
                    </a:lnTo>
                    <a:lnTo>
                      <a:pt x="67" y="0"/>
                    </a:lnTo>
                    <a:lnTo>
                      <a:pt x="74" y="13"/>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57036" name="Rectangle 13"/>
            <p:cNvSpPr>
              <a:spLocks noChangeArrowheads="1"/>
            </p:cNvSpPr>
            <p:nvPr/>
          </p:nvSpPr>
          <p:spPr bwMode="auto">
            <a:xfrm>
              <a:off x="62" y="663"/>
              <a:ext cx="7" cy="9"/>
            </a:xfrm>
            <a:prstGeom prst="rect">
              <a:avLst/>
            </a:prstGeom>
            <a:gradFill rotWithShape="0">
              <a:gsLst>
                <a:gs pos="0">
                  <a:srgbClr val="808080"/>
                </a:gs>
                <a:gs pos="50000">
                  <a:srgbClr val="FFFFFF"/>
                </a:gs>
                <a:gs pos="100000">
                  <a:srgbClr val="80808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57037" name="Rectangle 14"/>
            <p:cNvSpPr>
              <a:spLocks noChangeArrowheads="1"/>
            </p:cNvSpPr>
            <p:nvPr/>
          </p:nvSpPr>
          <p:spPr bwMode="auto">
            <a:xfrm>
              <a:off x="62" y="676"/>
              <a:ext cx="7" cy="9"/>
            </a:xfrm>
            <a:prstGeom prst="rect">
              <a:avLst/>
            </a:prstGeom>
            <a:gradFill rotWithShape="0">
              <a:gsLst>
                <a:gs pos="0">
                  <a:srgbClr val="808080"/>
                </a:gs>
                <a:gs pos="50000">
                  <a:srgbClr val="FFFFFF"/>
                </a:gs>
                <a:gs pos="100000">
                  <a:srgbClr val="80808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57038" name="Oval 15"/>
            <p:cNvSpPr>
              <a:spLocks noChangeArrowheads="1"/>
            </p:cNvSpPr>
            <p:nvPr/>
          </p:nvSpPr>
          <p:spPr bwMode="auto">
            <a:xfrm>
              <a:off x="60" y="670"/>
              <a:ext cx="10" cy="10"/>
            </a:xfrm>
            <a:prstGeom prst="ellipse">
              <a:avLst/>
            </a:prstGeom>
            <a:gradFill rotWithShape="0">
              <a:gsLst>
                <a:gs pos="0">
                  <a:srgbClr val="808080"/>
                </a:gs>
                <a:gs pos="50000">
                  <a:srgbClr val="FFFFFF"/>
                </a:gs>
                <a:gs pos="100000">
                  <a:srgbClr val="808080"/>
                </a:gs>
              </a:gsLst>
              <a:lin ang="0" scaled="1"/>
            </a:gradFill>
            <a:ln w="9525">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57039" name="AutoShape 16"/>
            <p:cNvSpPr>
              <a:spLocks noChangeArrowheads="1"/>
            </p:cNvSpPr>
            <p:nvPr/>
          </p:nvSpPr>
          <p:spPr bwMode="auto">
            <a:xfrm rot="5400000">
              <a:off x="60" y="633"/>
              <a:ext cx="5" cy="29"/>
            </a:xfrm>
            <a:prstGeom prst="flowChartDelay">
              <a:avLst/>
            </a:prstGeom>
            <a:gradFill rotWithShape="0">
              <a:gsLst>
                <a:gs pos="0">
                  <a:srgbClr val="808080"/>
                </a:gs>
                <a:gs pos="50000">
                  <a:srgbClr val="FFFFFF"/>
                </a:gs>
                <a:gs pos="100000">
                  <a:srgbClr val="80808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57040" name="Oval 17"/>
            <p:cNvSpPr>
              <a:spLocks noChangeArrowheads="1"/>
            </p:cNvSpPr>
            <p:nvPr/>
          </p:nvSpPr>
          <p:spPr bwMode="auto">
            <a:xfrm>
              <a:off x="60" y="657"/>
              <a:ext cx="10" cy="10"/>
            </a:xfrm>
            <a:prstGeom prst="ellipse">
              <a:avLst/>
            </a:prstGeom>
            <a:gradFill rotWithShape="0">
              <a:gsLst>
                <a:gs pos="0">
                  <a:srgbClr val="808080"/>
                </a:gs>
                <a:gs pos="50000">
                  <a:srgbClr val="FFFFFF"/>
                </a:gs>
                <a:gs pos="100000">
                  <a:srgbClr val="808080"/>
                </a:gs>
              </a:gsLst>
              <a:lin ang="0" scaled="1"/>
            </a:gradFill>
            <a:ln w="9525">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57041" name="Rectangle 18"/>
            <p:cNvSpPr>
              <a:spLocks noChangeArrowheads="1"/>
            </p:cNvSpPr>
            <p:nvPr/>
          </p:nvSpPr>
          <p:spPr bwMode="auto">
            <a:xfrm>
              <a:off x="56" y="650"/>
              <a:ext cx="12" cy="3"/>
            </a:xfrm>
            <a:prstGeom prst="rect">
              <a:avLst/>
            </a:prstGeom>
            <a:gradFill rotWithShape="0">
              <a:gsLst>
                <a:gs pos="0">
                  <a:srgbClr val="808080"/>
                </a:gs>
                <a:gs pos="50000">
                  <a:srgbClr val="FFFFFF"/>
                </a:gs>
                <a:gs pos="100000">
                  <a:srgbClr val="80808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57042" name="Rectangle 19"/>
            <p:cNvSpPr>
              <a:spLocks noChangeArrowheads="1"/>
            </p:cNvSpPr>
            <p:nvPr/>
          </p:nvSpPr>
          <p:spPr bwMode="auto">
            <a:xfrm>
              <a:off x="48" y="609"/>
              <a:ext cx="29" cy="36"/>
            </a:xfrm>
            <a:prstGeom prst="rect">
              <a:avLst/>
            </a:prstGeom>
            <a:gradFill rotWithShape="1">
              <a:gsLst>
                <a:gs pos="0">
                  <a:srgbClr val="808080"/>
                </a:gs>
                <a:gs pos="50000">
                  <a:srgbClr val="FFFFFF"/>
                </a:gs>
                <a:gs pos="100000">
                  <a:srgbClr val="80808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grpSp>
      <p:pic>
        <p:nvPicPr>
          <p:cNvPr id="257028" name="Picture 21" descr="06"/>
          <p:cNvPicPr>
            <a:picLocks noGrp="1" noChangeAspect="1" noChangeArrowheads="1"/>
          </p:cNvPicPr>
          <p:nvPr>
            <p:ph/>
          </p:nvPr>
        </p:nvPicPr>
        <p:blipFill>
          <a:blip r:embed="rId2" cstate="print">
            <a:extLst>
              <a:ext uri="{28A0092B-C50C-407E-A947-70E740481C1C}">
                <a14:useLocalDpi xmlns:a14="http://schemas.microsoft.com/office/drawing/2010/main" val="0"/>
              </a:ext>
            </a:extLst>
          </a:blip>
          <a:srcRect/>
          <a:stretch>
            <a:fillRect/>
          </a:stretch>
        </p:blipFill>
        <p:spPr>
          <a:xfrm>
            <a:off x="755650" y="1557338"/>
            <a:ext cx="3455988" cy="4751387"/>
          </a:xfrm>
          <a:noFill/>
          <a:ln w="28575">
            <a:solidFill>
              <a:schemeClr val="bg2"/>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67959" name="Text Box 23"/>
          <p:cNvSpPr txBox="1">
            <a:spLocks noChangeArrowheads="1"/>
          </p:cNvSpPr>
          <p:nvPr/>
        </p:nvSpPr>
        <p:spPr bwMode="auto">
          <a:xfrm>
            <a:off x="611188" y="200025"/>
            <a:ext cx="5145087" cy="1068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3600" b="1" dirty="0">
                <a:solidFill>
                  <a:srgbClr val="FF0000"/>
                </a:solidFill>
                <a:effectLst>
                  <a:outerShdw blurRad="38100" dist="38100" dir="2700000" algn="tl">
                    <a:srgbClr val="000000"/>
                  </a:outerShdw>
                </a:effectLst>
                <a:latin typeface="Century Schoolbook" panose="02040604050505020304" pitchFamily="18" charset="0"/>
              </a:rPr>
              <a:t>Continuous digester </a:t>
            </a:r>
          </a:p>
          <a:p>
            <a:pPr>
              <a:defRPr/>
            </a:pPr>
            <a:r>
              <a:rPr lang="en-US" altLang="en-US" sz="2800" b="1" dirty="0">
                <a:effectLst>
                  <a:outerShdw blurRad="38100" dist="38100" dir="2700000" algn="tl">
                    <a:srgbClr val="000000"/>
                  </a:outerShdw>
                </a:effectLst>
                <a:latin typeface="Century Schoolbook" panose="02040604050505020304" pitchFamily="18" charset="0"/>
              </a:rPr>
              <a:t>Chip bin VS </a:t>
            </a:r>
            <a:r>
              <a:rPr lang="en-US" altLang="en-US" sz="2800" b="1" dirty="0" err="1">
                <a:effectLst>
                  <a:outerShdw blurRad="38100" dist="38100" dir="2700000" algn="tl">
                    <a:srgbClr val="000000"/>
                  </a:outerShdw>
                </a:effectLst>
                <a:latin typeface="Century Schoolbook" panose="02040604050505020304" pitchFamily="18" charset="0"/>
              </a:rPr>
              <a:t>Vibra</a:t>
            </a:r>
            <a:r>
              <a:rPr lang="en-US" altLang="en-US" sz="2800" b="1" dirty="0">
                <a:effectLst>
                  <a:outerShdw blurRad="38100" dist="38100" dir="2700000" algn="tl">
                    <a:srgbClr val="000000"/>
                  </a:outerShdw>
                </a:effectLst>
                <a:latin typeface="Century Schoolbook" panose="02040604050505020304" pitchFamily="18" charset="0"/>
              </a:rPr>
              <a:t> bin</a:t>
            </a:r>
          </a:p>
        </p:txBody>
      </p:sp>
      <p:sp>
        <p:nvSpPr>
          <p:cNvPr id="257030" name="Text Box 24"/>
          <p:cNvSpPr txBox="1">
            <a:spLocks noChangeArrowheads="1"/>
          </p:cNvSpPr>
          <p:nvPr/>
        </p:nvSpPr>
        <p:spPr bwMode="auto">
          <a:xfrm>
            <a:off x="4427538" y="2852738"/>
            <a:ext cx="4465637" cy="2308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400" b="1" u="sng">
                <a:latin typeface="Cordia New" panose="020B0304020202020204" pitchFamily="34" charset="-34"/>
                <a:cs typeface="Cordia New" panose="020B0304020202020204" pitchFamily="34" charset="-34"/>
              </a:rPr>
              <a:t>Vibra bin : ตำแหน่งและหน้าที่</a:t>
            </a:r>
            <a:endParaRPr lang="en-US" altLang="en-US" sz="2400" b="1">
              <a:latin typeface="Cordia New" panose="020B0304020202020204" pitchFamily="34" charset="-34"/>
              <a:cs typeface="Cordia New" panose="020B0304020202020204" pitchFamily="34" charset="-34"/>
            </a:endParaRPr>
          </a:p>
          <a:p>
            <a:pPr>
              <a:spcBef>
                <a:spcPct val="0"/>
              </a:spcBef>
              <a:buFontTx/>
              <a:buNone/>
            </a:pPr>
            <a:r>
              <a:rPr lang="en-US" altLang="en-US" sz="2400">
                <a:latin typeface="Cordia New" panose="020B0304020202020204" pitchFamily="34" charset="-34"/>
                <a:cs typeface="Cordia New" panose="020B0304020202020204" pitchFamily="34" charset="-34"/>
              </a:rPr>
              <a:t>	Vibra bin </a:t>
            </a:r>
            <a:r>
              <a:rPr lang="th-TH" altLang="en-US" sz="2400">
                <a:latin typeface="Cordia New" panose="020B0304020202020204" pitchFamily="34" charset="-34"/>
              </a:rPr>
              <a:t>อยู่ระหว่าง </a:t>
            </a:r>
            <a:r>
              <a:rPr lang="en-US" altLang="en-US" sz="2400">
                <a:latin typeface="Cordia New" panose="020B0304020202020204" pitchFamily="34" charset="-34"/>
                <a:cs typeface="Cordia New" panose="020B0304020202020204" pitchFamily="34" charset="-34"/>
              </a:rPr>
              <a:t>Chip  bin </a:t>
            </a:r>
            <a:r>
              <a:rPr lang="th-TH" altLang="en-US" sz="2400">
                <a:latin typeface="Cordia New" panose="020B0304020202020204" pitchFamily="34" charset="-34"/>
              </a:rPr>
              <a:t>และ</a:t>
            </a:r>
            <a:r>
              <a:rPr lang="en-US" altLang="en-US" sz="2400">
                <a:latin typeface="Cordia New" panose="020B0304020202020204" pitchFamily="34" charset="-34"/>
                <a:cs typeface="Cordia New" panose="020B0304020202020204" pitchFamily="34" charset="-34"/>
              </a:rPr>
              <a:t>ต</a:t>
            </a:r>
            <a:r>
              <a:rPr lang="th-TH" altLang="en-US" sz="2400">
                <a:latin typeface="Cordia New" panose="020B0304020202020204" pitchFamily="34" charset="-34"/>
              </a:rPr>
              <a:t>ั</a:t>
            </a:r>
            <a:r>
              <a:rPr lang="en-US" altLang="en-US" sz="2400">
                <a:latin typeface="Cordia New" panose="020B0304020202020204" pitchFamily="34" charset="-34"/>
                <a:cs typeface="Cordia New" panose="020B0304020202020204" pitchFamily="34" charset="-34"/>
              </a:rPr>
              <a:t>ว</a:t>
            </a:r>
            <a:r>
              <a:rPr lang="th-TH" altLang="en-US" sz="2400">
                <a:latin typeface="Cordia New" panose="020B0304020202020204" pitchFamily="34" charset="-34"/>
              </a:rPr>
              <a:t>ควบคุมปริมาณการป้อนของชิ้นไม้สับ</a:t>
            </a:r>
            <a:r>
              <a:rPr lang="en-US" altLang="en-US" sz="2400">
                <a:latin typeface="Cordia New" panose="020B0304020202020204" pitchFamily="34" charset="-34"/>
                <a:cs typeface="Cordia New" panose="020B0304020202020204" pitchFamily="34" charset="-34"/>
              </a:rPr>
              <a:t> (Chip meter ) มีหน้าที่ป้อนชิ้นไม้ออก Chip bin  ลงสู่ Chip Meter โดยอาศัยการสั่น </a:t>
            </a:r>
            <a:r>
              <a:rPr lang="th-TH" altLang="en-US" sz="2400">
                <a:latin typeface="Cordia New" panose="020B0304020202020204" pitchFamily="34" charset="-34"/>
              </a:rPr>
              <a:t>จาก</a:t>
            </a:r>
            <a:r>
              <a:rPr lang="en-US" altLang="en-US" sz="2400">
                <a:latin typeface="Cordia New" panose="020B0304020202020204" pitchFamily="34" charset="-34"/>
                <a:cs typeface="Cordia New" panose="020B0304020202020204" pitchFamily="34" charset="-34"/>
              </a:rPr>
              <a:t>Motor Vibration </a:t>
            </a:r>
            <a:r>
              <a:rPr lang="th-TH" altLang="en-US" sz="2400">
                <a:latin typeface="Cordia New" panose="020B0304020202020204" pitchFamily="34" charset="-34"/>
              </a:rPr>
              <a:t>ขนาด</a:t>
            </a:r>
            <a:r>
              <a:rPr lang="en-US" altLang="en-US" sz="2400">
                <a:latin typeface="Cordia New" panose="020B0304020202020204" pitchFamily="34" charset="-34"/>
                <a:cs typeface="Cordia New" panose="020B0304020202020204" pitchFamily="34" charset="-34"/>
              </a:rPr>
              <a:t> 5 แรงม้า </a:t>
            </a:r>
            <a:r>
              <a:rPr lang="th-TH" altLang="en-US" sz="2400">
                <a:latin typeface="Cordia New" panose="020B0304020202020204" pitchFamily="34" charset="-34"/>
              </a:rPr>
              <a:t>เพื่อให้ชิ้นไม้สับไหลออกจาก</a:t>
            </a:r>
            <a:r>
              <a:rPr lang="en-US" altLang="en-US" sz="2400">
                <a:latin typeface="Cordia New" panose="020B0304020202020204" pitchFamily="34" charset="-34"/>
                <a:cs typeface="Cordia New" panose="020B0304020202020204" pitchFamily="34" charset="-34"/>
              </a:rPr>
              <a:t> chip bin</a:t>
            </a:r>
          </a:p>
        </p:txBody>
      </p:sp>
    </p:spTree>
  </p:cSld>
  <p:clrMapOvr>
    <a:masterClrMapping/>
  </p:clrMapOvr>
  <p:transition/>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8050" name="Picture 2" descr="mr18^0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1863" y="1047750"/>
            <a:ext cx="4799012" cy="5329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8051" name="Freeform 5"/>
          <p:cNvSpPr>
            <a:spLocks/>
          </p:cNvSpPr>
          <p:nvPr/>
        </p:nvSpPr>
        <p:spPr bwMode="auto">
          <a:xfrm flipV="1">
            <a:off x="5756275" y="2932113"/>
            <a:ext cx="2560638" cy="469900"/>
          </a:xfrm>
          <a:custGeom>
            <a:avLst/>
            <a:gdLst>
              <a:gd name="T0" fmla="*/ 2147483646 w 1724"/>
              <a:gd name="T1" fmla="*/ 0 h 680"/>
              <a:gd name="T2" fmla="*/ 2147483646 w 1724"/>
              <a:gd name="T3" fmla="*/ 0 h 680"/>
              <a:gd name="T4" fmla="*/ 2147483646 w 1724"/>
              <a:gd name="T5" fmla="*/ 2147483646 h 680"/>
              <a:gd name="T6" fmla="*/ 0 w 1724"/>
              <a:gd name="T7" fmla="*/ 2147483646 h 68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24" h="680">
                <a:moveTo>
                  <a:pt x="1724" y="0"/>
                </a:moveTo>
                <a:lnTo>
                  <a:pt x="862" y="0"/>
                </a:lnTo>
                <a:lnTo>
                  <a:pt x="862" y="680"/>
                </a:lnTo>
                <a:lnTo>
                  <a:pt x="0" y="680"/>
                </a:lnTo>
              </a:path>
            </a:pathLst>
          </a:custGeom>
          <a:noFill/>
          <a:ln w="38100" cmpd="sng">
            <a:solidFill>
              <a:srgbClr val="FF00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58052" name="Text Box 6"/>
          <p:cNvSpPr txBox="1">
            <a:spLocks noChangeArrowheads="1"/>
          </p:cNvSpPr>
          <p:nvPr/>
        </p:nvSpPr>
        <p:spPr bwMode="auto">
          <a:xfrm>
            <a:off x="7097713" y="4545013"/>
            <a:ext cx="1919287" cy="915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a:latin typeface="Century Schoolbook" panose="02040604050505020304" pitchFamily="18" charset="0"/>
                <a:cs typeface="Arial" panose="020B0604020202020204" pitchFamily="34" charset="0"/>
              </a:rPr>
              <a:t>Flash steam </a:t>
            </a:r>
          </a:p>
          <a:p>
            <a:pPr>
              <a:spcBef>
                <a:spcPct val="0"/>
              </a:spcBef>
              <a:buFontTx/>
              <a:buNone/>
            </a:pPr>
            <a:r>
              <a:rPr lang="en-US" altLang="en-US" sz="1800">
                <a:latin typeface="Century Schoolbook" panose="02040604050505020304" pitchFamily="18" charset="0"/>
                <a:cs typeface="Arial" panose="020B0604020202020204" pitchFamily="34" charset="0"/>
              </a:rPr>
              <a:t>from flash cyclone no.2</a:t>
            </a:r>
          </a:p>
        </p:txBody>
      </p:sp>
      <p:sp>
        <p:nvSpPr>
          <p:cNvPr id="258053" name="Text Box 7"/>
          <p:cNvSpPr txBox="1">
            <a:spLocks noChangeArrowheads="1"/>
          </p:cNvSpPr>
          <p:nvPr/>
        </p:nvSpPr>
        <p:spPr bwMode="auto">
          <a:xfrm>
            <a:off x="7097713" y="3011488"/>
            <a:ext cx="12954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a:spcBef>
                <a:spcPct val="0"/>
              </a:spcBef>
              <a:buFontTx/>
              <a:buNone/>
            </a:pPr>
            <a:r>
              <a:rPr lang="en-US" altLang="en-US" sz="1800">
                <a:latin typeface="Century Schoolbook" panose="02040604050505020304" pitchFamily="18" charset="0"/>
                <a:cs typeface="Arial" panose="020B0604020202020204" pitchFamily="34" charset="0"/>
              </a:rPr>
              <a:t>LP Steam</a:t>
            </a:r>
          </a:p>
        </p:txBody>
      </p:sp>
      <p:sp>
        <p:nvSpPr>
          <p:cNvPr id="258054" name="Text Box 8"/>
          <p:cNvSpPr txBox="1">
            <a:spLocks noChangeArrowheads="1"/>
          </p:cNvSpPr>
          <p:nvPr/>
        </p:nvSpPr>
        <p:spPr bwMode="auto">
          <a:xfrm>
            <a:off x="0" y="1701800"/>
            <a:ext cx="2921000" cy="1465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Clr>
                <a:schemeClr val="accent1"/>
              </a:buClr>
              <a:buFont typeface="Wingdings" panose="05000000000000000000" pitchFamily="2" charset="2"/>
              <a:buNone/>
            </a:pPr>
            <a:endParaRPr lang="th-TH" altLang="en-US" sz="1800">
              <a:latin typeface="Century Schoolbook" panose="02040604050505020304" pitchFamily="18" charset="0"/>
              <a:cs typeface="Arial" panose="020B0604020202020204" pitchFamily="34" charset="0"/>
            </a:endParaRPr>
          </a:p>
          <a:p>
            <a:pPr>
              <a:spcBef>
                <a:spcPct val="0"/>
              </a:spcBef>
              <a:buClr>
                <a:schemeClr val="accent1"/>
              </a:buClr>
              <a:buFont typeface="Wingdings" panose="05000000000000000000" pitchFamily="2" charset="2"/>
              <a:buChar char="l"/>
            </a:pPr>
            <a:r>
              <a:rPr lang="en-US" altLang="en-US" sz="1800">
                <a:latin typeface="Century Schoolbook" panose="02040604050505020304" pitchFamily="18" charset="0"/>
                <a:cs typeface="Arial" panose="020B0604020202020204" pitchFamily="34" charset="0"/>
              </a:rPr>
              <a:t> Motor No.1 runs </a:t>
            </a:r>
          </a:p>
          <a:p>
            <a:pPr>
              <a:spcBef>
                <a:spcPct val="0"/>
              </a:spcBef>
              <a:buClr>
                <a:schemeClr val="accent1"/>
              </a:buClr>
              <a:buFont typeface="Wingdings" panose="05000000000000000000" pitchFamily="2" charset="2"/>
              <a:buNone/>
            </a:pPr>
            <a:r>
              <a:rPr lang="en-US" altLang="en-US" sz="1800">
                <a:latin typeface="Century Schoolbook" panose="02040604050505020304" pitchFamily="18" charset="0"/>
                <a:cs typeface="Arial" panose="020B0604020202020204" pitchFamily="34" charset="0"/>
              </a:rPr>
              <a:t>continuously while motor </a:t>
            </a:r>
          </a:p>
          <a:p>
            <a:pPr>
              <a:spcBef>
                <a:spcPct val="0"/>
              </a:spcBef>
              <a:buClr>
                <a:schemeClr val="accent1"/>
              </a:buClr>
              <a:buFont typeface="Wingdings" panose="05000000000000000000" pitchFamily="2" charset="2"/>
              <a:buNone/>
            </a:pPr>
            <a:r>
              <a:rPr lang="en-US" altLang="en-US" sz="1800">
                <a:latin typeface="Century Schoolbook" panose="02040604050505020304" pitchFamily="18" charset="0"/>
                <a:cs typeface="Arial" panose="020B0604020202020204" pitchFamily="34" charset="0"/>
              </a:rPr>
              <a:t>no.2 runs intermittently </a:t>
            </a:r>
          </a:p>
          <a:p>
            <a:pPr>
              <a:spcBef>
                <a:spcPct val="0"/>
              </a:spcBef>
              <a:buClr>
                <a:schemeClr val="accent1"/>
              </a:buClr>
              <a:buFont typeface="Wingdings" panose="05000000000000000000" pitchFamily="2" charset="2"/>
              <a:buNone/>
            </a:pPr>
            <a:r>
              <a:rPr lang="en-US" altLang="en-US" sz="1800">
                <a:latin typeface="Century Schoolbook" panose="02040604050505020304" pitchFamily="18" charset="0"/>
                <a:cs typeface="Arial" panose="020B0604020202020204" pitchFamily="34" charset="0"/>
              </a:rPr>
              <a:t>with 20s on and 20s off.</a:t>
            </a:r>
            <a:endParaRPr lang="th-TH" altLang="en-US" sz="1400">
              <a:latin typeface="Century Schoolbook" panose="02040604050505020304" pitchFamily="18" charset="0"/>
              <a:cs typeface="Arial" panose="020B0604020202020204" pitchFamily="34" charset="0"/>
            </a:endParaRPr>
          </a:p>
        </p:txBody>
      </p:sp>
      <p:sp>
        <p:nvSpPr>
          <p:cNvPr id="258055" name="Freeform 9"/>
          <p:cNvSpPr>
            <a:spLocks/>
          </p:cNvSpPr>
          <p:nvPr/>
        </p:nvSpPr>
        <p:spPr bwMode="auto">
          <a:xfrm>
            <a:off x="5257800" y="3744913"/>
            <a:ext cx="3048000" cy="800100"/>
          </a:xfrm>
          <a:custGeom>
            <a:avLst/>
            <a:gdLst>
              <a:gd name="T0" fmla="*/ 2147483646 w 1920"/>
              <a:gd name="T1" fmla="*/ 2147483646 h 384"/>
              <a:gd name="T2" fmla="*/ 2147483646 w 1920"/>
              <a:gd name="T3" fmla="*/ 2147483646 h 384"/>
              <a:gd name="T4" fmla="*/ 0 w 1920"/>
              <a:gd name="T5" fmla="*/ 0 h 384"/>
              <a:gd name="T6" fmla="*/ 0 60000 65536"/>
              <a:gd name="T7" fmla="*/ 0 60000 65536"/>
              <a:gd name="T8" fmla="*/ 0 60000 65536"/>
            </a:gdLst>
            <a:ahLst/>
            <a:cxnLst>
              <a:cxn ang="T6">
                <a:pos x="T0" y="T1"/>
              </a:cxn>
              <a:cxn ang="T7">
                <a:pos x="T2" y="T3"/>
              </a:cxn>
              <a:cxn ang="T8">
                <a:pos x="T4" y="T5"/>
              </a:cxn>
            </a:cxnLst>
            <a:rect l="0" t="0" r="r" b="b"/>
            <a:pathLst>
              <a:path w="1920" h="384">
                <a:moveTo>
                  <a:pt x="1920" y="384"/>
                </a:moveTo>
                <a:lnTo>
                  <a:pt x="240" y="384"/>
                </a:lnTo>
                <a:lnTo>
                  <a:pt x="0" y="0"/>
                </a:lnTo>
              </a:path>
            </a:pathLst>
          </a:custGeom>
          <a:noFill/>
          <a:ln w="38100">
            <a:solidFill>
              <a:srgbClr val="FF00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68971" name="Text Box 11"/>
          <p:cNvSpPr txBox="1">
            <a:spLocks noChangeArrowheads="1"/>
          </p:cNvSpPr>
          <p:nvPr/>
        </p:nvSpPr>
        <p:spPr bwMode="auto">
          <a:xfrm>
            <a:off x="611188" y="200025"/>
            <a:ext cx="5145087" cy="1068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3600" b="1" dirty="0">
                <a:solidFill>
                  <a:srgbClr val="FF0000"/>
                </a:solidFill>
                <a:effectLst>
                  <a:outerShdw blurRad="38100" dist="38100" dir="2700000" algn="tl">
                    <a:srgbClr val="000000"/>
                  </a:outerShdw>
                </a:effectLst>
                <a:latin typeface="Century Schoolbook" panose="02040604050505020304" pitchFamily="18" charset="0"/>
              </a:rPr>
              <a:t>Continuous digester </a:t>
            </a:r>
          </a:p>
          <a:p>
            <a:pPr>
              <a:defRPr/>
            </a:pPr>
            <a:r>
              <a:rPr lang="en-US" altLang="en-US" sz="2800" b="1" dirty="0">
                <a:effectLst>
                  <a:outerShdw blurRad="38100" dist="38100" dir="2700000" algn="tl">
                    <a:srgbClr val="000000"/>
                  </a:outerShdw>
                </a:effectLst>
                <a:latin typeface="Century Schoolbook" panose="02040604050505020304" pitchFamily="18" charset="0"/>
              </a:rPr>
              <a:t>Chip bin VS </a:t>
            </a:r>
            <a:r>
              <a:rPr lang="en-US" altLang="en-US" sz="2800" b="1" dirty="0" err="1">
                <a:effectLst>
                  <a:outerShdw blurRad="38100" dist="38100" dir="2700000" algn="tl">
                    <a:srgbClr val="000000"/>
                  </a:outerShdw>
                </a:effectLst>
                <a:latin typeface="Century Schoolbook" panose="02040604050505020304" pitchFamily="18" charset="0"/>
              </a:rPr>
              <a:t>Vibra</a:t>
            </a:r>
            <a:r>
              <a:rPr lang="en-US" altLang="en-US" sz="2800" b="1" dirty="0">
                <a:effectLst>
                  <a:outerShdw blurRad="38100" dist="38100" dir="2700000" algn="tl">
                    <a:srgbClr val="000000"/>
                  </a:outerShdw>
                </a:effectLst>
                <a:latin typeface="Century Schoolbook" panose="02040604050505020304" pitchFamily="18" charset="0"/>
              </a:rPr>
              <a:t> bin</a:t>
            </a:r>
          </a:p>
        </p:txBody>
      </p:sp>
    </p:spTree>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Rectangle 23"/>
          <p:cNvSpPr>
            <a:spLocks noChangeArrowheads="1"/>
          </p:cNvSpPr>
          <p:nvPr/>
        </p:nvSpPr>
        <p:spPr bwMode="auto">
          <a:xfrm>
            <a:off x="6011863" y="933450"/>
            <a:ext cx="228600" cy="228600"/>
          </a:xfrm>
          <a:prstGeom prst="rect">
            <a:avLst/>
          </a:prstGeom>
          <a:solidFill>
            <a:srgbClr val="66FFFF">
              <a:alpha val="50195"/>
            </a:srgbClr>
          </a:solidFill>
          <a:ln w="19050">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grpSp>
        <p:nvGrpSpPr>
          <p:cNvPr id="259075" name="Group 26"/>
          <p:cNvGrpSpPr>
            <a:grpSpLocks/>
          </p:cNvGrpSpPr>
          <p:nvPr/>
        </p:nvGrpSpPr>
        <p:grpSpPr bwMode="auto">
          <a:xfrm>
            <a:off x="5943600" y="481013"/>
            <a:ext cx="1066800" cy="1981200"/>
            <a:chOff x="48" y="609"/>
            <a:chExt cx="96" cy="176"/>
          </a:xfrm>
        </p:grpSpPr>
        <p:sp>
          <p:nvSpPr>
            <p:cNvPr id="259080" name="Freeform 27"/>
            <p:cNvSpPr>
              <a:spLocks/>
            </p:cNvSpPr>
            <p:nvPr/>
          </p:nvSpPr>
          <p:spPr bwMode="auto">
            <a:xfrm>
              <a:off x="58" y="653"/>
              <a:ext cx="10" cy="9"/>
            </a:xfrm>
            <a:custGeom>
              <a:avLst/>
              <a:gdLst>
                <a:gd name="T0" fmla="*/ 2 w 10"/>
                <a:gd name="T1" fmla="*/ 5 h 10"/>
                <a:gd name="T2" fmla="*/ 0 w 10"/>
                <a:gd name="T3" fmla="*/ 0 h 10"/>
                <a:gd name="T4" fmla="*/ 9 w 10"/>
                <a:gd name="T5" fmla="*/ 0 h 10"/>
                <a:gd name="T6" fmla="*/ 10 w 10"/>
                <a:gd name="T7" fmla="*/ 5 h 1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 h="10">
                  <a:moveTo>
                    <a:pt x="2" y="10"/>
                  </a:moveTo>
                  <a:lnTo>
                    <a:pt x="0" y="0"/>
                  </a:lnTo>
                  <a:lnTo>
                    <a:pt x="9" y="0"/>
                  </a:lnTo>
                  <a:lnTo>
                    <a:pt x="10" y="6"/>
                  </a:lnTo>
                </a:path>
              </a:pathLst>
            </a:custGeom>
            <a:gradFill rotWithShape="0">
              <a:gsLst>
                <a:gs pos="0">
                  <a:srgbClr val="808080"/>
                </a:gs>
                <a:gs pos="50000">
                  <a:srgbClr val="FFFFFF"/>
                </a:gs>
                <a:gs pos="100000">
                  <a:srgbClr val="808080"/>
                </a:gs>
              </a:gsLst>
              <a:lin ang="0" scaled="1"/>
            </a:gradFill>
            <a:ln w="9525">
              <a:solidFill>
                <a:srgbClr val="000000"/>
              </a:solidFill>
              <a:round/>
              <a:headEnd/>
              <a:tailEnd/>
            </a:ln>
          </p:spPr>
          <p:txBody>
            <a:bodyPr/>
            <a:lstStyle/>
            <a:p>
              <a:endParaRPr lang="en-US"/>
            </a:p>
          </p:txBody>
        </p:sp>
        <p:grpSp>
          <p:nvGrpSpPr>
            <p:cNvPr id="259081" name="Group 28"/>
            <p:cNvGrpSpPr>
              <a:grpSpLocks/>
            </p:cNvGrpSpPr>
            <p:nvPr/>
          </p:nvGrpSpPr>
          <p:grpSpPr bwMode="auto">
            <a:xfrm>
              <a:off x="125" y="750"/>
              <a:ext cx="19" cy="18"/>
              <a:chOff x="125" y="750"/>
              <a:chExt cx="19" cy="18"/>
            </a:xfrm>
          </p:grpSpPr>
          <p:sp>
            <p:nvSpPr>
              <p:cNvPr id="259094" name="AutoShape 29"/>
              <p:cNvSpPr>
                <a:spLocks noChangeArrowheads="1"/>
              </p:cNvSpPr>
              <p:nvPr/>
            </p:nvSpPr>
            <p:spPr bwMode="auto">
              <a:xfrm>
                <a:off x="125" y="750"/>
                <a:ext cx="19" cy="18"/>
              </a:xfrm>
              <a:prstGeom prst="plaque">
                <a:avLst>
                  <a:gd name="adj" fmla="val 16667"/>
                </a:avLst>
              </a:prstGeom>
              <a:gradFill rotWithShape="1">
                <a:gsLst>
                  <a:gs pos="0">
                    <a:srgbClr val="808080"/>
                  </a:gs>
                  <a:gs pos="50000">
                    <a:srgbClr val="FFFFFF"/>
                  </a:gs>
                  <a:gs pos="100000">
                    <a:srgbClr val="80808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59095" name="Oval 30"/>
              <p:cNvSpPr>
                <a:spLocks noChangeArrowheads="1"/>
              </p:cNvSpPr>
              <p:nvPr/>
            </p:nvSpPr>
            <p:spPr bwMode="auto">
              <a:xfrm>
                <a:off x="128" y="752"/>
                <a:ext cx="13" cy="13"/>
              </a:xfrm>
              <a:prstGeom prst="ellipse">
                <a:avLst/>
              </a:prstGeom>
              <a:solidFill>
                <a:srgbClr val="FFFFFF"/>
              </a:solidFill>
              <a:ln w="9525">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grpSp>
        <p:sp>
          <p:nvSpPr>
            <p:cNvPr id="259082" name="Rectangle 31"/>
            <p:cNvSpPr>
              <a:spLocks noChangeArrowheads="1"/>
            </p:cNvSpPr>
            <p:nvPr/>
          </p:nvSpPr>
          <p:spPr bwMode="auto">
            <a:xfrm>
              <a:off x="131" y="698"/>
              <a:ext cx="8" cy="52"/>
            </a:xfrm>
            <a:prstGeom prst="rect">
              <a:avLst/>
            </a:prstGeom>
            <a:gradFill rotWithShape="1">
              <a:gsLst>
                <a:gs pos="0">
                  <a:srgbClr val="808080"/>
                </a:gs>
                <a:gs pos="50000">
                  <a:srgbClr val="FFFFFF"/>
                </a:gs>
                <a:gs pos="100000">
                  <a:srgbClr val="80808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59083" name="Freeform 32"/>
            <p:cNvSpPr>
              <a:spLocks/>
            </p:cNvSpPr>
            <p:nvPr/>
          </p:nvSpPr>
          <p:spPr bwMode="auto">
            <a:xfrm>
              <a:off x="78" y="725"/>
              <a:ext cx="57" cy="60"/>
            </a:xfrm>
            <a:custGeom>
              <a:avLst/>
              <a:gdLst>
                <a:gd name="T0" fmla="*/ 57 w 57"/>
                <a:gd name="T1" fmla="*/ 43 h 60"/>
                <a:gd name="T2" fmla="*/ 57 w 57"/>
                <a:gd name="T3" fmla="*/ 60 h 60"/>
                <a:gd name="T4" fmla="*/ 0 w 57"/>
                <a:gd name="T5" fmla="*/ 60 h 60"/>
                <a:gd name="T6" fmla="*/ 0 w 57"/>
                <a:gd name="T7" fmla="*/ 0 h 60"/>
                <a:gd name="T8" fmla="*/ 53 w 57"/>
                <a:gd name="T9" fmla="*/ 0 h 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 h="60">
                  <a:moveTo>
                    <a:pt x="57" y="43"/>
                  </a:moveTo>
                  <a:lnTo>
                    <a:pt x="57" y="60"/>
                  </a:lnTo>
                  <a:lnTo>
                    <a:pt x="0" y="60"/>
                  </a:lnTo>
                  <a:lnTo>
                    <a:pt x="0" y="0"/>
                  </a:lnTo>
                  <a:lnTo>
                    <a:pt x="53" y="0"/>
                  </a:lnTo>
                </a:path>
              </a:pathLst>
            </a:custGeom>
            <a:noFill/>
            <a:ln w="9525">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259084" name="Group 33"/>
            <p:cNvGrpSpPr>
              <a:grpSpLocks/>
            </p:cNvGrpSpPr>
            <p:nvPr/>
          </p:nvGrpSpPr>
          <p:grpSpPr bwMode="auto">
            <a:xfrm>
              <a:off x="62" y="685"/>
              <a:ext cx="77" cy="13"/>
              <a:chOff x="62" y="685"/>
              <a:chExt cx="77" cy="13"/>
            </a:xfrm>
          </p:grpSpPr>
          <p:sp>
            <p:nvSpPr>
              <p:cNvPr id="259092" name="Rectangle 34"/>
              <p:cNvSpPr>
                <a:spLocks noChangeArrowheads="1"/>
              </p:cNvSpPr>
              <p:nvPr/>
            </p:nvSpPr>
            <p:spPr bwMode="auto">
              <a:xfrm>
                <a:off x="62" y="685"/>
                <a:ext cx="77" cy="13"/>
              </a:xfrm>
              <a:prstGeom prst="rect">
                <a:avLst/>
              </a:prstGeom>
              <a:gradFill rotWithShape="1">
                <a:gsLst>
                  <a:gs pos="0">
                    <a:srgbClr val="808080"/>
                  </a:gs>
                  <a:gs pos="50000">
                    <a:srgbClr val="FFFFFF"/>
                  </a:gs>
                  <a:gs pos="100000">
                    <a:srgbClr val="80808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59093" name="Freeform 35"/>
              <p:cNvSpPr>
                <a:spLocks/>
              </p:cNvSpPr>
              <p:nvPr/>
            </p:nvSpPr>
            <p:spPr bwMode="auto">
              <a:xfrm>
                <a:off x="65" y="685"/>
                <a:ext cx="74" cy="13"/>
              </a:xfrm>
              <a:custGeom>
                <a:avLst/>
                <a:gdLst>
                  <a:gd name="T0" fmla="*/ 0 w 74"/>
                  <a:gd name="T1" fmla="*/ 0 h 13"/>
                  <a:gd name="T2" fmla="*/ 5 w 74"/>
                  <a:gd name="T3" fmla="*/ 13 h 13"/>
                  <a:gd name="T4" fmla="*/ 11 w 74"/>
                  <a:gd name="T5" fmla="*/ 0 h 13"/>
                  <a:gd name="T6" fmla="*/ 16 w 74"/>
                  <a:gd name="T7" fmla="*/ 13 h 13"/>
                  <a:gd name="T8" fmla="*/ 22 w 74"/>
                  <a:gd name="T9" fmla="*/ 0 h 13"/>
                  <a:gd name="T10" fmla="*/ 27 w 74"/>
                  <a:gd name="T11" fmla="*/ 13 h 13"/>
                  <a:gd name="T12" fmla="*/ 34 w 74"/>
                  <a:gd name="T13" fmla="*/ 0 h 13"/>
                  <a:gd name="T14" fmla="*/ 39 w 74"/>
                  <a:gd name="T15" fmla="*/ 13 h 13"/>
                  <a:gd name="T16" fmla="*/ 46 w 74"/>
                  <a:gd name="T17" fmla="*/ 0 h 13"/>
                  <a:gd name="T18" fmla="*/ 50 w 74"/>
                  <a:gd name="T19" fmla="*/ 13 h 13"/>
                  <a:gd name="T20" fmla="*/ 56 w 74"/>
                  <a:gd name="T21" fmla="*/ 0 h 13"/>
                  <a:gd name="T22" fmla="*/ 61 w 74"/>
                  <a:gd name="T23" fmla="*/ 13 h 13"/>
                  <a:gd name="T24" fmla="*/ 67 w 74"/>
                  <a:gd name="T25" fmla="*/ 0 h 13"/>
                  <a:gd name="T26" fmla="*/ 74 w 74"/>
                  <a:gd name="T27" fmla="*/ 13 h 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3">
                    <a:moveTo>
                      <a:pt x="0" y="0"/>
                    </a:moveTo>
                    <a:lnTo>
                      <a:pt x="5" y="13"/>
                    </a:lnTo>
                    <a:lnTo>
                      <a:pt x="11" y="0"/>
                    </a:lnTo>
                    <a:lnTo>
                      <a:pt x="16" y="13"/>
                    </a:lnTo>
                    <a:lnTo>
                      <a:pt x="22" y="0"/>
                    </a:lnTo>
                    <a:lnTo>
                      <a:pt x="27" y="13"/>
                    </a:lnTo>
                    <a:lnTo>
                      <a:pt x="34" y="0"/>
                    </a:lnTo>
                    <a:lnTo>
                      <a:pt x="39" y="13"/>
                    </a:lnTo>
                    <a:lnTo>
                      <a:pt x="46" y="0"/>
                    </a:lnTo>
                    <a:lnTo>
                      <a:pt x="50" y="13"/>
                    </a:lnTo>
                    <a:lnTo>
                      <a:pt x="56" y="0"/>
                    </a:lnTo>
                    <a:lnTo>
                      <a:pt x="61" y="13"/>
                    </a:lnTo>
                    <a:lnTo>
                      <a:pt x="67" y="0"/>
                    </a:lnTo>
                    <a:lnTo>
                      <a:pt x="74" y="13"/>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59085" name="Rectangle 36"/>
            <p:cNvSpPr>
              <a:spLocks noChangeArrowheads="1"/>
            </p:cNvSpPr>
            <p:nvPr/>
          </p:nvSpPr>
          <p:spPr bwMode="auto">
            <a:xfrm>
              <a:off x="62" y="663"/>
              <a:ext cx="7" cy="9"/>
            </a:xfrm>
            <a:prstGeom prst="rect">
              <a:avLst/>
            </a:prstGeom>
            <a:gradFill rotWithShape="0">
              <a:gsLst>
                <a:gs pos="0">
                  <a:srgbClr val="808080"/>
                </a:gs>
                <a:gs pos="50000">
                  <a:srgbClr val="FFFFFF"/>
                </a:gs>
                <a:gs pos="100000">
                  <a:srgbClr val="80808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59086" name="Rectangle 37"/>
            <p:cNvSpPr>
              <a:spLocks noChangeArrowheads="1"/>
            </p:cNvSpPr>
            <p:nvPr/>
          </p:nvSpPr>
          <p:spPr bwMode="auto">
            <a:xfrm>
              <a:off x="62" y="676"/>
              <a:ext cx="7" cy="9"/>
            </a:xfrm>
            <a:prstGeom prst="rect">
              <a:avLst/>
            </a:prstGeom>
            <a:gradFill rotWithShape="0">
              <a:gsLst>
                <a:gs pos="0">
                  <a:srgbClr val="808080"/>
                </a:gs>
                <a:gs pos="50000">
                  <a:srgbClr val="FFFFFF"/>
                </a:gs>
                <a:gs pos="100000">
                  <a:srgbClr val="80808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59087" name="Oval 38"/>
            <p:cNvSpPr>
              <a:spLocks noChangeArrowheads="1"/>
            </p:cNvSpPr>
            <p:nvPr/>
          </p:nvSpPr>
          <p:spPr bwMode="auto">
            <a:xfrm>
              <a:off x="60" y="670"/>
              <a:ext cx="10" cy="10"/>
            </a:xfrm>
            <a:prstGeom prst="ellipse">
              <a:avLst/>
            </a:prstGeom>
            <a:gradFill rotWithShape="0">
              <a:gsLst>
                <a:gs pos="0">
                  <a:srgbClr val="808080"/>
                </a:gs>
                <a:gs pos="50000">
                  <a:srgbClr val="FFFFFF"/>
                </a:gs>
                <a:gs pos="100000">
                  <a:srgbClr val="808080"/>
                </a:gs>
              </a:gsLst>
              <a:lin ang="0" scaled="1"/>
            </a:gradFill>
            <a:ln w="9525">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59088" name="AutoShape 39"/>
            <p:cNvSpPr>
              <a:spLocks noChangeArrowheads="1"/>
            </p:cNvSpPr>
            <p:nvPr/>
          </p:nvSpPr>
          <p:spPr bwMode="auto">
            <a:xfrm rot="5400000">
              <a:off x="60" y="633"/>
              <a:ext cx="5" cy="29"/>
            </a:xfrm>
            <a:prstGeom prst="flowChartDelay">
              <a:avLst/>
            </a:prstGeom>
            <a:gradFill rotWithShape="0">
              <a:gsLst>
                <a:gs pos="0">
                  <a:srgbClr val="808080"/>
                </a:gs>
                <a:gs pos="50000">
                  <a:srgbClr val="FFFFFF"/>
                </a:gs>
                <a:gs pos="100000">
                  <a:srgbClr val="80808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59089" name="Oval 40"/>
            <p:cNvSpPr>
              <a:spLocks noChangeArrowheads="1"/>
            </p:cNvSpPr>
            <p:nvPr/>
          </p:nvSpPr>
          <p:spPr bwMode="auto">
            <a:xfrm>
              <a:off x="60" y="657"/>
              <a:ext cx="10" cy="10"/>
            </a:xfrm>
            <a:prstGeom prst="ellipse">
              <a:avLst/>
            </a:prstGeom>
            <a:gradFill rotWithShape="0">
              <a:gsLst>
                <a:gs pos="0">
                  <a:srgbClr val="808080"/>
                </a:gs>
                <a:gs pos="50000">
                  <a:srgbClr val="FFFFFF"/>
                </a:gs>
                <a:gs pos="100000">
                  <a:srgbClr val="808080"/>
                </a:gs>
              </a:gsLst>
              <a:lin ang="0" scaled="1"/>
            </a:gradFill>
            <a:ln w="9525">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59090" name="Rectangle 41"/>
            <p:cNvSpPr>
              <a:spLocks noChangeArrowheads="1"/>
            </p:cNvSpPr>
            <p:nvPr/>
          </p:nvSpPr>
          <p:spPr bwMode="auto">
            <a:xfrm>
              <a:off x="56" y="650"/>
              <a:ext cx="12" cy="3"/>
            </a:xfrm>
            <a:prstGeom prst="rect">
              <a:avLst/>
            </a:prstGeom>
            <a:gradFill rotWithShape="0">
              <a:gsLst>
                <a:gs pos="0">
                  <a:srgbClr val="808080"/>
                </a:gs>
                <a:gs pos="50000">
                  <a:srgbClr val="FFFFFF"/>
                </a:gs>
                <a:gs pos="100000">
                  <a:srgbClr val="80808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59091" name="Rectangle 42"/>
            <p:cNvSpPr>
              <a:spLocks noChangeArrowheads="1"/>
            </p:cNvSpPr>
            <p:nvPr/>
          </p:nvSpPr>
          <p:spPr bwMode="auto">
            <a:xfrm>
              <a:off x="48" y="609"/>
              <a:ext cx="29" cy="36"/>
            </a:xfrm>
            <a:prstGeom prst="rect">
              <a:avLst/>
            </a:prstGeom>
            <a:gradFill rotWithShape="1">
              <a:gsLst>
                <a:gs pos="0">
                  <a:srgbClr val="808080"/>
                </a:gs>
                <a:gs pos="50000">
                  <a:srgbClr val="FFFFFF"/>
                </a:gs>
                <a:gs pos="100000">
                  <a:srgbClr val="80808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grpSp>
      <p:sp>
        <p:nvSpPr>
          <p:cNvPr id="173060" name="Text Box 4"/>
          <p:cNvSpPr txBox="1">
            <a:spLocks noChangeArrowheads="1"/>
          </p:cNvSpPr>
          <p:nvPr/>
        </p:nvSpPr>
        <p:spPr bwMode="auto">
          <a:xfrm>
            <a:off x="4787900" y="2997200"/>
            <a:ext cx="4032250" cy="1465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accent1"/>
              </a:buClr>
              <a:buFont typeface="Wingdings" panose="05000000000000000000" pitchFamily="2" charset="2"/>
              <a:buChar char="l"/>
              <a:defRPr/>
            </a:pPr>
            <a:r>
              <a:rPr lang="en-US" altLang="en-US">
                <a:latin typeface="Century Schoolbook" panose="02040604050505020304" pitchFamily="18" charset="0"/>
                <a:cs typeface="Arial" panose="020B0604020202020204" pitchFamily="34" charset="0"/>
              </a:rPr>
              <a:t> </a:t>
            </a:r>
            <a:r>
              <a:rPr lang="en-US" altLang="en-US" b="1">
                <a:effectLst>
                  <a:outerShdw blurRad="38100" dist="38100" dir="2700000" algn="tl">
                    <a:srgbClr val="000000"/>
                  </a:outerShdw>
                </a:effectLst>
                <a:latin typeface="Century Schoolbook" panose="02040604050505020304" pitchFamily="18" charset="0"/>
                <a:cs typeface="Arial" panose="020B0604020202020204" pitchFamily="34" charset="0"/>
              </a:rPr>
              <a:t>The rotor in chip meter</a:t>
            </a:r>
            <a:r>
              <a:rPr lang="en-US" altLang="en-US">
                <a:latin typeface="Century Schoolbook" panose="02040604050505020304" pitchFamily="18" charset="0"/>
                <a:cs typeface="Arial" panose="020B0604020202020204" pitchFamily="34" charset="0"/>
              </a:rPr>
              <a:t> is equipped with 7 pockets, which feed a pre-determined quantity of chip forward per revolution. The rotor rotates clockwise.</a:t>
            </a:r>
          </a:p>
        </p:txBody>
      </p:sp>
      <p:sp>
        <p:nvSpPr>
          <p:cNvPr id="173061" name="Text Box 5"/>
          <p:cNvSpPr txBox="1">
            <a:spLocks noChangeArrowheads="1"/>
          </p:cNvSpPr>
          <p:nvPr/>
        </p:nvSpPr>
        <p:spPr bwMode="auto">
          <a:xfrm>
            <a:off x="4787900" y="4652963"/>
            <a:ext cx="4176713" cy="915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accent1"/>
              </a:buClr>
              <a:buFont typeface="Wingdings" panose="05000000000000000000" pitchFamily="2" charset="2"/>
              <a:buChar char="l"/>
              <a:defRPr/>
            </a:pPr>
            <a:r>
              <a:rPr lang="en-US" altLang="en-US" i="1" dirty="0">
                <a:latin typeface="Century Schoolbook" panose="02040604050505020304" pitchFamily="18" charset="0"/>
                <a:cs typeface="Arial" panose="020B0604020202020204" pitchFamily="34" charset="0"/>
              </a:rPr>
              <a:t> </a:t>
            </a:r>
            <a:r>
              <a:rPr lang="en-US" altLang="en-US" b="1" i="1" dirty="0">
                <a:solidFill>
                  <a:srgbClr val="FF0000"/>
                </a:solidFill>
                <a:effectLst>
                  <a:outerShdw blurRad="38100" dist="38100" dir="2700000" algn="tl">
                    <a:srgbClr val="000000"/>
                  </a:outerShdw>
                </a:effectLst>
                <a:latin typeface="Century Schoolbook" panose="02040604050505020304" pitchFamily="18" charset="0"/>
                <a:cs typeface="Arial" panose="020B0604020202020204" pitchFamily="34" charset="0"/>
              </a:rPr>
              <a:t>Chip meter</a:t>
            </a:r>
            <a:r>
              <a:rPr lang="en-US" altLang="en-US" i="1" dirty="0">
                <a:solidFill>
                  <a:srgbClr val="FF0000"/>
                </a:solidFill>
                <a:latin typeface="Century Schoolbook" panose="02040604050505020304" pitchFamily="18" charset="0"/>
                <a:cs typeface="Arial" panose="020B0604020202020204" pitchFamily="34" charset="0"/>
              </a:rPr>
              <a:t> </a:t>
            </a:r>
            <a:r>
              <a:rPr lang="en-US" altLang="en-US" i="1" dirty="0">
                <a:latin typeface="Century Schoolbook" panose="02040604050505020304" pitchFamily="18" charset="0"/>
                <a:cs typeface="Arial" panose="020B0604020202020204" pitchFamily="34" charset="0"/>
              </a:rPr>
              <a:t>is equipped With 2 </a:t>
            </a:r>
            <a:r>
              <a:rPr lang="en-US" altLang="en-US" i="1" dirty="0">
                <a:solidFill>
                  <a:srgbClr val="FF0000"/>
                </a:solidFill>
                <a:latin typeface="Century Schoolbook" panose="02040604050505020304" pitchFamily="18" charset="0"/>
                <a:cs typeface="Arial" panose="020B0604020202020204" pitchFamily="34" charset="0"/>
              </a:rPr>
              <a:t>sight glasses to check that the level is correct and steady.</a:t>
            </a:r>
          </a:p>
        </p:txBody>
      </p:sp>
      <p:sp>
        <p:nvSpPr>
          <p:cNvPr id="173081" name="Text Box 25"/>
          <p:cNvSpPr txBox="1">
            <a:spLocks noChangeArrowheads="1"/>
          </p:cNvSpPr>
          <p:nvPr/>
        </p:nvSpPr>
        <p:spPr bwMode="auto">
          <a:xfrm>
            <a:off x="611188" y="200025"/>
            <a:ext cx="5145087" cy="1068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3600" b="1" dirty="0">
                <a:solidFill>
                  <a:srgbClr val="FF0000"/>
                </a:solidFill>
                <a:effectLst>
                  <a:outerShdw blurRad="38100" dist="38100" dir="2700000" algn="tl">
                    <a:srgbClr val="000000"/>
                  </a:outerShdw>
                </a:effectLst>
                <a:latin typeface="Century Schoolbook" panose="02040604050505020304" pitchFamily="18" charset="0"/>
              </a:rPr>
              <a:t>Continuous digester </a:t>
            </a:r>
          </a:p>
          <a:p>
            <a:pPr>
              <a:defRPr/>
            </a:pPr>
            <a:r>
              <a:rPr lang="en-US" altLang="en-US" sz="2800" b="1" dirty="0">
                <a:effectLst>
                  <a:outerShdw blurRad="38100" dist="38100" dir="2700000" algn="tl">
                    <a:srgbClr val="000000"/>
                  </a:outerShdw>
                </a:effectLst>
                <a:latin typeface="Century Schoolbook" panose="02040604050505020304" pitchFamily="18" charset="0"/>
              </a:rPr>
              <a:t>Chip meter (C24)</a:t>
            </a:r>
          </a:p>
        </p:txBody>
      </p:sp>
      <p:pic>
        <p:nvPicPr>
          <p:cNvPr id="259079" name="Picture 2" descr="mr18^01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0075" y="1276350"/>
            <a:ext cx="3938588" cy="524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Text Box 3"/>
          <p:cNvSpPr txBox="1">
            <a:spLocks noChangeArrowheads="1"/>
          </p:cNvSpPr>
          <p:nvPr/>
        </p:nvSpPr>
        <p:spPr bwMode="auto">
          <a:xfrm>
            <a:off x="468313" y="1484313"/>
            <a:ext cx="8458200"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000">
                <a:latin typeface="Cordia New" panose="020B0304020202020204" pitchFamily="34" charset="-34"/>
                <a:cs typeface="Cordia New" panose="020B0304020202020204" pitchFamily="34" charset="-34"/>
              </a:rPr>
              <a:t>	Chip  meter  ติดตั้งอยู่ระหว่าง Chip bin และ Low  pressure Feeder  มีหน้าที่ในการควบคุมปริมาณการป้อนชิ้นไม้เข้าสู่  cooking  plant  ซึ่งก็หมายถึงกำลังการผลิต ( capacity )  จะถูกกำหนดการโดยตัว chip  meter  นี้</a:t>
            </a:r>
          </a:p>
        </p:txBody>
      </p:sp>
      <p:sp>
        <p:nvSpPr>
          <p:cNvPr id="260099" name="Text Box 5"/>
          <p:cNvSpPr txBox="1">
            <a:spLocks noChangeArrowheads="1"/>
          </p:cNvSpPr>
          <p:nvPr/>
        </p:nvSpPr>
        <p:spPr bwMode="auto">
          <a:xfrm>
            <a:off x="3851275" y="2420938"/>
            <a:ext cx="5122863" cy="2624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000" b="1" u="sng">
                <a:latin typeface="Cordia New" panose="020B0304020202020204" pitchFamily="34" charset="-34"/>
                <a:cs typeface="Cordia New" panose="020B0304020202020204" pitchFamily="34" charset="-34"/>
              </a:rPr>
              <a:t>โครงสร้างของ  chip  meter</a:t>
            </a:r>
          </a:p>
          <a:p>
            <a:pPr>
              <a:spcBef>
                <a:spcPct val="0"/>
              </a:spcBef>
              <a:buFontTx/>
              <a:buNone/>
            </a:pPr>
            <a:r>
              <a:rPr lang="en-US" altLang="en-US" sz="1800">
                <a:latin typeface="Cordia New" panose="020B0304020202020204" pitchFamily="34" charset="-34"/>
                <a:cs typeface="Cordia New" panose="020B0304020202020204" pitchFamily="34" charset="-34"/>
              </a:rPr>
              <a:t>	ตัวป้อนนี้ประกอบด้วยตัว housing และเพลาหมุนเป็นลักษณะ</a:t>
            </a:r>
          </a:p>
          <a:p>
            <a:pPr>
              <a:spcBef>
                <a:spcPct val="0"/>
              </a:spcBef>
              <a:buFontTx/>
              <a:buNone/>
            </a:pPr>
            <a:r>
              <a:rPr lang="en-US" altLang="en-US" sz="1800">
                <a:latin typeface="Cordia New" panose="020B0304020202020204" pitchFamily="34" charset="-34"/>
                <a:cs typeface="Cordia New" panose="020B0304020202020204" pitchFamily="34" charset="-34"/>
              </a:rPr>
              <a:t>วงล้อ ( Wheel ) ซึ่งประกอบด้วยช่องป้อน  ( pocket ) ซึ่งปริมาตรแน่นอน  วงล้อหมุนนี้สามารถปรับรอบการหมุนได้ตั้งแต่  7  ถึง  21  rpm  ซึงจะเป็นตัวควบคุมปริมาณ  chip  ที่ป้อนเข้า  Digester</a:t>
            </a:r>
          </a:p>
          <a:p>
            <a:pPr>
              <a:spcBef>
                <a:spcPct val="0"/>
              </a:spcBef>
              <a:buFontTx/>
              <a:buNone/>
            </a:pPr>
            <a:endParaRPr lang="en-US" altLang="en-US" sz="1800" u="sng">
              <a:latin typeface="Cordia New" panose="020B0304020202020204" pitchFamily="34" charset="-34"/>
              <a:cs typeface="Cordia New" panose="020B0304020202020204" pitchFamily="34" charset="-34"/>
            </a:endParaRPr>
          </a:p>
          <a:p>
            <a:pPr>
              <a:spcBef>
                <a:spcPct val="0"/>
              </a:spcBef>
              <a:buFontTx/>
              <a:buNone/>
            </a:pPr>
            <a:r>
              <a:rPr lang="en-US" altLang="en-US" sz="2000" b="1" u="sng">
                <a:latin typeface="Cordia New" panose="020B0304020202020204" pitchFamily="34" charset="-34"/>
                <a:cs typeface="Cordia New" panose="020B0304020202020204" pitchFamily="34" charset="-34"/>
              </a:rPr>
              <a:t>การทำงาน</a:t>
            </a:r>
          </a:p>
          <a:p>
            <a:pPr>
              <a:spcBef>
                <a:spcPct val="0"/>
              </a:spcBef>
              <a:buFontTx/>
              <a:buNone/>
            </a:pPr>
            <a:r>
              <a:rPr lang="en-US" altLang="en-US" sz="1800">
                <a:latin typeface="Cordia New" panose="020B0304020202020204" pitchFamily="34" charset="-34"/>
                <a:cs typeface="Cordia New" panose="020B0304020202020204" pitchFamily="34" charset="-34"/>
              </a:rPr>
              <a:t>	</a:t>
            </a:r>
            <a:r>
              <a:rPr lang="en-US" altLang="en-US" sz="1800" b="1">
                <a:latin typeface="Cordia New" panose="020B0304020202020204" pitchFamily="34" charset="-34"/>
                <a:cs typeface="Cordia New" panose="020B0304020202020204" pitchFamily="34" charset="-34"/>
              </a:rPr>
              <a:t>ประสิทธิภาพทางด้านปริมาตร หรือความจุของแต่ละ packet </a:t>
            </a:r>
          </a:p>
          <a:p>
            <a:pPr>
              <a:spcBef>
                <a:spcPct val="0"/>
              </a:spcBef>
              <a:buFontTx/>
              <a:buNone/>
            </a:pPr>
            <a:r>
              <a:rPr lang="en-US" altLang="en-US" sz="1800" b="1">
                <a:latin typeface="Cordia New" panose="020B0304020202020204" pitchFamily="34" charset="-34"/>
                <a:cs typeface="Cordia New" panose="020B0304020202020204" pitchFamily="34" charset="-34"/>
              </a:rPr>
              <a:t>นี้จะขึ้นอยู่กับ</a:t>
            </a:r>
            <a:r>
              <a:rPr lang="en-US" altLang="en-US" sz="1800" b="1" i="1">
                <a:solidFill>
                  <a:srgbClr val="FF0000"/>
                </a:solidFill>
                <a:latin typeface="Cordia New" panose="020B0304020202020204" pitchFamily="34" charset="-34"/>
                <a:cs typeface="Cordia New" panose="020B0304020202020204" pitchFamily="34" charset="-34"/>
              </a:rPr>
              <a:t>ความเร็วรอบ ของ  wheel  และคุณภาพของ  chip</a:t>
            </a:r>
            <a:endParaRPr lang="en-US" altLang="en-US" sz="1800" b="1" u="sng">
              <a:solidFill>
                <a:srgbClr val="FF0000"/>
              </a:solidFill>
              <a:latin typeface="Cordia New" panose="020B0304020202020204" pitchFamily="34" charset="-34"/>
              <a:cs typeface="Cordia New" panose="020B0304020202020204" pitchFamily="34" charset="-34"/>
            </a:endParaRPr>
          </a:p>
        </p:txBody>
      </p:sp>
      <p:sp>
        <p:nvSpPr>
          <p:cNvPr id="174086" name="Text Box 6"/>
          <p:cNvSpPr txBox="1">
            <a:spLocks noChangeArrowheads="1"/>
          </p:cNvSpPr>
          <p:nvPr/>
        </p:nvSpPr>
        <p:spPr bwMode="auto">
          <a:xfrm>
            <a:off x="611188" y="200025"/>
            <a:ext cx="5145087" cy="1068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3600" b="1" dirty="0">
                <a:solidFill>
                  <a:srgbClr val="FF0000"/>
                </a:solidFill>
                <a:effectLst>
                  <a:outerShdw blurRad="38100" dist="38100" dir="2700000" algn="tl">
                    <a:srgbClr val="000000"/>
                  </a:outerShdw>
                </a:effectLst>
                <a:latin typeface="Century Schoolbook" panose="02040604050505020304" pitchFamily="18" charset="0"/>
              </a:rPr>
              <a:t>Continuous digester </a:t>
            </a:r>
          </a:p>
          <a:p>
            <a:pPr>
              <a:defRPr/>
            </a:pPr>
            <a:r>
              <a:rPr lang="en-US" altLang="en-US" sz="2800" b="1" dirty="0">
                <a:effectLst>
                  <a:outerShdw blurRad="38100" dist="38100" dir="2700000" algn="tl">
                    <a:srgbClr val="000000"/>
                  </a:outerShdw>
                </a:effectLst>
                <a:latin typeface="Century Schoolbook" panose="02040604050505020304" pitchFamily="18" charset="0"/>
              </a:rPr>
              <a:t>Chip meter (C24)</a:t>
            </a:r>
          </a:p>
        </p:txBody>
      </p:sp>
      <p:pic>
        <p:nvPicPr>
          <p:cNvPr id="260101" name="Picture 8" descr="mr27^003"/>
          <p:cNvPicPr>
            <a:picLocks noGrp="1" noChangeAspect="1" noChangeArrowheads="1"/>
          </p:cNvPicPr>
          <p:nvPr>
            <p:ph/>
          </p:nvPr>
        </p:nvPicPr>
        <p:blipFill>
          <a:blip r:embed="rId2" cstate="print">
            <a:extLst>
              <a:ext uri="{28A0092B-C50C-407E-A947-70E740481C1C}">
                <a14:useLocalDpi xmlns:a14="http://schemas.microsoft.com/office/drawing/2010/main" val="0"/>
              </a:ext>
            </a:extLst>
          </a:blip>
          <a:srcRect/>
          <a:stretch>
            <a:fillRect/>
          </a:stretch>
        </p:blipFill>
        <p:spPr>
          <a:xfrm>
            <a:off x="611188" y="2349500"/>
            <a:ext cx="3144837" cy="4103688"/>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60102" name="Picture 9" descr="159_5961">
            <a:hlinkClick r:id="rId3"/>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851275" y="5102225"/>
            <a:ext cx="1800225" cy="1350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2" name="Text Box 4"/>
          <p:cNvSpPr txBox="1">
            <a:spLocks noChangeArrowheads="1"/>
          </p:cNvSpPr>
          <p:nvPr/>
        </p:nvSpPr>
        <p:spPr bwMode="auto">
          <a:xfrm>
            <a:off x="611188" y="200025"/>
            <a:ext cx="5145087" cy="1433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3600" b="1" dirty="0">
                <a:solidFill>
                  <a:srgbClr val="FF0000"/>
                </a:solidFill>
                <a:effectLst>
                  <a:outerShdw blurRad="38100" dist="38100" dir="2700000" algn="tl">
                    <a:srgbClr val="000000"/>
                  </a:outerShdw>
                </a:effectLst>
                <a:latin typeface="Century Schoolbook" panose="02040604050505020304" pitchFamily="18" charset="0"/>
              </a:rPr>
              <a:t>Continuous digester </a:t>
            </a:r>
          </a:p>
          <a:p>
            <a:pPr>
              <a:defRPr/>
            </a:pPr>
            <a:r>
              <a:rPr lang="en-US" altLang="en-US" sz="2800" b="1" dirty="0">
                <a:effectLst>
                  <a:outerShdw blurRad="38100" dist="38100" dir="2700000" algn="tl">
                    <a:srgbClr val="000000"/>
                  </a:outerShdw>
                </a:effectLst>
                <a:latin typeface="Century Schoolbook" panose="02040604050505020304" pitchFamily="18" charset="0"/>
              </a:rPr>
              <a:t>Chip meter (C24)</a:t>
            </a:r>
          </a:p>
          <a:p>
            <a:pPr>
              <a:defRPr/>
            </a:pPr>
            <a:r>
              <a:rPr lang="en-US" altLang="en-US" sz="2400" b="1" dirty="0">
                <a:solidFill>
                  <a:srgbClr val="00FF00"/>
                </a:solidFill>
                <a:latin typeface="Century Schoolbook" panose="02040604050505020304" pitchFamily="18" charset="0"/>
              </a:rPr>
              <a:t>Production calculation</a:t>
            </a:r>
          </a:p>
        </p:txBody>
      </p:sp>
      <p:sp>
        <p:nvSpPr>
          <p:cNvPr id="211976" name="Text Box 8"/>
          <p:cNvSpPr txBox="1">
            <a:spLocks noChangeArrowheads="1"/>
          </p:cNvSpPr>
          <p:nvPr/>
        </p:nvSpPr>
        <p:spPr bwMode="auto">
          <a:xfrm>
            <a:off x="684213" y="1570038"/>
            <a:ext cx="8208962" cy="5035550"/>
          </a:xfrm>
          <a:prstGeom prst="rect">
            <a:avLst/>
          </a:prstGeom>
          <a:solidFill>
            <a:schemeClr val="bg1"/>
          </a:solidFill>
          <a:ln>
            <a:noFill/>
          </a:ln>
          <a:effectLst/>
        </p:spPr>
        <p:txBody>
          <a:bodyPr>
            <a:spAutoFit/>
          </a:bodyPr>
          <a:lstStyle/>
          <a:p>
            <a:pPr>
              <a:defRPr/>
            </a:pPr>
            <a:r>
              <a:rPr lang="en-US" altLang="en-US" dirty="0">
                <a:latin typeface="Century Schoolbook" panose="02040604050505020304" pitchFamily="18" charset="0"/>
              </a:rPr>
              <a:t>Total volume of chip meter pocket = 0.145 m3</a:t>
            </a:r>
          </a:p>
          <a:p>
            <a:pPr>
              <a:defRPr/>
            </a:pPr>
            <a:r>
              <a:rPr lang="en-US" altLang="en-US" dirty="0">
                <a:solidFill>
                  <a:srgbClr val="FF0000"/>
                </a:solidFill>
                <a:latin typeface="Century Schoolbook" panose="02040604050505020304" pitchFamily="18" charset="0"/>
              </a:rPr>
              <a:t>So,</a:t>
            </a:r>
          </a:p>
          <a:p>
            <a:pPr>
              <a:defRPr/>
            </a:pPr>
            <a:r>
              <a:rPr lang="en-US" altLang="en-US" dirty="0">
                <a:latin typeface="Century Schoolbook" panose="02040604050505020304" pitchFamily="18" charset="0"/>
              </a:rPr>
              <a:t>		1 wheel		= 0.145			m3</a:t>
            </a:r>
          </a:p>
          <a:p>
            <a:pPr>
              <a:defRPr/>
            </a:pPr>
            <a:endParaRPr lang="en-US" altLang="en-US" dirty="0">
              <a:latin typeface="Century Schoolbook" panose="02040604050505020304" pitchFamily="18" charset="0"/>
            </a:endParaRPr>
          </a:p>
          <a:p>
            <a:pPr>
              <a:defRPr/>
            </a:pPr>
            <a:r>
              <a:rPr lang="en-US" altLang="en-US" dirty="0">
                <a:latin typeface="Century Schoolbook" panose="02040604050505020304" pitchFamily="18" charset="0"/>
              </a:rPr>
              <a:t>If,	chip bulk density		= b			t/m3</a:t>
            </a:r>
          </a:p>
          <a:p>
            <a:pPr>
              <a:defRPr/>
            </a:pPr>
            <a:r>
              <a:rPr lang="en-US" altLang="en-US" dirty="0">
                <a:solidFill>
                  <a:srgbClr val="FF0000"/>
                </a:solidFill>
                <a:latin typeface="Century Schoolbook" panose="02040604050505020304" pitchFamily="18" charset="0"/>
              </a:rPr>
              <a:t>So,</a:t>
            </a:r>
          </a:p>
          <a:p>
            <a:pPr>
              <a:defRPr/>
            </a:pPr>
            <a:r>
              <a:rPr lang="en-US" altLang="en-US" dirty="0">
                <a:latin typeface="Century Schoolbook" panose="02040604050505020304" pitchFamily="18" charset="0"/>
              </a:rPr>
              <a:t>		1 wheel		= 0.145 x b		ton (BDT)</a:t>
            </a:r>
          </a:p>
          <a:p>
            <a:pPr>
              <a:defRPr/>
            </a:pPr>
            <a:endParaRPr lang="en-US" altLang="en-US" dirty="0">
              <a:latin typeface="Century Schoolbook" panose="02040604050505020304" pitchFamily="18" charset="0"/>
            </a:endParaRPr>
          </a:p>
          <a:p>
            <a:pPr>
              <a:defRPr/>
            </a:pPr>
            <a:r>
              <a:rPr lang="en-US" altLang="en-US" dirty="0">
                <a:latin typeface="Century Schoolbook" panose="02040604050505020304" pitchFamily="18" charset="0"/>
              </a:rPr>
              <a:t>If,	chip meter run		= n			rpm</a:t>
            </a:r>
          </a:p>
          <a:p>
            <a:pPr>
              <a:defRPr/>
            </a:pPr>
            <a:r>
              <a:rPr lang="en-US" altLang="en-US" dirty="0">
                <a:latin typeface="Century Schoolbook" panose="02040604050505020304" pitchFamily="18" charset="0"/>
              </a:rPr>
              <a:t> 						              (round/min)</a:t>
            </a:r>
          </a:p>
          <a:p>
            <a:pPr>
              <a:defRPr/>
            </a:pPr>
            <a:r>
              <a:rPr lang="en-US" altLang="en-US" dirty="0">
                <a:solidFill>
                  <a:srgbClr val="FF0000"/>
                </a:solidFill>
                <a:latin typeface="Century Schoolbook" panose="02040604050505020304" pitchFamily="18" charset="0"/>
              </a:rPr>
              <a:t>So,</a:t>
            </a:r>
          </a:p>
          <a:p>
            <a:pPr>
              <a:defRPr/>
            </a:pPr>
            <a:r>
              <a:rPr lang="en-US" altLang="en-US" dirty="0">
                <a:latin typeface="Century Schoolbook" panose="02040604050505020304" pitchFamily="18" charset="0"/>
              </a:rPr>
              <a:t>Total BDT CHIP to Digester	= 0.145 x b x n x 60	BDT/</a:t>
            </a:r>
            <a:r>
              <a:rPr lang="en-US" altLang="en-US" dirty="0" err="1">
                <a:latin typeface="Century Schoolbook" panose="02040604050505020304" pitchFamily="18" charset="0"/>
              </a:rPr>
              <a:t>hr</a:t>
            </a:r>
            <a:endParaRPr lang="en-US" altLang="en-US" dirty="0">
              <a:latin typeface="Century Schoolbook" panose="02040604050505020304" pitchFamily="18" charset="0"/>
            </a:endParaRPr>
          </a:p>
          <a:p>
            <a:pPr>
              <a:defRPr/>
            </a:pPr>
            <a:endParaRPr lang="en-US" altLang="en-US" dirty="0">
              <a:latin typeface="Century Schoolbook" panose="02040604050505020304" pitchFamily="18" charset="0"/>
            </a:endParaRPr>
          </a:p>
          <a:p>
            <a:pPr>
              <a:defRPr/>
            </a:pPr>
            <a:r>
              <a:rPr lang="en-US" altLang="en-US" u="sng" dirty="0">
                <a:solidFill>
                  <a:schemeClr val="accent1"/>
                </a:solidFill>
                <a:effectLst>
                  <a:outerShdw blurRad="38100" dist="38100" dir="2700000" algn="tl">
                    <a:srgbClr val="000000"/>
                  </a:outerShdw>
                </a:effectLst>
                <a:latin typeface="Century Schoolbook" panose="02040604050505020304" pitchFamily="18" charset="0"/>
              </a:rPr>
              <a:t>Example</a:t>
            </a:r>
            <a:r>
              <a:rPr lang="en-US" altLang="en-US" dirty="0">
                <a:latin typeface="Century Schoolbook" panose="02040604050505020304" pitchFamily="18" charset="0"/>
              </a:rPr>
              <a:t> : Speed chip meter 15.7 rpm, chip bulk density 170kg/m3</a:t>
            </a:r>
          </a:p>
          <a:p>
            <a:pPr>
              <a:defRPr/>
            </a:pPr>
            <a:r>
              <a:rPr lang="en-US" altLang="en-US" u="sng" dirty="0">
                <a:solidFill>
                  <a:srgbClr val="FF0000"/>
                </a:solidFill>
                <a:effectLst>
                  <a:outerShdw blurRad="38100" dist="38100" dir="2700000" algn="tl">
                    <a:srgbClr val="000000"/>
                  </a:outerShdw>
                </a:effectLst>
                <a:latin typeface="Century Schoolbook" panose="02040604050505020304" pitchFamily="18" charset="0"/>
              </a:rPr>
              <a:t>Solution</a:t>
            </a:r>
          </a:p>
          <a:p>
            <a:pPr>
              <a:defRPr/>
            </a:pPr>
            <a:r>
              <a:rPr lang="en-US" altLang="en-US" dirty="0">
                <a:latin typeface="Century Schoolbook" panose="02040604050505020304" pitchFamily="18" charset="0"/>
              </a:rPr>
              <a:t>	Chip flow to digester	= 0.145 x 15.7 x 60</a:t>
            </a:r>
          </a:p>
          <a:p>
            <a:pPr>
              <a:defRPr/>
            </a:pPr>
            <a:r>
              <a:rPr lang="en-US" altLang="en-US" dirty="0">
                <a:latin typeface="Century Schoolbook" panose="02040604050505020304" pitchFamily="18" charset="0"/>
              </a:rPr>
              <a:t>				= 136.58			m3/</a:t>
            </a:r>
            <a:r>
              <a:rPr lang="en-US" altLang="en-US" dirty="0" err="1">
                <a:latin typeface="Century Schoolbook" panose="02040604050505020304" pitchFamily="18" charset="0"/>
              </a:rPr>
              <a:t>hr</a:t>
            </a:r>
            <a:endParaRPr lang="en-US" altLang="en-US" dirty="0">
              <a:latin typeface="Century Schoolbook" panose="02040604050505020304" pitchFamily="18" charset="0"/>
            </a:endParaRPr>
          </a:p>
          <a:p>
            <a:pPr>
              <a:defRPr/>
            </a:pPr>
            <a:r>
              <a:rPr lang="en-US" altLang="en-US" dirty="0">
                <a:latin typeface="Century Schoolbook" panose="02040604050505020304" pitchFamily="18" charset="0"/>
              </a:rPr>
              <a:t>				= 23.22			</a:t>
            </a:r>
            <a:r>
              <a:rPr lang="en-US" altLang="en-US" dirty="0" err="1">
                <a:latin typeface="Century Schoolbook" panose="02040604050505020304" pitchFamily="18" charset="0"/>
              </a:rPr>
              <a:t>bdt</a:t>
            </a:r>
            <a:r>
              <a:rPr lang="en-US" altLang="en-US" dirty="0">
                <a:latin typeface="Century Schoolbook" panose="02040604050505020304" pitchFamily="18" charset="0"/>
              </a:rPr>
              <a:t>/</a:t>
            </a:r>
            <a:r>
              <a:rPr lang="en-US" altLang="en-US" dirty="0" err="1">
                <a:latin typeface="Century Schoolbook" panose="02040604050505020304" pitchFamily="18" charset="0"/>
              </a:rPr>
              <a:t>hr</a:t>
            </a:r>
            <a:endParaRPr lang="th-TH" altLang="en-US" dirty="0">
              <a:latin typeface="Century Schoolbook" panose="02040604050505020304" pitchFamily="18" charset="0"/>
            </a:endParaRPr>
          </a:p>
        </p:txBody>
      </p:sp>
    </p:spTree>
  </p:cSld>
  <p:clrMapOvr>
    <a:masterClrMapping/>
  </p:clrMapOvr>
  <p:transition spd="slow"/>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Rectangle 40"/>
          <p:cNvSpPr>
            <a:spLocks noChangeArrowheads="1"/>
          </p:cNvSpPr>
          <p:nvPr/>
        </p:nvSpPr>
        <p:spPr bwMode="auto">
          <a:xfrm>
            <a:off x="6084888" y="1125538"/>
            <a:ext cx="228600" cy="228600"/>
          </a:xfrm>
          <a:prstGeom prst="rect">
            <a:avLst/>
          </a:prstGeom>
          <a:solidFill>
            <a:srgbClr val="66FFFF">
              <a:alpha val="50195"/>
            </a:srgbClr>
          </a:solidFill>
          <a:ln w="19050">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pic>
        <p:nvPicPr>
          <p:cNvPr id="262147" name="Picture 3" descr="mr12^007"/>
          <p:cNvPicPr>
            <a:picLocks noGrp="1" noChangeAspect="1" noChangeArrowheads="1"/>
          </p:cNvPicPr>
          <p:nvPr>
            <p:ph/>
          </p:nvPr>
        </p:nvPicPr>
        <p:blipFill>
          <a:blip r:embed="rId2">
            <a:extLst>
              <a:ext uri="{28A0092B-C50C-407E-A947-70E740481C1C}">
                <a14:useLocalDpi xmlns:a14="http://schemas.microsoft.com/office/drawing/2010/main" val="0"/>
              </a:ext>
            </a:extLst>
          </a:blip>
          <a:srcRect/>
          <a:stretch>
            <a:fillRect/>
          </a:stretch>
        </p:blipFill>
        <p:spPr>
          <a:xfrm>
            <a:off x="827088" y="1663700"/>
            <a:ext cx="3168650" cy="3135313"/>
          </a:xfrm>
          <a:noFill/>
          <a:ln w="38100">
            <a:solidFill>
              <a:schemeClr val="bg2"/>
            </a:solidFill>
            <a:miter lim="800000"/>
            <a:headEnd/>
            <a:tailEnd/>
          </a:ln>
          <a:effectLst>
            <a:outerShdw dist="35921" dir="2700000" algn="ctr" rotWithShape="0">
              <a:srgbClr val="808080"/>
            </a:outerShdw>
          </a:effectLst>
        </p:spPr>
      </p:pic>
      <p:sp>
        <p:nvSpPr>
          <p:cNvPr id="176150" name="Text Box 22"/>
          <p:cNvSpPr txBox="1">
            <a:spLocks noChangeArrowheads="1"/>
          </p:cNvSpPr>
          <p:nvPr/>
        </p:nvSpPr>
        <p:spPr bwMode="auto">
          <a:xfrm>
            <a:off x="611188" y="200025"/>
            <a:ext cx="5145087" cy="1068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3600" b="1" dirty="0">
                <a:solidFill>
                  <a:srgbClr val="FF0000"/>
                </a:solidFill>
                <a:effectLst>
                  <a:outerShdw blurRad="38100" dist="38100" dir="2700000" algn="tl">
                    <a:srgbClr val="000000"/>
                  </a:outerShdw>
                </a:effectLst>
                <a:latin typeface="Century Schoolbook" panose="02040604050505020304" pitchFamily="18" charset="0"/>
              </a:rPr>
              <a:t>Continuous digester </a:t>
            </a:r>
          </a:p>
          <a:p>
            <a:pPr>
              <a:defRPr/>
            </a:pPr>
            <a:r>
              <a:rPr lang="en-US" altLang="en-US" sz="2800" b="1" dirty="0">
                <a:effectLst>
                  <a:outerShdw blurRad="38100" dist="38100" dir="2700000" algn="tl">
                    <a:srgbClr val="000000"/>
                  </a:outerShdw>
                </a:effectLst>
                <a:latin typeface="Century Schoolbook" panose="02040604050505020304" pitchFamily="18" charset="0"/>
              </a:rPr>
              <a:t>Low Pressure feeder (C25)</a:t>
            </a:r>
          </a:p>
        </p:txBody>
      </p:sp>
      <p:grpSp>
        <p:nvGrpSpPr>
          <p:cNvPr id="262149" name="Group 23"/>
          <p:cNvGrpSpPr>
            <a:grpSpLocks/>
          </p:cNvGrpSpPr>
          <p:nvPr/>
        </p:nvGrpSpPr>
        <p:grpSpPr bwMode="auto">
          <a:xfrm>
            <a:off x="6011863" y="511175"/>
            <a:ext cx="1066800" cy="1981200"/>
            <a:chOff x="48" y="609"/>
            <a:chExt cx="96" cy="176"/>
          </a:xfrm>
        </p:grpSpPr>
        <p:sp>
          <p:nvSpPr>
            <p:cNvPr id="262151" name="Freeform 24"/>
            <p:cNvSpPr>
              <a:spLocks/>
            </p:cNvSpPr>
            <p:nvPr/>
          </p:nvSpPr>
          <p:spPr bwMode="auto">
            <a:xfrm>
              <a:off x="58" y="653"/>
              <a:ext cx="10" cy="9"/>
            </a:xfrm>
            <a:custGeom>
              <a:avLst/>
              <a:gdLst>
                <a:gd name="T0" fmla="*/ 2 w 10"/>
                <a:gd name="T1" fmla="*/ 5 h 10"/>
                <a:gd name="T2" fmla="*/ 0 w 10"/>
                <a:gd name="T3" fmla="*/ 0 h 10"/>
                <a:gd name="T4" fmla="*/ 9 w 10"/>
                <a:gd name="T5" fmla="*/ 0 h 10"/>
                <a:gd name="T6" fmla="*/ 10 w 10"/>
                <a:gd name="T7" fmla="*/ 5 h 1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 h="10">
                  <a:moveTo>
                    <a:pt x="2" y="10"/>
                  </a:moveTo>
                  <a:lnTo>
                    <a:pt x="0" y="0"/>
                  </a:lnTo>
                  <a:lnTo>
                    <a:pt x="9" y="0"/>
                  </a:lnTo>
                  <a:lnTo>
                    <a:pt x="10" y="6"/>
                  </a:lnTo>
                </a:path>
              </a:pathLst>
            </a:custGeom>
            <a:gradFill rotWithShape="0">
              <a:gsLst>
                <a:gs pos="0">
                  <a:srgbClr val="808080"/>
                </a:gs>
                <a:gs pos="50000">
                  <a:srgbClr val="FFFFFF"/>
                </a:gs>
                <a:gs pos="100000">
                  <a:srgbClr val="808080"/>
                </a:gs>
              </a:gsLst>
              <a:lin ang="0" scaled="1"/>
            </a:gradFill>
            <a:ln w="9525">
              <a:solidFill>
                <a:srgbClr val="000000"/>
              </a:solidFill>
              <a:round/>
              <a:headEnd/>
              <a:tailEnd/>
            </a:ln>
          </p:spPr>
          <p:txBody>
            <a:bodyPr/>
            <a:lstStyle/>
            <a:p>
              <a:endParaRPr lang="en-US"/>
            </a:p>
          </p:txBody>
        </p:sp>
        <p:grpSp>
          <p:nvGrpSpPr>
            <p:cNvPr id="262152" name="Group 25"/>
            <p:cNvGrpSpPr>
              <a:grpSpLocks/>
            </p:cNvGrpSpPr>
            <p:nvPr/>
          </p:nvGrpSpPr>
          <p:grpSpPr bwMode="auto">
            <a:xfrm>
              <a:off x="125" y="750"/>
              <a:ext cx="19" cy="18"/>
              <a:chOff x="125" y="750"/>
              <a:chExt cx="19" cy="18"/>
            </a:xfrm>
          </p:grpSpPr>
          <p:sp>
            <p:nvSpPr>
              <p:cNvPr id="262165" name="AutoShape 26"/>
              <p:cNvSpPr>
                <a:spLocks noChangeArrowheads="1"/>
              </p:cNvSpPr>
              <p:nvPr/>
            </p:nvSpPr>
            <p:spPr bwMode="auto">
              <a:xfrm>
                <a:off x="125" y="750"/>
                <a:ext cx="19" cy="18"/>
              </a:xfrm>
              <a:prstGeom prst="plaque">
                <a:avLst>
                  <a:gd name="adj" fmla="val 16667"/>
                </a:avLst>
              </a:prstGeom>
              <a:gradFill rotWithShape="1">
                <a:gsLst>
                  <a:gs pos="0">
                    <a:srgbClr val="808080"/>
                  </a:gs>
                  <a:gs pos="50000">
                    <a:srgbClr val="FFFFFF"/>
                  </a:gs>
                  <a:gs pos="100000">
                    <a:srgbClr val="80808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62166" name="Oval 27"/>
              <p:cNvSpPr>
                <a:spLocks noChangeArrowheads="1"/>
              </p:cNvSpPr>
              <p:nvPr/>
            </p:nvSpPr>
            <p:spPr bwMode="auto">
              <a:xfrm>
                <a:off x="128" y="752"/>
                <a:ext cx="13" cy="13"/>
              </a:xfrm>
              <a:prstGeom prst="ellipse">
                <a:avLst/>
              </a:prstGeom>
              <a:solidFill>
                <a:srgbClr val="FFFFFF"/>
              </a:solidFill>
              <a:ln w="9525">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grpSp>
        <p:sp>
          <p:nvSpPr>
            <p:cNvPr id="262153" name="Rectangle 28"/>
            <p:cNvSpPr>
              <a:spLocks noChangeArrowheads="1"/>
            </p:cNvSpPr>
            <p:nvPr/>
          </p:nvSpPr>
          <p:spPr bwMode="auto">
            <a:xfrm>
              <a:off x="131" y="698"/>
              <a:ext cx="8" cy="52"/>
            </a:xfrm>
            <a:prstGeom prst="rect">
              <a:avLst/>
            </a:prstGeom>
            <a:gradFill rotWithShape="1">
              <a:gsLst>
                <a:gs pos="0">
                  <a:srgbClr val="808080"/>
                </a:gs>
                <a:gs pos="50000">
                  <a:srgbClr val="FFFFFF"/>
                </a:gs>
                <a:gs pos="100000">
                  <a:srgbClr val="80808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62154" name="Freeform 29"/>
            <p:cNvSpPr>
              <a:spLocks/>
            </p:cNvSpPr>
            <p:nvPr/>
          </p:nvSpPr>
          <p:spPr bwMode="auto">
            <a:xfrm>
              <a:off x="78" y="725"/>
              <a:ext cx="57" cy="60"/>
            </a:xfrm>
            <a:custGeom>
              <a:avLst/>
              <a:gdLst>
                <a:gd name="T0" fmla="*/ 57 w 57"/>
                <a:gd name="T1" fmla="*/ 43 h 60"/>
                <a:gd name="T2" fmla="*/ 57 w 57"/>
                <a:gd name="T3" fmla="*/ 60 h 60"/>
                <a:gd name="T4" fmla="*/ 0 w 57"/>
                <a:gd name="T5" fmla="*/ 60 h 60"/>
                <a:gd name="T6" fmla="*/ 0 w 57"/>
                <a:gd name="T7" fmla="*/ 0 h 60"/>
                <a:gd name="T8" fmla="*/ 53 w 57"/>
                <a:gd name="T9" fmla="*/ 0 h 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 h="60">
                  <a:moveTo>
                    <a:pt x="57" y="43"/>
                  </a:moveTo>
                  <a:lnTo>
                    <a:pt x="57" y="60"/>
                  </a:lnTo>
                  <a:lnTo>
                    <a:pt x="0" y="60"/>
                  </a:lnTo>
                  <a:lnTo>
                    <a:pt x="0" y="0"/>
                  </a:lnTo>
                  <a:lnTo>
                    <a:pt x="53" y="0"/>
                  </a:lnTo>
                </a:path>
              </a:pathLst>
            </a:custGeom>
            <a:noFill/>
            <a:ln w="9525">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262155" name="Group 30"/>
            <p:cNvGrpSpPr>
              <a:grpSpLocks/>
            </p:cNvGrpSpPr>
            <p:nvPr/>
          </p:nvGrpSpPr>
          <p:grpSpPr bwMode="auto">
            <a:xfrm>
              <a:off x="62" y="685"/>
              <a:ext cx="77" cy="13"/>
              <a:chOff x="62" y="685"/>
              <a:chExt cx="77" cy="13"/>
            </a:xfrm>
          </p:grpSpPr>
          <p:sp>
            <p:nvSpPr>
              <p:cNvPr id="262163" name="Rectangle 31"/>
              <p:cNvSpPr>
                <a:spLocks noChangeArrowheads="1"/>
              </p:cNvSpPr>
              <p:nvPr/>
            </p:nvSpPr>
            <p:spPr bwMode="auto">
              <a:xfrm>
                <a:off x="62" y="685"/>
                <a:ext cx="77" cy="13"/>
              </a:xfrm>
              <a:prstGeom prst="rect">
                <a:avLst/>
              </a:prstGeom>
              <a:gradFill rotWithShape="1">
                <a:gsLst>
                  <a:gs pos="0">
                    <a:srgbClr val="808080"/>
                  </a:gs>
                  <a:gs pos="50000">
                    <a:srgbClr val="FFFFFF"/>
                  </a:gs>
                  <a:gs pos="100000">
                    <a:srgbClr val="80808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62164" name="Freeform 32"/>
              <p:cNvSpPr>
                <a:spLocks/>
              </p:cNvSpPr>
              <p:nvPr/>
            </p:nvSpPr>
            <p:spPr bwMode="auto">
              <a:xfrm>
                <a:off x="65" y="685"/>
                <a:ext cx="74" cy="13"/>
              </a:xfrm>
              <a:custGeom>
                <a:avLst/>
                <a:gdLst>
                  <a:gd name="T0" fmla="*/ 0 w 74"/>
                  <a:gd name="T1" fmla="*/ 0 h 13"/>
                  <a:gd name="T2" fmla="*/ 5 w 74"/>
                  <a:gd name="T3" fmla="*/ 13 h 13"/>
                  <a:gd name="T4" fmla="*/ 11 w 74"/>
                  <a:gd name="T5" fmla="*/ 0 h 13"/>
                  <a:gd name="T6" fmla="*/ 16 w 74"/>
                  <a:gd name="T7" fmla="*/ 13 h 13"/>
                  <a:gd name="T8" fmla="*/ 22 w 74"/>
                  <a:gd name="T9" fmla="*/ 0 h 13"/>
                  <a:gd name="T10" fmla="*/ 27 w 74"/>
                  <a:gd name="T11" fmla="*/ 13 h 13"/>
                  <a:gd name="T12" fmla="*/ 34 w 74"/>
                  <a:gd name="T13" fmla="*/ 0 h 13"/>
                  <a:gd name="T14" fmla="*/ 39 w 74"/>
                  <a:gd name="T15" fmla="*/ 13 h 13"/>
                  <a:gd name="T16" fmla="*/ 46 w 74"/>
                  <a:gd name="T17" fmla="*/ 0 h 13"/>
                  <a:gd name="T18" fmla="*/ 50 w 74"/>
                  <a:gd name="T19" fmla="*/ 13 h 13"/>
                  <a:gd name="T20" fmla="*/ 56 w 74"/>
                  <a:gd name="T21" fmla="*/ 0 h 13"/>
                  <a:gd name="T22" fmla="*/ 61 w 74"/>
                  <a:gd name="T23" fmla="*/ 13 h 13"/>
                  <a:gd name="T24" fmla="*/ 67 w 74"/>
                  <a:gd name="T25" fmla="*/ 0 h 13"/>
                  <a:gd name="T26" fmla="*/ 74 w 74"/>
                  <a:gd name="T27" fmla="*/ 13 h 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3">
                    <a:moveTo>
                      <a:pt x="0" y="0"/>
                    </a:moveTo>
                    <a:lnTo>
                      <a:pt x="5" y="13"/>
                    </a:lnTo>
                    <a:lnTo>
                      <a:pt x="11" y="0"/>
                    </a:lnTo>
                    <a:lnTo>
                      <a:pt x="16" y="13"/>
                    </a:lnTo>
                    <a:lnTo>
                      <a:pt x="22" y="0"/>
                    </a:lnTo>
                    <a:lnTo>
                      <a:pt x="27" y="13"/>
                    </a:lnTo>
                    <a:lnTo>
                      <a:pt x="34" y="0"/>
                    </a:lnTo>
                    <a:lnTo>
                      <a:pt x="39" y="13"/>
                    </a:lnTo>
                    <a:lnTo>
                      <a:pt x="46" y="0"/>
                    </a:lnTo>
                    <a:lnTo>
                      <a:pt x="50" y="13"/>
                    </a:lnTo>
                    <a:lnTo>
                      <a:pt x="56" y="0"/>
                    </a:lnTo>
                    <a:lnTo>
                      <a:pt x="61" y="13"/>
                    </a:lnTo>
                    <a:lnTo>
                      <a:pt x="67" y="0"/>
                    </a:lnTo>
                    <a:lnTo>
                      <a:pt x="74" y="13"/>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62156" name="Rectangle 33"/>
            <p:cNvSpPr>
              <a:spLocks noChangeArrowheads="1"/>
            </p:cNvSpPr>
            <p:nvPr/>
          </p:nvSpPr>
          <p:spPr bwMode="auto">
            <a:xfrm>
              <a:off x="62" y="663"/>
              <a:ext cx="7" cy="9"/>
            </a:xfrm>
            <a:prstGeom prst="rect">
              <a:avLst/>
            </a:prstGeom>
            <a:gradFill rotWithShape="0">
              <a:gsLst>
                <a:gs pos="0">
                  <a:srgbClr val="808080"/>
                </a:gs>
                <a:gs pos="50000">
                  <a:srgbClr val="FFFFFF"/>
                </a:gs>
                <a:gs pos="100000">
                  <a:srgbClr val="80808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62157" name="Rectangle 34"/>
            <p:cNvSpPr>
              <a:spLocks noChangeArrowheads="1"/>
            </p:cNvSpPr>
            <p:nvPr/>
          </p:nvSpPr>
          <p:spPr bwMode="auto">
            <a:xfrm>
              <a:off x="62" y="676"/>
              <a:ext cx="7" cy="9"/>
            </a:xfrm>
            <a:prstGeom prst="rect">
              <a:avLst/>
            </a:prstGeom>
            <a:gradFill rotWithShape="0">
              <a:gsLst>
                <a:gs pos="0">
                  <a:srgbClr val="808080"/>
                </a:gs>
                <a:gs pos="50000">
                  <a:srgbClr val="FFFFFF"/>
                </a:gs>
                <a:gs pos="100000">
                  <a:srgbClr val="80808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62158" name="Oval 35"/>
            <p:cNvSpPr>
              <a:spLocks noChangeArrowheads="1"/>
            </p:cNvSpPr>
            <p:nvPr/>
          </p:nvSpPr>
          <p:spPr bwMode="auto">
            <a:xfrm>
              <a:off x="60" y="670"/>
              <a:ext cx="10" cy="10"/>
            </a:xfrm>
            <a:prstGeom prst="ellipse">
              <a:avLst/>
            </a:prstGeom>
            <a:gradFill rotWithShape="0">
              <a:gsLst>
                <a:gs pos="0">
                  <a:srgbClr val="808080"/>
                </a:gs>
                <a:gs pos="50000">
                  <a:srgbClr val="FFFFFF"/>
                </a:gs>
                <a:gs pos="100000">
                  <a:srgbClr val="808080"/>
                </a:gs>
              </a:gsLst>
              <a:lin ang="0" scaled="1"/>
            </a:gradFill>
            <a:ln w="9525">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62159" name="AutoShape 36"/>
            <p:cNvSpPr>
              <a:spLocks noChangeArrowheads="1"/>
            </p:cNvSpPr>
            <p:nvPr/>
          </p:nvSpPr>
          <p:spPr bwMode="auto">
            <a:xfrm rot="5400000">
              <a:off x="60" y="633"/>
              <a:ext cx="5" cy="29"/>
            </a:xfrm>
            <a:prstGeom prst="flowChartDelay">
              <a:avLst/>
            </a:prstGeom>
            <a:gradFill rotWithShape="0">
              <a:gsLst>
                <a:gs pos="0">
                  <a:srgbClr val="808080"/>
                </a:gs>
                <a:gs pos="50000">
                  <a:srgbClr val="FFFFFF"/>
                </a:gs>
                <a:gs pos="100000">
                  <a:srgbClr val="80808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62160" name="Oval 37"/>
            <p:cNvSpPr>
              <a:spLocks noChangeArrowheads="1"/>
            </p:cNvSpPr>
            <p:nvPr/>
          </p:nvSpPr>
          <p:spPr bwMode="auto">
            <a:xfrm>
              <a:off x="60" y="657"/>
              <a:ext cx="10" cy="10"/>
            </a:xfrm>
            <a:prstGeom prst="ellipse">
              <a:avLst/>
            </a:prstGeom>
            <a:gradFill rotWithShape="0">
              <a:gsLst>
                <a:gs pos="0">
                  <a:srgbClr val="808080"/>
                </a:gs>
                <a:gs pos="50000">
                  <a:srgbClr val="FFFFFF"/>
                </a:gs>
                <a:gs pos="100000">
                  <a:srgbClr val="808080"/>
                </a:gs>
              </a:gsLst>
              <a:lin ang="0" scaled="1"/>
            </a:gradFill>
            <a:ln w="9525">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62161" name="Rectangle 38"/>
            <p:cNvSpPr>
              <a:spLocks noChangeArrowheads="1"/>
            </p:cNvSpPr>
            <p:nvPr/>
          </p:nvSpPr>
          <p:spPr bwMode="auto">
            <a:xfrm>
              <a:off x="56" y="650"/>
              <a:ext cx="12" cy="3"/>
            </a:xfrm>
            <a:prstGeom prst="rect">
              <a:avLst/>
            </a:prstGeom>
            <a:gradFill rotWithShape="0">
              <a:gsLst>
                <a:gs pos="0">
                  <a:srgbClr val="808080"/>
                </a:gs>
                <a:gs pos="50000">
                  <a:srgbClr val="FFFFFF"/>
                </a:gs>
                <a:gs pos="100000">
                  <a:srgbClr val="80808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62162" name="Rectangle 39"/>
            <p:cNvSpPr>
              <a:spLocks noChangeArrowheads="1"/>
            </p:cNvSpPr>
            <p:nvPr/>
          </p:nvSpPr>
          <p:spPr bwMode="auto">
            <a:xfrm>
              <a:off x="48" y="609"/>
              <a:ext cx="29" cy="36"/>
            </a:xfrm>
            <a:prstGeom prst="rect">
              <a:avLst/>
            </a:prstGeom>
            <a:gradFill rotWithShape="1">
              <a:gsLst>
                <a:gs pos="0">
                  <a:srgbClr val="808080"/>
                </a:gs>
                <a:gs pos="50000">
                  <a:srgbClr val="FFFFFF"/>
                </a:gs>
                <a:gs pos="100000">
                  <a:srgbClr val="80808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grpSp>
      <p:sp>
        <p:nvSpPr>
          <p:cNvPr id="262150" name="Text Box 42"/>
          <p:cNvSpPr txBox="1">
            <a:spLocks noChangeArrowheads="1"/>
          </p:cNvSpPr>
          <p:nvPr/>
        </p:nvSpPr>
        <p:spPr bwMode="auto">
          <a:xfrm>
            <a:off x="755650" y="5121275"/>
            <a:ext cx="8208963" cy="11874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400" b="1">
                <a:latin typeface="Cordia New" panose="020B0304020202020204" pitchFamily="34" charset="-34"/>
                <a:cs typeface="Cordia New" panose="020B0304020202020204" pitchFamily="34" charset="-34"/>
              </a:rPr>
              <a:t>	LP  feeder  ติดตั้งอยู่ระหว่าง chip meter  และ Steaming  vessel ทำหน้าที่เป็น</a:t>
            </a:r>
          </a:p>
          <a:p>
            <a:pPr>
              <a:spcBef>
                <a:spcPct val="0"/>
              </a:spcBef>
              <a:buFontTx/>
              <a:buNone/>
            </a:pPr>
            <a:r>
              <a:rPr lang="en-US" altLang="en-US" sz="2400" b="1">
                <a:latin typeface="Cordia New" panose="020B0304020202020204" pitchFamily="34" charset="-34"/>
                <a:cs typeface="Cordia New" panose="020B0304020202020204" pitchFamily="34" charset="-34"/>
              </a:rPr>
              <a:t>ตัวกั้นระหว่าง pressure  ที่เป็นความดันบรรยากาศใน Chip Meter  และความดันซึ๋งสูงกว่า</a:t>
            </a:r>
          </a:p>
          <a:p>
            <a:pPr>
              <a:spcBef>
                <a:spcPct val="0"/>
              </a:spcBef>
              <a:buFontTx/>
              <a:buNone/>
            </a:pPr>
            <a:r>
              <a:rPr lang="en-US" altLang="en-US" sz="2400" b="1">
                <a:latin typeface="Cordia New" panose="020B0304020202020204" pitchFamily="34" charset="-34"/>
                <a:cs typeface="Cordia New" panose="020B0304020202020204" pitchFamily="34" charset="-34"/>
              </a:rPr>
              <a:t>ความดันบรรยากาศ  ( แต่ยังเป็น  low  pressure ) ในระบบของ cooking  plant</a:t>
            </a:r>
            <a:endParaRPr lang="en-US" altLang="en-US" sz="2000" b="1">
              <a:latin typeface="Cordia New" panose="020B0304020202020204" pitchFamily="34" charset="-34"/>
              <a:cs typeface="Cordia New" panose="020B0304020202020204" pitchFamily="34" charset="-34"/>
            </a:endParaRPr>
          </a:p>
        </p:txBody>
      </p:sp>
    </p:spTree>
  </p:cSld>
  <p:clrMapOvr>
    <a:masterClrMapping/>
  </p:clrMapOvr>
  <p:transition/>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Text Box 3"/>
          <p:cNvSpPr txBox="1">
            <a:spLocks noChangeArrowheads="1"/>
          </p:cNvSpPr>
          <p:nvPr/>
        </p:nvSpPr>
        <p:spPr bwMode="auto">
          <a:xfrm>
            <a:off x="3924300" y="1484313"/>
            <a:ext cx="4911725" cy="3722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000" b="1" u="sng">
                <a:latin typeface="Cordia New" panose="020B0304020202020204" pitchFamily="34" charset="-34"/>
                <a:cs typeface="Cordia New" panose="020B0304020202020204" pitchFamily="34" charset="-34"/>
              </a:rPr>
              <a:t>โครงสร้าง</a:t>
            </a:r>
          </a:p>
          <a:p>
            <a:pPr>
              <a:spcBef>
                <a:spcPct val="0"/>
              </a:spcBef>
              <a:buFontTx/>
              <a:buNone/>
            </a:pPr>
            <a:r>
              <a:rPr lang="en-US" altLang="en-US" sz="2000">
                <a:latin typeface="Cordia New" panose="020B0304020202020204" pitchFamily="34" charset="-34"/>
                <a:cs typeface="Cordia New" panose="020B0304020202020204" pitchFamily="34" charset="-34"/>
              </a:rPr>
              <a:t>	</a:t>
            </a:r>
            <a:r>
              <a:rPr lang="en-US" altLang="en-US" sz="1800">
                <a:latin typeface="Cordia New" panose="020B0304020202020204" pitchFamily="34" charset="-34"/>
                <a:cs typeface="Cordia New" panose="020B0304020202020204" pitchFamily="34" charset="-34"/>
              </a:rPr>
              <a:t>LP-feeder  ประกอบด้วยตัว  housing  และตัวหมุน  rotor  มีการป้อน Chip  เข้าทางด้านบนและออกทางด้านล่าง และจะมีช่องเปิดเพื่อระบายความดันภายใน pocket  ( decompression  connection ) ที่ค้างมาจาก  Steaming vessel  ตัว doctor ( แผ่นรองรับการไหลของ chip )  จะติดไว้ที่ทางท่อ inlet  เพื่อให้ chip ไหลสู่  pocket ได้สะดวกขึ้น</a:t>
            </a:r>
          </a:p>
          <a:p>
            <a:pPr>
              <a:spcBef>
                <a:spcPct val="0"/>
              </a:spcBef>
              <a:buFontTx/>
              <a:buNone/>
            </a:pPr>
            <a:r>
              <a:rPr lang="en-US" altLang="en-US" sz="1800">
                <a:latin typeface="Cordia New" panose="020B0304020202020204" pitchFamily="34" charset="-34"/>
                <a:cs typeface="Cordia New" panose="020B0304020202020204" pitchFamily="34" charset="-34"/>
              </a:rPr>
              <a:t>	ตัว  rotor  จะประกอบด้วย pocket 5 ช่อง แยกกันโดยมีผนังกั้นแนวยาว  </a:t>
            </a:r>
            <a:r>
              <a:rPr lang="en-US" altLang="en-US" sz="1800" b="1" i="1">
                <a:solidFill>
                  <a:srgbClr val="FF0000"/>
                </a:solidFill>
                <a:latin typeface="Cordia New" panose="020B0304020202020204" pitchFamily="34" charset="-34"/>
                <a:cs typeface="Cordia New" panose="020B0304020202020204" pitchFamily="34" charset="-34"/>
              </a:rPr>
              <a:t>จุดที่จำเป็นอย่างยิ่งคือ ระยะห่าง clearance ระหว่าง rotor  และ housing ควรมีระยะห่างน้อยที่สุด เพื่อลดอัตราการรั่วไหลของความดันจากภายใน Steaming Vessel</a:t>
            </a:r>
            <a:r>
              <a:rPr lang="en-US" altLang="en-US" sz="1800">
                <a:solidFill>
                  <a:srgbClr val="FF0000"/>
                </a:solidFill>
                <a:latin typeface="Cordia New" panose="020B0304020202020204" pitchFamily="34" charset="-34"/>
                <a:cs typeface="Cordia New" panose="020B0304020202020204" pitchFamily="34" charset="-34"/>
              </a:rPr>
              <a:t>  </a:t>
            </a:r>
            <a:r>
              <a:rPr lang="en-US" altLang="en-US" sz="1800">
                <a:latin typeface="Cordia New" panose="020B0304020202020204" pitchFamily="34" charset="-34"/>
                <a:cs typeface="Cordia New" panose="020B0304020202020204" pitchFamily="34" charset="-34"/>
              </a:rPr>
              <a:t>ด้วยเหตุนี้ตัว housing และ rotor  จะถูกออกแบบให้เป็นลักษณะของ  taper  ตามแนวแกน เพื่อที่จะสามารถปรับระยะห่างภายในนี้ได้โดยการปรับตัว  rotor   ตามแนวแกนได้เมื่อระยะห่างเพิ่มขึ้น เนื่องจากการสึกกร่อนจากการหมุน</a:t>
            </a:r>
          </a:p>
        </p:txBody>
      </p:sp>
      <p:sp>
        <p:nvSpPr>
          <p:cNvPr id="177158" name="Text Box 6"/>
          <p:cNvSpPr txBox="1">
            <a:spLocks noChangeArrowheads="1"/>
          </p:cNvSpPr>
          <p:nvPr/>
        </p:nvSpPr>
        <p:spPr bwMode="auto">
          <a:xfrm>
            <a:off x="611188" y="200025"/>
            <a:ext cx="5145087" cy="1068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3600" b="1" dirty="0">
                <a:solidFill>
                  <a:srgbClr val="FF0000"/>
                </a:solidFill>
                <a:effectLst>
                  <a:outerShdw blurRad="38100" dist="38100" dir="2700000" algn="tl">
                    <a:srgbClr val="000000"/>
                  </a:outerShdw>
                </a:effectLst>
                <a:latin typeface="Century Schoolbook" panose="02040604050505020304" pitchFamily="18" charset="0"/>
              </a:rPr>
              <a:t>Continuous digester </a:t>
            </a:r>
          </a:p>
          <a:p>
            <a:pPr>
              <a:defRPr/>
            </a:pPr>
            <a:r>
              <a:rPr lang="en-US" altLang="en-US" sz="2800" b="1" dirty="0">
                <a:effectLst>
                  <a:outerShdw blurRad="38100" dist="38100" dir="2700000" algn="tl">
                    <a:srgbClr val="000000"/>
                  </a:outerShdw>
                </a:effectLst>
                <a:latin typeface="Century Schoolbook" panose="02040604050505020304" pitchFamily="18" charset="0"/>
              </a:rPr>
              <a:t>Low Pressure feeder (C25)</a:t>
            </a:r>
          </a:p>
        </p:txBody>
      </p:sp>
      <p:pic>
        <p:nvPicPr>
          <p:cNvPr id="263172" name="Picture 8" descr="mr27^002"/>
          <p:cNvPicPr>
            <a:picLocks noGrp="1" noChangeAspect="1" noChangeArrowheads="1"/>
          </p:cNvPicPr>
          <p:nvPr>
            <p:ph/>
          </p:nvPr>
        </p:nvPicPr>
        <p:blipFill>
          <a:blip r:embed="rId2" cstate="print">
            <a:extLst>
              <a:ext uri="{28A0092B-C50C-407E-A947-70E740481C1C}">
                <a14:useLocalDpi xmlns:a14="http://schemas.microsoft.com/office/drawing/2010/main" val="0"/>
              </a:ext>
            </a:extLst>
          </a:blip>
          <a:srcRect/>
          <a:stretch>
            <a:fillRect/>
          </a:stretch>
        </p:blipFill>
        <p:spPr>
          <a:xfrm>
            <a:off x="755650" y="1557338"/>
            <a:ext cx="2738438" cy="3529012"/>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63173" name="Text Box 10"/>
          <p:cNvSpPr txBox="1">
            <a:spLocks noChangeArrowheads="1"/>
          </p:cNvSpPr>
          <p:nvPr/>
        </p:nvSpPr>
        <p:spPr bwMode="auto">
          <a:xfrm>
            <a:off x="438150" y="5197475"/>
            <a:ext cx="8459788" cy="16160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000" b="1" u="sng">
                <a:latin typeface="Cordia New" panose="020B0304020202020204" pitchFamily="34" charset="-34"/>
                <a:cs typeface="Cordia New" panose="020B0304020202020204" pitchFamily="34" charset="-34"/>
              </a:rPr>
              <a:t>การทำงาน</a:t>
            </a:r>
          </a:p>
          <a:p>
            <a:pPr>
              <a:spcBef>
                <a:spcPct val="0"/>
              </a:spcBef>
              <a:buFontTx/>
              <a:buNone/>
            </a:pPr>
            <a:r>
              <a:rPr lang="en-US" altLang="en-US" sz="2000">
                <a:latin typeface="Cordia New" panose="020B0304020202020204" pitchFamily="34" charset="-34"/>
                <a:cs typeface="Cordia New" panose="020B0304020202020204" pitchFamily="34" charset="-34"/>
              </a:rPr>
              <a:t>	chip  จะตกลงจาก chip  meter  เข้าทางด้านบนของ  LP-feeder  ลงสู่  Pocket   ซึ่ง  rotor  จะหมุนด้วย</a:t>
            </a:r>
          </a:p>
          <a:p>
            <a:pPr>
              <a:spcBef>
                <a:spcPct val="0"/>
              </a:spcBef>
              <a:buFontTx/>
              <a:buNone/>
            </a:pPr>
            <a:r>
              <a:rPr lang="en-US" altLang="en-US" sz="2000">
                <a:latin typeface="Cordia New" panose="020B0304020202020204" pitchFamily="34" charset="-34"/>
                <a:cs typeface="Cordia New" panose="020B0304020202020204" pitchFamily="34" charset="-34"/>
              </a:rPr>
              <a:t>ความเร็วรอบประมาณ 22  rpm. เมื่อตัว rotor หมุนไปครึ่งรอบ Chipใน pocket นั้น ก็จะตกลงสู่ทางเข้า   Steaming vessel  ส่วน  pocket   ตัวที่ว่างที่ส่ง Chip  เข้า steaming  vessel   แล้วจะมีความดันสูงอยู่ เมื่อหมุนกลับมาถึงช่อง</a:t>
            </a:r>
          </a:p>
          <a:p>
            <a:pPr>
              <a:spcBef>
                <a:spcPct val="0"/>
              </a:spcBef>
              <a:buFontTx/>
              <a:buNone/>
            </a:pPr>
            <a:r>
              <a:rPr lang="en-US" altLang="en-US" sz="2000">
                <a:latin typeface="Cordia New" panose="020B0304020202020204" pitchFamily="34" charset="-34"/>
                <a:cs typeface="Cordia New" panose="020B0304020202020204" pitchFamily="34" charset="-34"/>
              </a:rPr>
              <a:t>ระบายความดัน ( decompression  line ) ความดันก็จะถูกระบายสู่  Chip  bin  เพื่อลดความดันเป็นความดันบรรยากาศ</a:t>
            </a:r>
          </a:p>
        </p:txBody>
      </p:sp>
    </p:spTree>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Text Box 2"/>
          <p:cNvSpPr txBox="1">
            <a:spLocks noChangeArrowheads="1"/>
          </p:cNvSpPr>
          <p:nvPr/>
        </p:nvSpPr>
        <p:spPr bwMode="auto">
          <a:xfrm>
            <a:off x="611188" y="1341438"/>
            <a:ext cx="5905500" cy="161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000">
                <a:latin typeface="Cordia New" panose="020B0304020202020204" pitchFamily="34" charset="-34"/>
                <a:cs typeface="Cordia New" panose="020B0304020202020204" pitchFamily="34" charset="-34"/>
              </a:rPr>
              <a:t>	Steaming  vessel  ติดตั้งอยู่ระหว่าง LP-feeder  และ  </a:t>
            </a:r>
          </a:p>
          <a:p>
            <a:pPr>
              <a:spcBef>
                <a:spcPct val="0"/>
              </a:spcBef>
              <a:buFontTx/>
              <a:buNone/>
            </a:pPr>
            <a:r>
              <a:rPr lang="en-US" altLang="en-US" sz="2000">
                <a:latin typeface="Cordia New" panose="020B0304020202020204" pitchFamily="34" charset="-34"/>
                <a:cs typeface="Cordia New" panose="020B0304020202020204" pitchFamily="34" charset="-34"/>
              </a:rPr>
              <a:t>HP-feeder  chip จะถูกให้ความร้อนจากไอน้ำให้อุณหภูมิสูงขึ้น  เพื่อ</a:t>
            </a:r>
          </a:p>
          <a:p>
            <a:pPr>
              <a:spcBef>
                <a:spcPct val="0"/>
              </a:spcBef>
              <a:buFontTx/>
              <a:buNone/>
            </a:pPr>
            <a:r>
              <a:rPr lang="en-US" altLang="en-US" sz="2000">
                <a:latin typeface="Cordia New" panose="020B0304020202020204" pitchFamily="34" charset="-34"/>
                <a:cs typeface="Cordia New" panose="020B0304020202020204" pitchFamily="34" charset="-34"/>
              </a:rPr>
              <a:t>ไล่อากาศภายในชิ้นไม้ออก  ซึ่งในขั้นตอนนี้เป็นขั้นตอนที่เตรียมเพื่อให้</a:t>
            </a:r>
          </a:p>
          <a:p>
            <a:pPr>
              <a:spcBef>
                <a:spcPct val="0"/>
              </a:spcBef>
              <a:buFontTx/>
              <a:buNone/>
            </a:pPr>
            <a:r>
              <a:rPr lang="en-US" altLang="en-US" sz="2000">
                <a:latin typeface="Cordia New" panose="020B0304020202020204" pitchFamily="34" charset="-34"/>
                <a:cs typeface="Cordia New" panose="020B0304020202020204" pitchFamily="34" charset="-34"/>
              </a:rPr>
              <a:t>น้ำยาต้มเยื่อ  ( Liquor )  ซึมเข้าภายใน เนื้อไม้ง่ายขึ้นในช่วงของการ </a:t>
            </a:r>
          </a:p>
          <a:p>
            <a:pPr>
              <a:spcBef>
                <a:spcPct val="0"/>
              </a:spcBef>
              <a:buFontTx/>
              <a:buNone/>
            </a:pPr>
            <a:r>
              <a:rPr lang="en-US" altLang="en-US" sz="2000">
                <a:latin typeface="Cordia New" panose="020B0304020202020204" pitchFamily="34" charset="-34"/>
                <a:cs typeface="Cordia New" panose="020B0304020202020204" pitchFamily="34" charset="-34"/>
              </a:rPr>
              <a:t>impregnation</a:t>
            </a:r>
            <a:endParaRPr lang="en-US" altLang="en-US" sz="1800">
              <a:latin typeface="Cordia New" panose="020B0304020202020204" pitchFamily="34" charset="-34"/>
              <a:cs typeface="Cordia New" panose="020B0304020202020204" pitchFamily="34" charset="-34"/>
            </a:endParaRPr>
          </a:p>
        </p:txBody>
      </p:sp>
      <p:sp>
        <p:nvSpPr>
          <p:cNvPr id="264195" name="Text Box 4"/>
          <p:cNvSpPr txBox="1">
            <a:spLocks noChangeArrowheads="1"/>
          </p:cNvSpPr>
          <p:nvPr/>
        </p:nvSpPr>
        <p:spPr bwMode="auto">
          <a:xfrm>
            <a:off x="4727575" y="2873375"/>
            <a:ext cx="4237038" cy="37830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000" b="1" u="sng">
                <a:latin typeface="Cordia New" panose="020B0304020202020204" pitchFamily="34" charset="-34"/>
                <a:cs typeface="Cordia New" panose="020B0304020202020204" pitchFamily="34" charset="-34"/>
              </a:rPr>
              <a:t>โครงสร้าง</a:t>
            </a:r>
            <a:endParaRPr lang="en-US" altLang="en-US" sz="2000" b="1">
              <a:latin typeface="Cordia New" panose="020B0304020202020204" pitchFamily="34" charset="-34"/>
              <a:cs typeface="Cordia New" panose="020B0304020202020204" pitchFamily="34" charset="-34"/>
            </a:endParaRPr>
          </a:p>
          <a:p>
            <a:pPr>
              <a:spcBef>
                <a:spcPct val="0"/>
              </a:spcBef>
              <a:buFontTx/>
              <a:buNone/>
            </a:pPr>
            <a:r>
              <a:rPr lang="en-US" altLang="en-US" sz="2000">
                <a:latin typeface="Cordia New" panose="020B0304020202020204" pitchFamily="34" charset="-34"/>
                <a:cs typeface="Cordia New" panose="020B0304020202020204" pitchFamily="34" charset="-34"/>
              </a:rPr>
              <a:t>	</a:t>
            </a:r>
            <a:r>
              <a:rPr lang="en-US" altLang="en-US" sz="1800">
                <a:latin typeface="Cordia New" panose="020B0304020202020204" pitchFamily="34" charset="-34"/>
                <a:cs typeface="Cordia New" panose="020B0304020202020204" pitchFamily="34" charset="-34"/>
              </a:rPr>
              <a:t>ตัว  Steaming  vessel  ประกอบด้วย  body  ซึ่งเป็นลักษณะทรงกระบอกแนวนอนภายในมี  screw  conveyor  ซึ่งถูกยึดด้วย  bearing  เป็นตัวนำพา  chip  ที่ผ่านเข้าทางด้านบนที่ปลายข้างหนึ่งของ  vessel</a:t>
            </a:r>
          </a:p>
          <a:p>
            <a:pPr>
              <a:spcBef>
                <a:spcPct val="0"/>
              </a:spcBef>
              <a:buFontTx/>
              <a:buNone/>
            </a:pPr>
            <a:endParaRPr lang="en-US" altLang="en-US" sz="1800" u="sng">
              <a:latin typeface="Cordia New" panose="020B0304020202020204" pitchFamily="34" charset="-34"/>
              <a:cs typeface="Cordia New" panose="020B0304020202020204" pitchFamily="34" charset="-34"/>
            </a:endParaRPr>
          </a:p>
          <a:p>
            <a:pPr>
              <a:spcBef>
                <a:spcPct val="0"/>
              </a:spcBef>
              <a:buFontTx/>
              <a:buNone/>
            </a:pPr>
            <a:r>
              <a:rPr lang="en-US" altLang="en-US" sz="2000" b="1" u="sng">
                <a:latin typeface="Cordia New" panose="020B0304020202020204" pitchFamily="34" charset="-34"/>
                <a:cs typeface="Cordia New" panose="020B0304020202020204" pitchFamily="34" charset="-34"/>
              </a:rPr>
              <a:t>การทำงาน</a:t>
            </a:r>
          </a:p>
          <a:p>
            <a:pPr>
              <a:spcBef>
                <a:spcPct val="0"/>
              </a:spcBef>
              <a:buFontTx/>
              <a:buNone/>
            </a:pPr>
            <a:r>
              <a:rPr lang="en-US" altLang="en-US" sz="2000">
                <a:latin typeface="Cordia New" panose="020B0304020202020204" pitchFamily="34" charset="-34"/>
                <a:cs typeface="Cordia New" panose="020B0304020202020204" pitchFamily="34" charset="-34"/>
              </a:rPr>
              <a:t>	</a:t>
            </a:r>
            <a:r>
              <a:rPr lang="en-US" altLang="en-US" sz="1800">
                <a:latin typeface="Cordia New" panose="020B0304020202020204" pitchFamily="34" charset="-34"/>
                <a:cs typeface="Cordia New" panose="020B0304020202020204" pitchFamily="34" charset="-34"/>
              </a:rPr>
              <a:t>chip  จาก LP-feeder  จะถูกป้อนผ่านโดยตัว  screw  conveyor  โดยที่ chip จะอยู่ภายในตัว Steaming  vessel  เป็นเวลาประมาณ 1.5-2 นาที   ไอน้ำที่ป้อนเข้าจะเข้าทางด้านล่าง</a:t>
            </a:r>
          </a:p>
          <a:p>
            <a:pPr>
              <a:spcBef>
                <a:spcPct val="0"/>
              </a:spcBef>
              <a:buFontTx/>
              <a:buNone/>
            </a:pPr>
            <a:r>
              <a:rPr lang="en-US" altLang="en-US" sz="1800">
                <a:latin typeface="Cordia New" panose="020B0304020202020204" pitchFamily="34" charset="-34"/>
                <a:cs typeface="Cordia New" panose="020B0304020202020204" pitchFamily="34" charset="-34"/>
              </a:rPr>
              <a:t>ผ่านตะแกรงกระจายไอน้ำเพื่อให้อัตราการถ่ายเทความร้อนดีที่สุด รอบการหมุนของ screw  จะ set  ไว้ประมาณ 6 หรือ 8 rpm. </a:t>
            </a:r>
          </a:p>
          <a:p>
            <a:pPr>
              <a:spcBef>
                <a:spcPct val="0"/>
              </a:spcBef>
              <a:buFontTx/>
              <a:buNone/>
            </a:pPr>
            <a:r>
              <a:rPr lang="en-US" altLang="en-US" sz="1800">
                <a:latin typeface="Cordia New" panose="020B0304020202020204" pitchFamily="34" charset="-34"/>
                <a:cs typeface="Cordia New" panose="020B0304020202020204" pitchFamily="34" charset="-34"/>
              </a:rPr>
              <a:t>ขึ้นอยู่กับปริมาณที่ต้องการผลิต</a:t>
            </a:r>
          </a:p>
        </p:txBody>
      </p:sp>
      <p:pic>
        <p:nvPicPr>
          <p:cNvPr id="264196" name="Picture 5" descr="mr12^008"/>
          <p:cNvPicPr>
            <a:picLocks noGrp="1" noChangeAspect="1" noChangeArrowheads="1"/>
          </p:cNvPicPr>
          <p:nvPr>
            <p:ph/>
          </p:nvPr>
        </p:nvPicPr>
        <p:blipFill>
          <a:blip r:embed="rId2" cstate="print">
            <a:extLst>
              <a:ext uri="{28A0092B-C50C-407E-A947-70E740481C1C}">
                <a14:useLocalDpi xmlns:a14="http://schemas.microsoft.com/office/drawing/2010/main" val="0"/>
              </a:ext>
            </a:extLst>
          </a:blip>
          <a:srcRect/>
          <a:stretch>
            <a:fillRect/>
          </a:stretch>
        </p:blipFill>
        <p:spPr>
          <a:xfrm>
            <a:off x="755650" y="2997200"/>
            <a:ext cx="3816350" cy="2771775"/>
          </a:xfrm>
          <a:noFill/>
          <a:ln w="38100">
            <a:solidFill>
              <a:schemeClr val="bg2"/>
            </a:solidFill>
            <a:miter lim="800000"/>
            <a:headEnd/>
            <a:tailEnd/>
          </a:ln>
          <a:effectLst>
            <a:outerShdw dist="35921" dir="2700000" algn="ctr" rotWithShape="0">
              <a:srgbClr val="808080"/>
            </a:outerShdw>
          </a:effectLst>
        </p:spPr>
      </p:pic>
      <p:sp>
        <p:nvSpPr>
          <p:cNvPr id="264197" name="Rectangle 6"/>
          <p:cNvSpPr>
            <a:spLocks noChangeArrowheads="1"/>
          </p:cNvSpPr>
          <p:nvPr/>
        </p:nvSpPr>
        <p:spPr bwMode="auto">
          <a:xfrm>
            <a:off x="6084888" y="1268413"/>
            <a:ext cx="1066800" cy="304800"/>
          </a:xfrm>
          <a:prstGeom prst="rect">
            <a:avLst/>
          </a:prstGeom>
          <a:solidFill>
            <a:srgbClr val="66FFFF">
              <a:alpha val="50195"/>
            </a:srgbClr>
          </a:solidFill>
          <a:ln w="19050">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180231" name="Text Box 7"/>
          <p:cNvSpPr txBox="1">
            <a:spLocks noChangeArrowheads="1"/>
          </p:cNvSpPr>
          <p:nvPr/>
        </p:nvSpPr>
        <p:spPr bwMode="auto">
          <a:xfrm>
            <a:off x="611188" y="200025"/>
            <a:ext cx="5145087" cy="1068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3600" b="1" dirty="0">
                <a:solidFill>
                  <a:srgbClr val="FF0000"/>
                </a:solidFill>
                <a:effectLst>
                  <a:outerShdw blurRad="38100" dist="38100" dir="2700000" algn="tl">
                    <a:srgbClr val="000000"/>
                  </a:outerShdw>
                </a:effectLst>
                <a:latin typeface="Century Schoolbook" panose="02040604050505020304" pitchFamily="18" charset="0"/>
              </a:rPr>
              <a:t>Continuous digester </a:t>
            </a:r>
          </a:p>
          <a:p>
            <a:pPr>
              <a:defRPr/>
            </a:pPr>
            <a:r>
              <a:rPr lang="en-US" altLang="en-US" sz="2800" b="1" dirty="0">
                <a:effectLst>
                  <a:outerShdw blurRad="38100" dist="38100" dir="2700000" algn="tl">
                    <a:srgbClr val="000000"/>
                  </a:outerShdw>
                </a:effectLst>
                <a:latin typeface="Century Schoolbook" panose="02040604050505020304" pitchFamily="18" charset="0"/>
              </a:rPr>
              <a:t>Steaming vessel (C26)</a:t>
            </a:r>
          </a:p>
        </p:txBody>
      </p:sp>
      <p:grpSp>
        <p:nvGrpSpPr>
          <p:cNvPr id="264199" name="Group 8"/>
          <p:cNvGrpSpPr>
            <a:grpSpLocks/>
          </p:cNvGrpSpPr>
          <p:nvPr/>
        </p:nvGrpSpPr>
        <p:grpSpPr bwMode="auto">
          <a:xfrm>
            <a:off x="6011863" y="511175"/>
            <a:ext cx="1066800" cy="1981200"/>
            <a:chOff x="48" y="609"/>
            <a:chExt cx="96" cy="176"/>
          </a:xfrm>
        </p:grpSpPr>
        <p:sp>
          <p:nvSpPr>
            <p:cNvPr id="264200" name="Freeform 9"/>
            <p:cNvSpPr>
              <a:spLocks/>
            </p:cNvSpPr>
            <p:nvPr/>
          </p:nvSpPr>
          <p:spPr bwMode="auto">
            <a:xfrm>
              <a:off x="58" y="653"/>
              <a:ext cx="10" cy="9"/>
            </a:xfrm>
            <a:custGeom>
              <a:avLst/>
              <a:gdLst>
                <a:gd name="T0" fmla="*/ 2 w 10"/>
                <a:gd name="T1" fmla="*/ 5 h 10"/>
                <a:gd name="T2" fmla="*/ 0 w 10"/>
                <a:gd name="T3" fmla="*/ 0 h 10"/>
                <a:gd name="T4" fmla="*/ 9 w 10"/>
                <a:gd name="T5" fmla="*/ 0 h 10"/>
                <a:gd name="T6" fmla="*/ 10 w 10"/>
                <a:gd name="T7" fmla="*/ 5 h 1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 h="10">
                  <a:moveTo>
                    <a:pt x="2" y="10"/>
                  </a:moveTo>
                  <a:lnTo>
                    <a:pt x="0" y="0"/>
                  </a:lnTo>
                  <a:lnTo>
                    <a:pt x="9" y="0"/>
                  </a:lnTo>
                  <a:lnTo>
                    <a:pt x="10" y="6"/>
                  </a:lnTo>
                </a:path>
              </a:pathLst>
            </a:custGeom>
            <a:gradFill rotWithShape="0">
              <a:gsLst>
                <a:gs pos="0">
                  <a:srgbClr val="808080"/>
                </a:gs>
                <a:gs pos="50000">
                  <a:srgbClr val="FFFFFF"/>
                </a:gs>
                <a:gs pos="100000">
                  <a:srgbClr val="808080"/>
                </a:gs>
              </a:gsLst>
              <a:lin ang="0" scaled="1"/>
            </a:gradFill>
            <a:ln w="9525">
              <a:solidFill>
                <a:srgbClr val="000000"/>
              </a:solidFill>
              <a:round/>
              <a:headEnd/>
              <a:tailEnd/>
            </a:ln>
          </p:spPr>
          <p:txBody>
            <a:bodyPr/>
            <a:lstStyle/>
            <a:p>
              <a:endParaRPr lang="en-US"/>
            </a:p>
          </p:txBody>
        </p:sp>
        <p:grpSp>
          <p:nvGrpSpPr>
            <p:cNvPr id="264201" name="Group 10"/>
            <p:cNvGrpSpPr>
              <a:grpSpLocks/>
            </p:cNvGrpSpPr>
            <p:nvPr/>
          </p:nvGrpSpPr>
          <p:grpSpPr bwMode="auto">
            <a:xfrm>
              <a:off x="125" y="750"/>
              <a:ext cx="19" cy="18"/>
              <a:chOff x="125" y="750"/>
              <a:chExt cx="19" cy="18"/>
            </a:xfrm>
          </p:grpSpPr>
          <p:sp>
            <p:nvSpPr>
              <p:cNvPr id="264214" name="AutoShape 11"/>
              <p:cNvSpPr>
                <a:spLocks noChangeArrowheads="1"/>
              </p:cNvSpPr>
              <p:nvPr/>
            </p:nvSpPr>
            <p:spPr bwMode="auto">
              <a:xfrm>
                <a:off x="125" y="750"/>
                <a:ext cx="19" cy="18"/>
              </a:xfrm>
              <a:prstGeom prst="plaque">
                <a:avLst>
                  <a:gd name="adj" fmla="val 16667"/>
                </a:avLst>
              </a:prstGeom>
              <a:gradFill rotWithShape="1">
                <a:gsLst>
                  <a:gs pos="0">
                    <a:srgbClr val="808080"/>
                  </a:gs>
                  <a:gs pos="50000">
                    <a:srgbClr val="FFFFFF"/>
                  </a:gs>
                  <a:gs pos="100000">
                    <a:srgbClr val="80808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64215" name="Oval 12"/>
              <p:cNvSpPr>
                <a:spLocks noChangeArrowheads="1"/>
              </p:cNvSpPr>
              <p:nvPr/>
            </p:nvSpPr>
            <p:spPr bwMode="auto">
              <a:xfrm>
                <a:off x="128" y="752"/>
                <a:ext cx="13" cy="13"/>
              </a:xfrm>
              <a:prstGeom prst="ellipse">
                <a:avLst/>
              </a:prstGeom>
              <a:solidFill>
                <a:srgbClr val="FFFFFF"/>
              </a:solidFill>
              <a:ln w="9525">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grpSp>
        <p:sp>
          <p:nvSpPr>
            <p:cNvPr id="264202" name="Rectangle 13"/>
            <p:cNvSpPr>
              <a:spLocks noChangeArrowheads="1"/>
            </p:cNvSpPr>
            <p:nvPr/>
          </p:nvSpPr>
          <p:spPr bwMode="auto">
            <a:xfrm>
              <a:off x="131" y="698"/>
              <a:ext cx="8" cy="52"/>
            </a:xfrm>
            <a:prstGeom prst="rect">
              <a:avLst/>
            </a:prstGeom>
            <a:gradFill rotWithShape="1">
              <a:gsLst>
                <a:gs pos="0">
                  <a:srgbClr val="808080"/>
                </a:gs>
                <a:gs pos="50000">
                  <a:srgbClr val="FFFFFF"/>
                </a:gs>
                <a:gs pos="100000">
                  <a:srgbClr val="80808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64203" name="Freeform 14"/>
            <p:cNvSpPr>
              <a:spLocks/>
            </p:cNvSpPr>
            <p:nvPr/>
          </p:nvSpPr>
          <p:spPr bwMode="auto">
            <a:xfrm>
              <a:off x="78" y="725"/>
              <a:ext cx="57" cy="60"/>
            </a:xfrm>
            <a:custGeom>
              <a:avLst/>
              <a:gdLst>
                <a:gd name="T0" fmla="*/ 57 w 57"/>
                <a:gd name="T1" fmla="*/ 43 h 60"/>
                <a:gd name="T2" fmla="*/ 57 w 57"/>
                <a:gd name="T3" fmla="*/ 60 h 60"/>
                <a:gd name="T4" fmla="*/ 0 w 57"/>
                <a:gd name="T5" fmla="*/ 60 h 60"/>
                <a:gd name="T6" fmla="*/ 0 w 57"/>
                <a:gd name="T7" fmla="*/ 0 h 60"/>
                <a:gd name="T8" fmla="*/ 53 w 57"/>
                <a:gd name="T9" fmla="*/ 0 h 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 h="60">
                  <a:moveTo>
                    <a:pt x="57" y="43"/>
                  </a:moveTo>
                  <a:lnTo>
                    <a:pt x="57" y="60"/>
                  </a:lnTo>
                  <a:lnTo>
                    <a:pt x="0" y="60"/>
                  </a:lnTo>
                  <a:lnTo>
                    <a:pt x="0" y="0"/>
                  </a:lnTo>
                  <a:lnTo>
                    <a:pt x="53" y="0"/>
                  </a:lnTo>
                </a:path>
              </a:pathLst>
            </a:custGeom>
            <a:noFill/>
            <a:ln w="9525">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264204" name="Group 15"/>
            <p:cNvGrpSpPr>
              <a:grpSpLocks/>
            </p:cNvGrpSpPr>
            <p:nvPr/>
          </p:nvGrpSpPr>
          <p:grpSpPr bwMode="auto">
            <a:xfrm>
              <a:off x="62" y="685"/>
              <a:ext cx="77" cy="13"/>
              <a:chOff x="62" y="685"/>
              <a:chExt cx="77" cy="13"/>
            </a:xfrm>
          </p:grpSpPr>
          <p:sp>
            <p:nvSpPr>
              <p:cNvPr id="264212" name="Rectangle 16"/>
              <p:cNvSpPr>
                <a:spLocks noChangeArrowheads="1"/>
              </p:cNvSpPr>
              <p:nvPr/>
            </p:nvSpPr>
            <p:spPr bwMode="auto">
              <a:xfrm>
                <a:off x="62" y="685"/>
                <a:ext cx="77" cy="13"/>
              </a:xfrm>
              <a:prstGeom prst="rect">
                <a:avLst/>
              </a:prstGeom>
              <a:gradFill rotWithShape="1">
                <a:gsLst>
                  <a:gs pos="0">
                    <a:srgbClr val="808080"/>
                  </a:gs>
                  <a:gs pos="50000">
                    <a:srgbClr val="FFFFFF"/>
                  </a:gs>
                  <a:gs pos="100000">
                    <a:srgbClr val="80808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64213" name="Freeform 17"/>
              <p:cNvSpPr>
                <a:spLocks/>
              </p:cNvSpPr>
              <p:nvPr/>
            </p:nvSpPr>
            <p:spPr bwMode="auto">
              <a:xfrm>
                <a:off x="65" y="685"/>
                <a:ext cx="74" cy="13"/>
              </a:xfrm>
              <a:custGeom>
                <a:avLst/>
                <a:gdLst>
                  <a:gd name="T0" fmla="*/ 0 w 74"/>
                  <a:gd name="T1" fmla="*/ 0 h 13"/>
                  <a:gd name="T2" fmla="*/ 5 w 74"/>
                  <a:gd name="T3" fmla="*/ 13 h 13"/>
                  <a:gd name="T4" fmla="*/ 11 w 74"/>
                  <a:gd name="T5" fmla="*/ 0 h 13"/>
                  <a:gd name="T6" fmla="*/ 16 w 74"/>
                  <a:gd name="T7" fmla="*/ 13 h 13"/>
                  <a:gd name="T8" fmla="*/ 22 w 74"/>
                  <a:gd name="T9" fmla="*/ 0 h 13"/>
                  <a:gd name="T10" fmla="*/ 27 w 74"/>
                  <a:gd name="T11" fmla="*/ 13 h 13"/>
                  <a:gd name="T12" fmla="*/ 34 w 74"/>
                  <a:gd name="T13" fmla="*/ 0 h 13"/>
                  <a:gd name="T14" fmla="*/ 39 w 74"/>
                  <a:gd name="T15" fmla="*/ 13 h 13"/>
                  <a:gd name="T16" fmla="*/ 46 w 74"/>
                  <a:gd name="T17" fmla="*/ 0 h 13"/>
                  <a:gd name="T18" fmla="*/ 50 w 74"/>
                  <a:gd name="T19" fmla="*/ 13 h 13"/>
                  <a:gd name="T20" fmla="*/ 56 w 74"/>
                  <a:gd name="T21" fmla="*/ 0 h 13"/>
                  <a:gd name="T22" fmla="*/ 61 w 74"/>
                  <a:gd name="T23" fmla="*/ 13 h 13"/>
                  <a:gd name="T24" fmla="*/ 67 w 74"/>
                  <a:gd name="T25" fmla="*/ 0 h 13"/>
                  <a:gd name="T26" fmla="*/ 74 w 74"/>
                  <a:gd name="T27" fmla="*/ 13 h 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3">
                    <a:moveTo>
                      <a:pt x="0" y="0"/>
                    </a:moveTo>
                    <a:lnTo>
                      <a:pt x="5" y="13"/>
                    </a:lnTo>
                    <a:lnTo>
                      <a:pt x="11" y="0"/>
                    </a:lnTo>
                    <a:lnTo>
                      <a:pt x="16" y="13"/>
                    </a:lnTo>
                    <a:lnTo>
                      <a:pt x="22" y="0"/>
                    </a:lnTo>
                    <a:lnTo>
                      <a:pt x="27" y="13"/>
                    </a:lnTo>
                    <a:lnTo>
                      <a:pt x="34" y="0"/>
                    </a:lnTo>
                    <a:lnTo>
                      <a:pt x="39" y="13"/>
                    </a:lnTo>
                    <a:lnTo>
                      <a:pt x="46" y="0"/>
                    </a:lnTo>
                    <a:lnTo>
                      <a:pt x="50" y="13"/>
                    </a:lnTo>
                    <a:lnTo>
                      <a:pt x="56" y="0"/>
                    </a:lnTo>
                    <a:lnTo>
                      <a:pt x="61" y="13"/>
                    </a:lnTo>
                    <a:lnTo>
                      <a:pt x="67" y="0"/>
                    </a:lnTo>
                    <a:lnTo>
                      <a:pt x="74" y="13"/>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64205" name="Rectangle 18"/>
            <p:cNvSpPr>
              <a:spLocks noChangeArrowheads="1"/>
            </p:cNvSpPr>
            <p:nvPr/>
          </p:nvSpPr>
          <p:spPr bwMode="auto">
            <a:xfrm>
              <a:off x="62" y="663"/>
              <a:ext cx="7" cy="9"/>
            </a:xfrm>
            <a:prstGeom prst="rect">
              <a:avLst/>
            </a:prstGeom>
            <a:gradFill rotWithShape="0">
              <a:gsLst>
                <a:gs pos="0">
                  <a:srgbClr val="808080"/>
                </a:gs>
                <a:gs pos="50000">
                  <a:srgbClr val="FFFFFF"/>
                </a:gs>
                <a:gs pos="100000">
                  <a:srgbClr val="80808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64206" name="Rectangle 19"/>
            <p:cNvSpPr>
              <a:spLocks noChangeArrowheads="1"/>
            </p:cNvSpPr>
            <p:nvPr/>
          </p:nvSpPr>
          <p:spPr bwMode="auto">
            <a:xfrm>
              <a:off x="62" y="676"/>
              <a:ext cx="7" cy="9"/>
            </a:xfrm>
            <a:prstGeom prst="rect">
              <a:avLst/>
            </a:prstGeom>
            <a:gradFill rotWithShape="0">
              <a:gsLst>
                <a:gs pos="0">
                  <a:srgbClr val="808080"/>
                </a:gs>
                <a:gs pos="50000">
                  <a:srgbClr val="FFFFFF"/>
                </a:gs>
                <a:gs pos="100000">
                  <a:srgbClr val="80808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64207" name="Oval 20"/>
            <p:cNvSpPr>
              <a:spLocks noChangeArrowheads="1"/>
            </p:cNvSpPr>
            <p:nvPr/>
          </p:nvSpPr>
          <p:spPr bwMode="auto">
            <a:xfrm>
              <a:off x="60" y="670"/>
              <a:ext cx="10" cy="10"/>
            </a:xfrm>
            <a:prstGeom prst="ellipse">
              <a:avLst/>
            </a:prstGeom>
            <a:gradFill rotWithShape="0">
              <a:gsLst>
                <a:gs pos="0">
                  <a:srgbClr val="808080"/>
                </a:gs>
                <a:gs pos="50000">
                  <a:srgbClr val="FFFFFF"/>
                </a:gs>
                <a:gs pos="100000">
                  <a:srgbClr val="808080"/>
                </a:gs>
              </a:gsLst>
              <a:lin ang="0" scaled="1"/>
            </a:gradFill>
            <a:ln w="9525">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64208" name="AutoShape 21"/>
            <p:cNvSpPr>
              <a:spLocks noChangeArrowheads="1"/>
            </p:cNvSpPr>
            <p:nvPr/>
          </p:nvSpPr>
          <p:spPr bwMode="auto">
            <a:xfrm rot="5400000">
              <a:off x="60" y="633"/>
              <a:ext cx="5" cy="29"/>
            </a:xfrm>
            <a:prstGeom prst="flowChartDelay">
              <a:avLst/>
            </a:prstGeom>
            <a:gradFill rotWithShape="0">
              <a:gsLst>
                <a:gs pos="0">
                  <a:srgbClr val="808080"/>
                </a:gs>
                <a:gs pos="50000">
                  <a:srgbClr val="FFFFFF"/>
                </a:gs>
                <a:gs pos="100000">
                  <a:srgbClr val="80808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64209" name="Oval 22"/>
            <p:cNvSpPr>
              <a:spLocks noChangeArrowheads="1"/>
            </p:cNvSpPr>
            <p:nvPr/>
          </p:nvSpPr>
          <p:spPr bwMode="auto">
            <a:xfrm>
              <a:off x="60" y="657"/>
              <a:ext cx="10" cy="10"/>
            </a:xfrm>
            <a:prstGeom prst="ellipse">
              <a:avLst/>
            </a:prstGeom>
            <a:gradFill rotWithShape="0">
              <a:gsLst>
                <a:gs pos="0">
                  <a:srgbClr val="808080"/>
                </a:gs>
                <a:gs pos="50000">
                  <a:srgbClr val="FFFFFF"/>
                </a:gs>
                <a:gs pos="100000">
                  <a:srgbClr val="808080"/>
                </a:gs>
              </a:gsLst>
              <a:lin ang="0" scaled="1"/>
            </a:gradFill>
            <a:ln w="9525">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64210" name="Rectangle 23"/>
            <p:cNvSpPr>
              <a:spLocks noChangeArrowheads="1"/>
            </p:cNvSpPr>
            <p:nvPr/>
          </p:nvSpPr>
          <p:spPr bwMode="auto">
            <a:xfrm>
              <a:off x="56" y="650"/>
              <a:ext cx="12" cy="3"/>
            </a:xfrm>
            <a:prstGeom prst="rect">
              <a:avLst/>
            </a:prstGeom>
            <a:gradFill rotWithShape="0">
              <a:gsLst>
                <a:gs pos="0">
                  <a:srgbClr val="808080"/>
                </a:gs>
                <a:gs pos="50000">
                  <a:srgbClr val="FFFFFF"/>
                </a:gs>
                <a:gs pos="100000">
                  <a:srgbClr val="80808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64211" name="Rectangle 24"/>
            <p:cNvSpPr>
              <a:spLocks noChangeArrowheads="1"/>
            </p:cNvSpPr>
            <p:nvPr/>
          </p:nvSpPr>
          <p:spPr bwMode="auto">
            <a:xfrm>
              <a:off x="48" y="609"/>
              <a:ext cx="29" cy="36"/>
            </a:xfrm>
            <a:prstGeom prst="rect">
              <a:avLst/>
            </a:prstGeom>
            <a:gradFill rotWithShape="1">
              <a:gsLst>
                <a:gs pos="0">
                  <a:srgbClr val="808080"/>
                </a:gs>
                <a:gs pos="50000">
                  <a:srgbClr val="FFFFFF"/>
                </a:gs>
                <a:gs pos="100000">
                  <a:srgbClr val="80808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grpSp>
    </p:spTree>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5218" name="Picture 3" descr="mr12^008"/>
          <p:cNvPicPr>
            <a:picLocks noGrp="1" noChangeAspect="1" noChangeArrowheads="1"/>
          </p:cNvPicPr>
          <p:nvPr>
            <p:ph/>
          </p:nvPr>
        </p:nvPicPr>
        <p:blipFill>
          <a:blip r:embed="rId2">
            <a:extLst>
              <a:ext uri="{28A0092B-C50C-407E-A947-70E740481C1C}">
                <a14:useLocalDpi xmlns:a14="http://schemas.microsoft.com/office/drawing/2010/main" val="0"/>
              </a:ext>
            </a:extLst>
          </a:blip>
          <a:srcRect/>
          <a:stretch>
            <a:fillRect/>
          </a:stretch>
        </p:blipFill>
        <p:spPr>
          <a:xfrm>
            <a:off x="1838325" y="3213100"/>
            <a:ext cx="5181600" cy="3455988"/>
          </a:xfrm>
          <a:noFill/>
          <a:ln w="38100">
            <a:solidFill>
              <a:schemeClr val="bg2"/>
            </a:solidFill>
            <a:miter lim="800000"/>
            <a:headEnd/>
            <a:tailEnd/>
          </a:ln>
          <a:effectLst>
            <a:outerShdw dist="35921" dir="2700000" algn="ctr" rotWithShape="0">
              <a:srgbClr val="808080"/>
            </a:outerShdw>
          </a:effectLst>
        </p:spPr>
      </p:pic>
      <p:sp>
        <p:nvSpPr>
          <p:cNvPr id="179204" name="Text Box 4"/>
          <p:cNvSpPr txBox="1">
            <a:spLocks noChangeArrowheads="1"/>
          </p:cNvSpPr>
          <p:nvPr/>
        </p:nvSpPr>
        <p:spPr bwMode="auto">
          <a:xfrm>
            <a:off x="684213" y="1557338"/>
            <a:ext cx="5040312" cy="1465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accent1"/>
              </a:buClr>
              <a:buFont typeface="Wingdings" panose="05000000000000000000" pitchFamily="2" charset="2"/>
              <a:buChar char="l"/>
              <a:defRPr/>
            </a:pPr>
            <a:r>
              <a:rPr lang="en-US" altLang="en-US" dirty="0">
                <a:latin typeface="Century Schoolbook" panose="02040604050505020304" pitchFamily="18" charset="0"/>
                <a:cs typeface="Arial" panose="020B0604020202020204" pitchFamily="34" charset="0"/>
              </a:rPr>
              <a:t> </a:t>
            </a:r>
            <a:r>
              <a:rPr lang="en-US" altLang="en-US" b="1" dirty="0">
                <a:effectLst>
                  <a:outerShdw blurRad="38100" dist="38100" dir="2700000" algn="tl">
                    <a:srgbClr val="000000"/>
                  </a:outerShdw>
                </a:effectLst>
                <a:latin typeface="Century Schoolbook" panose="02040604050505020304" pitchFamily="18" charset="0"/>
                <a:cs typeface="Arial" panose="020B0604020202020204" pitchFamily="34" charset="0"/>
              </a:rPr>
              <a:t>The steaming vessel </a:t>
            </a:r>
            <a:r>
              <a:rPr lang="en-US" altLang="en-US" dirty="0">
                <a:latin typeface="Century Schoolbook" panose="02040604050505020304" pitchFamily="18" charset="0"/>
                <a:cs typeface="Arial" panose="020B0604020202020204" pitchFamily="34" charset="0"/>
              </a:rPr>
              <a:t>is equipped with a conveying screw which transports the chips through the vessel. This takes about 2 minutes. During this period the chips are steamed at a </a:t>
            </a:r>
            <a:r>
              <a:rPr lang="en-US" altLang="en-US" i="1" dirty="0">
                <a:solidFill>
                  <a:srgbClr val="FF0000"/>
                </a:solidFill>
                <a:latin typeface="Century Schoolbook" panose="02040604050505020304" pitchFamily="18" charset="0"/>
                <a:cs typeface="Arial" panose="020B0604020202020204" pitchFamily="34" charset="0"/>
              </a:rPr>
              <a:t>pressure of 1.0-1.3 bar.</a:t>
            </a:r>
          </a:p>
        </p:txBody>
      </p:sp>
      <p:sp>
        <p:nvSpPr>
          <p:cNvPr id="265220" name="Rectangle 22"/>
          <p:cNvSpPr>
            <a:spLocks noChangeArrowheads="1"/>
          </p:cNvSpPr>
          <p:nvPr/>
        </p:nvSpPr>
        <p:spPr bwMode="auto">
          <a:xfrm>
            <a:off x="6084888" y="1268413"/>
            <a:ext cx="1066800" cy="304800"/>
          </a:xfrm>
          <a:prstGeom prst="rect">
            <a:avLst/>
          </a:prstGeom>
          <a:solidFill>
            <a:srgbClr val="66FFFF">
              <a:alpha val="50195"/>
            </a:srgbClr>
          </a:solidFill>
          <a:ln w="19050">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65221" name="Freeform 23"/>
          <p:cNvSpPr>
            <a:spLocks/>
          </p:cNvSpPr>
          <p:nvPr/>
        </p:nvSpPr>
        <p:spPr bwMode="auto">
          <a:xfrm>
            <a:off x="5580063" y="3068638"/>
            <a:ext cx="1944687" cy="792162"/>
          </a:xfrm>
          <a:custGeom>
            <a:avLst/>
            <a:gdLst>
              <a:gd name="T0" fmla="*/ 2147483646 w 1225"/>
              <a:gd name="T1" fmla="*/ 0 h 771"/>
              <a:gd name="T2" fmla="*/ 0 w 1225"/>
              <a:gd name="T3" fmla="*/ 0 h 771"/>
              <a:gd name="T4" fmla="*/ 0 w 1225"/>
              <a:gd name="T5" fmla="*/ 2147483646 h 771"/>
              <a:gd name="T6" fmla="*/ 0 60000 65536"/>
              <a:gd name="T7" fmla="*/ 0 60000 65536"/>
              <a:gd name="T8" fmla="*/ 0 60000 65536"/>
            </a:gdLst>
            <a:ahLst/>
            <a:cxnLst>
              <a:cxn ang="T6">
                <a:pos x="T0" y="T1"/>
              </a:cxn>
              <a:cxn ang="T7">
                <a:pos x="T2" y="T3"/>
              </a:cxn>
              <a:cxn ang="T8">
                <a:pos x="T4" y="T5"/>
              </a:cxn>
            </a:cxnLst>
            <a:rect l="0" t="0" r="r" b="b"/>
            <a:pathLst>
              <a:path w="1225" h="771">
                <a:moveTo>
                  <a:pt x="1225" y="0"/>
                </a:moveTo>
                <a:lnTo>
                  <a:pt x="0" y="0"/>
                </a:lnTo>
                <a:lnTo>
                  <a:pt x="0" y="771"/>
                </a:lnTo>
              </a:path>
            </a:pathLst>
          </a:custGeom>
          <a:noFill/>
          <a:ln w="28575" cmpd="sng">
            <a:solidFill>
              <a:schemeClr val="hlink"/>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65222" name="Text Box 24"/>
          <p:cNvSpPr txBox="1">
            <a:spLocks noChangeArrowheads="1"/>
          </p:cNvSpPr>
          <p:nvPr/>
        </p:nvSpPr>
        <p:spPr bwMode="auto">
          <a:xfrm>
            <a:off x="5867400" y="2420938"/>
            <a:ext cx="26638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a:spcBef>
                <a:spcPct val="0"/>
              </a:spcBef>
              <a:buFontTx/>
              <a:buNone/>
            </a:pPr>
            <a:r>
              <a:rPr lang="en-US" altLang="en-US" sz="1800">
                <a:latin typeface="Century Schoolbook" panose="02040604050505020304" pitchFamily="18" charset="0"/>
                <a:cs typeface="Arial" panose="020B0604020202020204" pitchFamily="34" charset="0"/>
              </a:rPr>
              <a:t>Flash steam </a:t>
            </a:r>
          </a:p>
          <a:p>
            <a:pPr algn="r">
              <a:spcBef>
                <a:spcPct val="0"/>
              </a:spcBef>
              <a:buFontTx/>
              <a:buNone/>
            </a:pPr>
            <a:r>
              <a:rPr lang="en-US" altLang="en-US" sz="1800">
                <a:latin typeface="Century Schoolbook" panose="02040604050505020304" pitchFamily="18" charset="0"/>
                <a:cs typeface="Arial" panose="020B0604020202020204" pitchFamily="34" charset="0"/>
              </a:rPr>
              <a:t>from flash cyclone no.1</a:t>
            </a:r>
          </a:p>
        </p:txBody>
      </p:sp>
      <p:sp>
        <p:nvSpPr>
          <p:cNvPr id="179225" name="Text Box 25"/>
          <p:cNvSpPr txBox="1">
            <a:spLocks noChangeArrowheads="1"/>
          </p:cNvSpPr>
          <p:nvPr/>
        </p:nvSpPr>
        <p:spPr bwMode="auto">
          <a:xfrm>
            <a:off x="611188" y="200025"/>
            <a:ext cx="5145087" cy="1068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3600" b="1" dirty="0">
                <a:solidFill>
                  <a:srgbClr val="FF0000"/>
                </a:solidFill>
                <a:effectLst>
                  <a:outerShdw blurRad="38100" dist="38100" dir="2700000" algn="tl">
                    <a:srgbClr val="000000"/>
                  </a:outerShdw>
                </a:effectLst>
                <a:latin typeface="Century Schoolbook" panose="02040604050505020304" pitchFamily="18" charset="0"/>
              </a:rPr>
              <a:t>Continuous digester </a:t>
            </a:r>
          </a:p>
          <a:p>
            <a:pPr>
              <a:defRPr/>
            </a:pPr>
            <a:r>
              <a:rPr lang="en-US" altLang="en-US" sz="2800" b="1" dirty="0">
                <a:effectLst>
                  <a:outerShdw blurRad="38100" dist="38100" dir="2700000" algn="tl">
                    <a:srgbClr val="000000"/>
                  </a:outerShdw>
                </a:effectLst>
                <a:latin typeface="Century Schoolbook" panose="02040604050505020304" pitchFamily="18" charset="0"/>
              </a:rPr>
              <a:t>Steaming vessel (C26)</a:t>
            </a:r>
          </a:p>
        </p:txBody>
      </p:sp>
      <p:grpSp>
        <p:nvGrpSpPr>
          <p:cNvPr id="265224" name="Group 26"/>
          <p:cNvGrpSpPr>
            <a:grpSpLocks/>
          </p:cNvGrpSpPr>
          <p:nvPr/>
        </p:nvGrpSpPr>
        <p:grpSpPr bwMode="auto">
          <a:xfrm>
            <a:off x="6011863" y="511175"/>
            <a:ext cx="1066800" cy="1981200"/>
            <a:chOff x="48" y="609"/>
            <a:chExt cx="96" cy="176"/>
          </a:xfrm>
        </p:grpSpPr>
        <p:sp>
          <p:nvSpPr>
            <p:cNvPr id="265225" name="Freeform 27"/>
            <p:cNvSpPr>
              <a:spLocks/>
            </p:cNvSpPr>
            <p:nvPr/>
          </p:nvSpPr>
          <p:spPr bwMode="auto">
            <a:xfrm>
              <a:off x="58" y="653"/>
              <a:ext cx="10" cy="9"/>
            </a:xfrm>
            <a:custGeom>
              <a:avLst/>
              <a:gdLst>
                <a:gd name="T0" fmla="*/ 2 w 10"/>
                <a:gd name="T1" fmla="*/ 5 h 10"/>
                <a:gd name="T2" fmla="*/ 0 w 10"/>
                <a:gd name="T3" fmla="*/ 0 h 10"/>
                <a:gd name="T4" fmla="*/ 9 w 10"/>
                <a:gd name="T5" fmla="*/ 0 h 10"/>
                <a:gd name="T6" fmla="*/ 10 w 10"/>
                <a:gd name="T7" fmla="*/ 5 h 1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 h="10">
                  <a:moveTo>
                    <a:pt x="2" y="10"/>
                  </a:moveTo>
                  <a:lnTo>
                    <a:pt x="0" y="0"/>
                  </a:lnTo>
                  <a:lnTo>
                    <a:pt x="9" y="0"/>
                  </a:lnTo>
                  <a:lnTo>
                    <a:pt x="10" y="6"/>
                  </a:lnTo>
                </a:path>
              </a:pathLst>
            </a:custGeom>
            <a:gradFill rotWithShape="0">
              <a:gsLst>
                <a:gs pos="0">
                  <a:srgbClr val="808080"/>
                </a:gs>
                <a:gs pos="50000">
                  <a:srgbClr val="FFFFFF"/>
                </a:gs>
                <a:gs pos="100000">
                  <a:srgbClr val="808080"/>
                </a:gs>
              </a:gsLst>
              <a:lin ang="0" scaled="1"/>
            </a:gradFill>
            <a:ln w="9525">
              <a:solidFill>
                <a:srgbClr val="000000"/>
              </a:solidFill>
              <a:round/>
              <a:headEnd/>
              <a:tailEnd/>
            </a:ln>
          </p:spPr>
          <p:txBody>
            <a:bodyPr/>
            <a:lstStyle/>
            <a:p>
              <a:endParaRPr lang="en-US"/>
            </a:p>
          </p:txBody>
        </p:sp>
        <p:grpSp>
          <p:nvGrpSpPr>
            <p:cNvPr id="265226" name="Group 28"/>
            <p:cNvGrpSpPr>
              <a:grpSpLocks/>
            </p:cNvGrpSpPr>
            <p:nvPr/>
          </p:nvGrpSpPr>
          <p:grpSpPr bwMode="auto">
            <a:xfrm>
              <a:off x="125" y="750"/>
              <a:ext cx="19" cy="18"/>
              <a:chOff x="125" y="750"/>
              <a:chExt cx="19" cy="18"/>
            </a:xfrm>
          </p:grpSpPr>
          <p:sp>
            <p:nvSpPr>
              <p:cNvPr id="265239" name="AutoShape 29"/>
              <p:cNvSpPr>
                <a:spLocks noChangeArrowheads="1"/>
              </p:cNvSpPr>
              <p:nvPr/>
            </p:nvSpPr>
            <p:spPr bwMode="auto">
              <a:xfrm>
                <a:off x="125" y="750"/>
                <a:ext cx="19" cy="18"/>
              </a:xfrm>
              <a:prstGeom prst="plaque">
                <a:avLst>
                  <a:gd name="adj" fmla="val 16667"/>
                </a:avLst>
              </a:prstGeom>
              <a:gradFill rotWithShape="1">
                <a:gsLst>
                  <a:gs pos="0">
                    <a:srgbClr val="808080"/>
                  </a:gs>
                  <a:gs pos="50000">
                    <a:srgbClr val="FFFFFF"/>
                  </a:gs>
                  <a:gs pos="100000">
                    <a:srgbClr val="80808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65240" name="Oval 30"/>
              <p:cNvSpPr>
                <a:spLocks noChangeArrowheads="1"/>
              </p:cNvSpPr>
              <p:nvPr/>
            </p:nvSpPr>
            <p:spPr bwMode="auto">
              <a:xfrm>
                <a:off x="128" y="752"/>
                <a:ext cx="13" cy="13"/>
              </a:xfrm>
              <a:prstGeom prst="ellipse">
                <a:avLst/>
              </a:prstGeom>
              <a:solidFill>
                <a:srgbClr val="FFFFFF"/>
              </a:solidFill>
              <a:ln w="9525">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grpSp>
        <p:sp>
          <p:nvSpPr>
            <p:cNvPr id="265227" name="Rectangle 31"/>
            <p:cNvSpPr>
              <a:spLocks noChangeArrowheads="1"/>
            </p:cNvSpPr>
            <p:nvPr/>
          </p:nvSpPr>
          <p:spPr bwMode="auto">
            <a:xfrm>
              <a:off x="131" y="698"/>
              <a:ext cx="8" cy="52"/>
            </a:xfrm>
            <a:prstGeom prst="rect">
              <a:avLst/>
            </a:prstGeom>
            <a:gradFill rotWithShape="1">
              <a:gsLst>
                <a:gs pos="0">
                  <a:srgbClr val="808080"/>
                </a:gs>
                <a:gs pos="50000">
                  <a:srgbClr val="FFFFFF"/>
                </a:gs>
                <a:gs pos="100000">
                  <a:srgbClr val="80808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65228" name="Freeform 32"/>
            <p:cNvSpPr>
              <a:spLocks/>
            </p:cNvSpPr>
            <p:nvPr/>
          </p:nvSpPr>
          <p:spPr bwMode="auto">
            <a:xfrm>
              <a:off x="78" y="725"/>
              <a:ext cx="57" cy="60"/>
            </a:xfrm>
            <a:custGeom>
              <a:avLst/>
              <a:gdLst>
                <a:gd name="T0" fmla="*/ 57 w 57"/>
                <a:gd name="T1" fmla="*/ 43 h 60"/>
                <a:gd name="T2" fmla="*/ 57 w 57"/>
                <a:gd name="T3" fmla="*/ 60 h 60"/>
                <a:gd name="T4" fmla="*/ 0 w 57"/>
                <a:gd name="T5" fmla="*/ 60 h 60"/>
                <a:gd name="T6" fmla="*/ 0 w 57"/>
                <a:gd name="T7" fmla="*/ 0 h 60"/>
                <a:gd name="T8" fmla="*/ 53 w 57"/>
                <a:gd name="T9" fmla="*/ 0 h 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 h="60">
                  <a:moveTo>
                    <a:pt x="57" y="43"/>
                  </a:moveTo>
                  <a:lnTo>
                    <a:pt x="57" y="60"/>
                  </a:lnTo>
                  <a:lnTo>
                    <a:pt x="0" y="60"/>
                  </a:lnTo>
                  <a:lnTo>
                    <a:pt x="0" y="0"/>
                  </a:lnTo>
                  <a:lnTo>
                    <a:pt x="53" y="0"/>
                  </a:lnTo>
                </a:path>
              </a:pathLst>
            </a:custGeom>
            <a:noFill/>
            <a:ln w="9525">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265229" name="Group 33"/>
            <p:cNvGrpSpPr>
              <a:grpSpLocks/>
            </p:cNvGrpSpPr>
            <p:nvPr/>
          </p:nvGrpSpPr>
          <p:grpSpPr bwMode="auto">
            <a:xfrm>
              <a:off x="62" y="685"/>
              <a:ext cx="77" cy="13"/>
              <a:chOff x="62" y="685"/>
              <a:chExt cx="77" cy="13"/>
            </a:xfrm>
          </p:grpSpPr>
          <p:sp>
            <p:nvSpPr>
              <p:cNvPr id="265237" name="Rectangle 34"/>
              <p:cNvSpPr>
                <a:spLocks noChangeArrowheads="1"/>
              </p:cNvSpPr>
              <p:nvPr/>
            </p:nvSpPr>
            <p:spPr bwMode="auto">
              <a:xfrm>
                <a:off x="62" y="685"/>
                <a:ext cx="77" cy="13"/>
              </a:xfrm>
              <a:prstGeom prst="rect">
                <a:avLst/>
              </a:prstGeom>
              <a:gradFill rotWithShape="1">
                <a:gsLst>
                  <a:gs pos="0">
                    <a:srgbClr val="808080"/>
                  </a:gs>
                  <a:gs pos="50000">
                    <a:srgbClr val="FFFFFF"/>
                  </a:gs>
                  <a:gs pos="100000">
                    <a:srgbClr val="80808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65238" name="Freeform 35"/>
              <p:cNvSpPr>
                <a:spLocks/>
              </p:cNvSpPr>
              <p:nvPr/>
            </p:nvSpPr>
            <p:spPr bwMode="auto">
              <a:xfrm>
                <a:off x="65" y="685"/>
                <a:ext cx="74" cy="13"/>
              </a:xfrm>
              <a:custGeom>
                <a:avLst/>
                <a:gdLst>
                  <a:gd name="T0" fmla="*/ 0 w 74"/>
                  <a:gd name="T1" fmla="*/ 0 h 13"/>
                  <a:gd name="T2" fmla="*/ 5 w 74"/>
                  <a:gd name="T3" fmla="*/ 13 h 13"/>
                  <a:gd name="T4" fmla="*/ 11 w 74"/>
                  <a:gd name="T5" fmla="*/ 0 h 13"/>
                  <a:gd name="T6" fmla="*/ 16 w 74"/>
                  <a:gd name="T7" fmla="*/ 13 h 13"/>
                  <a:gd name="T8" fmla="*/ 22 w 74"/>
                  <a:gd name="T9" fmla="*/ 0 h 13"/>
                  <a:gd name="T10" fmla="*/ 27 w 74"/>
                  <a:gd name="T11" fmla="*/ 13 h 13"/>
                  <a:gd name="T12" fmla="*/ 34 w 74"/>
                  <a:gd name="T13" fmla="*/ 0 h 13"/>
                  <a:gd name="T14" fmla="*/ 39 w 74"/>
                  <a:gd name="T15" fmla="*/ 13 h 13"/>
                  <a:gd name="T16" fmla="*/ 46 w 74"/>
                  <a:gd name="T17" fmla="*/ 0 h 13"/>
                  <a:gd name="T18" fmla="*/ 50 w 74"/>
                  <a:gd name="T19" fmla="*/ 13 h 13"/>
                  <a:gd name="T20" fmla="*/ 56 w 74"/>
                  <a:gd name="T21" fmla="*/ 0 h 13"/>
                  <a:gd name="T22" fmla="*/ 61 w 74"/>
                  <a:gd name="T23" fmla="*/ 13 h 13"/>
                  <a:gd name="T24" fmla="*/ 67 w 74"/>
                  <a:gd name="T25" fmla="*/ 0 h 13"/>
                  <a:gd name="T26" fmla="*/ 74 w 74"/>
                  <a:gd name="T27" fmla="*/ 13 h 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3">
                    <a:moveTo>
                      <a:pt x="0" y="0"/>
                    </a:moveTo>
                    <a:lnTo>
                      <a:pt x="5" y="13"/>
                    </a:lnTo>
                    <a:lnTo>
                      <a:pt x="11" y="0"/>
                    </a:lnTo>
                    <a:lnTo>
                      <a:pt x="16" y="13"/>
                    </a:lnTo>
                    <a:lnTo>
                      <a:pt x="22" y="0"/>
                    </a:lnTo>
                    <a:lnTo>
                      <a:pt x="27" y="13"/>
                    </a:lnTo>
                    <a:lnTo>
                      <a:pt x="34" y="0"/>
                    </a:lnTo>
                    <a:lnTo>
                      <a:pt x="39" y="13"/>
                    </a:lnTo>
                    <a:lnTo>
                      <a:pt x="46" y="0"/>
                    </a:lnTo>
                    <a:lnTo>
                      <a:pt x="50" y="13"/>
                    </a:lnTo>
                    <a:lnTo>
                      <a:pt x="56" y="0"/>
                    </a:lnTo>
                    <a:lnTo>
                      <a:pt x="61" y="13"/>
                    </a:lnTo>
                    <a:lnTo>
                      <a:pt x="67" y="0"/>
                    </a:lnTo>
                    <a:lnTo>
                      <a:pt x="74" y="13"/>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65230" name="Rectangle 36"/>
            <p:cNvSpPr>
              <a:spLocks noChangeArrowheads="1"/>
            </p:cNvSpPr>
            <p:nvPr/>
          </p:nvSpPr>
          <p:spPr bwMode="auto">
            <a:xfrm>
              <a:off x="62" y="663"/>
              <a:ext cx="7" cy="9"/>
            </a:xfrm>
            <a:prstGeom prst="rect">
              <a:avLst/>
            </a:prstGeom>
            <a:gradFill rotWithShape="0">
              <a:gsLst>
                <a:gs pos="0">
                  <a:srgbClr val="808080"/>
                </a:gs>
                <a:gs pos="50000">
                  <a:srgbClr val="FFFFFF"/>
                </a:gs>
                <a:gs pos="100000">
                  <a:srgbClr val="80808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65231" name="Rectangle 37"/>
            <p:cNvSpPr>
              <a:spLocks noChangeArrowheads="1"/>
            </p:cNvSpPr>
            <p:nvPr/>
          </p:nvSpPr>
          <p:spPr bwMode="auto">
            <a:xfrm>
              <a:off x="62" y="676"/>
              <a:ext cx="7" cy="9"/>
            </a:xfrm>
            <a:prstGeom prst="rect">
              <a:avLst/>
            </a:prstGeom>
            <a:gradFill rotWithShape="0">
              <a:gsLst>
                <a:gs pos="0">
                  <a:srgbClr val="808080"/>
                </a:gs>
                <a:gs pos="50000">
                  <a:srgbClr val="FFFFFF"/>
                </a:gs>
                <a:gs pos="100000">
                  <a:srgbClr val="80808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65232" name="Oval 38"/>
            <p:cNvSpPr>
              <a:spLocks noChangeArrowheads="1"/>
            </p:cNvSpPr>
            <p:nvPr/>
          </p:nvSpPr>
          <p:spPr bwMode="auto">
            <a:xfrm>
              <a:off x="60" y="670"/>
              <a:ext cx="10" cy="10"/>
            </a:xfrm>
            <a:prstGeom prst="ellipse">
              <a:avLst/>
            </a:prstGeom>
            <a:gradFill rotWithShape="0">
              <a:gsLst>
                <a:gs pos="0">
                  <a:srgbClr val="808080"/>
                </a:gs>
                <a:gs pos="50000">
                  <a:srgbClr val="FFFFFF"/>
                </a:gs>
                <a:gs pos="100000">
                  <a:srgbClr val="808080"/>
                </a:gs>
              </a:gsLst>
              <a:lin ang="0" scaled="1"/>
            </a:gradFill>
            <a:ln w="9525">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65233" name="AutoShape 39"/>
            <p:cNvSpPr>
              <a:spLocks noChangeArrowheads="1"/>
            </p:cNvSpPr>
            <p:nvPr/>
          </p:nvSpPr>
          <p:spPr bwMode="auto">
            <a:xfrm rot="5400000">
              <a:off x="60" y="633"/>
              <a:ext cx="5" cy="29"/>
            </a:xfrm>
            <a:prstGeom prst="flowChartDelay">
              <a:avLst/>
            </a:prstGeom>
            <a:gradFill rotWithShape="0">
              <a:gsLst>
                <a:gs pos="0">
                  <a:srgbClr val="808080"/>
                </a:gs>
                <a:gs pos="50000">
                  <a:srgbClr val="FFFFFF"/>
                </a:gs>
                <a:gs pos="100000">
                  <a:srgbClr val="80808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65234" name="Oval 40"/>
            <p:cNvSpPr>
              <a:spLocks noChangeArrowheads="1"/>
            </p:cNvSpPr>
            <p:nvPr/>
          </p:nvSpPr>
          <p:spPr bwMode="auto">
            <a:xfrm>
              <a:off x="60" y="657"/>
              <a:ext cx="10" cy="10"/>
            </a:xfrm>
            <a:prstGeom prst="ellipse">
              <a:avLst/>
            </a:prstGeom>
            <a:gradFill rotWithShape="0">
              <a:gsLst>
                <a:gs pos="0">
                  <a:srgbClr val="808080"/>
                </a:gs>
                <a:gs pos="50000">
                  <a:srgbClr val="FFFFFF"/>
                </a:gs>
                <a:gs pos="100000">
                  <a:srgbClr val="808080"/>
                </a:gs>
              </a:gsLst>
              <a:lin ang="0" scaled="1"/>
            </a:gradFill>
            <a:ln w="9525">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65235" name="Rectangle 41"/>
            <p:cNvSpPr>
              <a:spLocks noChangeArrowheads="1"/>
            </p:cNvSpPr>
            <p:nvPr/>
          </p:nvSpPr>
          <p:spPr bwMode="auto">
            <a:xfrm>
              <a:off x="56" y="650"/>
              <a:ext cx="12" cy="3"/>
            </a:xfrm>
            <a:prstGeom prst="rect">
              <a:avLst/>
            </a:prstGeom>
            <a:gradFill rotWithShape="0">
              <a:gsLst>
                <a:gs pos="0">
                  <a:srgbClr val="808080"/>
                </a:gs>
                <a:gs pos="50000">
                  <a:srgbClr val="FFFFFF"/>
                </a:gs>
                <a:gs pos="100000">
                  <a:srgbClr val="80808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65236" name="Rectangle 42"/>
            <p:cNvSpPr>
              <a:spLocks noChangeArrowheads="1"/>
            </p:cNvSpPr>
            <p:nvPr/>
          </p:nvSpPr>
          <p:spPr bwMode="auto">
            <a:xfrm>
              <a:off x="48" y="609"/>
              <a:ext cx="29" cy="36"/>
            </a:xfrm>
            <a:prstGeom prst="rect">
              <a:avLst/>
            </a:prstGeom>
            <a:gradFill rotWithShape="1">
              <a:gsLst>
                <a:gs pos="0">
                  <a:srgbClr val="808080"/>
                </a:gs>
                <a:gs pos="50000">
                  <a:srgbClr val="FFFFFF"/>
                </a:gs>
                <a:gs pos="100000">
                  <a:srgbClr val="80808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grpSp>
    </p:spTree>
  </p:cSld>
  <p:clrMapOvr>
    <a:masterClrMapping/>
  </p:clrMapOvr>
  <p:transition/>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2" name="Text Box 4"/>
          <p:cNvSpPr txBox="1">
            <a:spLocks noChangeArrowheads="1"/>
          </p:cNvSpPr>
          <p:nvPr/>
        </p:nvSpPr>
        <p:spPr bwMode="auto">
          <a:xfrm>
            <a:off x="611188" y="200025"/>
            <a:ext cx="5145087" cy="1068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3600" b="1" dirty="0">
                <a:solidFill>
                  <a:srgbClr val="FF0000"/>
                </a:solidFill>
                <a:effectLst>
                  <a:outerShdw blurRad="38100" dist="38100" dir="2700000" algn="tl">
                    <a:srgbClr val="000000"/>
                  </a:outerShdw>
                </a:effectLst>
                <a:latin typeface="Century Schoolbook" panose="02040604050505020304" pitchFamily="18" charset="0"/>
              </a:rPr>
              <a:t>Continuous digester </a:t>
            </a:r>
          </a:p>
          <a:p>
            <a:pPr>
              <a:defRPr/>
            </a:pPr>
            <a:r>
              <a:rPr lang="en-US" altLang="en-US" sz="2800" b="1" dirty="0">
                <a:effectLst>
                  <a:outerShdw blurRad="38100" dist="38100" dir="2700000" algn="tl">
                    <a:srgbClr val="000000"/>
                  </a:outerShdw>
                </a:effectLst>
                <a:latin typeface="Century Schoolbook" panose="02040604050505020304" pitchFamily="18" charset="0"/>
              </a:rPr>
              <a:t>Steaming vessel (C26)</a:t>
            </a:r>
          </a:p>
        </p:txBody>
      </p:sp>
      <p:pic>
        <p:nvPicPr>
          <p:cNvPr id="266243" name="Picture 3" descr="07"/>
          <p:cNvPicPr>
            <a:picLocks noGrp="1" noChangeAspect="1" noChangeArrowheads="1"/>
          </p:cNvPicPr>
          <p:nvPr>
            <p:ph/>
          </p:nvPr>
        </p:nvPicPr>
        <p:blipFill>
          <a:blip r:embed="rId2">
            <a:extLst>
              <a:ext uri="{28A0092B-C50C-407E-A947-70E740481C1C}">
                <a14:useLocalDpi xmlns:a14="http://schemas.microsoft.com/office/drawing/2010/main" val="0"/>
              </a:ext>
            </a:extLst>
          </a:blip>
          <a:srcRect/>
          <a:stretch>
            <a:fillRect/>
          </a:stretch>
        </p:blipFill>
        <p:spPr>
          <a:xfrm>
            <a:off x="1042988" y="1557338"/>
            <a:ext cx="7124700" cy="4951412"/>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7266" name="Picture 3" descr="mr18^01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0888" y="1773238"/>
            <a:ext cx="3244850" cy="460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7267" name="Text Box 4"/>
          <p:cNvSpPr txBox="1">
            <a:spLocks noChangeArrowheads="1"/>
          </p:cNvSpPr>
          <p:nvPr/>
        </p:nvSpPr>
        <p:spPr bwMode="auto">
          <a:xfrm>
            <a:off x="4140200" y="2636838"/>
            <a:ext cx="4535488" cy="2014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Clr>
                <a:schemeClr val="accent1"/>
              </a:buClr>
              <a:buFont typeface="Wingdings" panose="05000000000000000000" pitchFamily="2" charset="2"/>
              <a:buChar char="l"/>
            </a:pPr>
            <a:r>
              <a:rPr lang="en-US" altLang="en-US" sz="1800">
                <a:latin typeface="Century Schoolbook" panose="02040604050505020304" pitchFamily="18" charset="0"/>
                <a:cs typeface="Arial" panose="020B0604020202020204" pitchFamily="34" charset="0"/>
              </a:rPr>
              <a:t> The chips from steaming vessel fall into </a:t>
            </a:r>
            <a:r>
              <a:rPr lang="en-US" altLang="en-US" sz="1800" b="1" i="1">
                <a:solidFill>
                  <a:srgbClr val="FF0000"/>
                </a:solidFill>
                <a:latin typeface="Century Schoolbook" panose="02040604050505020304" pitchFamily="18" charset="0"/>
                <a:cs typeface="Arial" panose="020B0604020202020204" pitchFamily="34" charset="0"/>
              </a:rPr>
              <a:t>chip chute</a:t>
            </a:r>
            <a:r>
              <a:rPr lang="en-US" altLang="en-US" sz="1800">
                <a:latin typeface="Century Schoolbook" panose="02040604050505020304" pitchFamily="18" charset="0"/>
                <a:cs typeface="Arial" panose="020B0604020202020204" pitchFamily="34" charset="0"/>
              </a:rPr>
              <a:t>. It is important that the liquor level in the chip chute is correct. Too low level may cause shocks in the top circulation piping and too high level may cause a decrease in HP-feeder efficiency.</a:t>
            </a:r>
          </a:p>
        </p:txBody>
      </p:sp>
      <p:sp>
        <p:nvSpPr>
          <p:cNvPr id="267268" name="Text Box 5"/>
          <p:cNvSpPr txBox="1">
            <a:spLocks noChangeArrowheads="1"/>
          </p:cNvSpPr>
          <p:nvPr/>
        </p:nvSpPr>
        <p:spPr bwMode="auto">
          <a:xfrm>
            <a:off x="4140200" y="4797425"/>
            <a:ext cx="4679950" cy="14652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Clr>
                <a:schemeClr val="accent1"/>
              </a:buClr>
              <a:buFont typeface="Wingdings" panose="05000000000000000000" pitchFamily="2" charset="2"/>
              <a:buChar char="l"/>
            </a:pPr>
            <a:r>
              <a:rPr lang="en-US" altLang="en-US" sz="1800">
                <a:latin typeface="Century Schoolbook" panose="02040604050505020304" pitchFamily="18" charset="0"/>
                <a:cs typeface="Arial" panose="020B0604020202020204" pitchFamily="34" charset="0"/>
              </a:rPr>
              <a:t> If the level in the </a:t>
            </a:r>
            <a:r>
              <a:rPr lang="en-US" altLang="en-US" sz="1800" i="1">
                <a:solidFill>
                  <a:srgbClr val="FF0000"/>
                </a:solidFill>
                <a:latin typeface="Century Schoolbook" panose="02040604050505020304" pitchFamily="18" charset="0"/>
                <a:cs typeface="Arial" panose="020B0604020202020204" pitchFamily="34" charset="0"/>
              </a:rPr>
              <a:t>chip chute is too high</a:t>
            </a:r>
            <a:r>
              <a:rPr lang="en-US" altLang="en-US" sz="1800">
                <a:solidFill>
                  <a:srgbClr val="FF0000"/>
                </a:solidFill>
                <a:latin typeface="Century Schoolbook" panose="02040604050505020304" pitchFamily="18" charset="0"/>
                <a:cs typeface="Arial" panose="020B0604020202020204" pitchFamily="34" charset="0"/>
              </a:rPr>
              <a:t> </a:t>
            </a:r>
            <a:r>
              <a:rPr lang="en-US" altLang="en-US" sz="1800">
                <a:latin typeface="Century Schoolbook" panose="02040604050505020304" pitchFamily="18" charset="0"/>
                <a:cs typeface="Arial" panose="020B0604020202020204" pitchFamily="34" charset="0"/>
              </a:rPr>
              <a:t>alarm The screw in steaming vessel stops and chip feeding also stops.</a:t>
            </a:r>
          </a:p>
          <a:p>
            <a:pPr>
              <a:spcBef>
                <a:spcPct val="0"/>
              </a:spcBef>
              <a:buClr>
                <a:schemeClr val="accent1"/>
              </a:buClr>
              <a:buFont typeface="Wingdings" panose="05000000000000000000" pitchFamily="2" charset="2"/>
              <a:buChar char="l"/>
            </a:pPr>
            <a:endParaRPr lang="en-US" altLang="en-US" sz="1800">
              <a:latin typeface="Century Schoolbook" panose="02040604050505020304" pitchFamily="18" charset="0"/>
              <a:cs typeface="Arial" panose="020B0604020202020204" pitchFamily="34" charset="0"/>
            </a:endParaRPr>
          </a:p>
          <a:p>
            <a:pPr>
              <a:spcBef>
                <a:spcPct val="0"/>
              </a:spcBef>
              <a:buClr>
                <a:schemeClr val="accent1"/>
              </a:buClr>
              <a:buFont typeface="Wingdings" panose="05000000000000000000" pitchFamily="2" charset="2"/>
              <a:buChar char="l"/>
            </a:pPr>
            <a:r>
              <a:rPr lang="en-US" altLang="en-US" sz="1800">
                <a:latin typeface="Century Schoolbook" panose="02040604050505020304" pitchFamily="18" charset="0"/>
                <a:cs typeface="Arial" panose="020B0604020202020204" pitchFamily="34" charset="0"/>
              </a:rPr>
              <a:t> If the </a:t>
            </a:r>
            <a:r>
              <a:rPr lang="en-US" altLang="en-US" sz="1800" i="1">
                <a:solidFill>
                  <a:srgbClr val="FF0000"/>
                </a:solidFill>
                <a:latin typeface="Century Schoolbook" panose="02040604050505020304" pitchFamily="18" charset="0"/>
                <a:cs typeface="Arial" panose="020B0604020202020204" pitchFamily="34" charset="0"/>
              </a:rPr>
              <a:t>level is too low</a:t>
            </a:r>
            <a:r>
              <a:rPr lang="en-US" altLang="en-US" sz="1800">
                <a:solidFill>
                  <a:srgbClr val="FF0000"/>
                </a:solidFill>
                <a:latin typeface="Century Schoolbook" panose="02040604050505020304" pitchFamily="18" charset="0"/>
                <a:cs typeface="Arial" panose="020B0604020202020204" pitchFamily="34" charset="0"/>
              </a:rPr>
              <a:t> </a:t>
            </a:r>
            <a:r>
              <a:rPr lang="en-US" altLang="en-US" sz="1800">
                <a:latin typeface="Century Schoolbook" panose="02040604050505020304" pitchFamily="18" charset="0"/>
                <a:cs typeface="Arial" panose="020B0604020202020204" pitchFamily="34" charset="0"/>
              </a:rPr>
              <a:t>HP-feeder stops.</a:t>
            </a:r>
          </a:p>
        </p:txBody>
      </p:sp>
      <p:sp>
        <p:nvSpPr>
          <p:cNvPr id="267269" name="Rectangle 23"/>
          <p:cNvSpPr>
            <a:spLocks noChangeArrowheads="1"/>
          </p:cNvSpPr>
          <p:nvPr/>
        </p:nvSpPr>
        <p:spPr bwMode="auto">
          <a:xfrm>
            <a:off x="6804025" y="1484313"/>
            <a:ext cx="381000" cy="609600"/>
          </a:xfrm>
          <a:prstGeom prst="rect">
            <a:avLst/>
          </a:prstGeom>
          <a:solidFill>
            <a:srgbClr val="66FFFF">
              <a:alpha val="50195"/>
            </a:srgbClr>
          </a:solidFill>
          <a:ln w="19050">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182297" name="Text Box 25"/>
          <p:cNvSpPr txBox="1">
            <a:spLocks noChangeArrowheads="1"/>
          </p:cNvSpPr>
          <p:nvPr/>
        </p:nvSpPr>
        <p:spPr bwMode="auto">
          <a:xfrm>
            <a:off x="611188" y="200025"/>
            <a:ext cx="5145087" cy="1068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3600" b="1" dirty="0">
                <a:solidFill>
                  <a:srgbClr val="FF0000"/>
                </a:solidFill>
                <a:effectLst>
                  <a:outerShdw blurRad="38100" dist="38100" dir="2700000" algn="tl">
                    <a:srgbClr val="000000"/>
                  </a:outerShdw>
                </a:effectLst>
                <a:latin typeface="Century Schoolbook" panose="02040604050505020304" pitchFamily="18" charset="0"/>
              </a:rPr>
              <a:t>Continuous digester </a:t>
            </a:r>
          </a:p>
          <a:p>
            <a:pPr>
              <a:defRPr/>
            </a:pPr>
            <a:r>
              <a:rPr lang="en-US" altLang="en-US" sz="2800" b="1" dirty="0">
                <a:effectLst>
                  <a:outerShdw blurRad="38100" dist="38100" dir="2700000" algn="tl">
                    <a:srgbClr val="000000"/>
                  </a:outerShdw>
                </a:effectLst>
                <a:latin typeface="Century Schoolbook" panose="02040604050505020304" pitchFamily="18" charset="0"/>
              </a:rPr>
              <a:t>Chip chute (C29)</a:t>
            </a:r>
          </a:p>
        </p:txBody>
      </p:sp>
      <p:grpSp>
        <p:nvGrpSpPr>
          <p:cNvPr id="267271" name="Group 26"/>
          <p:cNvGrpSpPr>
            <a:grpSpLocks/>
          </p:cNvGrpSpPr>
          <p:nvPr/>
        </p:nvGrpSpPr>
        <p:grpSpPr bwMode="auto">
          <a:xfrm>
            <a:off x="6011863" y="511175"/>
            <a:ext cx="1066800" cy="1981200"/>
            <a:chOff x="48" y="609"/>
            <a:chExt cx="96" cy="176"/>
          </a:xfrm>
        </p:grpSpPr>
        <p:sp>
          <p:nvSpPr>
            <p:cNvPr id="267272" name="Freeform 27"/>
            <p:cNvSpPr>
              <a:spLocks/>
            </p:cNvSpPr>
            <p:nvPr/>
          </p:nvSpPr>
          <p:spPr bwMode="auto">
            <a:xfrm>
              <a:off x="58" y="653"/>
              <a:ext cx="10" cy="9"/>
            </a:xfrm>
            <a:custGeom>
              <a:avLst/>
              <a:gdLst>
                <a:gd name="T0" fmla="*/ 2 w 10"/>
                <a:gd name="T1" fmla="*/ 5 h 10"/>
                <a:gd name="T2" fmla="*/ 0 w 10"/>
                <a:gd name="T3" fmla="*/ 0 h 10"/>
                <a:gd name="T4" fmla="*/ 9 w 10"/>
                <a:gd name="T5" fmla="*/ 0 h 10"/>
                <a:gd name="T6" fmla="*/ 10 w 10"/>
                <a:gd name="T7" fmla="*/ 5 h 1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 h="10">
                  <a:moveTo>
                    <a:pt x="2" y="10"/>
                  </a:moveTo>
                  <a:lnTo>
                    <a:pt x="0" y="0"/>
                  </a:lnTo>
                  <a:lnTo>
                    <a:pt x="9" y="0"/>
                  </a:lnTo>
                  <a:lnTo>
                    <a:pt x="10" y="6"/>
                  </a:lnTo>
                </a:path>
              </a:pathLst>
            </a:custGeom>
            <a:gradFill rotWithShape="0">
              <a:gsLst>
                <a:gs pos="0">
                  <a:srgbClr val="808080"/>
                </a:gs>
                <a:gs pos="50000">
                  <a:srgbClr val="FFFFFF"/>
                </a:gs>
                <a:gs pos="100000">
                  <a:srgbClr val="808080"/>
                </a:gs>
              </a:gsLst>
              <a:lin ang="0" scaled="1"/>
            </a:gradFill>
            <a:ln w="9525">
              <a:solidFill>
                <a:srgbClr val="000000"/>
              </a:solidFill>
              <a:round/>
              <a:headEnd/>
              <a:tailEnd/>
            </a:ln>
          </p:spPr>
          <p:txBody>
            <a:bodyPr/>
            <a:lstStyle/>
            <a:p>
              <a:endParaRPr lang="en-US"/>
            </a:p>
          </p:txBody>
        </p:sp>
        <p:grpSp>
          <p:nvGrpSpPr>
            <p:cNvPr id="267273" name="Group 28"/>
            <p:cNvGrpSpPr>
              <a:grpSpLocks/>
            </p:cNvGrpSpPr>
            <p:nvPr/>
          </p:nvGrpSpPr>
          <p:grpSpPr bwMode="auto">
            <a:xfrm>
              <a:off x="125" y="750"/>
              <a:ext cx="19" cy="18"/>
              <a:chOff x="125" y="750"/>
              <a:chExt cx="19" cy="18"/>
            </a:xfrm>
          </p:grpSpPr>
          <p:sp>
            <p:nvSpPr>
              <p:cNvPr id="267286" name="AutoShape 29"/>
              <p:cNvSpPr>
                <a:spLocks noChangeArrowheads="1"/>
              </p:cNvSpPr>
              <p:nvPr/>
            </p:nvSpPr>
            <p:spPr bwMode="auto">
              <a:xfrm>
                <a:off x="125" y="750"/>
                <a:ext cx="19" cy="18"/>
              </a:xfrm>
              <a:prstGeom prst="plaque">
                <a:avLst>
                  <a:gd name="adj" fmla="val 16667"/>
                </a:avLst>
              </a:prstGeom>
              <a:gradFill rotWithShape="1">
                <a:gsLst>
                  <a:gs pos="0">
                    <a:srgbClr val="808080"/>
                  </a:gs>
                  <a:gs pos="50000">
                    <a:srgbClr val="FFFFFF"/>
                  </a:gs>
                  <a:gs pos="100000">
                    <a:srgbClr val="80808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67287" name="Oval 30"/>
              <p:cNvSpPr>
                <a:spLocks noChangeArrowheads="1"/>
              </p:cNvSpPr>
              <p:nvPr/>
            </p:nvSpPr>
            <p:spPr bwMode="auto">
              <a:xfrm>
                <a:off x="128" y="752"/>
                <a:ext cx="13" cy="13"/>
              </a:xfrm>
              <a:prstGeom prst="ellipse">
                <a:avLst/>
              </a:prstGeom>
              <a:solidFill>
                <a:srgbClr val="FFFFFF"/>
              </a:solidFill>
              <a:ln w="9525">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grpSp>
        <p:sp>
          <p:nvSpPr>
            <p:cNvPr id="267274" name="Rectangle 31"/>
            <p:cNvSpPr>
              <a:spLocks noChangeArrowheads="1"/>
            </p:cNvSpPr>
            <p:nvPr/>
          </p:nvSpPr>
          <p:spPr bwMode="auto">
            <a:xfrm>
              <a:off x="131" y="698"/>
              <a:ext cx="8" cy="52"/>
            </a:xfrm>
            <a:prstGeom prst="rect">
              <a:avLst/>
            </a:prstGeom>
            <a:gradFill rotWithShape="1">
              <a:gsLst>
                <a:gs pos="0">
                  <a:srgbClr val="808080"/>
                </a:gs>
                <a:gs pos="50000">
                  <a:srgbClr val="FFFFFF"/>
                </a:gs>
                <a:gs pos="100000">
                  <a:srgbClr val="80808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67275" name="Freeform 32"/>
            <p:cNvSpPr>
              <a:spLocks/>
            </p:cNvSpPr>
            <p:nvPr/>
          </p:nvSpPr>
          <p:spPr bwMode="auto">
            <a:xfrm>
              <a:off x="78" y="725"/>
              <a:ext cx="57" cy="60"/>
            </a:xfrm>
            <a:custGeom>
              <a:avLst/>
              <a:gdLst>
                <a:gd name="T0" fmla="*/ 57 w 57"/>
                <a:gd name="T1" fmla="*/ 43 h 60"/>
                <a:gd name="T2" fmla="*/ 57 w 57"/>
                <a:gd name="T3" fmla="*/ 60 h 60"/>
                <a:gd name="T4" fmla="*/ 0 w 57"/>
                <a:gd name="T5" fmla="*/ 60 h 60"/>
                <a:gd name="T6" fmla="*/ 0 w 57"/>
                <a:gd name="T7" fmla="*/ 0 h 60"/>
                <a:gd name="T8" fmla="*/ 53 w 57"/>
                <a:gd name="T9" fmla="*/ 0 h 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 h="60">
                  <a:moveTo>
                    <a:pt x="57" y="43"/>
                  </a:moveTo>
                  <a:lnTo>
                    <a:pt x="57" y="60"/>
                  </a:lnTo>
                  <a:lnTo>
                    <a:pt x="0" y="60"/>
                  </a:lnTo>
                  <a:lnTo>
                    <a:pt x="0" y="0"/>
                  </a:lnTo>
                  <a:lnTo>
                    <a:pt x="53" y="0"/>
                  </a:lnTo>
                </a:path>
              </a:pathLst>
            </a:custGeom>
            <a:noFill/>
            <a:ln w="9525">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267276" name="Group 33"/>
            <p:cNvGrpSpPr>
              <a:grpSpLocks/>
            </p:cNvGrpSpPr>
            <p:nvPr/>
          </p:nvGrpSpPr>
          <p:grpSpPr bwMode="auto">
            <a:xfrm>
              <a:off x="62" y="685"/>
              <a:ext cx="77" cy="13"/>
              <a:chOff x="62" y="685"/>
              <a:chExt cx="77" cy="13"/>
            </a:xfrm>
          </p:grpSpPr>
          <p:sp>
            <p:nvSpPr>
              <p:cNvPr id="267284" name="Rectangle 34"/>
              <p:cNvSpPr>
                <a:spLocks noChangeArrowheads="1"/>
              </p:cNvSpPr>
              <p:nvPr/>
            </p:nvSpPr>
            <p:spPr bwMode="auto">
              <a:xfrm>
                <a:off x="62" y="685"/>
                <a:ext cx="77" cy="13"/>
              </a:xfrm>
              <a:prstGeom prst="rect">
                <a:avLst/>
              </a:prstGeom>
              <a:gradFill rotWithShape="1">
                <a:gsLst>
                  <a:gs pos="0">
                    <a:srgbClr val="808080"/>
                  </a:gs>
                  <a:gs pos="50000">
                    <a:srgbClr val="FFFFFF"/>
                  </a:gs>
                  <a:gs pos="100000">
                    <a:srgbClr val="80808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67285" name="Freeform 35"/>
              <p:cNvSpPr>
                <a:spLocks/>
              </p:cNvSpPr>
              <p:nvPr/>
            </p:nvSpPr>
            <p:spPr bwMode="auto">
              <a:xfrm>
                <a:off x="65" y="685"/>
                <a:ext cx="74" cy="13"/>
              </a:xfrm>
              <a:custGeom>
                <a:avLst/>
                <a:gdLst>
                  <a:gd name="T0" fmla="*/ 0 w 74"/>
                  <a:gd name="T1" fmla="*/ 0 h 13"/>
                  <a:gd name="T2" fmla="*/ 5 w 74"/>
                  <a:gd name="T3" fmla="*/ 13 h 13"/>
                  <a:gd name="T4" fmla="*/ 11 w 74"/>
                  <a:gd name="T5" fmla="*/ 0 h 13"/>
                  <a:gd name="T6" fmla="*/ 16 w 74"/>
                  <a:gd name="T7" fmla="*/ 13 h 13"/>
                  <a:gd name="T8" fmla="*/ 22 w 74"/>
                  <a:gd name="T9" fmla="*/ 0 h 13"/>
                  <a:gd name="T10" fmla="*/ 27 w 74"/>
                  <a:gd name="T11" fmla="*/ 13 h 13"/>
                  <a:gd name="T12" fmla="*/ 34 w 74"/>
                  <a:gd name="T13" fmla="*/ 0 h 13"/>
                  <a:gd name="T14" fmla="*/ 39 w 74"/>
                  <a:gd name="T15" fmla="*/ 13 h 13"/>
                  <a:gd name="T16" fmla="*/ 46 w 74"/>
                  <a:gd name="T17" fmla="*/ 0 h 13"/>
                  <a:gd name="T18" fmla="*/ 50 w 74"/>
                  <a:gd name="T19" fmla="*/ 13 h 13"/>
                  <a:gd name="T20" fmla="*/ 56 w 74"/>
                  <a:gd name="T21" fmla="*/ 0 h 13"/>
                  <a:gd name="T22" fmla="*/ 61 w 74"/>
                  <a:gd name="T23" fmla="*/ 13 h 13"/>
                  <a:gd name="T24" fmla="*/ 67 w 74"/>
                  <a:gd name="T25" fmla="*/ 0 h 13"/>
                  <a:gd name="T26" fmla="*/ 74 w 74"/>
                  <a:gd name="T27" fmla="*/ 13 h 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3">
                    <a:moveTo>
                      <a:pt x="0" y="0"/>
                    </a:moveTo>
                    <a:lnTo>
                      <a:pt x="5" y="13"/>
                    </a:lnTo>
                    <a:lnTo>
                      <a:pt x="11" y="0"/>
                    </a:lnTo>
                    <a:lnTo>
                      <a:pt x="16" y="13"/>
                    </a:lnTo>
                    <a:lnTo>
                      <a:pt x="22" y="0"/>
                    </a:lnTo>
                    <a:lnTo>
                      <a:pt x="27" y="13"/>
                    </a:lnTo>
                    <a:lnTo>
                      <a:pt x="34" y="0"/>
                    </a:lnTo>
                    <a:lnTo>
                      <a:pt x="39" y="13"/>
                    </a:lnTo>
                    <a:lnTo>
                      <a:pt x="46" y="0"/>
                    </a:lnTo>
                    <a:lnTo>
                      <a:pt x="50" y="13"/>
                    </a:lnTo>
                    <a:lnTo>
                      <a:pt x="56" y="0"/>
                    </a:lnTo>
                    <a:lnTo>
                      <a:pt x="61" y="13"/>
                    </a:lnTo>
                    <a:lnTo>
                      <a:pt x="67" y="0"/>
                    </a:lnTo>
                    <a:lnTo>
                      <a:pt x="74" y="13"/>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67277" name="Rectangle 36"/>
            <p:cNvSpPr>
              <a:spLocks noChangeArrowheads="1"/>
            </p:cNvSpPr>
            <p:nvPr/>
          </p:nvSpPr>
          <p:spPr bwMode="auto">
            <a:xfrm>
              <a:off x="62" y="663"/>
              <a:ext cx="7" cy="9"/>
            </a:xfrm>
            <a:prstGeom prst="rect">
              <a:avLst/>
            </a:prstGeom>
            <a:gradFill rotWithShape="0">
              <a:gsLst>
                <a:gs pos="0">
                  <a:srgbClr val="808080"/>
                </a:gs>
                <a:gs pos="50000">
                  <a:srgbClr val="FFFFFF"/>
                </a:gs>
                <a:gs pos="100000">
                  <a:srgbClr val="80808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67278" name="Rectangle 37"/>
            <p:cNvSpPr>
              <a:spLocks noChangeArrowheads="1"/>
            </p:cNvSpPr>
            <p:nvPr/>
          </p:nvSpPr>
          <p:spPr bwMode="auto">
            <a:xfrm>
              <a:off x="62" y="676"/>
              <a:ext cx="7" cy="9"/>
            </a:xfrm>
            <a:prstGeom prst="rect">
              <a:avLst/>
            </a:prstGeom>
            <a:gradFill rotWithShape="0">
              <a:gsLst>
                <a:gs pos="0">
                  <a:srgbClr val="808080"/>
                </a:gs>
                <a:gs pos="50000">
                  <a:srgbClr val="FFFFFF"/>
                </a:gs>
                <a:gs pos="100000">
                  <a:srgbClr val="80808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67279" name="Oval 38"/>
            <p:cNvSpPr>
              <a:spLocks noChangeArrowheads="1"/>
            </p:cNvSpPr>
            <p:nvPr/>
          </p:nvSpPr>
          <p:spPr bwMode="auto">
            <a:xfrm>
              <a:off x="60" y="670"/>
              <a:ext cx="10" cy="10"/>
            </a:xfrm>
            <a:prstGeom prst="ellipse">
              <a:avLst/>
            </a:prstGeom>
            <a:gradFill rotWithShape="0">
              <a:gsLst>
                <a:gs pos="0">
                  <a:srgbClr val="808080"/>
                </a:gs>
                <a:gs pos="50000">
                  <a:srgbClr val="FFFFFF"/>
                </a:gs>
                <a:gs pos="100000">
                  <a:srgbClr val="808080"/>
                </a:gs>
              </a:gsLst>
              <a:lin ang="0" scaled="1"/>
            </a:gradFill>
            <a:ln w="9525">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67280" name="AutoShape 39"/>
            <p:cNvSpPr>
              <a:spLocks noChangeArrowheads="1"/>
            </p:cNvSpPr>
            <p:nvPr/>
          </p:nvSpPr>
          <p:spPr bwMode="auto">
            <a:xfrm rot="5400000">
              <a:off x="60" y="633"/>
              <a:ext cx="5" cy="29"/>
            </a:xfrm>
            <a:prstGeom prst="flowChartDelay">
              <a:avLst/>
            </a:prstGeom>
            <a:gradFill rotWithShape="0">
              <a:gsLst>
                <a:gs pos="0">
                  <a:srgbClr val="808080"/>
                </a:gs>
                <a:gs pos="50000">
                  <a:srgbClr val="FFFFFF"/>
                </a:gs>
                <a:gs pos="100000">
                  <a:srgbClr val="80808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67281" name="Oval 40"/>
            <p:cNvSpPr>
              <a:spLocks noChangeArrowheads="1"/>
            </p:cNvSpPr>
            <p:nvPr/>
          </p:nvSpPr>
          <p:spPr bwMode="auto">
            <a:xfrm>
              <a:off x="60" y="657"/>
              <a:ext cx="10" cy="10"/>
            </a:xfrm>
            <a:prstGeom prst="ellipse">
              <a:avLst/>
            </a:prstGeom>
            <a:gradFill rotWithShape="0">
              <a:gsLst>
                <a:gs pos="0">
                  <a:srgbClr val="808080"/>
                </a:gs>
                <a:gs pos="50000">
                  <a:srgbClr val="FFFFFF"/>
                </a:gs>
                <a:gs pos="100000">
                  <a:srgbClr val="808080"/>
                </a:gs>
              </a:gsLst>
              <a:lin ang="0" scaled="1"/>
            </a:gradFill>
            <a:ln w="9525">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67282" name="Rectangle 41"/>
            <p:cNvSpPr>
              <a:spLocks noChangeArrowheads="1"/>
            </p:cNvSpPr>
            <p:nvPr/>
          </p:nvSpPr>
          <p:spPr bwMode="auto">
            <a:xfrm>
              <a:off x="56" y="650"/>
              <a:ext cx="12" cy="3"/>
            </a:xfrm>
            <a:prstGeom prst="rect">
              <a:avLst/>
            </a:prstGeom>
            <a:gradFill rotWithShape="0">
              <a:gsLst>
                <a:gs pos="0">
                  <a:srgbClr val="808080"/>
                </a:gs>
                <a:gs pos="50000">
                  <a:srgbClr val="FFFFFF"/>
                </a:gs>
                <a:gs pos="100000">
                  <a:srgbClr val="80808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67283" name="Rectangle 42"/>
            <p:cNvSpPr>
              <a:spLocks noChangeArrowheads="1"/>
            </p:cNvSpPr>
            <p:nvPr/>
          </p:nvSpPr>
          <p:spPr bwMode="auto">
            <a:xfrm>
              <a:off x="48" y="609"/>
              <a:ext cx="29" cy="36"/>
            </a:xfrm>
            <a:prstGeom prst="rect">
              <a:avLst/>
            </a:prstGeom>
            <a:gradFill rotWithShape="1">
              <a:gsLst>
                <a:gs pos="0">
                  <a:srgbClr val="808080"/>
                </a:gs>
                <a:gs pos="50000">
                  <a:srgbClr val="FFFFFF"/>
                </a:gs>
                <a:gs pos="100000">
                  <a:srgbClr val="80808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grpSp>
    </p:spTree>
  </p:cSld>
  <p:clrMapOvr>
    <a:masterClrMapping/>
  </p:clrMapOvr>
  <p:transition/>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8290" name="Picture 4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5650" y="1484313"/>
            <a:ext cx="4895850" cy="3194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3299" name="Text Box 3"/>
          <p:cNvSpPr txBox="1">
            <a:spLocks noChangeArrowheads="1"/>
          </p:cNvSpPr>
          <p:nvPr/>
        </p:nvSpPr>
        <p:spPr bwMode="auto">
          <a:xfrm>
            <a:off x="611188" y="4678363"/>
            <a:ext cx="7848600" cy="1739900"/>
          </a:xfrm>
          <a:prstGeom prst="rect">
            <a:avLst/>
          </a:prstGeom>
          <a:solidFill>
            <a:schemeClr val="bg1"/>
          </a:solidFill>
          <a:ln>
            <a:noFill/>
          </a:ln>
          <a:effectLst/>
        </p:spPr>
        <p:txBody>
          <a:bodyPr>
            <a:spAutoFit/>
          </a:bodyPr>
          <a:lstStyle/>
          <a:p>
            <a:pPr>
              <a:buClr>
                <a:schemeClr val="accent1"/>
              </a:buClr>
              <a:buFont typeface="Wingdings" panose="05000000000000000000" pitchFamily="2" charset="2"/>
              <a:buChar char="l"/>
              <a:defRPr/>
            </a:pPr>
            <a:r>
              <a:rPr lang="en-US" altLang="en-US" dirty="0">
                <a:latin typeface="Century Schoolbook" panose="02040604050505020304" pitchFamily="18" charset="0"/>
                <a:cs typeface="Arial" panose="020B0604020202020204" pitchFamily="34" charset="0"/>
              </a:rPr>
              <a:t> </a:t>
            </a:r>
            <a:r>
              <a:rPr lang="en-US" altLang="en-US" b="1" dirty="0">
                <a:solidFill>
                  <a:srgbClr val="FF0000"/>
                </a:solidFill>
                <a:effectLst>
                  <a:outerShdw blurRad="38100" dist="38100" dir="2700000" algn="tl">
                    <a:srgbClr val="000000"/>
                  </a:outerShdw>
                </a:effectLst>
                <a:latin typeface="Century Schoolbook" panose="02040604050505020304" pitchFamily="18" charset="0"/>
                <a:cs typeface="Arial" panose="020B0604020202020204" pitchFamily="34" charset="0"/>
              </a:rPr>
              <a:t>The HP feeder </a:t>
            </a:r>
            <a:r>
              <a:rPr lang="en-US" altLang="en-US" dirty="0">
                <a:latin typeface="Century Schoolbook" panose="02040604050505020304" pitchFamily="18" charset="0"/>
                <a:cs typeface="Arial" panose="020B0604020202020204" pitchFamily="34" charset="0"/>
              </a:rPr>
              <a:t>is equipped has a rotor with 4 through going pockets, each of which feeds forwards twice per revolution. The wells are places around the rotor with an angle of 45</a:t>
            </a:r>
            <a:r>
              <a:rPr lang="en-US" altLang="en-US" baseline="30000" dirty="0">
                <a:latin typeface="Century Schoolbook" panose="02040604050505020304" pitchFamily="18" charset="0"/>
                <a:cs typeface="Arial" panose="020B0604020202020204" pitchFamily="34" charset="0"/>
              </a:rPr>
              <a:t>o</a:t>
            </a:r>
            <a:r>
              <a:rPr lang="en-US" altLang="en-US" dirty="0">
                <a:latin typeface="Century Schoolbook" panose="02040604050505020304" pitchFamily="18" charset="0"/>
                <a:cs typeface="Arial" panose="020B0604020202020204" pitchFamily="34" charset="0"/>
              </a:rPr>
              <a:t> between the openings.</a:t>
            </a:r>
          </a:p>
          <a:p>
            <a:pPr>
              <a:buClr>
                <a:schemeClr val="accent1"/>
              </a:buClr>
              <a:buFont typeface="Wingdings" panose="05000000000000000000" pitchFamily="2" charset="2"/>
              <a:buChar char="l"/>
              <a:defRPr/>
            </a:pPr>
            <a:endParaRPr lang="en-US" altLang="en-US" dirty="0">
              <a:latin typeface="Century Schoolbook" panose="02040604050505020304" pitchFamily="18" charset="0"/>
              <a:cs typeface="Arial" panose="020B0604020202020204" pitchFamily="34" charset="0"/>
            </a:endParaRPr>
          </a:p>
          <a:p>
            <a:pPr>
              <a:buClr>
                <a:schemeClr val="accent1"/>
              </a:buClr>
              <a:buFont typeface="Wingdings" panose="05000000000000000000" pitchFamily="2" charset="2"/>
              <a:buChar char="l"/>
              <a:defRPr/>
            </a:pPr>
            <a:r>
              <a:rPr lang="en-US" altLang="en-US" dirty="0">
                <a:latin typeface="Century Schoolbook" panose="02040604050505020304" pitchFamily="18" charset="0"/>
                <a:cs typeface="Arial" panose="020B0604020202020204" pitchFamily="34" charset="0"/>
              </a:rPr>
              <a:t> </a:t>
            </a:r>
            <a:r>
              <a:rPr lang="en-US" altLang="en-US" i="1" dirty="0">
                <a:solidFill>
                  <a:srgbClr val="FF0000"/>
                </a:solidFill>
                <a:latin typeface="Century Schoolbook" panose="02040604050505020304" pitchFamily="18" charset="0"/>
                <a:cs typeface="Arial" panose="020B0604020202020204" pitchFamily="34" charset="0"/>
              </a:rPr>
              <a:t>The HP feeder must never be run dry</a:t>
            </a:r>
            <a:r>
              <a:rPr lang="en-US" altLang="en-US" dirty="0">
                <a:solidFill>
                  <a:srgbClr val="FF0000"/>
                </a:solidFill>
                <a:latin typeface="Century Schoolbook" panose="02040604050505020304" pitchFamily="18" charset="0"/>
                <a:cs typeface="Arial" panose="020B0604020202020204" pitchFamily="34" charset="0"/>
              </a:rPr>
              <a:t> </a:t>
            </a:r>
            <a:r>
              <a:rPr lang="en-US" altLang="en-US" dirty="0">
                <a:latin typeface="Century Schoolbook" panose="02040604050505020304" pitchFamily="18" charset="0"/>
                <a:cs typeface="Arial" panose="020B0604020202020204" pitchFamily="34" charset="0"/>
              </a:rPr>
              <a:t>and is therefore interlocking to stop if the level in the chip chute is low. </a:t>
            </a:r>
          </a:p>
        </p:txBody>
      </p:sp>
      <p:sp>
        <p:nvSpPr>
          <p:cNvPr id="268292" name="Rectangle 21"/>
          <p:cNvSpPr>
            <a:spLocks noChangeArrowheads="1"/>
          </p:cNvSpPr>
          <p:nvPr/>
        </p:nvSpPr>
        <p:spPr bwMode="auto">
          <a:xfrm>
            <a:off x="6804025" y="2060575"/>
            <a:ext cx="381000" cy="304800"/>
          </a:xfrm>
          <a:prstGeom prst="rect">
            <a:avLst/>
          </a:prstGeom>
          <a:solidFill>
            <a:srgbClr val="66FFFF">
              <a:alpha val="50195"/>
            </a:srgbClr>
          </a:solidFill>
          <a:ln w="19050">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183320" name="Text Box 24"/>
          <p:cNvSpPr txBox="1">
            <a:spLocks noChangeArrowheads="1"/>
          </p:cNvSpPr>
          <p:nvPr/>
        </p:nvSpPr>
        <p:spPr bwMode="auto">
          <a:xfrm>
            <a:off x="611188" y="200025"/>
            <a:ext cx="5172075" cy="1068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3600" b="1" dirty="0">
                <a:solidFill>
                  <a:srgbClr val="FF0000"/>
                </a:solidFill>
                <a:effectLst>
                  <a:outerShdw blurRad="38100" dist="38100" dir="2700000" algn="tl">
                    <a:srgbClr val="000000"/>
                  </a:outerShdw>
                </a:effectLst>
                <a:latin typeface="Century Schoolbook" panose="02040604050505020304" pitchFamily="18" charset="0"/>
              </a:rPr>
              <a:t>Continuous digester </a:t>
            </a:r>
          </a:p>
          <a:p>
            <a:pPr>
              <a:defRPr/>
            </a:pPr>
            <a:r>
              <a:rPr lang="en-US" altLang="en-US" sz="2800" b="1" dirty="0">
                <a:effectLst>
                  <a:outerShdw blurRad="38100" dist="38100" dir="2700000" algn="tl">
                    <a:srgbClr val="000000"/>
                  </a:outerShdw>
                </a:effectLst>
                <a:latin typeface="Century Schoolbook" panose="02040604050505020304" pitchFamily="18" charset="0"/>
              </a:rPr>
              <a:t>High Pressure feeder (C30)</a:t>
            </a:r>
          </a:p>
        </p:txBody>
      </p:sp>
      <p:grpSp>
        <p:nvGrpSpPr>
          <p:cNvPr id="268294" name="Group 25"/>
          <p:cNvGrpSpPr>
            <a:grpSpLocks/>
          </p:cNvGrpSpPr>
          <p:nvPr/>
        </p:nvGrpSpPr>
        <p:grpSpPr bwMode="auto">
          <a:xfrm>
            <a:off x="6011863" y="511175"/>
            <a:ext cx="1066800" cy="1981200"/>
            <a:chOff x="48" y="609"/>
            <a:chExt cx="96" cy="176"/>
          </a:xfrm>
        </p:grpSpPr>
        <p:sp>
          <p:nvSpPr>
            <p:cNvPr id="268295" name="Freeform 26"/>
            <p:cNvSpPr>
              <a:spLocks/>
            </p:cNvSpPr>
            <p:nvPr/>
          </p:nvSpPr>
          <p:spPr bwMode="auto">
            <a:xfrm>
              <a:off x="58" y="653"/>
              <a:ext cx="10" cy="9"/>
            </a:xfrm>
            <a:custGeom>
              <a:avLst/>
              <a:gdLst>
                <a:gd name="T0" fmla="*/ 2 w 10"/>
                <a:gd name="T1" fmla="*/ 5 h 10"/>
                <a:gd name="T2" fmla="*/ 0 w 10"/>
                <a:gd name="T3" fmla="*/ 0 h 10"/>
                <a:gd name="T4" fmla="*/ 9 w 10"/>
                <a:gd name="T5" fmla="*/ 0 h 10"/>
                <a:gd name="T6" fmla="*/ 10 w 10"/>
                <a:gd name="T7" fmla="*/ 5 h 1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 h="10">
                  <a:moveTo>
                    <a:pt x="2" y="10"/>
                  </a:moveTo>
                  <a:lnTo>
                    <a:pt x="0" y="0"/>
                  </a:lnTo>
                  <a:lnTo>
                    <a:pt x="9" y="0"/>
                  </a:lnTo>
                  <a:lnTo>
                    <a:pt x="10" y="6"/>
                  </a:lnTo>
                </a:path>
              </a:pathLst>
            </a:custGeom>
            <a:gradFill rotWithShape="0">
              <a:gsLst>
                <a:gs pos="0">
                  <a:srgbClr val="808080"/>
                </a:gs>
                <a:gs pos="50000">
                  <a:srgbClr val="FFFFFF"/>
                </a:gs>
                <a:gs pos="100000">
                  <a:srgbClr val="808080"/>
                </a:gs>
              </a:gsLst>
              <a:lin ang="0" scaled="1"/>
            </a:gradFill>
            <a:ln w="9525">
              <a:solidFill>
                <a:srgbClr val="000000"/>
              </a:solidFill>
              <a:round/>
              <a:headEnd/>
              <a:tailEnd/>
            </a:ln>
          </p:spPr>
          <p:txBody>
            <a:bodyPr/>
            <a:lstStyle/>
            <a:p>
              <a:endParaRPr lang="en-US"/>
            </a:p>
          </p:txBody>
        </p:sp>
        <p:grpSp>
          <p:nvGrpSpPr>
            <p:cNvPr id="268296" name="Group 27"/>
            <p:cNvGrpSpPr>
              <a:grpSpLocks/>
            </p:cNvGrpSpPr>
            <p:nvPr/>
          </p:nvGrpSpPr>
          <p:grpSpPr bwMode="auto">
            <a:xfrm>
              <a:off x="125" y="750"/>
              <a:ext cx="19" cy="18"/>
              <a:chOff x="125" y="750"/>
              <a:chExt cx="19" cy="18"/>
            </a:xfrm>
          </p:grpSpPr>
          <p:sp>
            <p:nvSpPr>
              <p:cNvPr id="268309" name="AutoShape 28"/>
              <p:cNvSpPr>
                <a:spLocks noChangeArrowheads="1"/>
              </p:cNvSpPr>
              <p:nvPr/>
            </p:nvSpPr>
            <p:spPr bwMode="auto">
              <a:xfrm>
                <a:off x="125" y="750"/>
                <a:ext cx="19" cy="18"/>
              </a:xfrm>
              <a:prstGeom prst="plaque">
                <a:avLst>
                  <a:gd name="adj" fmla="val 16667"/>
                </a:avLst>
              </a:prstGeom>
              <a:gradFill rotWithShape="1">
                <a:gsLst>
                  <a:gs pos="0">
                    <a:srgbClr val="808080"/>
                  </a:gs>
                  <a:gs pos="50000">
                    <a:srgbClr val="FFFFFF"/>
                  </a:gs>
                  <a:gs pos="100000">
                    <a:srgbClr val="80808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68310" name="Oval 29"/>
              <p:cNvSpPr>
                <a:spLocks noChangeArrowheads="1"/>
              </p:cNvSpPr>
              <p:nvPr/>
            </p:nvSpPr>
            <p:spPr bwMode="auto">
              <a:xfrm>
                <a:off x="128" y="752"/>
                <a:ext cx="13" cy="13"/>
              </a:xfrm>
              <a:prstGeom prst="ellipse">
                <a:avLst/>
              </a:prstGeom>
              <a:solidFill>
                <a:srgbClr val="FFFFFF"/>
              </a:solidFill>
              <a:ln w="9525">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grpSp>
        <p:sp>
          <p:nvSpPr>
            <p:cNvPr id="268297" name="Rectangle 30"/>
            <p:cNvSpPr>
              <a:spLocks noChangeArrowheads="1"/>
            </p:cNvSpPr>
            <p:nvPr/>
          </p:nvSpPr>
          <p:spPr bwMode="auto">
            <a:xfrm>
              <a:off x="131" y="698"/>
              <a:ext cx="8" cy="52"/>
            </a:xfrm>
            <a:prstGeom prst="rect">
              <a:avLst/>
            </a:prstGeom>
            <a:gradFill rotWithShape="1">
              <a:gsLst>
                <a:gs pos="0">
                  <a:srgbClr val="808080"/>
                </a:gs>
                <a:gs pos="50000">
                  <a:srgbClr val="FFFFFF"/>
                </a:gs>
                <a:gs pos="100000">
                  <a:srgbClr val="80808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68298" name="Freeform 31"/>
            <p:cNvSpPr>
              <a:spLocks/>
            </p:cNvSpPr>
            <p:nvPr/>
          </p:nvSpPr>
          <p:spPr bwMode="auto">
            <a:xfrm>
              <a:off x="78" y="725"/>
              <a:ext cx="57" cy="60"/>
            </a:xfrm>
            <a:custGeom>
              <a:avLst/>
              <a:gdLst>
                <a:gd name="T0" fmla="*/ 57 w 57"/>
                <a:gd name="T1" fmla="*/ 43 h 60"/>
                <a:gd name="T2" fmla="*/ 57 w 57"/>
                <a:gd name="T3" fmla="*/ 60 h 60"/>
                <a:gd name="T4" fmla="*/ 0 w 57"/>
                <a:gd name="T5" fmla="*/ 60 h 60"/>
                <a:gd name="T6" fmla="*/ 0 w 57"/>
                <a:gd name="T7" fmla="*/ 0 h 60"/>
                <a:gd name="T8" fmla="*/ 53 w 57"/>
                <a:gd name="T9" fmla="*/ 0 h 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 h="60">
                  <a:moveTo>
                    <a:pt x="57" y="43"/>
                  </a:moveTo>
                  <a:lnTo>
                    <a:pt x="57" y="60"/>
                  </a:lnTo>
                  <a:lnTo>
                    <a:pt x="0" y="60"/>
                  </a:lnTo>
                  <a:lnTo>
                    <a:pt x="0" y="0"/>
                  </a:lnTo>
                  <a:lnTo>
                    <a:pt x="53" y="0"/>
                  </a:lnTo>
                </a:path>
              </a:pathLst>
            </a:custGeom>
            <a:noFill/>
            <a:ln w="9525">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268299" name="Group 32"/>
            <p:cNvGrpSpPr>
              <a:grpSpLocks/>
            </p:cNvGrpSpPr>
            <p:nvPr/>
          </p:nvGrpSpPr>
          <p:grpSpPr bwMode="auto">
            <a:xfrm>
              <a:off x="62" y="685"/>
              <a:ext cx="77" cy="13"/>
              <a:chOff x="62" y="685"/>
              <a:chExt cx="77" cy="13"/>
            </a:xfrm>
          </p:grpSpPr>
          <p:sp>
            <p:nvSpPr>
              <p:cNvPr id="268307" name="Rectangle 33"/>
              <p:cNvSpPr>
                <a:spLocks noChangeArrowheads="1"/>
              </p:cNvSpPr>
              <p:nvPr/>
            </p:nvSpPr>
            <p:spPr bwMode="auto">
              <a:xfrm>
                <a:off x="62" y="685"/>
                <a:ext cx="77" cy="13"/>
              </a:xfrm>
              <a:prstGeom prst="rect">
                <a:avLst/>
              </a:prstGeom>
              <a:gradFill rotWithShape="1">
                <a:gsLst>
                  <a:gs pos="0">
                    <a:srgbClr val="808080"/>
                  </a:gs>
                  <a:gs pos="50000">
                    <a:srgbClr val="FFFFFF"/>
                  </a:gs>
                  <a:gs pos="100000">
                    <a:srgbClr val="80808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68308" name="Freeform 34"/>
              <p:cNvSpPr>
                <a:spLocks/>
              </p:cNvSpPr>
              <p:nvPr/>
            </p:nvSpPr>
            <p:spPr bwMode="auto">
              <a:xfrm>
                <a:off x="65" y="685"/>
                <a:ext cx="74" cy="13"/>
              </a:xfrm>
              <a:custGeom>
                <a:avLst/>
                <a:gdLst>
                  <a:gd name="T0" fmla="*/ 0 w 74"/>
                  <a:gd name="T1" fmla="*/ 0 h 13"/>
                  <a:gd name="T2" fmla="*/ 5 w 74"/>
                  <a:gd name="T3" fmla="*/ 13 h 13"/>
                  <a:gd name="T4" fmla="*/ 11 w 74"/>
                  <a:gd name="T5" fmla="*/ 0 h 13"/>
                  <a:gd name="T6" fmla="*/ 16 w 74"/>
                  <a:gd name="T7" fmla="*/ 13 h 13"/>
                  <a:gd name="T8" fmla="*/ 22 w 74"/>
                  <a:gd name="T9" fmla="*/ 0 h 13"/>
                  <a:gd name="T10" fmla="*/ 27 w 74"/>
                  <a:gd name="T11" fmla="*/ 13 h 13"/>
                  <a:gd name="T12" fmla="*/ 34 w 74"/>
                  <a:gd name="T13" fmla="*/ 0 h 13"/>
                  <a:gd name="T14" fmla="*/ 39 w 74"/>
                  <a:gd name="T15" fmla="*/ 13 h 13"/>
                  <a:gd name="T16" fmla="*/ 46 w 74"/>
                  <a:gd name="T17" fmla="*/ 0 h 13"/>
                  <a:gd name="T18" fmla="*/ 50 w 74"/>
                  <a:gd name="T19" fmla="*/ 13 h 13"/>
                  <a:gd name="T20" fmla="*/ 56 w 74"/>
                  <a:gd name="T21" fmla="*/ 0 h 13"/>
                  <a:gd name="T22" fmla="*/ 61 w 74"/>
                  <a:gd name="T23" fmla="*/ 13 h 13"/>
                  <a:gd name="T24" fmla="*/ 67 w 74"/>
                  <a:gd name="T25" fmla="*/ 0 h 13"/>
                  <a:gd name="T26" fmla="*/ 74 w 74"/>
                  <a:gd name="T27" fmla="*/ 13 h 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3">
                    <a:moveTo>
                      <a:pt x="0" y="0"/>
                    </a:moveTo>
                    <a:lnTo>
                      <a:pt x="5" y="13"/>
                    </a:lnTo>
                    <a:lnTo>
                      <a:pt x="11" y="0"/>
                    </a:lnTo>
                    <a:lnTo>
                      <a:pt x="16" y="13"/>
                    </a:lnTo>
                    <a:lnTo>
                      <a:pt x="22" y="0"/>
                    </a:lnTo>
                    <a:lnTo>
                      <a:pt x="27" y="13"/>
                    </a:lnTo>
                    <a:lnTo>
                      <a:pt x="34" y="0"/>
                    </a:lnTo>
                    <a:lnTo>
                      <a:pt x="39" y="13"/>
                    </a:lnTo>
                    <a:lnTo>
                      <a:pt x="46" y="0"/>
                    </a:lnTo>
                    <a:lnTo>
                      <a:pt x="50" y="13"/>
                    </a:lnTo>
                    <a:lnTo>
                      <a:pt x="56" y="0"/>
                    </a:lnTo>
                    <a:lnTo>
                      <a:pt x="61" y="13"/>
                    </a:lnTo>
                    <a:lnTo>
                      <a:pt x="67" y="0"/>
                    </a:lnTo>
                    <a:lnTo>
                      <a:pt x="74" y="13"/>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68300" name="Rectangle 35"/>
            <p:cNvSpPr>
              <a:spLocks noChangeArrowheads="1"/>
            </p:cNvSpPr>
            <p:nvPr/>
          </p:nvSpPr>
          <p:spPr bwMode="auto">
            <a:xfrm>
              <a:off x="62" y="663"/>
              <a:ext cx="7" cy="9"/>
            </a:xfrm>
            <a:prstGeom prst="rect">
              <a:avLst/>
            </a:prstGeom>
            <a:gradFill rotWithShape="0">
              <a:gsLst>
                <a:gs pos="0">
                  <a:srgbClr val="808080"/>
                </a:gs>
                <a:gs pos="50000">
                  <a:srgbClr val="FFFFFF"/>
                </a:gs>
                <a:gs pos="100000">
                  <a:srgbClr val="80808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68301" name="Rectangle 36"/>
            <p:cNvSpPr>
              <a:spLocks noChangeArrowheads="1"/>
            </p:cNvSpPr>
            <p:nvPr/>
          </p:nvSpPr>
          <p:spPr bwMode="auto">
            <a:xfrm>
              <a:off x="62" y="676"/>
              <a:ext cx="7" cy="9"/>
            </a:xfrm>
            <a:prstGeom prst="rect">
              <a:avLst/>
            </a:prstGeom>
            <a:gradFill rotWithShape="0">
              <a:gsLst>
                <a:gs pos="0">
                  <a:srgbClr val="808080"/>
                </a:gs>
                <a:gs pos="50000">
                  <a:srgbClr val="FFFFFF"/>
                </a:gs>
                <a:gs pos="100000">
                  <a:srgbClr val="80808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68302" name="Oval 37"/>
            <p:cNvSpPr>
              <a:spLocks noChangeArrowheads="1"/>
            </p:cNvSpPr>
            <p:nvPr/>
          </p:nvSpPr>
          <p:spPr bwMode="auto">
            <a:xfrm>
              <a:off x="60" y="670"/>
              <a:ext cx="10" cy="10"/>
            </a:xfrm>
            <a:prstGeom prst="ellipse">
              <a:avLst/>
            </a:prstGeom>
            <a:gradFill rotWithShape="0">
              <a:gsLst>
                <a:gs pos="0">
                  <a:srgbClr val="808080"/>
                </a:gs>
                <a:gs pos="50000">
                  <a:srgbClr val="FFFFFF"/>
                </a:gs>
                <a:gs pos="100000">
                  <a:srgbClr val="808080"/>
                </a:gs>
              </a:gsLst>
              <a:lin ang="0" scaled="1"/>
            </a:gradFill>
            <a:ln w="9525">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68303" name="AutoShape 38"/>
            <p:cNvSpPr>
              <a:spLocks noChangeArrowheads="1"/>
            </p:cNvSpPr>
            <p:nvPr/>
          </p:nvSpPr>
          <p:spPr bwMode="auto">
            <a:xfrm rot="5400000">
              <a:off x="60" y="633"/>
              <a:ext cx="5" cy="29"/>
            </a:xfrm>
            <a:prstGeom prst="flowChartDelay">
              <a:avLst/>
            </a:prstGeom>
            <a:gradFill rotWithShape="0">
              <a:gsLst>
                <a:gs pos="0">
                  <a:srgbClr val="808080"/>
                </a:gs>
                <a:gs pos="50000">
                  <a:srgbClr val="FFFFFF"/>
                </a:gs>
                <a:gs pos="100000">
                  <a:srgbClr val="80808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68304" name="Oval 39"/>
            <p:cNvSpPr>
              <a:spLocks noChangeArrowheads="1"/>
            </p:cNvSpPr>
            <p:nvPr/>
          </p:nvSpPr>
          <p:spPr bwMode="auto">
            <a:xfrm>
              <a:off x="60" y="657"/>
              <a:ext cx="10" cy="10"/>
            </a:xfrm>
            <a:prstGeom prst="ellipse">
              <a:avLst/>
            </a:prstGeom>
            <a:gradFill rotWithShape="0">
              <a:gsLst>
                <a:gs pos="0">
                  <a:srgbClr val="808080"/>
                </a:gs>
                <a:gs pos="50000">
                  <a:srgbClr val="FFFFFF"/>
                </a:gs>
                <a:gs pos="100000">
                  <a:srgbClr val="808080"/>
                </a:gs>
              </a:gsLst>
              <a:lin ang="0" scaled="1"/>
            </a:gradFill>
            <a:ln w="9525">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68305" name="Rectangle 40"/>
            <p:cNvSpPr>
              <a:spLocks noChangeArrowheads="1"/>
            </p:cNvSpPr>
            <p:nvPr/>
          </p:nvSpPr>
          <p:spPr bwMode="auto">
            <a:xfrm>
              <a:off x="56" y="650"/>
              <a:ext cx="12" cy="3"/>
            </a:xfrm>
            <a:prstGeom prst="rect">
              <a:avLst/>
            </a:prstGeom>
            <a:gradFill rotWithShape="0">
              <a:gsLst>
                <a:gs pos="0">
                  <a:srgbClr val="808080"/>
                </a:gs>
                <a:gs pos="50000">
                  <a:srgbClr val="FFFFFF"/>
                </a:gs>
                <a:gs pos="100000">
                  <a:srgbClr val="80808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68306" name="Rectangle 41"/>
            <p:cNvSpPr>
              <a:spLocks noChangeArrowheads="1"/>
            </p:cNvSpPr>
            <p:nvPr/>
          </p:nvSpPr>
          <p:spPr bwMode="auto">
            <a:xfrm>
              <a:off x="48" y="609"/>
              <a:ext cx="29" cy="36"/>
            </a:xfrm>
            <a:prstGeom prst="rect">
              <a:avLst/>
            </a:prstGeom>
            <a:gradFill rotWithShape="1">
              <a:gsLst>
                <a:gs pos="0">
                  <a:srgbClr val="808080"/>
                </a:gs>
                <a:gs pos="50000">
                  <a:srgbClr val="FFFFFF"/>
                </a:gs>
                <a:gs pos="100000">
                  <a:srgbClr val="808080"/>
                </a:gs>
              </a:gsLst>
              <a:lin ang="0" scaled="1"/>
            </a:gra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grpSp>
    </p:spTree>
  </p:cSld>
  <p:clrMapOvr>
    <a:masterClrMapping/>
  </p:clrMapOvr>
  <p:transition/>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Text Box 6"/>
          <p:cNvSpPr txBox="1">
            <a:spLocks noChangeArrowheads="1"/>
          </p:cNvSpPr>
          <p:nvPr/>
        </p:nvSpPr>
        <p:spPr bwMode="auto">
          <a:xfrm>
            <a:off x="755650" y="2651125"/>
            <a:ext cx="8064500" cy="40544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000" b="1" u="sng">
                <a:latin typeface="Cordia New" panose="020B0304020202020204" pitchFamily="34" charset="-34"/>
                <a:cs typeface="Cordia New" panose="020B0304020202020204" pitchFamily="34" charset="-34"/>
              </a:rPr>
              <a:t>โครงสร้าง</a:t>
            </a:r>
          </a:p>
          <a:p>
            <a:pPr>
              <a:spcBef>
                <a:spcPct val="0"/>
              </a:spcBef>
              <a:buFontTx/>
              <a:buNone/>
            </a:pPr>
            <a:r>
              <a:rPr lang="en-US" altLang="en-US" sz="2000">
                <a:latin typeface="Cordia New" panose="020B0304020202020204" pitchFamily="34" charset="-34"/>
                <a:cs typeface="Cordia New" panose="020B0304020202020204" pitchFamily="34" charset="-34"/>
              </a:rPr>
              <a:t> 	HP-feeder ใช้หลักการของการหมุนของตัว  </a:t>
            </a:r>
          </a:p>
          <a:p>
            <a:pPr>
              <a:spcBef>
                <a:spcPct val="0"/>
              </a:spcBef>
              <a:buFontTx/>
              <a:buNone/>
            </a:pPr>
            <a:r>
              <a:rPr lang="en-US" altLang="en-US" sz="2000">
                <a:latin typeface="Cordia New" panose="020B0304020202020204" pitchFamily="34" charset="-34"/>
                <a:cs typeface="Cordia New" panose="020B0304020202020204" pitchFamily="34" charset="-34"/>
              </a:rPr>
              <a:t>plug  valve  ซึ่งประกอบด้วย Packet 2  ชุด  แต่ละชุดจะ</a:t>
            </a:r>
          </a:p>
          <a:p>
            <a:pPr>
              <a:spcBef>
                <a:spcPct val="0"/>
              </a:spcBef>
              <a:buFontTx/>
              <a:buNone/>
            </a:pPr>
            <a:r>
              <a:rPr lang="en-US" altLang="en-US" sz="2000">
                <a:latin typeface="Cordia New" panose="020B0304020202020204" pitchFamily="34" charset="-34"/>
                <a:cs typeface="Cordia New" panose="020B0304020202020204" pitchFamily="34" charset="-34"/>
              </a:rPr>
              <a:t>วางในแนวตั้งฉากซึ่งกันและกัน โดยออกแบบให้  pocket   </a:t>
            </a:r>
          </a:p>
          <a:p>
            <a:pPr>
              <a:spcBef>
                <a:spcPct val="0"/>
              </a:spcBef>
              <a:buFontTx/>
              <a:buNone/>
            </a:pPr>
            <a:r>
              <a:rPr lang="en-US" altLang="en-US" sz="2000">
                <a:latin typeface="Cordia New" panose="020B0304020202020204" pitchFamily="34" charset="-34"/>
                <a:cs typeface="Cordia New" panose="020B0304020202020204" pitchFamily="34" charset="-34"/>
              </a:rPr>
              <a:t>ด้านหนึ่ง (แนวตั้ง)อยู่ตรงกับแนวท่อด้าน Low pressure</a:t>
            </a:r>
          </a:p>
          <a:p>
            <a:pPr>
              <a:spcBef>
                <a:spcPct val="0"/>
              </a:spcBef>
              <a:buFontTx/>
              <a:buNone/>
            </a:pPr>
            <a:r>
              <a:rPr lang="en-US" altLang="en-US" sz="2000">
                <a:latin typeface="Cordia New" panose="020B0304020202020204" pitchFamily="34" charset="-34"/>
                <a:cs typeface="Cordia New" panose="020B0304020202020204" pitchFamily="34" charset="-34"/>
              </a:rPr>
              <a:t>( chip  chute  circulation )  ในขณะที่ pocket อีกด้าน</a:t>
            </a:r>
          </a:p>
          <a:p>
            <a:pPr>
              <a:spcBef>
                <a:spcPct val="0"/>
              </a:spcBef>
              <a:buFontTx/>
              <a:buNone/>
            </a:pPr>
            <a:r>
              <a:rPr lang="en-US" altLang="en-US" sz="2000">
                <a:latin typeface="Cordia New" panose="020B0304020202020204" pitchFamily="34" charset="-34"/>
                <a:cs typeface="Cordia New" panose="020B0304020202020204" pitchFamily="34" charset="-34"/>
              </a:rPr>
              <a:t>หนึ่ง ( แนวนอน  ) จะอยู่ตรงกับแนวท่อด้าน High  </a:t>
            </a:r>
          </a:p>
          <a:p>
            <a:pPr>
              <a:spcBef>
                <a:spcPct val="0"/>
              </a:spcBef>
              <a:buFontTx/>
              <a:buNone/>
            </a:pPr>
            <a:r>
              <a:rPr lang="en-US" altLang="en-US" sz="2000">
                <a:latin typeface="Cordia New" panose="020B0304020202020204" pitchFamily="34" charset="-34"/>
                <a:cs typeface="Cordia New" panose="020B0304020202020204" pitchFamily="34" charset="-34"/>
              </a:rPr>
              <a:t>pressure (Top  circulation) pocket 2 ชุดนี้ถูกออกแบบ</a:t>
            </a:r>
          </a:p>
          <a:p>
            <a:pPr>
              <a:spcBef>
                <a:spcPct val="0"/>
              </a:spcBef>
              <a:buFontTx/>
              <a:buNone/>
            </a:pPr>
            <a:r>
              <a:rPr lang="en-US" altLang="en-US" sz="2000">
                <a:latin typeface="Cordia New" panose="020B0304020202020204" pitchFamily="34" charset="-34"/>
                <a:cs typeface="Cordia New" panose="020B0304020202020204" pitchFamily="34" charset="-34"/>
              </a:rPr>
              <a:t>ให้วางทำมุม 45</a:t>
            </a:r>
            <a:r>
              <a:rPr lang="en-US" altLang="en-US" sz="2000" baseline="30000">
                <a:latin typeface="Cordia New" panose="020B0304020202020204" pitchFamily="34" charset="-34"/>
                <a:cs typeface="Cordia New" panose="020B0304020202020204" pitchFamily="34" charset="-34"/>
              </a:rPr>
              <a:t>๐</a:t>
            </a:r>
            <a:r>
              <a:rPr lang="en-US" altLang="en-US" sz="2000">
                <a:latin typeface="Cordia New" panose="020B0304020202020204" pitchFamily="34" charset="-34"/>
                <a:cs typeface="Cordia New" panose="020B0304020202020204" pitchFamily="34" charset="-34"/>
              </a:rPr>
              <a:t>  ต่อกัน เมื่อปากทางเข้าออกชุดหนึ่งเริ่ม</a:t>
            </a:r>
          </a:p>
          <a:p>
            <a:pPr>
              <a:spcBef>
                <a:spcPct val="0"/>
              </a:spcBef>
              <a:buFontTx/>
              <a:buNone/>
            </a:pPr>
            <a:r>
              <a:rPr lang="en-US" altLang="en-US" sz="2000">
                <a:latin typeface="Cordia New" panose="020B0304020202020204" pitchFamily="34" charset="-34"/>
                <a:cs typeface="Cordia New" panose="020B0304020202020204" pitchFamily="34" charset="-34"/>
              </a:rPr>
              <a:t>ปิด อีกชุดหนึ่งจะเริ่มเปิดขณะที่หมุนไป ทำให้ช่องเปิดของ</a:t>
            </a:r>
          </a:p>
          <a:p>
            <a:pPr>
              <a:spcBef>
                <a:spcPct val="0"/>
              </a:spcBef>
              <a:buFontTx/>
              <a:buNone/>
            </a:pPr>
            <a:r>
              <a:rPr lang="en-US" altLang="en-US" sz="2000">
                <a:latin typeface="Cordia New" panose="020B0304020202020204" pitchFamily="34" charset="-34"/>
                <a:cs typeface="Cordia New" panose="020B0304020202020204" pitchFamily="34" charset="-34"/>
              </a:rPr>
              <a:t>แต่ละ Line  เปิด  100 % ทุกขณะที่  rotor  หมุนไป </a:t>
            </a:r>
            <a:r>
              <a:rPr lang="en-US" altLang="en-US" sz="2000" b="1" i="1">
                <a:solidFill>
                  <a:srgbClr val="FF0000"/>
                </a:solidFill>
                <a:latin typeface="Cordia New" panose="020B0304020202020204" pitchFamily="34" charset="-34"/>
                <a:cs typeface="Cordia New" panose="020B0304020202020204" pitchFamily="34" charset="-34"/>
              </a:rPr>
              <a:t>เราสามารถปรับระยะ clearance  ระหว่าง  rotor  และ housing  ได้เช่นเดียวกับ LP-feeder   เนื่องจากตัวโครงสร้างเป็น  taper  สามารถควบคุมได้  โดยการปรับตัว  rotor  เข้าไป</a:t>
            </a:r>
            <a:endParaRPr lang="en-US" altLang="en-US" sz="2000" b="1" i="1" u="sng">
              <a:solidFill>
                <a:srgbClr val="FF0000"/>
              </a:solidFill>
              <a:latin typeface="Cordia New" panose="020B0304020202020204" pitchFamily="34" charset="-34"/>
              <a:cs typeface="Cordia New" panose="020B0304020202020204" pitchFamily="34" charset="-34"/>
            </a:endParaRPr>
          </a:p>
        </p:txBody>
      </p:sp>
      <p:sp>
        <p:nvSpPr>
          <p:cNvPr id="269315" name="Text Box 2"/>
          <p:cNvSpPr txBox="1">
            <a:spLocks noChangeArrowheads="1"/>
          </p:cNvSpPr>
          <p:nvPr/>
        </p:nvSpPr>
        <p:spPr bwMode="auto">
          <a:xfrm>
            <a:off x="684213" y="1412875"/>
            <a:ext cx="828040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000">
                <a:latin typeface="Cordia New" panose="020B0304020202020204" pitchFamily="34" charset="-34"/>
                <a:cs typeface="Cordia New" panose="020B0304020202020204" pitchFamily="34" charset="-34"/>
              </a:rPr>
              <a:t>	เมื่อ chip  ผ่านตัว HP-feeder  นี้ ระบบจะถูกเปลี่ยนจากระบบความดันต่ำไปสู่ความดันสูงซึ่งใกล้เคียงกับ</a:t>
            </a:r>
          </a:p>
          <a:p>
            <a:pPr>
              <a:spcBef>
                <a:spcPct val="0"/>
              </a:spcBef>
              <a:buFontTx/>
              <a:buNone/>
            </a:pPr>
            <a:r>
              <a:rPr lang="en-US" altLang="en-US" sz="2000">
                <a:latin typeface="Cordia New" panose="020B0304020202020204" pitchFamily="34" charset="-34"/>
                <a:cs typeface="Cordia New" panose="020B0304020202020204" pitchFamily="34" charset="-34"/>
              </a:rPr>
              <a:t>ความดันใน digester  น้ำยาต้มเยื่อที่ไหลเวียนใน  chip  chute ( chip  chute  circulation  liquor )  จะถูกแยกออกจาก</a:t>
            </a:r>
          </a:p>
          <a:p>
            <a:pPr>
              <a:spcBef>
                <a:spcPct val="0"/>
              </a:spcBef>
              <a:buFontTx/>
              <a:buNone/>
            </a:pPr>
            <a:r>
              <a:rPr lang="en-US" altLang="en-US" sz="2000">
                <a:latin typeface="Cordia New" panose="020B0304020202020204" pitchFamily="34" charset="-34"/>
                <a:cs typeface="Cordia New" panose="020B0304020202020204" pitchFamily="34" charset="-34"/>
              </a:rPr>
              <a:t>chip  จะปั้มให้ไหลเวียนกลับไปยัง Chip  chute  ในขณะเดียวกัน  chip ก็จะถูกน้ำยาต้มเยื่อความดันสูง ( Liquor )  ใน  </a:t>
            </a:r>
          </a:p>
          <a:p>
            <a:pPr>
              <a:spcBef>
                <a:spcPct val="0"/>
              </a:spcBef>
              <a:buFontTx/>
              <a:buNone/>
            </a:pPr>
            <a:r>
              <a:rPr lang="en-US" altLang="en-US" sz="2000">
                <a:latin typeface="Cordia New" panose="020B0304020202020204" pitchFamily="34" charset="-34"/>
                <a:cs typeface="Cordia New" panose="020B0304020202020204" pitchFamily="34" charset="-34"/>
              </a:rPr>
              <a:t>Top Circulation   ผลักดันให้ขึ้นไปสู่ยอดหอ  digester</a:t>
            </a:r>
            <a:endParaRPr lang="en-US" altLang="en-US" sz="2000" u="sng">
              <a:latin typeface="Cordia New" panose="020B0304020202020204" pitchFamily="34" charset="-34"/>
              <a:cs typeface="Cordia New" panose="020B0304020202020204" pitchFamily="34" charset="-34"/>
            </a:endParaRPr>
          </a:p>
        </p:txBody>
      </p:sp>
      <p:sp>
        <p:nvSpPr>
          <p:cNvPr id="184325" name="Text Box 5"/>
          <p:cNvSpPr txBox="1">
            <a:spLocks noChangeArrowheads="1"/>
          </p:cNvSpPr>
          <p:nvPr/>
        </p:nvSpPr>
        <p:spPr bwMode="auto">
          <a:xfrm>
            <a:off x="611188" y="200025"/>
            <a:ext cx="5172075" cy="1068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3600" b="1" dirty="0">
                <a:solidFill>
                  <a:srgbClr val="FF0000"/>
                </a:solidFill>
                <a:effectLst>
                  <a:outerShdw blurRad="38100" dist="38100" dir="2700000" algn="tl">
                    <a:srgbClr val="000000"/>
                  </a:outerShdw>
                </a:effectLst>
                <a:latin typeface="Century Schoolbook" panose="02040604050505020304" pitchFamily="18" charset="0"/>
              </a:rPr>
              <a:t>Continuous digester </a:t>
            </a:r>
          </a:p>
          <a:p>
            <a:pPr>
              <a:defRPr/>
            </a:pPr>
            <a:r>
              <a:rPr lang="en-US" altLang="en-US" sz="2800" b="1" dirty="0">
                <a:effectLst>
                  <a:outerShdw blurRad="38100" dist="38100" dir="2700000" algn="tl">
                    <a:srgbClr val="000000"/>
                  </a:outerShdw>
                </a:effectLst>
                <a:latin typeface="Century Schoolbook" panose="02040604050505020304" pitchFamily="18" charset="0"/>
              </a:rPr>
              <a:t>High Pressure feeder (C30)</a:t>
            </a:r>
          </a:p>
        </p:txBody>
      </p:sp>
      <p:pic>
        <p:nvPicPr>
          <p:cNvPr id="269317" name="Picture 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59338" y="2787650"/>
            <a:ext cx="4068762" cy="281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Text Box 2"/>
          <p:cNvSpPr txBox="1">
            <a:spLocks noChangeArrowheads="1"/>
          </p:cNvSpPr>
          <p:nvPr/>
        </p:nvSpPr>
        <p:spPr bwMode="auto">
          <a:xfrm>
            <a:off x="596900" y="1552575"/>
            <a:ext cx="4262438" cy="410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400" b="1" u="sng">
                <a:latin typeface="Cordia New" panose="020B0304020202020204" pitchFamily="34" charset="-34"/>
                <a:cs typeface="Cordia New" panose="020B0304020202020204" pitchFamily="34" charset="-34"/>
              </a:rPr>
              <a:t>การทำงาน</a:t>
            </a:r>
          </a:p>
          <a:p>
            <a:pPr>
              <a:spcBef>
                <a:spcPct val="0"/>
              </a:spcBef>
              <a:buFontTx/>
              <a:buNone/>
            </a:pPr>
            <a:r>
              <a:rPr lang="en-US" altLang="en-US" sz="2400">
                <a:latin typeface="Cordia New" panose="020B0304020202020204" pitchFamily="34" charset="-34"/>
                <a:cs typeface="Cordia New" panose="020B0304020202020204" pitchFamily="34" charset="-34"/>
              </a:rPr>
              <a:t>	chip  ที่อยู่ร่วมกับ  Liquor  จาก  chip</a:t>
            </a:r>
          </a:p>
          <a:p>
            <a:pPr>
              <a:spcBef>
                <a:spcPct val="0"/>
              </a:spcBef>
              <a:buFontTx/>
              <a:buNone/>
            </a:pPr>
            <a:r>
              <a:rPr lang="en-US" altLang="en-US" sz="2400">
                <a:latin typeface="Cordia New" panose="020B0304020202020204" pitchFamily="34" charset="-34"/>
                <a:cs typeface="Cordia New" panose="020B0304020202020204" pitchFamily="34" charset="-34"/>
              </a:rPr>
              <a:t>chute  circulation   จะผ่าน chip chute ลงมา</a:t>
            </a:r>
          </a:p>
          <a:p>
            <a:pPr>
              <a:spcBef>
                <a:spcPct val="0"/>
              </a:spcBef>
              <a:buFontTx/>
              <a:buNone/>
            </a:pPr>
            <a:r>
              <a:rPr lang="en-US" altLang="en-US" sz="2400">
                <a:latin typeface="Cordia New" panose="020B0304020202020204" pitchFamily="34" charset="-34"/>
                <a:cs typeface="Cordia New" panose="020B0304020202020204" pitchFamily="34" charset="-34"/>
              </a:rPr>
              <a:t>เข้า  HP-feeder   ทางด้านบนและเข้าสู่  pocket </a:t>
            </a:r>
          </a:p>
          <a:p>
            <a:pPr>
              <a:spcBef>
                <a:spcPct val="0"/>
              </a:spcBef>
              <a:buFontTx/>
              <a:buNone/>
            </a:pPr>
            <a:r>
              <a:rPr lang="en-US" altLang="en-US" sz="2400">
                <a:latin typeface="Cordia New" panose="020B0304020202020204" pitchFamily="34" charset="-34"/>
                <a:cs typeface="Cordia New" panose="020B0304020202020204" pitchFamily="34" charset="-34"/>
              </a:rPr>
              <a:t>ตัวที่อยู่ในตำแหน่งแนวตั้ง Liquor  จะผ่านลงสู่ท่อ</a:t>
            </a:r>
          </a:p>
          <a:p>
            <a:pPr>
              <a:spcBef>
                <a:spcPct val="0"/>
              </a:spcBef>
              <a:buFontTx/>
              <a:buNone/>
            </a:pPr>
            <a:r>
              <a:rPr lang="en-US" altLang="en-US" sz="2400">
                <a:latin typeface="Cordia New" panose="020B0304020202020204" pitchFamily="34" charset="-34"/>
                <a:cs typeface="Cordia New" panose="020B0304020202020204" pitchFamily="34" charset="-34"/>
              </a:rPr>
              <a:t>ในวงจรหมุนเวียน chip chute circulation   ส่วน </a:t>
            </a:r>
          </a:p>
          <a:p>
            <a:pPr>
              <a:spcBef>
                <a:spcPct val="0"/>
              </a:spcBef>
              <a:buFontTx/>
              <a:buNone/>
            </a:pPr>
            <a:r>
              <a:rPr lang="en-US" altLang="en-US" sz="2400">
                <a:latin typeface="Cordia New" panose="020B0304020202020204" pitchFamily="34" charset="-34"/>
                <a:cs typeface="Cordia New" panose="020B0304020202020204" pitchFamily="34" charset="-34"/>
              </a:rPr>
              <a:t>chip จะยังคงค้างใน pocket โดยไม่ผ่าน  screen  </a:t>
            </a:r>
          </a:p>
          <a:p>
            <a:pPr>
              <a:spcBef>
                <a:spcPct val="0"/>
              </a:spcBef>
              <a:buFontTx/>
              <a:buNone/>
            </a:pPr>
            <a:r>
              <a:rPr lang="en-US" altLang="en-US" sz="2400">
                <a:latin typeface="Cordia New" panose="020B0304020202020204" pitchFamily="34" charset="-34"/>
                <a:cs typeface="Cordia New" panose="020B0304020202020204" pitchFamily="34" charset="-34"/>
              </a:rPr>
              <a:t>ที่อยู่ด้านล่างของทางออก เมื่อ pocket  นี้หมุนไป </a:t>
            </a:r>
          </a:p>
          <a:p>
            <a:pPr>
              <a:spcBef>
                <a:spcPct val="0"/>
              </a:spcBef>
              <a:buFontTx/>
              <a:buNone/>
            </a:pPr>
            <a:r>
              <a:rPr lang="en-US" altLang="en-US" sz="2400">
                <a:latin typeface="Cordia New" panose="020B0304020202020204" pitchFamily="34" charset="-34"/>
                <a:cs typeface="Cordia New" panose="020B0304020202020204" pitchFamily="34" charset="-34"/>
              </a:rPr>
              <a:t>1/4 รอบจนอยู่ในแนวนอนตรงกับ Top circulation  Liquor ใน Line  นี้  ซึ่งมีความดันสูงจะดัน chip </a:t>
            </a:r>
          </a:p>
          <a:p>
            <a:pPr>
              <a:spcBef>
                <a:spcPct val="0"/>
              </a:spcBef>
              <a:buFontTx/>
              <a:buNone/>
            </a:pPr>
            <a:r>
              <a:rPr lang="en-US" altLang="en-US" sz="2400">
                <a:latin typeface="Cordia New" panose="020B0304020202020204" pitchFamily="34" charset="-34"/>
                <a:cs typeface="Cordia New" panose="020B0304020202020204" pitchFamily="34" charset="-34"/>
              </a:rPr>
              <a:t>ป้อนขึ้นสู่  Digester</a:t>
            </a:r>
          </a:p>
        </p:txBody>
      </p:sp>
      <p:pic>
        <p:nvPicPr>
          <p:cNvPr id="270339" name="Picture 4" descr="162_620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32363" y="2060575"/>
            <a:ext cx="3838575" cy="287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6373" name="Text Box 5"/>
          <p:cNvSpPr txBox="1">
            <a:spLocks noChangeArrowheads="1"/>
          </p:cNvSpPr>
          <p:nvPr/>
        </p:nvSpPr>
        <p:spPr bwMode="auto">
          <a:xfrm>
            <a:off x="611188" y="200025"/>
            <a:ext cx="5172075" cy="1068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3600" b="1" dirty="0">
                <a:solidFill>
                  <a:srgbClr val="FF0000"/>
                </a:solidFill>
                <a:effectLst>
                  <a:outerShdw blurRad="38100" dist="38100" dir="2700000" algn="tl">
                    <a:srgbClr val="000000"/>
                  </a:outerShdw>
                </a:effectLst>
                <a:latin typeface="Century Schoolbook" panose="02040604050505020304" pitchFamily="18" charset="0"/>
              </a:rPr>
              <a:t>Continuous digester </a:t>
            </a:r>
          </a:p>
          <a:p>
            <a:pPr>
              <a:defRPr/>
            </a:pPr>
            <a:r>
              <a:rPr lang="en-US" altLang="en-US" sz="2800" b="1" dirty="0">
                <a:effectLst>
                  <a:outerShdw blurRad="38100" dist="38100" dir="2700000" algn="tl">
                    <a:srgbClr val="000000"/>
                  </a:outerShdw>
                </a:effectLst>
                <a:latin typeface="Century Schoolbook" panose="02040604050505020304" pitchFamily="18" charset="0"/>
              </a:rPr>
              <a:t>High Pressure feeder (C30)</a:t>
            </a:r>
          </a:p>
        </p:txBody>
      </p:sp>
    </p:spTree>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Picture 3"/>
          <p:cNvSpPr>
            <a:spLocks noChangeAspect="1" noChangeArrowheads="1"/>
          </p:cNvSpPr>
          <p:nvPr/>
        </p:nvSpPr>
        <p:spPr bwMode="auto">
          <a:xfrm>
            <a:off x="280988" y="1719263"/>
            <a:ext cx="8582025" cy="238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71363" name="Text Box 11"/>
          <p:cNvSpPr txBox="1">
            <a:spLocks noChangeArrowheads="1"/>
          </p:cNvSpPr>
          <p:nvPr/>
        </p:nvSpPr>
        <p:spPr bwMode="auto">
          <a:xfrm>
            <a:off x="436563" y="4102100"/>
            <a:ext cx="26955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b="1">
                <a:solidFill>
                  <a:srgbClr val="000000"/>
                </a:solidFill>
                <a:latin typeface="Century Schoolbook" panose="02040604050505020304" pitchFamily="18" charset="0"/>
              </a:rPr>
              <a:t>Chip to Top Circulation</a:t>
            </a:r>
            <a:endParaRPr lang="th-TH" altLang="en-US" sz="1600" b="1">
              <a:solidFill>
                <a:srgbClr val="000000"/>
              </a:solidFill>
              <a:latin typeface="Century Schoolbook" panose="02040604050505020304" pitchFamily="18" charset="0"/>
            </a:endParaRPr>
          </a:p>
        </p:txBody>
      </p:sp>
      <p:sp>
        <p:nvSpPr>
          <p:cNvPr id="271364" name="Text Box 12"/>
          <p:cNvSpPr txBox="1">
            <a:spLocks noChangeArrowheads="1"/>
          </p:cNvSpPr>
          <p:nvPr/>
        </p:nvSpPr>
        <p:spPr bwMode="auto">
          <a:xfrm>
            <a:off x="3348038" y="4100513"/>
            <a:ext cx="304165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b="1">
                <a:solidFill>
                  <a:srgbClr val="000000"/>
                </a:solidFill>
                <a:latin typeface="Century Schoolbook" panose="02040604050505020304" pitchFamily="18" charset="0"/>
              </a:rPr>
              <a:t>Chip become to Chip chute</a:t>
            </a:r>
          </a:p>
          <a:p>
            <a:pPr>
              <a:spcBef>
                <a:spcPct val="0"/>
              </a:spcBef>
              <a:buFontTx/>
              <a:buNone/>
            </a:pPr>
            <a:r>
              <a:rPr lang="en-US" altLang="en-US" sz="1600" b="1">
                <a:solidFill>
                  <a:srgbClr val="000000"/>
                </a:solidFill>
                <a:latin typeface="Century Schoolbook" panose="02040604050505020304" pitchFamily="18" charset="0"/>
              </a:rPr>
              <a:t>Circulation</a:t>
            </a:r>
            <a:endParaRPr lang="th-TH" altLang="en-US" sz="1600" b="1">
              <a:solidFill>
                <a:srgbClr val="000000"/>
              </a:solidFill>
              <a:latin typeface="Century Schoolbook" panose="02040604050505020304" pitchFamily="18" charset="0"/>
            </a:endParaRPr>
          </a:p>
        </p:txBody>
      </p:sp>
      <p:sp>
        <p:nvSpPr>
          <p:cNvPr id="271365" name="Text Box 13"/>
          <p:cNvSpPr txBox="1">
            <a:spLocks noChangeArrowheads="1"/>
          </p:cNvSpPr>
          <p:nvPr/>
        </p:nvSpPr>
        <p:spPr bwMode="auto">
          <a:xfrm>
            <a:off x="6559550" y="4100513"/>
            <a:ext cx="204470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b="1">
                <a:solidFill>
                  <a:srgbClr val="000000"/>
                </a:solidFill>
                <a:latin typeface="Century Schoolbook" panose="02040604050505020304" pitchFamily="18" charset="0"/>
              </a:rPr>
              <a:t>Chip to Chip cute</a:t>
            </a:r>
          </a:p>
          <a:p>
            <a:pPr>
              <a:spcBef>
                <a:spcPct val="0"/>
              </a:spcBef>
              <a:buFontTx/>
              <a:buNone/>
            </a:pPr>
            <a:r>
              <a:rPr lang="en-US" altLang="en-US" sz="1600" b="1">
                <a:solidFill>
                  <a:srgbClr val="000000"/>
                </a:solidFill>
                <a:latin typeface="Century Schoolbook" panose="02040604050505020304" pitchFamily="18" charset="0"/>
              </a:rPr>
              <a:t>Circulation</a:t>
            </a:r>
            <a:endParaRPr lang="th-TH" altLang="en-US" sz="1600" b="1">
              <a:solidFill>
                <a:srgbClr val="000000"/>
              </a:solidFill>
              <a:latin typeface="Century Schoolbook" panose="02040604050505020304" pitchFamily="18" charset="0"/>
            </a:endParaRPr>
          </a:p>
        </p:txBody>
      </p:sp>
      <p:sp>
        <p:nvSpPr>
          <p:cNvPr id="214031" name="Text Box 15"/>
          <p:cNvSpPr txBox="1">
            <a:spLocks noChangeArrowheads="1"/>
          </p:cNvSpPr>
          <p:nvPr/>
        </p:nvSpPr>
        <p:spPr bwMode="auto">
          <a:xfrm>
            <a:off x="611188" y="200025"/>
            <a:ext cx="5172075" cy="1068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3600" b="1" dirty="0">
                <a:solidFill>
                  <a:srgbClr val="FF0000"/>
                </a:solidFill>
                <a:effectLst>
                  <a:outerShdw blurRad="38100" dist="38100" dir="2700000" algn="tl">
                    <a:srgbClr val="000000"/>
                  </a:outerShdw>
                </a:effectLst>
                <a:latin typeface="Century Schoolbook" panose="02040604050505020304" pitchFamily="18" charset="0"/>
              </a:rPr>
              <a:t>Continuous digester </a:t>
            </a:r>
          </a:p>
          <a:p>
            <a:pPr>
              <a:defRPr/>
            </a:pPr>
            <a:r>
              <a:rPr lang="en-US" altLang="en-US" sz="2800" b="1" dirty="0">
                <a:effectLst>
                  <a:outerShdw blurRad="38100" dist="38100" dir="2700000" algn="tl">
                    <a:srgbClr val="000000"/>
                  </a:outerShdw>
                </a:effectLst>
                <a:latin typeface="Century Schoolbook" panose="02040604050505020304" pitchFamily="18" charset="0"/>
              </a:rPr>
              <a:t>High Pressure feeder (C30)</a:t>
            </a:r>
          </a:p>
        </p:txBody>
      </p:sp>
      <p:pic>
        <p:nvPicPr>
          <p:cNvPr id="271367" name="Picture 3"/>
          <p:cNvPicPr>
            <a:picLocks noChangeAspect="1" noChangeArrowheads="1"/>
          </p:cNvPicPr>
          <p:nvPr/>
        </p:nvPicPr>
        <p:blipFill>
          <a:blip r:embed="rId2">
            <a:extLst>
              <a:ext uri="{28A0092B-C50C-407E-A947-70E740481C1C}">
                <a14:useLocalDpi xmlns:a14="http://schemas.microsoft.com/office/drawing/2010/main" val="0"/>
              </a:ext>
            </a:extLst>
          </a:blip>
          <a:srcRect b="50198"/>
          <a:stretch>
            <a:fillRect/>
          </a:stretch>
        </p:blipFill>
        <p:spPr bwMode="auto">
          <a:xfrm>
            <a:off x="280988" y="1719263"/>
            <a:ext cx="8582025" cy="2395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7" name="Text Box 5"/>
          <p:cNvSpPr txBox="1">
            <a:spLocks noChangeArrowheads="1"/>
          </p:cNvSpPr>
          <p:nvPr/>
        </p:nvSpPr>
        <p:spPr bwMode="auto">
          <a:xfrm>
            <a:off x="611188" y="200025"/>
            <a:ext cx="5214937" cy="1068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3600" b="1" dirty="0">
                <a:solidFill>
                  <a:srgbClr val="FF0000"/>
                </a:solidFill>
                <a:effectLst>
                  <a:outerShdw blurRad="38100" dist="38100" dir="2700000" algn="tl">
                    <a:srgbClr val="000000"/>
                  </a:outerShdw>
                </a:effectLst>
                <a:latin typeface="Century Schoolbook" panose="02040604050505020304" pitchFamily="18" charset="0"/>
              </a:rPr>
              <a:t>Continuous digester </a:t>
            </a:r>
          </a:p>
          <a:p>
            <a:pPr>
              <a:defRPr/>
            </a:pPr>
            <a:r>
              <a:rPr lang="en-US" altLang="en-US" sz="2800" b="1" dirty="0">
                <a:effectLst>
                  <a:outerShdw blurRad="38100" dist="38100" dir="2700000" algn="tl">
                    <a:srgbClr val="000000"/>
                  </a:outerShdw>
                </a:effectLst>
                <a:latin typeface="Century Schoolbook" panose="02040604050505020304" pitchFamily="18" charset="0"/>
              </a:rPr>
              <a:t>Chip chute circulation (C3)</a:t>
            </a:r>
          </a:p>
        </p:txBody>
      </p:sp>
      <p:pic>
        <p:nvPicPr>
          <p:cNvPr id="272387" name="Picture 1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76375" y="1343025"/>
            <a:ext cx="6083300"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Text Box 2"/>
          <p:cNvSpPr txBox="1">
            <a:spLocks noChangeArrowheads="1"/>
          </p:cNvSpPr>
          <p:nvPr/>
        </p:nvSpPr>
        <p:spPr bwMode="auto">
          <a:xfrm>
            <a:off x="611188" y="200025"/>
            <a:ext cx="5214937" cy="1433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3600" b="1" dirty="0">
                <a:solidFill>
                  <a:srgbClr val="FF0000"/>
                </a:solidFill>
                <a:effectLst>
                  <a:outerShdw blurRad="38100" dist="38100" dir="2700000" algn="tl">
                    <a:srgbClr val="000000"/>
                  </a:outerShdw>
                </a:effectLst>
                <a:latin typeface="Century Schoolbook" panose="02040604050505020304" pitchFamily="18" charset="0"/>
              </a:rPr>
              <a:t>Continuous digester </a:t>
            </a:r>
          </a:p>
          <a:p>
            <a:pPr>
              <a:defRPr/>
            </a:pPr>
            <a:r>
              <a:rPr lang="en-US" altLang="en-US" sz="2800" b="1" dirty="0">
                <a:effectLst>
                  <a:outerShdw blurRad="38100" dist="38100" dir="2700000" algn="tl">
                    <a:srgbClr val="000000"/>
                  </a:outerShdw>
                </a:effectLst>
                <a:latin typeface="Century Schoolbook" panose="02040604050505020304" pitchFamily="18" charset="0"/>
              </a:rPr>
              <a:t>Chip chute circulation (C3)</a:t>
            </a:r>
          </a:p>
          <a:p>
            <a:pPr>
              <a:defRPr/>
            </a:pPr>
            <a:r>
              <a:rPr lang="en-US" altLang="en-US" sz="2400" b="1" dirty="0">
                <a:solidFill>
                  <a:srgbClr val="00FF00"/>
                </a:solidFill>
                <a:effectLst>
                  <a:outerShdw blurRad="38100" dist="38100" dir="2700000" algn="tl">
                    <a:srgbClr val="000000"/>
                  </a:outerShdw>
                </a:effectLst>
                <a:latin typeface="Century Schoolbook" panose="02040604050505020304" pitchFamily="18" charset="0"/>
              </a:rPr>
              <a:t>Chip chute filling degree</a:t>
            </a:r>
          </a:p>
        </p:txBody>
      </p:sp>
      <p:sp>
        <p:nvSpPr>
          <p:cNvPr id="273411" name="Rectangle 4"/>
          <p:cNvSpPr>
            <a:spLocks noChangeArrowheads="1"/>
          </p:cNvSpPr>
          <p:nvPr/>
        </p:nvSpPr>
        <p:spPr bwMode="auto">
          <a:xfrm rot="-2463830">
            <a:off x="2973388" y="4344988"/>
            <a:ext cx="381000" cy="15240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73412" name="Rectangle 5"/>
          <p:cNvSpPr>
            <a:spLocks noChangeArrowheads="1"/>
          </p:cNvSpPr>
          <p:nvPr/>
        </p:nvSpPr>
        <p:spPr bwMode="auto">
          <a:xfrm>
            <a:off x="2782888" y="3125788"/>
            <a:ext cx="304800" cy="198120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grpSp>
        <p:nvGrpSpPr>
          <p:cNvPr id="273413" name="Group 6"/>
          <p:cNvGrpSpPr>
            <a:grpSpLocks/>
          </p:cNvGrpSpPr>
          <p:nvPr/>
        </p:nvGrpSpPr>
        <p:grpSpPr bwMode="auto">
          <a:xfrm>
            <a:off x="2363788" y="5106988"/>
            <a:ext cx="1143000" cy="914400"/>
            <a:chOff x="1824" y="2832"/>
            <a:chExt cx="720" cy="576"/>
          </a:xfrm>
        </p:grpSpPr>
        <p:sp>
          <p:nvSpPr>
            <p:cNvPr id="273426" name="AutoShape 7"/>
            <p:cNvSpPr>
              <a:spLocks noChangeArrowheads="1"/>
            </p:cNvSpPr>
            <p:nvPr/>
          </p:nvSpPr>
          <p:spPr bwMode="auto">
            <a:xfrm>
              <a:off x="1968" y="2832"/>
              <a:ext cx="432" cy="432"/>
            </a:xfrm>
            <a:prstGeom prst="octagon">
              <a:avLst>
                <a:gd name="adj" fmla="val 29287"/>
              </a:avLst>
            </a:prstGeom>
            <a:solidFill>
              <a:schemeClr val="bg2"/>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grpSp>
          <p:nvGrpSpPr>
            <p:cNvPr id="273427" name="Group 8"/>
            <p:cNvGrpSpPr>
              <a:grpSpLocks/>
            </p:cNvGrpSpPr>
            <p:nvPr/>
          </p:nvGrpSpPr>
          <p:grpSpPr bwMode="auto">
            <a:xfrm>
              <a:off x="1824" y="2898"/>
              <a:ext cx="720" cy="510"/>
              <a:chOff x="1824" y="2898"/>
              <a:chExt cx="720" cy="510"/>
            </a:xfrm>
          </p:grpSpPr>
          <p:sp>
            <p:nvSpPr>
              <p:cNvPr id="273428" name="Oval 9"/>
              <p:cNvSpPr>
                <a:spLocks noChangeArrowheads="1"/>
              </p:cNvSpPr>
              <p:nvPr/>
            </p:nvSpPr>
            <p:spPr bwMode="auto">
              <a:xfrm>
                <a:off x="2034" y="2898"/>
                <a:ext cx="300" cy="3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73429" name="AutoShape 10"/>
              <p:cNvSpPr>
                <a:spLocks noChangeArrowheads="1"/>
              </p:cNvSpPr>
              <p:nvPr/>
            </p:nvSpPr>
            <p:spPr bwMode="auto">
              <a:xfrm rot="-5400000">
                <a:off x="2388" y="2976"/>
                <a:ext cx="168" cy="144"/>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bg2"/>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3430" name="AutoShape 11"/>
              <p:cNvSpPr>
                <a:spLocks noChangeArrowheads="1"/>
              </p:cNvSpPr>
              <p:nvPr/>
            </p:nvSpPr>
            <p:spPr bwMode="auto">
              <a:xfrm rot="5400000" flipH="1">
                <a:off x="1812" y="2976"/>
                <a:ext cx="168" cy="144"/>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bg2"/>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3431" name="AutoShape 12"/>
              <p:cNvSpPr>
                <a:spLocks noChangeArrowheads="1"/>
              </p:cNvSpPr>
              <p:nvPr/>
            </p:nvSpPr>
            <p:spPr bwMode="auto">
              <a:xfrm rot="10800000" flipV="1">
                <a:off x="2100" y="3264"/>
                <a:ext cx="168" cy="144"/>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bg2"/>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sp>
        <p:nvSpPr>
          <p:cNvPr id="273414" name="Text Box 13"/>
          <p:cNvSpPr txBox="1">
            <a:spLocks noChangeArrowheads="1"/>
          </p:cNvSpPr>
          <p:nvPr/>
        </p:nvSpPr>
        <p:spPr bwMode="auto">
          <a:xfrm>
            <a:off x="611188" y="2255838"/>
            <a:ext cx="1992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GB" altLang="en-US" sz="2000">
                <a:latin typeface="Century Schoolbook" panose="02040604050505020304" pitchFamily="18" charset="0"/>
                <a:cs typeface="Angsana New" panose="02020603050405020304" pitchFamily="18" charset="-34"/>
              </a:rPr>
              <a:t>Q</a:t>
            </a:r>
            <a:r>
              <a:rPr lang="en-GB" altLang="en-US" sz="2000" baseline="-25000">
                <a:latin typeface="Century Schoolbook" panose="02040604050505020304" pitchFamily="18" charset="0"/>
                <a:cs typeface="Angsana New" panose="02020603050405020304" pitchFamily="18" charset="-34"/>
              </a:rPr>
              <a:t>F</a:t>
            </a:r>
            <a:r>
              <a:rPr lang="en-GB" altLang="en-US" sz="2000">
                <a:latin typeface="Century Schoolbook" panose="02040604050505020304" pitchFamily="18" charset="0"/>
                <a:cs typeface="Angsana New" panose="02020603050405020304" pitchFamily="18" charset="-34"/>
              </a:rPr>
              <a:t> = Chip Flow</a:t>
            </a:r>
          </a:p>
        </p:txBody>
      </p:sp>
      <p:sp>
        <p:nvSpPr>
          <p:cNvPr id="273415" name="Line 14"/>
          <p:cNvSpPr>
            <a:spLocks noChangeShapeType="1"/>
          </p:cNvSpPr>
          <p:nvPr/>
        </p:nvSpPr>
        <p:spPr bwMode="auto">
          <a:xfrm>
            <a:off x="2935288" y="2287588"/>
            <a:ext cx="0" cy="762000"/>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3416" name="Line 15"/>
          <p:cNvSpPr>
            <a:spLocks noChangeShapeType="1"/>
          </p:cNvSpPr>
          <p:nvPr/>
        </p:nvSpPr>
        <p:spPr bwMode="auto">
          <a:xfrm rot="2805569" flipV="1">
            <a:off x="3609182" y="3594893"/>
            <a:ext cx="25400" cy="849313"/>
          </a:xfrm>
          <a:prstGeom prst="line">
            <a:avLst/>
          </a:prstGeom>
          <a:noFill/>
          <a:ln w="38100" cmpd="dbl">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3417" name="Text Box 16"/>
          <p:cNvSpPr txBox="1">
            <a:spLocks noChangeArrowheads="1"/>
          </p:cNvSpPr>
          <p:nvPr/>
        </p:nvSpPr>
        <p:spPr bwMode="auto">
          <a:xfrm>
            <a:off x="3735388" y="3246438"/>
            <a:ext cx="49720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GB" altLang="en-US" sz="2000">
                <a:latin typeface="Century Schoolbook" panose="02040604050505020304" pitchFamily="18" charset="0"/>
                <a:cs typeface="Angsana New" panose="02020603050405020304" pitchFamily="18" charset="-34"/>
              </a:rPr>
              <a:t>Q = Chip Chute Circulation Return Flow</a:t>
            </a:r>
          </a:p>
        </p:txBody>
      </p:sp>
      <p:sp>
        <p:nvSpPr>
          <p:cNvPr id="273418" name="Text Box 17"/>
          <p:cNvSpPr txBox="1">
            <a:spLocks noChangeArrowheads="1"/>
          </p:cNvSpPr>
          <p:nvPr/>
        </p:nvSpPr>
        <p:spPr bwMode="auto">
          <a:xfrm>
            <a:off x="4329113" y="4887913"/>
            <a:ext cx="20843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GB" altLang="en-US" sz="2000">
                <a:latin typeface="Century Schoolbook" panose="02040604050505020304" pitchFamily="18" charset="0"/>
                <a:cs typeface="Angsana New" panose="02020603050405020304" pitchFamily="18" charset="-34"/>
              </a:rPr>
              <a:t>Filling Degree =</a:t>
            </a:r>
          </a:p>
        </p:txBody>
      </p:sp>
      <p:sp>
        <p:nvSpPr>
          <p:cNvPr id="273419" name="Text Box 18"/>
          <p:cNvSpPr txBox="1">
            <a:spLocks noChangeArrowheads="1"/>
          </p:cNvSpPr>
          <p:nvPr/>
        </p:nvSpPr>
        <p:spPr bwMode="auto">
          <a:xfrm>
            <a:off x="7088188" y="4541838"/>
            <a:ext cx="4905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GB" altLang="en-US" sz="2000">
                <a:latin typeface="Century Schoolbook" panose="02040604050505020304" pitchFamily="18" charset="0"/>
                <a:cs typeface="Angsana New" panose="02020603050405020304" pitchFamily="18" charset="-34"/>
              </a:rPr>
              <a:t>Q</a:t>
            </a:r>
            <a:r>
              <a:rPr lang="en-GB" altLang="en-US" sz="2000" baseline="-25000">
                <a:latin typeface="Century Schoolbook" panose="02040604050505020304" pitchFamily="18" charset="0"/>
                <a:cs typeface="Angsana New" panose="02020603050405020304" pitchFamily="18" charset="-34"/>
              </a:rPr>
              <a:t>F</a:t>
            </a:r>
            <a:endParaRPr lang="en-GB" altLang="en-US" sz="2000">
              <a:latin typeface="Century Schoolbook" panose="02040604050505020304" pitchFamily="18" charset="0"/>
              <a:cs typeface="Angsana New" panose="02020603050405020304" pitchFamily="18" charset="-34"/>
            </a:endParaRPr>
          </a:p>
        </p:txBody>
      </p:sp>
      <p:sp>
        <p:nvSpPr>
          <p:cNvPr id="273420" name="Line 19"/>
          <p:cNvSpPr>
            <a:spLocks noChangeShapeType="1"/>
          </p:cNvSpPr>
          <p:nvPr/>
        </p:nvSpPr>
        <p:spPr bwMode="auto">
          <a:xfrm>
            <a:off x="6630988" y="5106988"/>
            <a:ext cx="14478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3421" name="Text Box 20"/>
          <p:cNvSpPr txBox="1">
            <a:spLocks noChangeArrowheads="1"/>
          </p:cNvSpPr>
          <p:nvPr/>
        </p:nvSpPr>
        <p:spPr bwMode="auto">
          <a:xfrm>
            <a:off x="6707188" y="5151438"/>
            <a:ext cx="4905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GB" altLang="en-US" sz="2000">
                <a:latin typeface="Century Schoolbook" panose="02040604050505020304" pitchFamily="18" charset="0"/>
                <a:cs typeface="Angsana New" panose="02020603050405020304" pitchFamily="18" charset="-34"/>
              </a:rPr>
              <a:t>Q</a:t>
            </a:r>
            <a:r>
              <a:rPr lang="en-GB" altLang="en-US" sz="2000" baseline="-25000">
                <a:latin typeface="Century Schoolbook" panose="02040604050505020304" pitchFamily="18" charset="0"/>
                <a:cs typeface="Angsana New" panose="02020603050405020304" pitchFamily="18" charset="-34"/>
              </a:rPr>
              <a:t>F</a:t>
            </a:r>
            <a:endParaRPr lang="en-GB" altLang="en-US" sz="2000">
              <a:latin typeface="Century Schoolbook" panose="02040604050505020304" pitchFamily="18" charset="0"/>
              <a:cs typeface="Angsana New" panose="02020603050405020304" pitchFamily="18" charset="-34"/>
            </a:endParaRPr>
          </a:p>
        </p:txBody>
      </p:sp>
      <p:sp>
        <p:nvSpPr>
          <p:cNvPr id="273422" name="Line 21"/>
          <p:cNvSpPr>
            <a:spLocks noChangeShapeType="1"/>
          </p:cNvSpPr>
          <p:nvPr/>
        </p:nvSpPr>
        <p:spPr bwMode="auto">
          <a:xfrm>
            <a:off x="6783388" y="5564188"/>
            <a:ext cx="3810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3423" name="Text Box 22"/>
          <p:cNvSpPr txBox="1">
            <a:spLocks noChangeArrowheads="1"/>
          </p:cNvSpPr>
          <p:nvPr/>
        </p:nvSpPr>
        <p:spPr bwMode="auto">
          <a:xfrm>
            <a:off x="6783388" y="5608638"/>
            <a:ext cx="3254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GB" altLang="en-US" sz="2000">
                <a:latin typeface="Century Schoolbook" panose="02040604050505020304" pitchFamily="18" charset="0"/>
                <a:cs typeface="Angsana New" panose="02020603050405020304" pitchFamily="18" charset="-34"/>
              </a:rPr>
              <a:t>3</a:t>
            </a:r>
          </a:p>
        </p:txBody>
      </p:sp>
      <p:sp>
        <p:nvSpPr>
          <p:cNvPr id="273424" name="Text Box 23"/>
          <p:cNvSpPr txBox="1">
            <a:spLocks noChangeArrowheads="1"/>
          </p:cNvSpPr>
          <p:nvPr/>
        </p:nvSpPr>
        <p:spPr bwMode="auto">
          <a:xfrm>
            <a:off x="7224713" y="5345113"/>
            <a:ext cx="6048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GB" altLang="en-US" sz="2000">
                <a:latin typeface="Century Schoolbook" panose="02040604050505020304" pitchFamily="18" charset="0"/>
                <a:cs typeface="Angsana New" panose="02020603050405020304" pitchFamily="18" charset="-34"/>
              </a:rPr>
              <a:t>+ Q</a:t>
            </a:r>
          </a:p>
        </p:txBody>
      </p:sp>
      <p:sp>
        <p:nvSpPr>
          <p:cNvPr id="273425" name="WordArt 24"/>
          <p:cNvSpPr>
            <a:spLocks noChangeArrowheads="1" noChangeShapeType="1" noTextEdit="1"/>
          </p:cNvSpPr>
          <p:nvPr/>
        </p:nvSpPr>
        <p:spPr bwMode="auto">
          <a:xfrm>
            <a:off x="3995738" y="1773238"/>
            <a:ext cx="1447800" cy="1219200"/>
          </a:xfrm>
          <a:prstGeom prst="rect">
            <a:avLst/>
          </a:prstGeom>
        </p:spPr>
        <p:txBody>
          <a:bodyPr wrap="none" fromWordArt="1">
            <a:prstTxWarp prst="textSlantUp">
              <a:avLst>
                <a:gd name="adj" fmla="val 55556"/>
              </a:avLst>
            </a:prstTxWarp>
          </a:bodyPr>
          <a:lstStyle/>
          <a:p>
            <a:pPr algn="ctr"/>
            <a:r>
              <a:rPr lang="en-US" sz="3600" kern="10">
                <a:ln w="9525">
                  <a:solidFill>
                    <a:srgbClr val="000000"/>
                  </a:solidFill>
                  <a:round/>
                  <a:headEnd/>
                  <a:tailEnd/>
                </a:ln>
                <a:solidFill>
                  <a:srgbClr val="FFFF00"/>
                </a:solidFill>
                <a:latin typeface="Arial Black" panose="020B0A04020102020204" pitchFamily="34" charset="0"/>
              </a:rPr>
              <a:t>"Capacity"</a:t>
            </a:r>
          </a:p>
        </p:txBody>
      </p:sp>
    </p:spTree>
  </p:cSld>
  <p:clrMapOvr>
    <a:masterClrMapping/>
  </p:clrMapOvr>
  <p:transition/>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4434" name="Picture 4" descr="mr18^019"/>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1116013" y="1546225"/>
            <a:ext cx="6840537" cy="4978400"/>
          </a:xfrm>
          <a:noFill/>
          <a:ln w="28575">
            <a:solidFill>
              <a:schemeClr val="bg2"/>
            </a:solidFill>
            <a:miter lim="800000"/>
            <a:headEnd/>
            <a:tailEnd/>
          </a:ln>
          <a:effectLst>
            <a:outerShdw dist="35921" dir="2700000" algn="ctr" rotWithShape="0">
              <a:srgbClr val="808080"/>
            </a:outerShdw>
          </a:effectLst>
        </p:spPr>
      </p:pic>
      <p:sp>
        <p:nvSpPr>
          <p:cNvPr id="274435" name="Freeform 5"/>
          <p:cNvSpPr>
            <a:spLocks/>
          </p:cNvSpPr>
          <p:nvPr/>
        </p:nvSpPr>
        <p:spPr bwMode="auto">
          <a:xfrm>
            <a:off x="5221288" y="3571875"/>
            <a:ext cx="1223962" cy="576263"/>
          </a:xfrm>
          <a:custGeom>
            <a:avLst/>
            <a:gdLst>
              <a:gd name="T0" fmla="*/ 0 w 725"/>
              <a:gd name="T1" fmla="*/ 2147483646 h 363"/>
              <a:gd name="T2" fmla="*/ 2147483646 w 725"/>
              <a:gd name="T3" fmla="*/ 2147483646 h 363"/>
              <a:gd name="T4" fmla="*/ 2147483646 w 725"/>
              <a:gd name="T5" fmla="*/ 0 h 363"/>
              <a:gd name="T6" fmla="*/ 2147483646 w 725"/>
              <a:gd name="T7" fmla="*/ 0 h 36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25" h="363">
                <a:moveTo>
                  <a:pt x="0" y="363"/>
                </a:moveTo>
                <a:lnTo>
                  <a:pt x="272" y="363"/>
                </a:lnTo>
                <a:lnTo>
                  <a:pt x="272" y="0"/>
                </a:lnTo>
                <a:lnTo>
                  <a:pt x="725" y="0"/>
                </a:lnTo>
              </a:path>
            </a:pathLst>
          </a:custGeom>
          <a:noFill/>
          <a:ln w="38100" cmpd="sng">
            <a:solidFill>
              <a:srgbClr val="FF00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74436" name="Freeform 6"/>
          <p:cNvSpPr>
            <a:spLocks/>
          </p:cNvSpPr>
          <p:nvPr/>
        </p:nvSpPr>
        <p:spPr bwMode="auto">
          <a:xfrm>
            <a:off x="3852863" y="3500438"/>
            <a:ext cx="3959225" cy="1295400"/>
          </a:xfrm>
          <a:custGeom>
            <a:avLst/>
            <a:gdLst>
              <a:gd name="T0" fmla="*/ 2147483646 w 2676"/>
              <a:gd name="T1" fmla="*/ 0 h 952"/>
              <a:gd name="T2" fmla="*/ 2147483646 w 2676"/>
              <a:gd name="T3" fmla="*/ 0 h 952"/>
              <a:gd name="T4" fmla="*/ 2147483646 w 2676"/>
              <a:gd name="T5" fmla="*/ 2147483646 h 952"/>
              <a:gd name="T6" fmla="*/ 0 w 2676"/>
              <a:gd name="T7" fmla="*/ 2147483646 h 952"/>
              <a:gd name="T8" fmla="*/ 0 w 2676"/>
              <a:gd name="T9" fmla="*/ 2147483646 h 952"/>
              <a:gd name="T10" fmla="*/ 2147483646 w 2676"/>
              <a:gd name="T11" fmla="*/ 2147483646 h 95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76" h="952">
                <a:moveTo>
                  <a:pt x="2495" y="0"/>
                </a:moveTo>
                <a:lnTo>
                  <a:pt x="2676" y="0"/>
                </a:lnTo>
                <a:lnTo>
                  <a:pt x="2676" y="952"/>
                </a:lnTo>
                <a:lnTo>
                  <a:pt x="0" y="952"/>
                </a:lnTo>
                <a:lnTo>
                  <a:pt x="0" y="453"/>
                </a:lnTo>
                <a:lnTo>
                  <a:pt x="363" y="453"/>
                </a:lnTo>
              </a:path>
            </a:pathLst>
          </a:custGeom>
          <a:noFill/>
          <a:ln w="38100" cmpd="sng">
            <a:solidFill>
              <a:srgbClr val="FF00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87399" name="Text Box 7"/>
          <p:cNvSpPr txBox="1">
            <a:spLocks noChangeArrowheads="1"/>
          </p:cNvSpPr>
          <p:nvPr/>
        </p:nvSpPr>
        <p:spPr bwMode="auto">
          <a:xfrm>
            <a:off x="611188" y="200025"/>
            <a:ext cx="5214937" cy="1068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3600" b="1" dirty="0">
                <a:solidFill>
                  <a:srgbClr val="FF0000"/>
                </a:solidFill>
                <a:effectLst>
                  <a:outerShdw blurRad="38100" dist="38100" dir="2700000" algn="tl">
                    <a:srgbClr val="000000"/>
                  </a:outerShdw>
                </a:effectLst>
                <a:latin typeface="Century Schoolbook" panose="02040604050505020304" pitchFamily="18" charset="0"/>
              </a:rPr>
              <a:t>Continuous digester </a:t>
            </a:r>
          </a:p>
          <a:p>
            <a:pPr>
              <a:defRPr/>
            </a:pPr>
            <a:r>
              <a:rPr lang="en-US" altLang="en-US" sz="2800" b="1" dirty="0">
                <a:effectLst>
                  <a:outerShdw blurRad="38100" dist="38100" dir="2700000" algn="tl">
                    <a:srgbClr val="000000"/>
                  </a:outerShdw>
                </a:effectLst>
                <a:latin typeface="Century Schoolbook" panose="02040604050505020304" pitchFamily="18" charset="0"/>
              </a:rPr>
              <a:t>Chip chute circulation (C3)</a:t>
            </a:r>
          </a:p>
        </p:txBody>
      </p:sp>
      <p:sp>
        <p:nvSpPr>
          <p:cNvPr id="274438" name="Freeform 9"/>
          <p:cNvSpPr>
            <a:spLocks/>
          </p:cNvSpPr>
          <p:nvPr/>
        </p:nvSpPr>
        <p:spPr bwMode="auto">
          <a:xfrm>
            <a:off x="2413000" y="2852738"/>
            <a:ext cx="2374900" cy="2087562"/>
          </a:xfrm>
          <a:custGeom>
            <a:avLst/>
            <a:gdLst>
              <a:gd name="T0" fmla="*/ 2147483646 w 1496"/>
              <a:gd name="T1" fmla="*/ 2147483646 h 1315"/>
              <a:gd name="T2" fmla="*/ 0 w 1496"/>
              <a:gd name="T3" fmla="*/ 2147483646 h 1315"/>
              <a:gd name="T4" fmla="*/ 0 w 1496"/>
              <a:gd name="T5" fmla="*/ 0 h 1315"/>
              <a:gd name="T6" fmla="*/ 2147483646 w 1496"/>
              <a:gd name="T7" fmla="*/ 0 h 1315"/>
              <a:gd name="T8" fmla="*/ 2147483646 w 1496"/>
              <a:gd name="T9" fmla="*/ 2147483646 h 1315"/>
              <a:gd name="T10" fmla="*/ 2147483646 w 1496"/>
              <a:gd name="T11" fmla="*/ 2147483646 h 131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496" h="1315">
                <a:moveTo>
                  <a:pt x="1496" y="1315"/>
                </a:moveTo>
                <a:lnTo>
                  <a:pt x="0" y="1315"/>
                </a:lnTo>
                <a:lnTo>
                  <a:pt x="0" y="0"/>
                </a:lnTo>
                <a:lnTo>
                  <a:pt x="1224" y="0"/>
                </a:lnTo>
                <a:lnTo>
                  <a:pt x="1224" y="272"/>
                </a:lnTo>
                <a:lnTo>
                  <a:pt x="1406" y="272"/>
                </a:lnTo>
              </a:path>
            </a:pathLst>
          </a:custGeom>
          <a:noFill/>
          <a:ln w="38100" cmpd="sng">
            <a:solidFill>
              <a:srgbClr val="0000FF"/>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4439" name="Line 10"/>
          <p:cNvSpPr>
            <a:spLocks noChangeShapeType="1"/>
          </p:cNvSpPr>
          <p:nvPr/>
        </p:nvSpPr>
        <p:spPr bwMode="auto">
          <a:xfrm>
            <a:off x="1331913" y="5732463"/>
            <a:ext cx="865187" cy="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4440" name="Line 11"/>
          <p:cNvSpPr>
            <a:spLocks noChangeShapeType="1"/>
          </p:cNvSpPr>
          <p:nvPr/>
        </p:nvSpPr>
        <p:spPr bwMode="auto">
          <a:xfrm>
            <a:off x="1331913" y="6164263"/>
            <a:ext cx="865187"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4441" name="Text Box 12"/>
          <p:cNvSpPr txBox="1">
            <a:spLocks noChangeArrowheads="1"/>
          </p:cNvSpPr>
          <p:nvPr/>
        </p:nvSpPr>
        <p:spPr bwMode="auto">
          <a:xfrm>
            <a:off x="1268413" y="5762625"/>
            <a:ext cx="228917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400" b="1">
                <a:solidFill>
                  <a:srgbClr val="0000FF"/>
                </a:solidFill>
                <a:latin typeface="Century Schoolbook" panose="02040604050505020304" pitchFamily="18" charset="0"/>
              </a:rPr>
              <a:t>Chip chute circulation</a:t>
            </a:r>
            <a:endParaRPr lang="th-TH" altLang="en-US" sz="1400" b="1">
              <a:solidFill>
                <a:srgbClr val="0000FF"/>
              </a:solidFill>
              <a:latin typeface="Century Schoolbook" panose="02040604050505020304" pitchFamily="18" charset="0"/>
            </a:endParaRPr>
          </a:p>
        </p:txBody>
      </p:sp>
      <p:sp>
        <p:nvSpPr>
          <p:cNvPr id="274442" name="Text Box 13"/>
          <p:cNvSpPr txBox="1">
            <a:spLocks noChangeArrowheads="1"/>
          </p:cNvSpPr>
          <p:nvPr/>
        </p:nvSpPr>
        <p:spPr bwMode="auto">
          <a:xfrm>
            <a:off x="1285875" y="6196013"/>
            <a:ext cx="1624013" cy="306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400" b="1">
                <a:solidFill>
                  <a:srgbClr val="FF0000"/>
                </a:solidFill>
                <a:latin typeface="Century Schoolbook" panose="02040604050505020304" pitchFamily="18" charset="0"/>
              </a:rPr>
              <a:t>Top circulation</a:t>
            </a:r>
            <a:endParaRPr lang="th-TH" altLang="en-US" sz="1400" b="1">
              <a:solidFill>
                <a:srgbClr val="FF0000"/>
              </a:solidFill>
              <a:latin typeface="Century Schoolbook" panose="02040604050505020304" pitchFamily="18" charset="0"/>
            </a:endParaRPr>
          </a:p>
        </p:txBody>
      </p:sp>
    </p:spTree>
  </p:cSld>
  <p:clrMapOvr>
    <a:masterClrMapping/>
  </p:clrMapOvr>
  <p:transition/>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81" name="Text Box 173"/>
          <p:cNvSpPr txBox="1">
            <a:spLocks noChangeArrowheads="1"/>
          </p:cNvSpPr>
          <p:nvPr/>
        </p:nvSpPr>
        <p:spPr bwMode="auto">
          <a:xfrm>
            <a:off x="611188" y="200025"/>
            <a:ext cx="5145087" cy="1068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3600" b="1" dirty="0">
                <a:solidFill>
                  <a:srgbClr val="FF0000"/>
                </a:solidFill>
                <a:effectLst>
                  <a:outerShdw blurRad="38100" dist="38100" dir="2700000" algn="tl">
                    <a:srgbClr val="000000"/>
                  </a:outerShdw>
                </a:effectLst>
                <a:latin typeface="Century Schoolbook" panose="02040604050505020304" pitchFamily="18" charset="0"/>
              </a:rPr>
              <a:t>Continuous digester </a:t>
            </a:r>
          </a:p>
          <a:p>
            <a:pPr>
              <a:defRPr/>
            </a:pPr>
            <a:r>
              <a:rPr lang="en-US" altLang="en-US" sz="2800" b="1" dirty="0">
                <a:effectLst>
                  <a:outerShdw blurRad="38100" dist="38100" dir="2700000" algn="tl">
                    <a:srgbClr val="000000"/>
                  </a:outerShdw>
                </a:effectLst>
                <a:latin typeface="Century Schoolbook" panose="02040604050505020304" pitchFamily="18" charset="0"/>
              </a:rPr>
              <a:t>Cooking part</a:t>
            </a:r>
          </a:p>
        </p:txBody>
      </p:sp>
      <p:grpSp>
        <p:nvGrpSpPr>
          <p:cNvPr id="17585" name="Group 177"/>
          <p:cNvGrpSpPr>
            <a:grpSpLocks noChangeAspect="1"/>
          </p:cNvGrpSpPr>
          <p:nvPr/>
        </p:nvGrpSpPr>
        <p:grpSpPr bwMode="auto">
          <a:xfrm>
            <a:off x="2268539" y="1358900"/>
            <a:ext cx="4221162" cy="5202575"/>
            <a:chOff x="1429" y="856"/>
            <a:chExt cx="2714" cy="3345"/>
          </a:xfrm>
          <a:solidFill>
            <a:schemeClr val="bg1"/>
          </a:solidFill>
        </p:grpSpPr>
        <p:sp>
          <p:nvSpPr>
            <p:cNvPr id="17584" name="AutoShape 176"/>
            <p:cNvSpPr>
              <a:spLocks noChangeAspect="1" noChangeArrowheads="1" noTextEdit="1"/>
            </p:cNvSpPr>
            <p:nvPr/>
          </p:nvSpPr>
          <p:spPr bwMode="auto">
            <a:xfrm>
              <a:off x="1429" y="856"/>
              <a:ext cx="2708" cy="334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grpSp>
          <p:nvGrpSpPr>
            <p:cNvPr id="17786" name="Group 378"/>
            <p:cNvGrpSpPr>
              <a:grpSpLocks/>
            </p:cNvGrpSpPr>
            <p:nvPr/>
          </p:nvGrpSpPr>
          <p:grpSpPr bwMode="auto">
            <a:xfrm>
              <a:off x="2485" y="934"/>
              <a:ext cx="421" cy="2978"/>
              <a:chOff x="2485" y="934"/>
              <a:chExt cx="421" cy="2978"/>
            </a:xfrm>
            <a:grpFill/>
          </p:grpSpPr>
          <p:sp>
            <p:nvSpPr>
              <p:cNvPr id="17586" name="Oval 178"/>
              <p:cNvSpPr>
                <a:spLocks noChangeArrowheads="1"/>
              </p:cNvSpPr>
              <p:nvPr/>
            </p:nvSpPr>
            <p:spPr bwMode="auto">
              <a:xfrm>
                <a:off x="2552" y="946"/>
                <a:ext cx="254" cy="138"/>
              </a:xfrm>
              <a:prstGeom prst="ellipse">
                <a:avLst/>
              </a:prstGeom>
              <a:grpFill/>
              <a:ln w="0">
                <a:solidFill>
                  <a:srgbClr val="000000"/>
                </a:solidFill>
                <a:round/>
                <a:headEnd/>
                <a:tailEnd/>
              </a:ln>
            </p:spPr>
            <p:txBody>
              <a:bodyPr/>
              <a:lstStyle/>
              <a:p>
                <a:pPr>
                  <a:defRPr/>
                </a:pPr>
                <a:endParaRPr lang="en-US"/>
              </a:p>
            </p:txBody>
          </p:sp>
          <p:sp>
            <p:nvSpPr>
              <p:cNvPr id="17587" name="Rectangle 179"/>
              <p:cNvSpPr>
                <a:spLocks noChangeArrowheads="1"/>
              </p:cNvSpPr>
              <p:nvPr/>
            </p:nvSpPr>
            <p:spPr bwMode="auto">
              <a:xfrm>
                <a:off x="2552" y="1016"/>
                <a:ext cx="17" cy="51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588" name="Rectangle 180"/>
              <p:cNvSpPr>
                <a:spLocks noChangeArrowheads="1"/>
              </p:cNvSpPr>
              <p:nvPr/>
            </p:nvSpPr>
            <p:spPr bwMode="auto">
              <a:xfrm>
                <a:off x="2565" y="1016"/>
                <a:ext cx="17" cy="51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589" name="Rectangle 181"/>
              <p:cNvSpPr>
                <a:spLocks noChangeArrowheads="1"/>
              </p:cNvSpPr>
              <p:nvPr/>
            </p:nvSpPr>
            <p:spPr bwMode="auto">
              <a:xfrm>
                <a:off x="2578" y="1016"/>
                <a:ext cx="17" cy="51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590" name="Rectangle 182"/>
              <p:cNvSpPr>
                <a:spLocks noChangeArrowheads="1"/>
              </p:cNvSpPr>
              <p:nvPr/>
            </p:nvSpPr>
            <p:spPr bwMode="auto">
              <a:xfrm>
                <a:off x="2591" y="1016"/>
                <a:ext cx="16" cy="51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591" name="Rectangle 183"/>
              <p:cNvSpPr>
                <a:spLocks noChangeArrowheads="1"/>
              </p:cNvSpPr>
              <p:nvPr/>
            </p:nvSpPr>
            <p:spPr bwMode="auto">
              <a:xfrm>
                <a:off x="2604" y="1016"/>
                <a:ext cx="16" cy="51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592" name="Rectangle 184"/>
              <p:cNvSpPr>
                <a:spLocks noChangeArrowheads="1"/>
              </p:cNvSpPr>
              <p:nvPr/>
            </p:nvSpPr>
            <p:spPr bwMode="auto">
              <a:xfrm>
                <a:off x="2617" y="1016"/>
                <a:ext cx="16" cy="51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593" name="Rectangle 185"/>
              <p:cNvSpPr>
                <a:spLocks noChangeArrowheads="1"/>
              </p:cNvSpPr>
              <p:nvPr/>
            </p:nvSpPr>
            <p:spPr bwMode="auto">
              <a:xfrm>
                <a:off x="2630" y="1016"/>
                <a:ext cx="16" cy="51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594" name="Rectangle 186"/>
              <p:cNvSpPr>
                <a:spLocks noChangeArrowheads="1"/>
              </p:cNvSpPr>
              <p:nvPr/>
            </p:nvSpPr>
            <p:spPr bwMode="auto">
              <a:xfrm>
                <a:off x="2643" y="1016"/>
                <a:ext cx="16" cy="51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595" name="Rectangle 187"/>
              <p:cNvSpPr>
                <a:spLocks noChangeArrowheads="1"/>
              </p:cNvSpPr>
              <p:nvPr/>
            </p:nvSpPr>
            <p:spPr bwMode="auto">
              <a:xfrm>
                <a:off x="2656" y="1016"/>
                <a:ext cx="16" cy="51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596" name="Rectangle 188"/>
              <p:cNvSpPr>
                <a:spLocks noChangeArrowheads="1"/>
              </p:cNvSpPr>
              <p:nvPr/>
            </p:nvSpPr>
            <p:spPr bwMode="auto">
              <a:xfrm>
                <a:off x="2669" y="1016"/>
                <a:ext cx="16" cy="51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597" name="Rectangle 189"/>
              <p:cNvSpPr>
                <a:spLocks noChangeArrowheads="1"/>
              </p:cNvSpPr>
              <p:nvPr/>
            </p:nvSpPr>
            <p:spPr bwMode="auto">
              <a:xfrm>
                <a:off x="2682" y="1016"/>
                <a:ext cx="16" cy="51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598" name="Rectangle 190"/>
              <p:cNvSpPr>
                <a:spLocks noChangeArrowheads="1"/>
              </p:cNvSpPr>
              <p:nvPr/>
            </p:nvSpPr>
            <p:spPr bwMode="auto">
              <a:xfrm>
                <a:off x="2695" y="1016"/>
                <a:ext cx="16" cy="51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599" name="Rectangle 191"/>
              <p:cNvSpPr>
                <a:spLocks noChangeArrowheads="1"/>
              </p:cNvSpPr>
              <p:nvPr/>
            </p:nvSpPr>
            <p:spPr bwMode="auto">
              <a:xfrm>
                <a:off x="2708" y="1016"/>
                <a:ext cx="16" cy="51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00" name="Rectangle 192"/>
              <p:cNvSpPr>
                <a:spLocks noChangeArrowheads="1"/>
              </p:cNvSpPr>
              <p:nvPr/>
            </p:nvSpPr>
            <p:spPr bwMode="auto">
              <a:xfrm>
                <a:off x="2721" y="1016"/>
                <a:ext cx="16" cy="51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01" name="Rectangle 193"/>
              <p:cNvSpPr>
                <a:spLocks noChangeArrowheads="1"/>
              </p:cNvSpPr>
              <p:nvPr/>
            </p:nvSpPr>
            <p:spPr bwMode="auto">
              <a:xfrm>
                <a:off x="2734" y="1016"/>
                <a:ext cx="16" cy="51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02" name="Rectangle 194"/>
              <p:cNvSpPr>
                <a:spLocks noChangeArrowheads="1"/>
              </p:cNvSpPr>
              <p:nvPr/>
            </p:nvSpPr>
            <p:spPr bwMode="auto">
              <a:xfrm>
                <a:off x="2746" y="1016"/>
                <a:ext cx="17" cy="51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03" name="Rectangle 195"/>
              <p:cNvSpPr>
                <a:spLocks noChangeArrowheads="1"/>
              </p:cNvSpPr>
              <p:nvPr/>
            </p:nvSpPr>
            <p:spPr bwMode="auto">
              <a:xfrm>
                <a:off x="2759" y="1016"/>
                <a:ext cx="17" cy="51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04" name="Rectangle 196"/>
              <p:cNvSpPr>
                <a:spLocks noChangeArrowheads="1"/>
              </p:cNvSpPr>
              <p:nvPr/>
            </p:nvSpPr>
            <p:spPr bwMode="auto">
              <a:xfrm>
                <a:off x="2772" y="1016"/>
                <a:ext cx="17" cy="51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05" name="Rectangle 197"/>
              <p:cNvSpPr>
                <a:spLocks noChangeArrowheads="1"/>
              </p:cNvSpPr>
              <p:nvPr/>
            </p:nvSpPr>
            <p:spPr bwMode="auto">
              <a:xfrm>
                <a:off x="2785" y="1016"/>
                <a:ext cx="15" cy="51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06" name="Rectangle 198"/>
              <p:cNvSpPr>
                <a:spLocks noChangeArrowheads="1"/>
              </p:cNvSpPr>
              <p:nvPr/>
            </p:nvSpPr>
            <p:spPr bwMode="auto">
              <a:xfrm>
                <a:off x="2797" y="1016"/>
                <a:ext cx="13" cy="51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07" name="Rectangle 199"/>
              <p:cNvSpPr>
                <a:spLocks noChangeArrowheads="1"/>
              </p:cNvSpPr>
              <p:nvPr/>
            </p:nvSpPr>
            <p:spPr bwMode="auto">
              <a:xfrm>
                <a:off x="2552" y="1016"/>
                <a:ext cx="256" cy="512"/>
              </a:xfrm>
              <a:prstGeom prst="rect">
                <a:avLst/>
              </a:prstGeom>
              <a:grpFill/>
              <a:ln w="0">
                <a:solidFill>
                  <a:srgbClr val="000000"/>
                </a:solidFill>
                <a:miter lim="800000"/>
                <a:headEnd/>
                <a:tailEnd/>
              </a:ln>
              <a:extLst/>
            </p:spPr>
            <p:txBody>
              <a:bodyPr/>
              <a:lstStyle/>
              <a:p>
                <a:pPr>
                  <a:defRPr/>
                </a:pPr>
                <a:endParaRPr lang="en-US"/>
              </a:p>
            </p:txBody>
          </p:sp>
          <p:sp>
            <p:nvSpPr>
              <p:cNvPr id="17608" name="Freeform 200"/>
              <p:cNvSpPr>
                <a:spLocks/>
              </p:cNvSpPr>
              <p:nvPr/>
            </p:nvSpPr>
            <p:spPr bwMode="auto">
              <a:xfrm>
                <a:off x="2552" y="1018"/>
                <a:ext cx="254" cy="119"/>
              </a:xfrm>
              <a:custGeom>
                <a:avLst/>
                <a:gdLst>
                  <a:gd name="T0" fmla="*/ 89 w 254"/>
                  <a:gd name="T1" fmla="*/ 0 h 119"/>
                  <a:gd name="T2" fmla="*/ 0 w 254"/>
                  <a:gd name="T3" fmla="*/ 119 h 119"/>
                  <a:gd name="T4" fmla="*/ 254 w 254"/>
                  <a:gd name="T5" fmla="*/ 119 h 119"/>
                  <a:gd name="T6" fmla="*/ 169 w 254"/>
                  <a:gd name="T7" fmla="*/ 0 h 119"/>
                  <a:gd name="T8" fmla="*/ 89 w 254"/>
                  <a:gd name="T9" fmla="*/ 0 h 119"/>
                </a:gdLst>
                <a:ahLst/>
                <a:cxnLst>
                  <a:cxn ang="0">
                    <a:pos x="T0" y="T1"/>
                  </a:cxn>
                  <a:cxn ang="0">
                    <a:pos x="T2" y="T3"/>
                  </a:cxn>
                  <a:cxn ang="0">
                    <a:pos x="T4" y="T5"/>
                  </a:cxn>
                  <a:cxn ang="0">
                    <a:pos x="T6" y="T7"/>
                  </a:cxn>
                  <a:cxn ang="0">
                    <a:pos x="T8" y="T9"/>
                  </a:cxn>
                </a:cxnLst>
                <a:rect l="0" t="0" r="r" b="b"/>
                <a:pathLst>
                  <a:path w="254" h="119">
                    <a:moveTo>
                      <a:pt x="89" y="0"/>
                    </a:moveTo>
                    <a:lnTo>
                      <a:pt x="0" y="119"/>
                    </a:lnTo>
                    <a:lnTo>
                      <a:pt x="254" y="119"/>
                    </a:lnTo>
                    <a:lnTo>
                      <a:pt x="169" y="0"/>
                    </a:lnTo>
                    <a:lnTo>
                      <a:pt x="89" y="0"/>
                    </a:lnTo>
                    <a:close/>
                  </a:path>
                </a:pathLst>
              </a:custGeom>
              <a:grpFill/>
              <a:ln w="0">
                <a:solidFill>
                  <a:srgbClr val="000000"/>
                </a:solidFill>
                <a:prstDash val="solid"/>
                <a:round/>
                <a:headEnd/>
                <a:tailEnd/>
              </a:ln>
            </p:spPr>
            <p:txBody>
              <a:bodyPr/>
              <a:lstStyle/>
              <a:p>
                <a:pPr>
                  <a:defRPr/>
                </a:pPr>
                <a:endParaRPr lang="en-US"/>
              </a:p>
            </p:txBody>
          </p:sp>
          <p:sp>
            <p:nvSpPr>
              <p:cNvPr id="17609" name="Line 201"/>
              <p:cNvSpPr>
                <a:spLocks noChangeShapeType="1"/>
              </p:cNvSpPr>
              <p:nvPr/>
            </p:nvSpPr>
            <p:spPr bwMode="auto">
              <a:xfrm flipV="1">
                <a:off x="2881" y="1047"/>
                <a:ext cx="1" cy="3"/>
              </a:xfrm>
              <a:prstGeom prst="line">
                <a:avLst/>
              </a:prstGeom>
              <a:grpFill/>
              <a:ln w="0">
                <a:solidFill>
                  <a:srgbClr val="000000"/>
                </a:solidFill>
                <a:round/>
                <a:headEnd/>
                <a:tailEnd/>
              </a:ln>
              <a:extLst/>
            </p:spPr>
            <p:txBody>
              <a:bodyPr/>
              <a:lstStyle/>
              <a:p>
                <a:pPr>
                  <a:defRPr/>
                </a:pPr>
                <a:endParaRPr lang="en-US"/>
              </a:p>
            </p:txBody>
          </p:sp>
          <p:sp>
            <p:nvSpPr>
              <p:cNvPr id="17610" name="Line 202"/>
              <p:cNvSpPr>
                <a:spLocks noChangeShapeType="1"/>
              </p:cNvSpPr>
              <p:nvPr/>
            </p:nvSpPr>
            <p:spPr bwMode="auto">
              <a:xfrm>
                <a:off x="2552" y="1148"/>
                <a:ext cx="256" cy="1"/>
              </a:xfrm>
              <a:prstGeom prst="line">
                <a:avLst/>
              </a:prstGeom>
              <a:grpFill/>
              <a:ln w="0">
                <a:solidFill>
                  <a:srgbClr val="000000"/>
                </a:solidFill>
                <a:round/>
                <a:headEnd/>
                <a:tailEnd/>
              </a:ln>
              <a:extLst/>
            </p:spPr>
            <p:txBody>
              <a:bodyPr/>
              <a:lstStyle/>
              <a:p>
                <a:pPr>
                  <a:defRPr/>
                </a:pPr>
                <a:endParaRPr lang="en-US"/>
              </a:p>
            </p:txBody>
          </p:sp>
          <p:sp>
            <p:nvSpPr>
              <p:cNvPr id="17611" name="Oval 203"/>
              <p:cNvSpPr>
                <a:spLocks noChangeArrowheads="1"/>
              </p:cNvSpPr>
              <p:nvPr/>
            </p:nvSpPr>
            <p:spPr bwMode="auto">
              <a:xfrm>
                <a:off x="2485" y="3618"/>
                <a:ext cx="392" cy="218"/>
              </a:xfrm>
              <a:prstGeom prst="ellipse">
                <a:avLst/>
              </a:prstGeom>
              <a:grpFill/>
              <a:ln w="0">
                <a:solidFill>
                  <a:srgbClr val="000000"/>
                </a:solidFill>
                <a:round/>
                <a:headEnd/>
                <a:tailEnd/>
              </a:ln>
            </p:spPr>
            <p:txBody>
              <a:bodyPr/>
              <a:lstStyle/>
              <a:p>
                <a:pPr>
                  <a:defRPr/>
                </a:pPr>
                <a:endParaRPr lang="en-US"/>
              </a:p>
            </p:txBody>
          </p:sp>
          <p:sp>
            <p:nvSpPr>
              <p:cNvPr id="17612" name="Rectangle 204"/>
              <p:cNvSpPr>
                <a:spLocks noChangeArrowheads="1"/>
              </p:cNvSpPr>
              <p:nvPr/>
            </p:nvSpPr>
            <p:spPr bwMode="auto">
              <a:xfrm>
                <a:off x="2485" y="3598"/>
                <a:ext cx="392" cy="134"/>
              </a:xfrm>
              <a:prstGeom prst="rect">
                <a:avLst/>
              </a:prstGeom>
              <a:grpFill/>
              <a:ln w="0">
                <a:solidFill>
                  <a:srgbClr val="000000"/>
                </a:solidFill>
                <a:miter lim="800000"/>
                <a:headEnd/>
                <a:tailEnd/>
              </a:ln>
            </p:spPr>
            <p:txBody>
              <a:bodyPr/>
              <a:lstStyle/>
              <a:p>
                <a:pPr>
                  <a:defRPr/>
                </a:pPr>
                <a:endParaRPr lang="en-US"/>
              </a:p>
            </p:txBody>
          </p:sp>
          <p:sp>
            <p:nvSpPr>
              <p:cNvPr id="17613" name="Rectangle 205"/>
              <p:cNvSpPr>
                <a:spLocks noChangeArrowheads="1"/>
              </p:cNvSpPr>
              <p:nvPr/>
            </p:nvSpPr>
            <p:spPr bwMode="auto">
              <a:xfrm>
                <a:off x="2504" y="2603"/>
                <a:ext cx="16" cy="99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14" name="Rectangle 206"/>
              <p:cNvSpPr>
                <a:spLocks noChangeArrowheads="1"/>
              </p:cNvSpPr>
              <p:nvPr/>
            </p:nvSpPr>
            <p:spPr bwMode="auto">
              <a:xfrm>
                <a:off x="2517" y="2603"/>
                <a:ext cx="16" cy="99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15" name="Rectangle 207"/>
              <p:cNvSpPr>
                <a:spLocks noChangeArrowheads="1"/>
              </p:cNvSpPr>
              <p:nvPr/>
            </p:nvSpPr>
            <p:spPr bwMode="auto">
              <a:xfrm>
                <a:off x="2530" y="2603"/>
                <a:ext cx="16" cy="99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16" name="Rectangle 208"/>
              <p:cNvSpPr>
                <a:spLocks noChangeArrowheads="1"/>
              </p:cNvSpPr>
              <p:nvPr/>
            </p:nvSpPr>
            <p:spPr bwMode="auto">
              <a:xfrm>
                <a:off x="2543" y="2603"/>
                <a:ext cx="16" cy="99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17" name="Rectangle 209"/>
              <p:cNvSpPr>
                <a:spLocks noChangeArrowheads="1"/>
              </p:cNvSpPr>
              <p:nvPr/>
            </p:nvSpPr>
            <p:spPr bwMode="auto">
              <a:xfrm>
                <a:off x="2556" y="2603"/>
                <a:ext cx="16" cy="99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18" name="Rectangle 210"/>
              <p:cNvSpPr>
                <a:spLocks noChangeArrowheads="1"/>
              </p:cNvSpPr>
              <p:nvPr/>
            </p:nvSpPr>
            <p:spPr bwMode="auto">
              <a:xfrm>
                <a:off x="2569" y="2603"/>
                <a:ext cx="16" cy="99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19" name="Rectangle 211"/>
              <p:cNvSpPr>
                <a:spLocks noChangeArrowheads="1"/>
              </p:cNvSpPr>
              <p:nvPr/>
            </p:nvSpPr>
            <p:spPr bwMode="auto">
              <a:xfrm>
                <a:off x="2582" y="2603"/>
                <a:ext cx="16" cy="99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20" name="Rectangle 212"/>
              <p:cNvSpPr>
                <a:spLocks noChangeArrowheads="1"/>
              </p:cNvSpPr>
              <p:nvPr/>
            </p:nvSpPr>
            <p:spPr bwMode="auto">
              <a:xfrm>
                <a:off x="2595" y="2603"/>
                <a:ext cx="16" cy="99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21" name="Rectangle 213"/>
              <p:cNvSpPr>
                <a:spLocks noChangeArrowheads="1"/>
              </p:cNvSpPr>
              <p:nvPr/>
            </p:nvSpPr>
            <p:spPr bwMode="auto">
              <a:xfrm>
                <a:off x="2607" y="2603"/>
                <a:ext cx="17" cy="99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22" name="Rectangle 214"/>
              <p:cNvSpPr>
                <a:spLocks noChangeArrowheads="1"/>
              </p:cNvSpPr>
              <p:nvPr/>
            </p:nvSpPr>
            <p:spPr bwMode="auto">
              <a:xfrm>
                <a:off x="2620" y="2603"/>
                <a:ext cx="17" cy="99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23" name="Rectangle 215"/>
              <p:cNvSpPr>
                <a:spLocks noChangeArrowheads="1"/>
              </p:cNvSpPr>
              <p:nvPr/>
            </p:nvSpPr>
            <p:spPr bwMode="auto">
              <a:xfrm>
                <a:off x="2633" y="2603"/>
                <a:ext cx="16" cy="99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24" name="Rectangle 216"/>
              <p:cNvSpPr>
                <a:spLocks noChangeArrowheads="1"/>
              </p:cNvSpPr>
              <p:nvPr/>
            </p:nvSpPr>
            <p:spPr bwMode="auto">
              <a:xfrm>
                <a:off x="2646" y="2603"/>
                <a:ext cx="16" cy="99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25" name="Rectangle 217"/>
              <p:cNvSpPr>
                <a:spLocks noChangeArrowheads="1"/>
              </p:cNvSpPr>
              <p:nvPr/>
            </p:nvSpPr>
            <p:spPr bwMode="auto">
              <a:xfrm>
                <a:off x="2659" y="2603"/>
                <a:ext cx="16" cy="99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26" name="Rectangle 218"/>
              <p:cNvSpPr>
                <a:spLocks noChangeArrowheads="1"/>
              </p:cNvSpPr>
              <p:nvPr/>
            </p:nvSpPr>
            <p:spPr bwMode="auto">
              <a:xfrm>
                <a:off x="2672" y="2603"/>
                <a:ext cx="16" cy="99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27" name="Rectangle 219"/>
              <p:cNvSpPr>
                <a:spLocks noChangeArrowheads="1"/>
              </p:cNvSpPr>
              <p:nvPr/>
            </p:nvSpPr>
            <p:spPr bwMode="auto">
              <a:xfrm>
                <a:off x="2685" y="2603"/>
                <a:ext cx="16" cy="99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28" name="Rectangle 220"/>
              <p:cNvSpPr>
                <a:spLocks noChangeArrowheads="1"/>
              </p:cNvSpPr>
              <p:nvPr/>
            </p:nvSpPr>
            <p:spPr bwMode="auto">
              <a:xfrm>
                <a:off x="2698" y="2603"/>
                <a:ext cx="16" cy="99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29" name="Rectangle 221"/>
              <p:cNvSpPr>
                <a:spLocks noChangeArrowheads="1"/>
              </p:cNvSpPr>
              <p:nvPr/>
            </p:nvSpPr>
            <p:spPr bwMode="auto">
              <a:xfrm>
                <a:off x="2711" y="2603"/>
                <a:ext cx="16" cy="99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30" name="Rectangle 222"/>
              <p:cNvSpPr>
                <a:spLocks noChangeArrowheads="1"/>
              </p:cNvSpPr>
              <p:nvPr/>
            </p:nvSpPr>
            <p:spPr bwMode="auto">
              <a:xfrm>
                <a:off x="2724" y="2603"/>
                <a:ext cx="16" cy="99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31" name="Rectangle 223"/>
              <p:cNvSpPr>
                <a:spLocks noChangeArrowheads="1"/>
              </p:cNvSpPr>
              <p:nvPr/>
            </p:nvSpPr>
            <p:spPr bwMode="auto">
              <a:xfrm>
                <a:off x="2737" y="2603"/>
                <a:ext cx="16" cy="99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32" name="Rectangle 224"/>
              <p:cNvSpPr>
                <a:spLocks noChangeArrowheads="1"/>
              </p:cNvSpPr>
              <p:nvPr/>
            </p:nvSpPr>
            <p:spPr bwMode="auto">
              <a:xfrm>
                <a:off x="2750" y="2603"/>
                <a:ext cx="16" cy="99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33" name="Rectangle 225"/>
              <p:cNvSpPr>
                <a:spLocks noChangeArrowheads="1"/>
              </p:cNvSpPr>
              <p:nvPr/>
            </p:nvSpPr>
            <p:spPr bwMode="auto">
              <a:xfrm>
                <a:off x="2763" y="2603"/>
                <a:ext cx="16" cy="99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34" name="Rectangle 226"/>
              <p:cNvSpPr>
                <a:spLocks noChangeArrowheads="1"/>
              </p:cNvSpPr>
              <p:nvPr/>
            </p:nvSpPr>
            <p:spPr bwMode="auto">
              <a:xfrm>
                <a:off x="2776" y="2603"/>
                <a:ext cx="16" cy="99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35" name="Rectangle 227"/>
              <p:cNvSpPr>
                <a:spLocks noChangeArrowheads="1"/>
              </p:cNvSpPr>
              <p:nvPr/>
            </p:nvSpPr>
            <p:spPr bwMode="auto">
              <a:xfrm>
                <a:off x="2789" y="2603"/>
                <a:ext cx="16" cy="99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36" name="Rectangle 228"/>
              <p:cNvSpPr>
                <a:spLocks noChangeArrowheads="1"/>
              </p:cNvSpPr>
              <p:nvPr/>
            </p:nvSpPr>
            <p:spPr bwMode="auto">
              <a:xfrm>
                <a:off x="2801" y="2603"/>
                <a:ext cx="15" cy="99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37" name="Rectangle 229"/>
              <p:cNvSpPr>
                <a:spLocks noChangeArrowheads="1"/>
              </p:cNvSpPr>
              <p:nvPr/>
            </p:nvSpPr>
            <p:spPr bwMode="auto">
              <a:xfrm>
                <a:off x="2813" y="2603"/>
                <a:ext cx="14" cy="99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38" name="Rectangle 230"/>
              <p:cNvSpPr>
                <a:spLocks noChangeArrowheads="1"/>
              </p:cNvSpPr>
              <p:nvPr/>
            </p:nvSpPr>
            <p:spPr bwMode="auto">
              <a:xfrm>
                <a:off x="2824" y="2603"/>
                <a:ext cx="15" cy="99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39" name="Rectangle 231"/>
              <p:cNvSpPr>
                <a:spLocks noChangeArrowheads="1"/>
              </p:cNvSpPr>
              <p:nvPr/>
            </p:nvSpPr>
            <p:spPr bwMode="auto">
              <a:xfrm>
                <a:off x="2835" y="2603"/>
                <a:ext cx="15" cy="99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40" name="Rectangle 232"/>
              <p:cNvSpPr>
                <a:spLocks noChangeArrowheads="1"/>
              </p:cNvSpPr>
              <p:nvPr/>
            </p:nvSpPr>
            <p:spPr bwMode="auto">
              <a:xfrm>
                <a:off x="2847" y="2603"/>
                <a:ext cx="13" cy="99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41" name="Rectangle 233"/>
              <p:cNvSpPr>
                <a:spLocks noChangeArrowheads="1"/>
              </p:cNvSpPr>
              <p:nvPr/>
            </p:nvSpPr>
            <p:spPr bwMode="auto">
              <a:xfrm>
                <a:off x="2504" y="2603"/>
                <a:ext cx="354" cy="995"/>
              </a:xfrm>
              <a:prstGeom prst="rect">
                <a:avLst/>
              </a:prstGeom>
              <a:grpFill/>
              <a:ln w="0">
                <a:solidFill>
                  <a:srgbClr val="000000"/>
                </a:solidFill>
                <a:miter lim="800000"/>
                <a:headEnd/>
                <a:tailEnd/>
              </a:ln>
              <a:extLst/>
            </p:spPr>
            <p:txBody>
              <a:bodyPr/>
              <a:lstStyle/>
              <a:p>
                <a:pPr>
                  <a:defRPr/>
                </a:pPr>
                <a:endParaRPr lang="en-US"/>
              </a:p>
            </p:txBody>
          </p:sp>
          <p:sp>
            <p:nvSpPr>
              <p:cNvPr id="17642" name="Line 234"/>
              <p:cNvSpPr>
                <a:spLocks noChangeShapeType="1"/>
              </p:cNvSpPr>
              <p:nvPr/>
            </p:nvSpPr>
            <p:spPr bwMode="auto">
              <a:xfrm>
                <a:off x="2504" y="3543"/>
                <a:ext cx="354" cy="1"/>
              </a:xfrm>
              <a:prstGeom prst="line">
                <a:avLst/>
              </a:prstGeom>
              <a:grpFill/>
              <a:ln w="0">
                <a:solidFill>
                  <a:srgbClr val="000000"/>
                </a:solidFill>
                <a:round/>
                <a:headEnd/>
                <a:tailEnd/>
              </a:ln>
              <a:extLst/>
            </p:spPr>
            <p:txBody>
              <a:bodyPr/>
              <a:lstStyle/>
              <a:p>
                <a:pPr>
                  <a:defRPr/>
                </a:pPr>
                <a:endParaRPr lang="en-US"/>
              </a:p>
            </p:txBody>
          </p:sp>
          <p:sp>
            <p:nvSpPr>
              <p:cNvPr id="17643" name="Line 235"/>
              <p:cNvSpPr>
                <a:spLocks noChangeShapeType="1"/>
              </p:cNvSpPr>
              <p:nvPr/>
            </p:nvSpPr>
            <p:spPr bwMode="auto">
              <a:xfrm flipH="1" flipV="1">
                <a:off x="2858" y="3542"/>
                <a:ext cx="19" cy="56"/>
              </a:xfrm>
              <a:prstGeom prst="line">
                <a:avLst/>
              </a:prstGeom>
              <a:grpFill/>
              <a:ln w="0">
                <a:solidFill>
                  <a:srgbClr val="000000"/>
                </a:solidFill>
                <a:round/>
                <a:headEnd/>
                <a:tailEnd/>
              </a:ln>
              <a:extLst/>
            </p:spPr>
            <p:txBody>
              <a:bodyPr/>
              <a:lstStyle/>
              <a:p>
                <a:pPr>
                  <a:defRPr/>
                </a:pPr>
                <a:endParaRPr lang="en-US"/>
              </a:p>
            </p:txBody>
          </p:sp>
          <p:sp>
            <p:nvSpPr>
              <p:cNvPr id="17644" name="Rectangle 236"/>
              <p:cNvSpPr>
                <a:spLocks noChangeArrowheads="1"/>
              </p:cNvSpPr>
              <p:nvPr/>
            </p:nvSpPr>
            <p:spPr bwMode="auto">
              <a:xfrm>
                <a:off x="2540" y="1703"/>
                <a:ext cx="16" cy="34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45" name="Rectangle 237"/>
              <p:cNvSpPr>
                <a:spLocks noChangeArrowheads="1"/>
              </p:cNvSpPr>
              <p:nvPr/>
            </p:nvSpPr>
            <p:spPr bwMode="auto">
              <a:xfrm>
                <a:off x="2552" y="1703"/>
                <a:ext cx="17" cy="34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46" name="Rectangle 238"/>
              <p:cNvSpPr>
                <a:spLocks noChangeArrowheads="1"/>
              </p:cNvSpPr>
              <p:nvPr/>
            </p:nvSpPr>
            <p:spPr bwMode="auto">
              <a:xfrm>
                <a:off x="2565" y="1703"/>
                <a:ext cx="17" cy="34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47" name="Rectangle 239"/>
              <p:cNvSpPr>
                <a:spLocks noChangeArrowheads="1"/>
              </p:cNvSpPr>
              <p:nvPr/>
            </p:nvSpPr>
            <p:spPr bwMode="auto">
              <a:xfrm>
                <a:off x="2578" y="1703"/>
                <a:ext cx="17" cy="34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48" name="Rectangle 240"/>
              <p:cNvSpPr>
                <a:spLocks noChangeArrowheads="1"/>
              </p:cNvSpPr>
              <p:nvPr/>
            </p:nvSpPr>
            <p:spPr bwMode="auto">
              <a:xfrm>
                <a:off x="2591" y="1703"/>
                <a:ext cx="16" cy="34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49" name="Rectangle 241"/>
              <p:cNvSpPr>
                <a:spLocks noChangeArrowheads="1"/>
              </p:cNvSpPr>
              <p:nvPr/>
            </p:nvSpPr>
            <p:spPr bwMode="auto">
              <a:xfrm>
                <a:off x="2604" y="1703"/>
                <a:ext cx="16" cy="34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50" name="Rectangle 242"/>
              <p:cNvSpPr>
                <a:spLocks noChangeArrowheads="1"/>
              </p:cNvSpPr>
              <p:nvPr/>
            </p:nvSpPr>
            <p:spPr bwMode="auto">
              <a:xfrm>
                <a:off x="2617" y="1703"/>
                <a:ext cx="16" cy="34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51" name="Rectangle 243"/>
              <p:cNvSpPr>
                <a:spLocks noChangeArrowheads="1"/>
              </p:cNvSpPr>
              <p:nvPr/>
            </p:nvSpPr>
            <p:spPr bwMode="auto">
              <a:xfrm>
                <a:off x="2630" y="1703"/>
                <a:ext cx="16" cy="34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52" name="Rectangle 244"/>
              <p:cNvSpPr>
                <a:spLocks noChangeArrowheads="1"/>
              </p:cNvSpPr>
              <p:nvPr/>
            </p:nvSpPr>
            <p:spPr bwMode="auto">
              <a:xfrm>
                <a:off x="2643" y="1703"/>
                <a:ext cx="16" cy="34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53" name="Rectangle 245"/>
              <p:cNvSpPr>
                <a:spLocks noChangeArrowheads="1"/>
              </p:cNvSpPr>
              <p:nvPr/>
            </p:nvSpPr>
            <p:spPr bwMode="auto">
              <a:xfrm>
                <a:off x="2656" y="1703"/>
                <a:ext cx="16" cy="34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54" name="Rectangle 246"/>
              <p:cNvSpPr>
                <a:spLocks noChangeArrowheads="1"/>
              </p:cNvSpPr>
              <p:nvPr/>
            </p:nvSpPr>
            <p:spPr bwMode="auto">
              <a:xfrm>
                <a:off x="2669" y="1703"/>
                <a:ext cx="16" cy="34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55" name="Rectangle 247"/>
              <p:cNvSpPr>
                <a:spLocks noChangeArrowheads="1"/>
              </p:cNvSpPr>
              <p:nvPr/>
            </p:nvSpPr>
            <p:spPr bwMode="auto">
              <a:xfrm>
                <a:off x="2682" y="1703"/>
                <a:ext cx="16" cy="34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56" name="Rectangle 248"/>
              <p:cNvSpPr>
                <a:spLocks noChangeArrowheads="1"/>
              </p:cNvSpPr>
              <p:nvPr/>
            </p:nvSpPr>
            <p:spPr bwMode="auto">
              <a:xfrm>
                <a:off x="2695" y="1703"/>
                <a:ext cx="16" cy="34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57" name="Rectangle 249"/>
              <p:cNvSpPr>
                <a:spLocks noChangeArrowheads="1"/>
              </p:cNvSpPr>
              <p:nvPr/>
            </p:nvSpPr>
            <p:spPr bwMode="auto">
              <a:xfrm>
                <a:off x="2708" y="1703"/>
                <a:ext cx="16" cy="34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58" name="Rectangle 250"/>
              <p:cNvSpPr>
                <a:spLocks noChangeArrowheads="1"/>
              </p:cNvSpPr>
              <p:nvPr/>
            </p:nvSpPr>
            <p:spPr bwMode="auto">
              <a:xfrm>
                <a:off x="2721" y="1703"/>
                <a:ext cx="16" cy="34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59" name="Rectangle 251"/>
              <p:cNvSpPr>
                <a:spLocks noChangeArrowheads="1"/>
              </p:cNvSpPr>
              <p:nvPr/>
            </p:nvSpPr>
            <p:spPr bwMode="auto">
              <a:xfrm>
                <a:off x="2734" y="1703"/>
                <a:ext cx="16" cy="34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60" name="Rectangle 252"/>
              <p:cNvSpPr>
                <a:spLocks noChangeArrowheads="1"/>
              </p:cNvSpPr>
              <p:nvPr/>
            </p:nvSpPr>
            <p:spPr bwMode="auto">
              <a:xfrm>
                <a:off x="2746" y="1703"/>
                <a:ext cx="17" cy="34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61" name="Rectangle 253"/>
              <p:cNvSpPr>
                <a:spLocks noChangeArrowheads="1"/>
              </p:cNvSpPr>
              <p:nvPr/>
            </p:nvSpPr>
            <p:spPr bwMode="auto">
              <a:xfrm>
                <a:off x="2759" y="1703"/>
                <a:ext cx="17" cy="34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62" name="Rectangle 254"/>
              <p:cNvSpPr>
                <a:spLocks noChangeArrowheads="1"/>
              </p:cNvSpPr>
              <p:nvPr/>
            </p:nvSpPr>
            <p:spPr bwMode="auto">
              <a:xfrm>
                <a:off x="2772" y="1703"/>
                <a:ext cx="17" cy="34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63" name="Rectangle 255"/>
              <p:cNvSpPr>
                <a:spLocks noChangeArrowheads="1"/>
              </p:cNvSpPr>
              <p:nvPr/>
            </p:nvSpPr>
            <p:spPr bwMode="auto">
              <a:xfrm>
                <a:off x="2785" y="1703"/>
                <a:ext cx="16" cy="34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64" name="Rectangle 256"/>
              <p:cNvSpPr>
                <a:spLocks noChangeArrowheads="1"/>
              </p:cNvSpPr>
              <p:nvPr/>
            </p:nvSpPr>
            <p:spPr bwMode="auto">
              <a:xfrm>
                <a:off x="2798" y="1703"/>
                <a:ext cx="15" cy="34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65" name="Rectangle 257"/>
              <p:cNvSpPr>
                <a:spLocks noChangeArrowheads="1"/>
              </p:cNvSpPr>
              <p:nvPr/>
            </p:nvSpPr>
            <p:spPr bwMode="auto">
              <a:xfrm>
                <a:off x="2810" y="1703"/>
                <a:ext cx="12" cy="34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66" name="Rectangle 258"/>
              <p:cNvSpPr>
                <a:spLocks noChangeArrowheads="1"/>
              </p:cNvSpPr>
              <p:nvPr/>
            </p:nvSpPr>
            <p:spPr bwMode="auto">
              <a:xfrm>
                <a:off x="2540" y="1703"/>
                <a:ext cx="281" cy="342"/>
              </a:xfrm>
              <a:prstGeom prst="rect">
                <a:avLst/>
              </a:prstGeom>
              <a:grpFill/>
              <a:ln w="0">
                <a:solidFill>
                  <a:srgbClr val="000000"/>
                </a:solidFill>
                <a:miter lim="800000"/>
                <a:headEnd/>
                <a:tailEnd/>
              </a:ln>
              <a:extLst/>
            </p:spPr>
            <p:txBody>
              <a:bodyPr/>
              <a:lstStyle/>
              <a:p>
                <a:pPr>
                  <a:defRPr/>
                </a:pPr>
                <a:endParaRPr lang="en-US"/>
              </a:p>
            </p:txBody>
          </p:sp>
          <p:sp>
            <p:nvSpPr>
              <p:cNvPr id="17667" name="Rectangle 259"/>
              <p:cNvSpPr>
                <a:spLocks noChangeArrowheads="1"/>
              </p:cNvSpPr>
              <p:nvPr/>
            </p:nvSpPr>
            <p:spPr bwMode="auto">
              <a:xfrm>
                <a:off x="2520" y="2018"/>
                <a:ext cx="16" cy="58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68" name="Rectangle 260"/>
              <p:cNvSpPr>
                <a:spLocks noChangeArrowheads="1"/>
              </p:cNvSpPr>
              <p:nvPr/>
            </p:nvSpPr>
            <p:spPr bwMode="auto">
              <a:xfrm>
                <a:off x="2533" y="2018"/>
                <a:ext cx="16" cy="58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69" name="Rectangle 261"/>
              <p:cNvSpPr>
                <a:spLocks noChangeArrowheads="1"/>
              </p:cNvSpPr>
              <p:nvPr/>
            </p:nvSpPr>
            <p:spPr bwMode="auto">
              <a:xfrm>
                <a:off x="2546" y="2018"/>
                <a:ext cx="16" cy="58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70" name="Rectangle 262"/>
              <p:cNvSpPr>
                <a:spLocks noChangeArrowheads="1"/>
              </p:cNvSpPr>
              <p:nvPr/>
            </p:nvSpPr>
            <p:spPr bwMode="auto">
              <a:xfrm>
                <a:off x="2559" y="2018"/>
                <a:ext cx="16" cy="58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71" name="Rectangle 263"/>
              <p:cNvSpPr>
                <a:spLocks noChangeArrowheads="1"/>
              </p:cNvSpPr>
              <p:nvPr/>
            </p:nvSpPr>
            <p:spPr bwMode="auto">
              <a:xfrm>
                <a:off x="2572" y="2018"/>
                <a:ext cx="16" cy="58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72" name="Rectangle 264"/>
              <p:cNvSpPr>
                <a:spLocks noChangeArrowheads="1"/>
              </p:cNvSpPr>
              <p:nvPr/>
            </p:nvSpPr>
            <p:spPr bwMode="auto">
              <a:xfrm>
                <a:off x="2585" y="2018"/>
                <a:ext cx="16" cy="58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73" name="Rectangle 265"/>
              <p:cNvSpPr>
                <a:spLocks noChangeArrowheads="1"/>
              </p:cNvSpPr>
              <p:nvPr/>
            </p:nvSpPr>
            <p:spPr bwMode="auto">
              <a:xfrm>
                <a:off x="2598" y="2018"/>
                <a:ext cx="16" cy="58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74" name="Rectangle 266"/>
              <p:cNvSpPr>
                <a:spLocks noChangeArrowheads="1"/>
              </p:cNvSpPr>
              <p:nvPr/>
            </p:nvSpPr>
            <p:spPr bwMode="auto">
              <a:xfrm>
                <a:off x="2611" y="2018"/>
                <a:ext cx="16" cy="58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75" name="Rectangle 267"/>
              <p:cNvSpPr>
                <a:spLocks noChangeArrowheads="1"/>
              </p:cNvSpPr>
              <p:nvPr/>
            </p:nvSpPr>
            <p:spPr bwMode="auto">
              <a:xfrm>
                <a:off x="2624" y="2018"/>
                <a:ext cx="16" cy="58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76" name="Rectangle 268"/>
              <p:cNvSpPr>
                <a:spLocks noChangeArrowheads="1"/>
              </p:cNvSpPr>
              <p:nvPr/>
            </p:nvSpPr>
            <p:spPr bwMode="auto">
              <a:xfrm>
                <a:off x="2637" y="2018"/>
                <a:ext cx="16" cy="58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77" name="Rectangle 269"/>
              <p:cNvSpPr>
                <a:spLocks noChangeArrowheads="1"/>
              </p:cNvSpPr>
              <p:nvPr/>
            </p:nvSpPr>
            <p:spPr bwMode="auto">
              <a:xfrm>
                <a:off x="2649" y="2018"/>
                <a:ext cx="17" cy="58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78" name="Rectangle 270"/>
              <p:cNvSpPr>
                <a:spLocks noChangeArrowheads="1"/>
              </p:cNvSpPr>
              <p:nvPr/>
            </p:nvSpPr>
            <p:spPr bwMode="auto">
              <a:xfrm>
                <a:off x="2662" y="2018"/>
                <a:ext cx="17" cy="58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79" name="Rectangle 271"/>
              <p:cNvSpPr>
                <a:spLocks noChangeArrowheads="1"/>
              </p:cNvSpPr>
              <p:nvPr/>
            </p:nvSpPr>
            <p:spPr bwMode="auto">
              <a:xfrm>
                <a:off x="2675" y="2018"/>
                <a:ext cx="17" cy="58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80" name="Rectangle 272"/>
              <p:cNvSpPr>
                <a:spLocks noChangeArrowheads="1"/>
              </p:cNvSpPr>
              <p:nvPr/>
            </p:nvSpPr>
            <p:spPr bwMode="auto">
              <a:xfrm>
                <a:off x="2688" y="2018"/>
                <a:ext cx="16" cy="58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81" name="Rectangle 273"/>
              <p:cNvSpPr>
                <a:spLocks noChangeArrowheads="1"/>
              </p:cNvSpPr>
              <p:nvPr/>
            </p:nvSpPr>
            <p:spPr bwMode="auto">
              <a:xfrm>
                <a:off x="2701" y="2018"/>
                <a:ext cx="16" cy="58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82" name="Rectangle 274"/>
              <p:cNvSpPr>
                <a:spLocks noChangeArrowheads="1"/>
              </p:cNvSpPr>
              <p:nvPr/>
            </p:nvSpPr>
            <p:spPr bwMode="auto">
              <a:xfrm>
                <a:off x="2714" y="2018"/>
                <a:ext cx="16" cy="58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83" name="Rectangle 275"/>
              <p:cNvSpPr>
                <a:spLocks noChangeArrowheads="1"/>
              </p:cNvSpPr>
              <p:nvPr/>
            </p:nvSpPr>
            <p:spPr bwMode="auto">
              <a:xfrm>
                <a:off x="2727" y="2018"/>
                <a:ext cx="16" cy="58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84" name="Rectangle 276"/>
              <p:cNvSpPr>
                <a:spLocks noChangeArrowheads="1"/>
              </p:cNvSpPr>
              <p:nvPr/>
            </p:nvSpPr>
            <p:spPr bwMode="auto">
              <a:xfrm>
                <a:off x="2740" y="2018"/>
                <a:ext cx="16" cy="58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85" name="Rectangle 277"/>
              <p:cNvSpPr>
                <a:spLocks noChangeArrowheads="1"/>
              </p:cNvSpPr>
              <p:nvPr/>
            </p:nvSpPr>
            <p:spPr bwMode="auto">
              <a:xfrm>
                <a:off x="2753" y="2018"/>
                <a:ext cx="16" cy="58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86" name="Rectangle 278"/>
              <p:cNvSpPr>
                <a:spLocks noChangeArrowheads="1"/>
              </p:cNvSpPr>
              <p:nvPr/>
            </p:nvSpPr>
            <p:spPr bwMode="auto">
              <a:xfrm>
                <a:off x="2766" y="2018"/>
                <a:ext cx="16" cy="58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87" name="Rectangle 279"/>
              <p:cNvSpPr>
                <a:spLocks noChangeArrowheads="1"/>
              </p:cNvSpPr>
              <p:nvPr/>
            </p:nvSpPr>
            <p:spPr bwMode="auto">
              <a:xfrm>
                <a:off x="2779" y="2018"/>
                <a:ext cx="16" cy="58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88" name="Rectangle 280"/>
              <p:cNvSpPr>
                <a:spLocks noChangeArrowheads="1"/>
              </p:cNvSpPr>
              <p:nvPr/>
            </p:nvSpPr>
            <p:spPr bwMode="auto">
              <a:xfrm>
                <a:off x="2792" y="2018"/>
                <a:ext cx="16" cy="58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89" name="Rectangle 281"/>
              <p:cNvSpPr>
                <a:spLocks noChangeArrowheads="1"/>
              </p:cNvSpPr>
              <p:nvPr/>
            </p:nvSpPr>
            <p:spPr bwMode="auto">
              <a:xfrm>
                <a:off x="2805" y="2018"/>
                <a:ext cx="16" cy="58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90" name="Rectangle 282"/>
              <p:cNvSpPr>
                <a:spLocks noChangeArrowheads="1"/>
              </p:cNvSpPr>
              <p:nvPr/>
            </p:nvSpPr>
            <p:spPr bwMode="auto">
              <a:xfrm>
                <a:off x="2818" y="2018"/>
                <a:ext cx="16" cy="58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91" name="Rectangle 283"/>
              <p:cNvSpPr>
                <a:spLocks noChangeArrowheads="1"/>
              </p:cNvSpPr>
              <p:nvPr/>
            </p:nvSpPr>
            <p:spPr bwMode="auto">
              <a:xfrm>
                <a:off x="2831" y="2018"/>
                <a:ext cx="12" cy="58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692" name="Rectangle 284"/>
              <p:cNvSpPr>
                <a:spLocks noChangeArrowheads="1"/>
              </p:cNvSpPr>
              <p:nvPr/>
            </p:nvSpPr>
            <p:spPr bwMode="auto">
              <a:xfrm>
                <a:off x="2520" y="2018"/>
                <a:ext cx="322" cy="585"/>
              </a:xfrm>
              <a:prstGeom prst="rect">
                <a:avLst/>
              </a:prstGeom>
              <a:grpFill/>
              <a:ln w="0">
                <a:solidFill>
                  <a:srgbClr val="000000"/>
                </a:solidFill>
                <a:miter lim="800000"/>
                <a:headEnd/>
                <a:tailEnd/>
              </a:ln>
              <a:extLst/>
            </p:spPr>
            <p:txBody>
              <a:bodyPr/>
              <a:lstStyle/>
              <a:p>
                <a:pPr>
                  <a:defRPr/>
                </a:pPr>
                <a:endParaRPr lang="en-US"/>
              </a:p>
            </p:txBody>
          </p:sp>
          <p:sp>
            <p:nvSpPr>
              <p:cNvPr id="17693" name="Rectangle 285"/>
              <p:cNvSpPr>
                <a:spLocks noChangeArrowheads="1"/>
              </p:cNvSpPr>
              <p:nvPr/>
            </p:nvSpPr>
            <p:spPr bwMode="auto">
              <a:xfrm>
                <a:off x="2540" y="2018"/>
                <a:ext cx="281" cy="79"/>
              </a:xfrm>
              <a:prstGeom prst="rect">
                <a:avLst/>
              </a:prstGeom>
              <a:grpFill/>
              <a:ln w="0">
                <a:solidFill>
                  <a:srgbClr val="000000"/>
                </a:solidFill>
                <a:miter lim="800000"/>
                <a:headEnd/>
                <a:tailEnd/>
              </a:ln>
            </p:spPr>
            <p:txBody>
              <a:bodyPr/>
              <a:lstStyle/>
              <a:p>
                <a:pPr>
                  <a:defRPr/>
                </a:pPr>
                <a:endParaRPr lang="en-US"/>
              </a:p>
            </p:txBody>
          </p:sp>
          <p:sp>
            <p:nvSpPr>
              <p:cNvPr id="17694" name="Rectangle 286"/>
              <p:cNvSpPr>
                <a:spLocks noChangeArrowheads="1"/>
              </p:cNvSpPr>
              <p:nvPr/>
            </p:nvSpPr>
            <p:spPr bwMode="auto">
              <a:xfrm>
                <a:off x="2540" y="2108"/>
                <a:ext cx="281" cy="80"/>
              </a:xfrm>
              <a:prstGeom prst="rect">
                <a:avLst/>
              </a:prstGeom>
              <a:grpFill/>
              <a:ln w="0">
                <a:solidFill>
                  <a:srgbClr val="000000"/>
                </a:solidFill>
                <a:miter lim="800000"/>
                <a:headEnd/>
                <a:tailEnd/>
              </a:ln>
            </p:spPr>
            <p:txBody>
              <a:bodyPr/>
              <a:lstStyle/>
              <a:p>
                <a:pPr>
                  <a:defRPr/>
                </a:pPr>
                <a:endParaRPr lang="en-US"/>
              </a:p>
            </p:txBody>
          </p:sp>
          <p:sp>
            <p:nvSpPr>
              <p:cNvPr id="17695" name="Rectangle 287"/>
              <p:cNvSpPr>
                <a:spLocks noChangeArrowheads="1"/>
              </p:cNvSpPr>
              <p:nvPr/>
            </p:nvSpPr>
            <p:spPr bwMode="auto">
              <a:xfrm>
                <a:off x="2520" y="2097"/>
                <a:ext cx="349" cy="13"/>
              </a:xfrm>
              <a:prstGeom prst="rect">
                <a:avLst/>
              </a:prstGeom>
              <a:grpFill/>
              <a:ln w="0">
                <a:solidFill>
                  <a:srgbClr val="000000"/>
                </a:solidFill>
                <a:miter lim="800000"/>
                <a:headEnd/>
                <a:tailEnd/>
              </a:ln>
            </p:spPr>
            <p:txBody>
              <a:bodyPr/>
              <a:lstStyle/>
              <a:p>
                <a:pPr>
                  <a:defRPr/>
                </a:pPr>
                <a:endParaRPr lang="en-US"/>
              </a:p>
            </p:txBody>
          </p:sp>
          <p:sp>
            <p:nvSpPr>
              <p:cNvPr id="17696" name="Line 288"/>
              <p:cNvSpPr>
                <a:spLocks noChangeShapeType="1"/>
              </p:cNvSpPr>
              <p:nvPr/>
            </p:nvSpPr>
            <p:spPr bwMode="auto">
              <a:xfrm>
                <a:off x="2873" y="2094"/>
                <a:ext cx="1" cy="22"/>
              </a:xfrm>
              <a:prstGeom prst="line">
                <a:avLst/>
              </a:prstGeom>
              <a:grpFill/>
              <a:ln w="0">
                <a:solidFill>
                  <a:srgbClr val="000000"/>
                </a:solidFill>
                <a:round/>
                <a:headEnd/>
                <a:tailEnd/>
              </a:ln>
              <a:extLst/>
            </p:spPr>
            <p:txBody>
              <a:bodyPr/>
              <a:lstStyle/>
              <a:p>
                <a:pPr>
                  <a:defRPr/>
                </a:pPr>
                <a:endParaRPr lang="en-US"/>
              </a:p>
            </p:txBody>
          </p:sp>
          <p:sp>
            <p:nvSpPr>
              <p:cNvPr id="17697" name="Line 289"/>
              <p:cNvSpPr>
                <a:spLocks noChangeShapeType="1"/>
              </p:cNvSpPr>
              <p:nvPr/>
            </p:nvSpPr>
            <p:spPr bwMode="auto">
              <a:xfrm>
                <a:off x="2876" y="2094"/>
                <a:ext cx="1" cy="22"/>
              </a:xfrm>
              <a:prstGeom prst="line">
                <a:avLst/>
              </a:prstGeom>
              <a:grpFill/>
              <a:ln w="0">
                <a:solidFill>
                  <a:srgbClr val="000000"/>
                </a:solidFill>
                <a:round/>
                <a:headEnd/>
                <a:tailEnd/>
              </a:ln>
              <a:extLst/>
            </p:spPr>
            <p:txBody>
              <a:bodyPr/>
              <a:lstStyle/>
              <a:p>
                <a:pPr>
                  <a:defRPr/>
                </a:pPr>
                <a:endParaRPr lang="en-US"/>
              </a:p>
            </p:txBody>
          </p:sp>
          <p:sp>
            <p:nvSpPr>
              <p:cNvPr id="17698" name="Line 290"/>
              <p:cNvSpPr>
                <a:spLocks noChangeShapeType="1"/>
              </p:cNvSpPr>
              <p:nvPr/>
            </p:nvSpPr>
            <p:spPr bwMode="auto">
              <a:xfrm>
                <a:off x="2873" y="2183"/>
                <a:ext cx="1" cy="22"/>
              </a:xfrm>
              <a:prstGeom prst="line">
                <a:avLst/>
              </a:prstGeom>
              <a:grpFill/>
              <a:ln w="0">
                <a:solidFill>
                  <a:srgbClr val="000000"/>
                </a:solidFill>
                <a:round/>
                <a:headEnd/>
                <a:tailEnd/>
              </a:ln>
              <a:extLst/>
            </p:spPr>
            <p:txBody>
              <a:bodyPr/>
              <a:lstStyle/>
              <a:p>
                <a:pPr>
                  <a:defRPr/>
                </a:pPr>
                <a:endParaRPr lang="en-US"/>
              </a:p>
            </p:txBody>
          </p:sp>
          <p:sp>
            <p:nvSpPr>
              <p:cNvPr id="17699" name="Line 291"/>
              <p:cNvSpPr>
                <a:spLocks noChangeShapeType="1"/>
              </p:cNvSpPr>
              <p:nvPr/>
            </p:nvSpPr>
            <p:spPr bwMode="auto">
              <a:xfrm>
                <a:off x="2876" y="2183"/>
                <a:ext cx="1" cy="22"/>
              </a:xfrm>
              <a:prstGeom prst="line">
                <a:avLst/>
              </a:prstGeom>
              <a:grpFill/>
              <a:ln w="0">
                <a:solidFill>
                  <a:srgbClr val="000000"/>
                </a:solidFill>
                <a:round/>
                <a:headEnd/>
                <a:tailEnd/>
              </a:ln>
              <a:extLst/>
            </p:spPr>
            <p:txBody>
              <a:bodyPr/>
              <a:lstStyle/>
              <a:p>
                <a:pPr>
                  <a:defRPr/>
                </a:pPr>
                <a:endParaRPr lang="en-US"/>
              </a:p>
            </p:txBody>
          </p:sp>
          <p:sp>
            <p:nvSpPr>
              <p:cNvPr id="17700" name="Line 292"/>
              <p:cNvSpPr>
                <a:spLocks noChangeShapeType="1"/>
              </p:cNvSpPr>
              <p:nvPr/>
            </p:nvSpPr>
            <p:spPr bwMode="auto">
              <a:xfrm>
                <a:off x="2543" y="1969"/>
                <a:ext cx="278" cy="1"/>
              </a:xfrm>
              <a:prstGeom prst="line">
                <a:avLst/>
              </a:prstGeom>
              <a:grpFill/>
              <a:ln w="0">
                <a:solidFill>
                  <a:srgbClr val="000000"/>
                </a:solidFill>
                <a:round/>
                <a:headEnd/>
                <a:tailEnd/>
              </a:ln>
              <a:extLst/>
            </p:spPr>
            <p:txBody>
              <a:bodyPr/>
              <a:lstStyle/>
              <a:p>
                <a:pPr>
                  <a:defRPr/>
                </a:pPr>
                <a:endParaRPr lang="en-US"/>
              </a:p>
            </p:txBody>
          </p:sp>
          <p:sp>
            <p:nvSpPr>
              <p:cNvPr id="17701" name="Rectangle 293"/>
              <p:cNvSpPr>
                <a:spLocks noChangeArrowheads="1"/>
              </p:cNvSpPr>
              <p:nvPr/>
            </p:nvSpPr>
            <p:spPr bwMode="auto">
              <a:xfrm>
                <a:off x="2520" y="2188"/>
                <a:ext cx="349" cy="12"/>
              </a:xfrm>
              <a:prstGeom prst="rect">
                <a:avLst/>
              </a:prstGeom>
              <a:grpFill/>
              <a:ln w="0">
                <a:solidFill>
                  <a:srgbClr val="000000"/>
                </a:solidFill>
                <a:miter lim="800000"/>
                <a:headEnd/>
                <a:tailEnd/>
              </a:ln>
            </p:spPr>
            <p:txBody>
              <a:bodyPr/>
              <a:lstStyle/>
              <a:p>
                <a:pPr>
                  <a:defRPr/>
                </a:pPr>
                <a:endParaRPr lang="en-US"/>
              </a:p>
            </p:txBody>
          </p:sp>
          <p:sp>
            <p:nvSpPr>
              <p:cNvPr id="17702" name="Line 294"/>
              <p:cNvSpPr>
                <a:spLocks noChangeShapeType="1"/>
              </p:cNvSpPr>
              <p:nvPr/>
            </p:nvSpPr>
            <p:spPr bwMode="auto">
              <a:xfrm>
                <a:off x="2821" y="1968"/>
                <a:ext cx="21" cy="50"/>
              </a:xfrm>
              <a:prstGeom prst="line">
                <a:avLst/>
              </a:prstGeom>
              <a:grpFill/>
              <a:ln w="0">
                <a:solidFill>
                  <a:srgbClr val="000000"/>
                </a:solidFill>
                <a:round/>
                <a:headEnd/>
                <a:tailEnd/>
              </a:ln>
              <a:extLst/>
            </p:spPr>
            <p:txBody>
              <a:bodyPr/>
              <a:lstStyle/>
              <a:p>
                <a:pPr>
                  <a:defRPr/>
                </a:pPr>
                <a:endParaRPr lang="en-US"/>
              </a:p>
            </p:txBody>
          </p:sp>
          <p:sp>
            <p:nvSpPr>
              <p:cNvPr id="17703" name="Rectangle 295"/>
              <p:cNvSpPr>
                <a:spLocks noChangeArrowheads="1"/>
              </p:cNvSpPr>
              <p:nvPr/>
            </p:nvSpPr>
            <p:spPr bwMode="auto">
              <a:xfrm>
                <a:off x="2666" y="3886"/>
                <a:ext cx="32" cy="26"/>
              </a:xfrm>
              <a:prstGeom prst="rect">
                <a:avLst/>
              </a:prstGeom>
              <a:grpFill/>
              <a:ln w="0">
                <a:solidFill>
                  <a:srgbClr val="000000"/>
                </a:solidFill>
                <a:miter lim="800000"/>
                <a:headEnd/>
                <a:tailEnd/>
              </a:ln>
            </p:spPr>
            <p:txBody>
              <a:bodyPr/>
              <a:lstStyle/>
              <a:p>
                <a:pPr>
                  <a:defRPr/>
                </a:pPr>
                <a:endParaRPr lang="en-US"/>
              </a:p>
            </p:txBody>
          </p:sp>
          <p:sp>
            <p:nvSpPr>
              <p:cNvPr id="17704" name="Rectangle 296"/>
              <p:cNvSpPr>
                <a:spLocks noChangeArrowheads="1"/>
              </p:cNvSpPr>
              <p:nvPr/>
            </p:nvSpPr>
            <p:spPr bwMode="auto">
              <a:xfrm>
                <a:off x="2645" y="3845"/>
                <a:ext cx="74" cy="52"/>
              </a:xfrm>
              <a:prstGeom prst="rect">
                <a:avLst/>
              </a:prstGeom>
              <a:grpFill/>
              <a:ln w="0">
                <a:solidFill>
                  <a:srgbClr val="000000"/>
                </a:solidFill>
                <a:miter lim="800000"/>
                <a:headEnd/>
                <a:tailEnd/>
              </a:ln>
            </p:spPr>
            <p:txBody>
              <a:bodyPr/>
              <a:lstStyle/>
              <a:p>
                <a:pPr>
                  <a:defRPr/>
                </a:pPr>
                <a:endParaRPr lang="en-US"/>
              </a:p>
            </p:txBody>
          </p:sp>
          <p:sp>
            <p:nvSpPr>
              <p:cNvPr id="17705" name="Freeform 297"/>
              <p:cNvSpPr>
                <a:spLocks/>
              </p:cNvSpPr>
              <p:nvPr/>
            </p:nvSpPr>
            <p:spPr bwMode="auto">
              <a:xfrm>
                <a:off x="2596" y="3731"/>
                <a:ext cx="165" cy="55"/>
              </a:xfrm>
              <a:custGeom>
                <a:avLst/>
                <a:gdLst>
                  <a:gd name="T0" fmla="*/ 2 w 165"/>
                  <a:gd name="T1" fmla="*/ 55 h 55"/>
                  <a:gd name="T2" fmla="*/ 83 w 165"/>
                  <a:gd name="T3" fmla="*/ 0 h 55"/>
                  <a:gd name="T4" fmla="*/ 165 w 165"/>
                  <a:gd name="T5" fmla="*/ 55 h 55"/>
                  <a:gd name="T6" fmla="*/ 0 w 165"/>
                  <a:gd name="T7" fmla="*/ 55 h 55"/>
                </a:gdLst>
                <a:ahLst/>
                <a:cxnLst>
                  <a:cxn ang="0">
                    <a:pos x="T0" y="T1"/>
                  </a:cxn>
                  <a:cxn ang="0">
                    <a:pos x="T2" y="T3"/>
                  </a:cxn>
                  <a:cxn ang="0">
                    <a:pos x="T4" y="T5"/>
                  </a:cxn>
                  <a:cxn ang="0">
                    <a:pos x="T6" y="T7"/>
                  </a:cxn>
                </a:cxnLst>
                <a:rect l="0" t="0" r="r" b="b"/>
                <a:pathLst>
                  <a:path w="165" h="55">
                    <a:moveTo>
                      <a:pt x="2" y="55"/>
                    </a:moveTo>
                    <a:lnTo>
                      <a:pt x="83" y="0"/>
                    </a:lnTo>
                    <a:lnTo>
                      <a:pt x="165" y="55"/>
                    </a:lnTo>
                    <a:lnTo>
                      <a:pt x="0" y="55"/>
                    </a:lnTo>
                  </a:path>
                </a:pathLst>
              </a:custGeom>
              <a:grpFill/>
              <a:ln w="0">
                <a:solidFill>
                  <a:srgbClr val="000000"/>
                </a:solidFill>
                <a:prstDash val="solid"/>
                <a:round/>
                <a:headEnd/>
                <a:tailEnd/>
              </a:ln>
              <a:extLst/>
            </p:spPr>
            <p:txBody>
              <a:bodyPr/>
              <a:lstStyle/>
              <a:p>
                <a:pPr>
                  <a:defRPr/>
                </a:pPr>
                <a:endParaRPr lang="en-US"/>
              </a:p>
            </p:txBody>
          </p:sp>
          <p:sp>
            <p:nvSpPr>
              <p:cNvPr id="17706" name="Rectangle 298"/>
              <p:cNvSpPr>
                <a:spLocks noChangeArrowheads="1"/>
              </p:cNvSpPr>
              <p:nvPr/>
            </p:nvSpPr>
            <p:spPr bwMode="auto">
              <a:xfrm>
                <a:off x="2649" y="3784"/>
                <a:ext cx="64" cy="50"/>
              </a:xfrm>
              <a:prstGeom prst="rect">
                <a:avLst/>
              </a:prstGeom>
              <a:grpFill/>
              <a:ln w="0">
                <a:solidFill>
                  <a:srgbClr val="000000"/>
                </a:solidFill>
                <a:miter lim="800000"/>
                <a:headEnd/>
                <a:tailEnd/>
              </a:ln>
            </p:spPr>
            <p:txBody>
              <a:bodyPr/>
              <a:lstStyle/>
              <a:p>
                <a:pPr>
                  <a:defRPr/>
                </a:pPr>
                <a:endParaRPr lang="en-US"/>
              </a:p>
            </p:txBody>
          </p:sp>
          <p:sp>
            <p:nvSpPr>
              <p:cNvPr id="17707" name="Rectangle 299"/>
              <p:cNvSpPr>
                <a:spLocks noChangeArrowheads="1"/>
              </p:cNvSpPr>
              <p:nvPr/>
            </p:nvSpPr>
            <p:spPr bwMode="auto">
              <a:xfrm>
                <a:off x="2661" y="3784"/>
                <a:ext cx="37" cy="44"/>
              </a:xfrm>
              <a:prstGeom prst="rect">
                <a:avLst/>
              </a:prstGeom>
              <a:grpFill/>
              <a:ln w="0">
                <a:solidFill>
                  <a:srgbClr val="000000"/>
                </a:solidFill>
                <a:miter lim="800000"/>
                <a:headEnd/>
                <a:tailEnd/>
              </a:ln>
            </p:spPr>
            <p:txBody>
              <a:bodyPr/>
              <a:lstStyle/>
              <a:p>
                <a:pPr>
                  <a:defRPr/>
                </a:pPr>
                <a:endParaRPr lang="en-US"/>
              </a:p>
            </p:txBody>
          </p:sp>
          <p:sp>
            <p:nvSpPr>
              <p:cNvPr id="17708" name="Rectangle 300"/>
              <p:cNvSpPr>
                <a:spLocks noChangeArrowheads="1"/>
              </p:cNvSpPr>
              <p:nvPr/>
            </p:nvSpPr>
            <p:spPr bwMode="auto">
              <a:xfrm>
                <a:off x="2603" y="3823"/>
                <a:ext cx="161" cy="14"/>
              </a:xfrm>
              <a:prstGeom prst="rect">
                <a:avLst/>
              </a:prstGeom>
              <a:grpFill/>
              <a:ln w="0">
                <a:solidFill>
                  <a:srgbClr val="000000"/>
                </a:solidFill>
                <a:miter lim="800000"/>
                <a:headEnd/>
                <a:tailEnd/>
              </a:ln>
            </p:spPr>
            <p:txBody>
              <a:bodyPr/>
              <a:lstStyle/>
              <a:p>
                <a:pPr>
                  <a:defRPr/>
                </a:pPr>
                <a:endParaRPr lang="en-US"/>
              </a:p>
            </p:txBody>
          </p:sp>
          <p:sp>
            <p:nvSpPr>
              <p:cNvPr id="17709" name="Line 301"/>
              <p:cNvSpPr>
                <a:spLocks noChangeShapeType="1"/>
              </p:cNvSpPr>
              <p:nvPr/>
            </p:nvSpPr>
            <p:spPr bwMode="auto">
              <a:xfrm flipV="1">
                <a:off x="2719" y="3750"/>
                <a:ext cx="137" cy="68"/>
              </a:xfrm>
              <a:prstGeom prst="line">
                <a:avLst/>
              </a:prstGeom>
              <a:grpFill/>
              <a:ln w="0">
                <a:solidFill>
                  <a:srgbClr val="000000"/>
                </a:solidFill>
                <a:round/>
                <a:headEnd/>
                <a:tailEnd/>
              </a:ln>
              <a:extLst/>
            </p:spPr>
            <p:txBody>
              <a:bodyPr/>
              <a:lstStyle/>
              <a:p>
                <a:pPr>
                  <a:defRPr/>
                </a:pPr>
                <a:endParaRPr lang="en-US"/>
              </a:p>
            </p:txBody>
          </p:sp>
          <p:sp>
            <p:nvSpPr>
              <p:cNvPr id="17710" name="Line 302"/>
              <p:cNvSpPr>
                <a:spLocks noChangeShapeType="1"/>
              </p:cNvSpPr>
              <p:nvPr/>
            </p:nvSpPr>
            <p:spPr bwMode="auto">
              <a:xfrm>
                <a:off x="2504" y="3745"/>
                <a:ext cx="144" cy="76"/>
              </a:xfrm>
              <a:prstGeom prst="line">
                <a:avLst/>
              </a:prstGeom>
              <a:grpFill/>
              <a:ln w="0">
                <a:solidFill>
                  <a:srgbClr val="000000"/>
                </a:solidFill>
                <a:round/>
                <a:headEnd/>
                <a:tailEnd/>
              </a:ln>
              <a:extLst/>
            </p:spPr>
            <p:txBody>
              <a:bodyPr/>
              <a:lstStyle/>
              <a:p>
                <a:pPr>
                  <a:defRPr/>
                </a:pPr>
                <a:endParaRPr lang="en-US"/>
              </a:p>
            </p:txBody>
          </p:sp>
          <p:sp>
            <p:nvSpPr>
              <p:cNvPr id="17711" name="Rectangle 303"/>
              <p:cNvSpPr>
                <a:spLocks noChangeArrowheads="1"/>
              </p:cNvSpPr>
              <p:nvPr/>
            </p:nvSpPr>
            <p:spPr bwMode="auto">
              <a:xfrm>
                <a:off x="2603" y="3836"/>
                <a:ext cx="161" cy="16"/>
              </a:xfrm>
              <a:prstGeom prst="rect">
                <a:avLst/>
              </a:prstGeom>
              <a:grpFill/>
              <a:ln w="0">
                <a:solidFill>
                  <a:srgbClr val="000000"/>
                </a:solidFill>
                <a:miter lim="800000"/>
                <a:headEnd/>
                <a:tailEnd/>
              </a:ln>
            </p:spPr>
            <p:txBody>
              <a:bodyPr/>
              <a:lstStyle/>
              <a:p>
                <a:pPr>
                  <a:defRPr/>
                </a:pPr>
                <a:endParaRPr lang="en-US"/>
              </a:p>
            </p:txBody>
          </p:sp>
          <p:sp>
            <p:nvSpPr>
              <p:cNvPr id="17712" name="Rectangle 304"/>
              <p:cNvSpPr>
                <a:spLocks noChangeArrowheads="1"/>
              </p:cNvSpPr>
              <p:nvPr/>
            </p:nvSpPr>
            <p:spPr bwMode="auto">
              <a:xfrm>
                <a:off x="2504" y="3744"/>
                <a:ext cx="15" cy="13"/>
              </a:xfrm>
              <a:prstGeom prst="rect">
                <a:avLst/>
              </a:prstGeom>
              <a:grpFill/>
              <a:ln w="0">
                <a:solidFill>
                  <a:srgbClr val="000000"/>
                </a:solidFill>
                <a:miter lim="800000"/>
                <a:headEnd/>
                <a:tailEnd/>
              </a:ln>
            </p:spPr>
            <p:txBody>
              <a:bodyPr/>
              <a:lstStyle/>
              <a:p>
                <a:pPr>
                  <a:defRPr/>
                </a:pPr>
                <a:endParaRPr lang="en-US"/>
              </a:p>
            </p:txBody>
          </p:sp>
          <p:sp>
            <p:nvSpPr>
              <p:cNvPr id="17713" name="Rectangle 305"/>
              <p:cNvSpPr>
                <a:spLocks noChangeArrowheads="1"/>
              </p:cNvSpPr>
              <p:nvPr/>
            </p:nvSpPr>
            <p:spPr bwMode="auto">
              <a:xfrm>
                <a:off x="2845" y="3744"/>
                <a:ext cx="13" cy="13"/>
              </a:xfrm>
              <a:prstGeom prst="rect">
                <a:avLst/>
              </a:prstGeom>
              <a:grpFill/>
              <a:ln w="0">
                <a:solidFill>
                  <a:srgbClr val="000000"/>
                </a:solidFill>
                <a:miter lim="800000"/>
                <a:headEnd/>
                <a:tailEnd/>
              </a:ln>
            </p:spPr>
            <p:txBody>
              <a:bodyPr/>
              <a:lstStyle/>
              <a:p>
                <a:pPr>
                  <a:defRPr/>
                </a:pPr>
                <a:endParaRPr lang="en-US"/>
              </a:p>
            </p:txBody>
          </p:sp>
          <p:sp>
            <p:nvSpPr>
              <p:cNvPr id="17714" name="Rectangle 306"/>
              <p:cNvSpPr>
                <a:spLocks noChangeArrowheads="1"/>
              </p:cNvSpPr>
              <p:nvPr/>
            </p:nvSpPr>
            <p:spPr bwMode="auto">
              <a:xfrm>
                <a:off x="2632" y="934"/>
                <a:ext cx="100" cy="25"/>
              </a:xfrm>
              <a:prstGeom prst="rect">
                <a:avLst/>
              </a:prstGeom>
              <a:grpFill/>
              <a:ln w="0">
                <a:solidFill>
                  <a:srgbClr val="000000"/>
                </a:solidFill>
                <a:miter lim="800000"/>
                <a:headEnd/>
                <a:tailEnd/>
              </a:ln>
            </p:spPr>
            <p:txBody>
              <a:bodyPr/>
              <a:lstStyle/>
              <a:p>
                <a:pPr>
                  <a:defRPr/>
                </a:pPr>
                <a:endParaRPr lang="en-US"/>
              </a:p>
            </p:txBody>
          </p:sp>
          <p:sp>
            <p:nvSpPr>
              <p:cNvPr id="17715" name="Line 307"/>
              <p:cNvSpPr>
                <a:spLocks noChangeShapeType="1"/>
              </p:cNvSpPr>
              <p:nvPr/>
            </p:nvSpPr>
            <p:spPr bwMode="auto">
              <a:xfrm flipV="1">
                <a:off x="2486" y="3542"/>
                <a:ext cx="18" cy="56"/>
              </a:xfrm>
              <a:prstGeom prst="line">
                <a:avLst/>
              </a:prstGeom>
              <a:grpFill/>
              <a:ln w="0">
                <a:solidFill>
                  <a:srgbClr val="000000"/>
                </a:solidFill>
                <a:round/>
                <a:headEnd/>
                <a:tailEnd/>
              </a:ln>
              <a:extLst/>
            </p:spPr>
            <p:txBody>
              <a:bodyPr/>
              <a:lstStyle/>
              <a:p>
                <a:pPr>
                  <a:defRPr/>
                </a:pPr>
                <a:endParaRPr lang="en-US"/>
              </a:p>
            </p:txBody>
          </p:sp>
          <p:sp>
            <p:nvSpPr>
              <p:cNvPr id="17716" name="Line 308"/>
              <p:cNvSpPr>
                <a:spLocks noChangeShapeType="1"/>
              </p:cNvSpPr>
              <p:nvPr/>
            </p:nvSpPr>
            <p:spPr bwMode="auto">
              <a:xfrm flipV="1">
                <a:off x="2520" y="1969"/>
                <a:ext cx="20" cy="49"/>
              </a:xfrm>
              <a:prstGeom prst="line">
                <a:avLst/>
              </a:prstGeom>
              <a:grpFill/>
              <a:ln w="0">
                <a:solidFill>
                  <a:srgbClr val="000000"/>
                </a:solidFill>
                <a:round/>
                <a:headEnd/>
                <a:tailEnd/>
              </a:ln>
              <a:extLst/>
            </p:spPr>
            <p:txBody>
              <a:bodyPr/>
              <a:lstStyle/>
              <a:p>
                <a:pPr>
                  <a:defRPr/>
                </a:pPr>
                <a:endParaRPr lang="en-US"/>
              </a:p>
            </p:txBody>
          </p:sp>
          <p:sp>
            <p:nvSpPr>
              <p:cNvPr id="17717" name="Line 309"/>
              <p:cNvSpPr>
                <a:spLocks noChangeShapeType="1"/>
              </p:cNvSpPr>
              <p:nvPr/>
            </p:nvSpPr>
            <p:spPr bwMode="auto">
              <a:xfrm>
                <a:off x="2520" y="2548"/>
                <a:ext cx="322" cy="1"/>
              </a:xfrm>
              <a:prstGeom prst="line">
                <a:avLst/>
              </a:prstGeom>
              <a:grpFill/>
              <a:ln w="0">
                <a:solidFill>
                  <a:srgbClr val="000000"/>
                </a:solidFill>
                <a:round/>
                <a:headEnd/>
                <a:tailEnd/>
              </a:ln>
              <a:extLst/>
            </p:spPr>
            <p:txBody>
              <a:bodyPr/>
              <a:lstStyle/>
              <a:p>
                <a:pPr>
                  <a:defRPr/>
                </a:pPr>
                <a:endParaRPr lang="en-US"/>
              </a:p>
            </p:txBody>
          </p:sp>
          <p:sp>
            <p:nvSpPr>
              <p:cNvPr id="17718" name="Rectangle 310"/>
              <p:cNvSpPr>
                <a:spLocks noChangeArrowheads="1"/>
              </p:cNvSpPr>
              <p:nvPr/>
            </p:nvSpPr>
            <p:spPr bwMode="auto">
              <a:xfrm>
                <a:off x="2700" y="2781"/>
                <a:ext cx="1" cy="1"/>
              </a:xfrm>
              <a:prstGeom prst="rect">
                <a:avLst/>
              </a:prstGeom>
              <a:grpFill/>
              <a:ln w="0">
                <a:solidFill>
                  <a:srgbClr val="FFFFFF"/>
                </a:solidFill>
                <a:miter lim="800000"/>
                <a:headEnd/>
                <a:tailEnd/>
              </a:ln>
            </p:spPr>
            <p:txBody>
              <a:bodyPr/>
              <a:lstStyle/>
              <a:p>
                <a:pPr>
                  <a:defRPr/>
                </a:pPr>
                <a:endParaRPr lang="en-US"/>
              </a:p>
            </p:txBody>
          </p:sp>
          <p:sp>
            <p:nvSpPr>
              <p:cNvPr id="17719" name="Rectangle 311"/>
              <p:cNvSpPr>
                <a:spLocks noChangeArrowheads="1"/>
              </p:cNvSpPr>
              <p:nvPr/>
            </p:nvSpPr>
            <p:spPr bwMode="auto">
              <a:xfrm>
                <a:off x="2520" y="2603"/>
                <a:ext cx="322" cy="90"/>
              </a:xfrm>
              <a:prstGeom prst="rect">
                <a:avLst/>
              </a:prstGeom>
              <a:grpFill/>
              <a:ln w="0">
                <a:solidFill>
                  <a:srgbClr val="000000"/>
                </a:solidFill>
                <a:miter lim="800000"/>
                <a:headEnd/>
                <a:tailEnd/>
              </a:ln>
            </p:spPr>
            <p:txBody>
              <a:bodyPr/>
              <a:lstStyle/>
              <a:p>
                <a:pPr>
                  <a:defRPr/>
                </a:pPr>
                <a:endParaRPr lang="en-US"/>
              </a:p>
            </p:txBody>
          </p:sp>
          <p:sp>
            <p:nvSpPr>
              <p:cNvPr id="17720" name="Rectangle 312"/>
              <p:cNvSpPr>
                <a:spLocks noChangeArrowheads="1"/>
              </p:cNvSpPr>
              <p:nvPr/>
            </p:nvSpPr>
            <p:spPr bwMode="auto">
              <a:xfrm>
                <a:off x="2520" y="2706"/>
                <a:ext cx="322" cy="91"/>
              </a:xfrm>
              <a:prstGeom prst="rect">
                <a:avLst/>
              </a:prstGeom>
              <a:grpFill/>
              <a:ln w="0">
                <a:solidFill>
                  <a:srgbClr val="000000"/>
                </a:solidFill>
                <a:miter lim="800000"/>
                <a:headEnd/>
                <a:tailEnd/>
              </a:ln>
            </p:spPr>
            <p:txBody>
              <a:bodyPr/>
              <a:lstStyle/>
              <a:p>
                <a:pPr>
                  <a:defRPr/>
                </a:pPr>
                <a:endParaRPr lang="en-US"/>
              </a:p>
            </p:txBody>
          </p:sp>
          <p:sp>
            <p:nvSpPr>
              <p:cNvPr id="17721" name="Rectangle 313"/>
              <p:cNvSpPr>
                <a:spLocks noChangeArrowheads="1"/>
              </p:cNvSpPr>
              <p:nvPr/>
            </p:nvSpPr>
            <p:spPr bwMode="auto">
              <a:xfrm>
                <a:off x="2504" y="2693"/>
                <a:ext cx="393" cy="15"/>
              </a:xfrm>
              <a:prstGeom prst="rect">
                <a:avLst/>
              </a:prstGeom>
              <a:grpFill/>
              <a:ln w="0">
                <a:solidFill>
                  <a:srgbClr val="000000"/>
                </a:solidFill>
                <a:miter lim="800000"/>
                <a:headEnd/>
                <a:tailEnd/>
              </a:ln>
            </p:spPr>
            <p:txBody>
              <a:bodyPr/>
              <a:lstStyle/>
              <a:p>
                <a:pPr>
                  <a:defRPr/>
                </a:pPr>
                <a:endParaRPr lang="en-US"/>
              </a:p>
            </p:txBody>
          </p:sp>
          <p:sp>
            <p:nvSpPr>
              <p:cNvPr id="17722" name="Line 314"/>
              <p:cNvSpPr>
                <a:spLocks noChangeShapeType="1"/>
              </p:cNvSpPr>
              <p:nvPr/>
            </p:nvSpPr>
            <p:spPr bwMode="auto">
              <a:xfrm>
                <a:off x="2900" y="2790"/>
                <a:ext cx="1" cy="28"/>
              </a:xfrm>
              <a:prstGeom prst="line">
                <a:avLst/>
              </a:prstGeom>
              <a:grpFill/>
              <a:ln w="0">
                <a:solidFill>
                  <a:srgbClr val="000000"/>
                </a:solidFill>
                <a:round/>
                <a:headEnd/>
                <a:tailEnd/>
              </a:ln>
              <a:extLst/>
            </p:spPr>
            <p:txBody>
              <a:bodyPr/>
              <a:lstStyle/>
              <a:p>
                <a:pPr>
                  <a:defRPr/>
                </a:pPr>
                <a:endParaRPr lang="en-US"/>
              </a:p>
            </p:txBody>
          </p:sp>
          <p:sp>
            <p:nvSpPr>
              <p:cNvPr id="17723" name="Line 315"/>
              <p:cNvSpPr>
                <a:spLocks noChangeShapeType="1"/>
              </p:cNvSpPr>
              <p:nvPr/>
            </p:nvSpPr>
            <p:spPr bwMode="auto">
              <a:xfrm>
                <a:off x="2905" y="2790"/>
                <a:ext cx="1" cy="28"/>
              </a:xfrm>
              <a:prstGeom prst="line">
                <a:avLst/>
              </a:prstGeom>
              <a:grpFill/>
              <a:ln w="0">
                <a:solidFill>
                  <a:srgbClr val="000000"/>
                </a:solidFill>
                <a:round/>
                <a:headEnd/>
                <a:tailEnd/>
              </a:ln>
              <a:extLst/>
            </p:spPr>
            <p:txBody>
              <a:bodyPr/>
              <a:lstStyle/>
              <a:p>
                <a:pPr>
                  <a:defRPr/>
                </a:pPr>
                <a:endParaRPr lang="en-US"/>
              </a:p>
            </p:txBody>
          </p:sp>
          <p:sp>
            <p:nvSpPr>
              <p:cNvPr id="17724" name="Rectangle 316"/>
              <p:cNvSpPr>
                <a:spLocks noChangeArrowheads="1"/>
              </p:cNvSpPr>
              <p:nvPr/>
            </p:nvSpPr>
            <p:spPr bwMode="auto">
              <a:xfrm>
                <a:off x="2504" y="2797"/>
                <a:ext cx="393" cy="14"/>
              </a:xfrm>
              <a:prstGeom prst="rect">
                <a:avLst/>
              </a:prstGeom>
              <a:grpFill/>
              <a:ln w="0">
                <a:solidFill>
                  <a:srgbClr val="000000"/>
                </a:solidFill>
                <a:miter lim="800000"/>
                <a:headEnd/>
                <a:tailEnd/>
              </a:ln>
            </p:spPr>
            <p:txBody>
              <a:bodyPr/>
              <a:lstStyle/>
              <a:p>
                <a:pPr>
                  <a:defRPr/>
                </a:pPr>
                <a:endParaRPr lang="en-US"/>
              </a:p>
            </p:txBody>
          </p:sp>
          <p:sp>
            <p:nvSpPr>
              <p:cNvPr id="17725" name="Line 317"/>
              <p:cNvSpPr>
                <a:spLocks noChangeShapeType="1"/>
              </p:cNvSpPr>
              <p:nvPr/>
            </p:nvSpPr>
            <p:spPr bwMode="auto">
              <a:xfrm>
                <a:off x="2842" y="2548"/>
                <a:ext cx="16" cy="53"/>
              </a:xfrm>
              <a:prstGeom prst="line">
                <a:avLst/>
              </a:prstGeom>
              <a:grpFill/>
              <a:ln w="0">
                <a:solidFill>
                  <a:srgbClr val="000000"/>
                </a:solidFill>
                <a:round/>
                <a:headEnd/>
                <a:tailEnd/>
              </a:ln>
              <a:extLst/>
            </p:spPr>
            <p:txBody>
              <a:bodyPr/>
              <a:lstStyle/>
              <a:p>
                <a:pPr>
                  <a:defRPr/>
                </a:pPr>
                <a:endParaRPr lang="en-US"/>
              </a:p>
            </p:txBody>
          </p:sp>
          <p:sp>
            <p:nvSpPr>
              <p:cNvPr id="17726" name="Line 318"/>
              <p:cNvSpPr>
                <a:spLocks noChangeShapeType="1"/>
              </p:cNvSpPr>
              <p:nvPr/>
            </p:nvSpPr>
            <p:spPr bwMode="auto">
              <a:xfrm flipV="1">
                <a:off x="2504" y="2545"/>
                <a:ext cx="16" cy="58"/>
              </a:xfrm>
              <a:prstGeom prst="line">
                <a:avLst/>
              </a:prstGeom>
              <a:grpFill/>
              <a:ln w="0">
                <a:solidFill>
                  <a:srgbClr val="000000"/>
                </a:solidFill>
                <a:round/>
                <a:headEnd/>
                <a:tailEnd/>
              </a:ln>
              <a:extLst/>
            </p:spPr>
            <p:txBody>
              <a:bodyPr/>
              <a:lstStyle/>
              <a:p>
                <a:pPr>
                  <a:defRPr/>
                </a:pPr>
                <a:endParaRPr lang="en-US"/>
              </a:p>
            </p:txBody>
          </p:sp>
          <p:sp>
            <p:nvSpPr>
              <p:cNvPr id="17727" name="Freeform 319"/>
              <p:cNvSpPr>
                <a:spLocks/>
              </p:cNvSpPr>
              <p:nvPr/>
            </p:nvSpPr>
            <p:spPr bwMode="auto">
              <a:xfrm>
                <a:off x="2756" y="1918"/>
                <a:ext cx="33" cy="16"/>
              </a:xfrm>
              <a:custGeom>
                <a:avLst/>
                <a:gdLst>
                  <a:gd name="T0" fmla="*/ 0 w 33"/>
                  <a:gd name="T1" fmla="*/ 0 h 16"/>
                  <a:gd name="T2" fmla="*/ 0 w 33"/>
                  <a:gd name="T3" fmla="*/ 16 h 16"/>
                  <a:gd name="T4" fmla="*/ 33 w 33"/>
                  <a:gd name="T5" fmla="*/ 16 h 16"/>
                  <a:gd name="T6" fmla="*/ 33 w 33"/>
                  <a:gd name="T7" fmla="*/ 0 h 16"/>
                  <a:gd name="T8" fmla="*/ 28 w 33"/>
                  <a:gd name="T9" fmla="*/ 0 h 16"/>
                  <a:gd name="T10" fmla="*/ 28 w 33"/>
                  <a:gd name="T11" fmla="*/ 6 h 16"/>
                  <a:gd name="T12" fmla="*/ 3 w 33"/>
                  <a:gd name="T13" fmla="*/ 6 h 16"/>
                  <a:gd name="T14" fmla="*/ 3 w 33"/>
                  <a:gd name="T15" fmla="*/ 0 h 16"/>
                  <a:gd name="T16" fmla="*/ 0 w 33"/>
                  <a:gd name="T17"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 h="16">
                    <a:moveTo>
                      <a:pt x="0" y="0"/>
                    </a:moveTo>
                    <a:lnTo>
                      <a:pt x="0" y="16"/>
                    </a:lnTo>
                    <a:lnTo>
                      <a:pt x="33" y="16"/>
                    </a:lnTo>
                    <a:lnTo>
                      <a:pt x="33" y="0"/>
                    </a:lnTo>
                    <a:lnTo>
                      <a:pt x="28" y="0"/>
                    </a:lnTo>
                    <a:lnTo>
                      <a:pt x="28" y="6"/>
                    </a:lnTo>
                    <a:lnTo>
                      <a:pt x="3" y="6"/>
                    </a:lnTo>
                    <a:lnTo>
                      <a:pt x="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7728" name="Rectangle 320"/>
              <p:cNvSpPr>
                <a:spLocks noChangeArrowheads="1"/>
              </p:cNvSpPr>
              <p:nvPr/>
            </p:nvSpPr>
            <p:spPr bwMode="auto">
              <a:xfrm>
                <a:off x="2756" y="1905"/>
                <a:ext cx="3" cy="1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729" name="Rectangle 321"/>
              <p:cNvSpPr>
                <a:spLocks noChangeArrowheads="1"/>
              </p:cNvSpPr>
              <p:nvPr/>
            </p:nvSpPr>
            <p:spPr bwMode="auto">
              <a:xfrm>
                <a:off x="2784" y="1905"/>
                <a:ext cx="5" cy="1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730" name="Rectangle 322"/>
              <p:cNvSpPr>
                <a:spLocks noChangeArrowheads="1"/>
              </p:cNvSpPr>
              <p:nvPr/>
            </p:nvSpPr>
            <p:spPr bwMode="auto">
              <a:xfrm>
                <a:off x="2756" y="1892"/>
                <a:ext cx="3" cy="1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731" name="Rectangle 323"/>
              <p:cNvSpPr>
                <a:spLocks noChangeArrowheads="1"/>
              </p:cNvSpPr>
              <p:nvPr/>
            </p:nvSpPr>
            <p:spPr bwMode="auto">
              <a:xfrm>
                <a:off x="2784" y="1892"/>
                <a:ext cx="5" cy="1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732" name="Rectangle 324"/>
              <p:cNvSpPr>
                <a:spLocks noChangeArrowheads="1"/>
              </p:cNvSpPr>
              <p:nvPr/>
            </p:nvSpPr>
            <p:spPr bwMode="auto">
              <a:xfrm>
                <a:off x="2756" y="1879"/>
                <a:ext cx="3" cy="1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733" name="Rectangle 325"/>
              <p:cNvSpPr>
                <a:spLocks noChangeArrowheads="1"/>
              </p:cNvSpPr>
              <p:nvPr/>
            </p:nvSpPr>
            <p:spPr bwMode="auto">
              <a:xfrm>
                <a:off x="2784" y="1879"/>
                <a:ext cx="5" cy="1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734" name="Freeform 326"/>
              <p:cNvSpPr>
                <a:spLocks/>
              </p:cNvSpPr>
              <p:nvPr/>
            </p:nvSpPr>
            <p:spPr bwMode="auto">
              <a:xfrm>
                <a:off x="2740" y="1868"/>
                <a:ext cx="19" cy="14"/>
              </a:xfrm>
              <a:custGeom>
                <a:avLst/>
                <a:gdLst>
                  <a:gd name="T0" fmla="*/ 2 w 19"/>
                  <a:gd name="T1" fmla="*/ 0 h 14"/>
                  <a:gd name="T2" fmla="*/ 2 w 19"/>
                  <a:gd name="T3" fmla="*/ 1 h 14"/>
                  <a:gd name="T4" fmla="*/ 0 w 19"/>
                  <a:gd name="T5" fmla="*/ 1 h 14"/>
                  <a:gd name="T6" fmla="*/ 0 w 19"/>
                  <a:gd name="T7" fmla="*/ 4 h 14"/>
                  <a:gd name="T8" fmla="*/ 16 w 19"/>
                  <a:gd name="T9" fmla="*/ 4 h 14"/>
                  <a:gd name="T10" fmla="*/ 16 w 19"/>
                  <a:gd name="T11" fmla="*/ 14 h 14"/>
                  <a:gd name="T12" fmla="*/ 19 w 19"/>
                  <a:gd name="T13" fmla="*/ 14 h 14"/>
                  <a:gd name="T14" fmla="*/ 19 w 19"/>
                  <a:gd name="T15" fmla="*/ 0 h 14"/>
                  <a:gd name="T16" fmla="*/ 2 w 19"/>
                  <a:gd name="T17"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14">
                    <a:moveTo>
                      <a:pt x="2" y="0"/>
                    </a:moveTo>
                    <a:lnTo>
                      <a:pt x="2" y="1"/>
                    </a:lnTo>
                    <a:lnTo>
                      <a:pt x="0" y="1"/>
                    </a:lnTo>
                    <a:lnTo>
                      <a:pt x="0" y="4"/>
                    </a:lnTo>
                    <a:lnTo>
                      <a:pt x="16" y="4"/>
                    </a:lnTo>
                    <a:lnTo>
                      <a:pt x="16" y="14"/>
                    </a:lnTo>
                    <a:lnTo>
                      <a:pt x="19" y="14"/>
                    </a:lnTo>
                    <a:lnTo>
                      <a:pt x="19" y="0"/>
                    </a:lnTo>
                    <a:lnTo>
                      <a:pt x="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7735" name="Freeform 327"/>
              <p:cNvSpPr>
                <a:spLocks/>
              </p:cNvSpPr>
              <p:nvPr/>
            </p:nvSpPr>
            <p:spPr bwMode="auto">
              <a:xfrm>
                <a:off x="2784" y="1868"/>
                <a:ext cx="19" cy="14"/>
              </a:xfrm>
              <a:custGeom>
                <a:avLst/>
                <a:gdLst>
                  <a:gd name="T0" fmla="*/ 0 w 19"/>
                  <a:gd name="T1" fmla="*/ 0 h 14"/>
                  <a:gd name="T2" fmla="*/ 0 w 19"/>
                  <a:gd name="T3" fmla="*/ 14 h 14"/>
                  <a:gd name="T4" fmla="*/ 5 w 19"/>
                  <a:gd name="T5" fmla="*/ 14 h 14"/>
                  <a:gd name="T6" fmla="*/ 5 w 19"/>
                  <a:gd name="T7" fmla="*/ 4 h 14"/>
                  <a:gd name="T8" fmla="*/ 19 w 19"/>
                  <a:gd name="T9" fmla="*/ 4 h 14"/>
                  <a:gd name="T10" fmla="*/ 19 w 19"/>
                  <a:gd name="T11" fmla="*/ 0 h 14"/>
                  <a:gd name="T12" fmla="*/ 0 w 19"/>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19" h="14">
                    <a:moveTo>
                      <a:pt x="0" y="0"/>
                    </a:moveTo>
                    <a:lnTo>
                      <a:pt x="0" y="14"/>
                    </a:lnTo>
                    <a:lnTo>
                      <a:pt x="5" y="14"/>
                    </a:lnTo>
                    <a:lnTo>
                      <a:pt x="5" y="4"/>
                    </a:lnTo>
                    <a:lnTo>
                      <a:pt x="19" y="4"/>
                    </a:lnTo>
                    <a:lnTo>
                      <a:pt x="19"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7736" name="Freeform 328"/>
              <p:cNvSpPr>
                <a:spLocks/>
              </p:cNvSpPr>
              <p:nvPr/>
            </p:nvSpPr>
            <p:spPr bwMode="auto">
              <a:xfrm>
                <a:off x="2740" y="1856"/>
                <a:ext cx="19" cy="15"/>
              </a:xfrm>
              <a:custGeom>
                <a:avLst/>
                <a:gdLst>
                  <a:gd name="T0" fmla="*/ 5 w 19"/>
                  <a:gd name="T1" fmla="*/ 0 h 15"/>
                  <a:gd name="T2" fmla="*/ 5 w 19"/>
                  <a:gd name="T3" fmla="*/ 5 h 15"/>
                  <a:gd name="T4" fmla="*/ 3 w 19"/>
                  <a:gd name="T5" fmla="*/ 5 h 15"/>
                  <a:gd name="T6" fmla="*/ 3 w 19"/>
                  <a:gd name="T7" fmla="*/ 8 h 15"/>
                  <a:gd name="T8" fmla="*/ 2 w 19"/>
                  <a:gd name="T9" fmla="*/ 8 h 15"/>
                  <a:gd name="T10" fmla="*/ 2 w 19"/>
                  <a:gd name="T11" fmla="*/ 13 h 15"/>
                  <a:gd name="T12" fmla="*/ 0 w 19"/>
                  <a:gd name="T13" fmla="*/ 13 h 15"/>
                  <a:gd name="T14" fmla="*/ 0 w 19"/>
                  <a:gd name="T15" fmla="*/ 15 h 15"/>
                  <a:gd name="T16" fmla="*/ 19 w 19"/>
                  <a:gd name="T17" fmla="*/ 15 h 15"/>
                  <a:gd name="T18" fmla="*/ 19 w 19"/>
                  <a:gd name="T19" fmla="*/ 7 h 15"/>
                  <a:gd name="T20" fmla="*/ 8 w 19"/>
                  <a:gd name="T21" fmla="*/ 7 h 15"/>
                  <a:gd name="T22" fmla="*/ 8 w 19"/>
                  <a:gd name="T23" fmla="*/ 5 h 15"/>
                  <a:gd name="T24" fmla="*/ 10 w 19"/>
                  <a:gd name="T25" fmla="*/ 5 h 15"/>
                  <a:gd name="T26" fmla="*/ 10 w 19"/>
                  <a:gd name="T27" fmla="*/ 2 h 15"/>
                  <a:gd name="T28" fmla="*/ 11 w 19"/>
                  <a:gd name="T29" fmla="*/ 2 h 15"/>
                  <a:gd name="T30" fmla="*/ 11 w 19"/>
                  <a:gd name="T31" fmla="*/ 0 h 15"/>
                  <a:gd name="T32" fmla="*/ 5 w 19"/>
                  <a:gd name="T33" fmla="*/ 0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9" h="15">
                    <a:moveTo>
                      <a:pt x="5" y="0"/>
                    </a:moveTo>
                    <a:lnTo>
                      <a:pt x="5" y="5"/>
                    </a:lnTo>
                    <a:lnTo>
                      <a:pt x="3" y="5"/>
                    </a:lnTo>
                    <a:lnTo>
                      <a:pt x="3" y="8"/>
                    </a:lnTo>
                    <a:lnTo>
                      <a:pt x="2" y="8"/>
                    </a:lnTo>
                    <a:lnTo>
                      <a:pt x="2" y="13"/>
                    </a:lnTo>
                    <a:lnTo>
                      <a:pt x="0" y="13"/>
                    </a:lnTo>
                    <a:lnTo>
                      <a:pt x="0" y="15"/>
                    </a:lnTo>
                    <a:lnTo>
                      <a:pt x="19" y="15"/>
                    </a:lnTo>
                    <a:lnTo>
                      <a:pt x="19" y="7"/>
                    </a:lnTo>
                    <a:lnTo>
                      <a:pt x="8" y="7"/>
                    </a:lnTo>
                    <a:lnTo>
                      <a:pt x="8" y="5"/>
                    </a:lnTo>
                    <a:lnTo>
                      <a:pt x="10" y="5"/>
                    </a:lnTo>
                    <a:lnTo>
                      <a:pt x="10" y="2"/>
                    </a:lnTo>
                    <a:lnTo>
                      <a:pt x="11" y="2"/>
                    </a:lnTo>
                    <a:lnTo>
                      <a:pt x="11" y="0"/>
                    </a:lnTo>
                    <a:lnTo>
                      <a:pt x="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7737" name="Freeform 329"/>
              <p:cNvSpPr>
                <a:spLocks/>
              </p:cNvSpPr>
              <p:nvPr/>
            </p:nvSpPr>
            <p:spPr bwMode="auto">
              <a:xfrm>
                <a:off x="2784" y="1856"/>
                <a:ext cx="19" cy="15"/>
              </a:xfrm>
              <a:custGeom>
                <a:avLst/>
                <a:gdLst>
                  <a:gd name="T0" fmla="*/ 9 w 19"/>
                  <a:gd name="T1" fmla="*/ 0 h 15"/>
                  <a:gd name="T2" fmla="*/ 9 w 19"/>
                  <a:gd name="T3" fmla="*/ 4 h 15"/>
                  <a:gd name="T4" fmla="*/ 11 w 19"/>
                  <a:gd name="T5" fmla="*/ 4 h 15"/>
                  <a:gd name="T6" fmla="*/ 11 w 19"/>
                  <a:gd name="T7" fmla="*/ 7 h 15"/>
                  <a:gd name="T8" fmla="*/ 0 w 19"/>
                  <a:gd name="T9" fmla="*/ 7 h 15"/>
                  <a:gd name="T10" fmla="*/ 0 w 19"/>
                  <a:gd name="T11" fmla="*/ 15 h 15"/>
                  <a:gd name="T12" fmla="*/ 19 w 19"/>
                  <a:gd name="T13" fmla="*/ 15 h 15"/>
                  <a:gd name="T14" fmla="*/ 19 w 19"/>
                  <a:gd name="T15" fmla="*/ 12 h 15"/>
                  <a:gd name="T16" fmla="*/ 17 w 19"/>
                  <a:gd name="T17" fmla="*/ 12 h 15"/>
                  <a:gd name="T18" fmla="*/ 17 w 19"/>
                  <a:gd name="T19" fmla="*/ 7 h 15"/>
                  <a:gd name="T20" fmla="*/ 16 w 19"/>
                  <a:gd name="T21" fmla="*/ 7 h 15"/>
                  <a:gd name="T22" fmla="*/ 16 w 19"/>
                  <a:gd name="T23" fmla="*/ 4 h 15"/>
                  <a:gd name="T24" fmla="*/ 14 w 19"/>
                  <a:gd name="T25" fmla="*/ 4 h 15"/>
                  <a:gd name="T26" fmla="*/ 14 w 19"/>
                  <a:gd name="T27" fmla="*/ 0 h 15"/>
                  <a:gd name="T28" fmla="*/ 9 w 19"/>
                  <a:gd name="T29" fmla="*/ 0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 h="15">
                    <a:moveTo>
                      <a:pt x="9" y="0"/>
                    </a:moveTo>
                    <a:lnTo>
                      <a:pt x="9" y="4"/>
                    </a:lnTo>
                    <a:lnTo>
                      <a:pt x="11" y="4"/>
                    </a:lnTo>
                    <a:lnTo>
                      <a:pt x="11" y="7"/>
                    </a:lnTo>
                    <a:lnTo>
                      <a:pt x="0" y="7"/>
                    </a:lnTo>
                    <a:lnTo>
                      <a:pt x="0" y="15"/>
                    </a:lnTo>
                    <a:lnTo>
                      <a:pt x="19" y="15"/>
                    </a:lnTo>
                    <a:lnTo>
                      <a:pt x="19" y="12"/>
                    </a:lnTo>
                    <a:lnTo>
                      <a:pt x="17" y="12"/>
                    </a:lnTo>
                    <a:lnTo>
                      <a:pt x="17" y="7"/>
                    </a:lnTo>
                    <a:lnTo>
                      <a:pt x="16" y="7"/>
                    </a:lnTo>
                    <a:lnTo>
                      <a:pt x="16" y="4"/>
                    </a:lnTo>
                    <a:lnTo>
                      <a:pt x="14" y="4"/>
                    </a:lnTo>
                    <a:lnTo>
                      <a:pt x="14" y="0"/>
                    </a:lnTo>
                    <a:lnTo>
                      <a:pt x="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7738" name="Freeform 330"/>
              <p:cNvSpPr>
                <a:spLocks/>
              </p:cNvSpPr>
              <p:nvPr/>
            </p:nvSpPr>
            <p:spPr bwMode="auto">
              <a:xfrm>
                <a:off x="2745" y="1845"/>
                <a:ext cx="10" cy="15"/>
              </a:xfrm>
              <a:custGeom>
                <a:avLst/>
                <a:gdLst>
                  <a:gd name="T0" fmla="*/ 5 w 10"/>
                  <a:gd name="T1" fmla="*/ 0 h 15"/>
                  <a:gd name="T2" fmla="*/ 5 w 10"/>
                  <a:gd name="T3" fmla="*/ 3 h 15"/>
                  <a:gd name="T4" fmla="*/ 3 w 10"/>
                  <a:gd name="T5" fmla="*/ 3 h 15"/>
                  <a:gd name="T6" fmla="*/ 3 w 10"/>
                  <a:gd name="T7" fmla="*/ 8 h 15"/>
                  <a:gd name="T8" fmla="*/ 1 w 10"/>
                  <a:gd name="T9" fmla="*/ 8 h 15"/>
                  <a:gd name="T10" fmla="*/ 1 w 10"/>
                  <a:gd name="T11" fmla="*/ 11 h 15"/>
                  <a:gd name="T12" fmla="*/ 0 w 10"/>
                  <a:gd name="T13" fmla="*/ 11 h 15"/>
                  <a:gd name="T14" fmla="*/ 0 w 10"/>
                  <a:gd name="T15" fmla="*/ 15 h 15"/>
                  <a:gd name="T16" fmla="*/ 5 w 10"/>
                  <a:gd name="T17" fmla="*/ 15 h 15"/>
                  <a:gd name="T18" fmla="*/ 5 w 10"/>
                  <a:gd name="T19" fmla="*/ 13 h 15"/>
                  <a:gd name="T20" fmla="*/ 6 w 10"/>
                  <a:gd name="T21" fmla="*/ 13 h 15"/>
                  <a:gd name="T22" fmla="*/ 6 w 10"/>
                  <a:gd name="T23" fmla="*/ 8 h 15"/>
                  <a:gd name="T24" fmla="*/ 8 w 10"/>
                  <a:gd name="T25" fmla="*/ 8 h 15"/>
                  <a:gd name="T26" fmla="*/ 8 w 10"/>
                  <a:gd name="T27" fmla="*/ 5 h 15"/>
                  <a:gd name="T28" fmla="*/ 10 w 10"/>
                  <a:gd name="T29" fmla="*/ 5 h 15"/>
                  <a:gd name="T30" fmla="*/ 10 w 10"/>
                  <a:gd name="T31" fmla="*/ 0 h 15"/>
                  <a:gd name="T32" fmla="*/ 5 w 10"/>
                  <a:gd name="T33" fmla="*/ 0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 h="15">
                    <a:moveTo>
                      <a:pt x="5" y="0"/>
                    </a:moveTo>
                    <a:lnTo>
                      <a:pt x="5" y="3"/>
                    </a:lnTo>
                    <a:lnTo>
                      <a:pt x="3" y="3"/>
                    </a:lnTo>
                    <a:lnTo>
                      <a:pt x="3" y="8"/>
                    </a:lnTo>
                    <a:lnTo>
                      <a:pt x="1" y="8"/>
                    </a:lnTo>
                    <a:lnTo>
                      <a:pt x="1" y="11"/>
                    </a:lnTo>
                    <a:lnTo>
                      <a:pt x="0" y="11"/>
                    </a:lnTo>
                    <a:lnTo>
                      <a:pt x="0" y="15"/>
                    </a:lnTo>
                    <a:lnTo>
                      <a:pt x="5" y="15"/>
                    </a:lnTo>
                    <a:lnTo>
                      <a:pt x="5" y="13"/>
                    </a:lnTo>
                    <a:lnTo>
                      <a:pt x="6" y="13"/>
                    </a:lnTo>
                    <a:lnTo>
                      <a:pt x="6" y="8"/>
                    </a:lnTo>
                    <a:lnTo>
                      <a:pt x="8" y="8"/>
                    </a:lnTo>
                    <a:lnTo>
                      <a:pt x="8" y="5"/>
                    </a:lnTo>
                    <a:lnTo>
                      <a:pt x="10" y="5"/>
                    </a:lnTo>
                    <a:lnTo>
                      <a:pt x="10" y="0"/>
                    </a:lnTo>
                    <a:lnTo>
                      <a:pt x="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7739" name="Freeform 331"/>
              <p:cNvSpPr>
                <a:spLocks/>
              </p:cNvSpPr>
              <p:nvPr/>
            </p:nvSpPr>
            <p:spPr bwMode="auto">
              <a:xfrm>
                <a:off x="2789" y="1845"/>
                <a:ext cx="9" cy="15"/>
              </a:xfrm>
              <a:custGeom>
                <a:avLst/>
                <a:gdLst>
                  <a:gd name="T0" fmla="*/ 0 w 9"/>
                  <a:gd name="T1" fmla="*/ 0 h 15"/>
                  <a:gd name="T2" fmla="*/ 0 w 9"/>
                  <a:gd name="T3" fmla="*/ 3 h 15"/>
                  <a:gd name="T4" fmla="*/ 1 w 9"/>
                  <a:gd name="T5" fmla="*/ 3 h 15"/>
                  <a:gd name="T6" fmla="*/ 1 w 9"/>
                  <a:gd name="T7" fmla="*/ 6 h 15"/>
                  <a:gd name="T8" fmla="*/ 3 w 9"/>
                  <a:gd name="T9" fmla="*/ 6 h 15"/>
                  <a:gd name="T10" fmla="*/ 3 w 9"/>
                  <a:gd name="T11" fmla="*/ 11 h 15"/>
                  <a:gd name="T12" fmla="*/ 4 w 9"/>
                  <a:gd name="T13" fmla="*/ 11 h 15"/>
                  <a:gd name="T14" fmla="*/ 4 w 9"/>
                  <a:gd name="T15" fmla="*/ 15 h 15"/>
                  <a:gd name="T16" fmla="*/ 9 w 9"/>
                  <a:gd name="T17" fmla="*/ 15 h 15"/>
                  <a:gd name="T18" fmla="*/ 9 w 9"/>
                  <a:gd name="T19" fmla="*/ 10 h 15"/>
                  <a:gd name="T20" fmla="*/ 8 w 9"/>
                  <a:gd name="T21" fmla="*/ 10 h 15"/>
                  <a:gd name="T22" fmla="*/ 8 w 9"/>
                  <a:gd name="T23" fmla="*/ 6 h 15"/>
                  <a:gd name="T24" fmla="*/ 6 w 9"/>
                  <a:gd name="T25" fmla="*/ 6 h 15"/>
                  <a:gd name="T26" fmla="*/ 6 w 9"/>
                  <a:gd name="T27" fmla="*/ 2 h 15"/>
                  <a:gd name="T28" fmla="*/ 4 w 9"/>
                  <a:gd name="T29" fmla="*/ 2 h 15"/>
                  <a:gd name="T30" fmla="*/ 4 w 9"/>
                  <a:gd name="T31" fmla="*/ 0 h 15"/>
                  <a:gd name="T32" fmla="*/ 0 w 9"/>
                  <a:gd name="T33" fmla="*/ 0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0" y="0"/>
                    </a:moveTo>
                    <a:lnTo>
                      <a:pt x="0" y="3"/>
                    </a:lnTo>
                    <a:lnTo>
                      <a:pt x="1" y="3"/>
                    </a:lnTo>
                    <a:lnTo>
                      <a:pt x="1" y="6"/>
                    </a:lnTo>
                    <a:lnTo>
                      <a:pt x="3" y="6"/>
                    </a:lnTo>
                    <a:lnTo>
                      <a:pt x="3" y="11"/>
                    </a:lnTo>
                    <a:lnTo>
                      <a:pt x="4" y="11"/>
                    </a:lnTo>
                    <a:lnTo>
                      <a:pt x="4" y="15"/>
                    </a:lnTo>
                    <a:lnTo>
                      <a:pt x="9" y="15"/>
                    </a:lnTo>
                    <a:lnTo>
                      <a:pt x="9" y="10"/>
                    </a:lnTo>
                    <a:lnTo>
                      <a:pt x="8" y="10"/>
                    </a:lnTo>
                    <a:lnTo>
                      <a:pt x="8" y="6"/>
                    </a:lnTo>
                    <a:lnTo>
                      <a:pt x="6" y="6"/>
                    </a:lnTo>
                    <a:lnTo>
                      <a:pt x="6" y="2"/>
                    </a:lnTo>
                    <a:lnTo>
                      <a:pt x="4" y="2"/>
                    </a:lnTo>
                    <a:lnTo>
                      <a:pt x="4"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7740" name="Freeform 332"/>
              <p:cNvSpPr>
                <a:spLocks/>
              </p:cNvSpPr>
              <p:nvPr/>
            </p:nvSpPr>
            <p:spPr bwMode="auto">
              <a:xfrm>
                <a:off x="2750" y="1834"/>
                <a:ext cx="9" cy="14"/>
              </a:xfrm>
              <a:custGeom>
                <a:avLst/>
                <a:gdLst>
                  <a:gd name="T0" fmla="*/ 5 w 9"/>
                  <a:gd name="T1" fmla="*/ 0 h 14"/>
                  <a:gd name="T2" fmla="*/ 5 w 9"/>
                  <a:gd name="T3" fmla="*/ 3 h 14"/>
                  <a:gd name="T4" fmla="*/ 3 w 9"/>
                  <a:gd name="T5" fmla="*/ 3 h 14"/>
                  <a:gd name="T6" fmla="*/ 3 w 9"/>
                  <a:gd name="T7" fmla="*/ 6 h 14"/>
                  <a:gd name="T8" fmla="*/ 1 w 9"/>
                  <a:gd name="T9" fmla="*/ 6 h 14"/>
                  <a:gd name="T10" fmla="*/ 1 w 9"/>
                  <a:gd name="T11" fmla="*/ 11 h 14"/>
                  <a:gd name="T12" fmla="*/ 0 w 9"/>
                  <a:gd name="T13" fmla="*/ 11 h 14"/>
                  <a:gd name="T14" fmla="*/ 0 w 9"/>
                  <a:gd name="T15" fmla="*/ 14 h 14"/>
                  <a:gd name="T16" fmla="*/ 5 w 9"/>
                  <a:gd name="T17" fmla="*/ 14 h 14"/>
                  <a:gd name="T18" fmla="*/ 5 w 9"/>
                  <a:gd name="T19" fmla="*/ 11 h 14"/>
                  <a:gd name="T20" fmla="*/ 6 w 9"/>
                  <a:gd name="T21" fmla="*/ 11 h 14"/>
                  <a:gd name="T22" fmla="*/ 6 w 9"/>
                  <a:gd name="T23" fmla="*/ 8 h 14"/>
                  <a:gd name="T24" fmla="*/ 8 w 9"/>
                  <a:gd name="T25" fmla="*/ 8 h 14"/>
                  <a:gd name="T26" fmla="*/ 8 w 9"/>
                  <a:gd name="T27" fmla="*/ 3 h 14"/>
                  <a:gd name="T28" fmla="*/ 9 w 9"/>
                  <a:gd name="T29" fmla="*/ 3 h 14"/>
                  <a:gd name="T30" fmla="*/ 9 w 9"/>
                  <a:gd name="T31" fmla="*/ 0 h 14"/>
                  <a:gd name="T32" fmla="*/ 5 w 9"/>
                  <a:gd name="T33"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4">
                    <a:moveTo>
                      <a:pt x="5" y="0"/>
                    </a:moveTo>
                    <a:lnTo>
                      <a:pt x="5" y="3"/>
                    </a:lnTo>
                    <a:lnTo>
                      <a:pt x="3" y="3"/>
                    </a:lnTo>
                    <a:lnTo>
                      <a:pt x="3" y="6"/>
                    </a:lnTo>
                    <a:lnTo>
                      <a:pt x="1" y="6"/>
                    </a:lnTo>
                    <a:lnTo>
                      <a:pt x="1" y="11"/>
                    </a:lnTo>
                    <a:lnTo>
                      <a:pt x="0" y="11"/>
                    </a:lnTo>
                    <a:lnTo>
                      <a:pt x="0" y="14"/>
                    </a:lnTo>
                    <a:lnTo>
                      <a:pt x="5" y="14"/>
                    </a:lnTo>
                    <a:lnTo>
                      <a:pt x="5" y="11"/>
                    </a:lnTo>
                    <a:lnTo>
                      <a:pt x="6" y="11"/>
                    </a:lnTo>
                    <a:lnTo>
                      <a:pt x="6" y="8"/>
                    </a:lnTo>
                    <a:lnTo>
                      <a:pt x="8" y="8"/>
                    </a:lnTo>
                    <a:lnTo>
                      <a:pt x="8" y="3"/>
                    </a:lnTo>
                    <a:lnTo>
                      <a:pt x="9" y="3"/>
                    </a:lnTo>
                    <a:lnTo>
                      <a:pt x="9" y="0"/>
                    </a:lnTo>
                    <a:lnTo>
                      <a:pt x="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7741" name="Freeform 333"/>
              <p:cNvSpPr>
                <a:spLocks/>
              </p:cNvSpPr>
              <p:nvPr/>
            </p:nvSpPr>
            <p:spPr bwMode="auto">
              <a:xfrm>
                <a:off x="2784" y="1834"/>
                <a:ext cx="11" cy="14"/>
              </a:xfrm>
              <a:custGeom>
                <a:avLst/>
                <a:gdLst>
                  <a:gd name="T0" fmla="*/ 0 w 11"/>
                  <a:gd name="T1" fmla="*/ 0 h 14"/>
                  <a:gd name="T2" fmla="*/ 1 w 11"/>
                  <a:gd name="T3" fmla="*/ 3 h 14"/>
                  <a:gd name="T4" fmla="*/ 1 w 11"/>
                  <a:gd name="T5" fmla="*/ 6 h 14"/>
                  <a:gd name="T6" fmla="*/ 3 w 11"/>
                  <a:gd name="T7" fmla="*/ 6 h 14"/>
                  <a:gd name="T8" fmla="*/ 3 w 11"/>
                  <a:gd name="T9" fmla="*/ 9 h 14"/>
                  <a:gd name="T10" fmla="*/ 5 w 11"/>
                  <a:gd name="T11" fmla="*/ 9 h 14"/>
                  <a:gd name="T12" fmla="*/ 5 w 11"/>
                  <a:gd name="T13" fmla="*/ 14 h 14"/>
                  <a:gd name="T14" fmla="*/ 11 w 11"/>
                  <a:gd name="T15" fmla="*/ 14 h 14"/>
                  <a:gd name="T16" fmla="*/ 9 w 11"/>
                  <a:gd name="T17" fmla="*/ 11 h 14"/>
                  <a:gd name="T18" fmla="*/ 8 w 11"/>
                  <a:gd name="T19" fmla="*/ 8 h 14"/>
                  <a:gd name="T20" fmla="*/ 8 w 11"/>
                  <a:gd name="T21" fmla="*/ 4 h 14"/>
                  <a:gd name="T22" fmla="*/ 6 w 11"/>
                  <a:gd name="T23" fmla="*/ 4 h 14"/>
                  <a:gd name="T24" fmla="*/ 6 w 11"/>
                  <a:gd name="T25" fmla="*/ 1 h 14"/>
                  <a:gd name="T26" fmla="*/ 5 w 11"/>
                  <a:gd name="T27" fmla="*/ 1 h 14"/>
                  <a:gd name="T28" fmla="*/ 5 w 11"/>
                  <a:gd name="T29" fmla="*/ 0 h 14"/>
                  <a:gd name="T30" fmla="*/ 0 w 11"/>
                  <a:gd name="T31"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 h="14">
                    <a:moveTo>
                      <a:pt x="0" y="0"/>
                    </a:moveTo>
                    <a:lnTo>
                      <a:pt x="1" y="3"/>
                    </a:lnTo>
                    <a:lnTo>
                      <a:pt x="1" y="6"/>
                    </a:lnTo>
                    <a:lnTo>
                      <a:pt x="3" y="6"/>
                    </a:lnTo>
                    <a:lnTo>
                      <a:pt x="3" y="9"/>
                    </a:lnTo>
                    <a:lnTo>
                      <a:pt x="5" y="9"/>
                    </a:lnTo>
                    <a:lnTo>
                      <a:pt x="5" y="14"/>
                    </a:lnTo>
                    <a:lnTo>
                      <a:pt x="11" y="14"/>
                    </a:lnTo>
                    <a:lnTo>
                      <a:pt x="9" y="11"/>
                    </a:lnTo>
                    <a:lnTo>
                      <a:pt x="8" y="8"/>
                    </a:lnTo>
                    <a:lnTo>
                      <a:pt x="8" y="4"/>
                    </a:lnTo>
                    <a:lnTo>
                      <a:pt x="6" y="4"/>
                    </a:lnTo>
                    <a:lnTo>
                      <a:pt x="6" y="1"/>
                    </a:lnTo>
                    <a:lnTo>
                      <a:pt x="5" y="1"/>
                    </a:lnTo>
                    <a:lnTo>
                      <a:pt x="5"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7742" name="Freeform 334"/>
              <p:cNvSpPr>
                <a:spLocks/>
              </p:cNvSpPr>
              <p:nvPr/>
            </p:nvSpPr>
            <p:spPr bwMode="auto">
              <a:xfrm>
                <a:off x="2755" y="1822"/>
                <a:ext cx="9" cy="15"/>
              </a:xfrm>
              <a:custGeom>
                <a:avLst/>
                <a:gdLst>
                  <a:gd name="T0" fmla="*/ 4 w 9"/>
                  <a:gd name="T1" fmla="*/ 0 h 15"/>
                  <a:gd name="T2" fmla="*/ 4 w 9"/>
                  <a:gd name="T3" fmla="*/ 2 h 15"/>
                  <a:gd name="T4" fmla="*/ 3 w 9"/>
                  <a:gd name="T5" fmla="*/ 2 h 15"/>
                  <a:gd name="T6" fmla="*/ 3 w 9"/>
                  <a:gd name="T7" fmla="*/ 5 h 15"/>
                  <a:gd name="T8" fmla="*/ 1 w 9"/>
                  <a:gd name="T9" fmla="*/ 5 h 15"/>
                  <a:gd name="T10" fmla="*/ 1 w 9"/>
                  <a:gd name="T11" fmla="*/ 10 h 15"/>
                  <a:gd name="T12" fmla="*/ 0 w 9"/>
                  <a:gd name="T13" fmla="*/ 10 h 15"/>
                  <a:gd name="T14" fmla="*/ 0 w 9"/>
                  <a:gd name="T15" fmla="*/ 15 h 15"/>
                  <a:gd name="T16" fmla="*/ 4 w 9"/>
                  <a:gd name="T17" fmla="*/ 15 h 15"/>
                  <a:gd name="T18" fmla="*/ 4 w 9"/>
                  <a:gd name="T19" fmla="*/ 12 h 15"/>
                  <a:gd name="T20" fmla="*/ 6 w 9"/>
                  <a:gd name="T21" fmla="*/ 12 h 15"/>
                  <a:gd name="T22" fmla="*/ 6 w 9"/>
                  <a:gd name="T23" fmla="*/ 8 h 15"/>
                  <a:gd name="T24" fmla="*/ 8 w 9"/>
                  <a:gd name="T25" fmla="*/ 8 h 15"/>
                  <a:gd name="T26" fmla="*/ 8 w 9"/>
                  <a:gd name="T27" fmla="*/ 4 h 15"/>
                  <a:gd name="T28" fmla="*/ 9 w 9"/>
                  <a:gd name="T29" fmla="*/ 4 h 15"/>
                  <a:gd name="T30" fmla="*/ 9 w 9"/>
                  <a:gd name="T31" fmla="*/ 0 h 15"/>
                  <a:gd name="T32" fmla="*/ 4 w 9"/>
                  <a:gd name="T33" fmla="*/ 0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4" y="0"/>
                    </a:moveTo>
                    <a:lnTo>
                      <a:pt x="4" y="2"/>
                    </a:lnTo>
                    <a:lnTo>
                      <a:pt x="3" y="2"/>
                    </a:lnTo>
                    <a:lnTo>
                      <a:pt x="3" y="5"/>
                    </a:lnTo>
                    <a:lnTo>
                      <a:pt x="1" y="5"/>
                    </a:lnTo>
                    <a:lnTo>
                      <a:pt x="1" y="10"/>
                    </a:lnTo>
                    <a:lnTo>
                      <a:pt x="0" y="10"/>
                    </a:lnTo>
                    <a:lnTo>
                      <a:pt x="0" y="15"/>
                    </a:lnTo>
                    <a:lnTo>
                      <a:pt x="4" y="15"/>
                    </a:lnTo>
                    <a:lnTo>
                      <a:pt x="4" y="12"/>
                    </a:lnTo>
                    <a:lnTo>
                      <a:pt x="6" y="12"/>
                    </a:lnTo>
                    <a:lnTo>
                      <a:pt x="6" y="8"/>
                    </a:lnTo>
                    <a:lnTo>
                      <a:pt x="8" y="8"/>
                    </a:lnTo>
                    <a:lnTo>
                      <a:pt x="8" y="4"/>
                    </a:lnTo>
                    <a:lnTo>
                      <a:pt x="9" y="4"/>
                    </a:lnTo>
                    <a:lnTo>
                      <a:pt x="9" y="0"/>
                    </a:lnTo>
                    <a:lnTo>
                      <a:pt x="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7743" name="Freeform 335"/>
              <p:cNvSpPr>
                <a:spLocks/>
              </p:cNvSpPr>
              <p:nvPr/>
            </p:nvSpPr>
            <p:spPr bwMode="auto">
              <a:xfrm>
                <a:off x="2779" y="1822"/>
                <a:ext cx="11" cy="15"/>
              </a:xfrm>
              <a:custGeom>
                <a:avLst/>
                <a:gdLst>
                  <a:gd name="T0" fmla="*/ 0 w 11"/>
                  <a:gd name="T1" fmla="*/ 0 h 15"/>
                  <a:gd name="T2" fmla="*/ 1 w 11"/>
                  <a:gd name="T3" fmla="*/ 4 h 15"/>
                  <a:gd name="T4" fmla="*/ 1 w 11"/>
                  <a:gd name="T5" fmla="*/ 7 h 15"/>
                  <a:gd name="T6" fmla="*/ 3 w 11"/>
                  <a:gd name="T7" fmla="*/ 7 h 15"/>
                  <a:gd name="T8" fmla="*/ 3 w 11"/>
                  <a:gd name="T9" fmla="*/ 10 h 15"/>
                  <a:gd name="T10" fmla="*/ 5 w 11"/>
                  <a:gd name="T11" fmla="*/ 10 h 15"/>
                  <a:gd name="T12" fmla="*/ 5 w 11"/>
                  <a:gd name="T13" fmla="*/ 13 h 15"/>
                  <a:gd name="T14" fmla="*/ 6 w 11"/>
                  <a:gd name="T15" fmla="*/ 13 h 15"/>
                  <a:gd name="T16" fmla="*/ 6 w 11"/>
                  <a:gd name="T17" fmla="*/ 15 h 15"/>
                  <a:gd name="T18" fmla="*/ 11 w 11"/>
                  <a:gd name="T19" fmla="*/ 15 h 15"/>
                  <a:gd name="T20" fmla="*/ 10 w 11"/>
                  <a:gd name="T21" fmla="*/ 12 h 15"/>
                  <a:gd name="T22" fmla="*/ 10 w 11"/>
                  <a:gd name="T23" fmla="*/ 8 h 15"/>
                  <a:gd name="T24" fmla="*/ 8 w 11"/>
                  <a:gd name="T25" fmla="*/ 8 h 15"/>
                  <a:gd name="T26" fmla="*/ 8 w 11"/>
                  <a:gd name="T27" fmla="*/ 4 h 15"/>
                  <a:gd name="T28" fmla="*/ 6 w 11"/>
                  <a:gd name="T29" fmla="*/ 4 h 15"/>
                  <a:gd name="T30" fmla="*/ 6 w 11"/>
                  <a:gd name="T31" fmla="*/ 0 h 15"/>
                  <a:gd name="T32" fmla="*/ 0 w 11"/>
                  <a:gd name="T33" fmla="*/ 0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 h="15">
                    <a:moveTo>
                      <a:pt x="0" y="0"/>
                    </a:moveTo>
                    <a:lnTo>
                      <a:pt x="1" y="4"/>
                    </a:lnTo>
                    <a:lnTo>
                      <a:pt x="1" y="7"/>
                    </a:lnTo>
                    <a:lnTo>
                      <a:pt x="3" y="7"/>
                    </a:lnTo>
                    <a:lnTo>
                      <a:pt x="3" y="10"/>
                    </a:lnTo>
                    <a:lnTo>
                      <a:pt x="5" y="10"/>
                    </a:lnTo>
                    <a:lnTo>
                      <a:pt x="5" y="13"/>
                    </a:lnTo>
                    <a:lnTo>
                      <a:pt x="6" y="13"/>
                    </a:lnTo>
                    <a:lnTo>
                      <a:pt x="6" y="15"/>
                    </a:lnTo>
                    <a:lnTo>
                      <a:pt x="11" y="15"/>
                    </a:lnTo>
                    <a:lnTo>
                      <a:pt x="10" y="12"/>
                    </a:lnTo>
                    <a:lnTo>
                      <a:pt x="10" y="8"/>
                    </a:lnTo>
                    <a:lnTo>
                      <a:pt x="8" y="8"/>
                    </a:lnTo>
                    <a:lnTo>
                      <a:pt x="8" y="4"/>
                    </a:lnTo>
                    <a:lnTo>
                      <a:pt x="6" y="4"/>
                    </a:lnTo>
                    <a:lnTo>
                      <a:pt x="6"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7744" name="Freeform 336"/>
              <p:cNvSpPr>
                <a:spLocks/>
              </p:cNvSpPr>
              <p:nvPr/>
            </p:nvSpPr>
            <p:spPr bwMode="auto">
              <a:xfrm>
                <a:off x="2758" y="1811"/>
                <a:ext cx="11" cy="15"/>
              </a:xfrm>
              <a:custGeom>
                <a:avLst/>
                <a:gdLst>
                  <a:gd name="T0" fmla="*/ 5 w 11"/>
                  <a:gd name="T1" fmla="*/ 0 h 15"/>
                  <a:gd name="T2" fmla="*/ 5 w 11"/>
                  <a:gd name="T3" fmla="*/ 5 h 15"/>
                  <a:gd name="T4" fmla="*/ 3 w 11"/>
                  <a:gd name="T5" fmla="*/ 5 h 15"/>
                  <a:gd name="T6" fmla="*/ 3 w 11"/>
                  <a:gd name="T7" fmla="*/ 8 h 15"/>
                  <a:gd name="T8" fmla="*/ 1 w 11"/>
                  <a:gd name="T9" fmla="*/ 8 h 15"/>
                  <a:gd name="T10" fmla="*/ 1 w 11"/>
                  <a:gd name="T11" fmla="*/ 13 h 15"/>
                  <a:gd name="T12" fmla="*/ 0 w 11"/>
                  <a:gd name="T13" fmla="*/ 13 h 15"/>
                  <a:gd name="T14" fmla="*/ 0 w 11"/>
                  <a:gd name="T15" fmla="*/ 15 h 15"/>
                  <a:gd name="T16" fmla="*/ 6 w 11"/>
                  <a:gd name="T17" fmla="*/ 15 h 15"/>
                  <a:gd name="T18" fmla="*/ 6 w 11"/>
                  <a:gd name="T19" fmla="*/ 11 h 15"/>
                  <a:gd name="T20" fmla="*/ 8 w 11"/>
                  <a:gd name="T21" fmla="*/ 11 h 15"/>
                  <a:gd name="T22" fmla="*/ 8 w 11"/>
                  <a:gd name="T23" fmla="*/ 6 h 15"/>
                  <a:gd name="T24" fmla="*/ 9 w 11"/>
                  <a:gd name="T25" fmla="*/ 6 h 15"/>
                  <a:gd name="T26" fmla="*/ 9 w 11"/>
                  <a:gd name="T27" fmla="*/ 3 h 15"/>
                  <a:gd name="T28" fmla="*/ 11 w 11"/>
                  <a:gd name="T29" fmla="*/ 3 h 15"/>
                  <a:gd name="T30" fmla="*/ 11 w 11"/>
                  <a:gd name="T31" fmla="*/ 0 h 15"/>
                  <a:gd name="T32" fmla="*/ 5 w 11"/>
                  <a:gd name="T33" fmla="*/ 0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 h="15">
                    <a:moveTo>
                      <a:pt x="5" y="0"/>
                    </a:moveTo>
                    <a:lnTo>
                      <a:pt x="5" y="5"/>
                    </a:lnTo>
                    <a:lnTo>
                      <a:pt x="3" y="5"/>
                    </a:lnTo>
                    <a:lnTo>
                      <a:pt x="3" y="8"/>
                    </a:lnTo>
                    <a:lnTo>
                      <a:pt x="1" y="8"/>
                    </a:lnTo>
                    <a:lnTo>
                      <a:pt x="1" y="13"/>
                    </a:lnTo>
                    <a:lnTo>
                      <a:pt x="0" y="13"/>
                    </a:lnTo>
                    <a:lnTo>
                      <a:pt x="0" y="15"/>
                    </a:lnTo>
                    <a:lnTo>
                      <a:pt x="6" y="15"/>
                    </a:lnTo>
                    <a:lnTo>
                      <a:pt x="6" y="11"/>
                    </a:lnTo>
                    <a:lnTo>
                      <a:pt x="8" y="11"/>
                    </a:lnTo>
                    <a:lnTo>
                      <a:pt x="8" y="6"/>
                    </a:lnTo>
                    <a:lnTo>
                      <a:pt x="9" y="6"/>
                    </a:lnTo>
                    <a:lnTo>
                      <a:pt x="9" y="3"/>
                    </a:lnTo>
                    <a:lnTo>
                      <a:pt x="11" y="3"/>
                    </a:lnTo>
                    <a:lnTo>
                      <a:pt x="11" y="0"/>
                    </a:lnTo>
                    <a:lnTo>
                      <a:pt x="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7745" name="Freeform 337"/>
              <p:cNvSpPr>
                <a:spLocks/>
              </p:cNvSpPr>
              <p:nvPr/>
            </p:nvSpPr>
            <p:spPr bwMode="auto">
              <a:xfrm>
                <a:off x="2774" y="1811"/>
                <a:ext cx="11" cy="15"/>
              </a:xfrm>
              <a:custGeom>
                <a:avLst/>
                <a:gdLst>
                  <a:gd name="T0" fmla="*/ 0 w 11"/>
                  <a:gd name="T1" fmla="*/ 0 h 15"/>
                  <a:gd name="T2" fmla="*/ 2 w 11"/>
                  <a:gd name="T3" fmla="*/ 3 h 15"/>
                  <a:gd name="T4" fmla="*/ 3 w 11"/>
                  <a:gd name="T5" fmla="*/ 6 h 15"/>
                  <a:gd name="T6" fmla="*/ 3 w 11"/>
                  <a:gd name="T7" fmla="*/ 10 h 15"/>
                  <a:gd name="T8" fmla="*/ 5 w 11"/>
                  <a:gd name="T9" fmla="*/ 10 h 15"/>
                  <a:gd name="T10" fmla="*/ 5 w 11"/>
                  <a:gd name="T11" fmla="*/ 13 h 15"/>
                  <a:gd name="T12" fmla="*/ 6 w 11"/>
                  <a:gd name="T13" fmla="*/ 13 h 15"/>
                  <a:gd name="T14" fmla="*/ 6 w 11"/>
                  <a:gd name="T15" fmla="*/ 15 h 15"/>
                  <a:gd name="T16" fmla="*/ 11 w 11"/>
                  <a:gd name="T17" fmla="*/ 15 h 15"/>
                  <a:gd name="T18" fmla="*/ 11 w 11"/>
                  <a:gd name="T19" fmla="*/ 11 h 15"/>
                  <a:gd name="T20" fmla="*/ 10 w 11"/>
                  <a:gd name="T21" fmla="*/ 11 h 15"/>
                  <a:gd name="T22" fmla="*/ 10 w 11"/>
                  <a:gd name="T23" fmla="*/ 6 h 15"/>
                  <a:gd name="T24" fmla="*/ 8 w 11"/>
                  <a:gd name="T25" fmla="*/ 6 h 15"/>
                  <a:gd name="T26" fmla="*/ 8 w 11"/>
                  <a:gd name="T27" fmla="*/ 3 h 15"/>
                  <a:gd name="T28" fmla="*/ 6 w 11"/>
                  <a:gd name="T29" fmla="*/ 3 h 15"/>
                  <a:gd name="T30" fmla="*/ 6 w 11"/>
                  <a:gd name="T31" fmla="*/ 0 h 15"/>
                  <a:gd name="T32" fmla="*/ 0 w 11"/>
                  <a:gd name="T33" fmla="*/ 0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 h="15">
                    <a:moveTo>
                      <a:pt x="0" y="0"/>
                    </a:moveTo>
                    <a:lnTo>
                      <a:pt x="2" y="3"/>
                    </a:lnTo>
                    <a:lnTo>
                      <a:pt x="3" y="6"/>
                    </a:lnTo>
                    <a:lnTo>
                      <a:pt x="3" y="10"/>
                    </a:lnTo>
                    <a:lnTo>
                      <a:pt x="5" y="10"/>
                    </a:lnTo>
                    <a:lnTo>
                      <a:pt x="5" y="13"/>
                    </a:lnTo>
                    <a:lnTo>
                      <a:pt x="6" y="13"/>
                    </a:lnTo>
                    <a:lnTo>
                      <a:pt x="6" y="15"/>
                    </a:lnTo>
                    <a:lnTo>
                      <a:pt x="11" y="15"/>
                    </a:lnTo>
                    <a:lnTo>
                      <a:pt x="11" y="11"/>
                    </a:lnTo>
                    <a:lnTo>
                      <a:pt x="10" y="11"/>
                    </a:lnTo>
                    <a:lnTo>
                      <a:pt x="10" y="6"/>
                    </a:lnTo>
                    <a:lnTo>
                      <a:pt x="8" y="6"/>
                    </a:lnTo>
                    <a:lnTo>
                      <a:pt x="8" y="3"/>
                    </a:lnTo>
                    <a:lnTo>
                      <a:pt x="6" y="3"/>
                    </a:lnTo>
                    <a:lnTo>
                      <a:pt x="6"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7746" name="Freeform 338"/>
              <p:cNvSpPr>
                <a:spLocks/>
              </p:cNvSpPr>
              <p:nvPr/>
            </p:nvSpPr>
            <p:spPr bwMode="auto">
              <a:xfrm>
                <a:off x="2763" y="1800"/>
                <a:ext cx="14" cy="14"/>
              </a:xfrm>
              <a:custGeom>
                <a:avLst/>
                <a:gdLst>
                  <a:gd name="T0" fmla="*/ 4 w 14"/>
                  <a:gd name="T1" fmla="*/ 0 h 14"/>
                  <a:gd name="T2" fmla="*/ 4 w 14"/>
                  <a:gd name="T3" fmla="*/ 3 h 14"/>
                  <a:gd name="T4" fmla="*/ 3 w 14"/>
                  <a:gd name="T5" fmla="*/ 3 h 14"/>
                  <a:gd name="T6" fmla="*/ 3 w 14"/>
                  <a:gd name="T7" fmla="*/ 8 h 14"/>
                  <a:gd name="T8" fmla="*/ 1 w 14"/>
                  <a:gd name="T9" fmla="*/ 8 h 14"/>
                  <a:gd name="T10" fmla="*/ 1 w 14"/>
                  <a:gd name="T11" fmla="*/ 11 h 14"/>
                  <a:gd name="T12" fmla="*/ 0 w 14"/>
                  <a:gd name="T13" fmla="*/ 11 h 14"/>
                  <a:gd name="T14" fmla="*/ 0 w 14"/>
                  <a:gd name="T15" fmla="*/ 14 h 14"/>
                  <a:gd name="T16" fmla="*/ 6 w 14"/>
                  <a:gd name="T17" fmla="*/ 14 h 14"/>
                  <a:gd name="T18" fmla="*/ 6 w 14"/>
                  <a:gd name="T19" fmla="*/ 9 h 14"/>
                  <a:gd name="T20" fmla="*/ 8 w 14"/>
                  <a:gd name="T21" fmla="*/ 9 h 14"/>
                  <a:gd name="T22" fmla="*/ 8 w 14"/>
                  <a:gd name="T23" fmla="*/ 6 h 14"/>
                  <a:gd name="T24" fmla="*/ 14 w 14"/>
                  <a:gd name="T25" fmla="*/ 6 h 14"/>
                  <a:gd name="T26" fmla="*/ 14 w 14"/>
                  <a:gd name="T27" fmla="*/ 1 h 14"/>
                  <a:gd name="T28" fmla="*/ 13 w 14"/>
                  <a:gd name="T29" fmla="*/ 1 h 14"/>
                  <a:gd name="T30" fmla="*/ 13 w 14"/>
                  <a:gd name="T31" fmla="*/ 0 h 14"/>
                  <a:gd name="T32" fmla="*/ 4 w 14"/>
                  <a:gd name="T33"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4">
                    <a:moveTo>
                      <a:pt x="4" y="0"/>
                    </a:moveTo>
                    <a:lnTo>
                      <a:pt x="4" y="3"/>
                    </a:lnTo>
                    <a:lnTo>
                      <a:pt x="3" y="3"/>
                    </a:lnTo>
                    <a:lnTo>
                      <a:pt x="3" y="8"/>
                    </a:lnTo>
                    <a:lnTo>
                      <a:pt x="1" y="8"/>
                    </a:lnTo>
                    <a:lnTo>
                      <a:pt x="1" y="11"/>
                    </a:lnTo>
                    <a:lnTo>
                      <a:pt x="0" y="11"/>
                    </a:lnTo>
                    <a:lnTo>
                      <a:pt x="0" y="14"/>
                    </a:lnTo>
                    <a:lnTo>
                      <a:pt x="6" y="14"/>
                    </a:lnTo>
                    <a:lnTo>
                      <a:pt x="6" y="9"/>
                    </a:lnTo>
                    <a:lnTo>
                      <a:pt x="8" y="9"/>
                    </a:lnTo>
                    <a:lnTo>
                      <a:pt x="8" y="6"/>
                    </a:lnTo>
                    <a:lnTo>
                      <a:pt x="14" y="6"/>
                    </a:lnTo>
                    <a:lnTo>
                      <a:pt x="14" y="1"/>
                    </a:lnTo>
                    <a:lnTo>
                      <a:pt x="13" y="1"/>
                    </a:lnTo>
                    <a:lnTo>
                      <a:pt x="13" y="0"/>
                    </a:lnTo>
                    <a:lnTo>
                      <a:pt x="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7747" name="Freeform 339"/>
              <p:cNvSpPr>
                <a:spLocks/>
              </p:cNvSpPr>
              <p:nvPr/>
            </p:nvSpPr>
            <p:spPr bwMode="auto">
              <a:xfrm>
                <a:off x="2772" y="1806"/>
                <a:ext cx="8" cy="8"/>
              </a:xfrm>
              <a:custGeom>
                <a:avLst/>
                <a:gdLst>
                  <a:gd name="T0" fmla="*/ 0 w 8"/>
                  <a:gd name="T1" fmla="*/ 0 h 8"/>
                  <a:gd name="T2" fmla="*/ 2 w 8"/>
                  <a:gd name="T3" fmla="*/ 3 h 8"/>
                  <a:gd name="T4" fmla="*/ 2 w 8"/>
                  <a:gd name="T5" fmla="*/ 7 h 8"/>
                  <a:gd name="T6" fmla="*/ 4 w 8"/>
                  <a:gd name="T7" fmla="*/ 7 h 8"/>
                  <a:gd name="T8" fmla="*/ 4 w 8"/>
                  <a:gd name="T9" fmla="*/ 8 h 8"/>
                  <a:gd name="T10" fmla="*/ 8 w 8"/>
                  <a:gd name="T11" fmla="*/ 8 h 8"/>
                  <a:gd name="T12" fmla="*/ 8 w 8"/>
                  <a:gd name="T13" fmla="*/ 3 h 8"/>
                  <a:gd name="T14" fmla="*/ 7 w 8"/>
                  <a:gd name="T15" fmla="*/ 3 h 8"/>
                  <a:gd name="T16" fmla="*/ 7 w 8"/>
                  <a:gd name="T17" fmla="*/ 0 h 8"/>
                  <a:gd name="T18" fmla="*/ 0 w 8"/>
                  <a:gd name="T19"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 h="8">
                    <a:moveTo>
                      <a:pt x="0" y="0"/>
                    </a:moveTo>
                    <a:lnTo>
                      <a:pt x="2" y="3"/>
                    </a:lnTo>
                    <a:lnTo>
                      <a:pt x="2" y="7"/>
                    </a:lnTo>
                    <a:lnTo>
                      <a:pt x="4" y="7"/>
                    </a:lnTo>
                    <a:lnTo>
                      <a:pt x="4" y="8"/>
                    </a:lnTo>
                    <a:lnTo>
                      <a:pt x="8" y="8"/>
                    </a:lnTo>
                    <a:lnTo>
                      <a:pt x="8" y="3"/>
                    </a:lnTo>
                    <a:lnTo>
                      <a:pt x="7" y="3"/>
                    </a:lnTo>
                    <a:lnTo>
                      <a:pt x="7"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7748" name="Freeform 340"/>
              <p:cNvSpPr>
                <a:spLocks/>
              </p:cNvSpPr>
              <p:nvPr/>
            </p:nvSpPr>
            <p:spPr bwMode="auto">
              <a:xfrm>
                <a:off x="2767" y="1790"/>
                <a:ext cx="10" cy="13"/>
              </a:xfrm>
              <a:custGeom>
                <a:avLst/>
                <a:gdLst>
                  <a:gd name="T0" fmla="*/ 4 w 10"/>
                  <a:gd name="T1" fmla="*/ 0 h 13"/>
                  <a:gd name="T2" fmla="*/ 4 w 10"/>
                  <a:gd name="T3" fmla="*/ 5 h 13"/>
                  <a:gd name="T4" fmla="*/ 2 w 10"/>
                  <a:gd name="T5" fmla="*/ 5 h 13"/>
                  <a:gd name="T6" fmla="*/ 2 w 10"/>
                  <a:gd name="T7" fmla="*/ 10 h 13"/>
                  <a:gd name="T8" fmla="*/ 0 w 10"/>
                  <a:gd name="T9" fmla="*/ 10 h 13"/>
                  <a:gd name="T10" fmla="*/ 0 w 10"/>
                  <a:gd name="T11" fmla="*/ 13 h 13"/>
                  <a:gd name="T12" fmla="*/ 10 w 10"/>
                  <a:gd name="T13" fmla="*/ 13 h 13"/>
                  <a:gd name="T14" fmla="*/ 9 w 10"/>
                  <a:gd name="T15" fmla="*/ 10 h 13"/>
                  <a:gd name="T16" fmla="*/ 7 w 10"/>
                  <a:gd name="T17" fmla="*/ 6 h 13"/>
                  <a:gd name="T18" fmla="*/ 7 w 10"/>
                  <a:gd name="T19" fmla="*/ 3 h 13"/>
                  <a:gd name="T20" fmla="*/ 5 w 10"/>
                  <a:gd name="T21" fmla="*/ 3 h 13"/>
                  <a:gd name="T22" fmla="*/ 5 w 10"/>
                  <a:gd name="T23" fmla="*/ 0 h 13"/>
                  <a:gd name="T24" fmla="*/ 4 w 10"/>
                  <a:gd name="T25"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 h="13">
                    <a:moveTo>
                      <a:pt x="4" y="0"/>
                    </a:moveTo>
                    <a:lnTo>
                      <a:pt x="4" y="5"/>
                    </a:lnTo>
                    <a:lnTo>
                      <a:pt x="2" y="5"/>
                    </a:lnTo>
                    <a:lnTo>
                      <a:pt x="2" y="10"/>
                    </a:lnTo>
                    <a:lnTo>
                      <a:pt x="0" y="10"/>
                    </a:lnTo>
                    <a:lnTo>
                      <a:pt x="0" y="13"/>
                    </a:lnTo>
                    <a:lnTo>
                      <a:pt x="10" y="13"/>
                    </a:lnTo>
                    <a:lnTo>
                      <a:pt x="9" y="10"/>
                    </a:lnTo>
                    <a:lnTo>
                      <a:pt x="7" y="6"/>
                    </a:lnTo>
                    <a:lnTo>
                      <a:pt x="7" y="3"/>
                    </a:lnTo>
                    <a:lnTo>
                      <a:pt x="5" y="3"/>
                    </a:lnTo>
                    <a:lnTo>
                      <a:pt x="5" y="0"/>
                    </a:lnTo>
                    <a:lnTo>
                      <a:pt x="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7749" name="Freeform 341"/>
              <p:cNvSpPr>
                <a:spLocks/>
              </p:cNvSpPr>
              <p:nvPr/>
            </p:nvSpPr>
            <p:spPr bwMode="auto">
              <a:xfrm>
                <a:off x="2746" y="1801"/>
                <a:ext cx="49" cy="123"/>
              </a:xfrm>
              <a:custGeom>
                <a:avLst/>
                <a:gdLst>
                  <a:gd name="T0" fmla="*/ 12 w 49"/>
                  <a:gd name="T1" fmla="*/ 123 h 123"/>
                  <a:gd name="T2" fmla="*/ 12 w 49"/>
                  <a:gd name="T3" fmla="*/ 62 h 123"/>
                  <a:gd name="T4" fmla="*/ 0 w 49"/>
                  <a:gd name="T5" fmla="*/ 62 h 123"/>
                  <a:gd name="T6" fmla="*/ 25 w 49"/>
                  <a:gd name="T7" fmla="*/ 0 h 123"/>
                  <a:gd name="T8" fmla="*/ 49 w 49"/>
                  <a:gd name="T9" fmla="*/ 62 h 123"/>
                  <a:gd name="T10" fmla="*/ 38 w 49"/>
                  <a:gd name="T11" fmla="*/ 62 h 123"/>
                  <a:gd name="T12" fmla="*/ 38 w 49"/>
                  <a:gd name="T13" fmla="*/ 123 h 123"/>
                  <a:gd name="T14" fmla="*/ 12 w 49"/>
                  <a:gd name="T15" fmla="*/ 123 h 1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123">
                    <a:moveTo>
                      <a:pt x="12" y="123"/>
                    </a:moveTo>
                    <a:lnTo>
                      <a:pt x="12" y="62"/>
                    </a:lnTo>
                    <a:lnTo>
                      <a:pt x="0" y="62"/>
                    </a:lnTo>
                    <a:lnTo>
                      <a:pt x="25" y="0"/>
                    </a:lnTo>
                    <a:lnTo>
                      <a:pt x="49" y="62"/>
                    </a:lnTo>
                    <a:lnTo>
                      <a:pt x="38" y="62"/>
                    </a:lnTo>
                    <a:lnTo>
                      <a:pt x="38" y="123"/>
                    </a:lnTo>
                    <a:lnTo>
                      <a:pt x="12" y="123"/>
                    </a:lnTo>
                  </a:path>
                </a:pathLst>
              </a:custGeom>
              <a:grpFill/>
              <a:ln w="0">
                <a:solidFill>
                  <a:srgbClr val="000000"/>
                </a:solidFill>
                <a:prstDash val="solid"/>
                <a:round/>
                <a:headEnd/>
                <a:tailEnd/>
              </a:ln>
              <a:extLst/>
            </p:spPr>
            <p:txBody>
              <a:bodyPr/>
              <a:lstStyle/>
              <a:p>
                <a:pPr>
                  <a:defRPr/>
                </a:pPr>
                <a:endParaRPr lang="en-US"/>
              </a:p>
            </p:txBody>
          </p:sp>
          <p:sp>
            <p:nvSpPr>
              <p:cNvPr id="17750" name="Freeform 342"/>
              <p:cNvSpPr>
                <a:spLocks/>
              </p:cNvSpPr>
              <p:nvPr/>
            </p:nvSpPr>
            <p:spPr bwMode="auto">
              <a:xfrm>
                <a:off x="2740" y="1790"/>
                <a:ext cx="61" cy="142"/>
              </a:xfrm>
              <a:custGeom>
                <a:avLst/>
                <a:gdLst>
                  <a:gd name="T0" fmla="*/ 16 w 61"/>
                  <a:gd name="T1" fmla="*/ 134 h 142"/>
                  <a:gd name="T2" fmla="*/ 16 w 61"/>
                  <a:gd name="T3" fmla="*/ 81 h 142"/>
                  <a:gd name="T4" fmla="*/ 0 w 61"/>
                  <a:gd name="T5" fmla="*/ 81 h 142"/>
                  <a:gd name="T6" fmla="*/ 31 w 61"/>
                  <a:gd name="T7" fmla="*/ 0 h 142"/>
                  <a:gd name="T8" fmla="*/ 61 w 61"/>
                  <a:gd name="T9" fmla="*/ 81 h 142"/>
                  <a:gd name="T10" fmla="*/ 47 w 61"/>
                  <a:gd name="T11" fmla="*/ 81 h 142"/>
                  <a:gd name="T12" fmla="*/ 47 w 61"/>
                  <a:gd name="T13" fmla="*/ 142 h 142"/>
                  <a:gd name="T14" fmla="*/ 16 w 61"/>
                  <a:gd name="T15" fmla="*/ 142 h 142"/>
                  <a:gd name="T16" fmla="*/ 16 w 61"/>
                  <a:gd name="T17" fmla="*/ 134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142">
                    <a:moveTo>
                      <a:pt x="16" y="134"/>
                    </a:moveTo>
                    <a:lnTo>
                      <a:pt x="16" y="81"/>
                    </a:lnTo>
                    <a:lnTo>
                      <a:pt x="0" y="81"/>
                    </a:lnTo>
                    <a:lnTo>
                      <a:pt x="31" y="0"/>
                    </a:lnTo>
                    <a:lnTo>
                      <a:pt x="61" y="81"/>
                    </a:lnTo>
                    <a:lnTo>
                      <a:pt x="47" y="81"/>
                    </a:lnTo>
                    <a:lnTo>
                      <a:pt x="47" y="142"/>
                    </a:lnTo>
                    <a:lnTo>
                      <a:pt x="16" y="142"/>
                    </a:lnTo>
                    <a:lnTo>
                      <a:pt x="16" y="134"/>
                    </a:lnTo>
                  </a:path>
                </a:pathLst>
              </a:custGeom>
              <a:grpFill/>
              <a:ln w="0">
                <a:solidFill>
                  <a:srgbClr val="000000"/>
                </a:solidFill>
                <a:prstDash val="solid"/>
                <a:round/>
                <a:headEnd/>
                <a:tailEnd/>
              </a:ln>
              <a:extLst/>
            </p:spPr>
            <p:txBody>
              <a:bodyPr/>
              <a:lstStyle/>
              <a:p>
                <a:pPr>
                  <a:defRPr/>
                </a:pPr>
                <a:endParaRPr lang="en-US"/>
              </a:p>
            </p:txBody>
          </p:sp>
          <p:sp>
            <p:nvSpPr>
              <p:cNvPr id="17751" name="Freeform 343"/>
              <p:cNvSpPr>
                <a:spLocks/>
              </p:cNvSpPr>
              <p:nvPr/>
            </p:nvSpPr>
            <p:spPr bwMode="auto">
              <a:xfrm>
                <a:off x="2580" y="1918"/>
                <a:ext cx="32" cy="16"/>
              </a:xfrm>
              <a:custGeom>
                <a:avLst/>
                <a:gdLst>
                  <a:gd name="T0" fmla="*/ 0 w 32"/>
                  <a:gd name="T1" fmla="*/ 0 h 16"/>
                  <a:gd name="T2" fmla="*/ 0 w 32"/>
                  <a:gd name="T3" fmla="*/ 16 h 16"/>
                  <a:gd name="T4" fmla="*/ 32 w 32"/>
                  <a:gd name="T5" fmla="*/ 16 h 16"/>
                  <a:gd name="T6" fmla="*/ 32 w 32"/>
                  <a:gd name="T7" fmla="*/ 0 h 16"/>
                  <a:gd name="T8" fmla="*/ 27 w 32"/>
                  <a:gd name="T9" fmla="*/ 0 h 16"/>
                  <a:gd name="T10" fmla="*/ 27 w 32"/>
                  <a:gd name="T11" fmla="*/ 6 h 16"/>
                  <a:gd name="T12" fmla="*/ 3 w 32"/>
                  <a:gd name="T13" fmla="*/ 6 h 16"/>
                  <a:gd name="T14" fmla="*/ 3 w 32"/>
                  <a:gd name="T15" fmla="*/ 0 h 16"/>
                  <a:gd name="T16" fmla="*/ 0 w 32"/>
                  <a:gd name="T17"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16">
                    <a:moveTo>
                      <a:pt x="0" y="0"/>
                    </a:moveTo>
                    <a:lnTo>
                      <a:pt x="0" y="16"/>
                    </a:lnTo>
                    <a:lnTo>
                      <a:pt x="32" y="16"/>
                    </a:lnTo>
                    <a:lnTo>
                      <a:pt x="32" y="0"/>
                    </a:lnTo>
                    <a:lnTo>
                      <a:pt x="27" y="0"/>
                    </a:lnTo>
                    <a:lnTo>
                      <a:pt x="27" y="6"/>
                    </a:lnTo>
                    <a:lnTo>
                      <a:pt x="3" y="6"/>
                    </a:lnTo>
                    <a:lnTo>
                      <a:pt x="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7752" name="Rectangle 344"/>
              <p:cNvSpPr>
                <a:spLocks noChangeArrowheads="1"/>
              </p:cNvSpPr>
              <p:nvPr/>
            </p:nvSpPr>
            <p:spPr bwMode="auto">
              <a:xfrm>
                <a:off x="2580" y="1905"/>
                <a:ext cx="3" cy="1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753" name="Rectangle 345"/>
              <p:cNvSpPr>
                <a:spLocks noChangeArrowheads="1"/>
              </p:cNvSpPr>
              <p:nvPr/>
            </p:nvSpPr>
            <p:spPr bwMode="auto">
              <a:xfrm>
                <a:off x="2607" y="1905"/>
                <a:ext cx="5" cy="1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754" name="Rectangle 346"/>
              <p:cNvSpPr>
                <a:spLocks noChangeArrowheads="1"/>
              </p:cNvSpPr>
              <p:nvPr/>
            </p:nvSpPr>
            <p:spPr bwMode="auto">
              <a:xfrm>
                <a:off x="2580" y="1892"/>
                <a:ext cx="3" cy="1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755" name="Rectangle 347"/>
              <p:cNvSpPr>
                <a:spLocks noChangeArrowheads="1"/>
              </p:cNvSpPr>
              <p:nvPr/>
            </p:nvSpPr>
            <p:spPr bwMode="auto">
              <a:xfrm>
                <a:off x="2607" y="1892"/>
                <a:ext cx="5" cy="1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756" name="Rectangle 348"/>
              <p:cNvSpPr>
                <a:spLocks noChangeArrowheads="1"/>
              </p:cNvSpPr>
              <p:nvPr/>
            </p:nvSpPr>
            <p:spPr bwMode="auto">
              <a:xfrm>
                <a:off x="2580" y="1879"/>
                <a:ext cx="3" cy="1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757" name="Rectangle 349"/>
              <p:cNvSpPr>
                <a:spLocks noChangeArrowheads="1"/>
              </p:cNvSpPr>
              <p:nvPr/>
            </p:nvSpPr>
            <p:spPr bwMode="auto">
              <a:xfrm>
                <a:off x="2607" y="1879"/>
                <a:ext cx="5" cy="1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758" name="Freeform 350"/>
              <p:cNvSpPr>
                <a:spLocks/>
              </p:cNvSpPr>
              <p:nvPr/>
            </p:nvSpPr>
            <p:spPr bwMode="auto">
              <a:xfrm>
                <a:off x="2564" y="1868"/>
                <a:ext cx="19" cy="14"/>
              </a:xfrm>
              <a:custGeom>
                <a:avLst/>
                <a:gdLst>
                  <a:gd name="T0" fmla="*/ 1 w 19"/>
                  <a:gd name="T1" fmla="*/ 0 h 14"/>
                  <a:gd name="T2" fmla="*/ 1 w 19"/>
                  <a:gd name="T3" fmla="*/ 1 h 14"/>
                  <a:gd name="T4" fmla="*/ 0 w 19"/>
                  <a:gd name="T5" fmla="*/ 1 h 14"/>
                  <a:gd name="T6" fmla="*/ 0 w 19"/>
                  <a:gd name="T7" fmla="*/ 4 h 14"/>
                  <a:gd name="T8" fmla="*/ 16 w 19"/>
                  <a:gd name="T9" fmla="*/ 4 h 14"/>
                  <a:gd name="T10" fmla="*/ 16 w 19"/>
                  <a:gd name="T11" fmla="*/ 14 h 14"/>
                  <a:gd name="T12" fmla="*/ 19 w 19"/>
                  <a:gd name="T13" fmla="*/ 14 h 14"/>
                  <a:gd name="T14" fmla="*/ 19 w 19"/>
                  <a:gd name="T15" fmla="*/ 0 h 14"/>
                  <a:gd name="T16" fmla="*/ 1 w 19"/>
                  <a:gd name="T17"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14">
                    <a:moveTo>
                      <a:pt x="1" y="0"/>
                    </a:moveTo>
                    <a:lnTo>
                      <a:pt x="1" y="1"/>
                    </a:lnTo>
                    <a:lnTo>
                      <a:pt x="0" y="1"/>
                    </a:lnTo>
                    <a:lnTo>
                      <a:pt x="0" y="4"/>
                    </a:lnTo>
                    <a:lnTo>
                      <a:pt x="16" y="4"/>
                    </a:lnTo>
                    <a:lnTo>
                      <a:pt x="16" y="14"/>
                    </a:lnTo>
                    <a:lnTo>
                      <a:pt x="19" y="14"/>
                    </a:lnTo>
                    <a:lnTo>
                      <a:pt x="19" y="0"/>
                    </a:lnTo>
                    <a:lnTo>
                      <a:pt x="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7759" name="Freeform 351"/>
              <p:cNvSpPr>
                <a:spLocks/>
              </p:cNvSpPr>
              <p:nvPr/>
            </p:nvSpPr>
            <p:spPr bwMode="auto">
              <a:xfrm>
                <a:off x="2607" y="1868"/>
                <a:ext cx="20" cy="14"/>
              </a:xfrm>
              <a:custGeom>
                <a:avLst/>
                <a:gdLst>
                  <a:gd name="T0" fmla="*/ 0 w 20"/>
                  <a:gd name="T1" fmla="*/ 0 h 14"/>
                  <a:gd name="T2" fmla="*/ 0 w 20"/>
                  <a:gd name="T3" fmla="*/ 14 h 14"/>
                  <a:gd name="T4" fmla="*/ 5 w 20"/>
                  <a:gd name="T5" fmla="*/ 14 h 14"/>
                  <a:gd name="T6" fmla="*/ 5 w 20"/>
                  <a:gd name="T7" fmla="*/ 4 h 14"/>
                  <a:gd name="T8" fmla="*/ 20 w 20"/>
                  <a:gd name="T9" fmla="*/ 4 h 14"/>
                  <a:gd name="T10" fmla="*/ 20 w 20"/>
                  <a:gd name="T11" fmla="*/ 0 h 14"/>
                  <a:gd name="T12" fmla="*/ 0 w 20"/>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20" h="14">
                    <a:moveTo>
                      <a:pt x="0" y="0"/>
                    </a:moveTo>
                    <a:lnTo>
                      <a:pt x="0" y="14"/>
                    </a:lnTo>
                    <a:lnTo>
                      <a:pt x="5" y="14"/>
                    </a:lnTo>
                    <a:lnTo>
                      <a:pt x="5" y="4"/>
                    </a:lnTo>
                    <a:lnTo>
                      <a:pt x="20" y="4"/>
                    </a:lnTo>
                    <a:lnTo>
                      <a:pt x="2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7760" name="Freeform 352"/>
              <p:cNvSpPr>
                <a:spLocks/>
              </p:cNvSpPr>
              <p:nvPr/>
            </p:nvSpPr>
            <p:spPr bwMode="auto">
              <a:xfrm>
                <a:off x="2564" y="1856"/>
                <a:ext cx="19" cy="15"/>
              </a:xfrm>
              <a:custGeom>
                <a:avLst/>
                <a:gdLst>
                  <a:gd name="T0" fmla="*/ 5 w 19"/>
                  <a:gd name="T1" fmla="*/ 0 h 15"/>
                  <a:gd name="T2" fmla="*/ 5 w 19"/>
                  <a:gd name="T3" fmla="*/ 5 h 15"/>
                  <a:gd name="T4" fmla="*/ 3 w 19"/>
                  <a:gd name="T5" fmla="*/ 5 h 15"/>
                  <a:gd name="T6" fmla="*/ 3 w 19"/>
                  <a:gd name="T7" fmla="*/ 8 h 15"/>
                  <a:gd name="T8" fmla="*/ 1 w 19"/>
                  <a:gd name="T9" fmla="*/ 8 h 15"/>
                  <a:gd name="T10" fmla="*/ 1 w 19"/>
                  <a:gd name="T11" fmla="*/ 13 h 15"/>
                  <a:gd name="T12" fmla="*/ 0 w 19"/>
                  <a:gd name="T13" fmla="*/ 13 h 15"/>
                  <a:gd name="T14" fmla="*/ 0 w 19"/>
                  <a:gd name="T15" fmla="*/ 15 h 15"/>
                  <a:gd name="T16" fmla="*/ 19 w 19"/>
                  <a:gd name="T17" fmla="*/ 15 h 15"/>
                  <a:gd name="T18" fmla="*/ 19 w 19"/>
                  <a:gd name="T19" fmla="*/ 7 h 15"/>
                  <a:gd name="T20" fmla="*/ 8 w 19"/>
                  <a:gd name="T21" fmla="*/ 7 h 15"/>
                  <a:gd name="T22" fmla="*/ 8 w 19"/>
                  <a:gd name="T23" fmla="*/ 5 h 15"/>
                  <a:gd name="T24" fmla="*/ 10 w 19"/>
                  <a:gd name="T25" fmla="*/ 5 h 15"/>
                  <a:gd name="T26" fmla="*/ 10 w 19"/>
                  <a:gd name="T27" fmla="*/ 2 h 15"/>
                  <a:gd name="T28" fmla="*/ 11 w 19"/>
                  <a:gd name="T29" fmla="*/ 2 h 15"/>
                  <a:gd name="T30" fmla="*/ 11 w 19"/>
                  <a:gd name="T31" fmla="*/ 0 h 15"/>
                  <a:gd name="T32" fmla="*/ 5 w 19"/>
                  <a:gd name="T33" fmla="*/ 0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9" h="15">
                    <a:moveTo>
                      <a:pt x="5" y="0"/>
                    </a:moveTo>
                    <a:lnTo>
                      <a:pt x="5" y="5"/>
                    </a:lnTo>
                    <a:lnTo>
                      <a:pt x="3" y="5"/>
                    </a:lnTo>
                    <a:lnTo>
                      <a:pt x="3" y="8"/>
                    </a:lnTo>
                    <a:lnTo>
                      <a:pt x="1" y="8"/>
                    </a:lnTo>
                    <a:lnTo>
                      <a:pt x="1" y="13"/>
                    </a:lnTo>
                    <a:lnTo>
                      <a:pt x="0" y="13"/>
                    </a:lnTo>
                    <a:lnTo>
                      <a:pt x="0" y="15"/>
                    </a:lnTo>
                    <a:lnTo>
                      <a:pt x="19" y="15"/>
                    </a:lnTo>
                    <a:lnTo>
                      <a:pt x="19" y="7"/>
                    </a:lnTo>
                    <a:lnTo>
                      <a:pt x="8" y="7"/>
                    </a:lnTo>
                    <a:lnTo>
                      <a:pt x="8" y="5"/>
                    </a:lnTo>
                    <a:lnTo>
                      <a:pt x="10" y="5"/>
                    </a:lnTo>
                    <a:lnTo>
                      <a:pt x="10" y="2"/>
                    </a:lnTo>
                    <a:lnTo>
                      <a:pt x="11" y="2"/>
                    </a:lnTo>
                    <a:lnTo>
                      <a:pt x="11" y="0"/>
                    </a:lnTo>
                    <a:lnTo>
                      <a:pt x="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7761" name="Freeform 353"/>
              <p:cNvSpPr>
                <a:spLocks/>
              </p:cNvSpPr>
              <p:nvPr/>
            </p:nvSpPr>
            <p:spPr bwMode="auto">
              <a:xfrm>
                <a:off x="2607" y="1856"/>
                <a:ext cx="20" cy="15"/>
              </a:xfrm>
              <a:custGeom>
                <a:avLst/>
                <a:gdLst>
                  <a:gd name="T0" fmla="*/ 10 w 20"/>
                  <a:gd name="T1" fmla="*/ 0 h 15"/>
                  <a:gd name="T2" fmla="*/ 10 w 20"/>
                  <a:gd name="T3" fmla="*/ 4 h 15"/>
                  <a:gd name="T4" fmla="*/ 12 w 20"/>
                  <a:gd name="T5" fmla="*/ 4 h 15"/>
                  <a:gd name="T6" fmla="*/ 12 w 20"/>
                  <a:gd name="T7" fmla="*/ 7 h 15"/>
                  <a:gd name="T8" fmla="*/ 0 w 20"/>
                  <a:gd name="T9" fmla="*/ 7 h 15"/>
                  <a:gd name="T10" fmla="*/ 0 w 20"/>
                  <a:gd name="T11" fmla="*/ 15 h 15"/>
                  <a:gd name="T12" fmla="*/ 20 w 20"/>
                  <a:gd name="T13" fmla="*/ 15 h 15"/>
                  <a:gd name="T14" fmla="*/ 20 w 20"/>
                  <a:gd name="T15" fmla="*/ 12 h 15"/>
                  <a:gd name="T16" fmla="*/ 18 w 20"/>
                  <a:gd name="T17" fmla="*/ 12 h 15"/>
                  <a:gd name="T18" fmla="*/ 18 w 20"/>
                  <a:gd name="T19" fmla="*/ 7 h 15"/>
                  <a:gd name="T20" fmla="*/ 17 w 20"/>
                  <a:gd name="T21" fmla="*/ 7 h 15"/>
                  <a:gd name="T22" fmla="*/ 17 w 20"/>
                  <a:gd name="T23" fmla="*/ 4 h 15"/>
                  <a:gd name="T24" fmla="*/ 15 w 20"/>
                  <a:gd name="T25" fmla="*/ 4 h 15"/>
                  <a:gd name="T26" fmla="*/ 15 w 20"/>
                  <a:gd name="T27" fmla="*/ 0 h 15"/>
                  <a:gd name="T28" fmla="*/ 10 w 20"/>
                  <a:gd name="T29" fmla="*/ 0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 h="15">
                    <a:moveTo>
                      <a:pt x="10" y="0"/>
                    </a:moveTo>
                    <a:lnTo>
                      <a:pt x="10" y="4"/>
                    </a:lnTo>
                    <a:lnTo>
                      <a:pt x="12" y="4"/>
                    </a:lnTo>
                    <a:lnTo>
                      <a:pt x="12" y="7"/>
                    </a:lnTo>
                    <a:lnTo>
                      <a:pt x="0" y="7"/>
                    </a:lnTo>
                    <a:lnTo>
                      <a:pt x="0" y="15"/>
                    </a:lnTo>
                    <a:lnTo>
                      <a:pt x="20" y="15"/>
                    </a:lnTo>
                    <a:lnTo>
                      <a:pt x="20" y="12"/>
                    </a:lnTo>
                    <a:lnTo>
                      <a:pt x="18" y="12"/>
                    </a:lnTo>
                    <a:lnTo>
                      <a:pt x="18" y="7"/>
                    </a:lnTo>
                    <a:lnTo>
                      <a:pt x="17" y="7"/>
                    </a:lnTo>
                    <a:lnTo>
                      <a:pt x="17" y="4"/>
                    </a:lnTo>
                    <a:lnTo>
                      <a:pt x="15" y="4"/>
                    </a:lnTo>
                    <a:lnTo>
                      <a:pt x="15" y="0"/>
                    </a:lnTo>
                    <a:lnTo>
                      <a:pt x="1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7762" name="Freeform 354"/>
              <p:cNvSpPr>
                <a:spLocks/>
              </p:cNvSpPr>
              <p:nvPr/>
            </p:nvSpPr>
            <p:spPr bwMode="auto">
              <a:xfrm>
                <a:off x="2569" y="1845"/>
                <a:ext cx="9" cy="15"/>
              </a:xfrm>
              <a:custGeom>
                <a:avLst/>
                <a:gdLst>
                  <a:gd name="T0" fmla="*/ 5 w 9"/>
                  <a:gd name="T1" fmla="*/ 0 h 15"/>
                  <a:gd name="T2" fmla="*/ 5 w 9"/>
                  <a:gd name="T3" fmla="*/ 3 h 15"/>
                  <a:gd name="T4" fmla="*/ 3 w 9"/>
                  <a:gd name="T5" fmla="*/ 3 h 15"/>
                  <a:gd name="T6" fmla="*/ 3 w 9"/>
                  <a:gd name="T7" fmla="*/ 8 h 15"/>
                  <a:gd name="T8" fmla="*/ 1 w 9"/>
                  <a:gd name="T9" fmla="*/ 8 h 15"/>
                  <a:gd name="T10" fmla="*/ 1 w 9"/>
                  <a:gd name="T11" fmla="*/ 11 h 15"/>
                  <a:gd name="T12" fmla="*/ 0 w 9"/>
                  <a:gd name="T13" fmla="*/ 11 h 15"/>
                  <a:gd name="T14" fmla="*/ 0 w 9"/>
                  <a:gd name="T15" fmla="*/ 15 h 15"/>
                  <a:gd name="T16" fmla="*/ 5 w 9"/>
                  <a:gd name="T17" fmla="*/ 15 h 15"/>
                  <a:gd name="T18" fmla="*/ 5 w 9"/>
                  <a:gd name="T19" fmla="*/ 13 h 15"/>
                  <a:gd name="T20" fmla="*/ 6 w 9"/>
                  <a:gd name="T21" fmla="*/ 13 h 15"/>
                  <a:gd name="T22" fmla="*/ 6 w 9"/>
                  <a:gd name="T23" fmla="*/ 8 h 15"/>
                  <a:gd name="T24" fmla="*/ 8 w 9"/>
                  <a:gd name="T25" fmla="*/ 8 h 15"/>
                  <a:gd name="T26" fmla="*/ 8 w 9"/>
                  <a:gd name="T27" fmla="*/ 5 h 15"/>
                  <a:gd name="T28" fmla="*/ 9 w 9"/>
                  <a:gd name="T29" fmla="*/ 5 h 15"/>
                  <a:gd name="T30" fmla="*/ 9 w 9"/>
                  <a:gd name="T31" fmla="*/ 0 h 15"/>
                  <a:gd name="T32" fmla="*/ 5 w 9"/>
                  <a:gd name="T33" fmla="*/ 0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5" y="0"/>
                    </a:moveTo>
                    <a:lnTo>
                      <a:pt x="5" y="3"/>
                    </a:lnTo>
                    <a:lnTo>
                      <a:pt x="3" y="3"/>
                    </a:lnTo>
                    <a:lnTo>
                      <a:pt x="3" y="8"/>
                    </a:lnTo>
                    <a:lnTo>
                      <a:pt x="1" y="8"/>
                    </a:lnTo>
                    <a:lnTo>
                      <a:pt x="1" y="11"/>
                    </a:lnTo>
                    <a:lnTo>
                      <a:pt x="0" y="11"/>
                    </a:lnTo>
                    <a:lnTo>
                      <a:pt x="0" y="15"/>
                    </a:lnTo>
                    <a:lnTo>
                      <a:pt x="5" y="15"/>
                    </a:lnTo>
                    <a:lnTo>
                      <a:pt x="5" y="13"/>
                    </a:lnTo>
                    <a:lnTo>
                      <a:pt x="6" y="13"/>
                    </a:lnTo>
                    <a:lnTo>
                      <a:pt x="6" y="8"/>
                    </a:lnTo>
                    <a:lnTo>
                      <a:pt x="8" y="8"/>
                    </a:lnTo>
                    <a:lnTo>
                      <a:pt x="8" y="5"/>
                    </a:lnTo>
                    <a:lnTo>
                      <a:pt x="9" y="5"/>
                    </a:lnTo>
                    <a:lnTo>
                      <a:pt x="9" y="0"/>
                    </a:lnTo>
                    <a:lnTo>
                      <a:pt x="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7763" name="Freeform 355"/>
              <p:cNvSpPr>
                <a:spLocks/>
              </p:cNvSpPr>
              <p:nvPr/>
            </p:nvSpPr>
            <p:spPr bwMode="auto">
              <a:xfrm>
                <a:off x="2612" y="1845"/>
                <a:ext cx="10" cy="15"/>
              </a:xfrm>
              <a:custGeom>
                <a:avLst/>
                <a:gdLst>
                  <a:gd name="T0" fmla="*/ 0 w 10"/>
                  <a:gd name="T1" fmla="*/ 0 h 15"/>
                  <a:gd name="T2" fmla="*/ 0 w 10"/>
                  <a:gd name="T3" fmla="*/ 3 h 15"/>
                  <a:gd name="T4" fmla="*/ 2 w 10"/>
                  <a:gd name="T5" fmla="*/ 3 h 15"/>
                  <a:gd name="T6" fmla="*/ 2 w 10"/>
                  <a:gd name="T7" fmla="*/ 6 h 15"/>
                  <a:gd name="T8" fmla="*/ 4 w 10"/>
                  <a:gd name="T9" fmla="*/ 6 h 15"/>
                  <a:gd name="T10" fmla="*/ 4 w 10"/>
                  <a:gd name="T11" fmla="*/ 11 h 15"/>
                  <a:gd name="T12" fmla="*/ 5 w 10"/>
                  <a:gd name="T13" fmla="*/ 11 h 15"/>
                  <a:gd name="T14" fmla="*/ 5 w 10"/>
                  <a:gd name="T15" fmla="*/ 15 h 15"/>
                  <a:gd name="T16" fmla="*/ 10 w 10"/>
                  <a:gd name="T17" fmla="*/ 15 h 15"/>
                  <a:gd name="T18" fmla="*/ 10 w 10"/>
                  <a:gd name="T19" fmla="*/ 10 h 15"/>
                  <a:gd name="T20" fmla="*/ 8 w 10"/>
                  <a:gd name="T21" fmla="*/ 10 h 15"/>
                  <a:gd name="T22" fmla="*/ 8 w 10"/>
                  <a:gd name="T23" fmla="*/ 6 h 15"/>
                  <a:gd name="T24" fmla="*/ 7 w 10"/>
                  <a:gd name="T25" fmla="*/ 6 h 15"/>
                  <a:gd name="T26" fmla="*/ 7 w 10"/>
                  <a:gd name="T27" fmla="*/ 2 h 15"/>
                  <a:gd name="T28" fmla="*/ 5 w 10"/>
                  <a:gd name="T29" fmla="*/ 2 h 15"/>
                  <a:gd name="T30" fmla="*/ 5 w 10"/>
                  <a:gd name="T31" fmla="*/ 0 h 15"/>
                  <a:gd name="T32" fmla="*/ 0 w 10"/>
                  <a:gd name="T33" fmla="*/ 0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 h="15">
                    <a:moveTo>
                      <a:pt x="0" y="0"/>
                    </a:moveTo>
                    <a:lnTo>
                      <a:pt x="0" y="3"/>
                    </a:lnTo>
                    <a:lnTo>
                      <a:pt x="2" y="3"/>
                    </a:lnTo>
                    <a:lnTo>
                      <a:pt x="2" y="6"/>
                    </a:lnTo>
                    <a:lnTo>
                      <a:pt x="4" y="6"/>
                    </a:lnTo>
                    <a:lnTo>
                      <a:pt x="4" y="11"/>
                    </a:lnTo>
                    <a:lnTo>
                      <a:pt x="5" y="11"/>
                    </a:lnTo>
                    <a:lnTo>
                      <a:pt x="5" y="15"/>
                    </a:lnTo>
                    <a:lnTo>
                      <a:pt x="10" y="15"/>
                    </a:lnTo>
                    <a:lnTo>
                      <a:pt x="10" y="10"/>
                    </a:lnTo>
                    <a:lnTo>
                      <a:pt x="8" y="10"/>
                    </a:lnTo>
                    <a:lnTo>
                      <a:pt x="8" y="6"/>
                    </a:lnTo>
                    <a:lnTo>
                      <a:pt x="7" y="6"/>
                    </a:lnTo>
                    <a:lnTo>
                      <a:pt x="7" y="2"/>
                    </a:lnTo>
                    <a:lnTo>
                      <a:pt x="5" y="2"/>
                    </a:lnTo>
                    <a:lnTo>
                      <a:pt x="5"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7764" name="Freeform 356"/>
              <p:cNvSpPr>
                <a:spLocks/>
              </p:cNvSpPr>
              <p:nvPr/>
            </p:nvSpPr>
            <p:spPr bwMode="auto">
              <a:xfrm>
                <a:off x="2574" y="1834"/>
                <a:ext cx="9" cy="14"/>
              </a:xfrm>
              <a:custGeom>
                <a:avLst/>
                <a:gdLst>
                  <a:gd name="T0" fmla="*/ 4 w 9"/>
                  <a:gd name="T1" fmla="*/ 0 h 14"/>
                  <a:gd name="T2" fmla="*/ 4 w 9"/>
                  <a:gd name="T3" fmla="*/ 3 h 14"/>
                  <a:gd name="T4" fmla="*/ 3 w 9"/>
                  <a:gd name="T5" fmla="*/ 3 h 14"/>
                  <a:gd name="T6" fmla="*/ 3 w 9"/>
                  <a:gd name="T7" fmla="*/ 6 h 14"/>
                  <a:gd name="T8" fmla="*/ 1 w 9"/>
                  <a:gd name="T9" fmla="*/ 6 h 14"/>
                  <a:gd name="T10" fmla="*/ 1 w 9"/>
                  <a:gd name="T11" fmla="*/ 11 h 14"/>
                  <a:gd name="T12" fmla="*/ 0 w 9"/>
                  <a:gd name="T13" fmla="*/ 11 h 14"/>
                  <a:gd name="T14" fmla="*/ 0 w 9"/>
                  <a:gd name="T15" fmla="*/ 14 h 14"/>
                  <a:gd name="T16" fmla="*/ 4 w 9"/>
                  <a:gd name="T17" fmla="*/ 14 h 14"/>
                  <a:gd name="T18" fmla="*/ 4 w 9"/>
                  <a:gd name="T19" fmla="*/ 11 h 14"/>
                  <a:gd name="T20" fmla="*/ 6 w 9"/>
                  <a:gd name="T21" fmla="*/ 11 h 14"/>
                  <a:gd name="T22" fmla="*/ 6 w 9"/>
                  <a:gd name="T23" fmla="*/ 8 h 14"/>
                  <a:gd name="T24" fmla="*/ 8 w 9"/>
                  <a:gd name="T25" fmla="*/ 8 h 14"/>
                  <a:gd name="T26" fmla="*/ 8 w 9"/>
                  <a:gd name="T27" fmla="*/ 3 h 14"/>
                  <a:gd name="T28" fmla="*/ 9 w 9"/>
                  <a:gd name="T29" fmla="*/ 3 h 14"/>
                  <a:gd name="T30" fmla="*/ 9 w 9"/>
                  <a:gd name="T31" fmla="*/ 0 h 14"/>
                  <a:gd name="T32" fmla="*/ 4 w 9"/>
                  <a:gd name="T33"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4">
                    <a:moveTo>
                      <a:pt x="4" y="0"/>
                    </a:moveTo>
                    <a:lnTo>
                      <a:pt x="4" y="3"/>
                    </a:lnTo>
                    <a:lnTo>
                      <a:pt x="3" y="3"/>
                    </a:lnTo>
                    <a:lnTo>
                      <a:pt x="3" y="6"/>
                    </a:lnTo>
                    <a:lnTo>
                      <a:pt x="1" y="6"/>
                    </a:lnTo>
                    <a:lnTo>
                      <a:pt x="1" y="11"/>
                    </a:lnTo>
                    <a:lnTo>
                      <a:pt x="0" y="11"/>
                    </a:lnTo>
                    <a:lnTo>
                      <a:pt x="0" y="14"/>
                    </a:lnTo>
                    <a:lnTo>
                      <a:pt x="4" y="14"/>
                    </a:lnTo>
                    <a:lnTo>
                      <a:pt x="4" y="11"/>
                    </a:lnTo>
                    <a:lnTo>
                      <a:pt x="6" y="11"/>
                    </a:lnTo>
                    <a:lnTo>
                      <a:pt x="6" y="8"/>
                    </a:lnTo>
                    <a:lnTo>
                      <a:pt x="8" y="8"/>
                    </a:lnTo>
                    <a:lnTo>
                      <a:pt x="8" y="3"/>
                    </a:lnTo>
                    <a:lnTo>
                      <a:pt x="9" y="3"/>
                    </a:lnTo>
                    <a:lnTo>
                      <a:pt x="9" y="0"/>
                    </a:lnTo>
                    <a:lnTo>
                      <a:pt x="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7765" name="Freeform 357"/>
              <p:cNvSpPr>
                <a:spLocks/>
              </p:cNvSpPr>
              <p:nvPr/>
            </p:nvSpPr>
            <p:spPr bwMode="auto">
              <a:xfrm>
                <a:off x="2607" y="1834"/>
                <a:ext cx="12" cy="14"/>
              </a:xfrm>
              <a:custGeom>
                <a:avLst/>
                <a:gdLst>
                  <a:gd name="T0" fmla="*/ 0 w 12"/>
                  <a:gd name="T1" fmla="*/ 0 h 14"/>
                  <a:gd name="T2" fmla="*/ 2 w 12"/>
                  <a:gd name="T3" fmla="*/ 3 h 14"/>
                  <a:gd name="T4" fmla="*/ 2 w 12"/>
                  <a:gd name="T5" fmla="*/ 6 h 14"/>
                  <a:gd name="T6" fmla="*/ 4 w 12"/>
                  <a:gd name="T7" fmla="*/ 6 h 14"/>
                  <a:gd name="T8" fmla="*/ 4 w 12"/>
                  <a:gd name="T9" fmla="*/ 9 h 14"/>
                  <a:gd name="T10" fmla="*/ 5 w 12"/>
                  <a:gd name="T11" fmla="*/ 9 h 14"/>
                  <a:gd name="T12" fmla="*/ 5 w 12"/>
                  <a:gd name="T13" fmla="*/ 14 h 14"/>
                  <a:gd name="T14" fmla="*/ 12 w 12"/>
                  <a:gd name="T15" fmla="*/ 14 h 14"/>
                  <a:gd name="T16" fmla="*/ 10 w 12"/>
                  <a:gd name="T17" fmla="*/ 11 h 14"/>
                  <a:gd name="T18" fmla="*/ 9 w 12"/>
                  <a:gd name="T19" fmla="*/ 8 h 14"/>
                  <a:gd name="T20" fmla="*/ 9 w 12"/>
                  <a:gd name="T21" fmla="*/ 4 h 14"/>
                  <a:gd name="T22" fmla="*/ 7 w 12"/>
                  <a:gd name="T23" fmla="*/ 4 h 14"/>
                  <a:gd name="T24" fmla="*/ 7 w 12"/>
                  <a:gd name="T25" fmla="*/ 1 h 14"/>
                  <a:gd name="T26" fmla="*/ 5 w 12"/>
                  <a:gd name="T27" fmla="*/ 1 h 14"/>
                  <a:gd name="T28" fmla="*/ 5 w 12"/>
                  <a:gd name="T29" fmla="*/ 0 h 14"/>
                  <a:gd name="T30" fmla="*/ 0 w 12"/>
                  <a:gd name="T31"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 h="14">
                    <a:moveTo>
                      <a:pt x="0" y="0"/>
                    </a:moveTo>
                    <a:lnTo>
                      <a:pt x="2" y="3"/>
                    </a:lnTo>
                    <a:lnTo>
                      <a:pt x="2" y="6"/>
                    </a:lnTo>
                    <a:lnTo>
                      <a:pt x="4" y="6"/>
                    </a:lnTo>
                    <a:lnTo>
                      <a:pt x="4" y="9"/>
                    </a:lnTo>
                    <a:lnTo>
                      <a:pt x="5" y="9"/>
                    </a:lnTo>
                    <a:lnTo>
                      <a:pt x="5" y="14"/>
                    </a:lnTo>
                    <a:lnTo>
                      <a:pt x="12" y="14"/>
                    </a:lnTo>
                    <a:lnTo>
                      <a:pt x="10" y="11"/>
                    </a:lnTo>
                    <a:lnTo>
                      <a:pt x="9" y="8"/>
                    </a:lnTo>
                    <a:lnTo>
                      <a:pt x="9" y="4"/>
                    </a:lnTo>
                    <a:lnTo>
                      <a:pt x="7" y="4"/>
                    </a:lnTo>
                    <a:lnTo>
                      <a:pt x="7" y="1"/>
                    </a:lnTo>
                    <a:lnTo>
                      <a:pt x="5" y="1"/>
                    </a:lnTo>
                    <a:lnTo>
                      <a:pt x="5"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7766" name="Freeform 358"/>
              <p:cNvSpPr>
                <a:spLocks/>
              </p:cNvSpPr>
              <p:nvPr/>
            </p:nvSpPr>
            <p:spPr bwMode="auto">
              <a:xfrm>
                <a:off x="2578" y="1822"/>
                <a:ext cx="10" cy="15"/>
              </a:xfrm>
              <a:custGeom>
                <a:avLst/>
                <a:gdLst>
                  <a:gd name="T0" fmla="*/ 5 w 10"/>
                  <a:gd name="T1" fmla="*/ 0 h 15"/>
                  <a:gd name="T2" fmla="*/ 5 w 10"/>
                  <a:gd name="T3" fmla="*/ 2 h 15"/>
                  <a:gd name="T4" fmla="*/ 4 w 10"/>
                  <a:gd name="T5" fmla="*/ 2 h 15"/>
                  <a:gd name="T6" fmla="*/ 4 w 10"/>
                  <a:gd name="T7" fmla="*/ 5 h 15"/>
                  <a:gd name="T8" fmla="*/ 2 w 10"/>
                  <a:gd name="T9" fmla="*/ 5 h 15"/>
                  <a:gd name="T10" fmla="*/ 2 w 10"/>
                  <a:gd name="T11" fmla="*/ 10 h 15"/>
                  <a:gd name="T12" fmla="*/ 0 w 10"/>
                  <a:gd name="T13" fmla="*/ 10 h 15"/>
                  <a:gd name="T14" fmla="*/ 0 w 10"/>
                  <a:gd name="T15" fmla="*/ 15 h 15"/>
                  <a:gd name="T16" fmla="*/ 5 w 10"/>
                  <a:gd name="T17" fmla="*/ 15 h 15"/>
                  <a:gd name="T18" fmla="*/ 5 w 10"/>
                  <a:gd name="T19" fmla="*/ 12 h 15"/>
                  <a:gd name="T20" fmla="*/ 7 w 10"/>
                  <a:gd name="T21" fmla="*/ 12 h 15"/>
                  <a:gd name="T22" fmla="*/ 7 w 10"/>
                  <a:gd name="T23" fmla="*/ 8 h 15"/>
                  <a:gd name="T24" fmla="*/ 8 w 10"/>
                  <a:gd name="T25" fmla="*/ 8 h 15"/>
                  <a:gd name="T26" fmla="*/ 8 w 10"/>
                  <a:gd name="T27" fmla="*/ 4 h 15"/>
                  <a:gd name="T28" fmla="*/ 10 w 10"/>
                  <a:gd name="T29" fmla="*/ 4 h 15"/>
                  <a:gd name="T30" fmla="*/ 10 w 10"/>
                  <a:gd name="T31" fmla="*/ 0 h 15"/>
                  <a:gd name="T32" fmla="*/ 5 w 10"/>
                  <a:gd name="T33" fmla="*/ 0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 h="15">
                    <a:moveTo>
                      <a:pt x="5" y="0"/>
                    </a:moveTo>
                    <a:lnTo>
                      <a:pt x="5" y="2"/>
                    </a:lnTo>
                    <a:lnTo>
                      <a:pt x="4" y="2"/>
                    </a:lnTo>
                    <a:lnTo>
                      <a:pt x="4" y="5"/>
                    </a:lnTo>
                    <a:lnTo>
                      <a:pt x="2" y="5"/>
                    </a:lnTo>
                    <a:lnTo>
                      <a:pt x="2" y="10"/>
                    </a:lnTo>
                    <a:lnTo>
                      <a:pt x="0" y="10"/>
                    </a:lnTo>
                    <a:lnTo>
                      <a:pt x="0" y="15"/>
                    </a:lnTo>
                    <a:lnTo>
                      <a:pt x="5" y="15"/>
                    </a:lnTo>
                    <a:lnTo>
                      <a:pt x="5" y="12"/>
                    </a:lnTo>
                    <a:lnTo>
                      <a:pt x="7" y="12"/>
                    </a:lnTo>
                    <a:lnTo>
                      <a:pt x="7" y="8"/>
                    </a:lnTo>
                    <a:lnTo>
                      <a:pt x="8" y="8"/>
                    </a:lnTo>
                    <a:lnTo>
                      <a:pt x="8" y="4"/>
                    </a:lnTo>
                    <a:lnTo>
                      <a:pt x="10" y="4"/>
                    </a:lnTo>
                    <a:lnTo>
                      <a:pt x="10" y="0"/>
                    </a:lnTo>
                    <a:lnTo>
                      <a:pt x="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7767" name="Freeform 359"/>
              <p:cNvSpPr>
                <a:spLocks/>
              </p:cNvSpPr>
              <p:nvPr/>
            </p:nvSpPr>
            <p:spPr bwMode="auto">
              <a:xfrm>
                <a:off x="2603" y="1822"/>
                <a:ext cx="11" cy="15"/>
              </a:xfrm>
              <a:custGeom>
                <a:avLst/>
                <a:gdLst>
                  <a:gd name="T0" fmla="*/ 0 w 11"/>
                  <a:gd name="T1" fmla="*/ 0 h 15"/>
                  <a:gd name="T2" fmla="*/ 1 w 11"/>
                  <a:gd name="T3" fmla="*/ 4 h 15"/>
                  <a:gd name="T4" fmla="*/ 1 w 11"/>
                  <a:gd name="T5" fmla="*/ 7 h 15"/>
                  <a:gd name="T6" fmla="*/ 3 w 11"/>
                  <a:gd name="T7" fmla="*/ 7 h 15"/>
                  <a:gd name="T8" fmla="*/ 3 w 11"/>
                  <a:gd name="T9" fmla="*/ 10 h 15"/>
                  <a:gd name="T10" fmla="*/ 4 w 11"/>
                  <a:gd name="T11" fmla="*/ 10 h 15"/>
                  <a:gd name="T12" fmla="*/ 4 w 11"/>
                  <a:gd name="T13" fmla="*/ 13 h 15"/>
                  <a:gd name="T14" fmla="*/ 6 w 11"/>
                  <a:gd name="T15" fmla="*/ 13 h 15"/>
                  <a:gd name="T16" fmla="*/ 6 w 11"/>
                  <a:gd name="T17" fmla="*/ 15 h 15"/>
                  <a:gd name="T18" fmla="*/ 11 w 11"/>
                  <a:gd name="T19" fmla="*/ 15 h 15"/>
                  <a:gd name="T20" fmla="*/ 9 w 11"/>
                  <a:gd name="T21" fmla="*/ 12 h 15"/>
                  <a:gd name="T22" fmla="*/ 9 w 11"/>
                  <a:gd name="T23" fmla="*/ 8 h 15"/>
                  <a:gd name="T24" fmla="*/ 8 w 11"/>
                  <a:gd name="T25" fmla="*/ 8 h 15"/>
                  <a:gd name="T26" fmla="*/ 8 w 11"/>
                  <a:gd name="T27" fmla="*/ 4 h 15"/>
                  <a:gd name="T28" fmla="*/ 6 w 11"/>
                  <a:gd name="T29" fmla="*/ 4 h 15"/>
                  <a:gd name="T30" fmla="*/ 6 w 11"/>
                  <a:gd name="T31" fmla="*/ 0 h 15"/>
                  <a:gd name="T32" fmla="*/ 0 w 11"/>
                  <a:gd name="T33" fmla="*/ 0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 h="15">
                    <a:moveTo>
                      <a:pt x="0" y="0"/>
                    </a:moveTo>
                    <a:lnTo>
                      <a:pt x="1" y="4"/>
                    </a:lnTo>
                    <a:lnTo>
                      <a:pt x="1" y="7"/>
                    </a:lnTo>
                    <a:lnTo>
                      <a:pt x="3" y="7"/>
                    </a:lnTo>
                    <a:lnTo>
                      <a:pt x="3" y="10"/>
                    </a:lnTo>
                    <a:lnTo>
                      <a:pt x="4" y="10"/>
                    </a:lnTo>
                    <a:lnTo>
                      <a:pt x="4" y="13"/>
                    </a:lnTo>
                    <a:lnTo>
                      <a:pt x="6" y="13"/>
                    </a:lnTo>
                    <a:lnTo>
                      <a:pt x="6" y="15"/>
                    </a:lnTo>
                    <a:lnTo>
                      <a:pt x="11" y="15"/>
                    </a:lnTo>
                    <a:lnTo>
                      <a:pt x="9" y="12"/>
                    </a:lnTo>
                    <a:lnTo>
                      <a:pt x="9" y="8"/>
                    </a:lnTo>
                    <a:lnTo>
                      <a:pt x="8" y="8"/>
                    </a:lnTo>
                    <a:lnTo>
                      <a:pt x="8" y="4"/>
                    </a:lnTo>
                    <a:lnTo>
                      <a:pt x="6" y="4"/>
                    </a:lnTo>
                    <a:lnTo>
                      <a:pt x="6"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7768" name="Freeform 360"/>
              <p:cNvSpPr>
                <a:spLocks/>
              </p:cNvSpPr>
              <p:nvPr/>
            </p:nvSpPr>
            <p:spPr bwMode="auto">
              <a:xfrm>
                <a:off x="2582" y="1811"/>
                <a:ext cx="11" cy="15"/>
              </a:xfrm>
              <a:custGeom>
                <a:avLst/>
                <a:gdLst>
                  <a:gd name="T0" fmla="*/ 4 w 11"/>
                  <a:gd name="T1" fmla="*/ 0 h 15"/>
                  <a:gd name="T2" fmla="*/ 4 w 11"/>
                  <a:gd name="T3" fmla="*/ 5 h 15"/>
                  <a:gd name="T4" fmla="*/ 3 w 11"/>
                  <a:gd name="T5" fmla="*/ 5 h 15"/>
                  <a:gd name="T6" fmla="*/ 3 w 11"/>
                  <a:gd name="T7" fmla="*/ 8 h 15"/>
                  <a:gd name="T8" fmla="*/ 1 w 11"/>
                  <a:gd name="T9" fmla="*/ 8 h 15"/>
                  <a:gd name="T10" fmla="*/ 1 w 11"/>
                  <a:gd name="T11" fmla="*/ 13 h 15"/>
                  <a:gd name="T12" fmla="*/ 0 w 11"/>
                  <a:gd name="T13" fmla="*/ 13 h 15"/>
                  <a:gd name="T14" fmla="*/ 0 w 11"/>
                  <a:gd name="T15" fmla="*/ 15 h 15"/>
                  <a:gd name="T16" fmla="*/ 6 w 11"/>
                  <a:gd name="T17" fmla="*/ 15 h 15"/>
                  <a:gd name="T18" fmla="*/ 6 w 11"/>
                  <a:gd name="T19" fmla="*/ 11 h 15"/>
                  <a:gd name="T20" fmla="*/ 8 w 11"/>
                  <a:gd name="T21" fmla="*/ 11 h 15"/>
                  <a:gd name="T22" fmla="*/ 8 w 11"/>
                  <a:gd name="T23" fmla="*/ 6 h 15"/>
                  <a:gd name="T24" fmla="*/ 9 w 11"/>
                  <a:gd name="T25" fmla="*/ 6 h 15"/>
                  <a:gd name="T26" fmla="*/ 9 w 11"/>
                  <a:gd name="T27" fmla="*/ 3 h 15"/>
                  <a:gd name="T28" fmla="*/ 11 w 11"/>
                  <a:gd name="T29" fmla="*/ 3 h 15"/>
                  <a:gd name="T30" fmla="*/ 11 w 11"/>
                  <a:gd name="T31" fmla="*/ 0 h 15"/>
                  <a:gd name="T32" fmla="*/ 4 w 11"/>
                  <a:gd name="T33" fmla="*/ 0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 h="15">
                    <a:moveTo>
                      <a:pt x="4" y="0"/>
                    </a:moveTo>
                    <a:lnTo>
                      <a:pt x="4" y="5"/>
                    </a:lnTo>
                    <a:lnTo>
                      <a:pt x="3" y="5"/>
                    </a:lnTo>
                    <a:lnTo>
                      <a:pt x="3" y="8"/>
                    </a:lnTo>
                    <a:lnTo>
                      <a:pt x="1" y="8"/>
                    </a:lnTo>
                    <a:lnTo>
                      <a:pt x="1" y="13"/>
                    </a:lnTo>
                    <a:lnTo>
                      <a:pt x="0" y="13"/>
                    </a:lnTo>
                    <a:lnTo>
                      <a:pt x="0" y="15"/>
                    </a:lnTo>
                    <a:lnTo>
                      <a:pt x="6" y="15"/>
                    </a:lnTo>
                    <a:lnTo>
                      <a:pt x="6" y="11"/>
                    </a:lnTo>
                    <a:lnTo>
                      <a:pt x="8" y="11"/>
                    </a:lnTo>
                    <a:lnTo>
                      <a:pt x="8" y="6"/>
                    </a:lnTo>
                    <a:lnTo>
                      <a:pt x="9" y="6"/>
                    </a:lnTo>
                    <a:lnTo>
                      <a:pt x="9" y="3"/>
                    </a:lnTo>
                    <a:lnTo>
                      <a:pt x="11" y="3"/>
                    </a:lnTo>
                    <a:lnTo>
                      <a:pt x="11" y="0"/>
                    </a:lnTo>
                    <a:lnTo>
                      <a:pt x="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7769" name="Freeform 361"/>
              <p:cNvSpPr>
                <a:spLocks/>
              </p:cNvSpPr>
              <p:nvPr/>
            </p:nvSpPr>
            <p:spPr bwMode="auto">
              <a:xfrm>
                <a:off x="2598" y="1811"/>
                <a:ext cx="11" cy="15"/>
              </a:xfrm>
              <a:custGeom>
                <a:avLst/>
                <a:gdLst>
                  <a:gd name="T0" fmla="*/ 0 w 11"/>
                  <a:gd name="T1" fmla="*/ 0 h 15"/>
                  <a:gd name="T2" fmla="*/ 1 w 11"/>
                  <a:gd name="T3" fmla="*/ 3 h 15"/>
                  <a:gd name="T4" fmla="*/ 3 w 11"/>
                  <a:gd name="T5" fmla="*/ 6 h 15"/>
                  <a:gd name="T6" fmla="*/ 3 w 11"/>
                  <a:gd name="T7" fmla="*/ 10 h 15"/>
                  <a:gd name="T8" fmla="*/ 5 w 11"/>
                  <a:gd name="T9" fmla="*/ 10 h 15"/>
                  <a:gd name="T10" fmla="*/ 5 w 11"/>
                  <a:gd name="T11" fmla="*/ 13 h 15"/>
                  <a:gd name="T12" fmla="*/ 6 w 11"/>
                  <a:gd name="T13" fmla="*/ 13 h 15"/>
                  <a:gd name="T14" fmla="*/ 6 w 11"/>
                  <a:gd name="T15" fmla="*/ 15 h 15"/>
                  <a:gd name="T16" fmla="*/ 11 w 11"/>
                  <a:gd name="T17" fmla="*/ 15 h 15"/>
                  <a:gd name="T18" fmla="*/ 11 w 11"/>
                  <a:gd name="T19" fmla="*/ 11 h 15"/>
                  <a:gd name="T20" fmla="*/ 9 w 11"/>
                  <a:gd name="T21" fmla="*/ 11 h 15"/>
                  <a:gd name="T22" fmla="*/ 9 w 11"/>
                  <a:gd name="T23" fmla="*/ 6 h 15"/>
                  <a:gd name="T24" fmla="*/ 8 w 11"/>
                  <a:gd name="T25" fmla="*/ 6 h 15"/>
                  <a:gd name="T26" fmla="*/ 8 w 11"/>
                  <a:gd name="T27" fmla="*/ 3 h 15"/>
                  <a:gd name="T28" fmla="*/ 6 w 11"/>
                  <a:gd name="T29" fmla="*/ 3 h 15"/>
                  <a:gd name="T30" fmla="*/ 6 w 11"/>
                  <a:gd name="T31" fmla="*/ 0 h 15"/>
                  <a:gd name="T32" fmla="*/ 0 w 11"/>
                  <a:gd name="T33" fmla="*/ 0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 h="15">
                    <a:moveTo>
                      <a:pt x="0" y="0"/>
                    </a:moveTo>
                    <a:lnTo>
                      <a:pt x="1" y="3"/>
                    </a:lnTo>
                    <a:lnTo>
                      <a:pt x="3" y="6"/>
                    </a:lnTo>
                    <a:lnTo>
                      <a:pt x="3" y="10"/>
                    </a:lnTo>
                    <a:lnTo>
                      <a:pt x="5" y="10"/>
                    </a:lnTo>
                    <a:lnTo>
                      <a:pt x="5" y="13"/>
                    </a:lnTo>
                    <a:lnTo>
                      <a:pt x="6" y="13"/>
                    </a:lnTo>
                    <a:lnTo>
                      <a:pt x="6" y="15"/>
                    </a:lnTo>
                    <a:lnTo>
                      <a:pt x="11" y="15"/>
                    </a:lnTo>
                    <a:lnTo>
                      <a:pt x="11" y="11"/>
                    </a:lnTo>
                    <a:lnTo>
                      <a:pt x="9" y="11"/>
                    </a:lnTo>
                    <a:lnTo>
                      <a:pt x="9" y="6"/>
                    </a:lnTo>
                    <a:lnTo>
                      <a:pt x="8" y="6"/>
                    </a:lnTo>
                    <a:lnTo>
                      <a:pt x="8" y="3"/>
                    </a:lnTo>
                    <a:lnTo>
                      <a:pt x="6" y="3"/>
                    </a:lnTo>
                    <a:lnTo>
                      <a:pt x="6"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7770" name="Freeform 362"/>
              <p:cNvSpPr>
                <a:spLocks/>
              </p:cNvSpPr>
              <p:nvPr/>
            </p:nvSpPr>
            <p:spPr bwMode="auto">
              <a:xfrm>
                <a:off x="2586" y="1800"/>
                <a:ext cx="15" cy="14"/>
              </a:xfrm>
              <a:custGeom>
                <a:avLst/>
                <a:gdLst>
                  <a:gd name="T0" fmla="*/ 5 w 15"/>
                  <a:gd name="T1" fmla="*/ 0 h 14"/>
                  <a:gd name="T2" fmla="*/ 5 w 15"/>
                  <a:gd name="T3" fmla="*/ 3 h 14"/>
                  <a:gd name="T4" fmla="*/ 4 w 15"/>
                  <a:gd name="T5" fmla="*/ 3 h 14"/>
                  <a:gd name="T6" fmla="*/ 4 w 15"/>
                  <a:gd name="T7" fmla="*/ 8 h 14"/>
                  <a:gd name="T8" fmla="*/ 2 w 15"/>
                  <a:gd name="T9" fmla="*/ 8 h 14"/>
                  <a:gd name="T10" fmla="*/ 2 w 15"/>
                  <a:gd name="T11" fmla="*/ 11 h 14"/>
                  <a:gd name="T12" fmla="*/ 0 w 15"/>
                  <a:gd name="T13" fmla="*/ 11 h 14"/>
                  <a:gd name="T14" fmla="*/ 0 w 15"/>
                  <a:gd name="T15" fmla="*/ 14 h 14"/>
                  <a:gd name="T16" fmla="*/ 7 w 15"/>
                  <a:gd name="T17" fmla="*/ 14 h 14"/>
                  <a:gd name="T18" fmla="*/ 7 w 15"/>
                  <a:gd name="T19" fmla="*/ 9 h 14"/>
                  <a:gd name="T20" fmla="*/ 9 w 15"/>
                  <a:gd name="T21" fmla="*/ 9 h 14"/>
                  <a:gd name="T22" fmla="*/ 9 w 15"/>
                  <a:gd name="T23" fmla="*/ 6 h 14"/>
                  <a:gd name="T24" fmla="*/ 15 w 15"/>
                  <a:gd name="T25" fmla="*/ 6 h 14"/>
                  <a:gd name="T26" fmla="*/ 15 w 15"/>
                  <a:gd name="T27" fmla="*/ 1 h 14"/>
                  <a:gd name="T28" fmla="*/ 13 w 15"/>
                  <a:gd name="T29" fmla="*/ 1 h 14"/>
                  <a:gd name="T30" fmla="*/ 13 w 15"/>
                  <a:gd name="T31" fmla="*/ 0 h 14"/>
                  <a:gd name="T32" fmla="*/ 5 w 15"/>
                  <a:gd name="T33"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 h="14">
                    <a:moveTo>
                      <a:pt x="5" y="0"/>
                    </a:moveTo>
                    <a:lnTo>
                      <a:pt x="5" y="3"/>
                    </a:lnTo>
                    <a:lnTo>
                      <a:pt x="4" y="3"/>
                    </a:lnTo>
                    <a:lnTo>
                      <a:pt x="4" y="8"/>
                    </a:lnTo>
                    <a:lnTo>
                      <a:pt x="2" y="8"/>
                    </a:lnTo>
                    <a:lnTo>
                      <a:pt x="2" y="11"/>
                    </a:lnTo>
                    <a:lnTo>
                      <a:pt x="0" y="11"/>
                    </a:lnTo>
                    <a:lnTo>
                      <a:pt x="0" y="14"/>
                    </a:lnTo>
                    <a:lnTo>
                      <a:pt x="7" y="14"/>
                    </a:lnTo>
                    <a:lnTo>
                      <a:pt x="7" y="9"/>
                    </a:lnTo>
                    <a:lnTo>
                      <a:pt x="9" y="9"/>
                    </a:lnTo>
                    <a:lnTo>
                      <a:pt x="9" y="6"/>
                    </a:lnTo>
                    <a:lnTo>
                      <a:pt x="15" y="6"/>
                    </a:lnTo>
                    <a:lnTo>
                      <a:pt x="15" y="1"/>
                    </a:lnTo>
                    <a:lnTo>
                      <a:pt x="13" y="1"/>
                    </a:lnTo>
                    <a:lnTo>
                      <a:pt x="13" y="0"/>
                    </a:lnTo>
                    <a:lnTo>
                      <a:pt x="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7771" name="Freeform 363"/>
              <p:cNvSpPr>
                <a:spLocks/>
              </p:cNvSpPr>
              <p:nvPr/>
            </p:nvSpPr>
            <p:spPr bwMode="auto">
              <a:xfrm>
                <a:off x="2596" y="1806"/>
                <a:ext cx="8" cy="8"/>
              </a:xfrm>
              <a:custGeom>
                <a:avLst/>
                <a:gdLst>
                  <a:gd name="T0" fmla="*/ 0 w 8"/>
                  <a:gd name="T1" fmla="*/ 0 h 8"/>
                  <a:gd name="T2" fmla="*/ 2 w 8"/>
                  <a:gd name="T3" fmla="*/ 3 h 8"/>
                  <a:gd name="T4" fmla="*/ 2 w 8"/>
                  <a:gd name="T5" fmla="*/ 7 h 8"/>
                  <a:gd name="T6" fmla="*/ 3 w 8"/>
                  <a:gd name="T7" fmla="*/ 7 h 8"/>
                  <a:gd name="T8" fmla="*/ 3 w 8"/>
                  <a:gd name="T9" fmla="*/ 8 h 8"/>
                  <a:gd name="T10" fmla="*/ 8 w 8"/>
                  <a:gd name="T11" fmla="*/ 8 h 8"/>
                  <a:gd name="T12" fmla="*/ 8 w 8"/>
                  <a:gd name="T13" fmla="*/ 3 h 8"/>
                  <a:gd name="T14" fmla="*/ 7 w 8"/>
                  <a:gd name="T15" fmla="*/ 3 h 8"/>
                  <a:gd name="T16" fmla="*/ 7 w 8"/>
                  <a:gd name="T17" fmla="*/ 0 h 8"/>
                  <a:gd name="T18" fmla="*/ 0 w 8"/>
                  <a:gd name="T19"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 h="8">
                    <a:moveTo>
                      <a:pt x="0" y="0"/>
                    </a:moveTo>
                    <a:lnTo>
                      <a:pt x="2" y="3"/>
                    </a:lnTo>
                    <a:lnTo>
                      <a:pt x="2" y="7"/>
                    </a:lnTo>
                    <a:lnTo>
                      <a:pt x="3" y="7"/>
                    </a:lnTo>
                    <a:lnTo>
                      <a:pt x="3" y="8"/>
                    </a:lnTo>
                    <a:lnTo>
                      <a:pt x="8" y="8"/>
                    </a:lnTo>
                    <a:lnTo>
                      <a:pt x="8" y="3"/>
                    </a:lnTo>
                    <a:lnTo>
                      <a:pt x="7" y="3"/>
                    </a:lnTo>
                    <a:lnTo>
                      <a:pt x="7"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7772" name="Freeform 364"/>
              <p:cNvSpPr>
                <a:spLocks/>
              </p:cNvSpPr>
              <p:nvPr/>
            </p:nvSpPr>
            <p:spPr bwMode="auto">
              <a:xfrm>
                <a:off x="2591" y="1790"/>
                <a:ext cx="10" cy="13"/>
              </a:xfrm>
              <a:custGeom>
                <a:avLst/>
                <a:gdLst>
                  <a:gd name="T0" fmla="*/ 4 w 10"/>
                  <a:gd name="T1" fmla="*/ 0 h 13"/>
                  <a:gd name="T2" fmla="*/ 4 w 10"/>
                  <a:gd name="T3" fmla="*/ 5 h 13"/>
                  <a:gd name="T4" fmla="*/ 2 w 10"/>
                  <a:gd name="T5" fmla="*/ 5 h 13"/>
                  <a:gd name="T6" fmla="*/ 2 w 10"/>
                  <a:gd name="T7" fmla="*/ 10 h 13"/>
                  <a:gd name="T8" fmla="*/ 0 w 10"/>
                  <a:gd name="T9" fmla="*/ 10 h 13"/>
                  <a:gd name="T10" fmla="*/ 0 w 10"/>
                  <a:gd name="T11" fmla="*/ 13 h 13"/>
                  <a:gd name="T12" fmla="*/ 10 w 10"/>
                  <a:gd name="T13" fmla="*/ 13 h 13"/>
                  <a:gd name="T14" fmla="*/ 8 w 10"/>
                  <a:gd name="T15" fmla="*/ 10 h 13"/>
                  <a:gd name="T16" fmla="*/ 7 w 10"/>
                  <a:gd name="T17" fmla="*/ 6 h 13"/>
                  <a:gd name="T18" fmla="*/ 7 w 10"/>
                  <a:gd name="T19" fmla="*/ 3 h 13"/>
                  <a:gd name="T20" fmla="*/ 5 w 10"/>
                  <a:gd name="T21" fmla="*/ 3 h 13"/>
                  <a:gd name="T22" fmla="*/ 5 w 10"/>
                  <a:gd name="T23" fmla="*/ 0 h 13"/>
                  <a:gd name="T24" fmla="*/ 4 w 10"/>
                  <a:gd name="T25"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 h="13">
                    <a:moveTo>
                      <a:pt x="4" y="0"/>
                    </a:moveTo>
                    <a:lnTo>
                      <a:pt x="4" y="5"/>
                    </a:lnTo>
                    <a:lnTo>
                      <a:pt x="2" y="5"/>
                    </a:lnTo>
                    <a:lnTo>
                      <a:pt x="2" y="10"/>
                    </a:lnTo>
                    <a:lnTo>
                      <a:pt x="0" y="10"/>
                    </a:lnTo>
                    <a:lnTo>
                      <a:pt x="0" y="13"/>
                    </a:lnTo>
                    <a:lnTo>
                      <a:pt x="10" y="13"/>
                    </a:lnTo>
                    <a:lnTo>
                      <a:pt x="8" y="10"/>
                    </a:lnTo>
                    <a:lnTo>
                      <a:pt x="7" y="6"/>
                    </a:lnTo>
                    <a:lnTo>
                      <a:pt x="7" y="3"/>
                    </a:lnTo>
                    <a:lnTo>
                      <a:pt x="5" y="3"/>
                    </a:lnTo>
                    <a:lnTo>
                      <a:pt x="5" y="0"/>
                    </a:lnTo>
                    <a:lnTo>
                      <a:pt x="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7773" name="Freeform 365"/>
              <p:cNvSpPr>
                <a:spLocks/>
              </p:cNvSpPr>
              <p:nvPr/>
            </p:nvSpPr>
            <p:spPr bwMode="auto">
              <a:xfrm>
                <a:off x="2570" y="1801"/>
                <a:ext cx="49" cy="123"/>
              </a:xfrm>
              <a:custGeom>
                <a:avLst/>
                <a:gdLst>
                  <a:gd name="T0" fmla="*/ 12 w 49"/>
                  <a:gd name="T1" fmla="*/ 123 h 123"/>
                  <a:gd name="T2" fmla="*/ 12 w 49"/>
                  <a:gd name="T3" fmla="*/ 62 h 123"/>
                  <a:gd name="T4" fmla="*/ 0 w 49"/>
                  <a:gd name="T5" fmla="*/ 62 h 123"/>
                  <a:gd name="T6" fmla="*/ 25 w 49"/>
                  <a:gd name="T7" fmla="*/ 0 h 123"/>
                  <a:gd name="T8" fmla="*/ 49 w 49"/>
                  <a:gd name="T9" fmla="*/ 62 h 123"/>
                  <a:gd name="T10" fmla="*/ 37 w 49"/>
                  <a:gd name="T11" fmla="*/ 62 h 123"/>
                  <a:gd name="T12" fmla="*/ 37 w 49"/>
                  <a:gd name="T13" fmla="*/ 123 h 123"/>
                  <a:gd name="T14" fmla="*/ 12 w 49"/>
                  <a:gd name="T15" fmla="*/ 123 h 1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123">
                    <a:moveTo>
                      <a:pt x="12" y="123"/>
                    </a:moveTo>
                    <a:lnTo>
                      <a:pt x="12" y="62"/>
                    </a:lnTo>
                    <a:lnTo>
                      <a:pt x="0" y="62"/>
                    </a:lnTo>
                    <a:lnTo>
                      <a:pt x="25" y="0"/>
                    </a:lnTo>
                    <a:lnTo>
                      <a:pt x="49" y="62"/>
                    </a:lnTo>
                    <a:lnTo>
                      <a:pt x="37" y="62"/>
                    </a:lnTo>
                    <a:lnTo>
                      <a:pt x="37" y="123"/>
                    </a:lnTo>
                    <a:lnTo>
                      <a:pt x="12" y="123"/>
                    </a:lnTo>
                  </a:path>
                </a:pathLst>
              </a:custGeom>
              <a:grpFill/>
              <a:ln w="0">
                <a:solidFill>
                  <a:srgbClr val="000000"/>
                </a:solidFill>
                <a:prstDash val="solid"/>
                <a:round/>
                <a:headEnd/>
                <a:tailEnd/>
              </a:ln>
              <a:extLst/>
            </p:spPr>
            <p:txBody>
              <a:bodyPr/>
              <a:lstStyle/>
              <a:p>
                <a:pPr>
                  <a:defRPr/>
                </a:pPr>
                <a:endParaRPr lang="en-US"/>
              </a:p>
            </p:txBody>
          </p:sp>
          <p:sp>
            <p:nvSpPr>
              <p:cNvPr id="17774" name="Freeform 366"/>
              <p:cNvSpPr>
                <a:spLocks/>
              </p:cNvSpPr>
              <p:nvPr/>
            </p:nvSpPr>
            <p:spPr bwMode="auto">
              <a:xfrm>
                <a:off x="2564" y="1790"/>
                <a:ext cx="61" cy="142"/>
              </a:xfrm>
              <a:custGeom>
                <a:avLst/>
                <a:gdLst>
                  <a:gd name="T0" fmla="*/ 16 w 61"/>
                  <a:gd name="T1" fmla="*/ 134 h 142"/>
                  <a:gd name="T2" fmla="*/ 16 w 61"/>
                  <a:gd name="T3" fmla="*/ 81 h 142"/>
                  <a:gd name="T4" fmla="*/ 0 w 61"/>
                  <a:gd name="T5" fmla="*/ 81 h 142"/>
                  <a:gd name="T6" fmla="*/ 31 w 61"/>
                  <a:gd name="T7" fmla="*/ 0 h 142"/>
                  <a:gd name="T8" fmla="*/ 61 w 61"/>
                  <a:gd name="T9" fmla="*/ 81 h 142"/>
                  <a:gd name="T10" fmla="*/ 47 w 61"/>
                  <a:gd name="T11" fmla="*/ 81 h 142"/>
                  <a:gd name="T12" fmla="*/ 47 w 61"/>
                  <a:gd name="T13" fmla="*/ 142 h 142"/>
                  <a:gd name="T14" fmla="*/ 16 w 61"/>
                  <a:gd name="T15" fmla="*/ 142 h 142"/>
                  <a:gd name="T16" fmla="*/ 16 w 61"/>
                  <a:gd name="T17" fmla="*/ 134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142">
                    <a:moveTo>
                      <a:pt x="16" y="134"/>
                    </a:moveTo>
                    <a:lnTo>
                      <a:pt x="16" y="81"/>
                    </a:lnTo>
                    <a:lnTo>
                      <a:pt x="0" y="81"/>
                    </a:lnTo>
                    <a:lnTo>
                      <a:pt x="31" y="0"/>
                    </a:lnTo>
                    <a:lnTo>
                      <a:pt x="61" y="81"/>
                    </a:lnTo>
                    <a:lnTo>
                      <a:pt x="47" y="81"/>
                    </a:lnTo>
                    <a:lnTo>
                      <a:pt x="47" y="142"/>
                    </a:lnTo>
                    <a:lnTo>
                      <a:pt x="16" y="142"/>
                    </a:lnTo>
                    <a:lnTo>
                      <a:pt x="16" y="134"/>
                    </a:lnTo>
                  </a:path>
                </a:pathLst>
              </a:custGeom>
              <a:grpFill/>
              <a:ln w="0">
                <a:solidFill>
                  <a:srgbClr val="000000"/>
                </a:solidFill>
                <a:prstDash val="solid"/>
                <a:round/>
                <a:headEnd/>
                <a:tailEnd/>
              </a:ln>
              <a:extLst/>
            </p:spPr>
            <p:txBody>
              <a:bodyPr/>
              <a:lstStyle/>
              <a:p>
                <a:pPr>
                  <a:defRPr/>
                </a:pPr>
                <a:endParaRPr lang="en-US"/>
              </a:p>
            </p:txBody>
          </p:sp>
          <p:sp>
            <p:nvSpPr>
              <p:cNvPr id="17775" name="Freeform 367"/>
              <p:cNvSpPr>
                <a:spLocks/>
              </p:cNvSpPr>
              <p:nvPr/>
            </p:nvSpPr>
            <p:spPr bwMode="auto">
              <a:xfrm>
                <a:off x="2742" y="3115"/>
                <a:ext cx="63" cy="141"/>
              </a:xfrm>
              <a:custGeom>
                <a:avLst/>
                <a:gdLst>
                  <a:gd name="T0" fmla="*/ 29 w 63"/>
                  <a:gd name="T1" fmla="*/ 3 h 141"/>
                  <a:gd name="T2" fmla="*/ 27 w 63"/>
                  <a:gd name="T3" fmla="*/ 11 h 141"/>
                  <a:gd name="T4" fmla="*/ 35 w 63"/>
                  <a:gd name="T5" fmla="*/ 15 h 141"/>
                  <a:gd name="T6" fmla="*/ 37 w 63"/>
                  <a:gd name="T7" fmla="*/ 24 h 141"/>
                  <a:gd name="T8" fmla="*/ 40 w 63"/>
                  <a:gd name="T9" fmla="*/ 28 h 141"/>
                  <a:gd name="T10" fmla="*/ 42 w 63"/>
                  <a:gd name="T11" fmla="*/ 36 h 141"/>
                  <a:gd name="T12" fmla="*/ 45 w 63"/>
                  <a:gd name="T13" fmla="*/ 40 h 141"/>
                  <a:gd name="T14" fmla="*/ 47 w 63"/>
                  <a:gd name="T15" fmla="*/ 49 h 141"/>
                  <a:gd name="T16" fmla="*/ 50 w 63"/>
                  <a:gd name="T17" fmla="*/ 53 h 141"/>
                  <a:gd name="T18" fmla="*/ 51 w 63"/>
                  <a:gd name="T19" fmla="*/ 61 h 141"/>
                  <a:gd name="T20" fmla="*/ 55 w 63"/>
                  <a:gd name="T21" fmla="*/ 66 h 141"/>
                  <a:gd name="T22" fmla="*/ 56 w 63"/>
                  <a:gd name="T23" fmla="*/ 71 h 141"/>
                  <a:gd name="T24" fmla="*/ 19 w 63"/>
                  <a:gd name="T25" fmla="*/ 133 h 141"/>
                  <a:gd name="T26" fmla="*/ 6 w 63"/>
                  <a:gd name="T27" fmla="*/ 70 h 141"/>
                  <a:gd name="T28" fmla="*/ 9 w 63"/>
                  <a:gd name="T29" fmla="*/ 66 h 141"/>
                  <a:gd name="T30" fmla="*/ 11 w 63"/>
                  <a:gd name="T31" fmla="*/ 58 h 141"/>
                  <a:gd name="T32" fmla="*/ 14 w 63"/>
                  <a:gd name="T33" fmla="*/ 55 h 141"/>
                  <a:gd name="T34" fmla="*/ 16 w 63"/>
                  <a:gd name="T35" fmla="*/ 47 h 141"/>
                  <a:gd name="T36" fmla="*/ 19 w 63"/>
                  <a:gd name="T37" fmla="*/ 42 h 141"/>
                  <a:gd name="T38" fmla="*/ 21 w 63"/>
                  <a:gd name="T39" fmla="*/ 34 h 141"/>
                  <a:gd name="T40" fmla="*/ 24 w 63"/>
                  <a:gd name="T41" fmla="*/ 31 h 141"/>
                  <a:gd name="T42" fmla="*/ 25 w 63"/>
                  <a:gd name="T43" fmla="*/ 23 h 141"/>
                  <a:gd name="T44" fmla="*/ 29 w 63"/>
                  <a:gd name="T45" fmla="*/ 19 h 141"/>
                  <a:gd name="T46" fmla="*/ 30 w 63"/>
                  <a:gd name="T47" fmla="*/ 11 h 141"/>
                  <a:gd name="T48" fmla="*/ 24 w 63"/>
                  <a:gd name="T49" fmla="*/ 16 h 141"/>
                  <a:gd name="T50" fmla="*/ 22 w 63"/>
                  <a:gd name="T51" fmla="*/ 24 h 141"/>
                  <a:gd name="T52" fmla="*/ 19 w 63"/>
                  <a:gd name="T53" fmla="*/ 29 h 141"/>
                  <a:gd name="T54" fmla="*/ 17 w 63"/>
                  <a:gd name="T55" fmla="*/ 37 h 141"/>
                  <a:gd name="T56" fmla="*/ 14 w 63"/>
                  <a:gd name="T57" fmla="*/ 40 h 141"/>
                  <a:gd name="T58" fmla="*/ 13 w 63"/>
                  <a:gd name="T59" fmla="*/ 49 h 141"/>
                  <a:gd name="T60" fmla="*/ 9 w 63"/>
                  <a:gd name="T61" fmla="*/ 53 h 141"/>
                  <a:gd name="T62" fmla="*/ 8 w 63"/>
                  <a:gd name="T63" fmla="*/ 61 h 141"/>
                  <a:gd name="T64" fmla="*/ 4 w 63"/>
                  <a:gd name="T65" fmla="*/ 66 h 141"/>
                  <a:gd name="T66" fmla="*/ 3 w 63"/>
                  <a:gd name="T67" fmla="*/ 74 h 141"/>
                  <a:gd name="T68" fmla="*/ 0 w 63"/>
                  <a:gd name="T69" fmla="*/ 78 h 141"/>
                  <a:gd name="T70" fmla="*/ 16 w 63"/>
                  <a:gd name="T71" fmla="*/ 141 h 141"/>
                  <a:gd name="T72" fmla="*/ 63 w 63"/>
                  <a:gd name="T73" fmla="*/ 81 h 141"/>
                  <a:gd name="T74" fmla="*/ 61 w 63"/>
                  <a:gd name="T75" fmla="*/ 73 h 141"/>
                  <a:gd name="T76" fmla="*/ 58 w 63"/>
                  <a:gd name="T77" fmla="*/ 70 h 141"/>
                  <a:gd name="T78" fmla="*/ 56 w 63"/>
                  <a:gd name="T79" fmla="*/ 60 h 141"/>
                  <a:gd name="T80" fmla="*/ 53 w 63"/>
                  <a:gd name="T81" fmla="*/ 57 h 141"/>
                  <a:gd name="T82" fmla="*/ 51 w 63"/>
                  <a:gd name="T83" fmla="*/ 47 h 141"/>
                  <a:gd name="T84" fmla="*/ 48 w 63"/>
                  <a:gd name="T85" fmla="*/ 44 h 141"/>
                  <a:gd name="T86" fmla="*/ 47 w 63"/>
                  <a:gd name="T87" fmla="*/ 34 h 141"/>
                  <a:gd name="T88" fmla="*/ 43 w 63"/>
                  <a:gd name="T89" fmla="*/ 31 h 141"/>
                  <a:gd name="T90" fmla="*/ 42 w 63"/>
                  <a:gd name="T91" fmla="*/ 21 h 141"/>
                  <a:gd name="T92" fmla="*/ 38 w 63"/>
                  <a:gd name="T93" fmla="*/ 18 h 141"/>
                  <a:gd name="T94" fmla="*/ 37 w 63"/>
                  <a:gd name="T95" fmla="*/ 8 h 141"/>
                  <a:gd name="T96" fmla="*/ 34 w 63"/>
                  <a:gd name="T97" fmla="*/ 5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3" h="141">
                    <a:moveTo>
                      <a:pt x="30" y="0"/>
                    </a:moveTo>
                    <a:lnTo>
                      <a:pt x="30" y="3"/>
                    </a:lnTo>
                    <a:lnTo>
                      <a:pt x="29" y="3"/>
                    </a:lnTo>
                    <a:lnTo>
                      <a:pt x="29" y="8"/>
                    </a:lnTo>
                    <a:lnTo>
                      <a:pt x="27" y="8"/>
                    </a:lnTo>
                    <a:lnTo>
                      <a:pt x="27" y="11"/>
                    </a:lnTo>
                    <a:lnTo>
                      <a:pt x="34" y="11"/>
                    </a:lnTo>
                    <a:lnTo>
                      <a:pt x="34" y="15"/>
                    </a:lnTo>
                    <a:lnTo>
                      <a:pt x="35" y="15"/>
                    </a:lnTo>
                    <a:lnTo>
                      <a:pt x="35" y="19"/>
                    </a:lnTo>
                    <a:lnTo>
                      <a:pt x="37" y="19"/>
                    </a:lnTo>
                    <a:lnTo>
                      <a:pt x="37" y="24"/>
                    </a:lnTo>
                    <a:lnTo>
                      <a:pt x="38" y="24"/>
                    </a:lnTo>
                    <a:lnTo>
                      <a:pt x="38" y="28"/>
                    </a:lnTo>
                    <a:lnTo>
                      <a:pt x="40" y="28"/>
                    </a:lnTo>
                    <a:lnTo>
                      <a:pt x="40" y="32"/>
                    </a:lnTo>
                    <a:lnTo>
                      <a:pt x="42" y="32"/>
                    </a:lnTo>
                    <a:lnTo>
                      <a:pt x="42" y="36"/>
                    </a:lnTo>
                    <a:lnTo>
                      <a:pt x="43" y="36"/>
                    </a:lnTo>
                    <a:lnTo>
                      <a:pt x="43" y="40"/>
                    </a:lnTo>
                    <a:lnTo>
                      <a:pt x="45" y="40"/>
                    </a:lnTo>
                    <a:lnTo>
                      <a:pt x="45" y="45"/>
                    </a:lnTo>
                    <a:lnTo>
                      <a:pt x="47" y="45"/>
                    </a:lnTo>
                    <a:lnTo>
                      <a:pt x="47" y="49"/>
                    </a:lnTo>
                    <a:lnTo>
                      <a:pt x="48" y="49"/>
                    </a:lnTo>
                    <a:lnTo>
                      <a:pt x="48" y="53"/>
                    </a:lnTo>
                    <a:lnTo>
                      <a:pt x="50" y="53"/>
                    </a:lnTo>
                    <a:lnTo>
                      <a:pt x="50" y="57"/>
                    </a:lnTo>
                    <a:lnTo>
                      <a:pt x="51" y="57"/>
                    </a:lnTo>
                    <a:lnTo>
                      <a:pt x="51" y="61"/>
                    </a:lnTo>
                    <a:lnTo>
                      <a:pt x="53" y="61"/>
                    </a:lnTo>
                    <a:lnTo>
                      <a:pt x="53" y="66"/>
                    </a:lnTo>
                    <a:lnTo>
                      <a:pt x="55" y="66"/>
                    </a:lnTo>
                    <a:lnTo>
                      <a:pt x="55" y="70"/>
                    </a:lnTo>
                    <a:lnTo>
                      <a:pt x="56" y="70"/>
                    </a:lnTo>
                    <a:lnTo>
                      <a:pt x="56" y="71"/>
                    </a:lnTo>
                    <a:lnTo>
                      <a:pt x="43" y="71"/>
                    </a:lnTo>
                    <a:lnTo>
                      <a:pt x="43" y="133"/>
                    </a:lnTo>
                    <a:lnTo>
                      <a:pt x="19" y="133"/>
                    </a:lnTo>
                    <a:lnTo>
                      <a:pt x="19" y="71"/>
                    </a:lnTo>
                    <a:lnTo>
                      <a:pt x="6" y="71"/>
                    </a:lnTo>
                    <a:lnTo>
                      <a:pt x="6" y="70"/>
                    </a:lnTo>
                    <a:lnTo>
                      <a:pt x="8" y="70"/>
                    </a:lnTo>
                    <a:lnTo>
                      <a:pt x="8" y="66"/>
                    </a:lnTo>
                    <a:lnTo>
                      <a:pt x="9" y="66"/>
                    </a:lnTo>
                    <a:lnTo>
                      <a:pt x="9" y="61"/>
                    </a:lnTo>
                    <a:lnTo>
                      <a:pt x="11" y="61"/>
                    </a:lnTo>
                    <a:lnTo>
                      <a:pt x="11" y="58"/>
                    </a:lnTo>
                    <a:lnTo>
                      <a:pt x="13" y="58"/>
                    </a:lnTo>
                    <a:lnTo>
                      <a:pt x="13" y="55"/>
                    </a:lnTo>
                    <a:lnTo>
                      <a:pt x="14" y="55"/>
                    </a:lnTo>
                    <a:lnTo>
                      <a:pt x="14" y="50"/>
                    </a:lnTo>
                    <a:lnTo>
                      <a:pt x="16" y="50"/>
                    </a:lnTo>
                    <a:lnTo>
                      <a:pt x="16" y="47"/>
                    </a:lnTo>
                    <a:lnTo>
                      <a:pt x="17" y="47"/>
                    </a:lnTo>
                    <a:lnTo>
                      <a:pt x="17" y="42"/>
                    </a:lnTo>
                    <a:lnTo>
                      <a:pt x="19" y="42"/>
                    </a:lnTo>
                    <a:lnTo>
                      <a:pt x="19" y="39"/>
                    </a:lnTo>
                    <a:lnTo>
                      <a:pt x="21" y="39"/>
                    </a:lnTo>
                    <a:lnTo>
                      <a:pt x="21" y="34"/>
                    </a:lnTo>
                    <a:lnTo>
                      <a:pt x="22" y="34"/>
                    </a:lnTo>
                    <a:lnTo>
                      <a:pt x="22" y="31"/>
                    </a:lnTo>
                    <a:lnTo>
                      <a:pt x="24" y="31"/>
                    </a:lnTo>
                    <a:lnTo>
                      <a:pt x="24" y="26"/>
                    </a:lnTo>
                    <a:lnTo>
                      <a:pt x="25" y="26"/>
                    </a:lnTo>
                    <a:lnTo>
                      <a:pt x="25" y="23"/>
                    </a:lnTo>
                    <a:lnTo>
                      <a:pt x="27" y="23"/>
                    </a:lnTo>
                    <a:lnTo>
                      <a:pt x="27" y="19"/>
                    </a:lnTo>
                    <a:lnTo>
                      <a:pt x="29" y="19"/>
                    </a:lnTo>
                    <a:lnTo>
                      <a:pt x="29" y="15"/>
                    </a:lnTo>
                    <a:lnTo>
                      <a:pt x="30" y="15"/>
                    </a:lnTo>
                    <a:lnTo>
                      <a:pt x="30" y="11"/>
                    </a:lnTo>
                    <a:lnTo>
                      <a:pt x="25" y="11"/>
                    </a:lnTo>
                    <a:lnTo>
                      <a:pt x="25" y="16"/>
                    </a:lnTo>
                    <a:lnTo>
                      <a:pt x="24" y="16"/>
                    </a:lnTo>
                    <a:lnTo>
                      <a:pt x="24" y="21"/>
                    </a:lnTo>
                    <a:lnTo>
                      <a:pt x="22" y="21"/>
                    </a:lnTo>
                    <a:lnTo>
                      <a:pt x="22" y="24"/>
                    </a:lnTo>
                    <a:lnTo>
                      <a:pt x="21" y="24"/>
                    </a:lnTo>
                    <a:lnTo>
                      <a:pt x="21" y="29"/>
                    </a:lnTo>
                    <a:lnTo>
                      <a:pt x="19" y="29"/>
                    </a:lnTo>
                    <a:lnTo>
                      <a:pt x="19" y="32"/>
                    </a:lnTo>
                    <a:lnTo>
                      <a:pt x="17" y="32"/>
                    </a:lnTo>
                    <a:lnTo>
                      <a:pt x="17" y="37"/>
                    </a:lnTo>
                    <a:lnTo>
                      <a:pt x="16" y="37"/>
                    </a:lnTo>
                    <a:lnTo>
                      <a:pt x="16" y="40"/>
                    </a:lnTo>
                    <a:lnTo>
                      <a:pt x="14" y="40"/>
                    </a:lnTo>
                    <a:lnTo>
                      <a:pt x="14" y="45"/>
                    </a:lnTo>
                    <a:lnTo>
                      <a:pt x="13" y="45"/>
                    </a:lnTo>
                    <a:lnTo>
                      <a:pt x="13" y="49"/>
                    </a:lnTo>
                    <a:lnTo>
                      <a:pt x="11" y="49"/>
                    </a:lnTo>
                    <a:lnTo>
                      <a:pt x="11" y="53"/>
                    </a:lnTo>
                    <a:lnTo>
                      <a:pt x="9" y="53"/>
                    </a:lnTo>
                    <a:lnTo>
                      <a:pt x="9" y="57"/>
                    </a:lnTo>
                    <a:lnTo>
                      <a:pt x="8" y="57"/>
                    </a:lnTo>
                    <a:lnTo>
                      <a:pt x="8" y="61"/>
                    </a:lnTo>
                    <a:lnTo>
                      <a:pt x="6" y="61"/>
                    </a:lnTo>
                    <a:lnTo>
                      <a:pt x="6" y="66"/>
                    </a:lnTo>
                    <a:lnTo>
                      <a:pt x="4" y="66"/>
                    </a:lnTo>
                    <a:lnTo>
                      <a:pt x="4" y="70"/>
                    </a:lnTo>
                    <a:lnTo>
                      <a:pt x="3" y="70"/>
                    </a:lnTo>
                    <a:lnTo>
                      <a:pt x="3" y="74"/>
                    </a:lnTo>
                    <a:lnTo>
                      <a:pt x="1" y="74"/>
                    </a:lnTo>
                    <a:lnTo>
                      <a:pt x="1" y="78"/>
                    </a:lnTo>
                    <a:lnTo>
                      <a:pt x="0" y="78"/>
                    </a:lnTo>
                    <a:lnTo>
                      <a:pt x="0" y="81"/>
                    </a:lnTo>
                    <a:lnTo>
                      <a:pt x="16" y="81"/>
                    </a:lnTo>
                    <a:lnTo>
                      <a:pt x="16" y="141"/>
                    </a:lnTo>
                    <a:lnTo>
                      <a:pt x="47" y="141"/>
                    </a:lnTo>
                    <a:lnTo>
                      <a:pt x="47" y="81"/>
                    </a:lnTo>
                    <a:lnTo>
                      <a:pt x="63" y="81"/>
                    </a:lnTo>
                    <a:lnTo>
                      <a:pt x="63" y="78"/>
                    </a:lnTo>
                    <a:lnTo>
                      <a:pt x="61" y="78"/>
                    </a:lnTo>
                    <a:lnTo>
                      <a:pt x="61" y="73"/>
                    </a:lnTo>
                    <a:lnTo>
                      <a:pt x="59" y="73"/>
                    </a:lnTo>
                    <a:lnTo>
                      <a:pt x="59" y="70"/>
                    </a:lnTo>
                    <a:lnTo>
                      <a:pt x="58" y="70"/>
                    </a:lnTo>
                    <a:lnTo>
                      <a:pt x="58" y="65"/>
                    </a:lnTo>
                    <a:lnTo>
                      <a:pt x="56" y="65"/>
                    </a:lnTo>
                    <a:lnTo>
                      <a:pt x="56" y="60"/>
                    </a:lnTo>
                    <a:lnTo>
                      <a:pt x="55" y="60"/>
                    </a:lnTo>
                    <a:lnTo>
                      <a:pt x="55" y="57"/>
                    </a:lnTo>
                    <a:lnTo>
                      <a:pt x="53" y="57"/>
                    </a:lnTo>
                    <a:lnTo>
                      <a:pt x="53" y="52"/>
                    </a:lnTo>
                    <a:lnTo>
                      <a:pt x="51" y="52"/>
                    </a:lnTo>
                    <a:lnTo>
                      <a:pt x="51" y="47"/>
                    </a:lnTo>
                    <a:lnTo>
                      <a:pt x="50" y="47"/>
                    </a:lnTo>
                    <a:lnTo>
                      <a:pt x="50" y="44"/>
                    </a:lnTo>
                    <a:lnTo>
                      <a:pt x="48" y="44"/>
                    </a:lnTo>
                    <a:lnTo>
                      <a:pt x="48" y="39"/>
                    </a:lnTo>
                    <a:lnTo>
                      <a:pt x="47" y="39"/>
                    </a:lnTo>
                    <a:lnTo>
                      <a:pt x="47" y="34"/>
                    </a:lnTo>
                    <a:lnTo>
                      <a:pt x="45" y="34"/>
                    </a:lnTo>
                    <a:lnTo>
                      <a:pt x="45" y="31"/>
                    </a:lnTo>
                    <a:lnTo>
                      <a:pt x="43" y="31"/>
                    </a:lnTo>
                    <a:lnTo>
                      <a:pt x="43" y="26"/>
                    </a:lnTo>
                    <a:lnTo>
                      <a:pt x="42" y="26"/>
                    </a:lnTo>
                    <a:lnTo>
                      <a:pt x="42" y="21"/>
                    </a:lnTo>
                    <a:lnTo>
                      <a:pt x="40" y="21"/>
                    </a:lnTo>
                    <a:lnTo>
                      <a:pt x="40" y="18"/>
                    </a:lnTo>
                    <a:lnTo>
                      <a:pt x="38" y="18"/>
                    </a:lnTo>
                    <a:lnTo>
                      <a:pt x="38" y="13"/>
                    </a:lnTo>
                    <a:lnTo>
                      <a:pt x="37" y="13"/>
                    </a:lnTo>
                    <a:lnTo>
                      <a:pt x="37" y="8"/>
                    </a:lnTo>
                    <a:lnTo>
                      <a:pt x="35" y="8"/>
                    </a:lnTo>
                    <a:lnTo>
                      <a:pt x="35" y="5"/>
                    </a:lnTo>
                    <a:lnTo>
                      <a:pt x="34" y="5"/>
                    </a:lnTo>
                    <a:lnTo>
                      <a:pt x="34" y="0"/>
                    </a:lnTo>
                    <a:lnTo>
                      <a:pt x="3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7776" name="Freeform 368"/>
              <p:cNvSpPr>
                <a:spLocks/>
              </p:cNvSpPr>
              <p:nvPr/>
            </p:nvSpPr>
            <p:spPr bwMode="auto">
              <a:xfrm>
                <a:off x="2748" y="3123"/>
                <a:ext cx="50" cy="125"/>
              </a:xfrm>
              <a:custGeom>
                <a:avLst/>
                <a:gdLst>
                  <a:gd name="T0" fmla="*/ 13 w 50"/>
                  <a:gd name="T1" fmla="*/ 125 h 125"/>
                  <a:gd name="T2" fmla="*/ 13 w 50"/>
                  <a:gd name="T3" fmla="*/ 63 h 125"/>
                  <a:gd name="T4" fmla="*/ 0 w 50"/>
                  <a:gd name="T5" fmla="*/ 63 h 125"/>
                  <a:gd name="T6" fmla="*/ 26 w 50"/>
                  <a:gd name="T7" fmla="*/ 0 h 125"/>
                  <a:gd name="T8" fmla="*/ 50 w 50"/>
                  <a:gd name="T9" fmla="*/ 63 h 125"/>
                  <a:gd name="T10" fmla="*/ 37 w 50"/>
                  <a:gd name="T11" fmla="*/ 63 h 125"/>
                  <a:gd name="T12" fmla="*/ 37 w 50"/>
                  <a:gd name="T13" fmla="*/ 125 h 125"/>
                  <a:gd name="T14" fmla="*/ 13 w 50"/>
                  <a:gd name="T15" fmla="*/ 125 h 1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125">
                    <a:moveTo>
                      <a:pt x="13" y="125"/>
                    </a:moveTo>
                    <a:lnTo>
                      <a:pt x="13" y="63"/>
                    </a:lnTo>
                    <a:lnTo>
                      <a:pt x="0" y="63"/>
                    </a:lnTo>
                    <a:lnTo>
                      <a:pt x="26" y="0"/>
                    </a:lnTo>
                    <a:lnTo>
                      <a:pt x="50" y="63"/>
                    </a:lnTo>
                    <a:lnTo>
                      <a:pt x="37" y="63"/>
                    </a:lnTo>
                    <a:lnTo>
                      <a:pt x="37" y="125"/>
                    </a:lnTo>
                    <a:lnTo>
                      <a:pt x="13" y="125"/>
                    </a:lnTo>
                  </a:path>
                </a:pathLst>
              </a:custGeom>
              <a:grpFill/>
              <a:ln w="0">
                <a:solidFill>
                  <a:srgbClr val="000000"/>
                </a:solidFill>
                <a:prstDash val="solid"/>
                <a:round/>
                <a:headEnd/>
                <a:tailEnd/>
              </a:ln>
              <a:extLst/>
            </p:spPr>
            <p:txBody>
              <a:bodyPr/>
              <a:lstStyle/>
              <a:p>
                <a:pPr>
                  <a:defRPr/>
                </a:pPr>
                <a:endParaRPr lang="en-US"/>
              </a:p>
            </p:txBody>
          </p:sp>
          <p:sp>
            <p:nvSpPr>
              <p:cNvPr id="17777" name="Freeform 369"/>
              <p:cNvSpPr>
                <a:spLocks/>
              </p:cNvSpPr>
              <p:nvPr/>
            </p:nvSpPr>
            <p:spPr bwMode="auto">
              <a:xfrm>
                <a:off x="2742" y="3112"/>
                <a:ext cx="63" cy="144"/>
              </a:xfrm>
              <a:custGeom>
                <a:avLst/>
                <a:gdLst>
                  <a:gd name="T0" fmla="*/ 16 w 63"/>
                  <a:gd name="T1" fmla="*/ 136 h 144"/>
                  <a:gd name="T2" fmla="*/ 16 w 63"/>
                  <a:gd name="T3" fmla="*/ 82 h 144"/>
                  <a:gd name="T4" fmla="*/ 0 w 63"/>
                  <a:gd name="T5" fmla="*/ 82 h 144"/>
                  <a:gd name="T6" fmla="*/ 32 w 63"/>
                  <a:gd name="T7" fmla="*/ 0 h 144"/>
                  <a:gd name="T8" fmla="*/ 63 w 63"/>
                  <a:gd name="T9" fmla="*/ 82 h 144"/>
                  <a:gd name="T10" fmla="*/ 47 w 63"/>
                  <a:gd name="T11" fmla="*/ 82 h 144"/>
                  <a:gd name="T12" fmla="*/ 47 w 63"/>
                  <a:gd name="T13" fmla="*/ 144 h 144"/>
                  <a:gd name="T14" fmla="*/ 16 w 63"/>
                  <a:gd name="T15" fmla="*/ 144 h 144"/>
                  <a:gd name="T16" fmla="*/ 16 w 63"/>
                  <a:gd name="T17" fmla="*/ 136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3" h="144">
                    <a:moveTo>
                      <a:pt x="16" y="136"/>
                    </a:moveTo>
                    <a:lnTo>
                      <a:pt x="16" y="82"/>
                    </a:lnTo>
                    <a:lnTo>
                      <a:pt x="0" y="82"/>
                    </a:lnTo>
                    <a:lnTo>
                      <a:pt x="32" y="0"/>
                    </a:lnTo>
                    <a:lnTo>
                      <a:pt x="63" y="82"/>
                    </a:lnTo>
                    <a:lnTo>
                      <a:pt x="47" y="82"/>
                    </a:lnTo>
                    <a:lnTo>
                      <a:pt x="47" y="144"/>
                    </a:lnTo>
                    <a:lnTo>
                      <a:pt x="16" y="144"/>
                    </a:lnTo>
                    <a:lnTo>
                      <a:pt x="16" y="136"/>
                    </a:lnTo>
                  </a:path>
                </a:pathLst>
              </a:custGeom>
              <a:grpFill/>
              <a:ln w="0">
                <a:solidFill>
                  <a:srgbClr val="000000"/>
                </a:solidFill>
                <a:prstDash val="solid"/>
                <a:round/>
                <a:headEnd/>
                <a:tailEnd/>
              </a:ln>
              <a:extLst/>
            </p:spPr>
            <p:txBody>
              <a:bodyPr/>
              <a:lstStyle/>
              <a:p>
                <a:pPr>
                  <a:defRPr/>
                </a:pPr>
                <a:endParaRPr lang="en-US"/>
              </a:p>
            </p:txBody>
          </p:sp>
          <p:sp>
            <p:nvSpPr>
              <p:cNvPr id="17778" name="Freeform 370"/>
              <p:cNvSpPr>
                <a:spLocks/>
              </p:cNvSpPr>
              <p:nvPr/>
            </p:nvSpPr>
            <p:spPr bwMode="auto">
              <a:xfrm>
                <a:off x="2565" y="3115"/>
                <a:ext cx="62" cy="141"/>
              </a:xfrm>
              <a:custGeom>
                <a:avLst/>
                <a:gdLst>
                  <a:gd name="T0" fmla="*/ 28 w 62"/>
                  <a:gd name="T1" fmla="*/ 5 h 141"/>
                  <a:gd name="T2" fmla="*/ 26 w 62"/>
                  <a:gd name="T3" fmla="*/ 13 h 141"/>
                  <a:gd name="T4" fmla="*/ 23 w 62"/>
                  <a:gd name="T5" fmla="*/ 18 h 141"/>
                  <a:gd name="T6" fmla="*/ 21 w 62"/>
                  <a:gd name="T7" fmla="*/ 26 h 141"/>
                  <a:gd name="T8" fmla="*/ 18 w 62"/>
                  <a:gd name="T9" fmla="*/ 31 h 141"/>
                  <a:gd name="T10" fmla="*/ 17 w 62"/>
                  <a:gd name="T11" fmla="*/ 39 h 141"/>
                  <a:gd name="T12" fmla="*/ 13 w 62"/>
                  <a:gd name="T13" fmla="*/ 44 h 141"/>
                  <a:gd name="T14" fmla="*/ 12 w 62"/>
                  <a:gd name="T15" fmla="*/ 52 h 141"/>
                  <a:gd name="T16" fmla="*/ 9 w 62"/>
                  <a:gd name="T17" fmla="*/ 57 h 141"/>
                  <a:gd name="T18" fmla="*/ 7 w 62"/>
                  <a:gd name="T19" fmla="*/ 65 h 141"/>
                  <a:gd name="T20" fmla="*/ 4 w 62"/>
                  <a:gd name="T21" fmla="*/ 70 h 141"/>
                  <a:gd name="T22" fmla="*/ 2 w 62"/>
                  <a:gd name="T23" fmla="*/ 78 h 141"/>
                  <a:gd name="T24" fmla="*/ 17 w 62"/>
                  <a:gd name="T25" fmla="*/ 81 h 141"/>
                  <a:gd name="T26" fmla="*/ 47 w 62"/>
                  <a:gd name="T27" fmla="*/ 81 h 141"/>
                  <a:gd name="T28" fmla="*/ 60 w 62"/>
                  <a:gd name="T29" fmla="*/ 78 h 141"/>
                  <a:gd name="T30" fmla="*/ 59 w 62"/>
                  <a:gd name="T31" fmla="*/ 70 h 141"/>
                  <a:gd name="T32" fmla="*/ 55 w 62"/>
                  <a:gd name="T33" fmla="*/ 65 h 141"/>
                  <a:gd name="T34" fmla="*/ 54 w 62"/>
                  <a:gd name="T35" fmla="*/ 57 h 141"/>
                  <a:gd name="T36" fmla="*/ 51 w 62"/>
                  <a:gd name="T37" fmla="*/ 52 h 141"/>
                  <a:gd name="T38" fmla="*/ 49 w 62"/>
                  <a:gd name="T39" fmla="*/ 44 h 141"/>
                  <a:gd name="T40" fmla="*/ 46 w 62"/>
                  <a:gd name="T41" fmla="*/ 39 h 141"/>
                  <a:gd name="T42" fmla="*/ 44 w 62"/>
                  <a:gd name="T43" fmla="*/ 31 h 141"/>
                  <a:gd name="T44" fmla="*/ 41 w 62"/>
                  <a:gd name="T45" fmla="*/ 26 h 141"/>
                  <a:gd name="T46" fmla="*/ 39 w 62"/>
                  <a:gd name="T47" fmla="*/ 18 h 141"/>
                  <a:gd name="T48" fmla="*/ 36 w 62"/>
                  <a:gd name="T49" fmla="*/ 13 h 141"/>
                  <a:gd name="T50" fmla="*/ 33 w 62"/>
                  <a:gd name="T51" fmla="*/ 15 h 141"/>
                  <a:gd name="T52" fmla="*/ 36 w 62"/>
                  <a:gd name="T53" fmla="*/ 19 h 141"/>
                  <a:gd name="T54" fmla="*/ 38 w 62"/>
                  <a:gd name="T55" fmla="*/ 28 h 141"/>
                  <a:gd name="T56" fmla="*/ 41 w 62"/>
                  <a:gd name="T57" fmla="*/ 32 h 141"/>
                  <a:gd name="T58" fmla="*/ 42 w 62"/>
                  <a:gd name="T59" fmla="*/ 40 h 141"/>
                  <a:gd name="T60" fmla="*/ 46 w 62"/>
                  <a:gd name="T61" fmla="*/ 45 h 141"/>
                  <a:gd name="T62" fmla="*/ 47 w 62"/>
                  <a:gd name="T63" fmla="*/ 53 h 141"/>
                  <a:gd name="T64" fmla="*/ 51 w 62"/>
                  <a:gd name="T65" fmla="*/ 57 h 141"/>
                  <a:gd name="T66" fmla="*/ 52 w 62"/>
                  <a:gd name="T67" fmla="*/ 66 h 141"/>
                  <a:gd name="T68" fmla="*/ 55 w 62"/>
                  <a:gd name="T69" fmla="*/ 70 h 141"/>
                  <a:gd name="T70" fmla="*/ 44 w 62"/>
                  <a:gd name="T71" fmla="*/ 133 h 141"/>
                  <a:gd name="T72" fmla="*/ 7 w 62"/>
                  <a:gd name="T73" fmla="*/ 71 h 141"/>
                  <a:gd name="T74" fmla="*/ 9 w 62"/>
                  <a:gd name="T75" fmla="*/ 66 h 141"/>
                  <a:gd name="T76" fmla="*/ 12 w 62"/>
                  <a:gd name="T77" fmla="*/ 61 h 141"/>
                  <a:gd name="T78" fmla="*/ 13 w 62"/>
                  <a:gd name="T79" fmla="*/ 53 h 141"/>
                  <a:gd name="T80" fmla="*/ 17 w 62"/>
                  <a:gd name="T81" fmla="*/ 49 h 141"/>
                  <a:gd name="T82" fmla="*/ 18 w 62"/>
                  <a:gd name="T83" fmla="*/ 40 h 141"/>
                  <a:gd name="T84" fmla="*/ 21 w 62"/>
                  <a:gd name="T85" fmla="*/ 36 h 141"/>
                  <a:gd name="T86" fmla="*/ 23 w 62"/>
                  <a:gd name="T87" fmla="*/ 28 h 141"/>
                  <a:gd name="T88" fmla="*/ 26 w 62"/>
                  <a:gd name="T89" fmla="*/ 24 h 141"/>
                  <a:gd name="T90" fmla="*/ 28 w 62"/>
                  <a:gd name="T91" fmla="*/ 15 h 141"/>
                  <a:gd name="T92" fmla="*/ 36 w 62"/>
                  <a:gd name="T93" fmla="*/ 11 h 141"/>
                  <a:gd name="T94" fmla="*/ 34 w 62"/>
                  <a:gd name="T95" fmla="*/ 5 h 141"/>
                  <a:gd name="T96" fmla="*/ 30 w 62"/>
                  <a:gd name="T97" fmla="*/ 0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2" h="141">
                    <a:moveTo>
                      <a:pt x="30" y="0"/>
                    </a:moveTo>
                    <a:lnTo>
                      <a:pt x="30" y="5"/>
                    </a:lnTo>
                    <a:lnTo>
                      <a:pt x="28" y="5"/>
                    </a:lnTo>
                    <a:lnTo>
                      <a:pt x="28" y="8"/>
                    </a:lnTo>
                    <a:lnTo>
                      <a:pt x="26" y="8"/>
                    </a:lnTo>
                    <a:lnTo>
                      <a:pt x="26" y="13"/>
                    </a:lnTo>
                    <a:lnTo>
                      <a:pt x="25" y="13"/>
                    </a:lnTo>
                    <a:lnTo>
                      <a:pt x="25" y="18"/>
                    </a:lnTo>
                    <a:lnTo>
                      <a:pt x="23" y="18"/>
                    </a:lnTo>
                    <a:lnTo>
                      <a:pt x="23" y="21"/>
                    </a:lnTo>
                    <a:lnTo>
                      <a:pt x="21" y="21"/>
                    </a:lnTo>
                    <a:lnTo>
                      <a:pt x="21" y="26"/>
                    </a:lnTo>
                    <a:lnTo>
                      <a:pt x="20" y="26"/>
                    </a:lnTo>
                    <a:lnTo>
                      <a:pt x="20" y="31"/>
                    </a:lnTo>
                    <a:lnTo>
                      <a:pt x="18" y="31"/>
                    </a:lnTo>
                    <a:lnTo>
                      <a:pt x="18" y="34"/>
                    </a:lnTo>
                    <a:lnTo>
                      <a:pt x="17" y="34"/>
                    </a:lnTo>
                    <a:lnTo>
                      <a:pt x="17" y="39"/>
                    </a:lnTo>
                    <a:lnTo>
                      <a:pt x="15" y="39"/>
                    </a:lnTo>
                    <a:lnTo>
                      <a:pt x="15" y="44"/>
                    </a:lnTo>
                    <a:lnTo>
                      <a:pt x="13" y="44"/>
                    </a:lnTo>
                    <a:lnTo>
                      <a:pt x="13" y="47"/>
                    </a:lnTo>
                    <a:lnTo>
                      <a:pt x="12" y="47"/>
                    </a:lnTo>
                    <a:lnTo>
                      <a:pt x="12" y="52"/>
                    </a:lnTo>
                    <a:lnTo>
                      <a:pt x="10" y="52"/>
                    </a:lnTo>
                    <a:lnTo>
                      <a:pt x="10" y="57"/>
                    </a:lnTo>
                    <a:lnTo>
                      <a:pt x="9" y="57"/>
                    </a:lnTo>
                    <a:lnTo>
                      <a:pt x="9" y="60"/>
                    </a:lnTo>
                    <a:lnTo>
                      <a:pt x="7" y="60"/>
                    </a:lnTo>
                    <a:lnTo>
                      <a:pt x="7" y="65"/>
                    </a:lnTo>
                    <a:lnTo>
                      <a:pt x="5" y="65"/>
                    </a:lnTo>
                    <a:lnTo>
                      <a:pt x="5" y="70"/>
                    </a:lnTo>
                    <a:lnTo>
                      <a:pt x="4" y="70"/>
                    </a:lnTo>
                    <a:lnTo>
                      <a:pt x="4" y="73"/>
                    </a:lnTo>
                    <a:lnTo>
                      <a:pt x="2" y="73"/>
                    </a:lnTo>
                    <a:lnTo>
                      <a:pt x="2" y="78"/>
                    </a:lnTo>
                    <a:lnTo>
                      <a:pt x="0" y="78"/>
                    </a:lnTo>
                    <a:lnTo>
                      <a:pt x="0" y="81"/>
                    </a:lnTo>
                    <a:lnTo>
                      <a:pt x="17" y="81"/>
                    </a:lnTo>
                    <a:lnTo>
                      <a:pt x="17" y="141"/>
                    </a:lnTo>
                    <a:lnTo>
                      <a:pt x="47" y="141"/>
                    </a:lnTo>
                    <a:lnTo>
                      <a:pt x="47" y="81"/>
                    </a:lnTo>
                    <a:lnTo>
                      <a:pt x="62" y="81"/>
                    </a:lnTo>
                    <a:lnTo>
                      <a:pt x="62" y="78"/>
                    </a:lnTo>
                    <a:lnTo>
                      <a:pt x="60" y="78"/>
                    </a:lnTo>
                    <a:lnTo>
                      <a:pt x="60" y="73"/>
                    </a:lnTo>
                    <a:lnTo>
                      <a:pt x="59" y="73"/>
                    </a:lnTo>
                    <a:lnTo>
                      <a:pt x="59" y="70"/>
                    </a:lnTo>
                    <a:lnTo>
                      <a:pt x="57" y="70"/>
                    </a:lnTo>
                    <a:lnTo>
                      <a:pt x="57" y="65"/>
                    </a:lnTo>
                    <a:lnTo>
                      <a:pt x="55" y="65"/>
                    </a:lnTo>
                    <a:lnTo>
                      <a:pt x="55" y="60"/>
                    </a:lnTo>
                    <a:lnTo>
                      <a:pt x="54" y="60"/>
                    </a:lnTo>
                    <a:lnTo>
                      <a:pt x="54" y="57"/>
                    </a:lnTo>
                    <a:lnTo>
                      <a:pt x="52" y="57"/>
                    </a:lnTo>
                    <a:lnTo>
                      <a:pt x="52" y="52"/>
                    </a:lnTo>
                    <a:lnTo>
                      <a:pt x="51" y="52"/>
                    </a:lnTo>
                    <a:lnTo>
                      <a:pt x="51" y="47"/>
                    </a:lnTo>
                    <a:lnTo>
                      <a:pt x="49" y="47"/>
                    </a:lnTo>
                    <a:lnTo>
                      <a:pt x="49" y="44"/>
                    </a:lnTo>
                    <a:lnTo>
                      <a:pt x="47" y="44"/>
                    </a:lnTo>
                    <a:lnTo>
                      <a:pt x="47" y="39"/>
                    </a:lnTo>
                    <a:lnTo>
                      <a:pt x="46" y="39"/>
                    </a:lnTo>
                    <a:lnTo>
                      <a:pt x="46" y="34"/>
                    </a:lnTo>
                    <a:lnTo>
                      <a:pt x="44" y="34"/>
                    </a:lnTo>
                    <a:lnTo>
                      <a:pt x="44" y="31"/>
                    </a:lnTo>
                    <a:lnTo>
                      <a:pt x="42" y="31"/>
                    </a:lnTo>
                    <a:lnTo>
                      <a:pt x="42" y="26"/>
                    </a:lnTo>
                    <a:lnTo>
                      <a:pt x="41" y="26"/>
                    </a:lnTo>
                    <a:lnTo>
                      <a:pt x="41" y="21"/>
                    </a:lnTo>
                    <a:lnTo>
                      <a:pt x="39" y="21"/>
                    </a:lnTo>
                    <a:lnTo>
                      <a:pt x="39" y="18"/>
                    </a:lnTo>
                    <a:lnTo>
                      <a:pt x="38" y="18"/>
                    </a:lnTo>
                    <a:lnTo>
                      <a:pt x="38" y="13"/>
                    </a:lnTo>
                    <a:lnTo>
                      <a:pt x="36" y="13"/>
                    </a:lnTo>
                    <a:lnTo>
                      <a:pt x="36" y="11"/>
                    </a:lnTo>
                    <a:lnTo>
                      <a:pt x="33" y="11"/>
                    </a:lnTo>
                    <a:lnTo>
                      <a:pt x="33" y="15"/>
                    </a:lnTo>
                    <a:lnTo>
                      <a:pt x="34" y="15"/>
                    </a:lnTo>
                    <a:lnTo>
                      <a:pt x="34" y="19"/>
                    </a:lnTo>
                    <a:lnTo>
                      <a:pt x="36" y="19"/>
                    </a:lnTo>
                    <a:lnTo>
                      <a:pt x="36" y="24"/>
                    </a:lnTo>
                    <a:lnTo>
                      <a:pt x="38" y="24"/>
                    </a:lnTo>
                    <a:lnTo>
                      <a:pt x="38" y="28"/>
                    </a:lnTo>
                    <a:lnTo>
                      <a:pt x="39" y="28"/>
                    </a:lnTo>
                    <a:lnTo>
                      <a:pt x="39" y="32"/>
                    </a:lnTo>
                    <a:lnTo>
                      <a:pt x="41" y="32"/>
                    </a:lnTo>
                    <a:lnTo>
                      <a:pt x="41" y="36"/>
                    </a:lnTo>
                    <a:lnTo>
                      <a:pt x="42" y="36"/>
                    </a:lnTo>
                    <a:lnTo>
                      <a:pt x="42" y="40"/>
                    </a:lnTo>
                    <a:lnTo>
                      <a:pt x="44" y="40"/>
                    </a:lnTo>
                    <a:lnTo>
                      <a:pt x="44" y="45"/>
                    </a:lnTo>
                    <a:lnTo>
                      <a:pt x="46" y="45"/>
                    </a:lnTo>
                    <a:lnTo>
                      <a:pt x="46" y="49"/>
                    </a:lnTo>
                    <a:lnTo>
                      <a:pt x="47" y="49"/>
                    </a:lnTo>
                    <a:lnTo>
                      <a:pt x="47" y="53"/>
                    </a:lnTo>
                    <a:lnTo>
                      <a:pt x="49" y="53"/>
                    </a:lnTo>
                    <a:lnTo>
                      <a:pt x="49" y="57"/>
                    </a:lnTo>
                    <a:lnTo>
                      <a:pt x="51" y="57"/>
                    </a:lnTo>
                    <a:lnTo>
                      <a:pt x="51" y="61"/>
                    </a:lnTo>
                    <a:lnTo>
                      <a:pt x="52" y="61"/>
                    </a:lnTo>
                    <a:lnTo>
                      <a:pt x="52" y="66"/>
                    </a:lnTo>
                    <a:lnTo>
                      <a:pt x="54" y="66"/>
                    </a:lnTo>
                    <a:lnTo>
                      <a:pt x="54" y="70"/>
                    </a:lnTo>
                    <a:lnTo>
                      <a:pt x="55" y="70"/>
                    </a:lnTo>
                    <a:lnTo>
                      <a:pt x="55" y="71"/>
                    </a:lnTo>
                    <a:lnTo>
                      <a:pt x="44" y="71"/>
                    </a:lnTo>
                    <a:lnTo>
                      <a:pt x="44" y="133"/>
                    </a:lnTo>
                    <a:lnTo>
                      <a:pt x="18" y="133"/>
                    </a:lnTo>
                    <a:lnTo>
                      <a:pt x="18" y="71"/>
                    </a:lnTo>
                    <a:lnTo>
                      <a:pt x="7" y="71"/>
                    </a:lnTo>
                    <a:lnTo>
                      <a:pt x="7" y="70"/>
                    </a:lnTo>
                    <a:lnTo>
                      <a:pt x="9" y="70"/>
                    </a:lnTo>
                    <a:lnTo>
                      <a:pt x="9" y="66"/>
                    </a:lnTo>
                    <a:lnTo>
                      <a:pt x="10" y="66"/>
                    </a:lnTo>
                    <a:lnTo>
                      <a:pt x="10" y="61"/>
                    </a:lnTo>
                    <a:lnTo>
                      <a:pt x="12" y="61"/>
                    </a:lnTo>
                    <a:lnTo>
                      <a:pt x="12" y="57"/>
                    </a:lnTo>
                    <a:lnTo>
                      <a:pt x="13" y="57"/>
                    </a:lnTo>
                    <a:lnTo>
                      <a:pt x="13" y="53"/>
                    </a:lnTo>
                    <a:lnTo>
                      <a:pt x="15" y="53"/>
                    </a:lnTo>
                    <a:lnTo>
                      <a:pt x="15" y="49"/>
                    </a:lnTo>
                    <a:lnTo>
                      <a:pt x="17" y="49"/>
                    </a:lnTo>
                    <a:lnTo>
                      <a:pt x="17" y="45"/>
                    </a:lnTo>
                    <a:lnTo>
                      <a:pt x="18" y="45"/>
                    </a:lnTo>
                    <a:lnTo>
                      <a:pt x="18" y="40"/>
                    </a:lnTo>
                    <a:lnTo>
                      <a:pt x="20" y="40"/>
                    </a:lnTo>
                    <a:lnTo>
                      <a:pt x="20" y="36"/>
                    </a:lnTo>
                    <a:lnTo>
                      <a:pt x="21" y="36"/>
                    </a:lnTo>
                    <a:lnTo>
                      <a:pt x="21" y="32"/>
                    </a:lnTo>
                    <a:lnTo>
                      <a:pt x="23" y="32"/>
                    </a:lnTo>
                    <a:lnTo>
                      <a:pt x="23" y="28"/>
                    </a:lnTo>
                    <a:lnTo>
                      <a:pt x="25" y="28"/>
                    </a:lnTo>
                    <a:lnTo>
                      <a:pt x="25" y="24"/>
                    </a:lnTo>
                    <a:lnTo>
                      <a:pt x="26" y="24"/>
                    </a:lnTo>
                    <a:lnTo>
                      <a:pt x="26" y="19"/>
                    </a:lnTo>
                    <a:lnTo>
                      <a:pt x="28" y="19"/>
                    </a:lnTo>
                    <a:lnTo>
                      <a:pt x="28" y="15"/>
                    </a:lnTo>
                    <a:lnTo>
                      <a:pt x="30" y="15"/>
                    </a:lnTo>
                    <a:lnTo>
                      <a:pt x="30" y="11"/>
                    </a:lnTo>
                    <a:lnTo>
                      <a:pt x="36" y="11"/>
                    </a:lnTo>
                    <a:lnTo>
                      <a:pt x="36" y="8"/>
                    </a:lnTo>
                    <a:lnTo>
                      <a:pt x="34" y="8"/>
                    </a:lnTo>
                    <a:lnTo>
                      <a:pt x="34" y="5"/>
                    </a:lnTo>
                    <a:lnTo>
                      <a:pt x="33" y="5"/>
                    </a:lnTo>
                    <a:lnTo>
                      <a:pt x="33" y="0"/>
                    </a:lnTo>
                    <a:lnTo>
                      <a:pt x="3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7779" name="Freeform 371"/>
              <p:cNvSpPr>
                <a:spLocks/>
              </p:cNvSpPr>
              <p:nvPr/>
            </p:nvSpPr>
            <p:spPr bwMode="auto">
              <a:xfrm>
                <a:off x="2572" y="3123"/>
                <a:ext cx="48" cy="125"/>
              </a:xfrm>
              <a:custGeom>
                <a:avLst/>
                <a:gdLst>
                  <a:gd name="T0" fmla="*/ 11 w 48"/>
                  <a:gd name="T1" fmla="*/ 125 h 125"/>
                  <a:gd name="T2" fmla="*/ 11 w 48"/>
                  <a:gd name="T3" fmla="*/ 63 h 125"/>
                  <a:gd name="T4" fmla="*/ 0 w 48"/>
                  <a:gd name="T5" fmla="*/ 63 h 125"/>
                  <a:gd name="T6" fmla="*/ 24 w 48"/>
                  <a:gd name="T7" fmla="*/ 0 h 125"/>
                  <a:gd name="T8" fmla="*/ 48 w 48"/>
                  <a:gd name="T9" fmla="*/ 63 h 125"/>
                  <a:gd name="T10" fmla="*/ 37 w 48"/>
                  <a:gd name="T11" fmla="*/ 63 h 125"/>
                  <a:gd name="T12" fmla="*/ 37 w 48"/>
                  <a:gd name="T13" fmla="*/ 125 h 125"/>
                  <a:gd name="T14" fmla="*/ 11 w 48"/>
                  <a:gd name="T15" fmla="*/ 125 h 1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25">
                    <a:moveTo>
                      <a:pt x="11" y="125"/>
                    </a:moveTo>
                    <a:lnTo>
                      <a:pt x="11" y="63"/>
                    </a:lnTo>
                    <a:lnTo>
                      <a:pt x="0" y="63"/>
                    </a:lnTo>
                    <a:lnTo>
                      <a:pt x="24" y="0"/>
                    </a:lnTo>
                    <a:lnTo>
                      <a:pt x="48" y="63"/>
                    </a:lnTo>
                    <a:lnTo>
                      <a:pt x="37" y="63"/>
                    </a:lnTo>
                    <a:lnTo>
                      <a:pt x="37" y="125"/>
                    </a:lnTo>
                    <a:lnTo>
                      <a:pt x="11" y="125"/>
                    </a:lnTo>
                  </a:path>
                </a:pathLst>
              </a:custGeom>
              <a:grpFill/>
              <a:ln w="0">
                <a:solidFill>
                  <a:srgbClr val="000000"/>
                </a:solidFill>
                <a:prstDash val="solid"/>
                <a:round/>
                <a:headEnd/>
                <a:tailEnd/>
              </a:ln>
              <a:extLst/>
            </p:spPr>
            <p:txBody>
              <a:bodyPr/>
              <a:lstStyle/>
              <a:p>
                <a:pPr>
                  <a:defRPr/>
                </a:pPr>
                <a:endParaRPr lang="en-US"/>
              </a:p>
            </p:txBody>
          </p:sp>
          <p:sp>
            <p:nvSpPr>
              <p:cNvPr id="17780" name="Freeform 372"/>
              <p:cNvSpPr>
                <a:spLocks/>
              </p:cNvSpPr>
              <p:nvPr/>
            </p:nvSpPr>
            <p:spPr bwMode="auto">
              <a:xfrm>
                <a:off x="2565" y="3112"/>
                <a:ext cx="62" cy="144"/>
              </a:xfrm>
              <a:custGeom>
                <a:avLst/>
                <a:gdLst>
                  <a:gd name="T0" fmla="*/ 17 w 62"/>
                  <a:gd name="T1" fmla="*/ 136 h 144"/>
                  <a:gd name="T2" fmla="*/ 17 w 62"/>
                  <a:gd name="T3" fmla="*/ 82 h 144"/>
                  <a:gd name="T4" fmla="*/ 0 w 62"/>
                  <a:gd name="T5" fmla="*/ 82 h 144"/>
                  <a:gd name="T6" fmla="*/ 31 w 62"/>
                  <a:gd name="T7" fmla="*/ 0 h 144"/>
                  <a:gd name="T8" fmla="*/ 62 w 62"/>
                  <a:gd name="T9" fmla="*/ 82 h 144"/>
                  <a:gd name="T10" fmla="*/ 47 w 62"/>
                  <a:gd name="T11" fmla="*/ 82 h 144"/>
                  <a:gd name="T12" fmla="*/ 47 w 62"/>
                  <a:gd name="T13" fmla="*/ 144 h 144"/>
                  <a:gd name="T14" fmla="*/ 17 w 62"/>
                  <a:gd name="T15" fmla="*/ 144 h 144"/>
                  <a:gd name="T16" fmla="*/ 17 w 62"/>
                  <a:gd name="T17" fmla="*/ 136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2" h="144">
                    <a:moveTo>
                      <a:pt x="17" y="136"/>
                    </a:moveTo>
                    <a:lnTo>
                      <a:pt x="17" y="82"/>
                    </a:lnTo>
                    <a:lnTo>
                      <a:pt x="0" y="82"/>
                    </a:lnTo>
                    <a:lnTo>
                      <a:pt x="31" y="0"/>
                    </a:lnTo>
                    <a:lnTo>
                      <a:pt x="62" y="82"/>
                    </a:lnTo>
                    <a:lnTo>
                      <a:pt x="47" y="82"/>
                    </a:lnTo>
                    <a:lnTo>
                      <a:pt x="47" y="144"/>
                    </a:lnTo>
                    <a:lnTo>
                      <a:pt x="17" y="144"/>
                    </a:lnTo>
                    <a:lnTo>
                      <a:pt x="17" y="136"/>
                    </a:lnTo>
                  </a:path>
                </a:pathLst>
              </a:custGeom>
              <a:grpFill/>
              <a:ln w="0">
                <a:solidFill>
                  <a:srgbClr val="000000"/>
                </a:solidFill>
                <a:prstDash val="solid"/>
                <a:round/>
                <a:headEnd/>
                <a:tailEnd/>
              </a:ln>
              <a:extLst/>
            </p:spPr>
            <p:txBody>
              <a:bodyPr/>
              <a:lstStyle/>
              <a:p>
                <a:pPr>
                  <a:defRPr/>
                </a:pPr>
                <a:endParaRPr lang="en-US"/>
              </a:p>
            </p:txBody>
          </p:sp>
          <p:sp>
            <p:nvSpPr>
              <p:cNvPr id="17781" name="Freeform 373"/>
              <p:cNvSpPr>
                <a:spLocks/>
              </p:cNvSpPr>
              <p:nvPr/>
            </p:nvSpPr>
            <p:spPr bwMode="auto">
              <a:xfrm>
                <a:off x="2727" y="2299"/>
                <a:ext cx="62" cy="141"/>
              </a:xfrm>
              <a:custGeom>
                <a:avLst/>
                <a:gdLst>
                  <a:gd name="T0" fmla="*/ 0 w 62"/>
                  <a:gd name="T1" fmla="*/ 61 h 141"/>
                  <a:gd name="T2" fmla="*/ 2 w 62"/>
                  <a:gd name="T3" fmla="*/ 68 h 141"/>
                  <a:gd name="T4" fmla="*/ 5 w 62"/>
                  <a:gd name="T5" fmla="*/ 73 h 141"/>
                  <a:gd name="T6" fmla="*/ 7 w 62"/>
                  <a:gd name="T7" fmla="*/ 81 h 141"/>
                  <a:gd name="T8" fmla="*/ 10 w 62"/>
                  <a:gd name="T9" fmla="*/ 86 h 141"/>
                  <a:gd name="T10" fmla="*/ 11 w 62"/>
                  <a:gd name="T11" fmla="*/ 94 h 141"/>
                  <a:gd name="T12" fmla="*/ 15 w 62"/>
                  <a:gd name="T13" fmla="*/ 99 h 141"/>
                  <a:gd name="T14" fmla="*/ 16 w 62"/>
                  <a:gd name="T15" fmla="*/ 107 h 141"/>
                  <a:gd name="T16" fmla="*/ 19 w 62"/>
                  <a:gd name="T17" fmla="*/ 112 h 141"/>
                  <a:gd name="T18" fmla="*/ 21 w 62"/>
                  <a:gd name="T19" fmla="*/ 120 h 141"/>
                  <a:gd name="T20" fmla="*/ 24 w 62"/>
                  <a:gd name="T21" fmla="*/ 124 h 141"/>
                  <a:gd name="T22" fmla="*/ 26 w 62"/>
                  <a:gd name="T23" fmla="*/ 133 h 141"/>
                  <a:gd name="T24" fmla="*/ 29 w 62"/>
                  <a:gd name="T25" fmla="*/ 137 h 141"/>
                  <a:gd name="T26" fmla="*/ 32 w 62"/>
                  <a:gd name="T27" fmla="*/ 137 h 141"/>
                  <a:gd name="T28" fmla="*/ 36 w 62"/>
                  <a:gd name="T29" fmla="*/ 133 h 141"/>
                  <a:gd name="T30" fmla="*/ 37 w 62"/>
                  <a:gd name="T31" fmla="*/ 124 h 141"/>
                  <a:gd name="T32" fmla="*/ 40 w 62"/>
                  <a:gd name="T33" fmla="*/ 120 h 141"/>
                  <a:gd name="T34" fmla="*/ 42 w 62"/>
                  <a:gd name="T35" fmla="*/ 112 h 141"/>
                  <a:gd name="T36" fmla="*/ 45 w 62"/>
                  <a:gd name="T37" fmla="*/ 107 h 141"/>
                  <a:gd name="T38" fmla="*/ 47 w 62"/>
                  <a:gd name="T39" fmla="*/ 99 h 141"/>
                  <a:gd name="T40" fmla="*/ 50 w 62"/>
                  <a:gd name="T41" fmla="*/ 94 h 141"/>
                  <a:gd name="T42" fmla="*/ 52 w 62"/>
                  <a:gd name="T43" fmla="*/ 86 h 141"/>
                  <a:gd name="T44" fmla="*/ 55 w 62"/>
                  <a:gd name="T45" fmla="*/ 81 h 141"/>
                  <a:gd name="T46" fmla="*/ 57 w 62"/>
                  <a:gd name="T47" fmla="*/ 73 h 141"/>
                  <a:gd name="T48" fmla="*/ 60 w 62"/>
                  <a:gd name="T49" fmla="*/ 68 h 141"/>
                  <a:gd name="T50" fmla="*/ 62 w 62"/>
                  <a:gd name="T51" fmla="*/ 61 h 141"/>
                  <a:gd name="T52" fmla="*/ 44 w 62"/>
                  <a:gd name="T53" fmla="*/ 10 h 141"/>
                  <a:gd name="T54" fmla="*/ 55 w 62"/>
                  <a:gd name="T55" fmla="*/ 73 h 141"/>
                  <a:gd name="T56" fmla="*/ 52 w 62"/>
                  <a:gd name="T57" fmla="*/ 76 h 141"/>
                  <a:gd name="T58" fmla="*/ 50 w 62"/>
                  <a:gd name="T59" fmla="*/ 84 h 141"/>
                  <a:gd name="T60" fmla="*/ 47 w 62"/>
                  <a:gd name="T61" fmla="*/ 89 h 141"/>
                  <a:gd name="T62" fmla="*/ 45 w 62"/>
                  <a:gd name="T63" fmla="*/ 97 h 141"/>
                  <a:gd name="T64" fmla="*/ 42 w 62"/>
                  <a:gd name="T65" fmla="*/ 102 h 141"/>
                  <a:gd name="T66" fmla="*/ 40 w 62"/>
                  <a:gd name="T67" fmla="*/ 110 h 141"/>
                  <a:gd name="T68" fmla="*/ 37 w 62"/>
                  <a:gd name="T69" fmla="*/ 113 h 141"/>
                  <a:gd name="T70" fmla="*/ 36 w 62"/>
                  <a:gd name="T71" fmla="*/ 121 h 141"/>
                  <a:gd name="T72" fmla="*/ 32 w 62"/>
                  <a:gd name="T73" fmla="*/ 126 h 141"/>
                  <a:gd name="T74" fmla="*/ 29 w 62"/>
                  <a:gd name="T75" fmla="*/ 126 h 141"/>
                  <a:gd name="T76" fmla="*/ 26 w 62"/>
                  <a:gd name="T77" fmla="*/ 121 h 141"/>
                  <a:gd name="T78" fmla="*/ 24 w 62"/>
                  <a:gd name="T79" fmla="*/ 113 h 141"/>
                  <a:gd name="T80" fmla="*/ 21 w 62"/>
                  <a:gd name="T81" fmla="*/ 110 h 141"/>
                  <a:gd name="T82" fmla="*/ 19 w 62"/>
                  <a:gd name="T83" fmla="*/ 102 h 141"/>
                  <a:gd name="T84" fmla="*/ 16 w 62"/>
                  <a:gd name="T85" fmla="*/ 97 h 141"/>
                  <a:gd name="T86" fmla="*/ 15 w 62"/>
                  <a:gd name="T87" fmla="*/ 89 h 141"/>
                  <a:gd name="T88" fmla="*/ 11 w 62"/>
                  <a:gd name="T89" fmla="*/ 84 h 141"/>
                  <a:gd name="T90" fmla="*/ 10 w 62"/>
                  <a:gd name="T91" fmla="*/ 76 h 141"/>
                  <a:gd name="T92" fmla="*/ 7 w 62"/>
                  <a:gd name="T93" fmla="*/ 73 h 141"/>
                  <a:gd name="T94" fmla="*/ 18 w 62"/>
                  <a:gd name="T95" fmla="*/ 10 h 141"/>
                  <a:gd name="T96" fmla="*/ 16 w 62"/>
                  <a:gd name="T97" fmla="*/ 0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2" h="141">
                    <a:moveTo>
                      <a:pt x="16" y="0"/>
                    </a:moveTo>
                    <a:lnTo>
                      <a:pt x="16" y="61"/>
                    </a:lnTo>
                    <a:lnTo>
                      <a:pt x="0" y="61"/>
                    </a:lnTo>
                    <a:lnTo>
                      <a:pt x="0" y="65"/>
                    </a:lnTo>
                    <a:lnTo>
                      <a:pt x="2" y="65"/>
                    </a:lnTo>
                    <a:lnTo>
                      <a:pt x="2" y="68"/>
                    </a:lnTo>
                    <a:lnTo>
                      <a:pt x="3" y="68"/>
                    </a:lnTo>
                    <a:lnTo>
                      <a:pt x="3" y="73"/>
                    </a:lnTo>
                    <a:lnTo>
                      <a:pt x="5" y="73"/>
                    </a:lnTo>
                    <a:lnTo>
                      <a:pt x="5" y="78"/>
                    </a:lnTo>
                    <a:lnTo>
                      <a:pt x="7" y="78"/>
                    </a:lnTo>
                    <a:lnTo>
                      <a:pt x="7" y="81"/>
                    </a:lnTo>
                    <a:lnTo>
                      <a:pt x="8" y="81"/>
                    </a:lnTo>
                    <a:lnTo>
                      <a:pt x="8" y="86"/>
                    </a:lnTo>
                    <a:lnTo>
                      <a:pt x="10" y="86"/>
                    </a:lnTo>
                    <a:lnTo>
                      <a:pt x="10" y="91"/>
                    </a:lnTo>
                    <a:lnTo>
                      <a:pt x="11" y="91"/>
                    </a:lnTo>
                    <a:lnTo>
                      <a:pt x="11" y="94"/>
                    </a:lnTo>
                    <a:lnTo>
                      <a:pt x="13" y="94"/>
                    </a:lnTo>
                    <a:lnTo>
                      <a:pt x="13" y="99"/>
                    </a:lnTo>
                    <a:lnTo>
                      <a:pt x="15" y="99"/>
                    </a:lnTo>
                    <a:lnTo>
                      <a:pt x="15" y="103"/>
                    </a:lnTo>
                    <a:lnTo>
                      <a:pt x="16" y="103"/>
                    </a:lnTo>
                    <a:lnTo>
                      <a:pt x="16" y="107"/>
                    </a:lnTo>
                    <a:lnTo>
                      <a:pt x="18" y="107"/>
                    </a:lnTo>
                    <a:lnTo>
                      <a:pt x="18" y="112"/>
                    </a:lnTo>
                    <a:lnTo>
                      <a:pt x="19" y="112"/>
                    </a:lnTo>
                    <a:lnTo>
                      <a:pt x="19" y="115"/>
                    </a:lnTo>
                    <a:lnTo>
                      <a:pt x="21" y="115"/>
                    </a:lnTo>
                    <a:lnTo>
                      <a:pt x="21" y="120"/>
                    </a:lnTo>
                    <a:lnTo>
                      <a:pt x="23" y="120"/>
                    </a:lnTo>
                    <a:lnTo>
                      <a:pt x="23" y="124"/>
                    </a:lnTo>
                    <a:lnTo>
                      <a:pt x="24" y="124"/>
                    </a:lnTo>
                    <a:lnTo>
                      <a:pt x="24" y="128"/>
                    </a:lnTo>
                    <a:lnTo>
                      <a:pt x="26" y="128"/>
                    </a:lnTo>
                    <a:lnTo>
                      <a:pt x="26" y="133"/>
                    </a:lnTo>
                    <a:lnTo>
                      <a:pt x="28" y="133"/>
                    </a:lnTo>
                    <a:lnTo>
                      <a:pt x="28" y="137"/>
                    </a:lnTo>
                    <a:lnTo>
                      <a:pt x="29" y="137"/>
                    </a:lnTo>
                    <a:lnTo>
                      <a:pt x="29" y="141"/>
                    </a:lnTo>
                    <a:lnTo>
                      <a:pt x="32" y="141"/>
                    </a:lnTo>
                    <a:lnTo>
                      <a:pt x="32" y="137"/>
                    </a:lnTo>
                    <a:lnTo>
                      <a:pt x="34" y="137"/>
                    </a:lnTo>
                    <a:lnTo>
                      <a:pt x="34" y="133"/>
                    </a:lnTo>
                    <a:lnTo>
                      <a:pt x="36" y="133"/>
                    </a:lnTo>
                    <a:lnTo>
                      <a:pt x="36" y="128"/>
                    </a:lnTo>
                    <a:lnTo>
                      <a:pt x="37" y="128"/>
                    </a:lnTo>
                    <a:lnTo>
                      <a:pt x="37" y="124"/>
                    </a:lnTo>
                    <a:lnTo>
                      <a:pt x="39" y="124"/>
                    </a:lnTo>
                    <a:lnTo>
                      <a:pt x="39" y="120"/>
                    </a:lnTo>
                    <a:lnTo>
                      <a:pt x="40" y="120"/>
                    </a:lnTo>
                    <a:lnTo>
                      <a:pt x="40" y="115"/>
                    </a:lnTo>
                    <a:lnTo>
                      <a:pt x="42" y="115"/>
                    </a:lnTo>
                    <a:lnTo>
                      <a:pt x="42" y="112"/>
                    </a:lnTo>
                    <a:lnTo>
                      <a:pt x="44" y="112"/>
                    </a:lnTo>
                    <a:lnTo>
                      <a:pt x="44" y="107"/>
                    </a:lnTo>
                    <a:lnTo>
                      <a:pt x="45" y="107"/>
                    </a:lnTo>
                    <a:lnTo>
                      <a:pt x="45" y="103"/>
                    </a:lnTo>
                    <a:lnTo>
                      <a:pt x="47" y="103"/>
                    </a:lnTo>
                    <a:lnTo>
                      <a:pt x="47" y="99"/>
                    </a:lnTo>
                    <a:lnTo>
                      <a:pt x="49" y="99"/>
                    </a:lnTo>
                    <a:lnTo>
                      <a:pt x="49" y="94"/>
                    </a:lnTo>
                    <a:lnTo>
                      <a:pt x="50" y="94"/>
                    </a:lnTo>
                    <a:lnTo>
                      <a:pt x="50" y="91"/>
                    </a:lnTo>
                    <a:lnTo>
                      <a:pt x="52" y="91"/>
                    </a:lnTo>
                    <a:lnTo>
                      <a:pt x="52" y="86"/>
                    </a:lnTo>
                    <a:lnTo>
                      <a:pt x="53" y="86"/>
                    </a:lnTo>
                    <a:lnTo>
                      <a:pt x="53" y="81"/>
                    </a:lnTo>
                    <a:lnTo>
                      <a:pt x="55" y="81"/>
                    </a:lnTo>
                    <a:lnTo>
                      <a:pt x="55" y="78"/>
                    </a:lnTo>
                    <a:lnTo>
                      <a:pt x="57" y="78"/>
                    </a:lnTo>
                    <a:lnTo>
                      <a:pt x="57" y="73"/>
                    </a:lnTo>
                    <a:lnTo>
                      <a:pt x="58" y="73"/>
                    </a:lnTo>
                    <a:lnTo>
                      <a:pt x="58" y="68"/>
                    </a:lnTo>
                    <a:lnTo>
                      <a:pt x="60" y="68"/>
                    </a:lnTo>
                    <a:lnTo>
                      <a:pt x="60" y="65"/>
                    </a:lnTo>
                    <a:lnTo>
                      <a:pt x="62" y="65"/>
                    </a:lnTo>
                    <a:lnTo>
                      <a:pt x="62" y="61"/>
                    </a:lnTo>
                    <a:lnTo>
                      <a:pt x="47" y="61"/>
                    </a:lnTo>
                    <a:lnTo>
                      <a:pt x="47" y="10"/>
                    </a:lnTo>
                    <a:lnTo>
                      <a:pt x="44" y="10"/>
                    </a:lnTo>
                    <a:lnTo>
                      <a:pt x="44" y="71"/>
                    </a:lnTo>
                    <a:lnTo>
                      <a:pt x="55" y="71"/>
                    </a:lnTo>
                    <a:lnTo>
                      <a:pt x="55" y="73"/>
                    </a:lnTo>
                    <a:lnTo>
                      <a:pt x="53" y="73"/>
                    </a:lnTo>
                    <a:lnTo>
                      <a:pt x="53" y="76"/>
                    </a:lnTo>
                    <a:lnTo>
                      <a:pt x="52" y="76"/>
                    </a:lnTo>
                    <a:lnTo>
                      <a:pt x="52" y="81"/>
                    </a:lnTo>
                    <a:lnTo>
                      <a:pt x="50" y="81"/>
                    </a:lnTo>
                    <a:lnTo>
                      <a:pt x="50" y="84"/>
                    </a:lnTo>
                    <a:lnTo>
                      <a:pt x="49" y="84"/>
                    </a:lnTo>
                    <a:lnTo>
                      <a:pt x="49" y="89"/>
                    </a:lnTo>
                    <a:lnTo>
                      <a:pt x="47" y="89"/>
                    </a:lnTo>
                    <a:lnTo>
                      <a:pt x="47" y="92"/>
                    </a:lnTo>
                    <a:lnTo>
                      <a:pt x="45" y="92"/>
                    </a:lnTo>
                    <a:lnTo>
                      <a:pt x="45" y="97"/>
                    </a:lnTo>
                    <a:lnTo>
                      <a:pt x="44" y="97"/>
                    </a:lnTo>
                    <a:lnTo>
                      <a:pt x="44" y="102"/>
                    </a:lnTo>
                    <a:lnTo>
                      <a:pt x="42" y="102"/>
                    </a:lnTo>
                    <a:lnTo>
                      <a:pt x="42" y="105"/>
                    </a:lnTo>
                    <a:lnTo>
                      <a:pt x="40" y="105"/>
                    </a:lnTo>
                    <a:lnTo>
                      <a:pt x="40" y="110"/>
                    </a:lnTo>
                    <a:lnTo>
                      <a:pt x="39" y="110"/>
                    </a:lnTo>
                    <a:lnTo>
                      <a:pt x="39" y="113"/>
                    </a:lnTo>
                    <a:lnTo>
                      <a:pt x="37" y="113"/>
                    </a:lnTo>
                    <a:lnTo>
                      <a:pt x="37" y="118"/>
                    </a:lnTo>
                    <a:lnTo>
                      <a:pt x="36" y="118"/>
                    </a:lnTo>
                    <a:lnTo>
                      <a:pt x="36" y="121"/>
                    </a:lnTo>
                    <a:lnTo>
                      <a:pt x="34" y="121"/>
                    </a:lnTo>
                    <a:lnTo>
                      <a:pt x="34" y="126"/>
                    </a:lnTo>
                    <a:lnTo>
                      <a:pt x="32" y="126"/>
                    </a:lnTo>
                    <a:lnTo>
                      <a:pt x="32" y="129"/>
                    </a:lnTo>
                    <a:lnTo>
                      <a:pt x="29" y="129"/>
                    </a:lnTo>
                    <a:lnTo>
                      <a:pt x="29" y="126"/>
                    </a:lnTo>
                    <a:lnTo>
                      <a:pt x="28" y="126"/>
                    </a:lnTo>
                    <a:lnTo>
                      <a:pt x="28" y="121"/>
                    </a:lnTo>
                    <a:lnTo>
                      <a:pt x="26" y="121"/>
                    </a:lnTo>
                    <a:lnTo>
                      <a:pt x="26" y="118"/>
                    </a:lnTo>
                    <a:lnTo>
                      <a:pt x="24" y="118"/>
                    </a:lnTo>
                    <a:lnTo>
                      <a:pt x="24" y="113"/>
                    </a:lnTo>
                    <a:lnTo>
                      <a:pt x="23" y="113"/>
                    </a:lnTo>
                    <a:lnTo>
                      <a:pt x="23" y="110"/>
                    </a:lnTo>
                    <a:lnTo>
                      <a:pt x="21" y="110"/>
                    </a:lnTo>
                    <a:lnTo>
                      <a:pt x="21" y="105"/>
                    </a:lnTo>
                    <a:lnTo>
                      <a:pt x="19" y="105"/>
                    </a:lnTo>
                    <a:lnTo>
                      <a:pt x="19" y="102"/>
                    </a:lnTo>
                    <a:lnTo>
                      <a:pt x="18" y="102"/>
                    </a:lnTo>
                    <a:lnTo>
                      <a:pt x="18" y="97"/>
                    </a:lnTo>
                    <a:lnTo>
                      <a:pt x="16" y="97"/>
                    </a:lnTo>
                    <a:lnTo>
                      <a:pt x="16" y="92"/>
                    </a:lnTo>
                    <a:lnTo>
                      <a:pt x="15" y="92"/>
                    </a:lnTo>
                    <a:lnTo>
                      <a:pt x="15" y="89"/>
                    </a:lnTo>
                    <a:lnTo>
                      <a:pt x="13" y="89"/>
                    </a:lnTo>
                    <a:lnTo>
                      <a:pt x="13" y="84"/>
                    </a:lnTo>
                    <a:lnTo>
                      <a:pt x="11" y="84"/>
                    </a:lnTo>
                    <a:lnTo>
                      <a:pt x="11" y="81"/>
                    </a:lnTo>
                    <a:lnTo>
                      <a:pt x="10" y="81"/>
                    </a:lnTo>
                    <a:lnTo>
                      <a:pt x="10" y="76"/>
                    </a:lnTo>
                    <a:lnTo>
                      <a:pt x="8" y="76"/>
                    </a:lnTo>
                    <a:lnTo>
                      <a:pt x="8" y="73"/>
                    </a:lnTo>
                    <a:lnTo>
                      <a:pt x="7" y="73"/>
                    </a:lnTo>
                    <a:lnTo>
                      <a:pt x="7" y="71"/>
                    </a:lnTo>
                    <a:lnTo>
                      <a:pt x="18" y="71"/>
                    </a:lnTo>
                    <a:lnTo>
                      <a:pt x="18" y="10"/>
                    </a:lnTo>
                    <a:lnTo>
                      <a:pt x="47" y="10"/>
                    </a:lnTo>
                    <a:lnTo>
                      <a:pt x="47" y="0"/>
                    </a:lnTo>
                    <a:lnTo>
                      <a:pt x="1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7782" name="Freeform 374"/>
              <p:cNvSpPr>
                <a:spLocks/>
              </p:cNvSpPr>
              <p:nvPr/>
            </p:nvSpPr>
            <p:spPr bwMode="auto">
              <a:xfrm>
                <a:off x="2734" y="2307"/>
                <a:ext cx="48" cy="123"/>
              </a:xfrm>
              <a:custGeom>
                <a:avLst/>
                <a:gdLst>
                  <a:gd name="T0" fmla="*/ 11 w 48"/>
                  <a:gd name="T1" fmla="*/ 0 h 123"/>
                  <a:gd name="T2" fmla="*/ 11 w 48"/>
                  <a:gd name="T3" fmla="*/ 62 h 123"/>
                  <a:gd name="T4" fmla="*/ 0 w 48"/>
                  <a:gd name="T5" fmla="*/ 62 h 123"/>
                  <a:gd name="T6" fmla="*/ 24 w 48"/>
                  <a:gd name="T7" fmla="*/ 123 h 123"/>
                  <a:gd name="T8" fmla="*/ 48 w 48"/>
                  <a:gd name="T9" fmla="*/ 62 h 123"/>
                  <a:gd name="T10" fmla="*/ 37 w 48"/>
                  <a:gd name="T11" fmla="*/ 62 h 123"/>
                  <a:gd name="T12" fmla="*/ 37 w 48"/>
                  <a:gd name="T13" fmla="*/ 0 h 123"/>
                  <a:gd name="T14" fmla="*/ 11 w 48"/>
                  <a:gd name="T15" fmla="*/ 0 h 1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23">
                    <a:moveTo>
                      <a:pt x="11" y="0"/>
                    </a:moveTo>
                    <a:lnTo>
                      <a:pt x="11" y="62"/>
                    </a:lnTo>
                    <a:lnTo>
                      <a:pt x="0" y="62"/>
                    </a:lnTo>
                    <a:lnTo>
                      <a:pt x="24" y="123"/>
                    </a:lnTo>
                    <a:lnTo>
                      <a:pt x="48" y="62"/>
                    </a:lnTo>
                    <a:lnTo>
                      <a:pt x="37" y="62"/>
                    </a:lnTo>
                    <a:lnTo>
                      <a:pt x="37" y="0"/>
                    </a:lnTo>
                    <a:lnTo>
                      <a:pt x="11" y="0"/>
                    </a:lnTo>
                  </a:path>
                </a:pathLst>
              </a:custGeom>
              <a:grpFill/>
              <a:ln w="0">
                <a:solidFill>
                  <a:srgbClr val="000000"/>
                </a:solidFill>
                <a:prstDash val="solid"/>
                <a:round/>
                <a:headEnd/>
                <a:tailEnd/>
              </a:ln>
              <a:extLst/>
            </p:spPr>
            <p:txBody>
              <a:bodyPr/>
              <a:lstStyle/>
              <a:p>
                <a:pPr>
                  <a:defRPr/>
                </a:pPr>
                <a:endParaRPr lang="en-US"/>
              </a:p>
            </p:txBody>
          </p:sp>
          <p:sp>
            <p:nvSpPr>
              <p:cNvPr id="17783" name="Freeform 375"/>
              <p:cNvSpPr>
                <a:spLocks/>
              </p:cNvSpPr>
              <p:nvPr/>
            </p:nvSpPr>
            <p:spPr bwMode="auto">
              <a:xfrm>
                <a:off x="2727" y="2299"/>
                <a:ext cx="62" cy="142"/>
              </a:xfrm>
              <a:custGeom>
                <a:avLst/>
                <a:gdLst>
                  <a:gd name="T0" fmla="*/ 16 w 62"/>
                  <a:gd name="T1" fmla="*/ 8 h 142"/>
                  <a:gd name="T2" fmla="*/ 16 w 62"/>
                  <a:gd name="T3" fmla="*/ 61 h 142"/>
                  <a:gd name="T4" fmla="*/ 0 w 62"/>
                  <a:gd name="T5" fmla="*/ 61 h 142"/>
                  <a:gd name="T6" fmla="*/ 31 w 62"/>
                  <a:gd name="T7" fmla="*/ 142 h 142"/>
                  <a:gd name="T8" fmla="*/ 62 w 62"/>
                  <a:gd name="T9" fmla="*/ 61 h 142"/>
                  <a:gd name="T10" fmla="*/ 47 w 62"/>
                  <a:gd name="T11" fmla="*/ 61 h 142"/>
                  <a:gd name="T12" fmla="*/ 47 w 62"/>
                  <a:gd name="T13" fmla="*/ 0 h 142"/>
                  <a:gd name="T14" fmla="*/ 16 w 62"/>
                  <a:gd name="T15" fmla="*/ 0 h 142"/>
                  <a:gd name="T16" fmla="*/ 16 w 62"/>
                  <a:gd name="T17" fmla="*/ 8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2" h="142">
                    <a:moveTo>
                      <a:pt x="16" y="8"/>
                    </a:moveTo>
                    <a:lnTo>
                      <a:pt x="16" y="61"/>
                    </a:lnTo>
                    <a:lnTo>
                      <a:pt x="0" y="61"/>
                    </a:lnTo>
                    <a:lnTo>
                      <a:pt x="31" y="142"/>
                    </a:lnTo>
                    <a:lnTo>
                      <a:pt x="62" y="61"/>
                    </a:lnTo>
                    <a:lnTo>
                      <a:pt x="47" y="61"/>
                    </a:lnTo>
                    <a:lnTo>
                      <a:pt x="47" y="0"/>
                    </a:lnTo>
                    <a:lnTo>
                      <a:pt x="16" y="0"/>
                    </a:lnTo>
                    <a:lnTo>
                      <a:pt x="16" y="8"/>
                    </a:lnTo>
                  </a:path>
                </a:pathLst>
              </a:custGeom>
              <a:grpFill/>
              <a:ln w="0">
                <a:solidFill>
                  <a:srgbClr val="000000"/>
                </a:solidFill>
                <a:prstDash val="solid"/>
                <a:round/>
                <a:headEnd/>
                <a:tailEnd/>
              </a:ln>
              <a:extLst/>
            </p:spPr>
            <p:txBody>
              <a:bodyPr/>
              <a:lstStyle/>
              <a:p>
                <a:pPr>
                  <a:defRPr/>
                </a:pPr>
                <a:endParaRPr lang="en-US"/>
              </a:p>
            </p:txBody>
          </p:sp>
          <p:sp>
            <p:nvSpPr>
              <p:cNvPr id="17784" name="Freeform 376"/>
              <p:cNvSpPr>
                <a:spLocks/>
              </p:cNvSpPr>
              <p:nvPr/>
            </p:nvSpPr>
            <p:spPr bwMode="auto">
              <a:xfrm>
                <a:off x="2551" y="2299"/>
                <a:ext cx="61" cy="141"/>
              </a:xfrm>
              <a:custGeom>
                <a:avLst/>
                <a:gdLst>
                  <a:gd name="T0" fmla="*/ 0 w 61"/>
                  <a:gd name="T1" fmla="*/ 61 h 141"/>
                  <a:gd name="T2" fmla="*/ 1 w 61"/>
                  <a:gd name="T3" fmla="*/ 68 h 141"/>
                  <a:gd name="T4" fmla="*/ 5 w 61"/>
                  <a:gd name="T5" fmla="*/ 73 h 141"/>
                  <a:gd name="T6" fmla="*/ 6 w 61"/>
                  <a:gd name="T7" fmla="*/ 81 h 141"/>
                  <a:gd name="T8" fmla="*/ 10 w 61"/>
                  <a:gd name="T9" fmla="*/ 86 h 141"/>
                  <a:gd name="T10" fmla="*/ 11 w 61"/>
                  <a:gd name="T11" fmla="*/ 94 h 141"/>
                  <a:gd name="T12" fmla="*/ 14 w 61"/>
                  <a:gd name="T13" fmla="*/ 99 h 141"/>
                  <a:gd name="T14" fmla="*/ 16 w 61"/>
                  <a:gd name="T15" fmla="*/ 107 h 141"/>
                  <a:gd name="T16" fmla="*/ 19 w 61"/>
                  <a:gd name="T17" fmla="*/ 112 h 141"/>
                  <a:gd name="T18" fmla="*/ 21 w 61"/>
                  <a:gd name="T19" fmla="*/ 120 h 141"/>
                  <a:gd name="T20" fmla="*/ 24 w 61"/>
                  <a:gd name="T21" fmla="*/ 124 h 141"/>
                  <a:gd name="T22" fmla="*/ 26 w 61"/>
                  <a:gd name="T23" fmla="*/ 133 h 141"/>
                  <a:gd name="T24" fmla="*/ 29 w 61"/>
                  <a:gd name="T25" fmla="*/ 137 h 141"/>
                  <a:gd name="T26" fmla="*/ 32 w 61"/>
                  <a:gd name="T27" fmla="*/ 137 h 141"/>
                  <a:gd name="T28" fmla="*/ 35 w 61"/>
                  <a:gd name="T29" fmla="*/ 133 h 141"/>
                  <a:gd name="T30" fmla="*/ 37 w 61"/>
                  <a:gd name="T31" fmla="*/ 124 h 141"/>
                  <a:gd name="T32" fmla="*/ 40 w 61"/>
                  <a:gd name="T33" fmla="*/ 120 h 141"/>
                  <a:gd name="T34" fmla="*/ 42 w 61"/>
                  <a:gd name="T35" fmla="*/ 112 h 141"/>
                  <a:gd name="T36" fmla="*/ 45 w 61"/>
                  <a:gd name="T37" fmla="*/ 107 h 141"/>
                  <a:gd name="T38" fmla="*/ 47 w 61"/>
                  <a:gd name="T39" fmla="*/ 99 h 141"/>
                  <a:gd name="T40" fmla="*/ 50 w 61"/>
                  <a:gd name="T41" fmla="*/ 94 h 141"/>
                  <a:gd name="T42" fmla="*/ 52 w 61"/>
                  <a:gd name="T43" fmla="*/ 86 h 141"/>
                  <a:gd name="T44" fmla="*/ 55 w 61"/>
                  <a:gd name="T45" fmla="*/ 81 h 141"/>
                  <a:gd name="T46" fmla="*/ 56 w 61"/>
                  <a:gd name="T47" fmla="*/ 73 h 141"/>
                  <a:gd name="T48" fmla="*/ 60 w 61"/>
                  <a:gd name="T49" fmla="*/ 68 h 141"/>
                  <a:gd name="T50" fmla="*/ 61 w 61"/>
                  <a:gd name="T51" fmla="*/ 61 h 141"/>
                  <a:gd name="T52" fmla="*/ 44 w 61"/>
                  <a:gd name="T53" fmla="*/ 10 h 141"/>
                  <a:gd name="T54" fmla="*/ 55 w 61"/>
                  <a:gd name="T55" fmla="*/ 73 h 141"/>
                  <a:gd name="T56" fmla="*/ 52 w 61"/>
                  <a:gd name="T57" fmla="*/ 76 h 141"/>
                  <a:gd name="T58" fmla="*/ 50 w 61"/>
                  <a:gd name="T59" fmla="*/ 84 h 141"/>
                  <a:gd name="T60" fmla="*/ 47 w 61"/>
                  <a:gd name="T61" fmla="*/ 89 h 141"/>
                  <a:gd name="T62" fmla="*/ 45 w 61"/>
                  <a:gd name="T63" fmla="*/ 97 h 141"/>
                  <a:gd name="T64" fmla="*/ 42 w 61"/>
                  <a:gd name="T65" fmla="*/ 102 h 141"/>
                  <a:gd name="T66" fmla="*/ 40 w 61"/>
                  <a:gd name="T67" fmla="*/ 110 h 141"/>
                  <a:gd name="T68" fmla="*/ 37 w 61"/>
                  <a:gd name="T69" fmla="*/ 113 h 141"/>
                  <a:gd name="T70" fmla="*/ 35 w 61"/>
                  <a:gd name="T71" fmla="*/ 121 h 141"/>
                  <a:gd name="T72" fmla="*/ 32 w 61"/>
                  <a:gd name="T73" fmla="*/ 126 h 141"/>
                  <a:gd name="T74" fmla="*/ 29 w 61"/>
                  <a:gd name="T75" fmla="*/ 126 h 141"/>
                  <a:gd name="T76" fmla="*/ 26 w 61"/>
                  <a:gd name="T77" fmla="*/ 121 h 141"/>
                  <a:gd name="T78" fmla="*/ 24 w 61"/>
                  <a:gd name="T79" fmla="*/ 113 h 141"/>
                  <a:gd name="T80" fmla="*/ 21 w 61"/>
                  <a:gd name="T81" fmla="*/ 110 h 141"/>
                  <a:gd name="T82" fmla="*/ 19 w 61"/>
                  <a:gd name="T83" fmla="*/ 102 h 141"/>
                  <a:gd name="T84" fmla="*/ 16 w 61"/>
                  <a:gd name="T85" fmla="*/ 97 h 141"/>
                  <a:gd name="T86" fmla="*/ 14 w 61"/>
                  <a:gd name="T87" fmla="*/ 89 h 141"/>
                  <a:gd name="T88" fmla="*/ 11 w 61"/>
                  <a:gd name="T89" fmla="*/ 84 h 141"/>
                  <a:gd name="T90" fmla="*/ 10 w 61"/>
                  <a:gd name="T91" fmla="*/ 76 h 141"/>
                  <a:gd name="T92" fmla="*/ 6 w 61"/>
                  <a:gd name="T93" fmla="*/ 73 h 141"/>
                  <a:gd name="T94" fmla="*/ 18 w 61"/>
                  <a:gd name="T95" fmla="*/ 10 h 141"/>
                  <a:gd name="T96" fmla="*/ 16 w 61"/>
                  <a:gd name="T97" fmla="*/ 0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1" h="141">
                    <a:moveTo>
                      <a:pt x="16" y="0"/>
                    </a:moveTo>
                    <a:lnTo>
                      <a:pt x="16" y="61"/>
                    </a:lnTo>
                    <a:lnTo>
                      <a:pt x="0" y="61"/>
                    </a:lnTo>
                    <a:lnTo>
                      <a:pt x="0" y="65"/>
                    </a:lnTo>
                    <a:lnTo>
                      <a:pt x="1" y="65"/>
                    </a:lnTo>
                    <a:lnTo>
                      <a:pt x="1" y="68"/>
                    </a:lnTo>
                    <a:lnTo>
                      <a:pt x="3" y="68"/>
                    </a:lnTo>
                    <a:lnTo>
                      <a:pt x="3" y="73"/>
                    </a:lnTo>
                    <a:lnTo>
                      <a:pt x="5" y="73"/>
                    </a:lnTo>
                    <a:lnTo>
                      <a:pt x="5" y="78"/>
                    </a:lnTo>
                    <a:lnTo>
                      <a:pt x="6" y="78"/>
                    </a:lnTo>
                    <a:lnTo>
                      <a:pt x="6" y="81"/>
                    </a:lnTo>
                    <a:lnTo>
                      <a:pt x="8" y="81"/>
                    </a:lnTo>
                    <a:lnTo>
                      <a:pt x="8" y="86"/>
                    </a:lnTo>
                    <a:lnTo>
                      <a:pt x="10" y="86"/>
                    </a:lnTo>
                    <a:lnTo>
                      <a:pt x="10" y="91"/>
                    </a:lnTo>
                    <a:lnTo>
                      <a:pt x="11" y="91"/>
                    </a:lnTo>
                    <a:lnTo>
                      <a:pt x="11" y="94"/>
                    </a:lnTo>
                    <a:lnTo>
                      <a:pt x="13" y="94"/>
                    </a:lnTo>
                    <a:lnTo>
                      <a:pt x="13" y="99"/>
                    </a:lnTo>
                    <a:lnTo>
                      <a:pt x="14" y="99"/>
                    </a:lnTo>
                    <a:lnTo>
                      <a:pt x="14" y="103"/>
                    </a:lnTo>
                    <a:lnTo>
                      <a:pt x="16" y="103"/>
                    </a:lnTo>
                    <a:lnTo>
                      <a:pt x="16" y="107"/>
                    </a:lnTo>
                    <a:lnTo>
                      <a:pt x="18" y="107"/>
                    </a:lnTo>
                    <a:lnTo>
                      <a:pt x="18" y="112"/>
                    </a:lnTo>
                    <a:lnTo>
                      <a:pt x="19" y="112"/>
                    </a:lnTo>
                    <a:lnTo>
                      <a:pt x="19" y="115"/>
                    </a:lnTo>
                    <a:lnTo>
                      <a:pt x="21" y="115"/>
                    </a:lnTo>
                    <a:lnTo>
                      <a:pt x="21" y="120"/>
                    </a:lnTo>
                    <a:lnTo>
                      <a:pt x="23" y="120"/>
                    </a:lnTo>
                    <a:lnTo>
                      <a:pt x="23" y="124"/>
                    </a:lnTo>
                    <a:lnTo>
                      <a:pt x="24" y="124"/>
                    </a:lnTo>
                    <a:lnTo>
                      <a:pt x="24" y="128"/>
                    </a:lnTo>
                    <a:lnTo>
                      <a:pt x="26" y="128"/>
                    </a:lnTo>
                    <a:lnTo>
                      <a:pt x="26" y="133"/>
                    </a:lnTo>
                    <a:lnTo>
                      <a:pt x="27" y="133"/>
                    </a:lnTo>
                    <a:lnTo>
                      <a:pt x="27" y="137"/>
                    </a:lnTo>
                    <a:lnTo>
                      <a:pt x="29" y="137"/>
                    </a:lnTo>
                    <a:lnTo>
                      <a:pt x="29" y="141"/>
                    </a:lnTo>
                    <a:lnTo>
                      <a:pt x="32" y="141"/>
                    </a:lnTo>
                    <a:lnTo>
                      <a:pt x="32" y="137"/>
                    </a:lnTo>
                    <a:lnTo>
                      <a:pt x="34" y="137"/>
                    </a:lnTo>
                    <a:lnTo>
                      <a:pt x="34" y="133"/>
                    </a:lnTo>
                    <a:lnTo>
                      <a:pt x="35" y="133"/>
                    </a:lnTo>
                    <a:lnTo>
                      <a:pt x="35" y="128"/>
                    </a:lnTo>
                    <a:lnTo>
                      <a:pt x="37" y="128"/>
                    </a:lnTo>
                    <a:lnTo>
                      <a:pt x="37" y="124"/>
                    </a:lnTo>
                    <a:lnTo>
                      <a:pt x="39" y="124"/>
                    </a:lnTo>
                    <a:lnTo>
                      <a:pt x="39" y="120"/>
                    </a:lnTo>
                    <a:lnTo>
                      <a:pt x="40" y="120"/>
                    </a:lnTo>
                    <a:lnTo>
                      <a:pt x="40" y="115"/>
                    </a:lnTo>
                    <a:lnTo>
                      <a:pt x="42" y="115"/>
                    </a:lnTo>
                    <a:lnTo>
                      <a:pt x="42" y="112"/>
                    </a:lnTo>
                    <a:lnTo>
                      <a:pt x="44" y="112"/>
                    </a:lnTo>
                    <a:lnTo>
                      <a:pt x="44" y="107"/>
                    </a:lnTo>
                    <a:lnTo>
                      <a:pt x="45" y="107"/>
                    </a:lnTo>
                    <a:lnTo>
                      <a:pt x="45" y="103"/>
                    </a:lnTo>
                    <a:lnTo>
                      <a:pt x="47" y="103"/>
                    </a:lnTo>
                    <a:lnTo>
                      <a:pt x="47" y="99"/>
                    </a:lnTo>
                    <a:lnTo>
                      <a:pt x="48" y="99"/>
                    </a:lnTo>
                    <a:lnTo>
                      <a:pt x="48" y="94"/>
                    </a:lnTo>
                    <a:lnTo>
                      <a:pt x="50" y="94"/>
                    </a:lnTo>
                    <a:lnTo>
                      <a:pt x="50" y="91"/>
                    </a:lnTo>
                    <a:lnTo>
                      <a:pt x="52" y="91"/>
                    </a:lnTo>
                    <a:lnTo>
                      <a:pt x="52" y="86"/>
                    </a:lnTo>
                    <a:lnTo>
                      <a:pt x="53" y="86"/>
                    </a:lnTo>
                    <a:lnTo>
                      <a:pt x="53" y="81"/>
                    </a:lnTo>
                    <a:lnTo>
                      <a:pt x="55" y="81"/>
                    </a:lnTo>
                    <a:lnTo>
                      <a:pt x="55" y="78"/>
                    </a:lnTo>
                    <a:lnTo>
                      <a:pt x="56" y="78"/>
                    </a:lnTo>
                    <a:lnTo>
                      <a:pt x="56" y="73"/>
                    </a:lnTo>
                    <a:lnTo>
                      <a:pt x="58" y="73"/>
                    </a:lnTo>
                    <a:lnTo>
                      <a:pt x="58" y="68"/>
                    </a:lnTo>
                    <a:lnTo>
                      <a:pt x="60" y="68"/>
                    </a:lnTo>
                    <a:lnTo>
                      <a:pt x="60" y="65"/>
                    </a:lnTo>
                    <a:lnTo>
                      <a:pt x="61" y="65"/>
                    </a:lnTo>
                    <a:lnTo>
                      <a:pt x="61" y="61"/>
                    </a:lnTo>
                    <a:lnTo>
                      <a:pt x="47" y="61"/>
                    </a:lnTo>
                    <a:lnTo>
                      <a:pt x="47" y="10"/>
                    </a:lnTo>
                    <a:lnTo>
                      <a:pt x="44" y="10"/>
                    </a:lnTo>
                    <a:lnTo>
                      <a:pt x="44" y="71"/>
                    </a:lnTo>
                    <a:lnTo>
                      <a:pt x="55" y="71"/>
                    </a:lnTo>
                    <a:lnTo>
                      <a:pt x="55" y="73"/>
                    </a:lnTo>
                    <a:lnTo>
                      <a:pt x="53" y="73"/>
                    </a:lnTo>
                    <a:lnTo>
                      <a:pt x="53" y="76"/>
                    </a:lnTo>
                    <a:lnTo>
                      <a:pt x="52" y="76"/>
                    </a:lnTo>
                    <a:lnTo>
                      <a:pt x="52" y="81"/>
                    </a:lnTo>
                    <a:lnTo>
                      <a:pt x="50" y="81"/>
                    </a:lnTo>
                    <a:lnTo>
                      <a:pt x="50" y="84"/>
                    </a:lnTo>
                    <a:lnTo>
                      <a:pt x="48" y="84"/>
                    </a:lnTo>
                    <a:lnTo>
                      <a:pt x="48" y="89"/>
                    </a:lnTo>
                    <a:lnTo>
                      <a:pt x="47" y="89"/>
                    </a:lnTo>
                    <a:lnTo>
                      <a:pt x="47" y="92"/>
                    </a:lnTo>
                    <a:lnTo>
                      <a:pt x="45" y="92"/>
                    </a:lnTo>
                    <a:lnTo>
                      <a:pt x="45" y="97"/>
                    </a:lnTo>
                    <a:lnTo>
                      <a:pt x="44" y="97"/>
                    </a:lnTo>
                    <a:lnTo>
                      <a:pt x="44" y="102"/>
                    </a:lnTo>
                    <a:lnTo>
                      <a:pt x="42" y="102"/>
                    </a:lnTo>
                    <a:lnTo>
                      <a:pt x="42" y="105"/>
                    </a:lnTo>
                    <a:lnTo>
                      <a:pt x="40" y="105"/>
                    </a:lnTo>
                    <a:lnTo>
                      <a:pt x="40" y="110"/>
                    </a:lnTo>
                    <a:lnTo>
                      <a:pt x="39" y="110"/>
                    </a:lnTo>
                    <a:lnTo>
                      <a:pt x="39" y="113"/>
                    </a:lnTo>
                    <a:lnTo>
                      <a:pt x="37" y="113"/>
                    </a:lnTo>
                    <a:lnTo>
                      <a:pt x="37" y="118"/>
                    </a:lnTo>
                    <a:lnTo>
                      <a:pt x="35" y="118"/>
                    </a:lnTo>
                    <a:lnTo>
                      <a:pt x="35" y="121"/>
                    </a:lnTo>
                    <a:lnTo>
                      <a:pt x="34" y="121"/>
                    </a:lnTo>
                    <a:lnTo>
                      <a:pt x="34" y="126"/>
                    </a:lnTo>
                    <a:lnTo>
                      <a:pt x="32" y="126"/>
                    </a:lnTo>
                    <a:lnTo>
                      <a:pt x="32" y="129"/>
                    </a:lnTo>
                    <a:lnTo>
                      <a:pt x="29" y="129"/>
                    </a:lnTo>
                    <a:lnTo>
                      <a:pt x="29" y="126"/>
                    </a:lnTo>
                    <a:lnTo>
                      <a:pt x="27" y="126"/>
                    </a:lnTo>
                    <a:lnTo>
                      <a:pt x="27" y="121"/>
                    </a:lnTo>
                    <a:lnTo>
                      <a:pt x="26" y="121"/>
                    </a:lnTo>
                    <a:lnTo>
                      <a:pt x="26" y="118"/>
                    </a:lnTo>
                    <a:lnTo>
                      <a:pt x="24" y="118"/>
                    </a:lnTo>
                    <a:lnTo>
                      <a:pt x="24" y="113"/>
                    </a:lnTo>
                    <a:lnTo>
                      <a:pt x="23" y="113"/>
                    </a:lnTo>
                    <a:lnTo>
                      <a:pt x="23" y="110"/>
                    </a:lnTo>
                    <a:lnTo>
                      <a:pt x="21" y="110"/>
                    </a:lnTo>
                    <a:lnTo>
                      <a:pt x="21" y="105"/>
                    </a:lnTo>
                    <a:lnTo>
                      <a:pt x="19" y="105"/>
                    </a:lnTo>
                    <a:lnTo>
                      <a:pt x="19" y="102"/>
                    </a:lnTo>
                    <a:lnTo>
                      <a:pt x="18" y="102"/>
                    </a:lnTo>
                    <a:lnTo>
                      <a:pt x="18" y="97"/>
                    </a:lnTo>
                    <a:lnTo>
                      <a:pt x="16" y="97"/>
                    </a:lnTo>
                    <a:lnTo>
                      <a:pt x="16" y="92"/>
                    </a:lnTo>
                    <a:lnTo>
                      <a:pt x="14" y="92"/>
                    </a:lnTo>
                    <a:lnTo>
                      <a:pt x="14" y="89"/>
                    </a:lnTo>
                    <a:lnTo>
                      <a:pt x="13" y="89"/>
                    </a:lnTo>
                    <a:lnTo>
                      <a:pt x="13" y="84"/>
                    </a:lnTo>
                    <a:lnTo>
                      <a:pt x="11" y="84"/>
                    </a:lnTo>
                    <a:lnTo>
                      <a:pt x="11" y="81"/>
                    </a:lnTo>
                    <a:lnTo>
                      <a:pt x="10" y="81"/>
                    </a:lnTo>
                    <a:lnTo>
                      <a:pt x="10" y="76"/>
                    </a:lnTo>
                    <a:lnTo>
                      <a:pt x="8" y="76"/>
                    </a:lnTo>
                    <a:lnTo>
                      <a:pt x="8" y="73"/>
                    </a:lnTo>
                    <a:lnTo>
                      <a:pt x="6" y="73"/>
                    </a:lnTo>
                    <a:lnTo>
                      <a:pt x="6" y="71"/>
                    </a:lnTo>
                    <a:lnTo>
                      <a:pt x="18" y="71"/>
                    </a:lnTo>
                    <a:lnTo>
                      <a:pt x="18" y="10"/>
                    </a:lnTo>
                    <a:lnTo>
                      <a:pt x="47" y="10"/>
                    </a:lnTo>
                    <a:lnTo>
                      <a:pt x="47" y="0"/>
                    </a:lnTo>
                    <a:lnTo>
                      <a:pt x="1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7785" name="Freeform 377"/>
              <p:cNvSpPr>
                <a:spLocks/>
              </p:cNvSpPr>
              <p:nvPr/>
            </p:nvSpPr>
            <p:spPr bwMode="auto">
              <a:xfrm>
                <a:off x="2557" y="2307"/>
                <a:ext cx="49" cy="123"/>
              </a:xfrm>
              <a:custGeom>
                <a:avLst/>
                <a:gdLst>
                  <a:gd name="T0" fmla="*/ 12 w 49"/>
                  <a:gd name="T1" fmla="*/ 0 h 123"/>
                  <a:gd name="T2" fmla="*/ 12 w 49"/>
                  <a:gd name="T3" fmla="*/ 62 h 123"/>
                  <a:gd name="T4" fmla="*/ 0 w 49"/>
                  <a:gd name="T5" fmla="*/ 62 h 123"/>
                  <a:gd name="T6" fmla="*/ 25 w 49"/>
                  <a:gd name="T7" fmla="*/ 123 h 123"/>
                  <a:gd name="T8" fmla="*/ 49 w 49"/>
                  <a:gd name="T9" fmla="*/ 62 h 123"/>
                  <a:gd name="T10" fmla="*/ 38 w 49"/>
                  <a:gd name="T11" fmla="*/ 62 h 123"/>
                  <a:gd name="T12" fmla="*/ 38 w 49"/>
                  <a:gd name="T13" fmla="*/ 0 h 123"/>
                  <a:gd name="T14" fmla="*/ 12 w 49"/>
                  <a:gd name="T15" fmla="*/ 0 h 1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123">
                    <a:moveTo>
                      <a:pt x="12" y="0"/>
                    </a:moveTo>
                    <a:lnTo>
                      <a:pt x="12" y="62"/>
                    </a:lnTo>
                    <a:lnTo>
                      <a:pt x="0" y="62"/>
                    </a:lnTo>
                    <a:lnTo>
                      <a:pt x="25" y="123"/>
                    </a:lnTo>
                    <a:lnTo>
                      <a:pt x="49" y="62"/>
                    </a:lnTo>
                    <a:lnTo>
                      <a:pt x="38" y="62"/>
                    </a:lnTo>
                    <a:lnTo>
                      <a:pt x="38" y="0"/>
                    </a:lnTo>
                    <a:lnTo>
                      <a:pt x="12" y="0"/>
                    </a:lnTo>
                  </a:path>
                </a:pathLst>
              </a:custGeom>
              <a:grpFill/>
              <a:ln w="0">
                <a:solidFill>
                  <a:srgbClr val="000000"/>
                </a:solidFill>
                <a:prstDash val="solid"/>
                <a:round/>
                <a:headEnd/>
                <a:tailEnd/>
              </a:ln>
              <a:extLst/>
            </p:spPr>
            <p:txBody>
              <a:bodyPr/>
              <a:lstStyle/>
              <a:p>
                <a:pPr>
                  <a:defRPr/>
                </a:pPr>
                <a:endParaRPr lang="en-US"/>
              </a:p>
            </p:txBody>
          </p:sp>
        </p:grpSp>
        <p:grpSp>
          <p:nvGrpSpPr>
            <p:cNvPr id="17987" name="Group 579"/>
            <p:cNvGrpSpPr>
              <a:grpSpLocks/>
            </p:cNvGrpSpPr>
            <p:nvPr/>
          </p:nvGrpSpPr>
          <p:grpSpPr bwMode="auto">
            <a:xfrm>
              <a:off x="1431" y="1068"/>
              <a:ext cx="2712" cy="3122"/>
              <a:chOff x="1431" y="1068"/>
              <a:chExt cx="2712" cy="3122"/>
            </a:xfrm>
            <a:grpFill/>
          </p:grpSpPr>
          <p:sp>
            <p:nvSpPr>
              <p:cNvPr id="17787" name="Freeform 379"/>
              <p:cNvSpPr>
                <a:spLocks/>
              </p:cNvSpPr>
              <p:nvPr/>
            </p:nvSpPr>
            <p:spPr bwMode="auto">
              <a:xfrm>
                <a:off x="2551" y="2299"/>
                <a:ext cx="61" cy="142"/>
              </a:xfrm>
              <a:custGeom>
                <a:avLst/>
                <a:gdLst>
                  <a:gd name="T0" fmla="*/ 16 w 61"/>
                  <a:gd name="T1" fmla="*/ 8 h 142"/>
                  <a:gd name="T2" fmla="*/ 16 w 61"/>
                  <a:gd name="T3" fmla="*/ 61 h 142"/>
                  <a:gd name="T4" fmla="*/ 0 w 61"/>
                  <a:gd name="T5" fmla="*/ 61 h 142"/>
                  <a:gd name="T6" fmla="*/ 31 w 61"/>
                  <a:gd name="T7" fmla="*/ 142 h 142"/>
                  <a:gd name="T8" fmla="*/ 61 w 61"/>
                  <a:gd name="T9" fmla="*/ 61 h 142"/>
                  <a:gd name="T10" fmla="*/ 47 w 61"/>
                  <a:gd name="T11" fmla="*/ 61 h 142"/>
                  <a:gd name="T12" fmla="*/ 47 w 61"/>
                  <a:gd name="T13" fmla="*/ 0 h 142"/>
                  <a:gd name="T14" fmla="*/ 16 w 61"/>
                  <a:gd name="T15" fmla="*/ 0 h 142"/>
                  <a:gd name="T16" fmla="*/ 16 w 61"/>
                  <a:gd name="T17" fmla="*/ 8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142">
                    <a:moveTo>
                      <a:pt x="16" y="8"/>
                    </a:moveTo>
                    <a:lnTo>
                      <a:pt x="16" y="61"/>
                    </a:lnTo>
                    <a:lnTo>
                      <a:pt x="0" y="61"/>
                    </a:lnTo>
                    <a:lnTo>
                      <a:pt x="31" y="142"/>
                    </a:lnTo>
                    <a:lnTo>
                      <a:pt x="61" y="61"/>
                    </a:lnTo>
                    <a:lnTo>
                      <a:pt x="47" y="61"/>
                    </a:lnTo>
                    <a:lnTo>
                      <a:pt x="47" y="0"/>
                    </a:lnTo>
                    <a:lnTo>
                      <a:pt x="16" y="0"/>
                    </a:lnTo>
                    <a:lnTo>
                      <a:pt x="16" y="8"/>
                    </a:lnTo>
                  </a:path>
                </a:pathLst>
              </a:custGeom>
              <a:grpFill/>
              <a:ln w="0">
                <a:solidFill>
                  <a:srgbClr val="000000"/>
                </a:solidFill>
                <a:prstDash val="solid"/>
                <a:round/>
                <a:headEnd/>
                <a:tailEnd/>
              </a:ln>
              <a:extLst/>
            </p:spPr>
            <p:txBody>
              <a:bodyPr/>
              <a:lstStyle/>
              <a:p>
                <a:pPr>
                  <a:defRPr/>
                </a:pPr>
                <a:endParaRPr lang="en-US"/>
              </a:p>
            </p:txBody>
          </p:sp>
          <p:sp>
            <p:nvSpPr>
              <p:cNvPr id="17788" name="Rectangle 380"/>
              <p:cNvSpPr>
                <a:spLocks noChangeArrowheads="1"/>
              </p:cNvSpPr>
              <p:nvPr/>
            </p:nvSpPr>
            <p:spPr bwMode="auto">
              <a:xfrm>
                <a:off x="2701" y="3765"/>
                <a:ext cx="3" cy="1"/>
              </a:xfrm>
              <a:prstGeom prst="rect">
                <a:avLst/>
              </a:prstGeom>
              <a:grpFill/>
              <a:ln w="0">
                <a:solidFill>
                  <a:srgbClr val="FFFFFF"/>
                </a:solidFill>
                <a:miter lim="800000"/>
                <a:headEnd/>
                <a:tailEnd/>
              </a:ln>
            </p:spPr>
            <p:txBody>
              <a:bodyPr/>
              <a:lstStyle/>
              <a:p>
                <a:pPr>
                  <a:defRPr/>
                </a:pPr>
                <a:endParaRPr lang="en-US"/>
              </a:p>
            </p:txBody>
          </p:sp>
          <p:sp>
            <p:nvSpPr>
              <p:cNvPr id="17789" name="Rectangle 381"/>
              <p:cNvSpPr>
                <a:spLocks noChangeArrowheads="1"/>
              </p:cNvSpPr>
              <p:nvPr/>
            </p:nvSpPr>
            <p:spPr bwMode="auto">
              <a:xfrm>
                <a:off x="2486" y="3684"/>
                <a:ext cx="435" cy="14"/>
              </a:xfrm>
              <a:prstGeom prst="rect">
                <a:avLst/>
              </a:prstGeom>
              <a:grpFill/>
              <a:ln w="0">
                <a:solidFill>
                  <a:srgbClr val="000000"/>
                </a:solidFill>
                <a:miter lim="800000"/>
                <a:headEnd/>
                <a:tailEnd/>
              </a:ln>
            </p:spPr>
            <p:txBody>
              <a:bodyPr/>
              <a:lstStyle/>
              <a:p>
                <a:pPr>
                  <a:defRPr/>
                </a:pPr>
                <a:endParaRPr lang="en-US"/>
              </a:p>
            </p:txBody>
          </p:sp>
          <p:sp>
            <p:nvSpPr>
              <p:cNvPr id="17790" name="Line 382"/>
              <p:cNvSpPr>
                <a:spLocks noChangeShapeType="1"/>
              </p:cNvSpPr>
              <p:nvPr/>
            </p:nvSpPr>
            <p:spPr bwMode="auto">
              <a:xfrm>
                <a:off x="2924" y="3679"/>
                <a:ext cx="1" cy="24"/>
              </a:xfrm>
              <a:prstGeom prst="line">
                <a:avLst/>
              </a:prstGeom>
              <a:grpFill/>
              <a:ln w="0">
                <a:solidFill>
                  <a:srgbClr val="000000"/>
                </a:solidFill>
                <a:round/>
                <a:headEnd/>
                <a:tailEnd/>
              </a:ln>
              <a:extLst/>
            </p:spPr>
            <p:txBody>
              <a:bodyPr/>
              <a:lstStyle/>
              <a:p>
                <a:pPr>
                  <a:defRPr/>
                </a:pPr>
                <a:endParaRPr lang="en-US"/>
              </a:p>
            </p:txBody>
          </p:sp>
          <p:sp>
            <p:nvSpPr>
              <p:cNvPr id="17791" name="Line 383"/>
              <p:cNvSpPr>
                <a:spLocks noChangeShapeType="1"/>
              </p:cNvSpPr>
              <p:nvPr/>
            </p:nvSpPr>
            <p:spPr bwMode="auto">
              <a:xfrm>
                <a:off x="2931" y="3679"/>
                <a:ext cx="1" cy="24"/>
              </a:xfrm>
              <a:prstGeom prst="line">
                <a:avLst/>
              </a:prstGeom>
              <a:grpFill/>
              <a:ln w="0">
                <a:solidFill>
                  <a:srgbClr val="000000"/>
                </a:solidFill>
                <a:round/>
                <a:headEnd/>
                <a:tailEnd/>
              </a:ln>
              <a:extLst/>
            </p:spPr>
            <p:txBody>
              <a:bodyPr/>
              <a:lstStyle/>
              <a:p>
                <a:pPr>
                  <a:defRPr/>
                </a:pPr>
                <a:endParaRPr lang="en-US"/>
              </a:p>
            </p:txBody>
          </p:sp>
          <p:sp>
            <p:nvSpPr>
              <p:cNvPr id="17792" name="Rectangle 384"/>
              <p:cNvSpPr>
                <a:spLocks noChangeArrowheads="1"/>
              </p:cNvSpPr>
              <p:nvPr/>
            </p:nvSpPr>
            <p:spPr bwMode="auto">
              <a:xfrm>
                <a:off x="2504" y="3600"/>
                <a:ext cx="356" cy="82"/>
              </a:xfrm>
              <a:prstGeom prst="rect">
                <a:avLst/>
              </a:prstGeom>
              <a:grpFill/>
              <a:ln w="0">
                <a:solidFill>
                  <a:srgbClr val="000000"/>
                </a:solidFill>
                <a:miter lim="800000"/>
                <a:headEnd/>
                <a:tailEnd/>
              </a:ln>
            </p:spPr>
            <p:txBody>
              <a:bodyPr/>
              <a:lstStyle/>
              <a:p>
                <a:pPr>
                  <a:defRPr/>
                </a:pPr>
                <a:endParaRPr lang="en-US"/>
              </a:p>
            </p:txBody>
          </p:sp>
          <p:sp>
            <p:nvSpPr>
              <p:cNvPr id="17793" name="Freeform 385"/>
              <p:cNvSpPr>
                <a:spLocks/>
              </p:cNvSpPr>
              <p:nvPr/>
            </p:nvSpPr>
            <p:spPr bwMode="auto">
              <a:xfrm>
                <a:off x="2583" y="1284"/>
                <a:ext cx="49" cy="108"/>
              </a:xfrm>
              <a:custGeom>
                <a:avLst/>
                <a:gdLst>
                  <a:gd name="T0" fmla="*/ 12 w 49"/>
                  <a:gd name="T1" fmla="*/ 47 h 108"/>
                  <a:gd name="T2" fmla="*/ 0 w 49"/>
                  <a:gd name="T3" fmla="*/ 50 h 108"/>
                  <a:gd name="T4" fmla="*/ 2 w 49"/>
                  <a:gd name="T5" fmla="*/ 54 h 108"/>
                  <a:gd name="T6" fmla="*/ 3 w 49"/>
                  <a:gd name="T7" fmla="*/ 58 h 108"/>
                  <a:gd name="T8" fmla="*/ 5 w 49"/>
                  <a:gd name="T9" fmla="*/ 63 h 108"/>
                  <a:gd name="T10" fmla="*/ 7 w 49"/>
                  <a:gd name="T11" fmla="*/ 66 h 108"/>
                  <a:gd name="T12" fmla="*/ 8 w 49"/>
                  <a:gd name="T13" fmla="*/ 71 h 108"/>
                  <a:gd name="T14" fmla="*/ 10 w 49"/>
                  <a:gd name="T15" fmla="*/ 75 h 108"/>
                  <a:gd name="T16" fmla="*/ 12 w 49"/>
                  <a:gd name="T17" fmla="*/ 79 h 108"/>
                  <a:gd name="T18" fmla="*/ 13 w 49"/>
                  <a:gd name="T19" fmla="*/ 84 h 108"/>
                  <a:gd name="T20" fmla="*/ 15 w 49"/>
                  <a:gd name="T21" fmla="*/ 87 h 108"/>
                  <a:gd name="T22" fmla="*/ 16 w 49"/>
                  <a:gd name="T23" fmla="*/ 92 h 108"/>
                  <a:gd name="T24" fmla="*/ 18 w 49"/>
                  <a:gd name="T25" fmla="*/ 96 h 108"/>
                  <a:gd name="T26" fmla="*/ 20 w 49"/>
                  <a:gd name="T27" fmla="*/ 100 h 108"/>
                  <a:gd name="T28" fmla="*/ 21 w 49"/>
                  <a:gd name="T29" fmla="*/ 105 h 108"/>
                  <a:gd name="T30" fmla="*/ 23 w 49"/>
                  <a:gd name="T31" fmla="*/ 108 h 108"/>
                  <a:gd name="T32" fmla="*/ 26 w 49"/>
                  <a:gd name="T33" fmla="*/ 105 h 108"/>
                  <a:gd name="T34" fmla="*/ 28 w 49"/>
                  <a:gd name="T35" fmla="*/ 100 h 108"/>
                  <a:gd name="T36" fmla="*/ 29 w 49"/>
                  <a:gd name="T37" fmla="*/ 96 h 108"/>
                  <a:gd name="T38" fmla="*/ 31 w 49"/>
                  <a:gd name="T39" fmla="*/ 92 h 108"/>
                  <a:gd name="T40" fmla="*/ 33 w 49"/>
                  <a:gd name="T41" fmla="*/ 87 h 108"/>
                  <a:gd name="T42" fmla="*/ 34 w 49"/>
                  <a:gd name="T43" fmla="*/ 84 h 108"/>
                  <a:gd name="T44" fmla="*/ 36 w 49"/>
                  <a:gd name="T45" fmla="*/ 79 h 108"/>
                  <a:gd name="T46" fmla="*/ 37 w 49"/>
                  <a:gd name="T47" fmla="*/ 75 h 108"/>
                  <a:gd name="T48" fmla="*/ 39 w 49"/>
                  <a:gd name="T49" fmla="*/ 71 h 108"/>
                  <a:gd name="T50" fmla="*/ 41 w 49"/>
                  <a:gd name="T51" fmla="*/ 66 h 108"/>
                  <a:gd name="T52" fmla="*/ 42 w 49"/>
                  <a:gd name="T53" fmla="*/ 63 h 108"/>
                  <a:gd name="T54" fmla="*/ 44 w 49"/>
                  <a:gd name="T55" fmla="*/ 58 h 108"/>
                  <a:gd name="T56" fmla="*/ 45 w 49"/>
                  <a:gd name="T57" fmla="*/ 54 h 108"/>
                  <a:gd name="T58" fmla="*/ 47 w 49"/>
                  <a:gd name="T59" fmla="*/ 50 h 108"/>
                  <a:gd name="T60" fmla="*/ 49 w 49"/>
                  <a:gd name="T61" fmla="*/ 47 h 108"/>
                  <a:gd name="T62" fmla="*/ 36 w 49"/>
                  <a:gd name="T63" fmla="*/ 8 h 108"/>
                  <a:gd name="T64" fmla="*/ 34 w 49"/>
                  <a:gd name="T65" fmla="*/ 55 h 108"/>
                  <a:gd name="T66" fmla="*/ 44 w 49"/>
                  <a:gd name="T67" fmla="*/ 57 h 108"/>
                  <a:gd name="T68" fmla="*/ 42 w 49"/>
                  <a:gd name="T69" fmla="*/ 60 h 108"/>
                  <a:gd name="T70" fmla="*/ 41 w 49"/>
                  <a:gd name="T71" fmla="*/ 65 h 108"/>
                  <a:gd name="T72" fmla="*/ 39 w 49"/>
                  <a:gd name="T73" fmla="*/ 68 h 108"/>
                  <a:gd name="T74" fmla="*/ 37 w 49"/>
                  <a:gd name="T75" fmla="*/ 71 h 108"/>
                  <a:gd name="T76" fmla="*/ 36 w 49"/>
                  <a:gd name="T77" fmla="*/ 76 h 108"/>
                  <a:gd name="T78" fmla="*/ 34 w 49"/>
                  <a:gd name="T79" fmla="*/ 79 h 108"/>
                  <a:gd name="T80" fmla="*/ 33 w 49"/>
                  <a:gd name="T81" fmla="*/ 84 h 108"/>
                  <a:gd name="T82" fmla="*/ 31 w 49"/>
                  <a:gd name="T83" fmla="*/ 87 h 108"/>
                  <a:gd name="T84" fmla="*/ 29 w 49"/>
                  <a:gd name="T85" fmla="*/ 91 h 108"/>
                  <a:gd name="T86" fmla="*/ 28 w 49"/>
                  <a:gd name="T87" fmla="*/ 96 h 108"/>
                  <a:gd name="T88" fmla="*/ 26 w 49"/>
                  <a:gd name="T89" fmla="*/ 99 h 108"/>
                  <a:gd name="T90" fmla="*/ 23 w 49"/>
                  <a:gd name="T91" fmla="*/ 96 h 108"/>
                  <a:gd name="T92" fmla="*/ 21 w 49"/>
                  <a:gd name="T93" fmla="*/ 91 h 108"/>
                  <a:gd name="T94" fmla="*/ 20 w 49"/>
                  <a:gd name="T95" fmla="*/ 87 h 108"/>
                  <a:gd name="T96" fmla="*/ 18 w 49"/>
                  <a:gd name="T97" fmla="*/ 84 h 108"/>
                  <a:gd name="T98" fmla="*/ 16 w 49"/>
                  <a:gd name="T99" fmla="*/ 79 h 108"/>
                  <a:gd name="T100" fmla="*/ 15 w 49"/>
                  <a:gd name="T101" fmla="*/ 76 h 108"/>
                  <a:gd name="T102" fmla="*/ 13 w 49"/>
                  <a:gd name="T103" fmla="*/ 71 h 108"/>
                  <a:gd name="T104" fmla="*/ 12 w 49"/>
                  <a:gd name="T105" fmla="*/ 68 h 108"/>
                  <a:gd name="T106" fmla="*/ 10 w 49"/>
                  <a:gd name="T107" fmla="*/ 65 h 108"/>
                  <a:gd name="T108" fmla="*/ 8 w 49"/>
                  <a:gd name="T109" fmla="*/ 60 h 108"/>
                  <a:gd name="T110" fmla="*/ 7 w 49"/>
                  <a:gd name="T111" fmla="*/ 57 h 108"/>
                  <a:gd name="T112" fmla="*/ 5 w 49"/>
                  <a:gd name="T113" fmla="*/ 55 h 108"/>
                  <a:gd name="T114" fmla="*/ 15 w 49"/>
                  <a:gd name="T115" fmla="*/ 8 h 108"/>
                  <a:gd name="T116" fmla="*/ 36 w 49"/>
                  <a:gd name="T117" fmla="*/ 0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9" h="108">
                    <a:moveTo>
                      <a:pt x="12" y="0"/>
                    </a:moveTo>
                    <a:lnTo>
                      <a:pt x="12" y="47"/>
                    </a:lnTo>
                    <a:lnTo>
                      <a:pt x="0" y="47"/>
                    </a:lnTo>
                    <a:lnTo>
                      <a:pt x="0" y="50"/>
                    </a:lnTo>
                    <a:lnTo>
                      <a:pt x="2" y="50"/>
                    </a:lnTo>
                    <a:lnTo>
                      <a:pt x="2" y="54"/>
                    </a:lnTo>
                    <a:lnTo>
                      <a:pt x="3" y="54"/>
                    </a:lnTo>
                    <a:lnTo>
                      <a:pt x="3" y="58"/>
                    </a:lnTo>
                    <a:lnTo>
                      <a:pt x="5" y="58"/>
                    </a:lnTo>
                    <a:lnTo>
                      <a:pt x="5" y="63"/>
                    </a:lnTo>
                    <a:lnTo>
                      <a:pt x="7" y="63"/>
                    </a:lnTo>
                    <a:lnTo>
                      <a:pt x="7" y="66"/>
                    </a:lnTo>
                    <a:lnTo>
                      <a:pt x="8" y="66"/>
                    </a:lnTo>
                    <a:lnTo>
                      <a:pt x="8" y="71"/>
                    </a:lnTo>
                    <a:lnTo>
                      <a:pt x="10" y="71"/>
                    </a:lnTo>
                    <a:lnTo>
                      <a:pt x="10" y="75"/>
                    </a:lnTo>
                    <a:lnTo>
                      <a:pt x="12" y="75"/>
                    </a:lnTo>
                    <a:lnTo>
                      <a:pt x="12" y="79"/>
                    </a:lnTo>
                    <a:lnTo>
                      <a:pt x="13" y="79"/>
                    </a:lnTo>
                    <a:lnTo>
                      <a:pt x="13" y="84"/>
                    </a:lnTo>
                    <a:lnTo>
                      <a:pt x="15" y="84"/>
                    </a:lnTo>
                    <a:lnTo>
                      <a:pt x="15" y="87"/>
                    </a:lnTo>
                    <a:lnTo>
                      <a:pt x="16" y="87"/>
                    </a:lnTo>
                    <a:lnTo>
                      <a:pt x="16" y="92"/>
                    </a:lnTo>
                    <a:lnTo>
                      <a:pt x="18" y="92"/>
                    </a:lnTo>
                    <a:lnTo>
                      <a:pt x="18" y="96"/>
                    </a:lnTo>
                    <a:lnTo>
                      <a:pt x="20" y="96"/>
                    </a:lnTo>
                    <a:lnTo>
                      <a:pt x="20" y="100"/>
                    </a:lnTo>
                    <a:lnTo>
                      <a:pt x="21" y="100"/>
                    </a:lnTo>
                    <a:lnTo>
                      <a:pt x="21" y="105"/>
                    </a:lnTo>
                    <a:lnTo>
                      <a:pt x="23" y="105"/>
                    </a:lnTo>
                    <a:lnTo>
                      <a:pt x="23" y="108"/>
                    </a:lnTo>
                    <a:lnTo>
                      <a:pt x="26" y="108"/>
                    </a:lnTo>
                    <a:lnTo>
                      <a:pt x="26" y="105"/>
                    </a:lnTo>
                    <a:lnTo>
                      <a:pt x="28" y="105"/>
                    </a:lnTo>
                    <a:lnTo>
                      <a:pt x="28" y="100"/>
                    </a:lnTo>
                    <a:lnTo>
                      <a:pt x="29" y="100"/>
                    </a:lnTo>
                    <a:lnTo>
                      <a:pt x="29" y="96"/>
                    </a:lnTo>
                    <a:lnTo>
                      <a:pt x="31" y="96"/>
                    </a:lnTo>
                    <a:lnTo>
                      <a:pt x="31" y="92"/>
                    </a:lnTo>
                    <a:lnTo>
                      <a:pt x="33" y="92"/>
                    </a:lnTo>
                    <a:lnTo>
                      <a:pt x="33" y="87"/>
                    </a:lnTo>
                    <a:lnTo>
                      <a:pt x="34" y="87"/>
                    </a:lnTo>
                    <a:lnTo>
                      <a:pt x="34" y="84"/>
                    </a:lnTo>
                    <a:lnTo>
                      <a:pt x="36" y="84"/>
                    </a:lnTo>
                    <a:lnTo>
                      <a:pt x="36" y="79"/>
                    </a:lnTo>
                    <a:lnTo>
                      <a:pt x="37" y="79"/>
                    </a:lnTo>
                    <a:lnTo>
                      <a:pt x="37" y="75"/>
                    </a:lnTo>
                    <a:lnTo>
                      <a:pt x="39" y="75"/>
                    </a:lnTo>
                    <a:lnTo>
                      <a:pt x="39" y="71"/>
                    </a:lnTo>
                    <a:lnTo>
                      <a:pt x="41" y="71"/>
                    </a:lnTo>
                    <a:lnTo>
                      <a:pt x="41" y="66"/>
                    </a:lnTo>
                    <a:lnTo>
                      <a:pt x="42" y="66"/>
                    </a:lnTo>
                    <a:lnTo>
                      <a:pt x="42" y="63"/>
                    </a:lnTo>
                    <a:lnTo>
                      <a:pt x="44" y="63"/>
                    </a:lnTo>
                    <a:lnTo>
                      <a:pt x="44" y="58"/>
                    </a:lnTo>
                    <a:lnTo>
                      <a:pt x="45" y="58"/>
                    </a:lnTo>
                    <a:lnTo>
                      <a:pt x="45" y="54"/>
                    </a:lnTo>
                    <a:lnTo>
                      <a:pt x="47" y="54"/>
                    </a:lnTo>
                    <a:lnTo>
                      <a:pt x="47" y="50"/>
                    </a:lnTo>
                    <a:lnTo>
                      <a:pt x="49" y="50"/>
                    </a:lnTo>
                    <a:lnTo>
                      <a:pt x="49" y="47"/>
                    </a:lnTo>
                    <a:lnTo>
                      <a:pt x="36" y="47"/>
                    </a:lnTo>
                    <a:lnTo>
                      <a:pt x="36" y="8"/>
                    </a:lnTo>
                    <a:lnTo>
                      <a:pt x="34" y="8"/>
                    </a:lnTo>
                    <a:lnTo>
                      <a:pt x="34" y="55"/>
                    </a:lnTo>
                    <a:lnTo>
                      <a:pt x="44" y="55"/>
                    </a:lnTo>
                    <a:lnTo>
                      <a:pt x="44" y="57"/>
                    </a:lnTo>
                    <a:lnTo>
                      <a:pt x="42" y="57"/>
                    </a:lnTo>
                    <a:lnTo>
                      <a:pt x="42" y="60"/>
                    </a:lnTo>
                    <a:lnTo>
                      <a:pt x="41" y="60"/>
                    </a:lnTo>
                    <a:lnTo>
                      <a:pt x="41" y="65"/>
                    </a:lnTo>
                    <a:lnTo>
                      <a:pt x="39" y="65"/>
                    </a:lnTo>
                    <a:lnTo>
                      <a:pt x="39" y="68"/>
                    </a:lnTo>
                    <a:lnTo>
                      <a:pt x="37" y="68"/>
                    </a:lnTo>
                    <a:lnTo>
                      <a:pt x="37" y="71"/>
                    </a:lnTo>
                    <a:lnTo>
                      <a:pt x="36" y="71"/>
                    </a:lnTo>
                    <a:lnTo>
                      <a:pt x="36" y="76"/>
                    </a:lnTo>
                    <a:lnTo>
                      <a:pt x="34" y="76"/>
                    </a:lnTo>
                    <a:lnTo>
                      <a:pt x="34" y="79"/>
                    </a:lnTo>
                    <a:lnTo>
                      <a:pt x="33" y="79"/>
                    </a:lnTo>
                    <a:lnTo>
                      <a:pt x="33" y="84"/>
                    </a:lnTo>
                    <a:lnTo>
                      <a:pt x="31" y="84"/>
                    </a:lnTo>
                    <a:lnTo>
                      <a:pt x="31" y="87"/>
                    </a:lnTo>
                    <a:lnTo>
                      <a:pt x="29" y="87"/>
                    </a:lnTo>
                    <a:lnTo>
                      <a:pt x="29" y="91"/>
                    </a:lnTo>
                    <a:lnTo>
                      <a:pt x="28" y="91"/>
                    </a:lnTo>
                    <a:lnTo>
                      <a:pt x="28" y="96"/>
                    </a:lnTo>
                    <a:lnTo>
                      <a:pt x="26" y="96"/>
                    </a:lnTo>
                    <a:lnTo>
                      <a:pt x="26" y="99"/>
                    </a:lnTo>
                    <a:lnTo>
                      <a:pt x="23" y="99"/>
                    </a:lnTo>
                    <a:lnTo>
                      <a:pt x="23" y="96"/>
                    </a:lnTo>
                    <a:lnTo>
                      <a:pt x="21" y="96"/>
                    </a:lnTo>
                    <a:lnTo>
                      <a:pt x="21" y="91"/>
                    </a:lnTo>
                    <a:lnTo>
                      <a:pt x="20" y="91"/>
                    </a:lnTo>
                    <a:lnTo>
                      <a:pt x="20" y="87"/>
                    </a:lnTo>
                    <a:lnTo>
                      <a:pt x="18" y="87"/>
                    </a:lnTo>
                    <a:lnTo>
                      <a:pt x="18" y="84"/>
                    </a:lnTo>
                    <a:lnTo>
                      <a:pt x="16" y="84"/>
                    </a:lnTo>
                    <a:lnTo>
                      <a:pt x="16" y="79"/>
                    </a:lnTo>
                    <a:lnTo>
                      <a:pt x="15" y="79"/>
                    </a:lnTo>
                    <a:lnTo>
                      <a:pt x="15" y="76"/>
                    </a:lnTo>
                    <a:lnTo>
                      <a:pt x="13" y="76"/>
                    </a:lnTo>
                    <a:lnTo>
                      <a:pt x="13" y="71"/>
                    </a:lnTo>
                    <a:lnTo>
                      <a:pt x="12" y="71"/>
                    </a:lnTo>
                    <a:lnTo>
                      <a:pt x="12" y="68"/>
                    </a:lnTo>
                    <a:lnTo>
                      <a:pt x="10" y="68"/>
                    </a:lnTo>
                    <a:lnTo>
                      <a:pt x="10" y="65"/>
                    </a:lnTo>
                    <a:lnTo>
                      <a:pt x="8" y="65"/>
                    </a:lnTo>
                    <a:lnTo>
                      <a:pt x="8" y="60"/>
                    </a:lnTo>
                    <a:lnTo>
                      <a:pt x="7" y="60"/>
                    </a:lnTo>
                    <a:lnTo>
                      <a:pt x="7" y="57"/>
                    </a:lnTo>
                    <a:lnTo>
                      <a:pt x="5" y="57"/>
                    </a:lnTo>
                    <a:lnTo>
                      <a:pt x="5" y="55"/>
                    </a:lnTo>
                    <a:lnTo>
                      <a:pt x="15" y="55"/>
                    </a:lnTo>
                    <a:lnTo>
                      <a:pt x="15" y="8"/>
                    </a:lnTo>
                    <a:lnTo>
                      <a:pt x="36" y="8"/>
                    </a:lnTo>
                    <a:lnTo>
                      <a:pt x="36" y="0"/>
                    </a:lnTo>
                    <a:lnTo>
                      <a:pt x="1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7794" name="Freeform 386"/>
              <p:cNvSpPr>
                <a:spLocks/>
              </p:cNvSpPr>
              <p:nvPr/>
            </p:nvSpPr>
            <p:spPr bwMode="auto">
              <a:xfrm>
                <a:off x="2588" y="1291"/>
                <a:ext cx="39" cy="93"/>
              </a:xfrm>
              <a:custGeom>
                <a:avLst/>
                <a:gdLst>
                  <a:gd name="T0" fmla="*/ 29 w 39"/>
                  <a:gd name="T1" fmla="*/ 0 h 93"/>
                  <a:gd name="T2" fmla="*/ 29 w 39"/>
                  <a:gd name="T3" fmla="*/ 47 h 93"/>
                  <a:gd name="T4" fmla="*/ 39 w 39"/>
                  <a:gd name="T5" fmla="*/ 47 h 93"/>
                  <a:gd name="T6" fmla="*/ 19 w 39"/>
                  <a:gd name="T7" fmla="*/ 93 h 93"/>
                  <a:gd name="T8" fmla="*/ 0 w 39"/>
                  <a:gd name="T9" fmla="*/ 47 h 93"/>
                  <a:gd name="T10" fmla="*/ 10 w 39"/>
                  <a:gd name="T11" fmla="*/ 47 h 93"/>
                  <a:gd name="T12" fmla="*/ 10 w 39"/>
                  <a:gd name="T13" fmla="*/ 0 h 93"/>
                  <a:gd name="T14" fmla="*/ 29 w 39"/>
                  <a:gd name="T15" fmla="*/ 0 h 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93">
                    <a:moveTo>
                      <a:pt x="29" y="0"/>
                    </a:moveTo>
                    <a:lnTo>
                      <a:pt x="29" y="47"/>
                    </a:lnTo>
                    <a:lnTo>
                      <a:pt x="39" y="47"/>
                    </a:lnTo>
                    <a:lnTo>
                      <a:pt x="19" y="93"/>
                    </a:lnTo>
                    <a:lnTo>
                      <a:pt x="0" y="47"/>
                    </a:lnTo>
                    <a:lnTo>
                      <a:pt x="10" y="47"/>
                    </a:lnTo>
                    <a:lnTo>
                      <a:pt x="10" y="0"/>
                    </a:lnTo>
                    <a:lnTo>
                      <a:pt x="29" y="0"/>
                    </a:lnTo>
                  </a:path>
                </a:pathLst>
              </a:custGeom>
              <a:grpFill/>
              <a:ln w="0">
                <a:solidFill>
                  <a:srgbClr val="000000"/>
                </a:solidFill>
                <a:prstDash val="solid"/>
                <a:round/>
                <a:headEnd/>
                <a:tailEnd/>
              </a:ln>
              <a:extLst/>
            </p:spPr>
            <p:txBody>
              <a:bodyPr/>
              <a:lstStyle/>
              <a:p>
                <a:pPr>
                  <a:defRPr/>
                </a:pPr>
                <a:endParaRPr lang="en-US"/>
              </a:p>
            </p:txBody>
          </p:sp>
          <p:sp>
            <p:nvSpPr>
              <p:cNvPr id="17795" name="Freeform 387"/>
              <p:cNvSpPr>
                <a:spLocks/>
              </p:cNvSpPr>
              <p:nvPr/>
            </p:nvSpPr>
            <p:spPr bwMode="auto">
              <a:xfrm>
                <a:off x="2583" y="1284"/>
                <a:ext cx="49" cy="110"/>
              </a:xfrm>
              <a:custGeom>
                <a:avLst/>
                <a:gdLst>
                  <a:gd name="T0" fmla="*/ 36 w 49"/>
                  <a:gd name="T1" fmla="*/ 7 h 110"/>
                  <a:gd name="T2" fmla="*/ 36 w 49"/>
                  <a:gd name="T3" fmla="*/ 47 h 110"/>
                  <a:gd name="T4" fmla="*/ 49 w 49"/>
                  <a:gd name="T5" fmla="*/ 47 h 110"/>
                  <a:gd name="T6" fmla="*/ 24 w 49"/>
                  <a:gd name="T7" fmla="*/ 110 h 110"/>
                  <a:gd name="T8" fmla="*/ 0 w 49"/>
                  <a:gd name="T9" fmla="*/ 47 h 110"/>
                  <a:gd name="T10" fmla="*/ 12 w 49"/>
                  <a:gd name="T11" fmla="*/ 47 h 110"/>
                  <a:gd name="T12" fmla="*/ 12 w 49"/>
                  <a:gd name="T13" fmla="*/ 0 h 110"/>
                  <a:gd name="T14" fmla="*/ 36 w 49"/>
                  <a:gd name="T15" fmla="*/ 0 h 110"/>
                  <a:gd name="T16" fmla="*/ 36 w 49"/>
                  <a:gd name="T17" fmla="*/ 7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10">
                    <a:moveTo>
                      <a:pt x="36" y="7"/>
                    </a:moveTo>
                    <a:lnTo>
                      <a:pt x="36" y="47"/>
                    </a:lnTo>
                    <a:lnTo>
                      <a:pt x="49" y="47"/>
                    </a:lnTo>
                    <a:lnTo>
                      <a:pt x="24" y="110"/>
                    </a:lnTo>
                    <a:lnTo>
                      <a:pt x="0" y="47"/>
                    </a:lnTo>
                    <a:lnTo>
                      <a:pt x="12" y="47"/>
                    </a:lnTo>
                    <a:lnTo>
                      <a:pt x="12" y="0"/>
                    </a:lnTo>
                    <a:lnTo>
                      <a:pt x="36" y="0"/>
                    </a:lnTo>
                    <a:lnTo>
                      <a:pt x="36" y="7"/>
                    </a:lnTo>
                  </a:path>
                </a:pathLst>
              </a:custGeom>
              <a:grpFill/>
              <a:ln w="0">
                <a:solidFill>
                  <a:srgbClr val="000000"/>
                </a:solidFill>
                <a:prstDash val="solid"/>
                <a:round/>
                <a:headEnd/>
                <a:tailEnd/>
              </a:ln>
              <a:extLst/>
            </p:spPr>
            <p:txBody>
              <a:bodyPr/>
              <a:lstStyle/>
              <a:p>
                <a:pPr>
                  <a:defRPr/>
                </a:pPr>
                <a:endParaRPr lang="en-US"/>
              </a:p>
            </p:txBody>
          </p:sp>
          <p:sp>
            <p:nvSpPr>
              <p:cNvPr id="17796" name="Freeform 388"/>
              <p:cNvSpPr>
                <a:spLocks/>
              </p:cNvSpPr>
              <p:nvPr/>
            </p:nvSpPr>
            <p:spPr bwMode="auto">
              <a:xfrm>
                <a:off x="2730" y="1281"/>
                <a:ext cx="47" cy="110"/>
              </a:xfrm>
              <a:custGeom>
                <a:avLst/>
                <a:gdLst>
                  <a:gd name="T0" fmla="*/ 12 w 47"/>
                  <a:gd name="T1" fmla="*/ 48 h 110"/>
                  <a:gd name="T2" fmla="*/ 0 w 47"/>
                  <a:gd name="T3" fmla="*/ 52 h 110"/>
                  <a:gd name="T4" fmla="*/ 2 w 47"/>
                  <a:gd name="T5" fmla="*/ 55 h 110"/>
                  <a:gd name="T6" fmla="*/ 4 w 47"/>
                  <a:gd name="T7" fmla="*/ 60 h 110"/>
                  <a:gd name="T8" fmla="*/ 5 w 47"/>
                  <a:gd name="T9" fmla="*/ 65 h 110"/>
                  <a:gd name="T10" fmla="*/ 7 w 47"/>
                  <a:gd name="T11" fmla="*/ 68 h 110"/>
                  <a:gd name="T12" fmla="*/ 8 w 47"/>
                  <a:gd name="T13" fmla="*/ 73 h 110"/>
                  <a:gd name="T14" fmla="*/ 10 w 47"/>
                  <a:gd name="T15" fmla="*/ 76 h 110"/>
                  <a:gd name="T16" fmla="*/ 12 w 47"/>
                  <a:gd name="T17" fmla="*/ 81 h 110"/>
                  <a:gd name="T18" fmla="*/ 13 w 47"/>
                  <a:gd name="T19" fmla="*/ 86 h 110"/>
                  <a:gd name="T20" fmla="*/ 15 w 47"/>
                  <a:gd name="T21" fmla="*/ 89 h 110"/>
                  <a:gd name="T22" fmla="*/ 16 w 47"/>
                  <a:gd name="T23" fmla="*/ 94 h 110"/>
                  <a:gd name="T24" fmla="*/ 18 w 47"/>
                  <a:gd name="T25" fmla="*/ 97 h 110"/>
                  <a:gd name="T26" fmla="*/ 20 w 47"/>
                  <a:gd name="T27" fmla="*/ 102 h 110"/>
                  <a:gd name="T28" fmla="*/ 21 w 47"/>
                  <a:gd name="T29" fmla="*/ 107 h 110"/>
                  <a:gd name="T30" fmla="*/ 23 w 47"/>
                  <a:gd name="T31" fmla="*/ 110 h 110"/>
                  <a:gd name="T32" fmla="*/ 26 w 47"/>
                  <a:gd name="T33" fmla="*/ 105 h 110"/>
                  <a:gd name="T34" fmla="*/ 28 w 47"/>
                  <a:gd name="T35" fmla="*/ 102 h 110"/>
                  <a:gd name="T36" fmla="*/ 29 w 47"/>
                  <a:gd name="T37" fmla="*/ 97 h 110"/>
                  <a:gd name="T38" fmla="*/ 31 w 47"/>
                  <a:gd name="T39" fmla="*/ 92 h 110"/>
                  <a:gd name="T40" fmla="*/ 33 w 47"/>
                  <a:gd name="T41" fmla="*/ 87 h 110"/>
                  <a:gd name="T42" fmla="*/ 34 w 47"/>
                  <a:gd name="T43" fmla="*/ 82 h 110"/>
                  <a:gd name="T44" fmla="*/ 36 w 47"/>
                  <a:gd name="T45" fmla="*/ 79 h 110"/>
                  <a:gd name="T46" fmla="*/ 37 w 47"/>
                  <a:gd name="T47" fmla="*/ 74 h 110"/>
                  <a:gd name="T48" fmla="*/ 39 w 47"/>
                  <a:gd name="T49" fmla="*/ 69 h 110"/>
                  <a:gd name="T50" fmla="*/ 41 w 47"/>
                  <a:gd name="T51" fmla="*/ 65 h 110"/>
                  <a:gd name="T52" fmla="*/ 42 w 47"/>
                  <a:gd name="T53" fmla="*/ 60 h 110"/>
                  <a:gd name="T54" fmla="*/ 44 w 47"/>
                  <a:gd name="T55" fmla="*/ 57 h 110"/>
                  <a:gd name="T56" fmla="*/ 46 w 47"/>
                  <a:gd name="T57" fmla="*/ 52 h 110"/>
                  <a:gd name="T58" fmla="*/ 47 w 47"/>
                  <a:gd name="T59" fmla="*/ 48 h 110"/>
                  <a:gd name="T60" fmla="*/ 36 w 47"/>
                  <a:gd name="T61" fmla="*/ 8 h 110"/>
                  <a:gd name="T62" fmla="*/ 33 w 47"/>
                  <a:gd name="T63" fmla="*/ 57 h 110"/>
                  <a:gd name="T64" fmla="*/ 42 w 47"/>
                  <a:gd name="T65" fmla="*/ 58 h 110"/>
                  <a:gd name="T66" fmla="*/ 41 w 47"/>
                  <a:gd name="T67" fmla="*/ 61 h 110"/>
                  <a:gd name="T68" fmla="*/ 39 w 47"/>
                  <a:gd name="T69" fmla="*/ 66 h 110"/>
                  <a:gd name="T70" fmla="*/ 37 w 47"/>
                  <a:gd name="T71" fmla="*/ 71 h 110"/>
                  <a:gd name="T72" fmla="*/ 36 w 47"/>
                  <a:gd name="T73" fmla="*/ 74 h 110"/>
                  <a:gd name="T74" fmla="*/ 34 w 47"/>
                  <a:gd name="T75" fmla="*/ 79 h 110"/>
                  <a:gd name="T76" fmla="*/ 33 w 47"/>
                  <a:gd name="T77" fmla="*/ 84 h 110"/>
                  <a:gd name="T78" fmla="*/ 31 w 47"/>
                  <a:gd name="T79" fmla="*/ 87 h 110"/>
                  <a:gd name="T80" fmla="*/ 29 w 47"/>
                  <a:gd name="T81" fmla="*/ 92 h 110"/>
                  <a:gd name="T82" fmla="*/ 28 w 47"/>
                  <a:gd name="T83" fmla="*/ 97 h 110"/>
                  <a:gd name="T84" fmla="*/ 26 w 47"/>
                  <a:gd name="T85" fmla="*/ 100 h 110"/>
                  <a:gd name="T86" fmla="*/ 23 w 47"/>
                  <a:gd name="T87" fmla="*/ 97 h 110"/>
                  <a:gd name="T88" fmla="*/ 21 w 47"/>
                  <a:gd name="T89" fmla="*/ 92 h 110"/>
                  <a:gd name="T90" fmla="*/ 20 w 47"/>
                  <a:gd name="T91" fmla="*/ 89 h 110"/>
                  <a:gd name="T92" fmla="*/ 18 w 47"/>
                  <a:gd name="T93" fmla="*/ 86 h 110"/>
                  <a:gd name="T94" fmla="*/ 16 w 47"/>
                  <a:gd name="T95" fmla="*/ 81 h 110"/>
                  <a:gd name="T96" fmla="*/ 15 w 47"/>
                  <a:gd name="T97" fmla="*/ 78 h 110"/>
                  <a:gd name="T98" fmla="*/ 13 w 47"/>
                  <a:gd name="T99" fmla="*/ 73 h 110"/>
                  <a:gd name="T100" fmla="*/ 12 w 47"/>
                  <a:gd name="T101" fmla="*/ 69 h 110"/>
                  <a:gd name="T102" fmla="*/ 10 w 47"/>
                  <a:gd name="T103" fmla="*/ 66 h 110"/>
                  <a:gd name="T104" fmla="*/ 8 w 47"/>
                  <a:gd name="T105" fmla="*/ 61 h 110"/>
                  <a:gd name="T106" fmla="*/ 7 w 47"/>
                  <a:gd name="T107" fmla="*/ 58 h 110"/>
                  <a:gd name="T108" fmla="*/ 5 w 47"/>
                  <a:gd name="T109" fmla="*/ 57 h 110"/>
                  <a:gd name="T110" fmla="*/ 15 w 47"/>
                  <a:gd name="T111" fmla="*/ 8 h 110"/>
                  <a:gd name="T112" fmla="*/ 36 w 47"/>
                  <a:gd name="T113" fmla="*/ 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7" h="110">
                    <a:moveTo>
                      <a:pt x="12" y="0"/>
                    </a:moveTo>
                    <a:lnTo>
                      <a:pt x="12" y="48"/>
                    </a:lnTo>
                    <a:lnTo>
                      <a:pt x="0" y="48"/>
                    </a:lnTo>
                    <a:lnTo>
                      <a:pt x="0" y="52"/>
                    </a:lnTo>
                    <a:lnTo>
                      <a:pt x="2" y="52"/>
                    </a:lnTo>
                    <a:lnTo>
                      <a:pt x="2" y="55"/>
                    </a:lnTo>
                    <a:lnTo>
                      <a:pt x="4" y="55"/>
                    </a:lnTo>
                    <a:lnTo>
                      <a:pt x="4" y="60"/>
                    </a:lnTo>
                    <a:lnTo>
                      <a:pt x="5" y="60"/>
                    </a:lnTo>
                    <a:lnTo>
                      <a:pt x="5" y="65"/>
                    </a:lnTo>
                    <a:lnTo>
                      <a:pt x="7" y="65"/>
                    </a:lnTo>
                    <a:lnTo>
                      <a:pt x="7" y="68"/>
                    </a:lnTo>
                    <a:lnTo>
                      <a:pt x="8" y="68"/>
                    </a:lnTo>
                    <a:lnTo>
                      <a:pt x="8" y="73"/>
                    </a:lnTo>
                    <a:lnTo>
                      <a:pt x="10" y="73"/>
                    </a:lnTo>
                    <a:lnTo>
                      <a:pt x="10" y="76"/>
                    </a:lnTo>
                    <a:lnTo>
                      <a:pt x="12" y="76"/>
                    </a:lnTo>
                    <a:lnTo>
                      <a:pt x="12" y="81"/>
                    </a:lnTo>
                    <a:lnTo>
                      <a:pt x="13" y="81"/>
                    </a:lnTo>
                    <a:lnTo>
                      <a:pt x="13" y="86"/>
                    </a:lnTo>
                    <a:lnTo>
                      <a:pt x="15" y="86"/>
                    </a:lnTo>
                    <a:lnTo>
                      <a:pt x="15" y="89"/>
                    </a:lnTo>
                    <a:lnTo>
                      <a:pt x="16" y="89"/>
                    </a:lnTo>
                    <a:lnTo>
                      <a:pt x="16" y="94"/>
                    </a:lnTo>
                    <a:lnTo>
                      <a:pt x="18" y="94"/>
                    </a:lnTo>
                    <a:lnTo>
                      <a:pt x="18" y="97"/>
                    </a:lnTo>
                    <a:lnTo>
                      <a:pt x="20" y="97"/>
                    </a:lnTo>
                    <a:lnTo>
                      <a:pt x="20" y="102"/>
                    </a:lnTo>
                    <a:lnTo>
                      <a:pt x="21" y="102"/>
                    </a:lnTo>
                    <a:lnTo>
                      <a:pt x="21" y="107"/>
                    </a:lnTo>
                    <a:lnTo>
                      <a:pt x="23" y="107"/>
                    </a:lnTo>
                    <a:lnTo>
                      <a:pt x="23" y="110"/>
                    </a:lnTo>
                    <a:lnTo>
                      <a:pt x="26" y="110"/>
                    </a:lnTo>
                    <a:lnTo>
                      <a:pt x="26" y="105"/>
                    </a:lnTo>
                    <a:lnTo>
                      <a:pt x="28" y="105"/>
                    </a:lnTo>
                    <a:lnTo>
                      <a:pt x="28" y="102"/>
                    </a:lnTo>
                    <a:lnTo>
                      <a:pt x="29" y="102"/>
                    </a:lnTo>
                    <a:lnTo>
                      <a:pt x="29" y="97"/>
                    </a:lnTo>
                    <a:lnTo>
                      <a:pt x="31" y="97"/>
                    </a:lnTo>
                    <a:lnTo>
                      <a:pt x="31" y="92"/>
                    </a:lnTo>
                    <a:lnTo>
                      <a:pt x="33" y="92"/>
                    </a:lnTo>
                    <a:lnTo>
                      <a:pt x="33" y="87"/>
                    </a:lnTo>
                    <a:lnTo>
                      <a:pt x="34" y="87"/>
                    </a:lnTo>
                    <a:lnTo>
                      <a:pt x="34" y="82"/>
                    </a:lnTo>
                    <a:lnTo>
                      <a:pt x="36" y="82"/>
                    </a:lnTo>
                    <a:lnTo>
                      <a:pt x="36" y="79"/>
                    </a:lnTo>
                    <a:lnTo>
                      <a:pt x="37" y="79"/>
                    </a:lnTo>
                    <a:lnTo>
                      <a:pt x="37" y="74"/>
                    </a:lnTo>
                    <a:lnTo>
                      <a:pt x="39" y="74"/>
                    </a:lnTo>
                    <a:lnTo>
                      <a:pt x="39" y="69"/>
                    </a:lnTo>
                    <a:lnTo>
                      <a:pt x="41" y="69"/>
                    </a:lnTo>
                    <a:lnTo>
                      <a:pt x="41" y="65"/>
                    </a:lnTo>
                    <a:lnTo>
                      <a:pt x="42" y="65"/>
                    </a:lnTo>
                    <a:lnTo>
                      <a:pt x="42" y="60"/>
                    </a:lnTo>
                    <a:lnTo>
                      <a:pt x="44" y="60"/>
                    </a:lnTo>
                    <a:lnTo>
                      <a:pt x="44" y="57"/>
                    </a:lnTo>
                    <a:lnTo>
                      <a:pt x="46" y="57"/>
                    </a:lnTo>
                    <a:lnTo>
                      <a:pt x="46" y="52"/>
                    </a:lnTo>
                    <a:lnTo>
                      <a:pt x="47" y="52"/>
                    </a:lnTo>
                    <a:lnTo>
                      <a:pt x="47" y="48"/>
                    </a:lnTo>
                    <a:lnTo>
                      <a:pt x="36" y="48"/>
                    </a:lnTo>
                    <a:lnTo>
                      <a:pt x="36" y="8"/>
                    </a:lnTo>
                    <a:lnTo>
                      <a:pt x="33" y="8"/>
                    </a:lnTo>
                    <a:lnTo>
                      <a:pt x="33" y="57"/>
                    </a:lnTo>
                    <a:lnTo>
                      <a:pt x="42" y="57"/>
                    </a:lnTo>
                    <a:lnTo>
                      <a:pt x="42" y="58"/>
                    </a:lnTo>
                    <a:lnTo>
                      <a:pt x="41" y="58"/>
                    </a:lnTo>
                    <a:lnTo>
                      <a:pt x="41" y="61"/>
                    </a:lnTo>
                    <a:lnTo>
                      <a:pt x="39" y="61"/>
                    </a:lnTo>
                    <a:lnTo>
                      <a:pt x="39" y="66"/>
                    </a:lnTo>
                    <a:lnTo>
                      <a:pt x="37" y="66"/>
                    </a:lnTo>
                    <a:lnTo>
                      <a:pt x="37" y="71"/>
                    </a:lnTo>
                    <a:lnTo>
                      <a:pt x="36" y="71"/>
                    </a:lnTo>
                    <a:lnTo>
                      <a:pt x="36" y="74"/>
                    </a:lnTo>
                    <a:lnTo>
                      <a:pt x="34" y="74"/>
                    </a:lnTo>
                    <a:lnTo>
                      <a:pt x="34" y="79"/>
                    </a:lnTo>
                    <a:lnTo>
                      <a:pt x="33" y="79"/>
                    </a:lnTo>
                    <a:lnTo>
                      <a:pt x="33" y="84"/>
                    </a:lnTo>
                    <a:lnTo>
                      <a:pt x="31" y="84"/>
                    </a:lnTo>
                    <a:lnTo>
                      <a:pt x="31" y="87"/>
                    </a:lnTo>
                    <a:lnTo>
                      <a:pt x="29" y="87"/>
                    </a:lnTo>
                    <a:lnTo>
                      <a:pt x="29" y="92"/>
                    </a:lnTo>
                    <a:lnTo>
                      <a:pt x="28" y="92"/>
                    </a:lnTo>
                    <a:lnTo>
                      <a:pt x="28" y="97"/>
                    </a:lnTo>
                    <a:lnTo>
                      <a:pt x="26" y="97"/>
                    </a:lnTo>
                    <a:lnTo>
                      <a:pt x="26" y="100"/>
                    </a:lnTo>
                    <a:lnTo>
                      <a:pt x="23" y="100"/>
                    </a:lnTo>
                    <a:lnTo>
                      <a:pt x="23" y="97"/>
                    </a:lnTo>
                    <a:lnTo>
                      <a:pt x="21" y="97"/>
                    </a:lnTo>
                    <a:lnTo>
                      <a:pt x="21" y="92"/>
                    </a:lnTo>
                    <a:lnTo>
                      <a:pt x="20" y="92"/>
                    </a:lnTo>
                    <a:lnTo>
                      <a:pt x="20" y="89"/>
                    </a:lnTo>
                    <a:lnTo>
                      <a:pt x="18" y="89"/>
                    </a:lnTo>
                    <a:lnTo>
                      <a:pt x="18" y="86"/>
                    </a:lnTo>
                    <a:lnTo>
                      <a:pt x="16" y="86"/>
                    </a:lnTo>
                    <a:lnTo>
                      <a:pt x="16" y="81"/>
                    </a:lnTo>
                    <a:lnTo>
                      <a:pt x="15" y="81"/>
                    </a:lnTo>
                    <a:lnTo>
                      <a:pt x="15" y="78"/>
                    </a:lnTo>
                    <a:lnTo>
                      <a:pt x="13" y="78"/>
                    </a:lnTo>
                    <a:lnTo>
                      <a:pt x="13" y="73"/>
                    </a:lnTo>
                    <a:lnTo>
                      <a:pt x="12" y="73"/>
                    </a:lnTo>
                    <a:lnTo>
                      <a:pt x="12" y="69"/>
                    </a:lnTo>
                    <a:lnTo>
                      <a:pt x="10" y="69"/>
                    </a:lnTo>
                    <a:lnTo>
                      <a:pt x="10" y="66"/>
                    </a:lnTo>
                    <a:lnTo>
                      <a:pt x="8" y="66"/>
                    </a:lnTo>
                    <a:lnTo>
                      <a:pt x="8" y="61"/>
                    </a:lnTo>
                    <a:lnTo>
                      <a:pt x="7" y="61"/>
                    </a:lnTo>
                    <a:lnTo>
                      <a:pt x="7" y="58"/>
                    </a:lnTo>
                    <a:lnTo>
                      <a:pt x="5" y="58"/>
                    </a:lnTo>
                    <a:lnTo>
                      <a:pt x="5" y="57"/>
                    </a:lnTo>
                    <a:lnTo>
                      <a:pt x="15" y="57"/>
                    </a:lnTo>
                    <a:lnTo>
                      <a:pt x="15" y="8"/>
                    </a:lnTo>
                    <a:lnTo>
                      <a:pt x="36" y="8"/>
                    </a:lnTo>
                    <a:lnTo>
                      <a:pt x="36" y="0"/>
                    </a:lnTo>
                    <a:lnTo>
                      <a:pt x="1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7797" name="Freeform 389"/>
              <p:cNvSpPr>
                <a:spLocks/>
              </p:cNvSpPr>
              <p:nvPr/>
            </p:nvSpPr>
            <p:spPr bwMode="auto">
              <a:xfrm>
                <a:off x="2735" y="1287"/>
                <a:ext cx="37" cy="96"/>
              </a:xfrm>
              <a:custGeom>
                <a:avLst/>
                <a:gdLst>
                  <a:gd name="T0" fmla="*/ 28 w 37"/>
                  <a:gd name="T1" fmla="*/ 0 h 96"/>
                  <a:gd name="T2" fmla="*/ 28 w 37"/>
                  <a:gd name="T3" fmla="*/ 49 h 96"/>
                  <a:gd name="T4" fmla="*/ 37 w 37"/>
                  <a:gd name="T5" fmla="*/ 49 h 96"/>
                  <a:gd name="T6" fmla="*/ 20 w 37"/>
                  <a:gd name="T7" fmla="*/ 96 h 96"/>
                  <a:gd name="T8" fmla="*/ 0 w 37"/>
                  <a:gd name="T9" fmla="*/ 49 h 96"/>
                  <a:gd name="T10" fmla="*/ 10 w 37"/>
                  <a:gd name="T11" fmla="*/ 49 h 96"/>
                  <a:gd name="T12" fmla="*/ 10 w 37"/>
                  <a:gd name="T13" fmla="*/ 0 h 96"/>
                  <a:gd name="T14" fmla="*/ 28 w 37"/>
                  <a:gd name="T15" fmla="*/ 0 h 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 h="96">
                    <a:moveTo>
                      <a:pt x="28" y="0"/>
                    </a:moveTo>
                    <a:lnTo>
                      <a:pt x="28" y="49"/>
                    </a:lnTo>
                    <a:lnTo>
                      <a:pt x="37" y="49"/>
                    </a:lnTo>
                    <a:lnTo>
                      <a:pt x="20" y="96"/>
                    </a:lnTo>
                    <a:lnTo>
                      <a:pt x="0" y="49"/>
                    </a:lnTo>
                    <a:lnTo>
                      <a:pt x="10" y="49"/>
                    </a:lnTo>
                    <a:lnTo>
                      <a:pt x="10" y="0"/>
                    </a:lnTo>
                    <a:lnTo>
                      <a:pt x="28" y="0"/>
                    </a:lnTo>
                  </a:path>
                </a:pathLst>
              </a:custGeom>
              <a:grpFill/>
              <a:ln w="0">
                <a:solidFill>
                  <a:srgbClr val="000000"/>
                </a:solidFill>
                <a:prstDash val="solid"/>
                <a:round/>
                <a:headEnd/>
                <a:tailEnd/>
              </a:ln>
              <a:extLst/>
            </p:spPr>
            <p:txBody>
              <a:bodyPr/>
              <a:lstStyle/>
              <a:p>
                <a:pPr>
                  <a:defRPr/>
                </a:pPr>
                <a:endParaRPr lang="en-US"/>
              </a:p>
            </p:txBody>
          </p:sp>
          <p:sp>
            <p:nvSpPr>
              <p:cNvPr id="17798" name="Freeform 390"/>
              <p:cNvSpPr>
                <a:spLocks/>
              </p:cNvSpPr>
              <p:nvPr/>
            </p:nvSpPr>
            <p:spPr bwMode="auto">
              <a:xfrm>
                <a:off x="2730" y="1281"/>
                <a:ext cx="47" cy="111"/>
              </a:xfrm>
              <a:custGeom>
                <a:avLst/>
                <a:gdLst>
                  <a:gd name="T0" fmla="*/ 36 w 47"/>
                  <a:gd name="T1" fmla="*/ 6 h 111"/>
                  <a:gd name="T2" fmla="*/ 36 w 47"/>
                  <a:gd name="T3" fmla="*/ 48 h 111"/>
                  <a:gd name="T4" fmla="*/ 47 w 47"/>
                  <a:gd name="T5" fmla="*/ 48 h 111"/>
                  <a:gd name="T6" fmla="*/ 25 w 47"/>
                  <a:gd name="T7" fmla="*/ 111 h 111"/>
                  <a:gd name="T8" fmla="*/ 0 w 47"/>
                  <a:gd name="T9" fmla="*/ 48 h 111"/>
                  <a:gd name="T10" fmla="*/ 12 w 47"/>
                  <a:gd name="T11" fmla="*/ 48 h 111"/>
                  <a:gd name="T12" fmla="*/ 12 w 47"/>
                  <a:gd name="T13" fmla="*/ 0 h 111"/>
                  <a:gd name="T14" fmla="*/ 36 w 47"/>
                  <a:gd name="T15" fmla="*/ 0 h 111"/>
                  <a:gd name="T16" fmla="*/ 36 w 47"/>
                  <a:gd name="T17" fmla="*/ 6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111">
                    <a:moveTo>
                      <a:pt x="36" y="6"/>
                    </a:moveTo>
                    <a:lnTo>
                      <a:pt x="36" y="48"/>
                    </a:lnTo>
                    <a:lnTo>
                      <a:pt x="47" y="48"/>
                    </a:lnTo>
                    <a:lnTo>
                      <a:pt x="25" y="111"/>
                    </a:lnTo>
                    <a:lnTo>
                      <a:pt x="0" y="48"/>
                    </a:lnTo>
                    <a:lnTo>
                      <a:pt x="12" y="48"/>
                    </a:lnTo>
                    <a:lnTo>
                      <a:pt x="12" y="0"/>
                    </a:lnTo>
                    <a:lnTo>
                      <a:pt x="36" y="0"/>
                    </a:lnTo>
                    <a:lnTo>
                      <a:pt x="36" y="6"/>
                    </a:lnTo>
                  </a:path>
                </a:pathLst>
              </a:custGeom>
              <a:grpFill/>
              <a:ln w="0">
                <a:solidFill>
                  <a:srgbClr val="000000"/>
                </a:solidFill>
                <a:prstDash val="solid"/>
                <a:round/>
                <a:headEnd/>
                <a:tailEnd/>
              </a:ln>
              <a:extLst/>
            </p:spPr>
            <p:txBody>
              <a:bodyPr/>
              <a:lstStyle/>
              <a:p>
                <a:pPr>
                  <a:defRPr/>
                </a:pPr>
                <a:endParaRPr lang="en-US"/>
              </a:p>
            </p:txBody>
          </p:sp>
          <p:sp>
            <p:nvSpPr>
              <p:cNvPr id="17799" name="Line 391"/>
              <p:cNvSpPr>
                <a:spLocks noChangeShapeType="1"/>
              </p:cNvSpPr>
              <p:nvPr/>
            </p:nvSpPr>
            <p:spPr bwMode="auto">
              <a:xfrm>
                <a:off x="2824" y="1105"/>
                <a:ext cx="1245" cy="1"/>
              </a:xfrm>
              <a:prstGeom prst="line">
                <a:avLst/>
              </a:prstGeom>
              <a:grpFill/>
              <a:ln w="0">
                <a:solidFill>
                  <a:srgbClr val="000000"/>
                </a:solidFill>
                <a:round/>
                <a:headEnd/>
                <a:tailEnd/>
              </a:ln>
              <a:extLst/>
            </p:spPr>
            <p:txBody>
              <a:bodyPr/>
              <a:lstStyle/>
              <a:p>
                <a:pPr>
                  <a:defRPr/>
                </a:pPr>
                <a:endParaRPr lang="en-US"/>
              </a:p>
            </p:txBody>
          </p:sp>
          <p:sp>
            <p:nvSpPr>
              <p:cNvPr id="17800" name="Line 392"/>
              <p:cNvSpPr>
                <a:spLocks noChangeShapeType="1"/>
              </p:cNvSpPr>
              <p:nvPr/>
            </p:nvSpPr>
            <p:spPr bwMode="auto">
              <a:xfrm>
                <a:off x="2842" y="1068"/>
                <a:ext cx="1295" cy="1"/>
              </a:xfrm>
              <a:prstGeom prst="line">
                <a:avLst/>
              </a:prstGeom>
              <a:grpFill/>
              <a:ln w="0">
                <a:solidFill>
                  <a:srgbClr val="000000"/>
                </a:solidFill>
                <a:round/>
                <a:headEnd/>
                <a:tailEnd/>
              </a:ln>
              <a:extLst/>
            </p:spPr>
            <p:txBody>
              <a:bodyPr/>
              <a:lstStyle/>
              <a:p>
                <a:pPr>
                  <a:defRPr/>
                </a:pPr>
                <a:endParaRPr lang="en-US"/>
              </a:p>
            </p:txBody>
          </p:sp>
          <p:sp>
            <p:nvSpPr>
              <p:cNvPr id="17801" name="Freeform 393"/>
              <p:cNvSpPr>
                <a:spLocks/>
              </p:cNvSpPr>
              <p:nvPr/>
            </p:nvSpPr>
            <p:spPr bwMode="auto">
              <a:xfrm>
                <a:off x="2905" y="2705"/>
                <a:ext cx="94" cy="103"/>
              </a:xfrm>
              <a:custGeom>
                <a:avLst/>
                <a:gdLst>
                  <a:gd name="T0" fmla="*/ 0 w 94"/>
                  <a:gd name="T1" fmla="*/ 0 h 103"/>
                  <a:gd name="T2" fmla="*/ 94 w 94"/>
                  <a:gd name="T3" fmla="*/ 0 h 103"/>
                  <a:gd name="T4" fmla="*/ 94 w 94"/>
                  <a:gd name="T5" fmla="*/ 103 h 103"/>
                  <a:gd name="T6" fmla="*/ 0 w 94"/>
                  <a:gd name="T7" fmla="*/ 103 h 103"/>
                </a:gdLst>
                <a:ahLst/>
                <a:cxnLst>
                  <a:cxn ang="0">
                    <a:pos x="T0" y="T1"/>
                  </a:cxn>
                  <a:cxn ang="0">
                    <a:pos x="T2" y="T3"/>
                  </a:cxn>
                  <a:cxn ang="0">
                    <a:pos x="T4" y="T5"/>
                  </a:cxn>
                  <a:cxn ang="0">
                    <a:pos x="T6" y="T7"/>
                  </a:cxn>
                </a:cxnLst>
                <a:rect l="0" t="0" r="r" b="b"/>
                <a:pathLst>
                  <a:path w="94" h="103">
                    <a:moveTo>
                      <a:pt x="0" y="0"/>
                    </a:moveTo>
                    <a:lnTo>
                      <a:pt x="94" y="0"/>
                    </a:lnTo>
                    <a:lnTo>
                      <a:pt x="94" y="103"/>
                    </a:lnTo>
                    <a:lnTo>
                      <a:pt x="0" y="103"/>
                    </a:lnTo>
                  </a:path>
                </a:pathLst>
              </a:custGeom>
              <a:grpFill/>
              <a:ln w="0">
                <a:solidFill>
                  <a:srgbClr val="000000"/>
                </a:solidFill>
                <a:prstDash val="solid"/>
                <a:round/>
                <a:headEnd/>
                <a:tailEnd/>
              </a:ln>
              <a:extLst/>
            </p:spPr>
            <p:txBody>
              <a:bodyPr/>
              <a:lstStyle/>
              <a:p>
                <a:pPr>
                  <a:defRPr/>
                </a:pPr>
                <a:endParaRPr lang="en-US"/>
              </a:p>
            </p:txBody>
          </p:sp>
          <p:sp>
            <p:nvSpPr>
              <p:cNvPr id="17802" name="Freeform 394"/>
              <p:cNvSpPr>
                <a:spLocks/>
              </p:cNvSpPr>
              <p:nvPr/>
            </p:nvSpPr>
            <p:spPr bwMode="auto">
              <a:xfrm>
                <a:off x="2877" y="2099"/>
                <a:ext cx="93" cy="103"/>
              </a:xfrm>
              <a:custGeom>
                <a:avLst/>
                <a:gdLst>
                  <a:gd name="T0" fmla="*/ 0 w 93"/>
                  <a:gd name="T1" fmla="*/ 0 h 103"/>
                  <a:gd name="T2" fmla="*/ 93 w 93"/>
                  <a:gd name="T3" fmla="*/ 0 h 103"/>
                  <a:gd name="T4" fmla="*/ 93 w 93"/>
                  <a:gd name="T5" fmla="*/ 103 h 103"/>
                  <a:gd name="T6" fmla="*/ 0 w 93"/>
                  <a:gd name="T7" fmla="*/ 103 h 103"/>
                </a:gdLst>
                <a:ahLst/>
                <a:cxnLst>
                  <a:cxn ang="0">
                    <a:pos x="T0" y="T1"/>
                  </a:cxn>
                  <a:cxn ang="0">
                    <a:pos x="T2" y="T3"/>
                  </a:cxn>
                  <a:cxn ang="0">
                    <a:pos x="T4" y="T5"/>
                  </a:cxn>
                  <a:cxn ang="0">
                    <a:pos x="T6" y="T7"/>
                  </a:cxn>
                </a:cxnLst>
                <a:rect l="0" t="0" r="r" b="b"/>
                <a:pathLst>
                  <a:path w="93" h="103">
                    <a:moveTo>
                      <a:pt x="0" y="0"/>
                    </a:moveTo>
                    <a:lnTo>
                      <a:pt x="93" y="0"/>
                    </a:lnTo>
                    <a:lnTo>
                      <a:pt x="93" y="103"/>
                    </a:lnTo>
                    <a:lnTo>
                      <a:pt x="0" y="103"/>
                    </a:lnTo>
                  </a:path>
                </a:pathLst>
              </a:custGeom>
              <a:grpFill/>
              <a:ln w="0">
                <a:solidFill>
                  <a:srgbClr val="000000"/>
                </a:solidFill>
                <a:prstDash val="solid"/>
                <a:round/>
                <a:headEnd/>
                <a:tailEnd/>
              </a:ln>
              <a:extLst/>
            </p:spPr>
            <p:txBody>
              <a:bodyPr/>
              <a:lstStyle/>
              <a:p>
                <a:pPr>
                  <a:defRPr/>
                </a:pPr>
                <a:endParaRPr lang="en-US"/>
              </a:p>
            </p:txBody>
          </p:sp>
          <p:sp>
            <p:nvSpPr>
              <p:cNvPr id="17803" name="Line 395"/>
              <p:cNvSpPr>
                <a:spLocks noChangeShapeType="1"/>
              </p:cNvSpPr>
              <p:nvPr/>
            </p:nvSpPr>
            <p:spPr bwMode="auto">
              <a:xfrm>
                <a:off x="2934" y="3690"/>
                <a:ext cx="744" cy="1"/>
              </a:xfrm>
              <a:prstGeom prst="line">
                <a:avLst/>
              </a:prstGeom>
              <a:grpFill/>
              <a:ln w="0">
                <a:solidFill>
                  <a:srgbClr val="000000"/>
                </a:solidFill>
                <a:round/>
                <a:headEnd/>
                <a:tailEnd/>
              </a:ln>
              <a:extLst/>
            </p:spPr>
            <p:txBody>
              <a:bodyPr/>
              <a:lstStyle/>
              <a:p>
                <a:pPr>
                  <a:defRPr/>
                </a:pPr>
                <a:endParaRPr lang="en-US"/>
              </a:p>
            </p:txBody>
          </p:sp>
          <p:sp>
            <p:nvSpPr>
              <p:cNvPr id="17804" name="Line 396"/>
              <p:cNvSpPr>
                <a:spLocks noChangeShapeType="1"/>
              </p:cNvSpPr>
              <p:nvPr/>
            </p:nvSpPr>
            <p:spPr bwMode="auto">
              <a:xfrm>
                <a:off x="3684" y="3118"/>
                <a:ext cx="1" cy="572"/>
              </a:xfrm>
              <a:prstGeom prst="line">
                <a:avLst/>
              </a:prstGeom>
              <a:grpFill/>
              <a:ln w="0">
                <a:solidFill>
                  <a:srgbClr val="000000"/>
                </a:solidFill>
                <a:round/>
                <a:headEnd/>
                <a:tailEnd/>
              </a:ln>
              <a:extLst/>
            </p:spPr>
            <p:txBody>
              <a:bodyPr/>
              <a:lstStyle/>
              <a:p>
                <a:pPr>
                  <a:defRPr/>
                </a:pPr>
                <a:endParaRPr lang="en-US"/>
              </a:p>
            </p:txBody>
          </p:sp>
          <p:sp>
            <p:nvSpPr>
              <p:cNvPr id="17805" name="Line 397"/>
              <p:cNvSpPr>
                <a:spLocks noChangeShapeType="1"/>
              </p:cNvSpPr>
              <p:nvPr/>
            </p:nvSpPr>
            <p:spPr bwMode="auto">
              <a:xfrm flipV="1">
                <a:off x="4067" y="1105"/>
                <a:ext cx="2" cy="1425"/>
              </a:xfrm>
              <a:prstGeom prst="line">
                <a:avLst/>
              </a:prstGeom>
              <a:grpFill/>
              <a:ln w="0">
                <a:solidFill>
                  <a:srgbClr val="000000"/>
                </a:solidFill>
                <a:round/>
                <a:headEnd/>
                <a:tailEnd/>
              </a:ln>
              <a:extLst/>
            </p:spPr>
            <p:txBody>
              <a:bodyPr/>
              <a:lstStyle/>
              <a:p>
                <a:pPr>
                  <a:defRPr/>
                </a:pPr>
                <a:endParaRPr lang="en-US"/>
              </a:p>
            </p:txBody>
          </p:sp>
          <p:sp>
            <p:nvSpPr>
              <p:cNvPr id="17806" name="Line 398"/>
              <p:cNvSpPr>
                <a:spLocks noChangeShapeType="1"/>
              </p:cNvSpPr>
              <p:nvPr/>
            </p:nvSpPr>
            <p:spPr bwMode="auto">
              <a:xfrm flipV="1">
                <a:off x="4142" y="1071"/>
                <a:ext cx="1" cy="1923"/>
              </a:xfrm>
              <a:prstGeom prst="line">
                <a:avLst/>
              </a:prstGeom>
              <a:grpFill/>
              <a:ln w="0">
                <a:solidFill>
                  <a:srgbClr val="000000"/>
                </a:solidFill>
                <a:round/>
                <a:headEnd/>
                <a:tailEnd/>
              </a:ln>
              <a:extLst/>
            </p:spPr>
            <p:txBody>
              <a:bodyPr/>
              <a:lstStyle/>
              <a:p>
                <a:pPr>
                  <a:defRPr/>
                </a:pPr>
                <a:endParaRPr lang="en-US"/>
              </a:p>
            </p:txBody>
          </p:sp>
          <p:sp>
            <p:nvSpPr>
              <p:cNvPr id="17807" name="Rectangle 399"/>
              <p:cNvSpPr>
                <a:spLocks noChangeArrowheads="1"/>
              </p:cNvSpPr>
              <p:nvPr/>
            </p:nvSpPr>
            <p:spPr bwMode="auto">
              <a:xfrm>
                <a:off x="2721" y="3868"/>
                <a:ext cx="1007" cy="8"/>
              </a:xfrm>
              <a:prstGeom prst="rect">
                <a:avLst/>
              </a:prstGeom>
              <a:grpFill/>
              <a:ln w="0">
                <a:solidFill>
                  <a:srgbClr val="000000"/>
                </a:solidFill>
                <a:miter lim="800000"/>
                <a:headEnd/>
                <a:tailEnd/>
              </a:ln>
            </p:spPr>
            <p:txBody>
              <a:bodyPr/>
              <a:lstStyle/>
              <a:p>
                <a:pPr>
                  <a:defRPr/>
                </a:pPr>
                <a:endParaRPr lang="en-US"/>
              </a:p>
            </p:txBody>
          </p:sp>
          <p:sp>
            <p:nvSpPr>
              <p:cNvPr id="17808" name="Line 400"/>
              <p:cNvSpPr>
                <a:spLocks noChangeShapeType="1"/>
              </p:cNvSpPr>
              <p:nvPr/>
            </p:nvSpPr>
            <p:spPr bwMode="auto">
              <a:xfrm>
                <a:off x="3154" y="2149"/>
                <a:ext cx="448" cy="1"/>
              </a:xfrm>
              <a:prstGeom prst="line">
                <a:avLst/>
              </a:prstGeom>
              <a:grpFill/>
              <a:ln w="0">
                <a:solidFill>
                  <a:srgbClr val="000000"/>
                </a:solidFill>
                <a:round/>
                <a:headEnd/>
                <a:tailEnd/>
              </a:ln>
              <a:extLst/>
            </p:spPr>
            <p:txBody>
              <a:bodyPr/>
              <a:lstStyle/>
              <a:p>
                <a:pPr>
                  <a:defRPr/>
                </a:pPr>
                <a:endParaRPr lang="en-US"/>
              </a:p>
            </p:txBody>
          </p:sp>
          <p:sp>
            <p:nvSpPr>
              <p:cNvPr id="17809" name="Rectangle 401"/>
              <p:cNvSpPr>
                <a:spLocks noChangeArrowheads="1"/>
              </p:cNvSpPr>
              <p:nvPr/>
            </p:nvSpPr>
            <p:spPr bwMode="auto">
              <a:xfrm>
                <a:off x="2999" y="2752"/>
                <a:ext cx="111" cy="11"/>
              </a:xfrm>
              <a:prstGeom prst="rect">
                <a:avLst/>
              </a:prstGeom>
              <a:grpFill/>
              <a:ln w="0">
                <a:solidFill>
                  <a:srgbClr val="000000"/>
                </a:solidFill>
                <a:miter lim="800000"/>
                <a:headEnd/>
                <a:tailEnd/>
              </a:ln>
            </p:spPr>
            <p:txBody>
              <a:bodyPr/>
              <a:lstStyle/>
              <a:p>
                <a:pPr>
                  <a:defRPr/>
                </a:pPr>
                <a:endParaRPr lang="en-US"/>
              </a:p>
            </p:txBody>
          </p:sp>
          <p:sp>
            <p:nvSpPr>
              <p:cNvPr id="17810" name="Freeform 402"/>
              <p:cNvSpPr>
                <a:spLocks/>
              </p:cNvSpPr>
              <p:nvPr/>
            </p:nvSpPr>
            <p:spPr bwMode="auto">
              <a:xfrm>
                <a:off x="3820" y="3849"/>
                <a:ext cx="187" cy="79"/>
              </a:xfrm>
              <a:custGeom>
                <a:avLst/>
                <a:gdLst>
                  <a:gd name="T0" fmla="*/ 95 w 187"/>
                  <a:gd name="T1" fmla="*/ 8 h 79"/>
                  <a:gd name="T2" fmla="*/ 98 w 187"/>
                  <a:gd name="T3" fmla="*/ 11 h 79"/>
                  <a:gd name="T4" fmla="*/ 108 w 187"/>
                  <a:gd name="T5" fmla="*/ 13 h 79"/>
                  <a:gd name="T6" fmla="*/ 111 w 187"/>
                  <a:gd name="T7" fmla="*/ 16 h 79"/>
                  <a:gd name="T8" fmla="*/ 119 w 187"/>
                  <a:gd name="T9" fmla="*/ 18 h 79"/>
                  <a:gd name="T10" fmla="*/ 124 w 187"/>
                  <a:gd name="T11" fmla="*/ 21 h 79"/>
                  <a:gd name="T12" fmla="*/ 132 w 187"/>
                  <a:gd name="T13" fmla="*/ 22 h 79"/>
                  <a:gd name="T14" fmla="*/ 137 w 187"/>
                  <a:gd name="T15" fmla="*/ 26 h 79"/>
                  <a:gd name="T16" fmla="*/ 145 w 187"/>
                  <a:gd name="T17" fmla="*/ 27 h 79"/>
                  <a:gd name="T18" fmla="*/ 150 w 187"/>
                  <a:gd name="T19" fmla="*/ 30 h 79"/>
                  <a:gd name="T20" fmla="*/ 158 w 187"/>
                  <a:gd name="T21" fmla="*/ 32 h 79"/>
                  <a:gd name="T22" fmla="*/ 163 w 187"/>
                  <a:gd name="T23" fmla="*/ 35 h 79"/>
                  <a:gd name="T24" fmla="*/ 171 w 187"/>
                  <a:gd name="T25" fmla="*/ 37 h 79"/>
                  <a:gd name="T26" fmla="*/ 168 w 187"/>
                  <a:gd name="T27" fmla="*/ 40 h 79"/>
                  <a:gd name="T28" fmla="*/ 160 w 187"/>
                  <a:gd name="T29" fmla="*/ 42 h 79"/>
                  <a:gd name="T30" fmla="*/ 155 w 187"/>
                  <a:gd name="T31" fmla="*/ 45 h 79"/>
                  <a:gd name="T32" fmla="*/ 149 w 187"/>
                  <a:gd name="T33" fmla="*/ 47 h 79"/>
                  <a:gd name="T34" fmla="*/ 144 w 187"/>
                  <a:gd name="T35" fmla="*/ 50 h 79"/>
                  <a:gd name="T36" fmla="*/ 137 w 187"/>
                  <a:gd name="T37" fmla="*/ 51 h 79"/>
                  <a:gd name="T38" fmla="*/ 132 w 187"/>
                  <a:gd name="T39" fmla="*/ 55 h 79"/>
                  <a:gd name="T40" fmla="*/ 124 w 187"/>
                  <a:gd name="T41" fmla="*/ 56 h 79"/>
                  <a:gd name="T42" fmla="*/ 121 w 187"/>
                  <a:gd name="T43" fmla="*/ 60 h 79"/>
                  <a:gd name="T44" fmla="*/ 113 w 187"/>
                  <a:gd name="T45" fmla="*/ 61 h 79"/>
                  <a:gd name="T46" fmla="*/ 110 w 187"/>
                  <a:gd name="T47" fmla="*/ 64 h 79"/>
                  <a:gd name="T48" fmla="*/ 102 w 187"/>
                  <a:gd name="T49" fmla="*/ 66 h 79"/>
                  <a:gd name="T50" fmla="*/ 98 w 187"/>
                  <a:gd name="T51" fmla="*/ 69 h 79"/>
                  <a:gd name="T52" fmla="*/ 90 w 187"/>
                  <a:gd name="T53" fmla="*/ 71 h 79"/>
                  <a:gd name="T54" fmla="*/ 10 w 187"/>
                  <a:gd name="T55" fmla="*/ 24 h 79"/>
                  <a:gd name="T56" fmla="*/ 81 w 187"/>
                  <a:gd name="T57" fmla="*/ 8 h 79"/>
                  <a:gd name="T58" fmla="*/ 0 w 187"/>
                  <a:gd name="T59" fmla="*/ 60 h 79"/>
                  <a:gd name="T60" fmla="*/ 86 w 187"/>
                  <a:gd name="T61" fmla="*/ 79 h 79"/>
                  <a:gd name="T62" fmla="*/ 89 w 187"/>
                  <a:gd name="T63" fmla="*/ 76 h 79"/>
                  <a:gd name="T64" fmla="*/ 97 w 187"/>
                  <a:gd name="T65" fmla="*/ 74 h 79"/>
                  <a:gd name="T66" fmla="*/ 102 w 187"/>
                  <a:gd name="T67" fmla="*/ 71 h 79"/>
                  <a:gd name="T68" fmla="*/ 110 w 187"/>
                  <a:gd name="T69" fmla="*/ 69 h 79"/>
                  <a:gd name="T70" fmla="*/ 113 w 187"/>
                  <a:gd name="T71" fmla="*/ 66 h 79"/>
                  <a:gd name="T72" fmla="*/ 121 w 187"/>
                  <a:gd name="T73" fmla="*/ 64 h 79"/>
                  <a:gd name="T74" fmla="*/ 126 w 187"/>
                  <a:gd name="T75" fmla="*/ 61 h 79"/>
                  <a:gd name="T76" fmla="*/ 134 w 187"/>
                  <a:gd name="T77" fmla="*/ 60 h 79"/>
                  <a:gd name="T78" fmla="*/ 139 w 187"/>
                  <a:gd name="T79" fmla="*/ 56 h 79"/>
                  <a:gd name="T80" fmla="*/ 147 w 187"/>
                  <a:gd name="T81" fmla="*/ 55 h 79"/>
                  <a:gd name="T82" fmla="*/ 150 w 187"/>
                  <a:gd name="T83" fmla="*/ 51 h 79"/>
                  <a:gd name="T84" fmla="*/ 158 w 187"/>
                  <a:gd name="T85" fmla="*/ 50 h 79"/>
                  <a:gd name="T86" fmla="*/ 163 w 187"/>
                  <a:gd name="T87" fmla="*/ 47 h 79"/>
                  <a:gd name="T88" fmla="*/ 171 w 187"/>
                  <a:gd name="T89" fmla="*/ 45 h 79"/>
                  <a:gd name="T90" fmla="*/ 174 w 187"/>
                  <a:gd name="T91" fmla="*/ 42 h 79"/>
                  <a:gd name="T92" fmla="*/ 183 w 187"/>
                  <a:gd name="T93" fmla="*/ 40 h 79"/>
                  <a:gd name="T94" fmla="*/ 187 w 187"/>
                  <a:gd name="T95" fmla="*/ 37 h 79"/>
                  <a:gd name="T96" fmla="*/ 178 w 187"/>
                  <a:gd name="T97" fmla="*/ 35 h 79"/>
                  <a:gd name="T98" fmla="*/ 174 w 187"/>
                  <a:gd name="T99" fmla="*/ 32 h 79"/>
                  <a:gd name="T100" fmla="*/ 165 w 187"/>
                  <a:gd name="T101" fmla="*/ 30 h 79"/>
                  <a:gd name="T102" fmla="*/ 160 w 187"/>
                  <a:gd name="T103" fmla="*/ 27 h 79"/>
                  <a:gd name="T104" fmla="*/ 152 w 187"/>
                  <a:gd name="T105" fmla="*/ 26 h 79"/>
                  <a:gd name="T106" fmla="*/ 147 w 187"/>
                  <a:gd name="T107" fmla="*/ 22 h 79"/>
                  <a:gd name="T108" fmla="*/ 139 w 187"/>
                  <a:gd name="T109" fmla="*/ 21 h 79"/>
                  <a:gd name="T110" fmla="*/ 134 w 187"/>
                  <a:gd name="T111" fmla="*/ 18 h 79"/>
                  <a:gd name="T112" fmla="*/ 124 w 187"/>
                  <a:gd name="T113" fmla="*/ 16 h 79"/>
                  <a:gd name="T114" fmla="*/ 121 w 187"/>
                  <a:gd name="T115" fmla="*/ 13 h 79"/>
                  <a:gd name="T116" fmla="*/ 111 w 187"/>
                  <a:gd name="T117" fmla="*/ 11 h 79"/>
                  <a:gd name="T118" fmla="*/ 107 w 187"/>
                  <a:gd name="T119" fmla="*/ 8 h 79"/>
                  <a:gd name="T120" fmla="*/ 98 w 187"/>
                  <a:gd name="T121" fmla="*/ 6 h 79"/>
                  <a:gd name="T122" fmla="*/ 94 w 187"/>
                  <a:gd name="T123" fmla="*/ 3 h 79"/>
                  <a:gd name="T124" fmla="*/ 86 w 187"/>
                  <a:gd name="T125" fmla="*/ 1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87" h="79">
                    <a:moveTo>
                      <a:pt x="81" y="0"/>
                    </a:moveTo>
                    <a:lnTo>
                      <a:pt x="81" y="8"/>
                    </a:lnTo>
                    <a:lnTo>
                      <a:pt x="95" y="8"/>
                    </a:lnTo>
                    <a:lnTo>
                      <a:pt x="95" y="9"/>
                    </a:lnTo>
                    <a:lnTo>
                      <a:pt x="98" y="9"/>
                    </a:lnTo>
                    <a:lnTo>
                      <a:pt x="98" y="11"/>
                    </a:lnTo>
                    <a:lnTo>
                      <a:pt x="103" y="11"/>
                    </a:lnTo>
                    <a:lnTo>
                      <a:pt x="103" y="13"/>
                    </a:lnTo>
                    <a:lnTo>
                      <a:pt x="108" y="13"/>
                    </a:lnTo>
                    <a:lnTo>
                      <a:pt x="108" y="14"/>
                    </a:lnTo>
                    <a:lnTo>
                      <a:pt x="111" y="14"/>
                    </a:lnTo>
                    <a:lnTo>
                      <a:pt x="111" y="16"/>
                    </a:lnTo>
                    <a:lnTo>
                      <a:pt x="116" y="16"/>
                    </a:lnTo>
                    <a:lnTo>
                      <a:pt x="116" y="18"/>
                    </a:lnTo>
                    <a:lnTo>
                      <a:pt x="119" y="18"/>
                    </a:lnTo>
                    <a:lnTo>
                      <a:pt x="119" y="19"/>
                    </a:lnTo>
                    <a:lnTo>
                      <a:pt x="124" y="19"/>
                    </a:lnTo>
                    <a:lnTo>
                      <a:pt x="124" y="21"/>
                    </a:lnTo>
                    <a:lnTo>
                      <a:pt x="129" y="21"/>
                    </a:lnTo>
                    <a:lnTo>
                      <a:pt x="129" y="22"/>
                    </a:lnTo>
                    <a:lnTo>
                      <a:pt x="132" y="22"/>
                    </a:lnTo>
                    <a:lnTo>
                      <a:pt x="132" y="24"/>
                    </a:lnTo>
                    <a:lnTo>
                      <a:pt x="137" y="24"/>
                    </a:lnTo>
                    <a:lnTo>
                      <a:pt x="137" y="26"/>
                    </a:lnTo>
                    <a:lnTo>
                      <a:pt x="142" y="26"/>
                    </a:lnTo>
                    <a:lnTo>
                      <a:pt x="142" y="27"/>
                    </a:lnTo>
                    <a:lnTo>
                      <a:pt x="145" y="27"/>
                    </a:lnTo>
                    <a:lnTo>
                      <a:pt x="145" y="29"/>
                    </a:lnTo>
                    <a:lnTo>
                      <a:pt x="150" y="29"/>
                    </a:lnTo>
                    <a:lnTo>
                      <a:pt x="150" y="30"/>
                    </a:lnTo>
                    <a:lnTo>
                      <a:pt x="153" y="30"/>
                    </a:lnTo>
                    <a:lnTo>
                      <a:pt x="153" y="32"/>
                    </a:lnTo>
                    <a:lnTo>
                      <a:pt x="158" y="32"/>
                    </a:lnTo>
                    <a:lnTo>
                      <a:pt x="158" y="34"/>
                    </a:lnTo>
                    <a:lnTo>
                      <a:pt x="163" y="34"/>
                    </a:lnTo>
                    <a:lnTo>
                      <a:pt x="163" y="35"/>
                    </a:lnTo>
                    <a:lnTo>
                      <a:pt x="166" y="35"/>
                    </a:lnTo>
                    <a:lnTo>
                      <a:pt x="166" y="37"/>
                    </a:lnTo>
                    <a:lnTo>
                      <a:pt x="171" y="37"/>
                    </a:lnTo>
                    <a:lnTo>
                      <a:pt x="171" y="39"/>
                    </a:lnTo>
                    <a:lnTo>
                      <a:pt x="168" y="39"/>
                    </a:lnTo>
                    <a:lnTo>
                      <a:pt x="168" y="40"/>
                    </a:lnTo>
                    <a:lnTo>
                      <a:pt x="163" y="40"/>
                    </a:lnTo>
                    <a:lnTo>
                      <a:pt x="163" y="42"/>
                    </a:lnTo>
                    <a:lnTo>
                      <a:pt x="160" y="42"/>
                    </a:lnTo>
                    <a:lnTo>
                      <a:pt x="160" y="43"/>
                    </a:lnTo>
                    <a:lnTo>
                      <a:pt x="155" y="43"/>
                    </a:lnTo>
                    <a:lnTo>
                      <a:pt x="155" y="45"/>
                    </a:lnTo>
                    <a:lnTo>
                      <a:pt x="152" y="45"/>
                    </a:lnTo>
                    <a:lnTo>
                      <a:pt x="152" y="47"/>
                    </a:lnTo>
                    <a:lnTo>
                      <a:pt x="149" y="47"/>
                    </a:lnTo>
                    <a:lnTo>
                      <a:pt x="149" y="48"/>
                    </a:lnTo>
                    <a:lnTo>
                      <a:pt x="144" y="48"/>
                    </a:lnTo>
                    <a:lnTo>
                      <a:pt x="144" y="50"/>
                    </a:lnTo>
                    <a:lnTo>
                      <a:pt x="140" y="50"/>
                    </a:lnTo>
                    <a:lnTo>
                      <a:pt x="140" y="51"/>
                    </a:lnTo>
                    <a:lnTo>
                      <a:pt x="137" y="51"/>
                    </a:lnTo>
                    <a:lnTo>
                      <a:pt x="137" y="53"/>
                    </a:lnTo>
                    <a:lnTo>
                      <a:pt x="132" y="53"/>
                    </a:lnTo>
                    <a:lnTo>
                      <a:pt x="132" y="55"/>
                    </a:lnTo>
                    <a:lnTo>
                      <a:pt x="129" y="55"/>
                    </a:lnTo>
                    <a:lnTo>
                      <a:pt x="129" y="56"/>
                    </a:lnTo>
                    <a:lnTo>
                      <a:pt x="124" y="56"/>
                    </a:lnTo>
                    <a:lnTo>
                      <a:pt x="124" y="58"/>
                    </a:lnTo>
                    <a:lnTo>
                      <a:pt x="121" y="58"/>
                    </a:lnTo>
                    <a:lnTo>
                      <a:pt x="121" y="60"/>
                    </a:lnTo>
                    <a:lnTo>
                      <a:pt x="118" y="60"/>
                    </a:lnTo>
                    <a:lnTo>
                      <a:pt x="118" y="61"/>
                    </a:lnTo>
                    <a:lnTo>
                      <a:pt x="113" y="61"/>
                    </a:lnTo>
                    <a:lnTo>
                      <a:pt x="113" y="63"/>
                    </a:lnTo>
                    <a:lnTo>
                      <a:pt x="110" y="63"/>
                    </a:lnTo>
                    <a:lnTo>
                      <a:pt x="110" y="64"/>
                    </a:lnTo>
                    <a:lnTo>
                      <a:pt x="107" y="64"/>
                    </a:lnTo>
                    <a:lnTo>
                      <a:pt x="107" y="66"/>
                    </a:lnTo>
                    <a:lnTo>
                      <a:pt x="102" y="66"/>
                    </a:lnTo>
                    <a:lnTo>
                      <a:pt x="102" y="68"/>
                    </a:lnTo>
                    <a:lnTo>
                      <a:pt x="98" y="68"/>
                    </a:lnTo>
                    <a:lnTo>
                      <a:pt x="98" y="69"/>
                    </a:lnTo>
                    <a:lnTo>
                      <a:pt x="94" y="69"/>
                    </a:lnTo>
                    <a:lnTo>
                      <a:pt x="94" y="71"/>
                    </a:lnTo>
                    <a:lnTo>
                      <a:pt x="90" y="71"/>
                    </a:lnTo>
                    <a:lnTo>
                      <a:pt x="90" y="55"/>
                    </a:lnTo>
                    <a:lnTo>
                      <a:pt x="10" y="55"/>
                    </a:lnTo>
                    <a:lnTo>
                      <a:pt x="10" y="24"/>
                    </a:lnTo>
                    <a:lnTo>
                      <a:pt x="90" y="24"/>
                    </a:lnTo>
                    <a:lnTo>
                      <a:pt x="90" y="8"/>
                    </a:lnTo>
                    <a:lnTo>
                      <a:pt x="81" y="8"/>
                    </a:lnTo>
                    <a:lnTo>
                      <a:pt x="81" y="19"/>
                    </a:lnTo>
                    <a:lnTo>
                      <a:pt x="0" y="19"/>
                    </a:lnTo>
                    <a:lnTo>
                      <a:pt x="0" y="60"/>
                    </a:lnTo>
                    <a:lnTo>
                      <a:pt x="81" y="60"/>
                    </a:lnTo>
                    <a:lnTo>
                      <a:pt x="81" y="79"/>
                    </a:lnTo>
                    <a:lnTo>
                      <a:pt x="86" y="79"/>
                    </a:lnTo>
                    <a:lnTo>
                      <a:pt x="86" y="77"/>
                    </a:lnTo>
                    <a:lnTo>
                      <a:pt x="89" y="77"/>
                    </a:lnTo>
                    <a:lnTo>
                      <a:pt x="89" y="76"/>
                    </a:lnTo>
                    <a:lnTo>
                      <a:pt x="94" y="76"/>
                    </a:lnTo>
                    <a:lnTo>
                      <a:pt x="94" y="74"/>
                    </a:lnTo>
                    <a:lnTo>
                      <a:pt x="97" y="74"/>
                    </a:lnTo>
                    <a:lnTo>
                      <a:pt x="97" y="72"/>
                    </a:lnTo>
                    <a:lnTo>
                      <a:pt x="102" y="72"/>
                    </a:lnTo>
                    <a:lnTo>
                      <a:pt x="102" y="71"/>
                    </a:lnTo>
                    <a:lnTo>
                      <a:pt x="105" y="71"/>
                    </a:lnTo>
                    <a:lnTo>
                      <a:pt x="105" y="69"/>
                    </a:lnTo>
                    <a:lnTo>
                      <a:pt x="110" y="69"/>
                    </a:lnTo>
                    <a:lnTo>
                      <a:pt x="110" y="68"/>
                    </a:lnTo>
                    <a:lnTo>
                      <a:pt x="113" y="68"/>
                    </a:lnTo>
                    <a:lnTo>
                      <a:pt x="113" y="66"/>
                    </a:lnTo>
                    <a:lnTo>
                      <a:pt x="118" y="66"/>
                    </a:lnTo>
                    <a:lnTo>
                      <a:pt x="118" y="64"/>
                    </a:lnTo>
                    <a:lnTo>
                      <a:pt x="121" y="64"/>
                    </a:lnTo>
                    <a:lnTo>
                      <a:pt x="121" y="63"/>
                    </a:lnTo>
                    <a:lnTo>
                      <a:pt x="126" y="63"/>
                    </a:lnTo>
                    <a:lnTo>
                      <a:pt x="126" y="61"/>
                    </a:lnTo>
                    <a:lnTo>
                      <a:pt x="129" y="61"/>
                    </a:lnTo>
                    <a:lnTo>
                      <a:pt x="129" y="60"/>
                    </a:lnTo>
                    <a:lnTo>
                      <a:pt x="134" y="60"/>
                    </a:lnTo>
                    <a:lnTo>
                      <a:pt x="134" y="58"/>
                    </a:lnTo>
                    <a:lnTo>
                      <a:pt x="139" y="58"/>
                    </a:lnTo>
                    <a:lnTo>
                      <a:pt x="139" y="56"/>
                    </a:lnTo>
                    <a:lnTo>
                      <a:pt x="142" y="56"/>
                    </a:lnTo>
                    <a:lnTo>
                      <a:pt x="142" y="55"/>
                    </a:lnTo>
                    <a:lnTo>
                      <a:pt x="147" y="55"/>
                    </a:lnTo>
                    <a:lnTo>
                      <a:pt x="147" y="53"/>
                    </a:lnTo>
                    <a:lnTo>
                      <a:pt x="150" y="53"/>
                    </a:lnTo>
                    <a:lnTo>
                      <a:pt x="150" y="51"/>
                    </a:lnTo>
                    <a:lnTo>
                      <a:pt x="155" y="51"/>
                    </a:lnTo>
                    <a:lnTo>
                      <a:pt x="155" y="50"/>
                    </a:lnTo>
                    <a:lnTo>
                      <a:pt x="158" y="50"/>
                    </a:lnTo>
                    <a:lnTo>
                      <a:pt x="158" y="48"/>
                    </a:lnTo>
                    <a:lnTo>
                      <a:pt x="163" y="48"/>
                    </a:lnTo>
                    <a:lnTo>
                      <a:pt x="163" y="47"/>
                    </a:lnTo>
                    <a:lnTo>
                      <a:pt x="166" y="47"/>
                    </a:lnTo>
                    <a:lnTo>
                      <a:pt x="166" y="45"/>
                    </a:lnTo>
                    <a:lnTo>
                      <a:pt x="171" y="45"/>
                    </a:lnTo>
                    <a:lnTo>
                      <a:pt x="171" y="43"/>
                    </a:lnTo>
                    <a:lnTo>
                      <a:pt x="174" y="43"/>
                    </a:lnTo>
                    <a:lnTo>
                      <a:pt x="174" y="42"/>
                    </a:lnTo>
                    <a:lnTo>
                      <a:pt x="179" y="42"/>
                    </a:lnTo>
                    <a:lnTo>
                      <a:pt x="179" y="40"/>
                    </a:lnTo>
                    <a:lnTo>
                      <a:pt x="183" y="40"/>
                    </a:lnTo>
                    <a:lnTo>
                      <a:pt x="183" y="39"/>
                    </a:lnTo>
                    <a:lnTo>
                      <a:pt x="187" y="39"/>
                    </a:lnTo>
                    <a:lnTo>
                      <a:pt x="187" y="37"/>
                    </a:lnTo>
                    <a:lnTo>
                      <a:pt x="183" y="37"/>
                    </a:lnTo>
                    <a:lnTo>
                      <a:pt x="183" y="35"/>
                    </a:lnTo>
                    <a:lnTo>
                      <a:pt x="178" y="35"/>
                    </a:lnTo>
                    <a:lnTo>
                      <a:pt x="178" y="34"/>
                    </a:lnTo>
                    <a:lnTo>
                      <a:pt x="174" y="34"/>
                    </a:lnTo>
                    <a:lnTo>
                      <a:pt x="174" y="32"/>
                    </a:lnTo>
                    <a:lnTo>
                      <a:pt x="170" y="32"/>
                    </a:lnTo>
                    <a:lnTo>
                      <a:pt x="170" y="30"/>
                    </a:lnTo>
                    <a:lnTo>
                      <a:pt x="165" y="30"/>
                    </a:lnTo>
                    <a:lnTo>
                      <a:pt x="165" y="29"/>
                    </a:lnTo>
                    <a:lnTo>
                      <a:pt x="160" y="29"/>
                    </a:lnTo>
                    <a:lnTo>
                      <a:pt x="160" y="27"/>
                    </a:lnTo>
                    <a:lnTo>
                      <a:pt x="157" y="27"/>
                    </a:lnTo>
                    <a:lnTo>
                      <a:pt x="157" y="26"/>
                    </a:lnTo>
                    <a:lnTo>
                      <a:pt x="152" y="26"/>
                    </a:lnTo>
                    <a:lnTo>
                      <a:pt x="152" y="24"/>
                    </a:lnTo>
                    <a:lnTo>
                      <a:pt x="147" y="24"/>
                    </a:lnTo>
                    <a:lnTo>
                      <a:pt x="147" y="22"/>
                    </a:lnTo>
                    <a:lnTo>
                      <a:pt x="142" y="22"/>
                    </a:lnTo>
                    <a:lnTo>
                      <a:pt x="142" y="21"/>
                    </a:lnTo>
                    <a:lnTo>
                      <a:pt x="139" y="21"/>
                    </a:lnTo>
                    <a:lnTo>
                      <a:pt x="139" y="19"/>
                    </a:lnTo>
                    <a:lnTo>
                      <a:pt x="134" y="19"/>
                    </a:lnTo>
                    <a:lnTo>
                      <a:pt x="134" y="18"/>
                    </a:lnTo>
                    <a:lnTo>
                      <a:pt x="129" y="18"/>
                    </a:lnTo>
                    <a:lnTo>
                      <a:pt x="129" y="16"/>
                    </a:lnTo>
                    <a:lnTo>
                      <a:pt x="124" y="16"/>
                    </a:lnTo>
                    <a:lnTo>
                      <a:pt x="124" y="14"/>
                    </a:lnTo>
                    <a:lnTo>
                      <a:pt x="121" y="14"/>
                    </a:lnTo>
                    <a:lnTo>
                      <a:pt x="121" y="13"/>
                    </a:lnTo>
                    <a:lnTo>
                      <a:pt x="116" y="13"/>
                    </a:lnTo>
                    <a:lnTo>
                      <a:pt x="116" y="11"/>
                    </a:lnTo>
                    <a:lnTo>
                      <a:pt x="111" y="11"/>
                    </a:lnTo>
                    <a:lnTo>
                      <a:pt x="111" y="9"/>
                    </a:lnTo>
                    <a:lnTo>
                      <a:pt x="107" y="9"/>
                    </a:lnTo>
                    <a:lnTo>
                      <a:pt x="107" y="8"/>
                    </a:lnTo>
                    <a:lnTo>
                      <a:pt x="103" y="8"/>
                    </a:lnTo>
                    <a:lnTo>
                      <a:pt x="103" y="6"/>
                    </a:lnTo>
                    <a:lnTo>
                      <a:pt x="98" y="6"/>
                    </a:lnTo>
                    <a:lnTo>
                      <a:pt x="98" y="5"/>
                    </a:lnTo>
                    <a:lnTo>
                      <a:pt x="94" y="5"/>
                    </a:lnTo>
                    <a:lnTo>
                      <a:pt x="94" y="3"/>
                    </a:lnTo>
                    <a:lnTo>
                      <a:pt x="89" y="3"/>
                    </a:lnTo>
                    <a:lnTo>
                      <a:pt x="89" y="1"/>
                    </a:lnTo>
                    <a:lnTo>
                      <a:pt x="86" y="1"/>
                    </a:lnTo>
                    <a:lnTo>
                      <a:pt x="86" y="0"/>
                    </a:lnTo>
                    <a:lnTo>
                      <a:pt x="8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7811" name="Freeform 403"/>
              <p:cNvSpPr>
                <a:spLocks/>
              </p:cNvSpPr>
              <p:nvPr/>
            </p:nvSpPr>
            <p:spPr bwMode="auto">
              <a:xfrm>
                <a:off x="3830" y="3855"/>
                <a:ext cx="161" cy="65"/>
              </a:xfrm>
              <a:custGeom>
                <a:avLst/>
                <a:gdLst>
                  <a:gd name="T0" fmla="*/ 0 w 161"/>
                  <a:gd name="T1" fmla="*/ 16 h 65"/>
                  <a:gd name="T2" fmla="*/ 80 w 161"/>
                  <a:gd name="T3" fmla="*/ 16 h 65"/>
                  <a:gd name="T4" fmla="*/ 80 w 161"/>
                  <a:gd name="T5" fmla="*/ 0 h 65"/>
                  <a:gd name="T6" fmla="*/ 161 w 161"/>
                  <a:gd name="T7" fmla="*/ 31 h 65"/>
                  <a:gd name="T8" fmla="*/ 80 w 161"/>
                  <a:gd name="T9" fmla="*/ 65 h 65"/>
                  <a:gd name="T10" fmla="*/ 80 w 161"/>
                  <a:gd name="T11" fmla="*/ 49 h 65"/>
                  <a:gd name="T12" fmla="*/ 0 w 161"/>
                  <a:gd name="T13" fmla="*/ 49 h 65"/>
                  <a:gd name="T14" fmla="*/ 0 w 161"/>
                  <a:gd name="T15" fmla="*/ 16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1" h="65">
                    <a:moveTo>
                      <a:pt x="0" y="16"/>
                    </a:moveTo>
                    <a:lnTo>
                      <a:pt x="80" y="16"/>
                    </a:lnTo>
                    <a:lnTo>
                      <a:pt x="80" y="0"/>
                    </a:lnTo>
                    <a:lnTo>
                      <a:pt x="161" y="31"/>
                    </a:lnTo>
                    <a:lnTo>
                      <a:pt x="80" y="65"/>
                    </a:lnTo>
                    <a:lnTo>
                      <a:pt x="80" y="49"/>
                    </a:lnTo>
                    <a:lnTo>
                      <a:pt x="0" y="49"/>
                    </a:lnTo>
                    <a:lnTo>
                      <a:pt x="0" y="16"/>
                    </a:lnTo>
                  </a:path>
                </a:pathLst>
              </a:custGeom>
              <a:grpFill/>
              <a:ln w="0">
                <a:solidFill>
                  <a:srgbClr val="000000"/>
                </a:solidFill>
                <a:prstDash val="solid"/>
                <a:round/>
                <a:headEnd/>
                <a:tailEnd/>
              </a:ln>
              <a:extLst/>
            </p:spPr>
            <p:txBody>
              <a:bodyPr/>
              <a:lstStyle/>
              <a:p>
                <a:pPr>
                  <a:defRPr/>
                </a:pPr>
                <a:endParaRPr lang="en-US"/>
              </a:p>
            </p:txBody>
          </p:sp>
          <p:sp>
            <p:nvSpPr>
              <p:cNvPr id="17812" name="Freeform 404"/>
              <p:cNvSpPr>
                <a:spLocks/>
              </p:cNvSpPr>
              <p:nvPr/>
            </p:nvSpPr>
            <p:spPr bwMode="auto">
              <a:xfrm>
                <a:off x="3820" y="3847"/>
                <a:ext cx="187" cy="81"/>
              </a:xfrm>
              <a:custGeom>
                <a:avLst/>
                <a:gdLst>
                  <a:gd name="T0" fmla="*/ 10 w 187"/>
                  <a:gd name="T1" fmla="*/ 21 h 81"/>
                  <a:gd name="T2" fmla="*/ 81 w 187"/>
                  <a:gd name="T3" fmla="*/ 21 h 81"/>
                  <a:gd name="T4" fmla="*/ 81 w 187"/>
                  <a:gd name="T5" fmla="*/ 0 h 81"/>
                  <a:gd name="T6" fmla="*/ 187 w 187"/>
                  <a:gd name="T7" fmla="*/ 39 h 81"/>
                  <a:gd name="T8" fmla="*/ 81 w 187"/>
                  <a:gd name="T9" fmla="*/ 81 h 81"/>
                  <a:gd name="T10" fmla="*/ 81 w 187"/>
                  <a:gd name="T11" fmla="*/ 60 h 81"/>
                  <a:gd name="T12" fmla="*/ 0 w 187"/>
                  <a:gd name="T13" fmla="*/ 60 h 81"/>
                  <a:gd name="T14" fmla="*/ 0 w 187"/>
                  <a:gd name="T15" fmla="*/ 21 h 81"/>
                  <a:gd name="T16" fmla="*/ 10 w 187"/>
                  <a:gd name="T17" fmla="*/ 2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7" h="81">
                    <a:moveTo>
                      <a:pt x="10" y="21"/>
                    </a:moveTo>
                    <a:lnTo>
                      <a:pt x="81" y="21"/>
                    </a:lnTo>
                    <a:lnTo>
                      <a:pt x="81" y="0"/>
                    </a:lnTo>
                    <a:lnTo>
                      <a:pt x="187" y="39"/>
                    </a:lnTo>
                    <a:lnTo>
                      <a:pt x="81" y="81"/>
                    </a:lnTo>
                    <a:lnTo>
                      <a:pt x="81" y="60"/>
                    </a:lnTo>
                    <a:lnTo>
                      <a:pt x="0" y="60"/>
                    </a:lnTo>
                    <a:lnTo>
                      <a:pt x="0" y="21"/>
                    </a:lnTo>
                    <a:lnTo>
                      <a:pt x="10" y="21"/>
                    </a:lnTo>
                  </a:path>
                </a:pathLst>
              </a:custGeom>
              <a:grpFill/>
              <a:ln w="0">
                <a:solidFill>
                  <a:srgbClr val="000000"/>
                </a:solidFill>
                <a:prstDash val="solid"/>
                <a:round/>
                <a:headEnd/>
                <a:tailEnd/>
              </a:ln>
              <a:extLst/>
            </p:spPr>
            <p:txBody>
              <a:bodyPr/>
              <a:lstStyle/>
              <a:p>
                <a:pPr>
                  <a:defRPr/>
                </a:pPr>
                <a:endParaRPr lang="en-US"/>
              </a:p>
            </p:txBody>
          </p:sp>
          <p:sp>
            <p:nvSpPr>
              <p:cNvPr id="17813" name="Rectangle 405"/>
              <p:cNvSpPr>
                <a:spLocks noChangeArrowheads="1"/>
              </p:cNvSpPr>
              <p:nvPr/>
            </p:nvSpPr>
            <p:spPr bwMode="auto">
              <a:xfrm>
                <a:off x="3275" y="1392"/>
                <a:ext cx="491" cy="10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th-TH" altLang="en-US" sz="1100" b="1">
                    <a:latin typeface="Century Schoolbook" panose="02040604050505020304" pitchFamily="18" charset="0"/>
                  </a:rPr>
                  <a:t>Extraction</a:t>
                </a:r>
                <a:endParaRPr lang="th-TH" altLang="en-US" sz="1600">
                  <a:latin typeface="Century Schoolbook" panose="02040604050505020304" pitchFamily="18" charset="0"/>
                </a:endParaRPr>
              </a:p>
            </p:txBody>
          </p:sp>
          <p:sp>
            <p:nvSpPr>
              <p:cNvPr id="17814" name="Rectangle 406"/>
              <p:cNvSpPr>
                <a:spLocks noChangeArrowheads="1"/>
              </p:cNvSpPr>
              <p:nvPr/>
            </p:nvSpPr>
            <p:spPr bwMode="auto">
              <a:xfrm>
                <a:off x="3275" y="1517"/>
                <a:ext cx="509" cy="10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th-TH" altLang="en-US" sz="1100" b="1">
                    <a:latin typeface="Century Schoolbook" panose="02040604050505020304" pitchFamily="18" charset="0"/>
                  </a:rPr>
                  <a:t>Liquor Out</a:t>
                </a:r>
                <a:endParaRPr lang="th-TH" altLang="en-US" sz="1600">
                  <a:latin typeface="Century Schoolbook" panose="02040604050505020304" pitchFamily="18" charset="0"/>
                </a:endParaRPr>
              </a:p>
            </p:txBody>
          </p:sp>
          <p:sp>
            <p:nvSpPr>
              <p:cNvPr id="17815" name="Freeform 407"/>
              <p:cNvSpPr>
                <a:spLocks/>
              </p:cNvSpPr>
              <p:nvPr/>
            </p:nvSpPr>
            <p:spPr bwMode="auto">
              <a:xfrm>
                <a:off x="3745" y="1640"/>
                <a:ext cx="188" cy="79"/>
              </a:xfrm>
              <a:custGeom>
                <a:avLst/>
                <a:gdLst>
                  <a:gd name="T0" fmla="*/ 96 w 188"/>
                  <a:gd name="T1" fmla="*/ 8 h 79"/>
                  <a:gd name="T2" fmla="*/ 99 w 188"/>
                  <a:gd name="T3" fmla="*/ 11 h 79"/>
                  <a:gd name="T4" fmla="*/ 109 w 188"/>
                  <a:gd name="T5" fmla="*/ 13 h 79"/>
                  <a:gd name="T6" fmla="*/ 112 w 188"/>
                  <a:gd name="T7" fmla="*/ 16 h 79"/>
                  <a:gd name="T8" fmla="*/ 120 w 188"/>
                  <a:gd name="T9" fmla="*/ 18 h 79"/>
                  <a:gd name="T10" fmla="*/ 125 w 188"/>
                  <a:gd name="T11" fmla="*/ 21 h 79"/>
                  <a:gd name="T12" fmla="*/ 133 w 188"/>
                  <a:gd name="T13" fmla="*/ 22 h 79"/>
                  <a:gd name="T14" fmla="*/ 138 w 188"/>
                  <a:gd name="T15" fmla="*/ 26 h 79"/>
                  <a:gd name="T16" fmla="*/ 146 w 188"/>
                  <a:gd name="T17" fmla="*/ 27 h 79"/>
                  <a:gd name="T18" fmla="*/ 151 w 188"/>
                  <a:gd name="T19" fmla="*/ 30 h 79"/>
                  <a:gd name="T20" fmla="*/ 159 w 188"/>
                  <a:gd name="T21" fmla="*/ 32 h 79"/>
                  <a:gd name="T22" fmla="*/ 164 w 188"/>
                  <a:gd name="T23" fmla="*/ 35 h 79"/>
                  <a:gd name="T24" fmla="*/ 172 w 188"/>
                  <a:gd name="T25" fmla="*/ 37 h 79"/>
                  <a:gd name="T26" fmla="*/ 169 w 188"/>
                  <a:gd name="T27" fmla="*/ 40 h 79"/>
                  <a:gd name="T28" fmla="*/ 161 w 188"/>
                  <a:gd name="T29" fmla="*/ 42 h 79"/>
                  <a:gd name="T30" fmla="*/ 156 w 188"/>
                  <a:gd name="T31" fmla="*/ 45 h 79"/>
                  <a:gd name="T32" fmla="*/ 149 w 188"/>
                  <a:gd name="T33" fmla="*/ 47 h 79"/>
                  <a:gd name="T34" fmla="*/ 144 w 188"/>
                  <a:gd name="T35" fmla="*/ 50 h 79"/>
                  <a:gd name="T36" fmla="*/ 138 w 188"/>
                  <a:gd name="T37" fmla="*/ 51 h 79"/>
                  <a:gd name="T38" fmla="*/ 133 w 188"/>
                  <a:gd name="T39" fmla="*/ 55 h 79"/>
                  <a:gd name="T40" fmla="*/ 125 w 188"/>
                  <a:gd name="T41" fmla="*/ 56 h 79"/>
                  <a:gd name="T42" fmla="*/ 122 w 188"/>
                  <a:gd name="T43" fmla="*/ 60 h 79"/>
                  <a:gd name="T44" fmla="*/ 114 w 188"/>
                  <a:gd name="T45" fmla="*/ 61 h 79"/>
                  <a:gd name="T46" fmla="*/ 110 w 188"/>
                  <a:gd name="T47" fmla="*/ 64 h 79"/>
                  <a:gd name="T48" fmla="*/ 102 w 188"/>
                  <a:gd name="T49" fmla="*/ 66 h 79"/>
                  <a:gd name="T50" fmla="*/ 99 w 188"/>
                  <a:gd name="T51" fmla="*/ 69 h 79"/>
                  <a:gd name="T52" fmla="*/ 91 w 188"/>
                  <a:gd name="T53" fmla="*/ 71 h 79"/>
                  <a:gd name="T54" fmla="*/ 10 w 188"/>
                  <a:gd name="T55" fmla="*/ 24 h 79"/>
                  <a:gd name="T56" fmla="*/ 81 w 188"/>
                  <a:gd name="T57" fmla="*/ 8 h 79"/>
                  <a:gd name="T58" fmla="*/ 0 w 188"/>
                  <a:gd name="T59" fmla="*/ 60 h 79"/>
                  <a:gd name="T60" fmla="*/ 86 w 188"/>
                  <a:gd name="T61" fmla="*/ 79 h 79"/>
                  <a:gd name="T62" fmla="*/ 89 w 188"/>
                  <a:gd name="T63" fmla="*/ 76 h 79"/>
                  <a:gd name="T64" fmla="*/ 97 w 188"/>
                  <a:gd name="T65" fmla="*/ 74 h 79"/>
                  <a:gd name="T66" fmla="*/ 102 w 188"/>
                  <a:gd name="T67" fmla="*/ 71 h 79"/>
                  <a:gd name="T68" fmla="*/ 110 w 188"/>
                  <a:gd name="T69" fmla="*/ 69 h 79"/>
                  <a:gd name="T70" fmla="*/ 114 w 188"/>
                  <a:gd name="T71" fmla="*/ 66 h 79"/>
                  <a:gd name="T72" fmla="*/ 122 w 188"/>
                  <a:gd name="T73" fmla="*/ 64 h 79"/>
                  <a:gd name="T74" fmla="*/ 127 w 188"/>
                  <a:gd name="T75" fmla="*/ 61 h 79"/>
                  <a:gd name="T76" fmla="*/ 135 w 188"/>
                  <a:gd name="T77" fmla="*/ 60 h 79"/>
                  <a:gd name="T78" fmla="*/ 140 w 188"/>
                  <a:gd name="T79" fmla="*/ 56 h 79"/>
                  <a:gd name="T80" fmla="*/ 148 w 188"/>
                  <a:gd name="T81" fmla="*/ 55 h 79"/>
                  <a:gd name="T82" fmla="*/ 151 w 188"/>
                  <a:gd name="T83" fmla="*/ 51 h 79"/>
                  <a:gd name="T84" fmla="*/ 159 w 188"/>
                  <a:gd name="T85" fmla="*/ 50 h 79"/>
                  <a:gd name="T86" fmla="*/ 164 w 188"/>
                  <a:gd name="T87" fmla="*/ 47 h 79"/>
                  <a:gd name="T88" fmla="*/ 172 w 188"/>
                  <a:gd name="T89" fmla="*/ 45 h 79"/>
                  <a:gd name="T90" fmla="*/ 175 w 188"/>
                  <a:gd name="T91" fmla="*/ 42 h 79"/>
                  <a:gd name="T92" fmla="*/ 183 w 188"/>
                  <a:gd name="T93" fmla="*/ 40 h 79"/>
                  <a:gd name="T94" fmla="*/ 188 w 188"/>
                  <a:gd name="T95" fmla="*/ 37 h 79"/>
                  <a:gd name="T96" fmla="*/ 178 w 188"/>
                  <a:gd name="T97" fmla="*/ 35 h 79"/>
                  <a:gd name="T98" fmla="*/ 175 w 188"/>
                  <a:gd name="T99" fmla="*/ 32 h 79"/>
                  <a:gd name="T100" fmla="*/ 165 w 188"/>
                  <a:gd name="T101" fmla="*/ 30 h 79"/>
                  <a:gd name="T102" fmla="*/ 161 w 188"/>
                  <a:gd name="T103" fmla="*/ 27 h 79"/>
                  <a:gd name="T104" fmla="*/ 152 w 188"/>
                  <a:gd name="T105" fmla="*/ 26 h 79"/>
                  <a:gd name="T106" fmla="*/ 148 w 188"/>
                  <a:gd name="T107" fmla="*/ 22 h 79"/>
                  <a:gd name="T108" fmla="*/ 140 w 188"/>
                  <a:gd name="T109" fmla="*/ 21 h 79"/>
                  <a:gd name="T110" fmla="*/ 135 w 188"/>
                  <a:gd name="T111" fmla="*/ 18 h 79"/>
                  <a:gd name="T112" fmla="*/ 125 w 188"/>
                  <a:gd name="T113" fmla="*/ 16 h 79"/>
                  <a:gd name="T114" fmla="*/ 122 w 188"/>
                  <a:gd name="T115" fmla="*/ 13 h 79"/>
                  <a:gd name="T116" fmla="*/ 112 w 188"/>
                  <a:gd name="T117" fmla="*/ 11 h 79"/>
                  <a:gd name="T118" fmla="*/ 107 w 188"/>
                  <a:gd name="T119" fmla="*/ 8 h 79"/>
                  <a:gd name="T120" fmla="*/ 99 w 188"/>
                  <a:gd name="T121" fmla="*/ 6 h 79"/>
                  <a:gd name="T122" fmla="*/ 94 w 188"/>
                  <a:gd name="T123" fmla="*/ 3 h 79"/>
                  <a:gd name="T124" fmla="*/ 86 w 188"/>
                  <a:gd name="T125" fmla="*/ 1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88" h="79">
                    <a:moveTo>
                      <a:pt x="81" y="0"/>
                    </a:moveTo>
                    <a:lnTo>
                      <a:pt x="81" y="8"/>
                    </a:lnTo>
                    <a:lnTo>
                      <a:pt x="96" y="8"/>
                    </a:lnTo>
                    <a:lnTo>
                      <a:pt x="96" y="9"/>
                    </a:lnTo>
                    <a:lnTo>
                      <a:pt x="99" y="9"/>
                    </a:lnTo>
                    <a:lnTo>
                      <a:pt x="99" y="11"/>
                    </a:lnTo>
                    <a:lnTo>
                      <a:pt x="104" y="11"/>
                    </a:lnTo>
                    <a:lnTo>
                      <a:pt x="104" y="13"/>
                    </a:lnTo>
                    <a:lnTo>
                      <a:pt x="109" y="13"/>
                    </a:lnTo>
                    <a:lnTo>
                      <a:pt x="109" y="14"/>
                    </a:lnTo>
                    <a:lnTo>
                      <a:pt x="112" y="14"/>
                    </a:lnTo>
                    <a:lnTo>
                      <a:pt x="112" y="16"/>
                    </a:lnTo>
                    <a:lnTo>
                      <a:pt x="117" y="16"/>
                    </a:lnTo>
                    <a:lnTo>
                      <a:pt x="117" y="18"/>
                    </a:lnTo>
                    <a:lnTo>
                      <a:pt x="120" y="18"/>
                    </a:lnTo>
                    <a:lnTo>
                      <a:pt x="120" y="19"/>
                    </a:lnTo>
                    <a:lnTo>
                      <a:pt x="125" y="19"/>
                    </a:lnTo>
                    <a:lnTo>
                      <a:pt x="125" y="21"/>
                    </a:lnTo>
                    <a:lnTo>
                      <a:pt x="130" y="21"/>
                    </a:lnTo>
                    <a:lnTo>
                      <a:pt x="130" y="22"/>
                    </a:lnTo>
                    <a:lnTo>
                      <a:pt x="133" y="22"/>
                    </a:lnTo>
                    <a:lnTo>
                      <a:pt x="133" y="24"/>
                    </a:lnTo>
                    <a:lnTo>
                      <a:pt x="138" y="24"/>
                    </a:lnTo>
                    <a:lnTo>
                      <a:pt x="138" y="26"/>
                    </a:lnTo>
                    <a:lnTo>
                      <a:pt x="143" y="26"/>
                    </a:lnTo>
                    <a:lnTo>
                      <a:pt x="143" y="27"/>
                    </a:lnTo>
                    <a:lnTo>
                      <a:pt x="146" y="27"/>
                    </a:lnTo>
                    <a:lnTo>
                      <a:pt x="146" y="29"/>
                    </a:lnTo>
                    <a:lnTo>
                      <a:pt x="151" y="29"/>
                    </a:lnTo>
                    <a:lnTo>
                      <a:pt x="151" y="30"/>
                    </a:lnTo>
                    <a:lnTo>
                      <a:pt x="154" y="30"/>
                    </a:lnTo>
                    <a:lnTo>
                      <a:pt x="154" y="32"/>
                    </a:lnTo>
                    <a:lnTo>
                      <a:pt x="159" y="32"/>
                    </a:lnTo>
                    <a:lnTo>
                      <a:pt x="159" y="34"/>
                    </a:lnTo>
                    <a:lnTo>
                      <a:pt x="164" y="34"/>
                    </a:lnTo>
                    <a:lnTo>
                      <a:pt x="164" y="35"/>
                    </a:lnTo>
                    <a:lnTo>
                      <a:pt x="167" y="35"/>
                    </a:lnTo>
                    <a:lnTo>
                      <a:pt x="167" y="37"/>
                    </a:lnTo>
                    <a:lnTo>
                      <a:pt x="172" y="37"/>
                    </a:lnTo>
                    <a:lnTo>
                      <a:pt x="172" y="39"/>
                    </a:lnTo>
                    <a:lnTo>
                      <a:pt x="169" y="39"/>
                    </a:lnTo>
                    <a:lnTo>
                      <a:pt x="169" y="40"/>
                    </a:lnTo>
                    <a:lnTo>
                      <a:pt x="164" y="40"/>
                    </a:lnTo>
                    <a:lnTo>
                      <a:pt x="164" y="42"/>
                    </a:lnTo>
                    <a:lnTo>
                      <a:pt x="161" y="42"/>
                    </a:lnTo>
                    <a:lnTo>
                      <a:pt x="161" y="43"/>
                    </a:lnTo>
                    <a:lnTo>
                      <a:pt x="156" y="43"/>
                    </a:lnTo>
                    <a:lnTo>
                      <a:pt x="156" y="45"/>
                    </a:lnTo>
                    <a:lnTo>
                      <a:pt x="152" y="45"/>
                    </a:lnTo>
                    <a:lnTo>
                      <a:pt x="152" y="47"/>
                    </a:lnTo>
                    <a:lnTo>
                      <a:pt x="149" y="47"/>
                    </a:lnTo>
                    <a:lnTo>
                      <a:pt x="149" y="48"/>
                    </a:lnTo>
                    <a:lnTo>
                      <a:pt x="144" y="48"/>
                    </a:lnTo>
                    <a:lnTo>
                      <a:pt x="144" y="50"/>
                    </a:lnTo>
                    <a:lnTo>
                      <a:pt x="141" y="50"/>
                    </a:lnTo>
                    <a:lnTo>
                      <a:pt x="141" y="51"/>
                    </a:lnTo>
                    <a:lnTo>
                      <a:pt x="138" y="51"/>
                    </a:lnTo>
                    <a:lnTo>
                      <a:pt x="138" y="53"/>
                    </a:lnTo>
                    <a:lnTo>
                      <a:pt x="133" y="53"/>
                    </a:lnTo>
                    <a:lnTo>
                      <a:pt x="133" y="55"/>
                    </a:lnTo>
                    <a:lnTo>
                      <a:pt x="130" y="55"/>
                    </a:lnTo>
                    <a:lnTo>
                      <a:pt x="130" y="56"/>
                    </a:lnTo>
                    <a:lnTo>
                      <a:pt x="125" y="56"/>
                    </a:lnTo>
                    <a:lnTo>
                      <a:pt x="125" y="58"/>
                    </a:lnTo>
                    <a:lnTo>
                      <a:pt x="122" y="58"/>
                    </a:lnTo>
                    <a:lnTo>
                      <a:pt x="122" y="60"/>
                    </a:lnTo>
                    <a:lnTo>
                      <a:pt x="118" y="60"/>
                    </a:lnTo>
                    <a:lnTo>
                      <a:pt x="118" y="61"/>
                    </a:lnTo>
                    <a:lnTo>
                      <a:pt x="114" y="61"/>
                    </a:lnTo>
                    <a:lnTo>
                      <a:pt x="114" y="63"/>
                    </a:lnTo>
                    <a:lnTo>
                      <a:pt x="110" y="63"/>
                    </a:lnTo>
                    <a:lnTo>
                      <a:pt x="110" y="64"/>
                    </a:lnTo>
                    <a:lnTo>
                      <a:pt x="107" y="64"/>
                    </a:lnTo>
                    <a:lnTo>
                      <a:pt x="107" y="66"/>
                    </a:lnTo>
                    <a:lnTo>
                      <a:pt x="102" y="66"/>
                    </a:lnTo>
                    <a:lnTo>
                      <a:pt x="102" y="68"/>
                    </a:lnTo>
                    <a:lnTo>
                      <a:pt x="99" y="68"/>
                    </a:lnTo>
                    <a:lnTo>
                      <a:pt x="99" y="69"/>
                    </a:lnTo>
                    <a:lnTo>
                      <a:pt x="94" y="69"/>
                    </a:lnTo>
                    <a:lnTo>
                      <a:pt x="94" y="71"/>
                    </a:lnTo>
                    <a:lnTo>
                      <a:pt x="91" y="71"/>
                    </a:lnTo>
                    <a:lnTo>
                      <a:pt x="91" y="55"/>
                    </a:lnTo>
                    <a:lnTo>
                      <a:pt x="10" y="55"/>
                    </a:lnTo>
                    <a:lnTo>
                      <a:pt x="10" y="24"/>
                    </a:lnTo>
                    <a:lnTo>
                      <a:pt x="91" y="24"/>
                    </a:lnTo>
                    <a:lnTo>
                      <a:pt x="91" y="8"/>
                    </a:lnTo>
                    <a:lnTo>
                      <a:pt x="81" y="8"/>
                    </a:lnTo>
                    <a:lnTo>
                      <a:pt x="81" y="19"/>
                    </a:lnTo>
                    <a:lnTo>
                      <a:pt x="0" y="19"/>
                    </a:lnTo>
                    <a:lnTo>
                      <a:pt x="0" y="60"/>
                    </a:lnTo>
                    <a:lnTo>
                      <a:pt x="81" y="60"/>
                    </a:lnTo>
                    <a:lnTo>
                      <a:pt x="81" y="79"/>
                    </a:lnTo>
                    <a:lnTo>
                      <a:pt x="86" y="79"/>
                    </a:lnTo>
                    <a:lnTo>
                      <a:pt x="86" y="77"/>
                    </a:lnTo>
                    <a:lnTo>
                      <a:pt x="89" y="77"/>
                    </a:lnTo>
                    <a:lnTo>
                      <a:pt x="89" y="76"/>
                    </a:lnTo>
                    <a:lnTo>
                      <a:pt x="94" y="76"/>
                    </a:lnTo>
                    <a:lnTo>
                      <a:pt x="94" y="74"/>
                    </a:lnTo>
                    <a:lnTo>
                      <a:pt x="97" y="74"/>
                    </a:lnTo>
                    <a:lnTo>
                      <a:pt x="97" y="72"/>
                    </a:lnTo>
                    <a:lnTo>
                      <a:pt x="102" y="72"/>
                    </a:lnTo>
                    <a:lnTo>
                      <a:pt x="102" y="71"/>
                    </a:lnTo>
                    <a:lnTo>
                      <a:pt x="106" y="71"/>
                    </a:lnTo>
                    <a:lnTo>
                      <a:pt x="106" y="69"/>
                    </a:lnTo>
                    <a:lnTo>
                      <a:pt x="110" y="69"/>
                    </a:lnTo>
                    <a:lnTo>
                      <a:pt x="110" y="68"/>
                    </a:lnTo>
                    <a:lnTo>
                      <a:pt x="114" y="68"/>
                    </a:lnTo>
                    <a:lnTo>
                      <a:pt x="114" y="66"/>
                    </a:lnTo>
                    <a:lnTo>
                      <a:pt x="118" y="66"/>
                    </a:lnTo>
                    <a:lnTo>
                      <a:pt x="118" y="64"/>
                    </a:lnTo>
                    <a:lnTo>
                      <a:pt x="122" y="64"/>
                    </a:lnTo>
                    <a:lnTo>
                      <a:pt x="122" y="63"/>
                    </a:lnTo>
                    <a:lnTo>
                      <a:pt x="127" y="63"/>
                    </a:lnTo>
                    <a:lnTo>
                      <a:pt x="127" y="61"/>
                    </a:lnTo>
                    <a:lnTo>
                      <a:pt x="130" y="61"/>
                    </a:lnTo>
                    <a:lnTo>
                      <a:pt x="130" y="60"/>
                    </a:lnTo>
                    <a:lnTo>
                      <a:pt x="135" y="60"/>
                    </a:lnTo>
                    <a:lnTo>
                      <a:pt x="135" y="58"/>
                    </a:lnTo>
                    <a:lnTo>
                      <a:pt x="140" y="58"/>
                    </a:lnTo>
                    <a:lnTo>
                      <a:pt x="140" y="56"/>
                    </a:lnTo>
                    <a:lnTo>
                      <a:pt x="143" y="56"/>
                    </a:lnTo>
                    <a:lnTo>
                      <a:pt x="143" y="55"/>
                    </a:lnTo>
                    <a:lnTo>
                      <a:pt x="148" y="55"/>
                    </a:lnTo>
                    <a:lnTo>
                      <a:pt x="148" y="53"/>
                    </a:lnTo>
                    <a:lnTo>
                      <a:pt x="151" y="53"/>
                    </a:lnTo>
                    <a:lnTo>
                      <a:pt x="151" y="51"/>
                    </a:lnTo>
                    <a:lnTo>
                      <a:pt x="156" y="51"/>
                    </a:lnTo>
                    <a:lnTo>
                      <a:pt x="156" y="50"/>
                    </a:lnTo>
                    <a:lnTo>
                      <a:pt x="159" y="50"/>
                    </a:lnTo>
                    <a:lnTo>
                      <a:pt x="159" y="48"/>
                    </a:lnTo>
                    <a:lnTo>
                      <a:pt x="164" y="48"/>
                    </a:lnTo>
                    <a:lnTo>
                      <a:pt x="164" y="47"/>
                    </a:lnTo>
                    <a:lnTo>
                      <a:pt x="167" y="47"/>
                    </a:lnTo>
                    <a:lnTo>
                      <a:pt x="167" y="45"/>
                    </a:lnTo>
                    <a:lnTo>
                      <a:pt x="172" y="45"/>
                    </a:lnTo>
                    <a:lnTo>
                      <a:pt x="172" y="43"/>
                    </a:lnTo>
                    <a:lnTo>
                      <a:pt x="175" y="43"/>
                    </a:lnTo>
                    <a:lnTo>
                      <a:pt x="175" y="42"/>
                    </a:lnTo>
                    <a:lnTo>
                      <a:pt x="180" y="42"/>
                    </a:lnTo>
                    <a:lnTo>
                      <a:pt x="180" y="40"/>
                    </a:lnTo>
                    <a:lnTo>
                      <a:pt x="183" y="40"/>
                    </a:lnTo>
                    <a:lnTo>
                      <a:pt x="183" y="39"/>
                    </a:lnTo>
                    <a:lnTo>
                      <a:pt x="188" y="39"/>
                    </a:lnTo>
                    <a:lnTo>
                      <a:pt x="188" y="37"/>
                    </a:lnTo>
                    <a:lnTo>
                      <a:pt x="183" y="37"/>
                    </a:lnTo>
                    <a:lnTo>
                      <a:pt x="183" y="35"/>
                    </a:lnTo>
                    <a:lnTo>
                      <a:pt x="178" y="35"/>
                    </a:lnTo>
                    <a:lnTo>
                      <a:pt x="178" y="34"/>
                    </a:lnTo>
                    <a:lnTo>
                      <a:pt x="175" y="34"/>
                    </a:lnTo>
                    <a:lnTo>
                      <a:pt x="175" y="32"/>
                    </a:lnTo>
                    <a:lnTo>
                      <a:pt x="170" y="32"/>
                    </a:lnTo>
                    <a:lnTo>
                      <a:pt x="170" y="30"/>
                    </a:lnTo>
                    <a:lnTo>
                      <a:pt x="165" y="30"/>
                    </a:lnTo>
                    <a:lnTo>
                      <a:pt x="165" y="29"/>
                    </a:lnTo>
                    <a:lnTo>
                      <a:pt x="161" y="29"/>
                    </a:lnTo>
                    <a:lnTo>
                      <a:pt x="161" y="27"/>
                    </a:lnTo>
                    <a:lnTo>
                      <a:pt x="157" y="27"/>
                    </a:lnTo>
                    <a:lnTo>
                      <a:pt x="157" y="26"/>
                    </a:lnTo>
                    <a:lnTo>
                      <a:pt x="152" y="26"/>
                    </a:lnTo>
                    <a:lnTo>
                      <a:pt x="152" y="24"/>
                    </a:lnTo>
                    <a:lnTo>
                      <a:pt x="148" y="24"/>
                    </a:lnTo>
                    <a:lnTo>
                      <a:pt x="148" y="22"/>
                    </a:lnTo>
                    <a:lnTo>
                      <a:pt x="143" y="22"/>
                    </a:lnTo>
                    <a:lnTo>
                      <a:pt x="143" y="21"/>
                    </a:lnTo>
                    <a:lnTo>
                      <a:pt x="140" y="21"/>
                    </a:lnTo>
                    <a:lnTo>
                      <a:pt x="140" y="19"/>
                    </a:lnTo>
                    <a:lnTo>
                      <a:pt x="135" y="19"/>
                    </a:lnTo>
                    <a:lnTo>
                      <a:pt x="135" y="18"/>
                    </a:lnTo>
                    <a:lnTo>
                      <a:pt x="130" y="18"/>
                    </a:lnTo>
                    <a:lnTo>
                      <a:pt x="130" y="16"/>
                    </a:lnTo>
                    <a:lnTo>
                      <a:pt x="125" y="16"/>
                    </a:lnTo>
                    <a:lnTo>
                      <a:pt x="125" y="14"/>
                    </a:lnTo>
                    <a:lnTo>
                      <a:pt x="122" y="14"/>
                    </a:lnTo>
                    <a:lnTo>
                      <a:pt x="122" y="13"/>
                    </a:lnTo>
                    <a:lnTo>
                      <a:pt x="117" y="13"/>
                    </a:lnTo>
                    <a:lnTo>
                      <a:pt x="117" y="11"/>
                    </a:lnTo>
                    <a:lnTo>
                      <a:pt x="112" y="11"/>
                    </a:lnTo>
                    <a:lnTo>
                      <a:pt x="112" y="9"/>
                    </a:lnTo>
                    <a:lnTo>
                      <a:pt x="107" y="9"/>
                    </a:lnTo>
                    <a:lnTo>
                      <a:pt x="107" y="8"/>
                    </a:lnTo>
                    <a:lnTo>
                      <a:pt x="104" y="8"/>
                    </a:lnTo>
                    <a:lnTo>
                      <a:pt x="104" y="6"/>
                    </a:lnTo>
                    <a:lnTo>
                      <a:pt x="99" y="6"/>
                    </a:lnTo>
                    <a:lnTo>
                      <a:pt x="99" y="5"/>
                    </a:lnTo>
                    <a:lnTo>
                      <a:pt x="94" y="5"/>
                    </a:lnTo>
                    <a:lnTo>
                      <a:pt x="94" y="3"/>
                    </a:lnTo>
                    <a:lnTo>
                      <a:pt x="89" y="3"/>
                    </a:lnTo>
                    <a:lnTo>
                      <a:pt x="89" y="1"/>
                    </a:lnTo>
                    <a:lnTo>
                      <a:pt x="86" y="1"/>
                    </a:lnTo>
                    <a:lnTo>
                      <a:pt x="86" y="0"/>
                    </a:lnTo>
                    <a:lnTo>
                      <a:pt x="8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7816" name="Freeform 408"/>
              <p:cNvSpPr>
                <a:spLocks/>
              </p:cNvSpPr>
              <p:nvPr/>
            </p:nvSpPr>
            <p:spPr bwMode="auto">
              <a:xfrm>
                <a:off x="3755" y="1646"/>
                <a:ext cx="162" cy="65"/>
              </a:xfrm>
              <a:custGeom>
                <a:avLst/>
                <a:gdLst>
                  <a:gd name="T0" fmla="*/ 0 w 162"/>
                  <a:gd name="T1" fmla="*/ 16 h 65"/>
                  <a:gd name="T2" fmla="*/ 81 w 162"/>
                  <a:gd name="T3" fmla="*/ 16 h 65"/>
                  <a:gd name="T4" fmla="*/ 81 w 162"/>
                  <a:gd name="T5" fmla="*/ 0 h 65"/>
                  <a:gd name="T6" fmla="*/ 162 w 162"/>
                  <a:gd name="T7" fmla="*/ 31 h 65"/>
                  <a:gd name="T8" fmla="*/ 81 w 162"/>
                  <a:gd name="T9" fmla="*/ 65 h 65"/>
                  <a:gd name="T10" fmla="*/ 81 w 162"/>
                  <a:gd name="T11" fmla="*/ 49 h 65"/>
                  <a:gd name="T12" fmla="*/ 0 w 162"/>
                  <a:gd name="T13" fmla="*/ 49 h 65"/>
                  <a:gd name="T14" fmla="*/ 0 w 162"/>
                  <a:gd name="T15" fmla="*/ 16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2" h="65">
                    <a:moveTo>
                      <a:pt x="0" y="16"/>
                    </a:moveTo>
                    <a:lnTo>
                      <a:pt x="81" y="16"/>
                    </a:lnTo>
                    <a:lnTo>
                      <a:pt x="81" y="0"/>
                    </a:lnTo>
                    <a:lnTo>
                      <a:pt x="162" y="31"/>
                    </a:lnTo>
                    <a:lnTo>
                      <a:pt x="81" y="65"/>
                    </a:lnTo>
                    <a:lnTo>
                      <a:pt x="81" y="49"/>
                    </a:lnTo>
                    <a:lnTo>
                      <a:pt x="0" y="49"/>
                    </a:lnTo>
                    <a:lnTo>
                      <a:pt x="0" y="16"/>
                    </a:lnTo>
                  </a:path>
                </a:pathLst>
              </a:custGeom>
              <a:grpFill/>
              <a:ln w="0">
                <a:solidFill>
                  <a:srgbClr val="000000"/>
                </a:solidFill>
                <a:prstDash val="solid"/>
                <a:round/>
                <a:headEnd/>
                <a:tailEnd/>
              </a:ln>
              <a:extLst/>
            </p:spPr>
            <p:txBody>
              <a:bodyPr/>
              <a:lstStyle/>
              <a:p>
                <a:pPr>
                  <a:defRPr/>
                </a:pPr>
                <a:endParaRPr lang="en-US"/>
              </a:p>
            </p:txBody>
          </p:sp>
          <p:sp>
            <p:nvSpPr>
              <p:cNvPr id="17817" name="Freeform 409"/>
              <p:cNvSpPr>
                <a:spLocks/>
              </p:cNvSpPr>
              <p:nvPr/>
            </p:nvSpPr>
            <p:spPr bwMode="auto">
              <a:xfrm>
                <a:off x="3745" y="1638"/>
                <a:ext cx="188" cy="81"/>
              </a:xfrm>
              <a:custGeom>
                <a:avLst/>
                <a:gdLst>
                  <a:gd name="T0" fmla="*/ 10 w 188"/>
                  <a:gd name="T1" fmla="*/ 21 h 81"/>
                  <a:gd name="T2" fmla="*/ 81 w 188"/>
                  <a:gd name="T3" fmla="*/ 21 h 81"/>
                  <a:gd name="T4" fmla="*/ 81 w 188"/>
                  <a:gd name="T5" fmla="*/ 0 h 81"/>
                  <a:gd name="T6" fmla="*/ 188 w 188"/>
                  <a:gd name="T7" fmla="*/ 39 h 81"/>
                  <a:gd name="T8" fmla="*/ 81 w 188"/>
                  <a:gd name="T9" fmla="*/ 81 h 81"/>
                  <a:gd name="T10" fmla="*/ 81 w 188"/>
                  <a:gd name="T11" fmla="*/ 60 h 81"/>
                  <a:gd name="T12" fmla="*/ 0 w 188"/>
                  <a:gd name="T13" fmla="*/ 60 h 81"/>
                  <a:gd name="T14" fmla="*/ 0 w 188"/>
                  <a:gd name="T15" fmla="*/ 21 h 81"/>
                  <a:gd name="T16" fmla="*/ 10 w 188"/>
                  <a:gd name="T17" fmla="*/ 2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8" h="81">
                    <a:moveTo>
                      <a:pt x="10" y="21"/>
                    </a:moveTo>
                    <a:lnTo>
                      <a:pt x="81" y="21"/>
                    </a:lnTo>
                    <a:lnTo>
                      <a:pt x="81" y="0"/>
                    </a:lnTo>
                    <a:lnTo>
                      <a:pt x="188" y="39"/>
                    </a:lnTo>
                    <a:lnTo>
                      <a:pt x="81" y="81"/>
                    </a:lnTo>
                    <a:lnTo>
                      <a:pt x="81" y="60"/>
                    </a:lnTo>
                    <a:lnTo>
                      <a:pt x="0" y="60"/>
                    </a:lnTo>
                    <a:lnTo>
                      <a:pt x="0" y="21"/>
                    </a:lnTo>
                    <a:lnTo>
                      <a:pt x="10" y="21"/>
                    </a:lnTo>
                  </a:path>
                </a:pathLst>
              </a:custGeom>
              <a:grpFill/>
              <a:ln w="0">
                <a:solidFill>
                  <a:srgbClr val="000000"/>
                </a:solidFill>
                <a:prstDash val="solid"/>
                <a:round/>
                <a:headEnd/>
                <a:tailEnd/>
              </a:ln>
              <a:extLst/>
            </p:spPr>
            <p:txBody>
              <a:bodyPr/>
              <a:lstStyle/>
              <a:p>
                <a:pPr>
                  <a:defRPr/>
                </a:pPr>
                <a:endParaRPr lang="en-US"/>
              </a:p>
            </p:txBody>
          </p:sp>
          <p:sp>
            <p:nvSpPr>
              <p:cNvPr id="17818" name="Rectangle 410"/>
              <p:cNvSpPr>
                <a:spLocks noChangeArrowheads="1"/>
              </p:cNvSpPr>
              <p:nvPr/>
            </p:nvSpPr>
            <p:spPr bwMode="auto">
              <a:xfrm>
                <a:off x="3691" y="4073"/>
                <a:ext cx="412" cy="10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th-TH" altLang="en-US" sz="1100" b="1">
                    <a:latin typeface="Century Schoolbook" panose="02040604050505020304" pitchFamily="18" charset="0"/>
                  </a:rPr>
                  <a:t>Pulp Out</a:t>
                </a:r>
                <a:endParaRPr lang="th-TH" altLang="en-US" sz="1600">
                  <a:latin typeface="Century Schoolbook" panose="02040604050505020304" pitchFamily="18" charset="0"/>
                </a:endParaRPr>
              </a:p>
            </p:txBody>
          </p:sp>
          <p:sp>
            <p:nvSpPr>
              <p:cNvPr id="17819" name="Rectangle 411"/>
              <p:cNvSpPr>
                <a:spLocks noChangeArrowheads="1"/>
              </p:cNvSpPr>
              <p:nvPr/>
            </p:nvSpPr>
            <p:spPr bwMode="auto">
              <a:xfrm>
                <a:off x="1431" y="3960"/>
                <a:ext cx="543" cy="10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th-TH" altLang="en-US" sz="1100" b="1">
                    <a:latin typeface="Century Schoolbook" panose="02040604050505020304" pitchFamily="18" charset="0"/>
                  </a:rPr>
                  <a:t>Wash Water</a:t>
                </a:r>
                <a:endParaRPr lang="th-TH" altLang="en-US" sz="1600">
                  <a:latin typeface="Century Schoolbook" panose="02040604050505020304" pitchFamily="18" charset="0"/>
                </a:endParaRPr>
              </a:p>
            </p:txBody>
          </p:sp>
          <p:sp>
            <p:nvSpPr>
              <p:cNvPr id="17820" name="Rectangle 412"/>
              <p:cNvSpPr>
                <a:spLocks noChangeArrowheads="1"/>
              </p:cNvSpPr>
              <p:nvPr/>
            </p:nvSpPr>
            <p:spPr bwMode="auto">
              <a:xfrm>
                <a:off x="2541" y="3807"/>
                <a:ext cx="13" cy="43"/>
              </a:xfrm>
              <a:prstGeom prst="rect">
                <a:avLst/>
              </a:prstGeom>
              <a:grpFill/>
              <a:ln w="0">
                <a:solidFill>
                  <a:srgbClr val="000000"/>
                </a:solidFill>
                <a:miter lim="800000"/>
                <a:headEnd/>
                <a:tailEnd/>
              </a:ln>
            </p:spPr>
            <p:txBody>
              <a:bodyPr/>
              <a:lstStyle/>
              <a:p>
                <a:pPr>
                  <a:defRPr/>
                </a:pPr>
                <a:endParaRPr lang="en-US"/>
              </a:p>
            </p:txBody>
          </p:sp>
          <p:sp>
            <p:nvSpPr>
              <p:cNvPr id="17821" name="Rectangle 413"/>
              <p:cNvSpPr>
                <a:spLocks noChangeArrowheads="1"/>
              </p:cNvSpPr>
              <p:nvPr/>
            </p:nvSpPr>
            <p:spPr bwMode="auto">
              <a:xfrm>
                <a:off x="2816" y="3802"/>
                <a:ext cx="13" cy="43"/>
              </a:xfrm>
              <a:prstGeom prst="rect">
                <a:avLst/>
              </a:prstGeom>
              <a:grpFill/>
              <a:ln w="0">
                <a:solidFill>
                  <a:srgbClr val="000000"/>
                </a:solidFill>
                <a:miter lim="800000"/>
                <a:headEnd/>
                <a:tailEnd/>
              </a:ln>
            </p:spPr>
            <p:txBody>
              <a:bodyPr/>
              <a:lstStyle/>
              <a:p>
                <a:pPr>
                  <a:defRPr/>
                </a:pPr>
                <a:endParaRPr lang="en-US"/>
              </a:p>
            </p:txBody>
          </p:sp>
          <p:sp>
            <p:nvSpPr>
              <p:cNvPr id="17822" name="Oval 414"/>
              <p:cNvSpPr>
                <a:spLocks noChangeArrowheads="1"/>
              </p:cNvSpPr>
              <p:nvPr/>
            </p:nvSpPr>
            <p:spPr bwMode="auto">
              <a:xfrm>
                <a:off x="2405" y="3682"/>
                <a:ext cx="59" cy="62"/>
              </a:xfrm>
              <a:prstGeom prst="ellipse">
                <a:avLst/>
              </a:prstGeom>
              <a:grpFill/>
              <a:ln w="0">
                <a:solidFill>
                  <a:srgbClr val="000000"/>
                </a:solidFill>
                <a:round/>
                <a:headEnd/>
                <a:tailEnd/>
              </a:ln>
            </p:spPr>
            <p:txBody>
              <a:bodyPr/>
              <a:lstStyle/>
              <a:p>
                <a:pPr>
                  <a:defRPr/>
                </a:pPr>
                <a:endParaRPr lang="en-US"/>
              </a:p>
            </p:txBody>
          </p:sp>
          <p:sp>
            <p:nvSpPr>
              <p:cNvPr id="17823" name="Oval 415"/>
              <p:cNvSpPr>
                <a:spLocks noChangeArrowheads="1"/>
              </p:cNvSpPr>
              <p:nvPr/>
            </p:nvSpPr>
            <p:spPr bwMode="auto">
              <a:xfrm>
                <a:off x="2433" y="3744"/>
                <a:ext cx="3" cy="1"/>
              </a:xfrm>
              <a:prstGeom prst="ellipse">
                <a:avLst/>
              </a:prstGeom>
              <a:grpFill/>
              <a:ln w="0">
                <a:solidFill>
                  <a:srgbClr val="000000"/>
                </a:solidFill>
                <a:round/>
                <a:headEnd/>
                <a:tailEnd/>
              </a:ln>
            </p:spPr>
            <p:txBody>
              <a:bodyPr/>
              <a:lstStyle/>
              <a:p>
                <a:pPr>
                  <a:defRPr/>
                </a:pPr>
                <a:endParaRPr lang="en-US"/>
              </a:p>
            </p:txBody>
          </p:sp>
          <p:sp>
            <p:nvSpPr>
              <p:cNvPr id="17824" name="Rectangle 416"/>
              <p:cNvSpPr>
                <a:spLocks noChangeArrowheads="1"/>
              </p:cNvSpPr>
              <p:nvPr/>
            </p:nvSpPr>
            <p:spPr bwMode="auto">
              <a:xfrm>
                <a:off x="2462" y="3710"/>
                <a:ext cx="26" cy="6"/>
              </a:xfrm>
              <a:prstGeom prst="rect">
                <a:avLst/>
              </a:prstGeom>
              <a:grpFill/>
              <a:ln w="0">
                <a:solidFill>
                  <a:srgbClr val="000000"/>
                </a:solidFill>
                <a:miter lim="800000"/>
                <a:headEnd/>
                <a:tailEnd/>
              </a:ln>
            </p:spPr>
            <p:txBody>
              <a:bodyPr/>
              <a:lstStyle/>
              <a:p>
                <a:pPr>
                  <a:defRPr/>
                </a:pPr>
                <a:endParaRPr lang="en-US"/>
              </a:p>
            </p:txBody>
          </p:sp>
          <p:sp>
            <p:nvSpPr>
              <p:cNvPr id="17825" name="Line 417"/>
              <p:cNvSpPr>
                <a:spLocks noChangeShapeType="1"/>
              </p:cNvSpPr>
              <p:nvPr/>
            </p:nvSpPr>
            <p:spPr bwMode="auto">
              <a:xfrm>
                <a:off x="2438" y="3747"/>
                <a:ext cx="1" cy="401"/>
              </a:xfrm>
              <a:prstGeom prst="line">
                <a:avLst/>
              </a:prstGeom>
              <a:grpFill/>
              <a:ln w="0">
                <a:solidFill>
                  <a:srgbClr val="000000"/>
                </a:solidFill>
                <a:round/>
                <a:headEnd/>
                <a:tailEnd/>
              </a:ln>
              <a:extLst/>
            </p:spPr>
            <p:txBody>
              <a:bodyPr/>
              <a:lstStyle/>
              <a:p>
                <a:pPr>
                  <a:defRPr/>
                </a:pPr>
                <a:endParaRPr lang="en-US"/>
              </a:p>
            </p:txBody>
          </p:sp>
          <p:sp>
            <p:nvSpPr>
              <p:cNvPr id="17826" name="Line 418"/>
              <p:cNvSpPr>
                <a:spLocks noChangeShapeType="1"/>
              </p:cNvSpPr>
              <p:nvPr/>
            </p:nvSpPr>
            <p:spPr bwMode="auto">
              <a:xfrm>
                <a:off x="2198" y="4153"/>
                <a:ext cx="621" cy="1"/>
              </a:xfrm>
              <a:prstGeom prst="line">
                <a:avLst/>
              </a:prstGeom>
              <a:grpFill/>
              <a:ln w="0">
                <a:solidFill>
                  <a:srgbClr val="000000"/>
                </a:solidFill>
                <a:round/>
                <a:headEnd/>
                <a:tailEnd/>
              </a:ln>
              <a:extLst/>
            </p:spPr>
            <p:txBody>
              <a:bodyPr/>
              <a:lstStyle/>
              <a:p>
                <a:pPr>
                  <a:defRPr/>
                </a:pPr>
                <a:endParaRPr lang="en-US"/>
              </a:p>
            </p:txBody>
          </p:sp>
          <p:sp>
            <p:nvSpPr>
              <p:cNvPr id="17827" name="Line 419"/>
              <p:cNvSpPr>
                <a:spLocks noChangeShapeType="1"/>
              </p:cNvSpPr>
              <p:nvPr/>
            </p:nvSpPr>
            <p:spPr bwMode="auto">
              <a:xfrm>
                <a:off x="2548" y="3850"/>
                <a:ext cx="1" cy="303"/>
              </a:xfrm>
              <a:prstGeom prst="line">
                <a:avLst/>
              </a:prstGeom>
              <a:grpFill/>
              <a:ln w="0">
                <a:solidFill>
                  <a:srgbClr val="000000"/>
                </a:solidFill>
                <a:round/>
                <a:headEnd/>
                <a:tailEnd/>
              </a:ln>
              <a:extLst/>
            </p:spPr>
            <p:txBody>
              <a:bodyPr/>
              <a:lstStyle/>
              <a:p>
                <a:pPr>
                  <a:defRPr/>
                </a:pPr>
                <a:endParaRPr lang="en-US"/>
              </a:p>
            </p:txBody>
          </p:sp>
          <p:sp>
            <p:nvSpPr>
              <p:cNvPr id="17828" name="Line 420"/>
              <p:cNvSpPr>
                <a:spLocks noChangeShapeType="1"/>
              </p:cNvSpPr>
              <p:nvPr/>
            </p:nvSpPr>
            <p:spPr bwMode="auto">
              <a:xfrm>
                <a:off x="2822" y="3847"/>
                <a:ext cx="1" cy="8"/>
              </a:xfrm>
              <a:prstGeom prst="line">
                <a:avLst/>
              </a:prstGeom>
              <a:grpFill/>
              <a:ln w="0">
                <a:solidFill>
                  <a:srgbClr val="000000"/>
                </a:solidFill>
                <a:round/>
                <a:headEnd/>
                <a:tailEnd/>
              </a:ln>
              <a:extLst/>
            </p:spPr>
            <p:txBody>
              <a:bodyPr/>
              <a:lstStyle/>
              <a:p>
                <a:pPr>
                  <a:defRPr/>
                </a:pPr>
                <a:endParaRPr lang="en-US"/>
              </a:p>
            </p:txBody>
          </p:sp>
          <p:sp>
            <p:nvSpPr>
              <p:cNvPr id="17829" name="Line 421"/>
              <p:cNvSpPr>
                <a:spLocks noChangeShapeType="1"/>
              </p:cNvSpPr>
              <p:nvPr/>
            </p:nvSpPr>
            <p:spPr bwMode="auto">
              <a:xfrm>
                <a:off x="2822" y="3888"/>
                <a:ext cx="1" cy="265"/>
              </a:xfrm>
              <a:prstGeom prst="line">
                <a:avLst/>
              </a:prstGeom>
              <a:grpFill/>
              <a:ln w="0">
                <a:solidFill>
                  <a:srgbClr val="000000"/>
                </a:solidFill>
                <a:round/>
                <a:headEnd/>
                <a:tailEnd/>
              </a:ln>
              <a:extLst/>
            </p:spPr>
            <p:txBody>
              <a:bodyPr/>
              <a:lstStyle/>
              <a:p>
                <a:pPr>
                  <a:defRPr/>
                </a:pPr>
                <a:endParaRPr lang="en-US"/>
              </a:p>
            </p:txBody>
          </p:sp>
          <p:sp>
            <p:nvSpPr>
              <p:cNvPr id="17830" name="Freeform 422"/>
              <p:cNvSpPr>
                <a:spLocks/>
              </p:cNvSpPr>
              <p:nvPr/>
            </p:nvSpPr>
            <p:spPr bwMode="auto">
              <a:xfrm>
                <a:off x="1979" y="4111"/>
                <a:ext cx="187" cy="79"/>
              </a:xfrm>
              <a:custGeom>
                <a:avLst/>
                <a:gdLst>
                  <a:gd name="T0" fmla="*/ 95 w 187"/>
                  <a:gd name="T1" fmla="*/ 8 h 79"/>
                  <a:gd name="T2" fmla="*/ 98 w 187"/>
                  <a:gd name="T3" fmla="*/ 11 h 79"/>
                  <a:gd name="T4" fmla="*/ 108 w 187"/>
                  <a:gd name="T5" fmla="*/ 12 h 79"/>
                  <a:gd name="T6" fmla="*/ 111 w 187"/>
                  <a:gd name="T7" fmla="*/ 16 h 79"/>
                  <a:gd name="T8" fmla="*/ 119 w 187"/>
                  <a:gd name="T9" fmla="*/ 17 h 79"/>
                  <a:gd name="T10" fmla="*/ 124 w 187"/>
                  <a:gd name="T11" fmla="*/ 21 h 79"/>
                  <a:gd name="T12" fmla="*/ 132 w 187"/>
                  <a:gd name="T13" fmla="*/ 22 h 79"/>
                  <a:gd name="T14" fmla="*/ 137 w 187"/>
                  <a:gd name="T15" fmla="*/ 25 h 79"/>
                  <a:gd name="T16" fmla="*/ 145 w 187"/>
                  <a:gd name="T17" fmla="*/ 27 h 79"/>
                  <a:gd name="T18" fmla="*/ 150 w 187"/>
                  <a:gd name="T19" fmla="*/ 30 h 79"/>
                  <a:gd name="T20" fmla="*/ 158 w 187"/>
                  <a:gd name="T21" fmla="*/ 32 h 79"/>
                  <a:gd name="T22" fmla="*/ 163 w 187"/>
                  <a:gd name="T23" fmla="*/ 35 h 79"/>
                  <a:gd name="T24" fmla="*/ 171 w 187"/>
                  <a:gd name="T25" fmla="*/ 37 h 79"/>
                  <a:gd name="T26" fmla="*/ 168 w 187"/>
                  <a:gd name="T27" fmla="*/ 40 h 79"/>
                  <a:gd name="T28" fmla="*/ 160 w 187"/>
                  <a:gd name="T29" fmla="*/ 42 h 79"/>
                  <a:gd name="T30" fmla="*/ 155 w 187"/>
                  <a:gd name="T31" fmla="*/ 45 h 79"/>
                  <a:gd name="T32" fmla="*/ 148 w 187"/>
                  <a:gd name="T33" fmla="*/ 46 h 79"/>
                  <a:gd name="T34" fmla="*/ 143 w 187"/>
                  <a:gd name="T35" fmla="*/ 50 h 79"/>
                  <a:gd name="T36" fmla="*/ 137 w 187"/>
                  <a:gd name="T37" fmla="*/ 51 h 79"/>
                  <a:gd name="T38" fmla="*/ 132 w 187"/>
                  <a:gd name="T39" fmla="*/ 54 h 79"/>
                  <a:gd name="T40" fmla="*/ 124 w 187"/>
                  <a:gd name="T41" fmla="*/ 56 h 79"/>
                  <a:gd name="T42" fmla="*/ 121 w 187"/>
                  <a:gd name="T43" fmla="*/ 59 h 79"/>
                  <a:gd name="T44" fmla="*/ 113 w 187"/>
                  <a:gd name="T45" fmla="*/ 61 h 79"/>
                  <a:gd name="T46" fmla="*/ 110 w 187"/>
                  <a:gd name="T47" fmla="*/ 64 h 79"/>
                  <a:gd name="T48" fmla="*/ 101 w 187"/>
                  <a:gd name="T49" fmla="*/ 66 h 79"/>
                  <a:gd name="T50" fmla="*/ 98 w 187"/>
                  <a:gd name="T51" fmla="*/ 69 h 79"/>
                  <a:gd name="T52" fmla="*/ 90 w 187"/>
                  <a:gd name="T53" fmla="*/ 71 h 79"/>
                  <a:gd name="T54" fmla="*/ 9 w 187"/>
                  <a:gd name="T55" fmla="*/ 24 h 79"/>
                  <a:gd name="T56" fmla="*/ 80 w 187"/>
                  <a:gd name="T57" fmla="*/ 8 h 79"/>
                  <a:gd name="T58" fmla="*/ 0 w 187"/>
                  <a:gd name="T59" fmla="*/ 59 h 79"/>
                  <a:gd name="T60" fmla="*/ 85 w 187"/>
                  <a:gd name="T61" fmla="*/ 79 h 79"/>
                  <a:gd name="T62" fmla="*/ 89 w 187"/>
                  <a:gd name="T63" fmla="*/ 75 h 79"/>
                  <a:gd name="T64" fmla="*/ 97 w 187"/>
                  <a:gd name="T65" fmla="*/ 74 h 79"/>
                  <a:gd name="T66" fmla="*/ 101 w 187"/>
                  <a:gd name="T67" fmla="*/ 71 h 79"/>
                  <a:gd name="T68" fmla="*/ 110 w 187"/>
                  <a:gd name="T69" fmla="*/ 69 h 79"/>
                  <a:gd name="T70" fmla="*/ 113 w 187"/>
                  <a:gd name="T71" fmla="*/ 66 h 79"/>
                  <a:gd name="T72" fmla="*/ 121 w 187"/>
                  <a:gd name="T73" fmla="*/ 64 h 79"/>
                  <a:gd name="T74" fmla="*/ 126 w 187"/>
                  <a:gd name="T75" fmla="*/ 61 h 79"/>
                  <a:gd name="T76" fmla="*/ 134 w 187"/>
                  <a:gd name="T77" fmla="*/ 59 h 79"/>
                  <a:gd name="T78" fmla="*/ 139 w 187"/>
                  <a:gd name="T79" fmla="*/ 56 h 79"/>
                  <a:gd name="T80" fmla="*/ 147 w 187"/>
                  <a:gd name="T81" fmla="*/ 54 h 79"/>
                  <a:gd name="T82" fmla="*/ 150 w 187"/>
                  <a:gd name="T83" fmla="*/ 51 h 79"/>
                  <a:gd name="T84" fmla="*/ 158 w 187"/>
                  <a:gd name="T85" fmla="*/ 50 h 79"/>
                  <a:gd name="T86" fmla="*/ 163 w 187"/>
                  <a:gd name="T87" fmla="*/ 46 h 79"/>
                  <a:gd name="T88" fmla="*/ 171 w 187"/>
                  <a:gd name="T89" fmla="*/ 45 h 79"/>
                  <a:gd name="T90" fmla="*/ 174 w 187"/>
                  <a:gd name="T91" fmla="*/ 42 h 79"/>
                  <a:gd name="T92" fmla="*/ 182 w 187"/>
                  <a:gd name="T93" fmla="*/ 40 h 79"/>
                  <a:gd name="T94" fmla="*/ 187 w 187"/>
                  <a:gd name="T95" fmla="*/ 37 h 79"/>
                  <a:gd name="T96" fmla="*/ 177 w 187"/>
                  <a:gd name="T97" fmla="*/ 35 h 79"/>
                  <a:gd name="T98" fmla="*/ 174 w 187"/>
                  <a:gd name="T99" fmla="*/ 32 h 79"/>
                  <a:gd name="T100" fmla="*/ 165 w 187"/>
                  <a:gd name="T101" fmla="*/ 30 h 79"/>
                  <a:gd name="T102" fmla="*/ 160 w 187"/>
                  <a:gd name="T103" fmla="*/ 27 h 79"/>
                  <a:gd name="T104" fmla="*/ 152 w 187"/>
                  <a:gd name="T105" fmla="*/ 25 h 79"/>
                  <a:gd name="T106" fmla="*/ 147 w 187"/>
                  <a:gd name="T107" fmla="*/ 22 h 79"/>
                  <a:gd name="T108" fmla="*/ 139 w 187"/>
                  <a:gd name="T109" fmla="*/ 21 h 79"/>
                  <a:gd name="T110" fmla="*/ 134 w 187"/>
                  <a:gd name="T111" fmla="*/ 17 h 79"/>
                  <a:gd name="T112" fmla="*/ 124 w 187"/>
                  <a:gd name="T113" fmla="*/ 16 h 79"/>
                  <a:gd name="T114" fmla="*/ 121 w 187"/>
                  <a:gd name="T115" fmla="*/ 12 h 79"/>
                  <a:gd name="T116" fmla="*/ 111 w 187"/>
                  <a:gd name="T117" fmla="*/ 11 h 79"/>
                  <a:gd name="T118" fmla="*/ 106 w 187"/>
                  <a:gd name="T119" fmla="*/ 8 h 79"/>
                  <a:gd name="T120" fmla="*/ 98 w 187"/>
                  <a:gd name="T121" fmla="*/ 6 h 79"/>
                  <a:gd name="T122" fmla="*/ 93 w 187"/>
                  <a:gd name="T123" fmla="*/ 3 h 79"/>
                  <a:gd name="T124" fmla="*/ 85 w 187"/>
                  <a:gd name="T125" fmla="*/ 1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87" h="79">
                    <a:moveTo>
                      <a:pt x="80" y="0"/>
                    </a:moveTo>
                    <a:lnTo>
                      <a:pt x="80" y="8"/>
                    </a:lnTo>
                    <a:lnTo>
                      <a:pt x="95" y="8"/>
                    </a:lnTo>
                    <a:lnTo>
                      <a:pt x="95" y="9"/>
                    </a:lnTo>
                    <a:lnTo>
                      <a:pt x="98" y="9"/>
                    </a:lnTo>
                    <a:lnTo>
                      <a:pt x="98" y="11"/>
                    </a:lnTo>
                    <a:lnTo>
                      <a:pt x="103" y="11"/>
                    </a:lnTo>
                    <a:lnTo>
                      <a:pt x="103" y="12"/>
                    </a:lnTo>
                    <a:lnTo>
                      <a:pt x="108" y="12"/>
                    </a:lnTo>
                    <a:lnTo>
                      <a:pt x="108" y="14"/>
                    </a:lnTo>
                    <a:lnTo>
                      <a:pt x="111" y="14"/>
                    </a:lnTo>
                    <a:lnTo>
                      <a:pt x="111" y="16"/>
                    </a:lnTo>
                    <a:lnTo>
                      <a:pt x="116" y="16"/>
                    </a:lnTo>
                    <a:lnTo>
                      <a:pt x="116" y="17"/>
                    </a:lnTo>
                    <a:lnTo>
                      <a:pt x="119" y="17"/>
                    </a:lnTo>
                    <a:lnTo>
                      <a:pt x="119" y="19"/>
                    </a:lnTo>
                    <a:lnTo>
                      <a:pt x="124" y="19"/>
                    </a:lnTo>
                    <a:lnTo>
                      <a:pt x="124" y="21"/>
                    </a:lnTo>
                    <a:lnTo>
                      <a:pt x="129" y="21"/>
                    </a:lnTo>
                    <a:lnTo>
                      <a:pt x="129" y="22"/>
                    </a:lnTo>
                    <a:lnTo>
                      <a:pt x="132" y="22"/>
                    </a:lnTo>
                    <a:lnTo>
                      <a:pt x="132" y="24"/>
                    </a:lnTo>
                    <a:lnTo>
                      <a:pt x="137" y="24"/>
                    </a:lnTo>
                    <a:lnTo>
                      <a:pt x="137" y="25"/>
                    </a:lnTo>
                    <a:lnTo>
                      <a:pt x="142" y="25"/>
                    </a:lnTo>
                    <a:lnTo>
                      <a:pt x="142" y="27"/>
                    </a:lnTo>
                    <a:lnTo>
                      <a:pt x="145" y="27"/>
                    </a:lnTo>
                    <a:lnTo>
                      <a:pt x="145" y="29"/>
                    </a:lnTo>
                    <a:lnTo>
                      <a:pt x="150" y="29"/>
                    </a:lnTo>
                    <a:lnTo>
                      <a:pt x="150" y="30"/>
                    </a:lnTo>
                    <a:lnTo>
                      <a:pt x="153" y="30"/>
                    </a:lnTo>
                    <a:lnTo>
                      <a:pt x="153" y="32"/>
                    </a:lnTo>
                    <a:lnTo>
                      <a:pt x="158" y="32"/>
                    </a:lnTo>
                    <a:lnTo>
                      <a:pt x="158" y="33"/>
                    </a:lnTo>
                    <a:lnTo>
                      <a:pt x="163" y="33"/>
                    </a:lnTo>
                    <a:lnTo>
                      <a:pt x="163" y="35"/>
                    </a:lnTo>
                    <a:lnTo>
                      <a:pt x="166" y="35"/>
                    </a:lnTo>
                    <a:lnTo>
                      <a:pt x="166" y="37"/>
                    </a:lnTo>
                    <a:lnTo>
                      <a:pt x="171" y="37"/>
                    </a:lnTo>
                    <a:lnTo>
                      <a:pt x="171" y="38"/>
                    </a:lnTo>
                    <a:lnTo>
                      <a:pt x="168" y="38"/>
                    </a:lnTo>
                    <a:lnTo>
                      <a:pt x="168" y="40"/>
                    </a:lnTo>
                    <a:lnTo>
                      <a:pt x="163" y="40"/>
                    </a:lnTo>
                    <a:lnTo>
                      <a:pt x="163" y="42"/>
                    </a:lnTo>
                    <a:lnTo>
                      <a:pt x="160" y="42"/>
                    </a:lnTo>
                    <a:lnTo>
                      <a:pt x="160" y="43"/>
                    </a:lnTo>
                    <a:lnTo>
                      <a:pt x="155" y="43"/>
                    </a:lnTo>
                    <a:lnTo>
                      <a:pt x="155" y="45"/>
                    </a:lnTo>
                    <a:lnTo>
                      <a:pt x="152" y="45"/>
                    </a:lnTo>
                    <a:lnTo>
                      <a:pt x="152" y="46"/>
                    </a:lnTo>
                    <a:lnTo>
                      <a:pt x="148" y="46"/>
                    </a:lnTo>
                    <a:lnTo>
                      <a:pt x="148" y="48"/>
                    </a:lnTo>
                    <a:lnTo>
                      <a:pt x="143" y="48"/>
                    </a:lnTo>
                    <a:lnTo>
                      <a:pt x="143" y="50"/>
                    </a:lnTo>
                    <a:lnTo>
                      <a:pt x="140" y="50"/>
                    </a:lnTo>
                    <a:lnTo>
                      <a:pt x="140" y="51"/>
                    </a:lnTo>
                    <a:lnTo>
                      <a:pt x="137" y="51"/>
                    </a:lnTo>
                    <a:lnTo>
                      <a:pt x="137" y="53"/>
                    </a:lnTo>
                    <a:lnTo>
                      <a:pt x="132" y="53"/>
                    </a:lnTo>
                    <a:lnTo>
                      <a:pt x="132" y="54"/>
                    </a:lnTo>
                    <a:lnTo>
                      <a:pt x="129" y="54"/>
                    </a:lnTo>
                    <a:lnTo>
                      <a:pt x="129" y="56"/>
                    </a:lnTo>
                    <a:lnTo>
                      <a:pt x="124" y="56"/>
                    </a:lnTo>
                    <a:lnTo>
                      <a:pt x="124" y="58"/>
                    </a:lnTo>
                    <a:lnTo>
                      <a:pt x="121" y="58"/>
                    </a:lnTo>
                    <a:lnTo>
                      <a:pt x="121" y="59"/>
                    </a:lnTo>
                    <a:lnTo>
                      <a:pt x="118" y="59"/>
                    </a:lnTo>
                    <a:lnTo>
                      <a:pt x="118" y="61"/>
                    </a:lnTo>
                    <a:lnTo>
                      <a:pt x="113" y="61"/>
                    </a:lnTo>
                    <a:lnTo>
                      <a:pt x="113" y="63"/>
                    </a:lnTo>
                    <a:lnTo>
                      <a:pt x="110" y="63"/>
                    </a:lnTo>
                    <a:lnTo>
                      <a:pt x="110" y="64"/>
                    </a:lnTo>
                    <a:lnTo>
                      <a:pt x="106" y="64"/>
                    </a:lnTo>
                    <a:lnTo>
                      <a:pt x="106" y="66"/>
                    </a:lnTo>
                    <a:lnTo>
                      <a:pt x="101" y="66"/>
                    </a:lnTo>
                    <a:lnTo>
                      <a:pt x="101" y="67"/>
                    </a:lnTo>
                    <a:lnTo>
                      <a:pt x="98" y="67"/>
                    </a:lnTo>
                    <a:lnTo>
                      <a:pt x="98" y="69"/>
                    </a:lnTo>
                    <a:lnTo>
                      <a:pt x="93" y="69"/>
                    </a:lnTo>
                    <a:lnTo>
                      <a:pt x="93" y="71"/>
                    </a:lnTo>
                    <a:lnTo>
                      <a:pt x="90" y="71"/>
                    </a:lnTo>
                    <a:lnTo>
                      <a:pt x="90" y="54"/>
                    </a:lnTo>
                    <a:lnTo>
                      <a:pt x="9" y="54"/>
                    </a:lnTo>
                    <a:lnTo>
                      <a:pt x="9" y="24"/>
                    </a:lnTo>
                    <a:lnTo>
                      <a:pt x="90" y="24"/>
                    </a:lnTo>
                    <a:lnTo>
                      <a:pt x="90" y="8"/>
                    </a:lnTo>
                    <a:lnTo>
                      <a:pt x="80" y="8"/>
                    </a:lnTo>
                    <a:lnTo>
                      <a:pt x="80" y="19"/>
                    </a:lnTo>
                    <a:lnTo>
                      <a:pt x="0" y="19"/>
                    </a:lnTo>
                    <a:lnTo>
                      <a:pt x="0" y="59"/>
                    </a:lnTo>
                    <a:lnTo>
                      <a:pt x="80" y="59"/>
                    </a:lnTo>
                    <a:lnTo>
                      <a:pt x="80" y="79"/>
                    </a:lnTo>
                    <a:lnTo>
                      <a:pt x="85" y="79"/>
                    </a:lnTo>
                    <a:lnTo>
                      <a:pt x="85" y="77"/>
                    </a:lnTo>
                    <a:lnTo>
                      <a:pt x="89" y="77"/>
                    </a:lnTo>
                    <a:lnTo>
                      <a:pt x="89" y="75"/>
                    </a:lnTo>
                    <a:lnTo>
                      <a:pt x="93" y="75"/>
                    </a:lnTo>
                    <a:lnTo>
                      <a:pt x="93" y="74"/>
                    </a:lnTo>
                    <a:lnTo>
                      <a:pt x="97" y="74"/>
                    </a:lnTo>
                    <a:lnTo>
                      <a:pt x="97" y="72"/>
                    </a:lnTo>
                    <a:lnTo>
                      <a:pt x="101" y="72"/>
                    </a:lnTo>
                    <a:lnTo>
                      <a:pt x="101" y="71"/>
                    </a:lnTo>
                    <a:lnTo>
                      <a:pt x="105" y="71"/>
                    </a:lnTo>
                    <a:lnTo>
                      <a:pt x="105" y="69"/>
                    </a:lnTo>
                    <a:lnTo>
                      <a:pt x="110" y="69"/>
                    </a:lnTo>
                    <a:lnTo>
                      <a:pt x="110" y="67"/>
                    </a:lnTo>
                    <a:lnTo>
                      <a:pt x="113" y="67"/>
                    </a:lnTo>
                    <a:lnTo>
                      <a:pt x="113" y="66"/>
                    </a:lnTo>
                    <a:lnTo>
                      <a:pt x="118" y="66"/>
                    </a:lnTo>
                    <a:lnTo>
                      <a:pt x="118" y="64"/>
                    </a:lnTo>
                    <a:lnTo>
                      <a:pt x="121" y="64"/>
                    </a:lnTo>
                    <a:lnTo>
                      <a:pt x="121" y="63"/>
                    </a:lnTo>
                    <a:lnTo>
                      <a:pt x="126" y="63"/>
                    </a:lnTo>
                    <a:lnTo>
                      <a:pt x="126" y="61"/>
                    </a:lnTo>
                    <a:lnTo>
                      <a:pt x="129" y="61"/>
                    </a:lnTo>
                    <a:lnTo>
                      <a:pt x="129" y="59"/>
                    </a:lnTo>
                    <a:lnTo>
                      <a:pt x="134" y="59"/>
                    </a:lnTo>
                    <a:lnTo>
                      <a:pt x="134" y="58"/>
                    </a:lnTo>
                    <a:lnTo>
                      <a:pt x="139" y="58"/>
                    </a:lnTo>
                    <a:lnTo>
                      <a:pt x="139" y="56"/>
                    </a:lnTo>
                    <a:lnTo>
                      <a:pt x="142" y="56"/>
                    </a:lnTo>
                    <a:lnTo>
                      <a:pt x="142" y="54"/>
                    </a:lnTo>
                    <a:lnTo>
                      <a:pt x="147" y="54"/>
                    </a:lnTo>
                    <a:lnTo>
                      <a:pt x="147" y="53"/>
                    </a:lnTo>
                    <a:lnTo>
                      <a:pt x="150" y="53"/>
                    </a:lnTo>
                    <a:lnTo>
                      <a:pt x="150" y="51"/>
                    </a:lnTo>
                    <a:lnTo>
                      <a:pt x="155" y="51"/>
                    </a:lnTo>
                    <a:lnTo>
                      <a:pt x="155" y="50"/>
                    </a:lnTo>
                    <a:lnTo>
                      <a:pt x="158" y="50"/>
                    </a:lnTo>
                    <a:lnTo>
                      <a:pt x="158" y="48"/>
                    </a:lnTo>
                    <a:lnTo>
                      <a:pt x="163" y="48"/>
                    </a:lnTo>
                    <a:lnTo>
                      <a:pt x="163" y="46"/>
                    </a:lnTo>
                    <a:lnTo>
                      <a:pt x="166" y="46"/>
                    </a:lnTo>
                    <a:lnTo>
                      <a:pt x="166" y="45"/>
                    </a:lnTo>
                    <a:lnTo>
                      <a:pt x="171" y="45"/>
                    </a:lnTo>
                    <a:lnTo>
                      <a:pt x="171" y="43"/>
                    </a:lnTo>
                    <a:lnTo>
                      <a:pt x="174" y="43"/>
                    </a:lnTo>
                    <a:lnTo>
                      <a:pt x="174" y="42"/>
                    </a:lnTo>
                    <a:lnTo>
                      <a:pt x="179" y="42"/>
                    </a:lnTo>
                    <a:lnTo>
                      <a:pt x="179" y="40"/>
                    </a:lnTo>
                    <a:lnTo>
                      <a:pt x="182" y="40"/>
                    </a:lnTo>
                    <a:lnTo>
                      <a:pt x="182" y="38"/>
                    </a:lnTo>
                    <a:lnTo>
                      <a:pt x="187" y="38"/>
                    </a:lnTo>
                    <a:lnTo>
                      <a:pt x="187" y="37"/>
                    </a:lnTo>
                    <a:lnTo>
                      <a:pt x="182" y="37"/>
                    </a:lnTo>
                    <a:lnTo>
                      <a:pt x="182" y="35"/>
                    </a:lnTo>
                    <a:lnTo>
                      <a:pt x="177" y="35"/>
                    </a:lnTo>
                    <a:lnTo>
                      <a:pt x="177" y="33"/>
                    </a:lnTo>
                    <a:lnTo>
                      <a:pt x="174" y="33"/>
                    </a:lnTo>
                    <a:lnTo>
                      <a:pt x="174" y="32"/>
                    </a:lnTo>
                    <a:lnTo>
                      <a:pt x="169" y="32"/>
                    </a:lnTo>
                    <a:lnTo>
                      <a:pt x="169" y="30"/>
                    </a:lnTo>
                    <a:lnTo>
                      <a:pt x="165" y="30"/>
                    </a:lnTo>
                    <a:lnTo>
                      <a:pt x="165" y="29"/>
                    </a:lnTo>
                    <a:lnTo>
                      <a:pt x="160" y="29"/>
                    </a:lnTo>
                    <a:lnTo>
                      <a:pt x="160" y="27"/>
                    </a:lnTo>
                    <a:lnTo>
                      <a:pt x="156" y="27"/>
                    </a:lnTo>
                    <a:lnTo>
                      <a:pt x="156" y="25"/>
                    </a:lnTo>
                    <a:lnTo>
                      <a:pt x="152" y="25"/>
                    </a:lnTo>
                    <a:lnTo>
                      <a:pt x="152" y="24"/>
                    </a:lnTo>
                    <a:lnTo>
                      <a:pt x="147" y="24"/>
                    </a:lnTo>
                    <a:lnTo>
                      <a:pt x="147" y="22"/>
                    </a:lnTo>
                    <a:lnTo>
                      <a:pt x="142" y="22"/>
                    </a:lnTo>
                    <a:lnTo>
                      <a:pt x="142" y="21"/>
                    </a:lnTo>
                    <a:lnTo>
                      <a:pt x="139" y="21"/>
                    </a:lnTo>
                    <a:lnTo>
                      <a:pt x="139" y="19"/>
                    </a:lnTo>
                    <a:lnTo>
                      <a:pt x="134" y="19"/>
                    </a:lnTo>
                    <a:lnTo>
                      <a:pt x="134" y="17"/>
                    </a:lnTo>
                    <a:lnTo>
                      <a:pt x="129" y="17"/>
                    </a:lnTo>
                    <a:lnTo>
                      <a:pt x="129" y="16"/>
                    </a:lnTo>
                    <a:lnTo>
                      <a:pt x="124" y="16"/>
                    </a:lnTo>
                    <a:lnTo>
                      <a:pt x="124" y="14"/>
                    </a:lnTo>
                    <a:lnTo>
                      <a:pt x="121" y="14"/>
                    </a:lnTo>
                    <a:lnTo>
                      <a:pt x="121" y="12"/>
                    </a:lnTo>
                    <a:lnTo>
                      <a:pt x="116" y="12"/>
                    </a:lnTo>
                    <a:lnTo>
                      <a:pt x="116" y="11"/>
                    </a:lnTo>
                    <a:lnTo>
                      <a:pt x="111" y="11"/>
                    </a:lnTo>
                    <a:lnTo>
                      <a:pt x="111" y="9"/>
                    </a:lnTo>
                    <a:lnTo>
                      <a:pt x="106" y="9"/>
                    </a:lnTo>
                    <a:lnTo>
                      <a:pt x="106" y="8"/>
                    </a:lnTo>
                    <a:lnTo>
                      <a:pt x="103" y="8"/>
                    </a:lnTo>
                    <a:lnTo>
                      <a:pt x="103" y="6"/>
                    </a:lnTo>
                    <a:lnTo>
                      <a:pt x="98" y="6"/>
                    </a:lnTo>
                    <a:lnTo>
                      <a:pt x="98" y="4"/>
                    </a:lnTo>
                    <a:lnTo>
                      <a:pt x="93" y="4"/>
                    </a:lnTo>
                    <a:lnTo>
                      <a:pt x="93" y="3"/>
                    </a:lnTo>
                    <a:lnTo>
                      <a:pt x="89" y="3"/>
                    </a:lnTo>
                    <a:lnTo>
                      <a:pt x="89" y="1"/>
                    </a:lnTo>
                    <a:lnTo>
                      <a:pt x="85" y="1"/>
                    </a:lnTo>
                    <a:lnTo>
                      <a:pt x="85" y="0"/>
                    </a:lnTo>
                    <a:lnTo>
                      <a:pt x="8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7831" name="Freeform 423"/>
              <p:cNvSpPr>
                <a:spLocks/>
              </p:cNvSpPr>
              <p:nvPr/>
            </p:nvSpPr>
            <p:spPr bwMode="auto">
              <a:xfrm>
                <a:off x="1988" y="4117"/>
                <a:ext cx="162" cy="65"/>
              </a:xfrm>
              <a:custGeom>
                <a:avLst/>
                <a:gdLst>
                  <a:gd name="T0" fmla="*/ 0 w 162"/>
                  <a:gd name="T1" fmla="*/ 16 h 65"/>
                  <a:gd name="T2" fmla="*/ 81 w 162"/>
                  <a:gd name="T3" fmla="*/ 16 h 65"/>
                  <a:gd name="T4" fmla="*/ 81 w 162"/>
                  <a:gd name="T5" fmla="*/ 0 h 65"/>
                  <a:gd name="T6" fmla="*/ 162 w 162"/>
                  <a:gd name="T7" fmla="*/ 31 h 65"/>
                  <a:gd name="T8" fmla="*/ 81 w 162"/>
                  <a:gd name="T9" fmla="*/ 65 h 65"/>
                  <a:gd name="T10" fmla="*/ 81 w 162"/>
                  <a:gd name="T11" fmla="*/ 48 h 65"/>
                  <a:gd name="T12" fmla="*/ 0 w 162"/>
                  <a:gd name="T13" fmla="*/ 48 h 65"/>
                  <a:gd name="T14" fmla="*/ 0 w 162"/>
                  <a:gd name="T15" fmla="*/ 16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2" h="65">
                    <a:moveTo>
                      <a:pt x="0" y="16"/>
                    </a:moveTo>
                    <a:lnTo>
                      <a:pt x="81" y="16"/>
                    </a:lnTo>
                    <a:lnTo>
                      <a:pt x="81" y="0"/>
                    </a:lnTo>
                    <a:lnTo>
                      <a:pt x="162" y="31"/>
                    </a:lnTo>
                    <a:lnTo>
                      <a:pt x="81" y="65"/>
                    </a:lnTo>
                    <a:lnTo>
                      <a:pt x="81" y="48"/>
                    </a:lnTo>
                    <a:lnTo>
                      <a:pt x="0" y="48"/>
                    </a:lnTo>
                    <a:lnTo>
                      <a:pt x="0" y="16"/>
                    </a:lnTo>
                  </a:path>
                </a:pathLst>
              </a:custGeom>
              <a:grpFill/>
              <a:ln w="0">
                <a:solidFill>
                  <a:srgbClr val="000000"/>
                </a:solidFill>
                <a:prstDash val="solid"/>
                <a:round/>
                <a:headEnd/>
                <a:tailEnd/>
              </a:ln>
              <a:extLst/>
            </p:spPr>
            <p:txBody>
              <a:bodyPr/>
              <a:lstStyle/>
              <a:p>
                <a:pPr>
                  <a:defRPr/>
                </a:pPr>
                <a:endParaRPr lang="en-US"/>
              </a:p>
            </p:txBody>
          </p:sp>
          <p:sp>
            <p:nvSpPr>
              <p:cNvPr id="17832" name="Freeform 424"/>
              <p:cNvSpPr>
                <a:spLocks/>
              </p:cNvSpPr>
              <p:nvPr/>
            </p:nvSpPr>
            <p:spPr bwMode="auto">
              <a:xfrm>
                <a:off x="1979" y="4109"/>
                <a:ext cx="187" cy="81"/>
              </a:xfrm>
              <a:custGeom>
                <a:avLst/>
                <a:gdLst>
                  <a:gd name="T0" fmla="*/ 9 w 187"/>
                  <a:gd name="T1" fmla="*/ 21 h 81"/>
                  <a:gd name="T2" fmla="*/ 80 w 187"/>
                  <a:gd name="T3" fmla="*/ 21 h 81"/>
                  <a:gd name="T4" fmla="*/ 80 w 187"/>
                  <a:gd name="T5" fmla="*/ 0 h 81"/>
                  <a:gd name="T6" fmla="*/ 187 w 187"/>
                  <a:gd name="T7" fmla="*/ 39 h 81"/>
                  <a:gd name="T8" fmla="*/ 80 w 187"/>
                  <a:gd name="T9" fmla="*/ 81 h 81"/>
                  <a:gd name="T10" fmla="*/ 80 w 187"/>
                  <a:gd name="T11" fmla="*/ 60 h 81"/>
                  <a:gd name="T12" fmla="*/ 0 w 187"/>
                  <a:gd name="T13" fmla="*/ 60 h 81"/>
                  <a:gd name="T14" fmla="*/ 0 w 187"/>
                  <a:gd name="T15" fmla="*/ 21 h 81"/>
                  <a:gd name="T16" fmla="*/ 9 w 187"/>
                  <a:gd name="T17" fmla="*/ 2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7" h="81">
                    <a:moveTo>
                      <a:pt x="9" y="21"/>
                    </a:moveTo>
                    <a:lnTo>
                      <a:pt x="80" y="21"/>
                    </a:lnTo>
                    <a:lnTo>
                      <a:pt x="80" y="0"/>
                    </a:lnTo>
                    <a:lnTo>
                      <a:pt x="187" y="39"/>
                    </a:lnTo>
                    <a:lnTo>
                      <a:pt x="80" y="81"/>
                    </a:lnTo>
                    <a:lnTo>
                      <a:pt x="80" y="60"/>
                    </a:lnTo>
                    <a:lnTo>
                      <a:pt x="0" y="60"/>
                    </a:lnTo>
                    <a:lnTo>
                      <a:pt x="0" y="21"/>
                    </a:lnTo>
                    <a:lnTo>
                      <a:pt x="9" y="21"/>
                    </a:lnTo>
                  </a:path>
                </a:pathLst>
              </a:custGeom>
              <a:grpFill/>
              <a:ln w="0">
                <a:solidFill>
                  <a:srgbClr val="000000"/>
                </a:solidFill>
                <a:prstDash val="solid"/>
                <a:round/>
                <a:headEnd/>
                <a:tailEnd/>
              </a:ln>
              <a:extLst/>
            </p:spPr>
            <p:txBody>
              <a:bodyPr/>
              <a:lstStyle/>
              <a:p>
                <a:pPr>
                  <a:defRPr/>
                </a:pPr>
                <a:endParaRPr lang="en-US"/>
              </a:p>
            </p:txBody>
          </p:sp>
          <p:sp>
            <p:nvSpPr>
              <p:cNvPr id="17833" name="Line 425"/>
              <p:cNvSpPr>
                <a:spLocks noChangeShapeType="1"/>
              </p:cNvSpPr>
              <p:nvPr/>
            </p:nvSpPr>
            <p:spPr bwMode="auto">
              <a:xfrm>
                <a:off x="3550" y="3598"/>
                <a:ext cx="1" cy="89"/>
              </a:xfrm>
              <a:prstGeom prst="line">
                <a:avLst/>
              </a:prstGeom>
              <a:grpFill/>
              <a:ln w="0">
                <a:solidFill>
                  <a:srgbClr val="000000"/>
                </a:solidFill>
                <a:round/>
                <a:headEnd/>
                <a:tailEnd/>
              </a:ln>
              <a:extLst/>
            </p:spPr>
            <p:txBody>
              <a:bodyPr/>
              <a:lstStyle/>
              <a:p>
                <a:pPr>
                  <a:defRPr/>
                </a:pPr>
                <a:endParaRPr lang="en-US"/>
              </a:p>
            </p:txBody>
          </p:sp>
          <p:sp>
            <p:nvSpPr>
              <p:cNvPr id="17834" name="Rectangle 426"/>
              <p:cNvSpPr>
                <a:spLocks noChangeArrowheads="1"/>
              </p:cNvSpPr>
              <p:nvPr/>
            </p:nvSpPr>
            <p:spPr bwMode="auto">
              <a:xfrm>
                <a:off x="3034" y="3275"/>
                <a:ext cx="267" cy="10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th-TH" altLang="en-US" sz="1100" b="1">
                    <a:latin typeface="Century Schoolbook" panose="02040604050505020304" pitchFamily="18" charset="0"/>
                  </a:rPr>
                  <a:t>White</a:t>
                </a:r>
                <a:endParaRPr lang="th-TH" altLang="en-US" sz="1600">
                  <a:latin typeface="Century Schoolbook" panose="02040604050505020304" pitchFamily="18" charset="0"/>
                </a:endParaRPr>
              </a:p>
            </p:txBody>
          </p:sp>
          <p:sp>
            <p:nvSpPr>
              <p:cNvPr id="17835" name="Rectangle 427"/>
              <p:cNvSpPr>
                <a:spLocks noChangeArrowheads="1"/>
              </p:cNvSpPr>
              <p:nvPr/>
            </p:nvSpPr>
            <p:spPr bwMode="auto">
              <a:xfrm>
                <a:off x="3034" y="3399"/>
                <a:ext cx="314" cy="10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th-TH" altLang="en-US" sz="1100" b="1">
                    <a:latin typeface="Century Schoolbook" panose="02040604050505020304" pitchFamily="18" charset="0"/>
                  </a:rPr>
                  <a:t>Liquor</a:t>
                </a:r>
                <a:endParaRPr lang="th-TH" altLang="en-US" sz="1600">
                  <a:latin typeface="Century Schoolbook" panose="02040604050505020304" pitchFamily="18" charset="0"/>
                </a:endParaRPr>
              </a:p>
            </p:txBody>
          </p:sp>
          <p:sp>
            <p:nvSpPr>
              <p:cNvPr id="17836" name="Line 428"/>
              <p:cNvSpPr>
                <a:spLocks noChangeShapeType="1"/>
              </p:cNvSpPr>
              <p:nvPr/>
            </p:nvSpPr>
            <p:spPr bwMode="auto">
              <a:xfrm flipH="1">
                <a:off x="3702" y="2532"/>
                <a:ext cx="362" cy="1"/>
              </a:xfrm>
              <a:prstGeom prst="line">
                <a:avLst/>
              </a:prstGeom>
              <a:grpFill/>
              <a:ln w="0">
                <a:solidFill>
                  <a:srgbClr val="000000"/>
                </a:solidFill>
                <a:round/>
                <a:headEnd/>
                <a:tailEnd/>
              </a:ln>
              <a:extLst/>
            </p:spPr>
            <p:txBody>
              <a:bodyPr/>
              <a:lstStyle/>
              <a:p>
                <a:pPr>
                  <a:defRPr/>
                </a:pPr>
                <a:endParaRPr lang="en-US"/>
              </a:p>
            </p:txBody>
          </p:sp>
          <p:sp>
            <p:nvSpPr>
              <p:cNvPr id="17837" name="Rectangle 429"/>
              <p:cNvSpPr>
                <a:spLocks noChangeArrowheads="1"/>
              </p:cNvSpPr>
              <p:nvPr/>
            </p:nvSpPr>
            <p:spPr bwMode="auto">
              <a:xfrm>
                <a:off x="3852" y="2482"/>
                <a:ext cx="15" cy="36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838" name="Rectangle 430"/>
              <p:cNvSpPr>
                <a:spLocks noChangeArrowheads="1"/>
              </p:cNvSpPr>
              <p:nvPr/>
            </p:nvSpPr>
            <p:spPr bwMode="auto">
              <a:xfrm>
                <a:off x="3863" y="2482"/>
                <a:ext cx="15" cy="36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839" name="Rectangle 431"/>
              <p:cNvSpPr>
                <a:spLocks noChangeArrowheads="1"/>
              </p:cNvSpPr>
              <p:nvPr/>
            </p:nvSpPr>
            <p:spPr bwMode="auto">
              <a:xfrm>
                <a:off x="3875" y="2482"/>
                <a:ext cx="14" cy="36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840" name="Rectangle 432"/>
              <p:cNvSpPr>
                <a:spLocks noChangeArrowheads="1"/>
              </p:cNvSpPr>
              <p:nvPr/>
            </p:nvSpPr>
            <p:spPr bwMode="auto">
              <a:xfrm>
                <a:off x="3886" y="2482"/>
                <a:ext cx="15" cy="36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841" name="Rectangle 433"/>
              <p:cNvSpPr>
                <a:spLocks noChangeArrowheads="1"/>
              </p:cNvSpPr>
              <p:nvPr/>
            </p:nvSpPr>
            <p:spPr bwMode="auto">
              <a:xfrm>
                <a:off x="3897" y="2482"/>
                <a:ext cx="13" cy="36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842" name="Rectangle 434"/>
              <p:cNvSpPr>
                <a:spLocks noChangeArrowheads="1"/>
              </p:cNvSpPr>
              <p:nvPr/>
            </p:nvSpPr>
            <p:spPr bwMode="auto">
              <a:xfrm>
                <a:off x="3852" y="2482"/>
                <a:ext cx="57" cy="363"/>
              </a:xfrm>
              <a:prstGeom prst="rect">
                <a:avLst/>
              </a:prstGeom>
              <a:grpFill/>
              <a:ln w="0">
                <a:solidFill>
                  <a:srgbClr val="000000"/>
                </a:solidFill>
                <a:miter lim="800000"/>
                <a:headEnd/>
                <a:tailEnd/>
              </a:ln>
              <a:extLst/>
            </p:spPr>
            <p:txBody>
              <a:bodyPr/>
              <a:lstStyle/>
              <a:p>
                <a:pPr>
                  <a:defRPr/>
                </a:pPr>
                <a:endParaRPr lang="en-US"/>
              </a:p>
            </p:txBody>
          </p:sp>
          <p:sp>
            <p:nvSpPr>
              <p:cNvPr id="17843" name="Rectangle 435"/>
              <p:cNvSpPr>
                <a:spLocks noChangeArrowheads="1"/>
              </p:cNvSpPr>
              <p:nvPr/>
            </p:nvSpPr>
            <p:spPr bwMode="auto">
              <a:xfrm>
                <a:off x="3839" y="2475"/>
                <a:ext cx="16"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844" name="Rectangle 436"/>
              <p:cNvSpPr>
                <a:spLocks noChangeArrowheads="1"/>
              </p:cNvSpPr>
              <p:nvPr/>
            </p:nvSpPr>
            <p:spPr bwMode="auto">
              <a:xfrm>
                <a:off x="3852" y="2475"/>
                <a:ext cx="16"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845" name="Rectangle 437"/>
              <p:cNvSpPr>
                <a:spLocks noChangeArrowheads="1"/>
              </p:cNvSpPr>
              <p:nvPr/>
            </p:nvSpPr>
            <p:spPr bwMode="auto">
              <a:xfrm>
                <a:off x="3865" y="2475"/>
                <a:ext cx="15"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846" name="Rectangle 438"/>
              <p:cNvSpPr>
                <a:spLocks noChangeArrowheads="1"/>
              </p:cNvSpPr>
              <p:nvPr/>
            </p:nvSpPr>
            <p:spPr bwMode="auto">
              <a:xfrm>
                <a:off x="3876" y="2475"/>
                <a:ext cx="15"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847" name="Rectangle 439"/>
              <p:cNvSpPr>
                <a:spLocks noChangeArrowheads="1"/>
              </p:cNvSpPr>
              <p:nvPr/>
            </p:nvSpPr>
            <p:spPr bwMode="auto">
              <a:xfrm>
                <a:off x="3888" y="2475"/>
                <a:ext cx="14"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848" name="Rectangle 440"/>
              <p:cNvSpPr>
                <a:spLocks noChangeArrowheads="1"/>
              </p:cNvSpPr>
              <p:nvPr/>
            </p:nvSpPr>
            <p:spPr bwMode="auto">
              <a:xfrm>
                <a:off x="3899" y="2475"/>
                <a:ext cx="15"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849" name="Rectangle 441"/>
              <p:cNvSpPr>
                <a:spLocks noChangeArrowheads="1"/>
              </p:cNvSpPr>
              <p:nvPr/>
            </p:nvSpPr>
            <p:spPr bwMode="auto">
              <a:xfrm>
                <a:off x="3910" y="2475"/>
                <a:ext cx="13"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850" name="Rectangle 442"/>
              <p:cNvSpPr>
                <a:spLocks noChangeArrowheads="1"/>
              </p:cNvSpPr>
              <p:nvPr/>
            </p:nvSpPr>
            <p:spPr bwMode="auto">
              <a:xfrm>
                <a:off x="3839" y="2475"/>
                <a:ext cx="83" cy="16"/>
              </a:xfrm>
              <a:prstGeom prst="rect">
                <a:avLst/>
              </a:prstGeom>
              <a:grpFill/>
              <a:ln w="0">
                <a:solidFill>
                  <a:srgbClr val="000000"/>
                </a:solidFill>
                <a:miter lim="800000"/>
                <a:headEnd/>
                <a:tailEnd/>
              </a:ln>
              <a:extLst/>
            </p:spPr>
            <p:txBody>
              <a:bodyPr/>
              <a:lstStyle/>
              <a:p>
                <a:pPr>
                  <a:defRPr/>
                </a:pPr>
                <a:endParaRPr lang="en-US"/>
              </a:p>
            </p:txBody>
          </p:sp>
          <p:sp>
            <p:nvSpPr>
              <p:cNvPr id="17851" name="Rectangle 443"/>
              <p:cNvSpPr>
                <a:spLocks noChangeArrowheads="1"/>
              </p:cNvSpPr>
              <p:nvPr/>
            </p:nvSpPr>
            <p:spPr bwMode="auto">
              <a:xfrm>
                <a:off x="3839" y="2461"/>
                <a:ext cx="16" cy="1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852" name="Rectangle 444"/>
              <p:cNvSpPr>
                <a:spLocks noChangeArrowheads="1"/>
              </p:cNvSpPr>
              <p:nvPr/>
            </p:nvSpPr>
            <p:spPr bwMode="auto">
              <a:xfrm>
                <a:off x="3852" y="2461"/>
                <a:ext cx="16" cy="1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853" name="Rectangle 445"/>
              <p:cNvSpPr>
                <a:spLocks noChangeArrowheads="1"/>
              </p:cNvSpPr>
              <p:nvPr/>
            </p:nvSpPr>
            <p:spPr bwMode="auto">
              <a:xfrm>
                <a:off x="3865" y="2461"/>
                <a:ext cx="15" cy="1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854" name="Rectangle 446"/>
              <p:cNvSpPr>
                <a:spLocks noChangeArrowheads="1"/>
              </p:cNvSpPr>
              <p:nvPr/>
            </p:nvSpPr>
            <p:spPr bwMode="auto">
              <a:xfrm>
                <a:off x="3876" y="2461"/>
                <a:ext cx="15" cy="1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855" name="Rectangle 447"/>
              <p:cNvSpPr>
                <a:spLocks noChangeArrowheads="1"/>
              </p:cNvSpPr>
              <p:nvPr/>
            </p:nvSpPr>
            <p:spPr bwMode="auto">
              <a:xfrm>
                <a:off x="3888" y="2461"/>
                <a:ext cx="14" cy="1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856" name="Rectangle 448"/>
              <p:cNvSpPr>
                <a:spLocks noChangeArrowheads="1"/>
              </p:cNvSpPr>
              <p:nvPr/>
            </p:nvSpPr>
            <p:spPr bwMode="auto">
              <a:xfrm>
                <a:off x="3899" y="2461"/>
                <a:ext cx="15" cy="1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857" name="Rectangle 449"/>
              <p:cNvSpPr>
                <a:spLocks noChangeArrowheads="1"/>
              </p:cNvSpPr>
              <p:nvPr/>
            </p:nvSpPr>
            <p:spPr bwMode="auto">
              <a:xfrm>
                <a:off x="3910" y="2461"/>
                <a:ext cx="13" cy="1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858" name="Rectangle 450"/>
              <p:cNvSpPr>
                <a:spLocks noChangeArrowheads="1"/>
              </p:cNvSpPr>
              <p:nvPr/>
            </p:nvSpPr>
            <p:spPr bwMode="auto">
              <a:xfrm>
                <a:off x="3839" y="2461"/>
                <a:ext cx="83" cy="16"/>
              </a:xfrm>
              <a:prstGeom prst="rect">
                <a:avLst/>
              </a:prstGeom>
              <a:grpFill/>
              <a:ln w="0">
                <a:solidFill>
                  <a:srgbClr val="000000"/>
                </a:solidFill>
                <a:miter lim="800000"/>
                <a:headEnd/>
                <a:tailEnd/>
              </a:ln>
              <a:extLst/>
            </p:spPr>
            <p:txBody>
              <a:bodyPr/>
              <a:lstStyle/>
              <a:p>
                <a:pPr>
                  <a:defRPr/>
                </a:pPr>
                <a:endParaRPr lang="en-US"/>
              </a:p>
            </p:txBody>
          </p:sp>
          <p:sp>
            <p:nvSpPr>
              <p:cNvPr id="17859" name="Rectangle 451"/>
              <p:cNvSpPr>
                <a:spLocks noChangeArrowheads="1"/>
              </p:cNvSpPr>
              <p:nvPr/>
            </p:nvSpPr>
            <p:spPr bwMode="auto">
              <a:xfrm>
                <a:off x="3839" y="2850"/>
                <a:ext cx="16"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860" name="Rectangle 452"/>
              <p:cNvSpPr>
                <a:spLocks noChangeArrowheads="1"/>
              </p:cNvSpPr>
              <p:nvPr/>
            </p:nvSpPr>
            <p:spPr bwMode="auto">
              <a:xfrm>
                <a:off x="3852" y="2850"/>
                <a:ext cx="16"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861" name="Rectangle 453"/>
              <p:cNvSpPr>
                <a:spLocks noChangeArrowheads="1"/>
              </p:cNvSpPr>
              <p:nvPr/>
            </p:nvSpPr>
            <p:spPr bwMode="auto">
              <a:xfrm>
                <a:off x="3865" y="2850"/>
                <a:ext cx="15"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862" name="Rectangle 454"/>
              <p:cNvSpPr>
                <a:spLocks noChangeArrowheads="1"/>
              </p:cNvSpPr>
              <p:nvPr/>
            </p:nvSpPr>
            <p:spPr bwMode="auto">
              <a:xfrm>
                <a:off x="3876" y="2850"/>
                <a:ext cx="15"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863" name="Rectangle 455"/>
              <p:cNvSpPr>
                <a:spLocks noChangeArrowheads="1"/>
              </p:cNvSpPr>
              <p:nvPr/>
            </p:nvSpPr>
            <p:spPr bwMode="auto">
              <a:xfrm>
                <a:off x="3888" y="2850"/>
                <a:ext cx="14"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864" name="Rectangle 456"/>
              <p:cNvSpPr>
                <a:spLocks noChangeArrowheads="1"/>
              </p:cNvSpPr>
              <p:nvPr/>
            </p:nvSpPr>
            <p:spPr bwMode="auto">
              <a:xfrm>
                <a:off x="3899" y="2850"/>
                <a:ext cx="15"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865" name="Rectangle 457"/>
              <p:cNvSpPr>
                <a:spLocks noChangeArrowheads="1"/>
              </p:cNvSpPr>
              <p:nvPr/>
            </p:nvSpPr>
            <p:spPr bwMode="auto">
              <a:xfrm>
                <a:off x="3910" y="2850"/>
                <a:ext cx="13"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866" name="Rectangle 458"/>
              <p:cNvSpPr>
                <a:spLocks noChangeArrowheads="1"/>
              </p:cNvSpPr>
              <p:nvPr/>
            </p:nvSpPr>
            <p:spPr bwMode="auto">
              <a:xfrm>
                <a:off x="3839" y="2850"/>
                <a:ext cx="83" cy="16"/>
              </a:xfrm>
              <a:prstGeom prst="rect">
                <a:avLst/>
              </a:prstGeom>
              <a:grpFill/>
              <a:ln w="0">
                <a:solidFill>
                  <a:srgbClr val="000000"/>
                </a:solidFill>
                <a:miter lim="800000"/>
                <a:headEnd/>
                <a:tailEnd/>
              </a:ln>
              <a:extLst/>
            </p:spPr>
            <p:txBody>
              <a:bodyPr/>
              <a:lstStyle/>
              <a:p>
                <a:pPr>
                  <a:defRPr/>
                </a:pPr>
                <a:endParaRPr lang="en-US"/>
              </a:p>
            </p:txBody>
          </p:sp>
          <p:sp>
            <p:nvSpPr>
              <p:cNvPr id="17867" name="Rectangle 459"/>
              <p:cNvSpPr>
                <a:spLocks noChangeArrowheads="1"/>
              </p:cNvSpPr>
              <p:nvPr/>
            </p:nvSpPr>
            <p:spPr bwMode="auto">
              <a:xfrm>
                <a:off x="3839" y="2836"/>
                <a:ext cx="16" cy="1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868" name="Rectangle 460"/>
              <p:cNvSpPr>
                <a:spLocks noChangeArrowheads="1"/>
              </p:cNvSpPr>
              <p:nvPr/>
            </p:nvSpPr>
            <p:spPr bwMode="auto">
              <a:xfrm>
                <a:off x="3852" y="2836"/>
                <a:ext cx="16" cy="1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869" name="Rectangle 461"/>
              <p:cNvSpPr>
                <a:spLocks noChangeArrowheads="1"/>
              </p:cNvSpPr>
              <p:nvPr/>
            </p:nvSpPr>
            <p:spPr bwMode="auto">
              <a:xfrm>
                <a:off x="3865" y="2836"/>
                <a:ext cx="15" cy="1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870" name="Rectangle 462"/>
              <p:cNvSpPr>
                <a:spLocks noChangeArrowheads="1"/>
              </p:cNvSpPr>
              <p:nvPr/>
            </p:nvSpPr>
            <p:spPr bwMode="auto">
              <a:xfrm>
                <a:off x="3876" y="2836"/>
                <a:ext cx="15" cy="1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871" name="Rectangle 463"/>
              <p:cNvSpPr>
                <a:spLocks noChangeArrowheads="1"/>
              </p:cNvSpPr>
              <p:nvPr/>
            </p:nvSpPr>
            <p:spPr bwMode="auto">
              <a:xfrm>
                <a:off x="3888" y="2836"/>
                <a:ext cx="14" cy="1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872" name="Rectangle 464"/>
              <p:cNvSpPr>
                <a:spLocks noChangeArrowheads="1"/>
              </p:cNvSpPr>
              <p:nvPr/>
            </p:nvSpPr>
            <p:spPr bwMode="auto">
              <a:xfrm>
                <a:off x="3899" y="2836"/>
                <a:ext cx="15" cy="1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873" name="Rectangle 465"/>
              <p:cNvSpPr>
                <a:spLocks noChangeArrowheads="1"/>
              </p:cNvSpPr>
              <p:nvPr/>
            </p:nvSpPr>
            <p:spPr bwMode="auto">
              <a:xfrm>
                <a:off x="3910" y="2836"/>
                <a:ext cx="13" cy="1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874" name="Rectangle 466"/>
              <p:cNvSpPr>
                <a:spLocks noChangeArrowheads="1"/>
              </p:cNvSpPr>
              <p:nvPr/>
            </p:nvSpPr>
            <p:spPr bwMode="auto">
              <a:xfrm>
                <a:off x="3839" y="2836"/>
                <a:ext cx="83" cy="16"/>
              </a:xfrm>
              <a:prstGeom prst="rect">
                <a:avLst/>
              </a:prstGeom>
              <a:grpFill/>
              <a:ln w="0">
                <a:solidFill>
                  <a:srgbClr val="000000"/>
                </a:solidFill>
                <a:miter lim="800000"/>
                <a:headEnd/>
                <a:tailEnd/>
              </a:ln>
              <a:extLst/>
            </p:spPr>
            <p:txBody>
              <a:bodyPr/>
              <a:lstStyle/>
              <a:p>
                <a:pPr>
                  <a:defRPr/>
                </a:pPr>
                <a:endParaRPr lang="en-US"/>
              </a:p>
            </p:txBody>
          </p:sp>
          <p:sp>
            <p:nvSpPr>
              <p:cNvPr id="17875" name="Rectangle 467"/>
              <p:cNvSpPr>
                <a:spLocks noChangeArrowheads="1"/>
              </p:cNvSpPr>
              <p:nvPr/>
            </p:nvSpPr>
            <p:spPr bwMode="auto">
              <a:xfrm>
                <a:off x="3841" y="2574"/>
                <a:ext cx="14" cy="5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876" name="Rectangle 468"/>
              <p:cNvSpPr>
                <a:spLocks noChangeArrowheads="1"/>
              </p:cNvSpPr>
              <p:nvPr/>
            </p:nvSpPr>
            <p:spPr bwMode="auto">
              <a:xfrm>
                <a:off x="3852" y="2574"/>
                <a:ext cx="15" cy="5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877" name="Rectangle 469"/>
              <p:cNvSpPr>
                <a:spLocks noChangeArrowheads="1"/>
              </p:cNvSpPr>
              <p:nvPr/>
            </p:nvSpPr>
            <p:spPr bwMode="auto">
              <a:xfrm>
                <a:off x="3863" y="2574"/>
                <a:ext cx="15" cy="5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878" name="Rectangle 470"/>
              <p:cNvSpPr>
                <a:spLocks noChangeArrowheads="1"/>
              </p:cNvSpPr>
              <p:nvPr/>
            </p:nvSpPr>
            <p:spPr bwMode="auto">
              <a:xfrm>
                <a:off x="3875" y="2574"/>
                <a:ext cx="14" cy="5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879" name="Rectangle 471"/>
              <p:cNvSpPr>
                <a:spLocks noChangeArrowheads="1"/>
              </p:cNvSpPr>
              <p:nvPr/>
            </p:nvSpPr>
            <p:spPr bwMode="auto">
              <a:xfrm>
                <a:off x="3886" y="2574"/>
                <a:ext cx="15" cy="5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880" name="Rectangle 472"/>
              <p:cNvSpPr>
                <a:spLocks noChangeArrowheads="1"/>
              </p:cNvSpPr>
              <p:nvPr/>
            </p:nvSpPr>
            <p:spPr bwMode="auto">
              <a:xfrm>
                <a:off x="3897" y="2574"/>
                <a:ext cx="15" cy="5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881" name="Rectangle 473"/>
              <p:cNvSpPr>
                <a:spLocks noChangeArrowheads="1"/>
              </p:cNvSpPr>
              <p:nvPr/>
            </p:nvSpPr>
            <p:spPr bwMode="auto">
              <a:xfrm>
                <a:off x="3909" y="2574"/>
                <a:ext cx="11" cy="5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882" name="Rectangle 474"/>
              <p:cNvSpPr>
                <a:spLocks noChangeArrowheads="1"/>
              </p:cNvSpPr>
              <p:nvPr/>
            </p:nvSpPr>
            <p:spPr bwMode="auto">
              <a:xfrm>
                <a:off x="3841" y="2574"/>
                <a:ext cx="77" cy="56"/>
              </a:xfrm>
              <a:prstGeom prst="rect">
                <a:avLst/>
              </a:prstGeom>
              <a:grpFill/>
              <a:ln w="0">
                <a:solidFill>
                  <a:srgbClr val="000000"/>
                </a:solidFill>
                <a:miter lim="800000"/>
                <a:headEnd/>
                <a:tailEnd/>
              </a:ln>
              <a:extLst/>
            </p:spPr>
            <p:txBody>
              <a:bodyPr/>
              <a:lstStyle/>
              <a:p>
                <a:pPr>
                  <a:defRPr/>
                </a:pPr>
                <a:endParaRPr lang="en-US"/>
              </a:p>
            </p:txBody>
          </p:sp>
          <p:sp>
            <p:nvSpPr>
              <p:cNvPr id="17883" name="Line 475"/>
              <p:cNvSpPr>
                <a:spLocks noChangeShapeType="1"/>
              </p:cNvSpPr>
              <p:nvPr/>
            </p:nvSpPr>
            <p:spPr bwMode="auto">
              <a:xfrm>
                <a:off x="3918" y="2516"/>
                <a:ext cx="1" cy="34"/>
              </a:xfrm>
              <a:prstGeom prst="line">
                <a:avLst/>
              </a:prstGeom>
              <a:grpFill/>
              <a:ln w="0">
                <a:solidFill>
                  <a:srgbClr val="000000"/>
                </a:solidFill>
                <a:round/>
                <a:headEnd/>
                <a:tailEnd/>
              </a:ln>
              <a:extLst/>
            </p:spPr>
            <p:txBody>
              <a:bodyPr/>
              <a:lstStyle/>
              <a:p>
                <a:pPr>
                  <a:defRPr/>
                </a:pPr>
                <a:endParaRPr lang="en-US"/>
              </a:p>
            </p:txBody>
          </p:sp>
          <p:sp>
            <p:nvSpPr>
              <p:cNvPr id="17884" name="Line 476"/>
              <p:cNvSpPr>
                <a:spLocks noChangeShapeType="1"/>
              </p:cNvSpPr>
              <p:nvPr/>
            </p:nvSpPr>
            <p:spPr bwMode="auto">
              <a:xfrm>
                <a:off x="3923" y="2516"/>
                <a:ext cx="1" cy="34"/>
              </a:xfrm>
              <a:prstGeom prst="line">
                <a:avLst/>
              </a:prstGeom>
              <a:grpFill/>
              <a:ln w="0">
                <a:solidFill>
                  <a:srgbClr val="000000"/>
                </a:solidFill>
                <a:round/>
                <a:headEnd/>
                <a:tailEnd/>
              </a:ln>
              <a:extLst/>
            </p:spPr>
            <p:txBody>
              <a:bodyPr/>
              <a:lstStyle/>
              <a:p>
                <a:pPr>
                  <a:defRPr/>
                </a:pPr>
                <a:endParaRPr lang="en-US"/>
              </a:p>
            </p:txBody>
          </p:sp>
          <p:sp>
            <p:nvSpPr>
              <p:cNvPr id="17885" name="Line 477"/>
              <p:cNvSpPr>
                <a:spLocks noChangeShapeType="1"/>
              </p:cNvSpPr>
              <p:nvPr/>
            </p:nvSpPr>
            <p:spPr bwMode="auto">
              <a:xfrm>
                <a:off x="3836" y="2514"/>
                <a:ext cx="1" cy="36"/>
              </a:xfrm>
              <a:prstGeom prst="line">
                <a:avLst/>
              </a:prstGeom>
              <a:grpFill/>
              <a:ln w="0">
                <a:solidFill>
                  <a:srgbClr val="000000"/>
                </a:solidFill>
                <a:round/>
                <a:headEnd/>
                <a:tailEnd/>
              </a:ln>
              <a:extLst/>
            </p:spPr>
            <p:txBody>
              <a:bodyPr/>
              <a:lstStyle/>
              <a:p>
                <a:pPr>
                  <a:defRPr/>
                </a:pPr>
                <a:endParaRPr lang="en-US"/>
              </a:p>
            </p:txBody>
          </p:sp>
          <p:sp>
            <p:nvSpPr>
              <p:cNvPr id="17886" name="Line 478"/>
              <p:cNvSpPr>
                <a:spLocks noChangeShapeType="1"/>
              </p:cNvSpPr>
              <p:nvPr/>
            </p:nvSpPr>
            <p:spPr bwMode="auto">
              <a:xfrm>
                <a:off x="3841" y="2514"/>
                <a:ext cx="1" cy="36"/>
              </a:xfrm>
              <a:prstGeom prst="line">
                <a:avLst/>
              </a:prstGeom>
              <a:grpFill/>
              <a:ln w="0">
                <a:solidFill>
                  <a:srgbClr val="000000"/>
                </a:solidFill>
                <a:round/>
                <a:headEnd/>
                <a:tailEnd/>
              </a:ln>
              <a:extLst/>
            </p:spPr>
            <p:txBody>
              <a:bodyPr/>
              <a:lstStyle/>
              <a:p>
                <a:pPr>
                  <a:defRPr/>
                </a:pPr>
                <a:endParaRPr lang="en-US"/>
              </a:p>
            </p:txBody>
          </p:sp>
          <p:sp>
            <p:nvSpPr>
              <p:cNvPr id="17887" name="Line 479"/>
              <p:cNvSpPr>
                <a:spLocks noChangeShapeType="1"/>
              </p:cNvSpPr>
              <p:nvPr/>
            </p:nvSpPr>
            <p:spPr bwMode="auto">
              <a:xfrm>
                <a:off x="3605" y="2155"/>
                <a:ext cx="1" cy="256"/>
              </a:xfrm>
              <a:prstGeom prst="line">
                <a:avLst/>
              </a:prstGeom>
              <a:grpFill/>
              <a:ln w="0">
                <a:solidFill>
                  <a:srgbClr val="000000"/>
                </a:solidFill>
                <a:round/>
                <a:headEnd/>
                <a:tailEnd/>
              </a:ln>
              <a:extLst/>
            </p:spPr>
            <p:txBody>
              <a:bodyPr/>
              <a:lstStyle/>
              <a:p>
                <a:pPr>
                  <a:defRPr/>
                </a:pPr>
                <a:endParaRPr lang="en-US"/>
              </a:p>
            </p:txBody>
          </p:sp>
          <p:sp>
            <p:nvSpPr>
              <p:cNvPr id="17888" name="Line 480"/>
              <p:cNvSpPr>
                <a:spLocks noChangeShapeType="1"/>
              </p:cNvSpPr>
              <p:nvPr/>
            </p:nvSpPr>
            <p:spPr bwMode="auto">
              <a:xfrm flipV="1">
                <a:off x="3699" y="2509"/>
                <a:ext cx="1" cy="36"/>
              </a:xfrm>
              <a:prstGeom prst="line">
                <a:avLst/>
              </a:prstGeom>
              <a:grpFill/>
              <a:ln w="0">
                <a:solidFill>
                  <a:srgbClr val="000000"/>
                </a:solidFill>
                <a:round/>
                <a:headEnd/>
                <a:tailEnd/>
              </a:ln>
              <a:extLst/>
            </p:spPr>
            <p:txBody>
              <a:bodyPr/>
              <a:lstStyle/>
              <a:p>
                <a:pPr>
                  <a:defRPr/>
                </a:pPr>
                <a:endParaRPr lang="en-US"/>
              </a:p>
            </p:txBody>
          </p:sp>
          <p:sp>
            <p:nvSpPr>
              <p:cNvPr id="17889" name="Freeform 481"/>
              <p:cNvSpPr>
                <a:spLocks/>
              </p:cNvSpPr>
              <p:nvPr/>
            </p:nvSpPr>
            <p:spPr bwMode="auto">
              <a:xfrm>
                <a:off x="3606" y="2509"/>
                <a:ext cx="83" cy="34"/>
              </a:xfrm>
              <a:custGeom>
                <a:avLst/>
                <a:gdLst>
                  <a:gd name="T0" fmla="*/ 0 w 83"/>
                  <a:gd name="T1" fmla="*/ 20 h 34"/>
                  <a:gd name="T2" fmla="*/ 83 w 83"/>
                  <a:gd name="T3" fmla="*/ 34 h 34"/>
                  <a:gd name="T4" fmla="*/ 83 w 83"/>
                  <a:gd name="T5" fmla="*/ 0 h 34"/>
                  <a:gd name="T6" fmla="*/ 38 w 83"/>
                  <a:gd name="T7" fmla="*/ 7 h 34"/>
                </a:gdLst>
                <a:ahLst/>
                <a:cxnLst>
                  <a:cxn ang="0">
                    <a:pos x="T0" y="T1"/>
                  </a:cxn>
                  <a:cxn ang="0">
                    <a:pos x="T2" y="T3"/>
                  </a:cxn>
                  <a:cxn ang="0">
                    <a:pos x="T4" y="T5"/>
                  </a:cxn>
                  <a:cxn ang="0">
                    <a:pos x="T6" y="T7"/>
                  </a:cxn>
                </a:cxnLst>
                <a:rect l="0" t="0" r="r" b="b"/>
                <a:pathLst>
                  <a:path w="83" h="34">
                    <a:moveTo>
                      <a:pt x="0" y="20"/>
                    </a:moveTo>
                    <a:lnTo>
                      <a:pt x="83" y="34"/>
                    </a:lnTo>
                    <a:lnTo>
                      <a:pt x="83" y="0"/>
                    </a:lnTo>
                    <a:lnTo>
                      <a:pt x="38" y="7"/>
                    </a:lnTo>
                  </a:path>
                </a:pathLst>
              </a:custGeom>
              <a:grpFill/>
              <a:ln w="0">
                <a:solidFill>
                  <a:srgbClr val="000000"/>
                </a:solidFill>
                <a:prstDash val="solid"/>
                <a:round/>
                <a:headEnd/>
                <a:tailEnd/>
              </a:ln>
              <a:extLst/>
            </p:spPr>
            <p:txBody>
              <a:bodyPr/>
              <a:lstStyle/>
              <a:p>
                <a:pPr>
                  <a:defRPr/>
                </a:pPr>
                <a:endParaRPr lang="en-US"/>
              </a:p>
            </p:txBody>
          </p:sp>
          <p:sp>
            <p:nvSpPr>
              <p:cNvPr id="17890" name="Rectangle 482"/>
              <p:cNvSpPr>
                <a:spLocks noChangeArrowheads="1"/>
              </p:cNvSpPr>
              <p:nvPr/>
            </p:nvSpPr>
            <p:spPr bwMode="auto">
              <a:xfrm>
                <a:off x="3590" y="2427"/>
                <a:ext cx="33" cy="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891" name="Rectangle 483"/>
              <p:cNvSpPr>
                <a:spLocks noChangeArrowheads="1"/>
              </p:cNvSpPr>
              <p:nvPr/>
            </p:nvSpPr>
            <p:spPr bwMode="auto">
              <a:xfrm>
                <a:off x="3590" y="2419"/>
                <a:ext cx="33" cy="1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892" name="Rectangle 484"/>
              <p:cNvSpPr>
                <a:spLocks noChangeArrowheads="1"/>
              </p:cNvSpPr>
              <p:nvPr/>
            </p:nvSpPr>
            <p:spPr bwMode="auto">
              <a:xfrm>
                <a:off x="3590" y="2419"/>
                <a:ext cx="31" cy="19"/>
              </a:xfrm>
              <a:prstGeom prst="rect">
                <a:avLst/>
              </a:prstGeom>
              <a:grpFill/>
              <a:ln w="0">
                <a:solidFill>
                  <a:srgbClr val="000000"/>
                </a:solidFill>
                <a:miter lim="800000"/>
                <a:headEnd/>
                <a:tailEnd/>
              </a:ln>
              <a:extLst/>
            </p:spPr>
            <p:txBody>
              <a:bodyPr/>
              <a:lstStyle/>
              <a:p>
                <a:pPr>
                  <a:defRPr/>
                </a:pPr>
                <a:endParaRPr lang="en-US"/>
              </a:p>
            </p:txBody>
          </p:sp>
          <p:sp>
            <p:nvSpPr>
              <p:cNvPr id="17893" name="Freeform 485"/>
              <p:cNvSpPr>
                <a:spLocks/>
              </p:cNvSpPr>
              <p:nvPr/>
            </p:nvSpPr>
            <p:spPr bwMode="auto">
              <a:xfrm>
                <a:off x="3571" y="2520"/>
                <a:ext cx="71" cy="17"/>
              </a:xfrm>
              <a:custGeom>
                <a:avLst/>
                <a:gdLst>
                  <a:gd name="T0" fmla="*/ 0 w 71"/>
                  <a:gd name="T1" fmla="*/ 0 h 17"/>
                  <a:gd name="T2" fmla="*/ 2 w 71"/>
                  <a:gd name="T3" fmla="*/ 4 h 17"/>
                  <a:gd name="T4" fmla="*/ 3 w 71"/>
                  <a:gd name="T5" fmla="*/ 4 h 17"/>
                  <a:gd name="T6" fmla="*/ 5 w 71"/>
                  <a:gd name="T7" fmla="*/ 7 h 17"/>
                  <a:gd name="T8" fmla="*/ 6 w 71"/>
                  <a:gd name="T9" fmla="*/ 7 h 17"/>
                  <a:gd name="T10" fmla="*/ 6 w 71"/>
                  <a:gd name="T11" fmla="*/ 9 h 17"/>
                  <a:gd name="T12" fmla="*/ 10 w 71"/>
                  <a:gd name="T13" fmla="*/ 9 h 17"/>
                  <a:gd name="T14" fmla="*/ 10 w 71"/>
                  <a:gd name="T15" fmla="*/ 10 h 17"/>
                  <a:gd name="T16" fmla="*/ 14 w 71"/>
                  <a:gd name="T17" fmla="*/ 10 h 17"/>
                  <a:gd name="T18" fmla="*/ 16 w 71"/>
                  <a:gd name="T19" fmla="*/ 13 h 17"/>
                  <a:gd name="T20" fmla="*/ 23 w 71"/>
                  <a:gd name="T21" fmla="*/ 13 h 17"/>
                  <a:gd name="T22" fmla="*/ 23 w 71"/>
                  <a:gd name="T23" fmla="*/ 15 h 17"/>
                  <a:gd name="T24" fmla="*/ 26 w 71"/>
                  <a:gd name="T25" fmla="*/ 15 h 17"/>
                  <a:gd name="T26" fmla="*/ 26 w 71"/>
                  <a:gd name="T27" fmla="*/ 17 h 17"/>
                  <a:gd name="T28" fmla="*/ 45 w 71"/>
                  <a:gd name="T29" fmla="*/ 17 h 17"/>
                  <a:gd name="T30" fmla="*/ 45 w 71"/>
                  <a:gd name="T31" fmla="*/ 15 h 17"/>
                  <a:gd name="T32" fmla="*/ 48 w 71"/>
                  <a:gd name="T33" fmla="*/ 15 h 17"/>
                  <a:gd name="T34" fmla="*/ 48 w 71"/>
                  <a:gd name="T35" fmla="*/ 13 h 17"/>
                  <a:gd name="T36" fmla="*/ 56 w 71"/>
                  <a:gd name="T37" fmla="*/ 13 h 17"/>
                  <a:gd name="T38" fmla="*/ 56 w 71"/>
                  <a:gd name="T39" fmla="*/ 10 h 17"/>
                  <a:gd name="T40" fmla="*/ 61 w 71"/>
                  <a:gd name="T41" fmla="*/ 10 h 17"/>
                  <a:gd name="T42" fmla="*/ 61 w 71"/>
                  <a:gd name="T43" fmla="*/ 9 h 17"/>
                  <a:gd name="T44" fmla="*/ 65 w 71"/>
                  <a:gd name="T45" fmla="*/ 7 h 17"/>
                  <a:gd name="T46" fmla="*/ 68 w 71"/>
                  <a:gd name="T47" fmla="*/ 5 h 17"/>
                  <a:gd name="T48" fmla="*/ 68 w 71"/>
                  <a:gd name="T49" fmla="*/ 4 h 17"/>
                  <a:gd name="T50" fmla="*/ 71 w 71"/>
                  <a:gd name="T51" fmla="*/ 2 h 17"/>
                  <a:gd name="T52" fmla="*/ 71 w 71"/>
                  <a:gd name="T53" fmla="*/ 0 h 17"/>
                  <a:gd name="T54" fmla="*/ 0 w 71"/>
                  <a:gd name="T55"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17">
                    <a:moveTo>
                      <a:pt x="0" y="0"/>
                    </a:moveTo>
                    <a:lnTo>
                      <a:pt x="2" y="4"/>
                    </a:lnTo>
                    <a:lnTo>
                      <a:pt x="3" y="4"/>
                    </a:lnTo>
                    <a:lnTo>
                      <a:pt x="5" y="7"/>
                    </a:lnTo>
                    <a:lnTo>
                      <a:pt x="6" y="7"/>
                    </a:lnTo>
                    <a:lnTo>
                      <a:pt x="6" y="9"/>
                    </a:lnTo>
                    <a:lnTo>
                      <a:pt x="10" y="9"/>
                    </a:lnTo>
                    <a:lnTo>
                      <a:pt x="10" y="10"/>
                    </a:lnTo>
                    <a:lnTo>
                      <a:pt x="14" y="10"/>
                    </a:lnTo>
                    <a:lnTo>
                      <a:pt x="16" y="13"/>
                    </a:lnTo>
                    <a:lnTo>
                      <a:pt x="23" y="13"/>
                    </a:lnTo>
                    <a:lnTo>
                      <a:pt x="23" y="15"/>
                    </a:lnTo>
                    <a:lnTo>
                      <a:pt x="26" y="15"/>
                    </a:lnTo>
                    <a:lnTo>
                      <a:pt x="26" y="17"/>
                    </a:lnTo>
                    <a:lnTo>
                      <a:pt x="45" y="17"/>
                    </a:lnTo>
                    <a:lnTo>
                      <a:pt x="45" y="15"/>
                    </a:lnTo>
                    <a:lnTo>
                      <a:pt x="48" y="15"/>
                    </a:lnTo>
                    <a:lnTo>
                      <a:pt x="48" y="13"/>
                    </a:lnTo>
                    <a:lnTo>
                      <a:pt x="56" y="13"/>
                    </a:lnTo>
                    <a:lnTo>
                      <a:pt x="56" y="10"/>
                    </a:lnTo>
                    <a:lnTo>
                      <a:pt x="61" y="10"/>
                    </a:lnTo>
                    <a:lnTo>
                      <a:pt x="61" y="9"/>
                    </a:lnTo>
                    <a:lnTo>
                      <a:pt x="65" y="7"/>
                    </a:lnTo>
                    <a:lnTo>
                      <a:pt x="68" y="5"/>
                    </a:lnTo>
                    <a:lnTo>
                      <a:pt x="68" y="4"/>
                    </a:lnTo>
                    <a:lnTo>
                      <a:pt x="71" y="2"/>
                    </a:lnTo>
                    <a:lnTo>
                      <a:pt x="71"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7894" name="Freeform 486"/>
              <p:cNvSpPr>
                <a:spLocks/>
              </p:cNvSpPr>
              <p:nvPr/>
            </p:nvSpPr>
            <p:spPr bwMode="auto">
              <a:xfrm>
                <a:off x="3561" y="2507"/>
                <a:ext cx="91" cy="17"/>
              </a:xfrm>
              <a:custGeom>
                <a:avLst/>
                <a:gdLst>
                  <a:gd name="T0" fmla="*/ 0 w 91"/>
                  <a:gd name="T1" fmla="*/ 0 h 17"/>
                  <a:gd name="T2" fmla="*/ 2 w 91"/>
                  <a:gd name="T3" fmla="*/ 4 h 17"/>
                  <a:gd name="T4" fmla="*/ 3 w 91"/>
                  <a:gd name="T5" fmla="*/ 7 h 17"/>
                  <a:gd name="T6" fmla="*/ 5 w 91"/>
                  <a:gd name="T7" fmla="*/ 7 h 17"/>
                  <a:gd name="T8" fmla="*/ 7 w 91"/>
                  <a:gd name="T9" fmla="*/ 10 h 17"/>
                  <a:gd name="T10" fmla="*/ 8 w 91"/>
                  <a:gd name="T11" fmla="*/ 13 h 17"/>
                  <a:gd name="T12" fmla="*/ 10 w 91"/>
                  <a:gd name="T13" fmla="*/ 13 h 17"/>
                  <a:gd name="T14" fmla="*/ 12 w 91"/>
                  <a:gd name="T15" fmla="*/ 17 h 17"/>
                  <a:gd name="T16" fmla="*/ 79 w 91"/>
                  <a:gd name="T17" fmla="*/ 17 h 17"/>
                  <a:gd name="T18" fmla="*/ 79 w 91"/>
                  <a:gd name="T19" fmla="*/ 15 h 17"/>
                  <a:gd name="T20" fmla="*/ 83 w 91"/>
                  <a:gd name="T21" fmla="*/ 13 h 17"/>
                  <a:gd name="T22" fmla="*/ 84 w 91"/>
                  <a:gd name="T23" fmla="*/ 13 h 17"/>
                  <a:gd name="T24" fmla="*/ 84 w 91"/>
                  <a:gd name="T25" fmla="*/ 10 h 17"/>
                  <a:gd name="T26" fmla="*/ 87 w 91"/>
                  <a:gd name="T27" fmla="*/ 9 h 17"/>
                  <a:gd name="T28" fmla="*/ 87 w 91"/>
                  <a:gd name="T29" fmla="*/ 5 h 17"/>
                  <a:gd name="T30" fmla="*/ 91 w 91"/>
                  <a:gd name="T31" fmla="*/ 4 h 17"/>
                  <a:gd name="T32" fmla="*/ 91 w 91"/>
                  <a:gd name="T33" fmla="*/ 0 h 17"/>
                  <a:gd name="T34" fmla="*/ 0 w 91"/>
                  <a:gd name="T35"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1" h="17">
                    <a:moveTo>
                      <a:pt x="0" y="0"/>
                    </a:moveTo>
                    <a:lnTo>
                      <a:pt x="2" y="4"/>
                    </a:lnTo>
                    <a:lnTo>
                      <a:pt x="3" y="7"/>
                    </a:lnTo>
                    <a:lnTo>
                      <a:pt x="5" y="7"/>
                    </a:lnTo>
                    <a:lnTo>
                      <a:pt x="7" y="10"/>
                    </a:lnTo>
                    <a:lnTo>
                      <a:pt x="8" y="13"/>
                    </a:lnTo>
                    <a:lnTo>
                      <a:pt x="10" y="13"/>
                    </a:lnTo>
                    <a:lnTo>
                      <a:pt x="12" y="17"/>
                    </a:lnTo>
                    <a:lnTo>
                      <a:pt x="79" y="17"/>
                    </a:lnTo>
                    <a:lnTo>
                      <a:pt x="79" y="15"/>
                    </a:lnTo>
                    <a:lnTo>
                      <a:pt x="83" y="13"/>
                    </a:lnTo>
                    <a:lnTo>
                      <a:pt x="84" y="13"/>
                    </a:lnTo>
                    <a:lnTo>
                      <a:pt x="84" y="10"/>
                    </a:lnTo>
                    <a:lnTo>
                      <a:pt x="87" y="9"/>
                    </a:lnTo>
                    <a:lnTo>
                      <a:pt x="87" y="5"/>
                    </a:lnTo>
                    <a:lnTo>
                      <a:pt x="91" y="4"/>
                    </a:lnTo>
                    <a:lnTo>
                      <a:pt x="91"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7895" name="Freeform 487"/>
              <p:cNvSpPr>
                <a:spLocks/>
              </p:cNvSpPr>
              <p:nvPr/>
            </p:nvSpPr>
            <p:spPr bwMode="auto">
              <a:xfrm>
                <a:off x="3556" y="2495"/>
                <a:ext cx="101" cy="16"/>
              </a:xfrm>
              <a:custGeom>
                <a:avLst/>
                <a:gdLst>
                  <a:gd name="T0" fmla="*/ 0 w 101"/>
                  <a:gd name="T1" fmla="*/ 0 h 16"/>
                  <a:gd name="T2" fmla="*/ 2 w 101"/>
                  <a:gd name="T3" fmla="*/ 3 h 16"/>
                  <a:gd name="T4" fmla="*/ 2 w 101"/>
                  <a:gd name="T5" fmla="*/ 8 h 16"/>
                  <a:gd name="T6" fmla="*/ 4 w 101"/>
                  <a:gd name="T7" fmla="*/ 8 h 16"/>
                  <a:gd name="T8" fmla="*/ 4 w 101"/>
                  <a:gd name="T9" fmla="*/ 11 h 16"/>
                  <a:gd name="T10" fmla="*/ 5 w 101"/>
                  <a:gd name="T11" fmla="*/ 11 h 16"/>
                  <a:gd name="T12" fmla="*/ 5 w 101"/>
                  <a:gd name="T13" fmla="*/ 14 h 16"/>
                  <a:gd name="T14" fmla="*/ 7 w 101"/>
                  <a:gd name="T15" fmla="*/ 14 h 16"/>
                  <a:gd name="T16" fmla="*/ 7 w 101"/>
                  <a:gd name="T17" fmla="*/ 16 h 16"/>
                  <a:gd name="T18" fmla="*/ 96 w 101"/>
                  <a:gd name="T19" fmla="*/ 16 h 16"/>
                  <a:gd name="T20" fmla="*/ 96 w 101"/>
                  <a:gd name="T21" fmla="*/ 12 h 16"/>
                  <a:gd name="T22" fmla="*/ 97 w 101"/>
                  <a:gd name="T23" fmla="*/ 12 h 16"/>
                  <a:gd name="T24" fmla="*/ 97 w 101"/>
                  <a:gd name="T25" fmla="*/ 9 h 16"/>
                  <a:gd name="T26" fmla="*/ 99 w 101"/>
                  <a:gd name="T27" fmla="*/ 9 h 16"/>
                  <a:gd name="T28" fmla="*/ 99 w 101"/>
                  <a:gd name="T29" fmla="*/ 4 h 16"/>
                  <a:gd name="T30" fmla="*/ 101 w 101"/>
                  <a:gd name="T31" fmla="*/ 4 h 16"/>
                  <a:gd name="T32" fmla="*/ 101 w 101"/>
                  <a:gd name="T33" fmla="*/ 0 h 16"/>
                  <a:gd name="T34" fmla="*/ 0 w 101"/>
                  <a:gd name="T35"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1" h="16">
                    <a:moveTo>
                      <a:pt x="0" y="0"/>
                    </a:moveTo>
                    <a:lnTo>
                      <a:pt x="2" y="3"/>
                    </a:lnTo>
                    <a:lnTo>
                      <a:pt x="2" y="8"/>
                    </a:lnTo>
                    <a:lnTo>
                      <a:pt x="4" y="8"/>
                    </a:lnTo>
                    <a:lnTo>
                      <a:pt x="4" y="11"/>
                    </a:lnTo>
                    <a:lnTo>
                      <a:pt x="5" y="11"/>
                    </a:lnTo>
                    <a:lnTo>
                      <a:pt x="5" y="14"/>
                    </a:lnTo>
                    <a:lnTo>
                      <a:pt x="7" y="14"/>
                    </a:lnTo>
                    <a:lnTo>
                      <a:pt x="7" y="16"/>
                    </a:lnTo>
                    <a:lnTo>
                      <a:pt x="96" y="16"/>
                    </a:lnTo>
                    <a:lnTo>
                      <a:pt x="96" y="12"/>
                    </a:lnTo>
                    <a:lnTo>
                      <a:pt x="97" y="12"/>
                    </a:lnTo>
                    <a:lnTo>
                      <a:pt x="97" y="9"/>
                    </a:lnTo>
                    <a:lnTo>
                      <a:pt x="99" y="9"/>
                    </a:lnTo>
                    <a:lnTo>
                      <a:pt x="99" y="4"/>
                    </a:lnTo>
                    <a:lnTo>
                      <a:pt x="101" y="4"/>
                    </a:lnTo>
                    <a:lnTo>
                      <a:pt x="101"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7896" name="Freeform 488"/>
              <p:cNvSpPr>
                <a:spLocks/>
              </p:cNvSpPr>
              <p:nvPr/>
            </p:nvSpPr>
            <p:spPr bwMode="auto">
              <a:xfrm>
                <a:off x="3556" y="2482"/>
                <a:ext cx="101" cy="16"/>
              </a:xfrm>
              <a:custGeom>
                <a:avLst/>
                <a:gdLst>
                  <a:gd name="T0" fmla="*/ 0 w 101"/>
                  <a:gd name="T1" fmla="*/ 0 h 16"/>
                  <a:gd name="T2" fmla="*/ 0 w 101"/>
                  <a:gd name="T3" fmla="*/ 14 h 16"/>
                  <a:gd name="T4" fmla="*/ 2 w 101"/>
                  <a:gd name="T5" fmla="*/ 14 h 16"/>
                  <a:gd name="T6" fmla="*/ 2 w 101"/>
                  <a:gd name="T7" fmla="*/ 16 h 16"/>
                  <a:gd name="T8" fmla="*/ 101 w 101"/>
                  <a:gd name="T9" fmla="*/ 16 h 16"/>
                  <a:gd name="T10" fmla="*/ 101 w 101"/>
                  <a:gd name="T11" fmla="*/ 0 h 16"/>
                  <a:gd name="T12" fmla="*/ 0 w 101"/>
                  <a:gd name="T13" fmla="*/ 0 h 16"/>
                </a:gdLst>
                <a:ahLst/>
                <a:cxnLst>
                  <a:cxn ang="0">
                    <a:pos x="T0" y="T1"/>
                  </a:cxn>
                  <a:cxn ang="0">
                    <a:pos x="T2" y="T3"/>
                  </a:cxn>
                  <a:cxn ang="0">
                    <a:pos x="T4" y="T5"/>
                  </a:cxn>
                  <a:cxn ang="0">
                    <a:pos x="T6" y="T7"/>
                  </a:cxn>
                  <a:cxn ang="0">
                    <a:pos x="T8" y="T9"/>
                  </a:cxn>
                  <a:cxn ang="0">
                    <a:pos x="T10" y="T11"/>
                  </a:cxn>
                  <a:cxn ang="0">
                    <a:pos x="T12" y="T13"/>
                  </a:cxn>
                </a:cxnLst>
                <a:rect l="0" t="0" r="r" b="b"/>
                <a:pathLst>
                  <a:path w="101" h="16">
                    <a:moveTo>
                      <a:pt x="0" y="0"/>
                    </a:moveTo>
                    <a:lnTo>
                      <a:pt x="0" y="14"/>
                    </a:lnTo>
                    <a:lnTo>
                      <a:pt x="2" y="14"/>
                    </a:lnTo>
                    <a:lnTo>
                      <a:pt x="2" y="16"/>
                    </a:lnTo>
                    <a:lnTo>
                      <a:pt x="101" y="16"/>
                    </a:lnTo>
                    <a:lnTo>
                      <a:pt x="101"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7897" name="Freeform 489"/>
              <p:cNvSpPr>
                <a:spLocks/>
              </p:cNvSpPr>
              <p:nvPr/>
            </p:nvSpPr>
            <p:spPr bwMode="auto">
              <a:xfrm>
                <a:off x="3556" y="2469"/>
                <a:ext cx="101" cy="16"/>
              </a:xfrm>
              <a:custGeom>
                <a:avLst/>
                <a:gdLst>
                  <a:gd name="T0" fmla="*/ 2 w 101"/>
                  <a:gd name="T1" fmla="*/ 0 h 16"/>
                  <a:gd name="T2" fmla="*/ 2 w 101"/>
                  <a:gd name="T3" fmla="*/ 6 h 16"/>
                  <a:gd name="T4" fmla="*/ 0 w 101"/>
                  <a:gd name="T5" fmla="*/ 6 h 16"/>
                  <a:gd name="T6" fmla="*/ 0 w 101"/>
                  <a:gd name="T7" fmla="*/ 16 h 16"/>
                  <a:gd name="T8" fmla="*/ 101 w 101"/>
                  <a:gd name="T9" fmla="*/ 16 h 16"/>
                  <a:gd name="T10" fmla="*/ 101 w 101"/>
                  <a:gd name="T11" fmla="*/ 3 h 16"/>
                  <a:gd name="T12" fmla="*/ 99 w 101"/>
                  <a:gd name="T13" fmla="*/ 3 h 16"/>
                  <a:gd name="T14" fmla="*/ 99 w 101"/>
                  <a:gd name="T15" fmla="*/ 0 h 16"/>
                  <a:gd name="T16" fmla="*/ 2 w 101"/>
                  <a:gd name="T17"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1" h="16">
                    <a:moveTo>
                      <a:pt x="2" y="0"/>
                    </a:moveTo>
                    <a:lnTo>
                      <a:pt x="2" y="6"/>
                    </a:lnTo>
                    <a:lnTo>
                      <a:pt x="0" y="6"/>
                    </a:lnTo>
                    <a:lnTo>
                      <a:pt x="0" y="16"/>
                    </a:lnTo>
                    <a:lnTo>
                      <a:pt x="101" y="16"/>
                    </a:lnTo>
                    <a:lnTo>
                      <a:pt x="101" y="3"/>
                    </a:lnTo>
                    <a:lnTo>
                      <a:pt x="99" y="3"/>
                    </a:lnTo>
                    <a:lnTo>
                      <a:pt x="99" y="0"/>
                    </a:lnTo>
                    <a:lnTo>
                      <a:pt x="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7898" name="Freeform 490"/>
              <p:cNvSpPr>
                <a:spLocks/>
              </p:cNvSpPr>
              <p:nvPr/>
            </p:nvSpPr>
            <p:spPr bwMode="auto">
              <a:xfrm>
                <a:off x="3558" y="2456"/>
                <a:ext cx="97" cy="16"/>
              </a:xfrm>
              <a:custGeom>
                <a:avLst/>
                <a:gdLst>
                  <a:gd name="T0" fmla="*/ 6 w 97"/>
                  <a:gd name="T1" fmla="*/ 0 h 16"/>
                  <a:gd name="T2" fmla="*/ 6 w 97"/>
                  <a:gd name="T3" fmla="*/ 3 h 16"/>
                  <a:gd name="T4" fmla="*/ 5 w 97"/>
                  <a:gd name="T5" fmla="*/ 3 h 16"/>
                  <a:gd name="T6" fmla="*/ 5 w 97"/>
                  <a:gd name="T7" fmla="*/ 6 h 16"/>
                  <a:gd name="T8" fmla="*/ 3 w 97"/>
                  <a:gd name="T9" fmla="*/ 6 h 16"/>
                  <a:gd name="T10" fmla="*/ 3 w 97"/>
                  <a:gd name="T11" fmla="*/ 9 h 16"/>
                  <a:gd name="T12" fmla="*/ 2 w 97"/>
                  <a:gd name="T13" fmla="*/ 9 h 16"/>
                  <a:gd name="T14" fmla="*/ 2 w 97"/>
                  <a:gd name="T15" fmla="*/ 13 h 16"/>
                  <a:gd name="T16" fmla="*/ 0 w 97"/>
                  <a:gd name="T17" fmla="*/ 13 h 16"/>
                  <a:gd name="T18" fmla="*/ 0 w 97"/>
                  <a:gd name="T19" fmla="*/ 16 h 16"/>
                  <a:gd name="T20" fmla="*/ 97 w 97"/>
                  <a:gd name="T21" fmla="*/ 16 h 16"/>
                  <a:gd name="T22" fmla="*/ 97 w 97"/>
                  <a:gd name="T23" fmla="*/ 9 h 16"/>
                  <a:gd name="T24" fmla="*/ 95 w 97"/>
                  <a:gd name="T25" fmla="*/ 9 h 16"/>
                  <a:gd name="T26" fmla="*/ 94 w 97"/>
                  <a:gd name="T27" fmla="*/ 6 h 16"/>
                  <a:gd name="T28" fmla="*/ 94 w 97"/>
                  <a:gd name="T29" fmla="*/ 3 h 16"/>
                  <a:gd name="T30" fmla="*/ 90 w 97"/>
                  <a:gd name="T31" fmla="*/ 3 h 16"/>
                  <a:gd name="T32" fmla="*/ 90 w 97"/>
                  <a:gd name="T33" fmla="*/ 0 h 16"/>
                  <a:gd name="T34" fmla="*/ 6 w 97"/>
                  <a:gd name="T35"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7" h="16">
                    <a:moveTo>
                      <a:pt x="6" y="0"/>
                    </a:moveTo>
                    <a:lnTo>
                      <a:pt x="6" y="3"/>
                    </a:lnTo>
                    <a:lnTo>
                      <a:pt x="5" y="3"/>
                    </a:lnTo>
                    <a:lnTo>
                      <a:pt x="5" y="6"/>
                    </a:lnTo>
                    <a:lnTo>
                      <a:pt x="3" y="6"/>
                    </a:lnTo>
                    <a:lnTo>
                      <a:pt x="3" y="9"/>
                    </a:lnTo>
                    <a:lnTo>
                      <a:pt x="2" y="9"/>
                    </a:lnTo>
                    <a:lnTo>
                      <a:pt x="2" y="13"/>
                    </a:lnTo>
                    <a:lnTo>
                      <a:pt x="0" y="13"/>
                    </a:lnTo>
                    <a:lnTo>
                      <a:pt x="0" y="16"/>
                    </a:lnTo>
                    <a:lnTo>
                      <a:pt x="97" y="16"/>
                    </a:lnTo>
                    <a:lnTo>
                      <a:pt x="97" y="9"/>
                    </a:lnTo>
                    <a:lnTo>
                      <a:pt x="95" y="9"/>
                    </a:lnTo>
                    <a:lnTo>
                      <a:pt x="94" y="6"/>
                    </a:lnTo>
                    <a:lnTo>
                      <a:pt x="94" y="3"/>
                    </a:lnTo>
                    <a:lnTo>
                      <a:pt x="90" y="3"/>
                    </a:lnTo>
                    <a:lnTo>
                      <a:pt x="90" y="0"/>
                    </a:lnTo>
                    <a:lnTo>
                      <a:pt x="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7899" name="Freeform 491"/>
              <p:cNvSpPr>
                <a:spLocks/>
              </p:cNvSpPr>
              <p:nvPr/>
            </p:nvSpPr>
            <p:spPr bwMode="auto">
              <a:xfrm>
                <a:off x="3564" y="2444"/>
                <a:ext cx="84" cy="15"/>
              </a:xfrm>
              <a:custGeom>
                <a:avLst/>
                <a:gdLst>
                  <a:gd name="T0" fmla="*/ 13 w 84"/>
                  <a:gd name="T1" fmla="*/ 0 h 15"/>
                  <a:gd name="T2" fmla="*/ 13 w 84"/>
                  <a:gd name="T3" fmla="*/ 2 h 15"/>
                  <a:gd name="T4" fmla="*/ 10 w 84"/>
                  <a:gd name="T5" fmla="*/ 2 h 15"/>
                  <a:gd name="T6" fmla="*/ 10 w 84"/>
                  <a:gd name="T7" fmla="*/ 4 h 15"/>
                  <a:gd name="T8" fmla="*/ 9 w 84"/>
                  <a:gd name="T9" fmla="*/ 4 h 15"/>
                  <a:gd name="T10" fmla="*/ 9 w 84"/>
                  <a:gd name="T11" fmla="*/ 7 h 15"/>
                  <a:gd name="T12" fmla="*/ 5 w 84"/>
                  <a:gd name="T13" fmla="*/ 7 h 15"/>
                  <a:gd name="T14" fmla="*/ 5 w 84"/>
                  <a:gd name="T15" fmla="*/ 10 h 15"/>
                  <a:gd name="T16" fmla="*/ 2 w 84"/>
                  <a:gd name="T17" fmla="*/ 12 h 15"/>
                  <a:gd name="T18" fmla="*/ 2 w 84"/>
                  <a:gd name="T19" fmla="*/ 13 h 15"/>
                  <a:gd name="T20" fmla="*/ 0 w 84"/>
                  <a:gd name="T21" fmla="*/ 13 h 15"/>
                  <a:gd name="T22" fmla="*/ 0 w 84"/>
                  <a:gd name="T23" fmla="*/ 15 h 15"/>
                  <a:gd name="T24" fmla="*/ 84 w 84"/>
                  <a:gd name="T25" fmla="*/ 15 h 15"/>
                  <a:gd name="T26" fmla="*/ 84 w 84"/>
                  <a:gd name="T27" fmla="*/ 12 h 15"/>
                  <a:gd name="T28" fmla="*/ 83 w 84"/>
                  <a:gd name="T29" fmla="*/ 12 h 15"/>
                  <a:gd name="T30" fmla="*/ 83 w 84"/>
                  <a:gd name="T31" fmla="*/ 9 h 15"/>
                  <a:gd name="T32" fmla="*/ 81 w 84"/>
                  <a:gd name="T33" fmla="*/ 9 h 15"/>
                  <a:gd name="T34" fmla="*/ 80 w 84"/>
                  <a:gd name="T35" fmla="*/ 5 h 15"/>
                  <a:gd name="T36" fmla="*/ 78 w 84"/>
                  <a:gd name="T37" fmla="*/ 5 h 15"/>
                  <a:gd name="T38" fmla="*/ 76 w 84"/>
                  <a:gd name="T39" fmla="*/ 2 h 15"/>
                  <a:gd name="T40" fmla="*/ 73 w 84"/>
                  <a:gd name="T41" fmla="*/ 2 h 15"/>
                  <a:gd name="T42" fmla="*/ 73 w 84"/>
                  <a:gd name="T43" fmla="*/ 0 h 15"/>
                  <a:gd name="T44" fmla="*/ 13 w 84"/>
                  <a:gd name="T45" fmla="*/ 0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4" h="15">
                    <a:moveTo>
                      <a:pt x="13" y="0"/>
                    </a:moveTo>
                    <a:lnTo>
                      <a:pt x="13" y="2"/>
                    </a:lnTo>
                    <a:lnTo>
                      <a:pt x="10" y="2"/>
                    </a:lnTo>
                    <a:lnTo>
                      <a:pt x="10" y="4"/>
                    </a:lnTo>
                    <a:lnTo>
                      <a:pt x="9" y="4"/>
                    </a:lnTo>
                    <a:lnTo>
                      <a:pt x="9" y="7"/>
                    </a:lnTo>
                    <a:lnTo>
                      <a:pt x="5" y="7"/>
                    </a:lnTo>
                    <a:lnTo>
                      <a:pt x="5" y="10"/>
                    </a:lnTo>
                    <a:lnTo>
                      <a:pt x="2" y="12"/>
                    </a:lnTo>
                    <a:lnTo>
                      <a:pt x="2" y="13"/>
                    </a:lnTo>
                    <a:lnTo>
                      <a:pt x="0" y="13"/>
                    </a:lnTo>
                    <a:lnTo>
                      <a:pt x="0" y="15"/>
                    </a:lnTo>
                    <a:lnTo>
                      <a:pt x="84" y="15"/>
                    </a:lnTo>
                    <a:lnTo>
                      <a:pt x="84" y="12"/>
                    </a:lnTo>
                    <a:lnTo>
                      <a:pt x="83" y="12"/>
                    </a:lnTo>
                    <a:lnTo>
                      <a:pt x="83" y="9"/>
                    </a:lnTo>
                    <a:lnTo>
                      <a:pt x="81" y="9"/>
                    </a:lnTo>
                    <a:lnTo>
                      <a:pt x="80" y="5"/>
                    </a:lnTo>
                    <a:lnTo>
                      <a:pt x="78" y="5"/>
                    </a:lnTo>
                    <a:lnTo>
                      <a:pt x="76" y="2"/>
                    </a:lnTo>
                    <a:lnTo>
                      <a:pt x="73" y="2"/>
                    </a:lnTo>
                    <a:lnTo>
                      <a:pt x="73" y="0"/>
                    </a:lnTo>
                    <a:lnTo>
                      <a:pt x="1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7900" name="Freeform 492"/>
              <p:cNvSpPr>
                <a:spLocks/>
              </p:cNvSpPr>
              <p:nvPr/>
            </p:nvSpPr>
            <p:spPr bwMode="auto">
              <a:xfrm>
                <a:off x="3574" y="2435"/>
                <a:ext cx="66" cy="13"/>
              </a:xfrm>
              <a:custGeom>
                <a:avLst/>
                <a:gdLst>
                  <a:gd name="T0" fmla="*/ 23 w 66"/>
                  <a:gd name="T1" fmla="*/ 0 h 13"/>
                  <a:gd name="T2" fmla="*/ 23 w 66"/>
                  <a:gd name="T3" fmla="*/ 1 h 13"/>
                  <a:gd name="T4" fmla="*/ 20 w 66"/>
                  <a:gd name="T5" fmla="*/ 1 h 13"/>
                  <a:gd name="T6" fmla="*/ 20 w 66"/>
                  <a:gd name="T7" fmla="*/ 3 h 13"/>
                  <a:gd name="T8" fmla="*/ 15 w 66"/>
                  <a:gd name="T9" fmla="*/ 3 h 13"/>
                  <a:gd name="T10" fmla="*/ 15 w 66"/>
                  <a:gd name="T11" fmla="*/ 5 h 13"/>
                  <a:gd name="T12" fmla="*/ 8 w 66"/>
                  <a:gd name="T13" fmla="*/ 5 h 13"/>
                  <a:gd name="T14" fmla="*/ 8 w 66"/>
                  <a:gd name="T15" fmla="*/ 8 h 13"/>
                  <a:gd name="T16" fmla="*/ 3 w 66"/>
                  <a:gd name="T17" fmla="*/ 8 h 13"/>
                  <a:gd name="T18" fmla="*/ 3 w 66"/>
                  <a:gd name="T19" fmla="*/ 11 h 13"/>
                  <a:gd name="T20" fmla="*/ 0 w 66"/>
                  <a:gd name="T21" fmla="*/ 11 h 13"/>
                  <a:gd name="T22" fmla="*/ 0 w 66"/>
                  <a:gd name="T23" fmla="*/ 13 h 13"/>
                  <a:gd name="T24" fmla="*/ 66 w 66"/>
                  <a:gd name="T25" fmla="*/ 13 h 13"/>
                  <a:gd name="T26" fmla="*/ 66 w 66"/>
                  <a:gd name="T27" fmla="*/ 11 h 13"/>
                  <a:gd name="T28" fmla="*/ 63 w 66"/>
                  <a:gd name="T29" fmla="*/ 11 h 13"/>
                  <a:gd name="T30" fmla="*/ 62 w 66"/>
                  <a:gd name="T31" fmla="*/ 8 h 13"/>
                  <a:gd name="T32" fmla="*/ 58 w 66"/>
                  <a:gd name="T33" fmla="*/ 8 h 13"/>
                  <a:gd name="T34" fmla="*/ 57 w 66"/>
                  <a:gd name="T35" fmla="*/ 5 h 13"/>
                  <a:gd name="T36" fmla="*/ 53 w 66"/>
                  <a:gd name="T37" fmla="*/ 5 h 13"/>
                  <a:gd name="T38" fmla="*/ 53 w 66"/>
                  <a:gd name="T39" fmla="*/ 3 h 13"/>
                  <a:gd name="T40" fmla="*/ 47 w 66"/>
                  <a:gd name="T41" fmla="*/ 3 h 13"/>
                  <a:gd name="T42" fmla="*/ 47 w 66"/>
                  <a:gd name="T43" fmla="*/ 1 h 13"/>
                  <a:gd name="T44" fmla="*/ 42 w 66"/>
                  <a:gd name="T45" fmla="*/ 1 h 13"/>
                  <a:gd name="T46" fmla="*/ 42 w 66"/>
                  <a:gd name="T47" fmla="*/ 0 h 13"/>
                  <a:gd name="T48" fmla="*/ 23 w 66"/>
                  <a:gd name="T49"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6" h="13">
                    <a:moveTo>
                      <a:pt x="23" y="0"/>
                    </a:moveTo>
                    <a:lnTo>
                      <a:pt x="23" y="1"/>
                    </a:lnTo>
                    <a:lnTo>
                      <a:pt x="20" y="1"/>
                    </a:lnTo>
                    <a:lnTo>
                      <a:pt x="20" y="3"/>
                    </a:lnTo>
                    <a:lnTo>
                      <a:pt x="15" y="3"/>
                    </a:lnTo>
                    <a:lnTo>
                      <a:pt x="15" y="5"/>
                    </a:lnTo>
                    <a:lnTo>
                      <a:pt x="8" y="5"/>
                    </a:lnTo>
                    <a:lnTo>
                      <a:pt x="8" y="8"/>
                    </a:lnTo>
                    <a:lnTo>
                      <a:pt x="3" y="8"/>
                    </a:lnTo>
                    <a:lnTo>
                      <a:pt x="3" y="11"/>
                    </a:lnTo>
                    <a:lnTo>
                      <a:pt x="0" y="11"/>
                    </a:lnTo>
                    <a:lnTo>
                      <a:pt x="0" y="13"/>
                    </a:lnTo>
                    <a:lnTo>
                      <a:pt x="66" y="13"/>
                    </a:lnTo>
                    <a:lnTo>
                      <a:pt x="66" y="11"/>
                    </a:lnTo>
                    <a:lnTo>
                      <a:pt x="63" y="11"/>
                    </a:lnTo>
                    <a:lnTo>
                      <a:pt x="62" y="8"/>
                    </a:lnTo>
                    <a:lnTo>
                      <a:pt x="58" y="8"/>
                    </a:lnTo>
                    <a:lnTo>
                      <a:pt x="57" y="5"/>
                    </a:lnTo>
                    <a:lnTo>
                      <a:pt x="53" y="5"/>
                    </a:lnTo>
                    <a:lnTo>
                      <a:pt x="53" y="3"/>
                    </a:lnTo>
                    <a:lnTo>
                      <a:pt x="47" y="3"/>
                    </a:lnTo>
                    <a:lnTo>
                      <a:pt x="47" y="1"/>
                    </a:lnTo>
                    <a:lnTo>
                      <a:pt x="42" y="1"/>
                    </a:lnTo>
                    <a:lnTo>
                      <a:pt x="42" y="0"/>
                    </a:lnTo>
                    <a:lnTo>
                      <a:pt x="2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7901" name="Freeform 493"/>
              <p:cNvSpPr>
                <a:spLocks/>
              </p:cNvSpPr>
              <p:nvPr/>
            </p:nvSpPr>
            <p:spPr bwMode="auto">
              <a:xfrm>
                <a:off x="3556" y="2435"/>
                <a:ext cx="99" cy="100"/>
              </a:xfrm>
              <a:custGeom>
                <a:avLst/>
                <a:gdLst>
                  <a:gd name="T0" fmla="*/ 2 w 99"/>
                  <a:gd name="T1" fmla="*/ 63 h 100"/>
                  <a:gd name="T2" fmla="*/ 4 w 99"/>
                  <a:gd name="T3" fmla="*/ 69 h 100"/>
                  <a:gd name="T4" fmla="*/ 5 w 99"/>
                  <a:gd name="T5" fmla="*/ 72 h 100"/>
                  <a:gd name="T6" fmla="*/ 7 w 99"/>
                  <a:gd name="T7" fmla="*/ 76 h 100"/>
                  <a:gd name="T8" fmla="*/ 10 w 99"/>
                  <a:gd name="T9" fmla="*/ 79 h 100"/>
                  <a:gd name="T10" fmla="*/ 13 w 99"/>
                  <a:gd name="T11" fmla="*/ 84 h 100"/>
                  <a:gd name="T12" fmla="*/ 17 w 99"/>
                  <a:gd name="T13" fmla="*/ 85 h 100"/>
                  <a:gd name="T14" fmla="*/ 18 w 99"/>
                  <a:gd name="T15" fmla="*/ 89 h 100"/>
                  <a:gd name="T16" fmla="*/ 21 w 99"/>
                  <a:gd name="T17" fmla="*/ 92 h 100"/>
                  <a:gd name="T18" fmla="*/ 25 w 99"/>
                  <a:gd name="T19" fmla="*/ 94 h 100"/>
                  <a:gd name="T20" fmla="*/ 29 w 99"/>
                  <a:gd name="T21" fmla="*/ 95 h 100"/>
                  <a:gd name="T22" fmla="*/ 34 w 99"/>
                  <a:gd name="T23" fmla="*/ 97 h 100"/>
                  <a:gd name="T24" fmla="*/ 41 w 99"/>
                  <a:gd name="T25" fmla="*/ 100 h 100"/>
                  <a:gd name="T26" fmla="*/ 65 w 99"/>
                  <a:gd name="T27" fmla="*/ 97 h 100"/>
                  <a:gd name="T28" fmla="*/ 70 w 99"/>
                  <a:gd name="T29" fmla="*/ 95 h 100"/>
                  <a:gd name="T30" fmla="*/ 75 w 99"/>
                  <a:gd name="T31" fmla="*/ 94 h 100"/>
                  <a:gd name="T32" fmla="*/ 78 w 99"/>
                  <a:gd name="T33" fmla="*/ 92 h 100"/>
                  <a:gd name="T34" fmla="*/ 81 w 99"/>
                  <a:gd name="T35" fmla="*/ 89 h 100"/>
                  <a:gd name="T36" fmla="*/ 84 w 99"/>
                  <a:gd name="T37" fmla="*/ 85 h 100"/>
                  <a:gd name="T38" fmla="*/ 86 w 99"/>
                  <a:gd name="T39" fmla="*/ 84 h 100"/>
                  <a:gd name="T40" fmla="*/ 89 w 99"/>
                  <a:gd name="T41" fmla="*/ 81 h 100"/>
                  <a:gd name="T42" fmla="*/ 91 w 99"/>
                  <a:gd name="T43" fmla="*/ 77 h 100"/>
                  <a:gd name="T44" fmla="*/ 94 w 99"/>
                  <a:gd name="T45" fmla="*/ 74 h 100"/>
                  <a:gd name="T46" fmla="*/ 96 w 99"/>
                  <a:gd name="T47" fmla="*/ 69 h 100"/>
                  <a:gd name="T48" fmla="*/ 97 w 99"/>
                  <a:gd name="T49" fmla="*/ 64 h 100"/>
                  <a:gd name="T50" fmla="*/ 99 w 99"/>
                  <a:gd name="T51" fmla="*/ 50 h 100"/>
                  <a:gd name="T52" fmla="*/ 97 w 99"/>
                  <a:gd name="T53" fmla="*/ 35 h 100"/>
                  <a:gd name="T54" fmla="*/ 96 w 99"/>
                  <a:gd name="T55" fmla="*/ 30 h 100"/>
                  <a:gd name="T56" fmla="*/ 94 w 99"/>
                  <a:gd name="T57" fmla="*/ 26 h 100"/>
                  <a:gd name="T58" fmla="*/ 91 w 99"/>
                  <a:gd name="T59" fmla="*/ 22 h 100"/>
                  <a:gd name="T60" fmla="*/ 89 w 99"/>
                  <a:gd name="T61" fmla="*/ 19 h 100"/>
                  <a:gd name="T62" fmla="*/ 86 w 99"/>
                  <a:gd name="T63" fmla="*/ 16 h 100"/>
                  <a:gd name="T64" fmla="*/ 84 w 99"/>
                  <a:gd name="T65" fmla="*/ 13 h 100"/>
                  <a:gd name="T66" fmla="*/ 81 w 99"/>
                  <a:gd name="T67" fmla="*/ 11 h 100"/>
                  <a:gd name="T68" fmla="*/ 78 w 99"/>
                  <a:gd name="T69" fmla="*/ 8 h 100"/>
                  <a:gd name="T70" fmla="*/ 75 w 99"/>
                  <a:gd name="T71" fmla="*/ 6 h 100"/>
                  <a:gd name="T72" fmla="*/ 70 w 99"/>
                  <a:gd name="T73" fmla="*/ 5 h 100"/>
                  <a:gd name="T74" fmla="*/ 65 w 99"/>
                  <a:gd name="T75" fmla="*/ 3 h 100"/>
                  <a:gd name="T76" fmla="*/ 41 w 99"/>
                  <a:gd name="T77" fmla="*/ 0 h 100"/>
                  <a:gd name="T78" fmla="*/ 34 w 99"/>
                  <a:gd name="T79" fmla="*/ 3 h 100"/>
                  <a:gd name="T80" fmla="*/ 29 w 99"/>
                  <a:gd name="T81" fmla="*/ 5 h 100"/>
                  <a:gd name="T82" fmla="*/ 25 w 99"/>
                  <a:gd name="T83" fmla="*/ 6 h 100"/>
                  <a:gd name="T84" fmla="*/ 21 w 99"/>
                  <a:gd name="T85" fmla="*/ 8 h 100"/>
                  <a:gd name="T86" fmla="*/ 18 w 99"/>
                  <a:gd name="T87" fmla="*/ 11 h 100"/>
                  <a:gd name="T88" fmla="*/ 17 w 99"/>
                  <a:gd name="T89" fmla="*/ 14 h 100"/>
                  <a:gd name="T90" fmla="*/ 13 w 99"/>
                  <a:gd name="T91" fmla="*/ 16 h 100"/>
                  <a:gd name="T92" fmla="*/ 10 w 99"/>
                  <a:gd name="T93" fmla="*/ 21 h 100"/>
                  <a:gd name="T94" fmla="*/ 7 w 99"/>
                  <a:gd name="T95" fmla="*/ 24 h 100"/>
                  <a:gd name="T96" fmla="*/ 5 w 99"/>
                  <a:gd name="T97" fmla="*/ 27 h 100"/>
                  <a:gd name="T98" fmla="*/ 4 w 99"/>
                  <a:gd name="T99" fmla="*/ 30 h 100"/>
                  <a:gd name="T100" fmla="*/ 2 w 99"/>
                  <a:gd name="T101" fmla="*/ 37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9" h="100">
                    <a:moveTo>
                      <a:pt x="0" y="50"/>
                    </a:moveTo>
                    <a:lnTo>
                      <a:pt x="0" y="60"/>
                    </a:lnTo>
                    <a:lnTo>
                      <a:pt x="2" y="60"/>
                    </a:lnTo>
                    <a:lnTo>
                      <a:pt x="2" y="63"/>
                    </a:lnTo>
                    <a:lnTo>
                      <a:pt x="2" y="64"/>
                    </a:lnTo>
                    <a:lnTo>
                      <a:pt x="2" y="66"/>
                    </a:lnTo>
                    <a:lnTo>
                      <a:pt x="4" y="68"/>
                    </a:lnTo>
                    <a:lnTo>
                      <a:pt x="4" y="69"/>
                    </a:lnTo>
                    <a:lnTo>
                      <a:pt x="5" y="69"/>
                    </a:lnTo>
                    <a:lnTo>
                      <a:pt x="5" y="71"/>
                    </a:lnTo>
                    <a:lnTo>
                      <a:pt x="5" y="72"/>
                    </a:lnTo>
                    <a:lnTo>
                      <a:pt x="5" y="72"/>
                    </a:lnTo>
                    <a:lnTo>
                      <a:pt x="7" y="74"/>
                    </a:lnTo>
                    <a:lnTo>
                      <a:pt x="7" y="76"/>
                    </a:lnTo>
                    <a:lnTo>
                      <a:pt x="7" y="76"/>
                    </a:lnTo>
                    <a:lnTo>
                      <a:pt x="7" y="76"/>
                    </a:lnTo>
                    <a:lnTo>
                      <a:pt x="8" y="77"/>
                    </a:lnTo>
                    <a:lnTo>
                      <a:pt x="8" y="77"/>
                    </a:lnTo>
                    <a:lnTo>
                      <a:pt x="10" y="77"/>
                    </a:lnTo>
                    <a:lnTo>
                      <a:pt x="10" y="79"/>
                    </a:lnTo>
                    <a:lnTo>
                      <a:pt x="12" y="81"/>
                    </a:lnTo>
                    <a:lnTo>
                      <a:pt x="12" y="82"/>
                    </a:lnTo>
                    <a:lnTo>
                      <a:pt x="13" y="82"/>
                    </a:lnTo>
                    <a:lnTo>
                      <a:pt x="13" y="84"/>
                    </a:lnTo>
                    <a:lnTo>
                      <a:pt x="13" y="84"/>
                    </a:lnTo>
                    <a:lnTo>
                      <a:pt x="15" y="84"/>
                    </a:lnTo>
                    <a:lnTo>
                      <a:pt x="15" y="85"/>
                    </a:lnTo>
                    <a:lnTo>
                      <a:pt x="17" y="85"/>
                    </a:lnTo>
                    <a:lnTo>
                      <a:pt x="17" y="85"/>
                    </a:lnTo>
                    <a:lnTo>
                      <a:pt x="17" y="87"/>
                    </a:lnTo>
                    <a:lnTo>
                      <a:pt x="18" y="87"/>
                    </a:lnTo>
                    <a:lnTo>
                      <a:pt x="18" y="89"/>
                    </a:lnTo>
                    <a:lnTo>
                      <a:pt x="18" y="89"/>
                    </a:lnTo>
                    <a:lnTo>
                      <a:pt x="21" y="90"/>
                    </a:lnTo>
                    <a:lnTo>
                      <a:pt x="21" y="90"/>
                    </a:lnTo>
                    <a:lnTo>
                      <a:pt x="21" y="92"/>
                    </a:lnTo>
                    <a:lnTo>
                      <a:pt x="23" y="92"/>
                    </a:lnTo>
                    <a:lnTo>
                      <a:pt x="25" y="92"/>
                    </a:lnTo>
                    <a:lnTo>
                      <a:pt x="25" y="92"/>
                    </a:lnTo>
                    <a:lnTo>
                      <a:pt x="25" y="94"/>
                    </a:lnTo>
                    <a:lnTo>
                      <a:pt x="26" y="94"/>
                    </a:lnTo>
                    <a:lnTo>
                      <a:pt x="26" y="94"/>
                    </a:lnTo>
                    <a:lnTo>
                      <a:pt x="28" y="94"/>
                    </a:lnTo>
                    <a:lnTo>
                      <a:pt x="29" y="95"/>
                    </a:lnTo>
                    <a:lnTo>
                      <a:pt x="31" y="95"/>
                    </a:lnTo>
                    <a:lnTo>
                      <a:pt x="31" y="97"/>
                    </a:lnTo>
                    <a:lnTo>
                      <a:pt x="33" y="97"/>
                    </a:lnTo>
                    <a:lnTo>
                      <a:pt x="34" y="97"/>
                    </a:lnTo>
                    <a:lnTo>
                      <a:pt x="36" y="97"/>
                    </a:lnTo>
                    <a:lnTo>
                      <a:pt x="38" y="98"/>
                    </a:lnTo>
                    <a:lnTo>
                      <a:pt x="41" y="98"/>
                    </a:lnTo>
                    <a:lnTo>
                      <a:pt x="41" y="100"/>
                    </a:lnTo>
                    <a:lnTo>
                      <a:pt x="59" y="100"/>
                    </a:lnTo>
                    <a:lnTo>
                      <a:pt x="60" y="98"/>
                    </a:lnTo>
                    <a:lnTo>
                      <a:pt x="63" y="98"/>
                    </a:lnTo>
                    <a:lnTo>
                      <a:pt x="65" y="97"/>
                    </a:lnTo>
                    <a:lnTo>
                      <a:pt x="67" y="97"/>
                    </a:lnTo>
                    <a:lnTo>
                      <a:pt x="67" y="97"/>
                    </a:lnTo>
                    <a:lnTo>
                      <a:pt x="70" y="97"/>
                    </a:lnTo>
                    <a:lnTo>
                      <a:pt x="70" y="95"/>
                    </a:lnTo>
                    <a:lnTo>
                      <a:pt x="71" y="95"/>
                    </a:lnTo>
                    <a:lnTo>
                      <a:pt x="73" y="94"/>
                    </a:lnTo>
                    <a:lnTo>
                      <a:pt x="73" y="94"/>
                    </a:lnTo>
                    <a:lnTo>
                      <a:pt x="75" y="94"/>
                    </a:lnTo>
                    <a:lnTo>
                      <a:pt x="75" y="94"/>
                    </a:lnTo>
                    <a:lnTo>
                      <a:pt x="75" y="92"/>
                    </a:lnTo>
                    <a:lnTo>
                      <a:pt x="76" y="92"/>
                    </a:lnTo>
                    <a:lnTo>
                      <a:pt x="78" y="92"/>
                    </a:lnTo>
                    <a:lnTo>
                      <a:pt x="78" y="92"/>
                    </a:lnTo>
                    <a:lnTo>
                      <a:pt x="78" y="90"/>
                    </a:lnTo>
                    <a:lnTo>
                      <a:pt x="80" y="90"/>
                    </a:lnTo>
                    <a:lnTo>
                      <a:pt x="81" y="89"/>
                    </a:lnTo>
                    <a:lnTo>
                      <a:pt x="83" y="89"/>
                    </a:lnTo>
                    <a:lnTo>
                      <a:pt x="83" y="87"/>
                    </a:lnTo>
                    <a:lnTo>
                      <a:pt x="83" y="87"/>
                    </a:lnTo>
                    <a:lnTo>
                      <a:pt x="84" y="85"/>
                    </a:lnTo>
                    <a:lnTo>
                      <a:pt x="84" y="85"/>
                    </a:lnTo>
                    <a:lnTo>
                      <a:pt x="86" y="85"/>
                    </a:lnTo>
                    <a:lnTo>
                      <a:pt x="86" y="84"/>
                    </a:lnTo>
                    <a:lnTo>
                      <a:pt x="86" y="84"/>
                    </a:lnTo>
                    <a:lnTo>
                      <a:pt x="88" y="84"/>
                    </a:lnTo>
                    <a:lnTo>
                      <a:pt x="88" y="82"/>
                    </a:lnTo>
                    <a:lnTo>
                      <a:pt x="89" y="82"/>
                    </a:lnTo>
                    <a:lnTo>
                      <a:pt x="89" y="81"/>
                    </a:lnTo>
                    <a:lnTo>
                      <a:pt x="91" y="79"/>
                    </a:lnTo>
                    <a:lnTo>
                      <a:pt x="91" y="77"/>
                    </a:lnTo>
                    <a:lnTo>
                      <a:pt x="91" y="77"/>
                    </a:lnTo>
                    <a:lnTo>
                      <a:pt x="91" y="77"/>
                    </a:lnTo>
                    <a:lnTo>
                      <a:pt x="92" y="76"/>
                    </a:lnTo>
                    <a:lnTo>
                      <a:pt x="92" y="76"/>
                    </a:lnTo>
                    <a:lnTo>
                      <a:pt x="94" y="76"/>
                    </a:lnTo>
                    <a:lnTo>
                      <a:pt x="94" y="74"/>
                    </a:lnTo>
                    <a:lnTo>
                      <a:pt x="94" y="72"/>
                    </a:lnTo>
                    <a:lnTo>
                      <a:pt x="94" y="72"/>
                    </a:lnTo>
                    <a:lnTo>
                      <a:pt x="96" y="71"/>
                    </a:lnTo>
                    <a:lnTo>
                      <a:pt x="96" y="69"/>
                    </a:lnTo>
                    <a:lnTo>
                      <a:pt x="97" y="69"/>
                    </a:lnTo>
                    <a:lnTo>
                      <a:pt x="97" y="68"/>
                    </a:lnTo>
                    <a:lnTo>
                      <a:pt x="97" y="66"/>
                    </a:lnTo>
                    <a:lnTo>
                      <a:pt x="97" y="64"/>
                    </a:lnTo>
                    <a:lnTo>
                      <a:pt x="99" y="63"/>
                    </a:lnTo>
                    <a:lnTo>
                      <a:pt x="99" y="60"/>
                    </a:lnTo>
                    <a:lnTo>
                      <a:pt x="99" y="60"/>
                    </a:lnTo>
                    <a:lnTo>
                      <a:pt x="99" y="50"/>
                    </a:lnTo>
                    <a:lnTo>
                      <a:pt x="99" y="40"/>
                    </a:lnTo>
                    <a:lnTo>
                      <a:pt x="99" y="40"/>
                    </a:lnTo>
                    <a:lnTo>
                      <a:pt x="99" y="37"/>
                    </a:lnTo>
                    <a:lnTo>
                      <a:pt x="97" y="35"/>
                    </a:lnTo>
                    <a:lnTo>
                      <a:pt x="97" y="34"/>
                    </a:lnTo>
                    <a:lnTo>
                      <a:pt x="97" y="32"/>
                    </a:lnTo>
                    <a:lnTo>
                      <a:pt x="97" y="30"/>
                    </a:lnTo>
                    <a:lnTo>
                      <a:pt x="96" y="30"/>
                    </a:lnTo>
                    <a:lnTo>
                      <a:pt x="96" y="29"/>
                    </a:lnTo>
                    <a:lnTo>
                      <a:pt x="94" y="27"/>
                    </a:lnTo>
                    <a:lnTo>
                      <a:pt x="94" y="27"/>
                    </a:lnTo>
                    <a:lnTo>
                      <a:pt x="94" y="26"/>
                    </a:lnTo>
                    <a:lnTo>
                      <a:pt x="94" y="24"/>
                    </a:lnTo>
                    <a:lnTo>
                      <a:pt x="92" y="24"/>
                    </a:lnTo>
                    <a:lnTo>
                      <a:pt x="92" y="24"/>
                    </a:lnTo>
                    <a:lnTo>
                      <a:pt x="91" y="22"/>
                    </a:lnTo>
                    <a:lnTo>
                      <a:pt x="91" y="21"/>
                    </a:lnTo>
                    <a:lnTo>
                      <a:pt x="91" y="21"/>
                    </a:lnTo>
                    <a:lnTo>
                      <a:pt x="91" y="21"/>
                    </a:lnTo>
                    <a:lnTo>
                      <a:pt x="89" y="19"/>
                    </a:lnTo>
                    <a:lnTo>
                      <a:pt x="89" y="18"/>
                    </a:lnTo>
                    <a:lnTo>
                      <a:pt x="88" y="18"/>
                    </a:lnTo>
                    <a:lnTo>
                      <a:pt x="88" y="16"/>
                    </a:lnTo>
                    <a:lnTo>
                      <a:pt x="86" y="16"/>
                    </a:lnTo>
                    <a:lnTo>
                      <a:pt x="86" y="16"/>
                    </a:lnTo>
                    <a:lnTo>
                      <a:pt x="86" y="14"/>
                    </a:lnTo>
                    <a:lnTo>
                      <a:pt x="84" y="14"/>
                    </a:lnTo>
                    <a:lnTo>
                      <a:pt x="84" y="13"/>
                    </a:lnTo>
                    <a:lnTo>
                      <a:pt x="83" y="13"/>
                    </a:lnTo>
                    <a:lnTo>
                      <a:pt x="83" y="13"/>
                    </a:lnTo>
                    <a:lnTo>
                      <a:pt x="83" y="11"/>
                    </a:lnTo>
                    <a:lnTo>
                      <a:pt x="81" y="11"/>
                    </a:lnTo>
                    <a:lnTo>
                      <a:pt x="80" y="9"/>
                    </a:lnTo>
                    <a:lnTo>
                      <a:pt x="78" y="9"/>
                    </a:lnTo>
                    <a:lnTo>
                      <a:pt x="78" y="8"/>
                    </a:lnTo>
                    <a:lnTo>
                      <a:pt x="78" y="8"/>
                    </a:lnTo>
                    <a:lnTo>
                      <a:pt x="76" y="8"/>
                    </a:lnTo>
                    <a:lnTo>
                      <a:pt x="75" y="8"/>
                    </a:lnTo>
                    <a:lnTo>
                      <a:pt x="75" y="6"/>
                    </a:lnTo>
                    <a:lnTo>
                      <a:pt x="75" y="6"/>
                    </a:lnTo>
                    <a:lnTo>
                      <a:pt x="73" y="5"/>
                    </a:lnTo>
                    <a:lnTo>
                      <a:pt x="73" y="5"/>
                    </a:lnTo>
                    <a:lnTo>
                      <a:pt x="71" y="5"/>
                    </a:lnTo>
                    <a:lnTo>
                      <a:pt x="70" y="5"/>
                    </a:lnTo>
                    <a:lnTo>
                      <a:pt x="70" y="3"/>
                    </a:lnTo>
                    <a:lnTo>
                      <a:pt x="67" y="3"/>
                    </a:lnTo>
                    <a:lnTo>
                      <a:pt x="67" y="3"/>
                    </a:lnTo>
                    <a:lnTo>
                      <a:pt x="65" y="3"/>
                    </a:lnTo>
                    <a:lnTo>
                      <a:pt x="63" y="1"/>
                    </a:lnTo>
                    <a:lnTo>
                      <a:pt x="60" y="1"/>
                    </a:lnTo>
                    <a:lnTo>
                      <a:pt x="59" y="0"/>
                    </a:lnTo>
                    <a:lnTo>
                      <a:pt x="41" y="0"/>
                    </a:lnTo>
                    <a:lnTo>
                      <a:pt x="41" y="1"/>
                    </a:lnTo>
                    <a:lnTo>
                      <a:pt x="38" y="1"/>
                    </a:lnTo>
                    <a:lnTo>
                      <a:pt x="36" y="3"/>
                    </a:lnTo>
                    <a:lnTo>
                      <a:pt x="34" y="3"/>
                    </a:lnTo>
                    <a:lnTo>
                      <a:pt x="33" y="3"/>
                    </a:lnTo>
                    <a:lnTo>
                      <a:pt x="31" y="3"/>
                    </a:lnTo>
                    <a:lnTo>
                      <a:pt x="31" y="5"/>
                    </a:lnTo>
                    <a:lnTo>
                      <a:pt x="29" y="5"/>
                    </a:lnTo>
                    <a:lnTo>
                      <a:pt x="28" y="5"/>
                    </a:lnTo>
                    <a:lnTo>
                      <a:pt x="26" y="5"/>
                    </a:lnTo>
                    <a:lnTo>
                      <a:pt x="26" y="6"/>
                    </a:lnTo>
                    <a:lnTo>
                      <a:pt x="25" y="6"/>
                    </a:lnTo>
                    <a:lnTo>
                      <a:pt x="25" y="8"/>
                    </a:lnTo>
                    <a:lnTo>
                      <a:pt x="25" y="8"/>
                    </a:lnTo>
                    <a:lnTo>
                      <a:pt x="23" y="8"/>
                    </a:lnTo>
                    <a:lnTo>
                      <a:pt x="21" y="8"/>
                    </a:lnTo>
                    <a:lnTo>
                      <a:pt x="21" y="9"/>
                    </a:lnTo>
                    <a:lnTo>
                      <a:pt x="21" y="9"/>
                    </a:lnTo>
                    <a:lnTo>
                      <a:pt x="18" y="11"/>
                    </a:lnTo>
                    <a:lnTo>
                      <a:pt x="18" y="11"/>
                    </a:lnTo>
                    <a:lnTo>
                      <a:pt x="18" y="13"/>
                    </a:lnTo>
                    <a:lnTo>
                      <a:pt x="17" y="13"/>
                    </a:lnTo>
                    <a:lnTo>
                      <a:pt x="17" y="13"/>
                    </a:lnTo>
                    <a:lnTo>
                      <a:pt x="17" y="14"/>
                    </a:lnTo>
                    <a:lnTo>
                      <a:pt x="15" y="14"/>
                    </a:lnTo>
                    <a:lnTo>
                      <a:pt x="15" y="16"/>
                    </a:lnTo>
                    <a:lnTo>
                      <a:pt x="13" y="16"/>
                    </a:lnTo>
                    <a:lnTo>
                      <a:pt x="13" y="16"/>
                    </a:lnTo>
                    <a:lnTo>
                      <a:pt x="13" y="18"/>
                    </a:lnTo>
                    <a:lnTo>
                      <a:pt x="12" y="18"/>
                    </a:lnTo>
                    <a:lnTo>
                      <a:pt x="12" y="19"/>
                    </a:lnTo>
                    <a:lnTo>
                      <a:pt x="10" y="21"/>
                    </a:lnTo>
                    <a:lnTo>
                      <a:pt x="10" y="21"/>
                    </a:lnTo>
                    <a:lnTo>
                      <a:pt x="8" y="21"/>
                    </a:lnTo>
                    <a:lnTo>
                      <a:pt x="8" y="22"/>
                    </a:lnTo>
                    <a:lnTo>
                      <a:pt x="7" y="24"/>
                    </a:lnTo>
                    <a:lnTo>
                      <a:pt x="7" y="24"/>
                    </a:lnTo>
                    <a:lnTo>
                      <a:pt x="7" y="24"/>
                    </a:lnTo>
                    <a:lnTo>
                      <a:pt x="7" y="26"/>
                    </a:lnTo>
                    <a:lnTo>
                      <a:pt x="5" y="27"/>
                    </a:lnTo>
                    <a:lnTo>
                      <a:pt x="5" y="27"/>
                    </a:lnTo>
                    <a:lnTo>
                      <a:pt x="5" y="29"/>
                    </a:lnTo>
                    <a:lnTo>
                      <a:pt x="5" y="30"/>
                    </a:lnTo>
                    <a:lnTo>
                      <a:pt x="4" y="30"/>
                    </a:lnTo>
                    <a:lnTo>
                      <a:pt x="4" y="32"/>
                    </a:lnTo>
                    <a:lnTo>
                      <a:pt x="2" y="34"/>
                    </a:lnTo>
                    <a:lnTo>
                      <a:pt x="2" y="35"/>
                    </a:lnTo>
                    <a:lnTo>
                      <a:pt x="2" y="37"/>
                    </a:lnTo>
                    <a:lnTo>
                      <a:pt x="2" y="40"/>
                    </a:lnTo>
                    <a:lnTo>
                      <a:pt x="0" y="40"/>
                    </a:lnTo>
                    <a:lnTo>
                      <a:pt x="0" y="50"/>
                    </a:lnTo>
                  </a:path>
                </a:pathLst>
              </a:custGeom>
              <a:grpFill/>
              <a:ln w="0">
                <a:solidFill>
                  <a:srgbClr val="000000"/>
                </a:solidFill>
                <a:prstDash val="solid"/>
                <a:round/>
                <a:headEnd/>
                <a:tailEnd/>
              </a:ln>
              <a:extLst/>
            </p:spPr>
            <p:txBody>
              <a:bodyPr/>
              <a:lstStyle/>
              <a:p>
                <a:pPr>
                  <a:defRPr/>
                </a:pPr>
                <a:endParaRPr lang="en-US"/>
              </a:p>
            </p:txBody>
          </p:sp>
          <p:sp>
            <p:nvSpPr>
              <p:cNvPr id="17902" name="Line 494"/>
              <p:cNvSpPr>
                <a:spLocks noChangeShapeType="1"/>
              </p:cNvSpPr>
              <p:nvPr/>
            </p:nvSpPr>
            <p:spPr bwMode="auto">
              <a:xfrm flipH="1">
                <a:off x="3589" y="2412"/>
                <a:ext cx="34" cy="1"/>
              </a:xfrm>
              <a:prstGeom prst="line">
                <a:avLst/>
              </a:prstGeom>
              <a:grpFill/>
              <a:ln w="0">
                <a:solidFill>
                  <a:srgbClr val="000000"/>
                </a:solidFill>
                <a:round/>
                <a:headEnd/>
                <a:tailEnd/>
              </a:ln>
              <a:extLst/>
            </p:spPr>
            <p:txBody>
              <a:bodyPr/>
              <a:lstStyle/>
              <a:p>
                <a:pPr>
                  <a:defRPr/>
                </a:pPr>
                <a:endParaRPr lang="en-US"/>
              </a:p>
            </p:txBody>
          </p:sp>
          <p:sp>
            <p:nvSpPr>
              <p:cNvPr id="17903" name="Rectangle 495"/>
              <p:cNvSpPr>
                <a:spLocks noChangeArrowheads="1"/>
              </p:cNvSpPr>
              <p:nvPr/>
            </p:nvSpPr>
            <p:spPr bwMode="auto">
              <a:xfrm>
                <a:off x="3100" y="1687"/>
                <a:ext cx="12" cy="1077"/>
              </a:xfrm>
              <a:prstGeom prst="rect">
                <a:avLst/>
              </a:prstGeom>
              <a:grpFill/>
              <a:ln w="0">
                <a:solidFill>
                  <a:srgbClr val="000000"/>
                </a:solidFill>
                <a:miter lim="800000"/>
                <a:headEnd/>
                <a:tailEnd/>
              </a:ln>
            </p:spPr>
            <p:txBody>
              <a:bodyPr/>
              <a:lstStyle/>
              <a:p>
                <a:pPr>
                  <a:defRPr/>
                </a:pPr>
                <a:endParaRPr lang="en-US"/>
              </a:p>
            </p:txBody>
          </p:sp>
          <p:sp>
            <p:nvSpPr>
              <p:cNvPr id="17904" name="Line 496"/>
              <p:cNvSpPr>
                <a:spLocks noChangeShapeType="1"/>
              </p:cNvSpPr>
              <p:nvPr/>
            </p:nvSpPr>
            <p:spPr bwMode="auto">
              <a:xfrm flipH="1">
                <a:off x="2968" y="2149"/>
                <a:ext cx="107" cy="1"/>
              </a:xfrm>
              <a:prstGeom prst="line">
                <a:avLst/>
              </a:prstGeom>
              <a:grpFill/>
              <a:ln w="0">
                <a:solidFill>
                  <a:srgbClr val="000000"/>
                </a:solidFill>
                <a:round/>
                <a:headEnd/>
                <a:tailEnd/>
              </a:ln>
              <a:extLst/>
            </p:spPr>
            <p:txBody>
              <a:bodyPr/>
              <a:lstStyle/>
              <a:p>
                <a:pPr>
                  <a:defRPr/>
                </a:pPr>
                <a:endParaRPr lang="en-US"/>
              </a:p>
            </p:txBody>
          </p:sp>
          <p:sp>
            <p:nvSpPr>
              <p:cNvPr id="17905" name="Rectangle 497"/>
              <p:cNvSpPr>
                <a:spLocks noChangeArrowheads="1"/>
              </p:cNvSpPr>
              <p:nvPr/>
            </p:nvSpPr>
            <p:spPr bwMode="auto">
              <a:xfrm>
                <a:off x="3002" y="1674"/>
                <a:ext cx="604" cy="11"/>
              </a:xfrm>
              <a:prstGeom prst="rect">
                <a:avLst/>
              </a:prstGeom>
              <a:grpFill/>
              <a:ln w="0">
                <a:solidFill>
                  <a:srgbClr val="000000"/>
                </a:solidFill>
                <a:miter lim="800000"/>
                <a:headEnd/>
                <a:tailEnd/>
              </a:ln>
            </p:spPr>
            <p:txBody>
              <a:bodyPr/>
              <a:lstStyle/>
              <a:p>
                <a:pPr>
                  <a:defRPr/>
                </a:pPr>
                <a:endParaRPr lang="en-US"/>
              </a:p>
            </p:txBody>
          </p:sp>
          <p:sp>
            <p:nvSpPr>
              <p:cNvPr id="17906" name="Freeform 498"/>
              <p:cNvSpPr>
                <a:spLocks/>
              </p:cNvSpPr>
              <p:nvPr/>
            </p:nvSpPr>
            <p:spPr bwMode="auto">
              <a:xfrm>
                <a:off x="3021" y="2483"/>
                <a:ext cx="49" cy="109"/>
              </a:xfrm>
              <a:custGeom>
                <a:avLst/>
                <a:gdLst>
                  <a:gd name="T0" fmla="*/ 23 w 49"/>
                  <a:gd name="T1" fmla="*/ 3 h 109"/>
                  <a:gd name="T2" fmla="*/ 21 w 49"/>
                  <a:gd name="T3" fmla="*/ 8 h 109"/>
                  <a:gd name="T4" fmla="*/ 20 w 49"/>
                  <a:gd name="T5" fmla="*/ 13 h 109"/>
                  <a:gd name="T6" fmla="*/ 18 w 49"/>
                  <a:gd name="T7" fmla="*/ 16 h 109"/>
                  <a:gd name="T8" fmla="*/ 16 w 49"/>
                  <a:gd name="T9" fmla="*/ 21 h 109"/>
                  <a:gd name="T10" fmla="*/ 15 w 49"/>
                  <a:gd name="T11" fmla="*/ 24 h 109"/>
                  <a:gd name="T12" fmla="*/ 13 w 49"/>
                  <a:gd name="T13" fmla="*/ 29 h 109"/>
                  <a:gd name="T14" fmla="*/ 12 w 49"/>
                  <a:gd name="T15" fmla="*/ 34 h 109"/>
                  <a:gd name="T16" fmla="*/ 10 w 49"/>
                  <a:gd name="T17" fmla="*/ 37 h 109"/>
                  <a:gd name="T18" fmla="*/ 8 w 49"/>
                  <a:gd name="T19" fmla="*/ 42 h 109"/>
                  <a:gd name="T20" fmla="*/ 7 w 49"/>
                  <a:gd name="T21" fmla="*/ 46 h 109"/>
                  <a:gd name="T22" fmla="*/ 5 w 49"/>
                  <a:gd name="T23" fmla="*/ 50 h 109"/>
                  <a:gd name="T24" fmla="*/ 4 w 49"/>
                  <a:gd name="T25" fmla="*/ 55 h 109"/>
                  <a:gd name="T26" fmla="*/ 2 w 49"/>
                  <a:gd name="T27" fmla="*/ 58 h 109"/>
                  <a:gd name="T28" fmla="*/ 0 w 49"/>
                  <a:gd name="T29" fmla="*/ 62 h 109"/>
                  <a:gd name="T30" fmla="*/ 13 w 49"/>
                  <a:gd name="T31" fmla="*/ 109 h 109"/>
                  <a:gd name="T32" fmla="*/ 37 w 49"/>
                  <a:gd name="T33" fmla="*/ 62 h 109"/>
                  <a:gd name="T34" fmla="*/ 49 w 49"/>
                  <a:gd name="T35" fmla="*/ 58 h 109"/>
                  <a:gd name="T36" fmla="*/ 47 w 49"/>
                  <a:gd name="T37" fmla="*/ 55 h 109"/>
                  <a:gd name="T38" fmla="*/ 46 w 49"/>
                  <a:gd name="T39" fmla="*/ 50 h 109"/>
                  <a:gd name="T40" fmla="*/ 44 w 49"/>
                  <a:gd name="T41" fmla="*/ 46 h 109"/>
                  <a:gd name="T42" fmla="*/ 42 w 49"/>
                  <a:gd name="T43" fmla="*/ 42 h 109"/>
                  <a:gd name="T44" fmla="*/ 41 w 49"/>
                  <a:gd name="T45" fmla="*/ 37 h 109"/>
                  <a:gd name="T46" fmla="*/ 39 w 49"/>
                  <a:gd name="T47" fmla="*/ 34 h 109"/>
                  <a:gd name="T48" fmla="*/ 37 w 49"/>
                  <a:gd name="T49" fmla="*/ 29 h 109"/>
                  <a:gd name="T50" fmla="*/ 36 w 49"/>
                  <a:gd name="T51" fmla="*/ 24 h 109"/>
                  <a:gd name="T52" fmla="*/ 34 w 49"/>
                  <a:gd name="T53" fmla="*/ 21 h 109"/>
                  <a:gd name="T54" fmla="*/ 33 w 49"/>
                  <a:gd name="T55" fmla="*/ 16 h 109"/>
                  <a:gd name="T56" fmla="*/ 31 w 49"/>
                  <a:gd name="T57" fmla="*/ 13 h 109"/>
                  <a:gd name="T58" fmla="*/ 29 w 49"/>
                  <a:gd name="T59" fmla="*/ 10 h 109"/>
                  <a:gd name="T60" fmla="*/ 26 w 49"/>
                  <a:gd name="T61" fmla="*/ 13 h 109"/>
                  <a:gd name="T62" fmla="*/ 28 w 49"/>
                  <a:gd name="T63" fmla="*/ 18 h 109"/>
                  <a:gd name="T64" fmla="*/ 29 w 49"/>
                  <a:gd name="T65" fmla="*/ 21 h 109"/>
                  <a:gd name="T66" fmla="*/ 31 w 49"/>
                  <a:gd name="T67" fmla="*/ 24 h 109"/>
                  <a:gd name="T68" fmla="*/ 33 w 49"/>
                  <a:gd name="T69" fmla="*/ 29 h 109"/>
                  <a:gd name="T70" fmla="*/ 34 w 49"/>
                  <a:gd name="T71" fmla="*/ 33 h 109"/>
                  <a:gd name="T72" fmla="*/ 36 w 49"/>
                  <a:gd name="T73" fmla="*/ 37 h 109"/>
                  <a:gd name="T74" fmla="*/ 37 w 49"/>
                  <a:gd name="T75" fmla="*/ 41 h 109"/>
                  <a:gd name="T76" fmla="*/ 39 w 49"/>
                  <a:gd name="T77" fmla="*/ 44 h 109"/>
                  <a:gd name="T78" fmla="*/ 41 w 49"/>
                  <a:gd name="T79" fmla="*/ 49 h 109"/>
                  <a:gd name="T80" fmla="*/ 42 w 49"/>
                  <a:gd name="T81" fmla="*/ 52 h 109"/>
                  <a:gd name="T82" fmla="*/ 44 w 49"/>
                  <a:gd name="T83" fmla="*/ 54 h 109"/>
                  <a:gd name="T84" fmla="*/ 34 w 49"/>
                  <a:gd name="T85" fmla="*/ 102 h 109"/>
                  <a:gd name="T86" fmla="*/ 15 w 49"/>
                  <a:gd name="T87" fmla="*/ 54 h 109"/>
                  <a:gd name="T88" fmla="*/ 5 w 49"/>
                  <a:gd name="T89" fmla="*/ 52 h 109"/>
                  <a:gd name="T90" fmla="*/ 7 w 49"/>
                  <a:gd name="T91" fmla="*/ 49 h 109"/>
                  <a:gd name="T92" fmla="*/ 8 w 49"/>
                  <a:gd name="T93" fmla="*/ 44 h 109"/>
                  <a:gd name="T94" fmla="*/ 10 w 49"/>
                  <a:gd name="T95" fmla="*/ 41 h 109"/>
                  <a:gd name="T96" fmla="*/ 12 w 49"/>
                  <a:gd name="T97" fmla="*/ 37 h 109"/>
                  <a:gd name="T98" fmla="*/ 13 w 49"/>
                  <a:gd name="T99" fmla="*/ 33 h 109"/>
                  <a:gd name="T100" fmla="*/ 15 w 49"/>
                  <a:gd name="T101" fmla="*/ 29 h 109"/>
                  <a:gd name="T102" fmla="*/ 16 w 49"/>
                  <a:gd name="T103" fmla="*/ 24 h 109"/>
                  <a:gd name="T104" fmla="*/ 18 w 49"/>
                  <a:gd name="T105" fmla="*/ 21 h 109"/>
                  <a:gd name="T106" fmla="*/ 20 w 49"/>
                  <a:gd name="T107" fmla="*/ 18 h 109"/>
                  <a:gd name="T108" fmla="*/ 21 w 49"/>
                  <a:gd name="T109" fmla="*/ 13 h 109"/>
                  <a:gd name="T110" fmla="*/ 23 w 49"/>
                  <a:gd name="T111" fmla="*/ 10 h 109"/>
                  <a:gd name="T112" fmla="*/ 28 w 49"/>
                  <a:gd name="T113" fmla="*/ 7 h 109"/>
                  <a:gd name="T114" fmla="*/ 26 w 49"/>
                  <a:gd name="T115" fmla="*/ 3 h 109"/>
                  <a:gd name="T116" fmla="*/ 23 w 49"/>
                  <a:gd name="T117" fmla="*/ 0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9" h="109">
                    <a:moveTo>
                      <a:pt x="23" y="0"/>
                    </a:moveTo>
                    <a:lnTo>
                      <a:pt x="23" y="3"/>
                    </a:lnTo>
                    <a:lnTo>
                      <a:pt x="21" y="3"/>
                    </a:lnTo>
                    <a:lnTo>
                      <a:pt x="21" y="8"/>
                    </a:lnTo>
                    <a:lnTo>
                      <a:pt x="20" y="8"/>
                    </a:lnTo>
                    <a:lnTo>
                      <a:pt x="20" y="13"/>
                    </a:lnTo>
                    <a:lnTo>
                      <a:pt x="18" y="13"/>
                    </a:lnTo>
                    <a:lnTo>
                      <a:pt x="18" y="16"/>
                    </a:lnTo>
                    <a:lnTo>
                      <a:pt x="16" y="16"/>
                    </a:lnTo>
                    <a:lnTo>
                      <a:pt x="16" y="21"/>
                    </a:lnTo>
                    <a:lnTo>
                      <a:pt x="15" y="21"/>
                    </a:lnTo>
                    <a:lnTo>
                      <a:pt x="15" y="24"/>
                    </a:lnTo>
                    <a:lnTo>
                      <a:pt x="13" y="24"/>
                    </a:lnTo>
                    <a:lnTo>
                      <a:pt x="13" y="29"/>
                    </a:lnTo>
                    <a:lnTo>
                      <a:pt x="12" y="29"/>
                    </a:lnTo>
                    <a:lnTo>
                      <a:pt x="12" y="34"/>
                    </a:lnTo>
                    <a:lnTo>
                      <a:pt x="10" y="34"/>
                    </a:lnTo>
                    <a:lnTo>
                      <a:pt x="10" y="37"/>
                    </a:lnTo>
                    <a:lnTo>
                      <a:pt x="8" y="37"/>
                    </a:lnTo>
                    <a:lnTo>
                      <a:pt x="8" y="42"/>
                    </a:lnTo>
                    <a:lnTo>
                      <a:pt x="7" y="42"/>
                    </a:lnTo>
                    <a:lnTo>
                      <a:pt x="7" y="46"/>
                    </a:lnTo>
                    <a:lnTo>
                      <a:pt x="5" y="46"/>
                    </a:lnTo>
                    <a:lnTo>
                      <a:pt x="5" y="50"/>
                    </a:lnTo>
                    <a:lnTo>
                      <a:pt x="4" y="50"/>
                    </a:lnTo>
                    <a:lnTo>
                      <a:pt x="4" y="55"/>
                    </a:lnTo>
                    <a:lnTo>
                      <a:pt x="2" y="55"/>
                    </a:lnTo>
                    <a:lnTo>
                      <a:pt x="2" y="58"/>
                    </a:lnTo>
                    <a:lnTo>
                      <a:pt x="0" y="58"/>
                    </a:lnTo>
                    <a:lnTo>
                      <a:pt x="0" y="62"/>
                    </a:lnTo>
                    <a:lnTo>
                      <a:pt x="13" y="62"/>
                    </a:lnTo>
                    <a:lnTo>
                      <a:pt x="13" y="109"/>
                    </a:lnTo>
                    <a:lnTo>
                      <a:pt x="37" y="109"/>
                    </a:lnTo>
                    <a:lnTo>
                      <a:pt x="37" y="62"/>
                    </a:lnTo>
                    <a:lnTo>
                      <a:pt x="49" y="62"/>
                    </a:lnTo>
                    <a:lnTo>
                      <a:pt x="49" y="58"/>
                    </a:lnTo>
                    <a:lnTo>
                      <a:pt x="47" y="58"/>
                    </a:lnTo>
                    <a:lnTo>
                      <a:pt x="47" y="55"/>
                    </a:lnTo>
                    <a:lnTo>
                      <a:pt x="46" y="55"/>
                    </a:lnTo>
                    <a:lnTo>
                      <a:pt x="46" y="50"/>
                    </a:lnTo>
                    <a:lnTo>
                      <a:pt x="44" y="50"/>
                    </a:lnTo>
                    <a:lnTo>
                      <a:pt x="44" y="46"/>
                    </a:lnTo>
                    <a:lnTo>
                      <a:pt x="42" y="46"/>
                    </a:lnTo>
                    <a:lnTo>
                      <a:pt x="42" y="42"/>
                    </a:lnTo>
                    <a:lnTo>
                      <a:pt x="41" y="42"/>
                    </a:lnTo>
                    <a:lnTo>
                      <a:pt x="41" y="37"/>
                    </a:lnTo>
                    <a:lnTo>
                      <a:pt x="39" y="37"/>
                    </a:lnTo>
                    <a:lnTo>
                      <a:pt x="39" y="34"/>
                    </a:lnTo>
                    <a:lnTo>
                      <a:pt x="37" y="34"/>
                    </a:lnTo>
                    <a:lnTo>
                      <a:pt x="37" y="29"/>
                    </a:lnTo>
                    <a:lnTo>
                      <a:pt x="36" y="29"/>
                    </a:lnTo>
                    <a:lnTo>
                      <a:pt x="36" y="24"/>
                    </a:lnTo>
                    <a:lnTo>
                      <a:pt x="34" y="24"/>
                    </a:lnTo>
                    <a:lnTo>
                      <a:pt x="34" y="21"/>
                    </a:lnTo>
                    <a:lnTo>
                      <a:pt x="33" y="21"/>
                    </a:lnTo>
                    <a:lnTo>
                      <a:pt x="33" y="16"/>
                    </a:lnTo>
                    <a:lnTo>
                      <a:pt x="31" y="16"/>
                    </a:lnTo>
                    <a:lnTo>
                      <a:pt x="31" y="13"/>
                    </a:lnTo>
                    <a:lnTo>
                      <a:pt x="29" y="13"/>
                    </a:lnTo>
                    <a:lnTo>
                      <a:pt x="29" y="10"/>
                    </a:lnTo>
                    <a:lnTo>
                      <a:pt x="26" y="10"/>
                    </a:lnTo>
                    <a:lnTo>
                      <a:pt x="26" y="13"/>
                    </a:lnTo>
                    <a:lnTo>
                      <a:pt x="28" y="13"/>
                    </a:lnTo>
                    <a:lnTo>
                      <a:pt x="28" y="18"/>
                    </a:lnTo>
                    <a:lnTo>
                      <a:pt x="29" y="18"/>
                    </a:lnTo>
                    <a:lnTo>
                      <a:pt x="29" y="21"/>
                    </a:lnTo>
                    <a:lnTo>
                      <a:pt x="31" y="21"/>
                    </a:lnTo>
                    <a:lnTo>
                      <a:pt x="31" y="24"/>
                    </a:lnTo>
                    <a:lnTo>
                      <a:pt x="33" y="24"/>
                    </a:lnTo>
                    <a:lnTo>
                      <a:pt x="33" y="29"/>
                    </a:lnTo>
                    <a:lnTo>
                      <a:pt x="34" y="29"/>
                    </a:lnTo>
                    <a:lnTo>
                      <a:pt x="34" y="33"/>
                    </a:lnTo>
                    <a:lnTo>
                      <a:pt x="36" y="33"/>
                    </a:lnTo>
                    <a:lnTo>
                      <a:pt x="36" y="37"/>
                    </a:lnTo>
                    <a:lnTo>
                      <a:pt x="37" y="37"/>
                    </a:lnTo>
                    <a:lnTo>
                      <a:pt x="37" y="41"/>
                    </a:lnTo>
                    <a:lnTo>
                      <a:pt x="39" y="41"/>
                    </a:lnTo>
                    <a:lnTo>
                      <a:pt x="39" y="44"/>
                    </a:lnTo>
                    <a:lnTo>
                      <a:pt x="41" y="44"/>
                    </a:lnTo>
                    <a:lnTo>
                      <a:pt x="41" y="49"/>
                    </a:lnTo>
                    <a:lnTo>
                      <a:pt x="42" y="49"/>
                    </a:lnTo>
                    <a:lnTo>
                      <a:pt x="42" y="52"/>
                    </a:lnTo>
                    <a:lnTo>
                      <a:pt x="44" y="52"/>
                    </a:lnTo>
                    <a:lnTo>
                      <a:pt x="44" y="54"/>
                    </a:lnTo>
                    <a:lnTo>
                      <a:pt x="34" y="54"/>
                    </a:lnTo>
                    <a:lnTo>
                      <a:pt x="34" y="102"/>
                    </a:lnTo>
                    <a:lnTo>
                      <a:pt x="15" y="102"/>
                    </a:lnTo>
                    <a:lnTo>
                      <a:pt x="15" y="54"/>
                    </a:lnTo>
                    <a:lnTo>
                      <a:pt x="5" y="54"/>
                    </a:lnTo>
                    <a:lnTo>
                      <a:pt x="5" y="52"/>
                    </a:lnTo>
                    <a:lnTo>
                      <a:pt x="7" y="52"/>
                    </a:lnTo>
                    <a:lnTo>
                      <a:pt x="7" y="49"/>
                    </a:lnTo>
                    <a:lnTo>
                      <a:pt x="8" y="49"/>
                    </a:lnTo>
                    <a:lnTo>
                      <a:pt x="8" y="44"/>
                    </a:lnTo>
                    <a:lnTo>
                      <a:pt x="10" y="44"/>
                    </a:lnTo>
                    <a:lnTo>
                      <a:pt x="10" y="41"/>
                    </a:lnTo>
                    <a:lnTo>
                      <a:pt x="12" y="41"/>
                    </a:lnTo>
                    <a:lnTo>
                      <a:pt x="12" y="37"/>
                    </a:lnTo>
                    <a:lnTo>
                      <a:pt x="13" y="37"/>
                    </a:lnTo>
                    <a:lnTo>
                      <a:pt x="13" y="33"/>
                    </a:lnTo>
                    <a:lnTo>
                      <a:pt x="15" y="33"/>
                    </a:lnTo>
                    <a:lnTo>
                      <a:pt x="15" y="29"/>
                    </a:lnTo>
                    <a:lnTo>
                      <a:pt x="16" y="29"/>
                    </a:lnTo>
                    <a:lnTo>
                      <a:pt x="16" y="24"/>
                    </a:lnTo>
                    <a:lnTo>
                      <a:pt x="18" y="24"/>
                    </a:lnTo>
                    <a:lnTo>
                      <a:pt x="18" y="21"/>
                    </a:lnTo>
                    <a:lnTo>
                      <a:pt x="20" y="21"/>
                    </a:lnTo>
                    <a:lnTo>
                      <a:pt x="20" y="18"/>
                    </a:lnTo>
                    <a:lnTo>
                      <a:pt x="21" y="18"/>
                    </a:lnTo>
                    <a:lnTo>
                      <a:pt x="21" y="13"/>
                    </a:lnTo>
                    <a:lnTo>
                      <a:pt x="23" y="13"/>
                    </a:lnTo>
                    <a:lnTo>
                      <a:pt x="23" y="10"/>
                    </a:lnTo>
                    <a:lnTo>
                      <a:pt x="29" y="10"/>
                    </a:lnTo>
                    <a:lnTo>
                      <a:pt x="28" y="7"/>
                    </a:lnTo>
                    <a:lnTo>
                      <a:pt x="28" y="3"/>
                    </a:lnTo>
                    <a:lnTo>
                      <a:pt x="26" y="3"/>
                    </a:lnTo>
                    <a:lnTo>
                      <a:pt x="26" y="0"/>
                    </a:lnTo>
                    <a:lnTo>
                      <a:pt x="2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7907" name="Freeform 499"/>
              <p:cNvSpPr>
                <a:spLocks/>
              </p:cNvSpPr>
              <p:nvPr/>
            </p:nvSpPr>
            <p:spPr bwMode="auto">
              <a:xfrm>
                <a:off x="3026" y="2490"/>
                <a:ext cx="39" cy="95"/>
              </a:xfrm>
              <a:custGeom>
                <a:avLst/>
                <a:gdLst>
                  <a:gd name="T0" fmla="*/ 10 w 39"/>
                  <a:gd name="T1" fmla="*/ 95 h 95"/>
                  <a:gd name="T2" fmla="*/ 10 w 39"/>
                  <a:gd name="T3" fmla="*/ 47 h 95"/>
                  <a:gd name="T4" fmla="*/ 0 w 39"/>
                  <a:gd name="T5" fmla="*/ 47 h 95"/>
                  <a:gd name="T6" fmla="*/ 20 w 39"/>
                  <a:gd name="T7" fmla="*/ 0 h 95"/>
                  <a:gd name="T8" fmla="*/ 39 w 39"/>
                  <a:gd name="T9" fmla="*/ 47 h 95"/>
                  <a:gd name="T10" fmla="*/ 29 w 39"/>
                  <a:gd name="T11" fmla="*/ 47 h 95"/>
                  <a:gd name="T12" fmla="*/ 29 w 39"/>
                  <a:gd name="T13" fmla="*/ 95 h 95"/>
                  <a:gd name="T14" fmla="*/ 10 w 39"/>
                  <a:gd name="T15" fmla="*/ 95 h 9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95">
                    <a:moveTo>
                      <a:pt x="10" y="95"/>
                    </a:moveTo>
                    <a:lnTo>
                      <a:pt x="10" y="47"/>
                    </a:lnTo>
                    <a:lnTo>
                      <a:pt x="0" y="47"/>
                    </a:lnTo>
                    <a:lnTo>
                      <a:pt x="20" y="0"/>
                    </a:lnTo>
                    <a:lnTo>
                      <a:pt x="39" y="47"/>
                    </a:lnTo>
                    <a:lnTo>
                      <a:pt x="29" y="47"/>
                    </a:lnTo>
                    <a:lnTo>
                      <a:pt x="29" y="95"/>
                    </a:lnTo>
                    <a:lnTo>
                      <a:pt x="10" y="95"/>
                    </a:lnTo>
                  </a:path>
                </a:pathLst>
              </a:custGeom>
              <a:grpFill/>
              <a:ln w="0">
                <a:solidFill>
                  <a:srgbClr val="000000"/>
                </a:solidFill>
                <a:prstDash val="solid"/>
                <a:round/>
                <a:headEnd/>
                <a:tailEnd/>
              </a:ln>
              <a:extLst/>
            </p:spPr>
            <p:txBody>
              <a:bodyPr/>
              <a:lstStyle/>
              <a:p>
                <a:pPr>
                  <a:defRPr/>
                </a:pPr>
                <a:endParaRPr lang="en-US"/>
              </a:p>
            </p:txBody>
          </p:sp>
          <p:sp>
            <p:nvSpPr>
              <p:cNvPr id="17908" name="Freeform 500"/>
              <p:cNvSpPr>
                <a:spLocks/>
              </p:cNvSpPr>
              <p:nvPr/>
            </p:nvSpPr>
            <p:spPr bwMode="auto">
              <a:xfrm>
                <a:off x="3021" y="2480"/>
                <a:ext cx="49" cy="112"/>
              </a:xfrm>
              <a:custGeom>
                <a:avLst/>
                <a:gdLst>
                  <a:gd name="T0" fmla="*/ 13 w 49"/>
                  <a:gd name="T1" fmla="*/ 105 h 112"/>
                  <a:gd name="T2" fmla="*/ 13 w 49"/>
                  <a:gd name="T3" fmla="*/ 63 h 112"/>
                  <a:gd name="T4" fmla="*/ 0 w 49"/>
                  <a:gd name="T5" fmla="*/ 63 h 112"/>
                  <a:gd name="T6" fmla="*/ 25 w 49"/>
                  <a:gd name="T7" fmla="*/ 0 h 112"/>
                  <a:gd name="T8" fmla="*/ 49 w 49"/>
                  <a:gd name="T9" fmla="*/ 63 h 112"/>
                  <a:gd name="T10" fmla="*/ 37 w 49"/>
                  <a:gd name="T11" fmla="*/ 63 h 112"/>
                  <a:gd name="T12" fmla="*/ 37 w 49"/>
                  <a:gd name="T13" fmla="*/ 112 h 112"/>
                  <a:gd name="T14" fmla="*/ 13 w 49"/>
                  <a:gd name="T15" fmla="*/ 112 h 112"/>
                  <a:gd name="T16" fmla="*/ 13 w 49"/>
                  <a:gd name="T17" fmla="*/ 105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12">
                    <a:moveTo>
                      <a:pt x="13" y="105"/>
                    </a:moveTo>
                    <a:lnTo>
                      <a:pt x="13" y="63"/>
                    </a:lnTo>
                    <a:lnTo>
                      <a:pt x="0" y="63"/>
                    </a:lnTo>
                    <a:lnTo>
                      <a:pt x="25" y="0"/>
                    </a:lnTo>
                    <a:lnTo>
                      <a:pt x="49" y="63"/>
                    </a:lnTo>
                    <a:lnTo>
                      <a:pt x="37" y="63"/>
                    </a:lnTo>
                    <a:lnTo>
                      <a:pt x="37" y="112"/>
                    </a:lnTo>
                    <a:lnTo>
                      <a:pt x="13" y="112"/>
                    </a:lnTo>
                    <a:lnTo>
                      <a:pt x="13" y="105"/>
                    </a:lnTo>
                  </a:path>
                </a:pathLst>
              </a:custGeom>
              <a:grpFill/>
              <a:ln w="0">
                <a:solidFill>
                  <a:srgbClr val="000000"/>
                </a:solidFill>
                <a:prstDash val="solid"/>
                <a:round/>
                <a:headEnd/>
                <a:tailEnd/>
              </a:ln>
              <a:extLst/>
            </p:spPr>
            <p:txBody>
              <a:bodyPr/>
              <a:lstStyle/>
              <a:p>
                <a:pPr>
                  <a:defRPr/>
                </a:pPr>
                <a:endParaRPr lang="en-US"/>
              </a:p>
            </p:txBody>
          </p:sp>
          <p:sp>
            <p:nvSpPr>
              <p:cNvPr id="17909" name="Rectangle 501"/>
              <p:cNvSpPr>
                <a:spLocks noChangeArrowheads="1"/>
              </p:cNvSpPr>
              <p:nvPr/>
            </p:nvSpPr>
            <p:spPr bwMode="auto">
              <a:xfrm>
                <a:off x="3261" y="2530"/>
                <a:ext cx="244" cy="10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th-TH" altLang="en-US" sz="1100" b="1">
                    <a:latin typeface="Century Schoolbook" panose="02040604050505020304" pitchFamily="18" charset="0"/>
                  </a:rPr>
                  <a:t>Wash</a:t>
                </a:r>
                <a:endParaRPr lang="th-TH" altLang="en-US" sz="1600">
                  <a:latin typeface="Century Schoolbook" panose="02040604050505020304" pitchFamily="18" charset="0"/>
                </a:endParaRPr>
              </a:p>
            </p:txBody>
          </p:sp>
          <p:sp>
            <p:nvSpPr>
              <p:cNvPr id="17910" name="Rectangle 502"/>
              <p:cNvSpPr>
                <a:spLocks noChangeArrowheads="1"/>
              </p:cNvSpPr>
              <p:nvPr/>
            </p:nvSpPr>
            <p:spPr bwMode="auto">
              <a:xfrm>
                <a:off x="3261" y="2655"/>
                <a:ext cx="274" cy="10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th-TH" altLang="en-US" sz="1100" b="1">
                    <a:latin typeface="Century Schoolbook" panose="02040604050505020304" pitchFamily="18" charset="0"/>
                  </a:rPr>
                  <a:t>Water</a:t>
                </a:r>
                <a:endParaRPr lang="th-TH" altLang="en-US" sz="1600">
                  <a:latin typeface="Century Schoolbook" panose="02040604050505020304" pitchFamily="18" charset="0"/>
                </a:endParaRPr>
              </a:p>
            </p:txBody>
          </p:sp>
          <p:sp>
            <p:nvSpPr>
              <p:cNvPr id="17911" name="Rectangle 503"/>
              <p:cNvSpPr>
                <a:spLocks noChangeArrowheads="1"/>
              </p:cNvSpPr>
              <p:nvPr/>
            </p:nvSpPr>
            <p:spPr bwMode="auto">
              <a:xfrm>
                <a:off x="3650" y="1926"/>
                <a:ext cx="267" cy="10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th-TH" altLang="en-US" sz="1100" b="1">
                    <a:latin typeface="Century Schoolbook" panose="02040604050505020304" pitchFamily="18" charset="0"/>
                  </a:rPr>
                  <a:t>White</a:t>
                </a:r>
                <a:endParaRPr lang="th-TH" altLang="en-US" sz="1600">
                  <a:latin typeface="Century Schoolbook" panose="02040604050505020304" pitchFamily="18" charset="0"/>
                </a:endParaRPr>
              </a:p>
            </p:txBody>
          </p:sp>
          <p:sp>
            <p:nvSpPr>
              <p:cNvPr id="17912" name="Rectangle 504"/>
              <p:cNvSpPr>
                <a:spLocks noChangeArrowheads="1"/>
              </p:cNvSpPr>
              <p:nvPr/>
            </p:nvSpPr>
            <p:spPr bwMode="auto">
              <a:xfrm>
                <a:off x="3650" y="2050"/>
                <a:ext cx="314" cy="10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th-TH" altLang="en-US" sz="1100" b="1">
                    <a:latin typeface="Century Schoolbook" panose="02040604050505020304" pitchFamily="18" charset="0"/>
                  </a:rPr>
                  <a:t>Liquor</a:t>
                </a:r>
                <a:endParaRPr lang="th-TH" altLang="en-US" sz="1600">
                  <a:latin typeface="Century Schoolbook" panose="02040604050505020304" pitchFamily="18" charset="0"/>
                </a:endParaRPr>
              </a:p>
            </p:txBody>
          </p:sp>
          <p:sp>
            <p:nvSpPr>
              <p:cNvPr id="17913" name="Line 505"/>
              <p:cNvSpPr>
                <a:spLocks noChangeShapeType="1"/>
              </p:cNvSpPr>
              <p:nvPr/>
            </p:nvSpPr>
            <p:spPr bwMode="auto">
              <a:xfrm>
                <a:off x="3485" y="2087"/>
                <a:ext cx="1" cy="65"/>
              </a:xfrm>
              <a:prstGeom prst="line">
                <a:avLst/>
              </a:prstGeom>
              <a:grpFill/>
              <a:ln w="0">
                <a:solidFill>
                  <a:srgbClr val="000000"/>
                </a:solidFill>
                <a:round/>
                <a:headEnd/>
                <a:tailEnd/>
              </a:ln>
              <a:extLst/>
            </p:spPr>
            <p:txBody>
              <a:bodyPr/>
              <a:lstStyle/>
              <a:p>
                <a:pPr>
                  <a:defRPr/>
                </a:pPr>
                <a:endParaRPr lang="en-US"/>
              </a:p>
            </p:txBody>
          </p:sp>
          <p:sp>
            <p:nvSpPr>
              <p:cNvPr id="17914" name="Line 506"/>
              <p:cNvSpPr>
                <a:spLocks noChangeShapeType="1"/>
              </p:cNvSpPr>
              <p:nvPr/>
            </p:nvSpPr>
            <p:spPr bwMode="auto">
              <a:xfrm>
                <a:off x="3542" y="2352"/>
                <a:ext cx="58" cy="1"/>
              </a:xfrm>
              <a:prstGeom prst="line">
                <a:avLst/>
              </a:prstGeom>
              <a:grpFill/>
              <a:ln w="0">
                <a:solidFill>
                  <a:srgbClr val="000000"/>
                </a:solidFill>
                <a:round/>
                <a:headEnd/>
                <a:tailEnd/>
              </a:ln>
              <a:extLst/>
            </p:spPr>
            <p:txBody>
              <a:bodyPr/>
              <a:lstStyle/>
              <a:p>
                <a:pPr>
                  <a:defRPr/>
                </a:pPr>
                <a:endParaRPr lang="en-US"/>
              </a:p>
            </p:txBody>
          </p:sp>
          <p:sp>
            <p:nvSpPr>
              <p:cNvPr id="17915" name="Line 507"/>
              <p:cNvSpPr>
                <a:spLocks noChangeShapeType="1"/>
              </p:cNvSpPr>
              <p:nvPr/>
            </p:nvSpPr>
            <p:spPr bwMode="auto">
              <a:xfrm>
                <a:off x="3778" y="2976"/>
                <a:ext cx="1" cy="36"/>
              </a:xfrm>
              <a:prstGeom prst="line">
                <a:avLst/>
              </a:prstGeom>
              <a:grpFill/>
              <a:ln w="0">
                <a:solidFill>
                  <a:srgbClr val="000000"/>
                </a:solidFill>
                <a:round/>
                <a:headEnd/>
                <a:tailEnd/>
              </a:ln>
              <a:extLst/>
            </p:spPr>
            <p:txBody>
              <a:bodyPr/>
              <a:lstStyle/>
              <a:p>
                <a:pPr>
                  <a:defRPr/>
                </a:pPr>
                <a:endParaRPr lang="en-US"/>
              </a:p>
            </p:txBody>
          </p:sp>
          <p:sp>
            <p:nvSpPr>
              <p:cNvPr id="17916" name="Freeform 508"/>
              <p:cNvSpPr>
                <a:spLocks/>
              </p:cNvSpPr>
              <p:nvPr/>
            </p:nvSpPr>
            <p:spPr bwMode="auto">
              <a:xfrm>
                <a:off x="3686" y="2978"/>
                <a:ext cx="82" cy="34"/>
              </a:xfrm>
              <a:custGeom>
                <a:avLst/>
                <a:gdLst>
                  <a:gd name="T0" fmla="*/ 0 w 82"/>
                  <a:gd name="T1" fmla="*/ 13 h 34"/>
                  <a:gd name="T2" fmla="*/ 82 w 82"/>
                  <a:gd name="T3" fmla="*/ 0 h 34"/>
                  <a:gd name="T4" fmla="*/ 82 w 82"/>
                  <a:gd name="T5" fmla="*/ 34 h 34"/>
                  <a:gd name="T6" fmla="*/ 37 w 82"/>
                  <a:gd name="T7" fmla="*/ 27 h 34"/>
                </a:gdLst>
                <a:ahLst/>
                <a:cxnLst>
                  <a:cxn ang="0">
                    <a:pos x="T0" y="T1"/>
                  </a:cxn>
                  <a:cxn ang="0">
                    <a:pos x="T2" y="T3"/>
                  </a:cxn>
                  <a:cxn ang="0">
                    <a:pos x="T4" y="T5"/>
                  </a:cxn>
                  <a:cxn ang="0">
                    <a:pos x="T6" y="T7"/>
                  </a:cxn>
                </a:cxnLst>
                <a:rect l="0" t="0" r="r" b="b"/>
                <a:pathLst>
                  <a:path w="82" h="34">
                    <a:moveTo>
                      <a:pt x="0" y="13"/>
                    </a:moveTo>
                    <a:lnTo>
                      <a:pt x="82" y="0"/>
                    </a:lnTo>
                    <a:lnTo>
                      <a:pt x="82" y="34"/>
                    </a:lnTo>
                    <a:lnTo>
                      <a:pt x="37" y="27"/>
                    </a:lnTo>
                  </a:path>
                </a:pathLst>
              </a:custGeom>
              <a:grpFill/>
              <a:ln w="0">
                <a:solidFill>
                  <a:srgbClr val="000000"/>
                </a:solidFill>
                <a:prstDash val="solid"/>
                <a:round/>
                <a:headEnd/>
                <a:tailEnd/>
              </a:ln>
              <a:extLst/>
            </p:spPr>
            <p:txBody>
              <a:bodyPr/>
              <a:lstStyle/>
              <a:p>
                <a:pPr>
                  <a:defRPr/>
                </a:pPr>
                <a:endParaRPr lang="en-US"/>
              </a:p>
            </p:txBody>
          </p:sp>
          <p:sp>
            <p:nvSpPr>
              <p:cNvPr id="17917" name="Rectangle 509"/>
              <p:cNvSpPr>
                <a:spLocks noChangeArrowheads="1"/>
              </p:cNvSpPr>
              <p:nvPr/>
            </p:nvSpPr>
            <p:spPr bwMode="auto">
              <a:xfrm>
                <a:off x="3670" y="3083"/>
                <a:ext cx="30" cy="1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918" name="Rectangle 510"/>
              <p:cNvSpPr>
                <a:spLocks noChangeArrowheads="1"/>
              </p:cNvSpPr>
              <p:nvPr/>
            </p:nvSpPr>
            <p:spPr bwMode="auto">
              <a:xfrm>
                <a:off x="3670" y="3092"/>
                <a:ext cx="30" cy="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919" name="Rectangle 511"/>
              <p:cNvSpPr>
                <a:spLocks noChangeArrowheads="1"/>
              </p:cNvSpPr>
              <p:nvPr/>
            </p:nvSpPr>
            <p:spPr bwMode="auto">
              <a:xfrm>
                <a:off x="3670" y="3083"/>
                <a:ext cx="29" cy="19"/>
              </a:xfrm>
              <a:prstGeom prst="rect">
                <a:avLst/>
              </a:prstGeom>
              <a:grpFill/>
              <a:ln w="0">
                <a:solidFill>
                  <a:srgbClr val="000000"/>
                </a:solidFill>
                <a:miter lim="800000"/>
                <a:headEnd/>
                <a:tailEnd/>
              </a:ln>
              <a:extLst/>
            </p:spPr>
            <p:txBody>
              <a:bodyPr/>
              <a:lstStyle/>
              <a:p>
                <a:pPr>
                  <a:defRPr/>
                </a:pPr>
                <a:endParaRPr lang="en-US"/>
              </a:p>
            </p:txBody>
          </p:sp>
          <p:sp>
            <p:nvSpPr>
              <p:cNvPr id="17920" name="Freeform 512"/>
              <p:cNvSpPr>
                <a:spLocks/>
              </p:cNvSpPr>
              <p:nvPr/>
            </p:nvSpPr>
            <p:spPr bwMode="auto">
              <a:xfrm>
                <a:off x="3650" y="2986"/>
                <a:ext cx="71" cy="14"/>
              </a:xfrm>
              <a:custGeom>
                <a:avLst/>
                <a:gdLst>
                  <a:gd name="T0" fmla="*/ 26 w 71"/>
                  <a:gd name="T1" fmla="*/ 0 h 14"/>
                  <a:gd name="T2" fmla="*/ 26 w 71"/>
                  <a:gd name="T3" fmla="*/ 1 h 14"/>
                  <a:gd name="T4" fmla="*/ 21 w 71"/>
                  <a:gd name="T5" fmla="*/ 1 h 14"/>
                  <a:gd name="T6" fmla="*/ 21 w 71"/>
                  <a:gd name="T7" fmla="*/ 3 h 14"/>
                  <a:gd name="T8" fmla="*/ 16 w 71"/>
                  <a:gd name="T9" fmla="*/ 3 h 14"/>
                  <a:gd name="T10" fmla="*/ 16 w 71"/>
                  <a:gd name="T11" fmla="*/ 5 h 14"/>
                  <a:gd name="T12" fmla="*/ 13 w 71"/>
                  <a:gd name="T13" fmla="*/ 5 h 14"/>
                  <a:gd name="T14" fmla="*/ 13 w 71"/>
                  <a:gd name="T15" fmla="*/ 6 h 14"/>
                  <a:gd name="T16" fmla="*/ 10 w 71"/>
                  <a:gd name="T17" fmla="*/ 6 h 14"/>
                  <a:gd name="T18" fmla="*/ 10 w 71"/>
                  <a:gd name="T19" fmla="*/ 8 h 14"/>
                  <a:gd name="T20" fmla="*/ 7 w 71"/>
                  <a:gd name="T21" fmla="*/ 10 h 14"/>
                  <a:gd name="T22" fmla="*/ 3 w 71"/>
                  <a:gd name="T23" fmla="*/ 11 h 14"/>
                  <a:gd name="T24" fmla="*/ 3 w 71"/>
                  <a:gd name="T25" fmla="*/ 13 h 14"/>
                  <a:gd name="T26" fmla="*/ 0 w 71"/>
                  <a:gd name="T27" fmla="*/ 13 h 14"/>
                  <a:gd name="T28" fmla="*/ 0 w 71"/>
                  <a:gd name="T29" fmla="*/ 14 h 14"/>
                  <a:gd name="T30" fmla="*/ 71 w 71"/>
                  <a:gd name="T31" fmla="*/ 14 h 14"/>
                  <a:gd name="T32" fmla="*/ 70 w 71"/>
                  <a:gd name="T33" fmla="*/ 11 h 14"/>
                  <a:gd name="T34" fmla="*/ 66 w 71"/>
                  <a:gd name="T35" fmla="*/ 11 h 14"/>
                  <a:gd name="T36" fmla="*/ 65 w 71"/>
                  <a:gd name="T37" fmla="*/ 8 h 14"/>
                  <a:gd name="T38" fmla="*/ 62 w 71"/>
                  <a:gd name="T39" fmla="*/ 8 h 14"/>
                  <a:gd name="T40" fmla="*/ 60 w 71"/>
                  <a:gd name="T41" fmla="*/ 5 h 14"/>
                  <a:gd name="T42" fmla="*/ 55 w 71"/>
                  <a:gd name="T43" fmla="*/ 5 h 14"/>
                  <a:gd name="T44" fmla="*/ 53 w 71"/>
                  <a:gd name="T45" fmla="*/ 1 h 14"/>
                  <a:gd name="T46" fmla="*/ 45 w 71"/>
                  <a:gd name="T47" fmla="*/ 1 h 14"/>
                  <a:gd name="T48" fmla="*/ 45 w 71"/>
                  <a:gd name="T49" fmla="*/ 0 h 14"/>
                  <a:gd name="T50" fmla="*/ 26 w 71"/>
                  <a:gd name="T51"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1" h="14">
                    <a:moveTo>
                      <a:pt x="26" y="0"/>
                    </a:moveTo>
                    <a:lnTo>
                      <a:pt x="26" y="1"/>
                    </a:lnTo>
                    <a:lnTo>
                      <a:pt x="21" y="1"/>
                    </a:lnTo>
                    <a:lnTo>
                      <a:pt x="21" y="3"/>
                    </a:lnTo>
                    <a:lnTo>
                      <a:pt x="16" y="3"/>
                    </a:lnTo>
                    <a:lnTo>
                      <a:pt x="16" y="5"/>
                    </a:lnTo>
                    <a:lnTo>
                      <a:pt x="13" y="5"/>
                    </a:lnTo>
                    <a:lnTo>
                      <a:pt x="13" y="6"/>
                    </a:lnTo>
                    <a:lnTo>
                      <a:pt x="10" y="6"/>
                    </a:lnTo>
                    <a:lnTo>
                      <a:pt x="10" y="8"/>
                    </a:lnTo>
                    <a:lnTo>
                      <a:pt x="7" y="10"/>
                    </a:lnTo>
                    <a:lnTo>
                      <a:pt x="3" y="11"/>
                    </a:lnTo>
                    <a:lnTo>
                      <a:pt x="3" y="13"/>
                    </a:lnTo>
                    <a:lnTo>
                      <a:pt x="0" y="13"/>
                    </a:lnTo>
                    <a:lnTo>
                      <a:pt x="0" y="14"/>
                    </a:lnTo>
                    <a:lnTo>
                      <a:pt x="71" y="14"/>
                    </a:lnTo>
                    <a:lnTo>
                      <a:pt x="70" y="11"/>
                    </a:lnTo>
                    <a:lnTo>
                      <a:pt x="66" y="11"/>
                    </a:lnTo>
                    <a:lnTo>
                      <a:pt x="65" y="8"/>
                    </a:lnTo>
                    <a:lnTo>
                      <a:pt x="62" y="8"/>
                    </a:lnTo>
                    <a:lnTo>
                      <a:pt x="60" y="5"/>
                    </a:lnTo>
                    <a:lnTo>
                      <a:pt x="55" y="5"/>
                    </a:lnTo>
                    <a:lnTo>
                      <a:pt x="53" y="1"/>
                    </a:lnTo>
                    <a:lnTo>
                      <a:pt x="45" y="1"/>
                    </a:lnTo>
                    <a:lnTo>
                      <a:pt x="45" y="0"/>
                    </a:lnTo>
                    <a:lnTo>
                      <a:pt x="2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7921" name="Freeform 513"/>
              <p:cNvSpPr>
                <a:spLocks/>
              </p:cNvSpPr>
              <p:nvPr/>
            </p:nvSpPr>
            <p:spPr bwMode="auto">
              <a:xfrm>
                <a:off x="3642" y="2999"/>
                <a:ext cx="87" cy="14"/>
              </a:xfrm>
              <a:custGeom>
                <a:avLst/>
                <a:gdLst>
                  <a:gd name="T0" fmla="*/ 8 w 87"/>
                  <a:gd name="T1" fmla="*/ 0 h 14"/>
                  <a:gd name="T2" fmla="*/ 8 w 87"/>
                  <a:gd name="T3" fmla="*/ 3 h 14"/>
                  <a:gd name="T4" fmla="*/ 5 w 87"/>
                  <a:gd name="T5" fmla="*/ 3 h 14"/>
                  <a:gd name="T6" fmla="*/ 5 w 87"/>
                  <a:gd name="T7" fmla="*/ 8 h 14"/>
                  <a:gd name="T8" fmla="*/ 2 w 87"/>
                  <a:gd name="T9" fmla="*/ 9 h 14"/>
                  <a:gd name="T10" fmla="*/ 2 w 87"/>
                  <a:gd name="T11" fmla="*/ 11 h 14"/>
                  <a:gd name="T12" fmla="*/ 0 w 87"/>
                  <a:gd name="T13" fmla="*/ 11 h 14"/>
                  <a:gd name="T14" fmla="*/ 0 w 87"/>
                  <a:gd name="T15" fmla="*/ 14 h 14"/>
                  <a:gd name="T16" fmla="*/ 87 w 87"/>
                  <a:gd name="T17" fmla="*/ 14 h 14"/>
                  <a:gd name="T18" fmla="*/ 87 w 87"/>
                  <a:gd name="T19" fmla="*/ 11 h 14"/>
                  <a:gd name="T20" fmla="*/ 86 w 87"/>
                  <a:gd name="T21" fmla="*/ 11 h 14"/>
                  <a:gd name="T22" fmla="*/ 86 w 87"/>
                  <a:gd name="T23" fmla="*/ 8 h 14"/>
                  <a:gd name="T24" fmla="*/ 82 w 87"/>
                  <a:gd name="T25" fmla="*/ 8 h 14"/>
                  <a:gd name="T26" fmla="*/ 82 w 87"/>
                  <a:gd name="T27" fmla="*/ 3 h 14"/>
                  <a:gd name="T28" fmla="*/ 79 w 87"/>
                  <a:gd name="T29" fmla="*/ 3 h 14"/>
                  <a:gd name="T30" fmla="*/ 79 w 87"/>
                  <a:gd name="T31" fmla="*/ 0 h 14"/>
                  <a:gd name="T32" fmla="*/ 8 w 87"/>
                  <a:gd name="T33"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7" h="14">
                    <a:moveTo>
                      <a:pt x="8" y="0"/>
                    </a:moveTo>
                    <a:lnTo>
                      <a:pt x="8" y="3"/>
                    </a:lnTo>
                    <a:lnTo>
                      <a:pt x="5" y="3"/>
                    </a:lnTo>
                    <a:lnTo>
                      <a:pt x="5" y="8"/>
                    </a:lnTo>
                    <a:lnTo>
                      <a:pt x="2" y="9"/>
                    </a:lnTo>
                    <a:lnTo>
                      <a:pt x="2" y="11"/>
                    </a:lnTo>
                    <a:lnTo>
                      <a:pt x="0" y="11"/>
                    </a:lnTo>
                    <a:lnTo>
                      <a:pt x="0" y="14"/>
                    </a:lnTo>
                    <a:lnTo>
                      <a:pt x="87" y="14"/>
                    </a:lnTo>
                    <a:lnTo>
                      <a:pt x="87" y="11"/>
                    </a:lnTo>
                    <a:lnTo>
                      <a:pt x="86" y="11"/>
                    </a:lnTo>
                    <a:lnTo>
                      <a:pt x="86" y="8"/>
                    </a:lnTo>
                    <a:lnTo>
                      <a:pt x="82" y="8"/>
                    </a:lnTo>
                    <a:lnTo>
                      <a:pt x="82" y="3"/>
                    </a:lnTo>
                    <a:lnTo>
                      <a:pt x="79" y="3"/>
                    </a:lnTo>
                    <a:lnTo>
                      <a:pt x="79" y="0"/>
                    </a:lnTo>
                    <a:lnTo>
                      <a:pt x="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7922" name="Freeform 514"/>
              <p:cNvSpPr>
                <a:spLocks/>
              </p:cNvSpPr>
              <p:nvPr/>
            </p:nvSpPr>
            <p:spPr bwMode="auto">
              <a:xfrm>
                <a:off x="3637" y="3012"/>
                <a:ext cx="99" cy="14"/>
              </a:xfrm>
              <a:custGeom>
                <a:avLst/>
                <a:gdLst>
                  <a:gd name="T0" fmla="*/ 5 w 99"/>
                  <a:gd name="T1" fmla="*/ 0 h 14"/>
                  <a:gd name="T2" fmla="*/ 5 w 99"/>
                  <a:gd name="T3" fmla="*/ 1 h 14"/>
                  <a:gd name="T4" fmla="*/ 2 w 99"/>
                  <a:gd name="T5" fmla="*/ 3 h 14"/>
                  <a:gd name="T6" fmla="*/ 2 w 99"/>
                  <a:gd name="T7" fmla="*/ 8 h 14"/>
                  <a:gd name="T8" fmla="*/ 0 w 99"/>
                  <a:gd name="T9" fmla="*/ 8 h 14"/>
                  <a:gd name="T10" fmla="*/ 0 w 99"/>
                  <a:gd name="T11" fmla="*/ 14 h 14"/>
                  <a:gd name="T12" fmla="*/ 99 w 99"/>
                  <a:gd name="T13" fmla="*/ 14 h 14"/>
                  <a:gd name="T14" fmla="*/ 99 w 99"/>
                  <a:gd name="T15" fmla="*/ 11 h 14"/>
                  <a:gd name="T16" fmla="*/ 97 w 99"/>
                  <a:gd name="T17" fmla="*/ 11 h 14"/>
                  <a:gd name="T18" fmla="*/ 97 w 99"/>
                  <a:gd name="T19" fmla="*/ 8 h 14"/>
                  <a:gd name="T20" fmla="*/ 96 w 99"/>
                  <a:gd name="T21" fmla="*/ 8 h 14"/>
                  <a:gd name="T22" fmla="*/ 96 w 99"/>
                  <a:gd name="T23" fmla="*/ 3 h 14"/>
                  <a:gd name="T24" fmla="*/ 94 w 99"/>
                  <a:gd name="T25" fmla="*/ 3 h 14"/>
                  <a:gd name="T26" fmla="*/ 92 w 99"/>
                  <a:gd name="T27" fmla="*/ 0 h 14"/>
                  <a:gd name="T28" fmla="*/ 5 w 99"/>
                  <a:gd name="T29"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9" h="14">
                    <a:moveTo>
                      <a:pt x="5" y="0"/>
                    </a:moveTo>
                    <a:lnTo>
                      <a:pt x="5" y="1"/>
                    </a:lnTo>
                    <a:lnTo>
                      <a:pt x="2" y="3"/>
                    </a:lnTo>
                    <a:lnTo>
                      <a:pt x="2" y="8"/>
                    </a:lnTo>
                    <a:lnTo>
                      <a:pt x="0" y="8"/>
                    </a:lnTo>
                    <a:lnTo>
                      <a:pt x="0" y="14"/>
                    </a:lnTo>
                    <a:lnTo>
                      <a:pt x="99" y="14"/>
                    </a:lnTo>
                    <a:lnTo>
                      <a:pt x="99" y="11"/>
                    </a:lnTo>
                    <a:lnTo>
                      <a:pt x="97" y="11"/>
                    </a:lnTo>
                    <a:lnTo>
                      <a:pt x="97" y="8"/>
                    </a:lnTo>
                    <a:lnTo>
                      <a:pt x="96" y="8"/>
                    </a:lnTo>
                    <a:lnTo>
                      <a:pt x="96" y="3"/>
                    </a:lnTo>
                    <a:lnTo>
                      <a:pt x="94" y="3"/>
                    </a:lnTo>
                    <a:lnTo>
                      <a:pt x="92" y="0"/>
                    </a:lnTo>
                    <a:lnTo>
                      <a:pt x="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7923" name="Freeform 515"/>
              <p:cNvSpPr>
                <a:spLocks/>
              </p:cNvSpPr>
              <p:nvPr/>
            </p:nvSpPr>
            <p:spPr bwMode="auto">
              <a:xfrm>
                <a:off x="3636" y="3025"/>
                <a:ext cx="100" cy="14"/>
              </a:xfrm>
              <a:custGeom>
                <a:avLst/>
                <a:gdLst>
                  <a:gd name="T0" fmla="*/ 1 w 100"/>
                  <a:gd name="T1" fmla="*/ 0 h 14"/>
                  <a:gd name="T2" fmla="*/ 1 w 100"/>
                  <a:gd name="T3" fmla="*/ 3 h 14"/>
                  <a:gd name="T4" fmla="*/ 0 w 100"/>
                  <a:gd name="T5" fmla="*/ 3 h 14"/>
                  <a:gd name="T6" fmla="*/ 0 w 100"/>
                  <a:gd name="T7" fmla="*/ 14 h 14"/>
                  <a:gd name="T8" fmla="*/ 100 w 100"/>
                  <a:gd name="T9" fmla="*/ 14 h 14"/>
                  <a:gd name="T10" fmla="*/ 100 w 100"/>
                  <a:gd name="T11" fmla="*/ 0 h 14"/>
                  <a:gd name="T12" fmla="*/ 1 w 100"/>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100" h="14">
                    <a:moveTo>
                      <a:pt x="1" y="0"/>
                    </a:moveTo>
                    <a:lnTo>
                      <a:pt x="1" y="3"/>
                    </a:lnTo>
                    <a:lnTo>
                      <a:pt x="0" y="3"/>
                    </a:lnTo>
                    <a:lnTo>
                      <a:pt x="0" y="14"/>
                    </a:lnTo>
                    <a:lnTo>
                      <a:pt x="100" y="14"/>
                    </a:lnTo>
                    <a:lnTo>
                      <a:pt x="100" y="0"/>
                    </a:lnTo>
                    <a:lnTo>
                      <a:pt x="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7924" name="Freeform 516"/>
              <p:cNvSpPr>
                <a:spLocks/>
              </p:cNvSpPr>
              <p:nvPr/>
            </p:nvSpPr>
            <p:spPr bwMode="auto">
              <a:xfrm>
                <a:off x="3636" y="3038"/>
                <a:ext cx="100" cy="14"/>
              </a:xfrm>
              <a:custGeom>
                <a:avLst/>
                <a:gdLst>
                  <a:gd name="T0" fmla="*/ 0 w 100"/>
                  <a:gd name="T1" fmla="*/ 0 h 14"/>
                  <a:gd name="T2" fmla="*/ 0 w 100"/>
                  <a:gd name="T3" fmla="*/ 9 h 14"/>
                  <a:gd name="T4" fmla="*/ 1 w 100"/>
                  <a:gd name="T5" fmla="*/ 9 h 14"/>
                  <a:gd name="T6" fmla="*/ 1 w 100"/>
                  <a:gd name="T7" fmla="*/ 14 h 14"/>
                  <a:gd name="T8" fmla="*/ 98 w 100"/>
                  <a:gd name="T9" fmla="*/ 14 h 14"/>
                  <a:gd name="T10" fmla="*/ 98 w 100"/>
                  <a:gd name="T11" fmla="*/ 12 h 14"/>
                  <a:gd name="T12" fmla="*/ 100 w 100"/>
                  <a:gd name="T13" fmla="*/ 12 h 14"/>
                  <a:gd name="T14" fmla="*/ 100 w 100"/>
                  <a:gd name="T15" fmla="*/ 0 h 14"/>
                  <a:gd name="T16" fmla="*/ 0 w 100"/>
                  <a:gd name="T17"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0" h="14">
                    <a:moveTo>
                      <a:pt x="0" y="0"/>
                    </a:moveTo>
                    <a:lnTo>
                      <a:pt x="0" y="9"/>
                    </a:lnTo>
                    <a:lnTo>
                      <a:pt x="1" y="9"/>
                    </a:lnTo>
                    <a:lnTo>
                      <a:pt x="1" y="14"/>
                    </a:lnTo>
                    <a:lnTo>
                      <a:pt x="98" y="14"/>
                    </a:lnTo>
                    <a:lnTo>
                      <a:pt x="98" y="12"/>
                    </a:lnTo>
                    <a:lnTo>
                      <a:pt x="100" y="12"/>
                    </a:lnTo>
                    <a:lnTo>
                      <a:pt x="10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7925" name="Freeform 517"/>
              <p:cNvSpPr>
                <a:spLocks/>
              </p:cNvSpPr>
              <p:nvPr/>
            </p:nvSpPr>
            <p:spPr bwMode="auto">
              <a:xfrm>
                <a:off x="3637" y="3050"/>
                <a:ext cx="97" cy="15"/>
              </a:xfrm>
              <a:custGeom>
                <a:avLst/>
                <a:gdLst>
                  <a:gd name="T0" fmla="*/ 0 w 97"/>
                  <a:gd name="T1" fmla="*/ 0 h 15"/>
                  <a:gd name="T2" fmla="*/ 0 w 97"/>
                  <a:gd name="T3" fmla="*/ 4 h 15"/>
                  <a:gd name="T4" fmla="*/ 2 w 97"/>
                  <a:gd name="T5" fmla="*/ 4 h 15"/>
                  <a:gd name="T6" fmla="*/ 2 w 97"/>
                  <a:gd name="T7" fmla="*/ 9 h 15"/>
                  <a:gd name="T8" fmla="*/ 3 w 97"/>
                  <a:gd name="T9" fmla="*/ 9 h 15"/>
                  <a:gd name="T10" fmla="*/ 5 w 97"/>
                  <a:gd name="T11" fmla="*/ 12 h 15"/>
                  <a:gd name="T12" fmla="*/ 7 w 97"/>
                  <a:gd name="T13" fmla="*/ 15 h 15"/>
                  <a:gd name="T14" fmla="*/ 91 w 97"/>
                  <a:gd name="T15" fmla="*/ 15 h 15"/>
                  <a:gd name="T16" fmla="*/ 91 w 97"/>
                  <a:gd name="T17" fmla="*/ 13 h 15"/>
                  <a:gd name="T18" fmla="*/ 92 w 97"/>
                  <a:gd name="T19" fmla="*/ 13 h 15"/>
                  <a:gd name="T20" fmla="*/ 92 w 97"/>
                  <a:gd name="T21" fmla="*/ 10 h 15"/>
                  <a:gd name="T22" fmla="*/ 96 w 97"/>
                  <a:gd name="T23" fmla="*/ 9 h 15"/>
                  <a:gd name="T24" fmla="*/ 96 w 97"/>
                  <a:gd name="T25" fmla="*/ 4 h 15"/>
                  <a:gd name="T26" fmla="*/ 97 w 97"/>
                  <a:gd name="T27" fmla="*/ 4 h 15"/>
                  <a:gd name="T28" fmla="*/ 97 w 97"/>
                  <a:gd name="T29" fmla="*/ 0 h 15"/>
                  <a:gd name="T30" fmla="*/ 0 w 97"/>
                  <a:gd name="T31" fmla="*/ 0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7" h="15">
                    <a:moveTo>
                      <a:pt x="0" y="0"/>
                    </a:moveTo>
                    <a:lnTo>
                      <a:pt x="0" y="4"/>
                    </a:lnTo>
                    <a:lnTo>
                      <a:pt x="2" y="4"/>
                    </a:lnTo>
                    <a:lnTo>
                      <a:pt x="2" y="9"/>
                    </a:lnTo>
                    <a:lnTo>
                      <a:pt x="3" y="9"/>
                    </a:lnTo>
                    <a:lnTo>
                      <a:pt x="5" y="12"/>
                    </a:lnTo>
                    <a:lnTo>
                      <a:pt x="7" y="15"/>
                    </a:lnTo>
                    <a:lnTo>
                      <a:pt x="91" y="15"/>
                    </a:lnTo>
                    <a:lnTo>
                      <a:pt x="91" y="13"/>
                    </a:lnTo>
                    <a:lnTo>
                      <a:pt x="92" y="13"/>
                    </a:lnTo>
                    <a:lnTo>
                      <a:pt x="92" y="10"/>
                    </a:lnTo>
                    <a:lnTo>
                      <a:pt x="96" y="9"/>
                    </a:lnTo>
                    <a:lnTo>
                      <a:pt x="96" y="4"/>
                    </a:lnTo>
                    <a:lnTo>
                      <a:pt x="97" y="4"/>
                    </a:lnTo>
                    <a:lnTo>
                      <a:pt x="97"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7926" name="Freeform 518"/>
              <p:cNvSpPr>
                <a:spLocks/>
              </p:cNvSpPr>
              <p:nvPr/>
            </p:nvSpPr>
            <p:spPr bwMode="auto">
              <a:xfrm>
                <a:off x="3644" y="3063"/>
                <a:ext cx="84" cy="13"/>
              </a:xfrm>
              <a:custGeom>
                <a:avLst/>
                <a:gdLst>
                  <a:gd name="T0" fmla="*/ 0 w 84"/>
                  <a:gd name="T1" fmla="*/ 0 h 13"/>
                  <a:gd name="T2" fmla="*/ 1 w 84"/>
                  <a:gd name="T3" fmla="*/ 4 h 13"/>
                  <a:gd name="T4" fmla="*/ 3 w 84"/>
                  <a:gd name="T5" fmla="*/ 4 h 13"/>
                  <a:gd name="T6" fmla="*/ 3 w 84"/>
                  <a:gd name="T7" fmla="*/ 8 h 13"/>
                  <a:gd name="T8" fmla="*/ 6 w 84"/>
                  <a:gd name="T9" fmla="*/ 8 h 13"/>
                  <a:gd name="T10" fmla="*/ 8 w 84"/>
                  <a:gd name="T11" fmla="*/ 12 h 13"/>
                  <a:gd name="T12" fmla="*/ 9 w 84"/>
                  <a:gd name="T13" fmla="*/ 12 h 13"/>
                  <a:gd name="T14" fmla="*/ 9 w 84"/>
                  <a:gd name="T15" fmla="*/ 13 h 13"/>
                  <a:gd name="T16" fmla="*/ 76 w 84"/>
                  <a:gd name="T17" fmla="*/ 13 h 13"/>
                  <a:gd name="T18" fmla="*/ 76 w 84"/>
                  <a:gd name="T19" fmla="*/ 10 h 13"/>
                  <a:gd name="T20" fmla="*/ 79 w 84"/>
                  <a:gd name="T21" fmla="*/ 8 h 13"/>
                  <a:gd name="T22" fmla="*/ 79 w 84"/>
                  <a:gd name="T23" fmla="*/ 7 h 13"/>
                  <a:gd name="T24" fmla="*/ 80 w 84"/>
                  <a:gd name="T25" fmla="*/ 7 h 13"/>
                  <a:gd name="T26" fmla="*/ 80 w 84"/>
                  <a:gd name="T27" fmla="*/ 4 h 13"/>
                  <a:gd name="T28" fmla="*/ 84 w 84"/>
                  <a:gd name="T29" fmla="*/ 4 h 13"/>
                  <a:gd name="T30" fmla="*/ 84 w 84"/>
                  <a:gd name="T31" fmla="*/ 0 h 13"/>
                  <a:gd name="T32" fmla="*/ 0 w 84"/>
                  <a:gd name="T33"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4" h="13">
                    <a:moveTo>
                      <a:pt x="0" y="0"/>
                    </a:moveTo>
                    <a:lnTo>
                      <a:pt x="1" y="4"/>
                    </a:lnTo>
                    <a:lnTo>
                      <a:pt x="3" y="4"/>
                    </a:lnTo>
                    <a:lnTo>
                      <a:pt x="3" y="8"/>
                    </a:lnTo>
                    <a:lnTo>
                      <a:pt x="6" y="8"/>
                    </a:lnTo>
                    <a:lnTo>
                      <a:pt x="8" y="12"/>
                    </a:lnTo>
                    <a:lnTo>
                      <a:pt x="9" y="12"/>
                    </a:lnTo>
                    <a:lnTo>
                      <a:pt x="9" y="13"/>
                    </a:lnTo>
                    <a:lnTo>
                      <a:pt x="76" y="13"/>
                    </a:lnTo>
                    <a:lnTo>
                      <a:pt x="76" y="10"/>
                    </a:lnTo>
                    <a:lnTo>
                      <a:pt x="79" y="8"/>
                    </a:lnTo>
                    <a:lnTo>
                      <a:pt x="79" y="7"/>
                    </a:lnTo>
                    <a:lnTo>
                      <a:pt x="80" y="7"/>
                    </a:lnTo>
                    <a:lnTo>
                      <a:pt x="80" y="4"/>
                    </a:lnTo>
                    <a:lnTo>
                      <a:pt x="84" y="4"/>
                    </a:lnTo>
                    <a:lnTo>
                      <a:pt x="84"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7927" name="Freeform 519"/>
              <p:cNvSpPr>
                <a:spLocks/>
              </p:cNvSpPr>
              <p:nvPr/>
            </p:nvSpPr>
            <p:spPr bwMode="auto">
              <a:xfrm>
                <a:off x="3653" y="3075"/>
                <a:ext cx="65" cy="13"/>
              </a:xfrm>
              <a:custGeom>
                <a:avLst/>
                <a:gdLst>
                  <a:gd name="T0" fmla="*/ 0 w 65"/>
                  <a:gd name="T1" fmla="*/ 0 h 13"/>
                  <a:gd name="T2" fmla="*/ 2 w 65"/>
                  <a:gd name="T3" fmla="*/ 3 h 13"/>
                  <a:gd name="T4" fmla="*/ 4 w 65"/>
                  <a:gd name="T5" fmla="*/ 3 h 13"/>
                  <a:gd name="T6" fmla="*/ 4 w 65"/>
                  <a:gd name="T7" fmla="*/ 5 h 13"/>
                  <a:gd name="T8" fmla="*/ 7 w 65"/>
                  <a:gd name="T9" fmla="*/ 5 h 13"/>
                  <a:gd name="T10" fmla="*/ 7 w 65"/>
                  <a:gd name="T11" fmla="*/ 6 h 13"/>
                  <a:gd name="T12" fmla="*/ 10 w 65"/>
                  <a:gd name="T13" fmla="*/ 6 h 13"/>
                  <a:gd name="T14" fmla="*/ 10 w 65"/>
                  <a:gd name="T15" fmla="*/ 8 h 13"/>
                  <a:gd name="T16" fmla="*/ 13 w 65"/>
                  <a:gd name="T17" fmla="*/ 8 h 13"/>
                  <a:gd name="T18" fmla="*/ 13 w 65"/>
                  <a:gd name="T19" fmla="*/ 9 h 13"/>
                  <a:gd name="T20" fmla="*/ 18 w 65"/>
                  <a:gd name="T21" fmla="*/ 9 h 13"/>
                  <a:gd name="T22" fmla="*/ 18 w 65"/>
                  <a:gd name="T23" fmla="*/ 11 h 13"/>
                  <a:gd name="T24" fmla="*/ 23 w 65"/>
                  <a:gd name="T25" fmla="*/ 11 h 13"/>
                  <a:gd name="T26" fmla="*/ 23 w 65"/>
                  <a:gd name="T27" fmla="*/ 13 h 13"/>
                  <a:gd name="T28" fmla="*/ 42 w 65"/>
                  <a:gd name="T29" fmla="*/ 13 h 13"/>
                  <a:gd name="T30" fmla="*/ 42 w 65"/>
                  <a:gd name="T31" fmla="*/ 11 h 13"/>
                  <a:gd name="T32" fmla="*/ 46 w 65"/>
                  <a:gd name="T33" fmla="*/ 11 h 13"/>
                  <a:gd name="T34" fmla="*/ 46 w 65"/>
                  <a:gd name="T35" fmla="*/ 9 h 13"/>
                  <a:gd name="T36" fmla="*/ 52 w 65"/>
                  <a:gd name="T37" fmla="*/ 9 h 13"/>
                  <a:gd name="T38" fmla="*/ 52 w 65"/>
                  <a:gd name="T39" fmla="*/ 8 h 13"/>
                  <a:gd name="T40" fmla="*/ 55 w 65"/>
                  <a:gd name="T41" fmla="*/ 6 h 13"/>
                  <a:gd name="T42" fmla="*/ 59 w 65"/>
                  <a:gd name="T43" fmla="*/ 6 h 13"/>
                  <a:gd name="T44" fmla="*/ 59 w 65"/>
                  <a:gd name="T45" fmla="*/ 5 h 13"/>
                  <a:gd name="T46" fmla="*/ 62 w 65"/>
                  <a:gd name="T47" fmla="*/ 3 h 13"/>
                  <a:gd name="T48" fmla="*/ 65 w 65"/>
                  <a:gd name="T49" fmla="*/ 1 h 13"/>
                  <a:gd name="T50" fmla="*/ 65 w 65"/>
                  <a:gd name="T51" fmla="*/ 0 h 13"/>
                  <a:gd name="T52" fmla="*/ 0 w 65"/>
                  <a:gd name="T53"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5" h="13">
                    <a:moveTo>
                      <a:pt x="0" y="0"/>
                    </a:moveTo>
                    <a:lnTo>
                      <a:pt x="2" y="3"/>
                    </a:lnTo>
                    <a:lnTo>
                      <a:pt x="4" y="3"/>
                    </a:lnTo>
                    <a:lnTo>
                      <a:pt x="4" y="5"/>
                    </a:lnTo>
                    <a:lnTo>
                      <a:pt x="7" y="5"/>
                    </a:lnTo>
                    <a:lnTo>
                      <a:pt x="7" y="6"/>
                    </a:lnTo>
                    <a:lnTo>
                      <a:pt x="10" y="6"/>
                    </a:lnTo>
                    <a:lnTo>
                      <a:pt x="10" y="8"/>
                    </a:lnTo>
                    <a:lnTo>
                      <a:pt x="13" y="8"/>
                    </a:lnTo>
                    <a:lnTo>
                      <a:pt x="13" y="9"/>
                    </a:lnTo>
                    <a:lnTo>
                      <a:pt x="18" y="9"/>
                    </a:lnTo>
                    <a:lnTo>
                      <a:pt x="18" y="11"/>
                    </a:lnTo>
                    <a:lnTo>
                      <a:pt x="23" y="11"/>
                    </a:lnTo>
                    <a:lnTo>
                      <a:pt x="23" y="13"/>
                    </a:lnTo>
                    <a:lnTo>
                      <a:pt x="42" y="13"/>
                    </a:lnTo>
                    <a:lnTo>
                      <a:pt x="42" y="11"/>
                    </a:lnTo>
                    <a:lnTo>
                      <a:pt x="46" y="11"/>
                    </a:lnTo>
                    <a:lnTo>
                      <a:pt x="46" y="9"/>
                    </a:lnTo>
                    <a:lnTo>
                      <a:pt x="52" y="9"/>
                    </a:lnTo>
                    <a:lnTo>
                      <a:pt x="52" y="8"/>
                    </a:lnTo>
                    <a:lnTo>
                      <a:pt x="55" y="6"/>
                    </a:lnTo>
                    <a:lnTo>
                      <a:pt x="59" y="6"/>
                    </a:lnTo>
                    <a:lnTo>
                      <a:pt x="59" y="5"/>
                    </a:lnTo>
                    <a:lnTo>
                      <a:pt x="62" y="3"/>
                    </a:lnTo>
                    <a:lnTo>
                      <a:pt x="65" y="1"/>
                    </a:lnTo>
                    <a:lnTo>
                      <a:pt x="65"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7928" name="Freeform 520"/>
              <p:cNvSpPr>
                <a:spLocks/>
              </p:cNvSpPr>
              <p:nvPr/>
            </p:nvSpPr>
            <p:spPr bwMode="auto">
              <a:xfrm>
                <a:off x="3636" y="2986"/>
                <a:ext cx="98" cy="100"/>
              </a:xfrm>
              <a:custGeom>
                <a:avLst/>
                <a:gdLst>
                  <a:gd name="T0" fmla="*/ 98 w 98"/>
                  <a:gd name="T1" fmla="*/ 37 h 100"/>
                  <a:gd name="T2" fmla="*/ 95 w 98"/>
                  <a:gd name="T3" fmla="*/ 31 h 100"/>
                  <a:gd name="T4" fmla="*/ 93 w 98"/>
                  <a:gd name="T5" fmla="*/ 27 h 100"/>
                  <a:gd name="T6" fmla="*/ 92 w 98"/>
                  <a:gd name="T7" fmla="*/ 24 h 100"/>
                  <a:gd name="T8" fmla="*/ 90 w 98"/>
                  <a:gd name="T9" fmla="*/ 21 h 100"/>
                  <a:gd name="T10" fmla="*/ 87 w 98"/>
                  <a:gd name="T11" fmla="*/ 16 h 100"/>
                  <a:gd name="T12" fmla="*/ 84 w 98"/>
                  <a:gd name="T13" fmla="*/ 14 h 100"/>
                  <a:gd name="T14" fmla="*/ 82 w 98"/>
                  <a:gd name="T15" fmla="*/ 11 h 100"/>
                  <a:gd name="T16" fmla="*/ 77 w 98"/>
                  <a:gd name="T17" fmla="*/ 8 h 100"/>
                  <a:gd name="T18" fmla="*/ 74 w 98"/>
                  <a:gd name="T19" fmla="*/ 6 h 100"/>
                  <a:gd name="T20" fmla="*/ 71 w 98"/>
                  <a:gd name="T21" fmla="*/ 5 h 100"/>
                  <a:gd name="T22" fmla="*/ 66 w 98"/>
                  <a:gd name="T23" fmla="*/ 1 h 100"/>
                  <a:gd name="T24" fmla="*/ 58 w 98"/>
                  <a:gd name="T25" fmla="*/ 0 h 100"/>
                  <a:gd name="T26" fmla="*/ 35 w 98"/>
                  <a:gd name="T27" fmla="*/ 1 h 100"/>
                  <a:gd name="T28" fmla="*/ 30 w 98"/>
                  <a:gd name="T29" fmla="*/ 5 h 100"/>
                  <a:gd name="T30" fmla="*/ 25 w 98"/>
                  <a:gd name="T31" fmla="*/ 6 h 100"/>
                  <a:gd name="T32" fmla="*/ 22 w 98"/>
                  <a:gd name="T33" fmla="*/ 8 h 100"/>
                  <a:gd name="T34" fmla="*/ 17 w 98"/>
                  <a:gd name="T35" fmla="*/ 11 h 100"/>
                  <a:gd name="T36" fmla="*/ 14 w 98"/>
                  <a:gd name="T37" fmla="*/ 13 h 100"/>
                  <a:gd name="T38" fmla="*/ 12 w 98"/>
                  <a:gd name="T39" fmla="*/ 16 h 100"/>
                  <a:gd name="T40" fmla="*/ 11 w 98"/>
                  <a:gd name="T41" fmla="*/ 19 h 100"/>
                  <a:gd name="T42" fmla="*/ 8 w 98"/>
                  <a:gd name="T43" fmla="*/ 22 h 100"/>
                  <a:gd name="T44" fmla="*/ 6 w 98"/>
                  <a:gd name="T45" fmla="*/ 26 h 100"/>
                  <a:gd name="T46" fmla="*/ 3 w 98"/>
                  <a:gd name="T47" fmla="*/ 31 h 100"/>
                  <a:gd name="T48" fmla="*/ 1 w 98"/>
                  <a:gd name="T49" fmla="*/ 35 h 100"/>
                  <a:gd name="T50" fmla="*/ 0 w 98"/>
                  <a:gd name="T51" fmla="*/ 50 h 100"/>
                  <a:gd name="T52" fmla="*/ 1 w 98"/>
                  <a:gd name="T53" fmla="*/ 64 h 100"/>
                  <a:gd name="T54" fmla="*/ 3 w 98"/>
                  <a:gd name="T55" fmla="*/ 69 h 100"/>
                  <a:gd name="T56" fmla="*/ 6 w 98"/>
                  <a:gd name="T57" fmla="*/ 74 h 100"/>
                  <a:gd name="T58" fmla="*/ 8 w 98"/>
                  <a:gd name="T59" fmla="*/ 77 h 100"/>
                  <a:gd name="T60" fmla="*/ 11 w 98"/>
                  <a:gd name="T61" fmla="*/ 81 h 100"/>
                  <a:gd name="T62" fmla="*/ 12 w 98"/>
                  <a:gd name="T63" fmla="*/ 84 h 100"/>
                  <a:gd name="T64" fmla="*/ 14 w 98"/>
                  <a:gd name="T65" fmla="*/ 85 h 100"/>
                  <a:gd name="T66" fmla="*/ 17 w 98"/>
                  <a:gd name="T67" fmla="*/ 89 h 100"/>
                  <a:gd name="T68" fmla="*/ 22 w 98"/>
                  <a:gd name="T69" fmla="*/ 92 h 100"/>
                  <a:gd name="T70" fmla="*/ 25 w 98"/>
                  <a:gd name="T71" fmla="*/ 94 h 100"/>
                  <a:gd name="T72" fmla="*/ 30 w 98"/>
                  <a:gd name="T73" fmla="*/ 95 h 100"/>
                  <a:gd name="T74" fmla="*/ 35 w 98"/>
                  <a:gd name="T75" fmla="*/ 97 h 100"/>
                  <a:gd name="T76" fmla="*/ 58 w 98"/>
                  <a:gd name="T77" fmla="*/ 100 h 100"/>
                  <a:gd name="T78" fmla="*/ 66 w 98"/>
                  <a:gd name="T79" fmla="*/ 97 h 100"/>
                  <a:gd name="T80" fmla="*/ 71 w 98"/>
                  <a:gd name="T81" fmla="*/ 95 h 100"/>
                  <a:gd name="T82" fmla="*/ 74 w 98"/>
                  <a:gd name="T83" fmla="*/ 94 h 100"/>
                  <a:gd name="T84" fmla="*/ 77 w 98"/>
                  <a:gd name="T85" fmla="*/ 92 h 100"/>
                  <a:gd name="T86" fmla="*/ 82 w 98"/>
                  <a:gd name="T87" fmla="*/ 89 h 100"/>
                  <a:gd name="T88" fmla="*/ 84 w 98"/>
                  <a:gd name="T89" fmla="*/ 85 h 100"/>
                  <a:gd name="T90" fmla="*/ 87 w 98"/>
                  <a:gd name="T91" fmla="*/ 84 h 100"/>
                  <a:gd name="T92" fmla="*/ 90 w 98"/>
                  <a:gd name="T93" fmla="*/ 79 h 100"/>
                  <a:gd name="T94" fmla="*/ 92 w 98"/>
                  <a:gd name="T95" fmla="*/ 76 h 100"/>
                  <a:gd name="T96" fmla="*/ 93 w 98"/>
                  <a:gd name="T97" fmla="*/ 73 h 100"/>
                  <a:gd name="T98" fmla="*/ 95 w 98"/>
                  <a:gd name="T99" fmla="*/ 69 h 100"/>
                  <a:gd name="T100" fmla="*/ 98 w 98"/>
                  <a:gd name="T101" fmla="*/ 63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8" h="100">
                    <a:moveTo>
                      <a:pt x="98" y="50"/>
                    </a:moveTo>
                    <a:lnTo>
                      <a:pt x="98" y="40"/>
                    </a:lnTo>
                    <a:lnTo>
                      <a:pt x="98" y="40"/>
                    </a:lnTo>
                    <a:lnTo>
                      <a:pt x="98" y="37"/>
                    </a:lnTo>
                    <a:lnTo>
                      <a:pt x="97" y="35"/>
                    </a:lnTo>
                    <a:lnTo>
                      <a:pt x="97" y="34"/>
                    </a:lnTo>
                    <a:lnTo>
                      <a:pt x="95" y="32"/>
                    </a:lnTo>
                    <a:lnTo>
                      <a:pt x="95" y="31"/>
                    </a:lnTo>
                    <a:lnTo>
                      <a:pt x="95" y="31"/>
                    </a:lnTo>
                    <a:lnTo>
                      <a:pt x="95" y="29"/>
                    </a:lnTo>
                    <a:lnTo>
                      <a:pt x="93" y="27"/>
                    </a:lnTo>
                    <a:lnTo>
                      <a:pt x="93" y="27"/>
                    </a:lnTo>
                    <a:lnTo>
                      <a:pt x="92" y="26"/>
                    </a:lnTo>
                    <a:lnTo>
                      <a:pt x="92" y="24"/>
                    </a:lnTo>
                    <a:lnTo>
                      <a:pt x="92" y="24"/>
                    </a:lnTo>
                    <a:lnTo>
                      <a:pt x="92" y="24"/>
                    </a:lnTo>
                    <a:lnTo>
                      <a:pt x="90" y="22"/>
                    </a:lnTo>
                    <a:lnTo>
                      <a:pt x="90" y="21"/>
                    </a:lnTo>
                    <a:lnTo>
                      <a:pt x="90" y="21"/>
                    </a:lnTo>
                    <a:lnTo>
                      <a:pt x="90" y="21"/>
                    </a:lnTo>
                    <a:lnTo>
                      <a:pt x="87" y="19"/>
                    </a:lnTo>
                    <a:lnTo>
                      <a:pt x="87" y="18"/>
                    </a:lnTo>
                    <a:lnTo>
                      <a:pt x="87" y="18"/>
                    </a:lnTo>
                    <a:lnTo>
                      <a:pt x="87" y="16"/>
                    </a:lnTo>
                    <a:lnTo>
                      <a:pt x="85" y="16"/>
                    </a:lnTo>
                    <a:lnTo>
                      <a:pt x="84" y="16"/>
                    </a:lnTo>
                    <a:lnTo>
                      <a:pt x="84" y="14"/>
                    </a:lnTo>
                    <a:lnTo>
                      <a:pt x="84" y="14"/>
                    </a:lnTo>
                    <a:lnTo>
                      <a:pt x="84" y="13"/>
                    </a:lnTo>
                    <a:lnTo>
                      <a:pt x="82" y="13"/>
                    </a:lnTo>
                    <a:lnTo>
                      <a:pt x="82" y="13"/>
                    </a:lnTo>
                    <a:lnTo>
                      <a:pt x="82" y="11"/>
                    </a:lnTo>
                    <a:lnTo>
                      <a:pt x="80" y="11"/>
                    </a:lnTo>
                    <a:lnTo>
                      <a:pt x="79" y="10"/>
                    </a:lnTo>
                    <a:lnTo>
                      <a:pt x="77" y="10"/>
                    </a:lnTo>
                    <a:lnTo>
                      <a:pt x="77" y="8"/>
                    </a:lnTo>
                    <a:lnTo>
                      <a:pt x="76" y="8"/>
                    </a:lnTo>
                    <a:lnTo>
                      <a:pt x="76" y="8"/>
                    </a:lnTo>
                    <a:lnTo>
                      <a:pt x="74" y="8"/>
                    </a:lnTo>
                    <a:lnTo>
                      <a:pt x="74" y="6"/>
                    </a:lnTo>
                    <a:lnTo>
                      <a:pt x="74" y="6"/>
                    </a:lnTo>
                    <a:lnTo>
                      <a:pt x="72" y="5"/>
                    </a:lnTo>
                    <a:lnTo>
                      <a:pt x="71" y="5"/>
                    </a:lnTo>
                    <a:lnTo>
                      <a:pt x="71" y="5"/>
                    </a:lnTo>
                    <a:lnTo>
                      <a:pt x="67" y="5"/>
                    </a:lnTo>
                    <a:lnTo>
                      <a:pt x="67" y="3"/>
                    </a:lnTo>
                    <a:lnTo>
                      <a:pt x="66" y="3"/>
                    </a:lnTo>
                    <a:lnTo>
                      <a:pt x="66" y="1"/>
                    </a:lnTo>
                    <a:lnTo>
                      <a:pt x="63" y="1"/>
                    </a:lnTo>
                    <a:lnTo>
                      <a:pt x="63" y="1"/>
                    </a:lnTo>
                    <a:lnTo>
                      <a:pt x="59" y="1"/>
                    </a:lnTo>
                    <a:lnTo>
                      <a:pt x="58" y="0"/>
                    </a:lnTo>
                    <a:lnTo>
                      <a:pt x="40" y="0"/>
                    </a:lnTo>
                    <a:lnTo>
                      <a:pt x="38" y="1"/>
                    </a:lnTo>
                    <a:lnTo>
                      <a:pt x="35" y="1"/>
                    </a:lnTo>
                    <a:lnTo>
                      <a:pt x="35" y="1"/>
                    </a:lnTo>
                    <a:lnTo>
                      <a:pt x="34" y="1"/>
                    </a:lnTo>
                    <a:lnTo>
                      <a:pt x="32" y="3"/>
                    </a:lnTo>
                    <a:lnTo>
                      <a:pt x="30" y="3"/>
                    </a:lnTo>
                    <a:lnTo>
                      <a:pt x="30" y="5"/>
                    </a:lnTo>
                    <a:lnTo>
                      <a:pt x="27" y="5"/>
                    </a:lnTo>
                    <a:lnTo>
                      <a:pt x="27" y="5"/>
                    </a:lnTo>
                    <a:lnTo>
                      <a:pt x="25" y="5"/>
                    </a:lnTo>
                    <a:lnTo>
                      <a:pt x="25" y="6"/>
                    </a:lnTo>
                    <a:lnTo>
                      <a:pt x="24" y="6"/>
                    </a:lnTo>
                    <a:lnTo>
                      <a:pt x="24" y="8"/>
                    </a:lnTo>
                    <a:lnTo>
                      <a:pt x="22" y="8"/>
                    </a:lnTo>
                    <a:lnTo>
                      <a:pt x="22" y="8"/>
                    </a:lnTo>
                    <a:lnTo>
                      <a:pt x="21" y="8"/>
                    </a:lnTo>
                    <a:lnTo>
                      <a:pt x="21" y="10"/>
                    </a:lnTo>
                    <a:lnTo>
                      <a:pt x="19" y="10"/>
                    </a:lnTo>
                    <a:lnTo>
                      <a:pt x="17" y="11"/>
                    </a:lnTo>
                    <a:lnTo>
                      <a:pt x="17" y="11"/>
                    </a:lnTo>
                    <a:lnTo>
                      <a:pt x="17" y="13"/>
                    </a:lnTo>
                    <a:lnTo>
                      <a:pt x="16" y="13"/>
                    </a:lnTo>
                    <a:lnTo>
                      <a:pt x="14" y="13"/>
                    </a:lnTo>
                    <a:lnTo>
                      <a:pt x="14" y="14"/>
                    </a:lnTo>
                    <a:lnTo>
                      <a:pt x="14" y="14"/>
                    </a:lnTo>
                    <a:lnTo>
                      <a:pt x="14" y="16"/>
                    </a:lnTo>
                    <a:lnTo>
                      <a:pt x="12" y="16"/>
                    </a:lnTo>
                    <a:lnTo>
                      <a:pt x="11" y="16"/>
                    </a:lnTo>
                    <a:lnTo>
                      <a:pt x="11" y="18"/>
                    </a:lnTo>
                    <a:lnTo>
                      <a:pt x="11" y="18"/>
                    </a:lnTo>
                    <a:lnTo>
                      <a:pt x="11" y="19"/>
                    </a:lnTo>
                    <a:lnTo>
                      <a:pt x="9" y="21"/>
                    </a:lnTo>
                    <a:lnTo>
                      <a:pt x="9" y="21"/>
                    </a:lnTo>
                    <a:lnTo>
                      <a:pt x="8" y="21"/>
                    </a:lnTo>
                    <a:lnTo>
                      <a:pt x="8" y="22"/>
                    </a:lnTo>
                    <a:lnTo>
                      <a:pt x="6" y="24"/>
                    </a:lnTo>
                    <a:lnTo>
                      <a:pt x="6" y="24"/>
                    </a:lnTo>
                    <a:lnTo>
                      <a:pt x="6" y="24"/>
                    </a:lnTo>
                    <a:lnTo>
                      <a:pt x="6" y="26"/>
                    </a:lnTo>
                    <a:lnTo>
                      <a:pt x="4" y="27"/>
                    </a:lnTo>
                    <a:lnTo>
                      <a:pt x="4" y="27"/>
                    </a:lnTo>
                    <a:lnTo>
                      <a:pt x="3" y="29"/>
                    </a:lnTo>
                    <a:lnTo>
                      <a:pt x="3" y="31"/>
                    </a:lnTo>
                    <a:lnTo>
                      <a:pt x="3" y="31"/>
                    </a:lnTo>
                    <a:lnTo>
                      <a:pt x="3" y="32"/>
                    </a:lnTo>
                    <a:lnTo>
                      <a:pt x="1" y="34"/>
                    </a:lnTo>
                    <a:lnTo>
                      <a:pt x="1" y="35"/>
                    </a:lnTo>
                    <a:lnTo>
                      <a:pt x="1" y="37"/>
                    </a:lnTo>
                    <a:lnTo>
                      <a:pt x="1" y="40"/>
                    </a:lnTo>
                    <a:lnTo>
                      <a:pt x="0" y="40"/>
                    </a:lnTo>
                    <a:lnTo>
                      <a:pt x="0" y="50"/>
                    </a:lnTo>
                    <a:lnTo>
                      <a:pt x="0" y="60"/>
                    </a:lnTo>
                    <a:lnTo>
                      <a:pt x="1" y="60"/>
                    </a:lnTo>
                    <a:lnTo>
                      <a:pt x="1" y="63"/>
                    </a:lnTo>
                    <a:lnTo>
                      <a:pt x="1" y="64"/>
                    </a:lnTo>
                    <a:lnTo>
                      <a:pt x="1" y="66"/>
                    </a:lnTo>
                    <a:lnTo>
                      <a:pt x="3" y="68"/>
                    </a:lnTo>
                    <a:lnTo>
                      <a:pt x="3" y="69"/>
                    </a:lnTo>
                    <a:lnTo>
                      <a:pt x="3" y="69"/>
                    </a:lnTo>
                    <a:lnTo>
                      <a:pt x="3" y="71"/>
                    </a:lnTo>
                    <a:lnTo>
                      <a:pt x="4" y="73"/>
                    </a:lnTo>
                    <a:lnTo>
                      <a:pt x="4" y="73"/>
                    </a:lnTo>
                    <a:lnTo>
                      <a:pt x="6" y="74"/>
                    </a:lnTo>
                    <a:lnTo>
                      <a:pt x="6" y="76"/>
                    </a:lnTo>
                    <a:lnTo>
                      <a:pt x="6" y="76"/>
                    </a:lnTo>
                    <a:lnTo>
                      <a:pt x="6" y="76"/>
                    </a:lnTo>
                    <a:lnTo>
                      <a:pt x="8" y="77"/>
                    </a:lnTo>
                    <a:lnTo>
                      <a:pt x="8" y="77"/>
                    </a:lnTo>
                    <a:lnTo>
                      <a:pt x="9" y="77"/>
                    </a:lnTo>
                    <a:lnTo>
                      <a:pt x="9" y="79"/>
                    </a:lnTo>
                    <a:lnTo>
                      <a:pt x="11" y="81"/>
                    </a:lnTo>
                    <a:lnTo>
                      <a:pt x="11" y="82"/>
                    </a:lnTo>
                    <a:lnTo>
                      <a:pt x="11" y="82"/>
                    </a:lnTo>
                    <a:lnTo>
                      <a:pt x="11" y="84"/>
                    </a:lnTo>
                    <a:lnTo>
                      <a:pt x="12" y="84"/>
                    </a:lnTo>
                    <a:lnTo>
                      <a:pt x="14" y="84"/>
                    </a:lnTo>
                    <a:lnTo>
                      <a:pt x="14" y="85"/>
                    </a:lnTo>
                    <a:lnTo>
                      <a:pt x="14" y="85"/>
                    </a:lnTo>
                    <a:lnTo>
                      <a:pt x="14" y="85"/>
                    </a:lnTo>
                    <a:lnTo>
                      <a:pt x="16" y="87"/>
                    </a:lnTo>
                    <a:lnTo>
                      <a:pt x="17" y="87"/>
                    </a:lnTo>
                    <a:lnTo>
                      <a:pt x="17" y="89"/>
                    </a:lnTo>
                    <a:lnTo>
                      <a:pt x="17" y="89"/>
                    </a:lnTo>
                    <a:lnTo>
                      <a:pt x="19" y="90"/>
                    </a:lnTo>
                    <a:lnTo>
                      <a:pt x="21" y="90"/>
                    </a:lnTo>
                    <a:lnTo>
                      <a:pt x="21" y="92"/>
                    </a:lnTo>
                    <a:lnTo>
                      <a:pt x="22" y="92"/>
                    </a:lnTo>
                    <a:lnTo>
                      <a:pt x="22" y="92"/>
                    </a:lnTo>
                    <a:lnTo>
                      <a:pt x="24" y="92"/>
                    </a:lnTo>
                    <a:lnTo>
                      <a:pt x="24" y="94"/>
                    </a:lnTo>
                    <a:lnTo>
                      <a:pt x="25" y="94"/>
                    </a:lnTo>
                    <a:lnTo>
                      <a:pt x="25" y="94"/>
                    </a:lnTo>
                    <a:lnTo>
                      <a:pt x="27" y="94"/>
                    </a:lnTo>
                    <a:lnTo>
                      <a:pt x="27" y="95"/>
                    </a:lnTo>
                    <a:lnTo>
                      <a:pt x="30" y="95"/>
                    </a:lnTo>
                    <a:lnTo>
                      <a:pt x="30" y="97"/>
                    </a:lnTo>
                    <a:lnTo>
                      <a:pt x="32" y="97"/>
                    </a:lnTo>
                    <a:lnTo>
                      <a:pt x="34" y="97"/>
                    </a:lnTo>
                    <a:lnTo>
                      <a:pt x="35" y="97"/>
                    </a:lnTo>
                    <a:lnTo>
                      <a:pt x="35" y="98"/>
                    </a:lnTo>
                    <a:lnTo>
                      <a:pt x="38" y="98"/>
                    </a:lnTo>
                    <a:lnTo>
                      <a:pt x="40" y="100"/>
                    </a:lnTo>
                    <a:lnTo>
                      <a:pt x="58" y="100"/>
                    </a:lnTo>
                    <a:lnTo>
                      <a:pt x="59" y="98"/>
                    </a:lnTo>
                    <a:lnTo>
                      <a:pt x="63" y="98"/>
                    </a:lnTo>
                    <a:lnTo>
                      <a:pt x="63" y="97"/>
                    </a:lnTo>
                    <a:lnTo>
                      <a:pt x="66" y="97"/>
                    </a:lnTo>
                    <a:lnTo>
                      <a:pt x="66" y="97"/>
                    </a:lnTo>
                    <a:lnTo>
                      <a:pt x="67" y="97"/>
                    </a:lnTo>
                    <a:lnTo>
                      <a:pt x="67" y="95"/>
                    </a:lnTo>
                    <a:lnTo>
                      <a:pt x="71" y="95"/>
                    </a:lnTo>
                    <a:lnTo>
                      <a:pt x="71" y="94"/>
                    </a:lnTo>
                    <a:lnTo>
                      <a:pt x="72" y="94"/>
                    </a:lnTo>
                    <a:lnTo>
                      <a:pt x="74" y="94"/>
                    </a:lnTo>
                    <a:lnTo>
                      <a:pt x="74" y="94"/>
                    </a:lnTo>
                    <a:lnTo>
                      <a:pt x="74" y="92"/>
                    </a:lnTo>
                    <a:lnTo>
                      <a:pt x="76" y="92"/>
                    </a:lnTo>
                    <a:lnTo>
                      <a:pt x="76" y="92"/>
                    </a:lnTo>
                    <a:lnTo>
                      <a:pt x="77" y="92"/>
                    </a:lnTo>
                    <a:lnTo>
                      <a:pt x="77" y="90"/>
                    </a:lnTo>
                    <a:lnTo>
                      <a:pt x="79" y="90"/>
                    </a:lnTo>
                    <a:lnTo>
                      <a:pt x="80" y="89"/>
                    </a:lnTo>
                    <a:lnTo>
                      <a:pt x="82" y="89"/>
                    </a:lnTo>
                    <a:lnTo>
                      <a:pt x="82" y="87"/>
                    </a:lnTo>
                    <a:lnTo>
                      <a:pt x="82" y="87"/>
                    </a:lnTo>
                    <a:lnTo>
                      <a:pt x="84" y="85"/>
                    </a:lnTo>
                    <a:lnTo>
                      <a:pt x="84" y="85"/>
                    </a:lnTo>
                    <a:lnTo>
                      <a:pt x="84" y="85"/>
                    </a:lnTo>
                    <a:lnTo>
                      <a:pt x="84" y="84"/>
                    </a:lnTo>
                    <a:lnTo>
                      <a:pt x="85" y="84"/>
                    </a:lnTo>
                    <a:lnTo>
                      <a:pt x="87" y="84"/>
                    </a:lnTo>
                    <a:lnTo>
                      <a:pt x="87" y="82"/>
                    </a:lnTo>
                    <a:lnTo>
                      <a:pt x="87" y="82"/>
                    </a:lnTo>
                    <a:lnTo>
                      <a:pt x="87" y="81"/>
                    </a:lnTo>
                    <a:lnTo>
                      <a:pt x="90" y="79"/>
                    </a:lnTo>
                    <a:lnTo>
                      <a:pt x="90" y="77"/>
                    </a:lnTo>
                    <a:lnTo>
                      <a:pt x="90" y="77"/>
                    </a:lnTo>
                    <a:lnTo>
                      <a:pt x="90" y="77"/>
                    </a:lnTo>
                    <a:lnTo>
                      <a:pt x="92" y="76"/>
                    </a:lnTo>
                    <a:lnTo>
                      <a:pt x="92" y="76"/>
                    </a:lnTo>
                    <a:lnTo>
                      <a:pt x="92" y="76"/>
                    </a:lnTo>
                    <a:lnTo>
                      <a:pt x="92" y="74"/>
                    </a:lnTo>
                    <a:lnTo>
                      <a:pt x="93" y="73"/>
                    </a:lnTo>
                    <a:lnTo>
                      <a:pt x="93" y="73"/>
                    </a:lnTo>
                    <a:lnTo>
                      <a:pt x="95" y="71"/>
                    </a:lnTo>
                    <a:lnTo>
                      <a:pt x="95" y="69"/>
                    </a:lnTo>
                    <a:lnTo>
                      <a:pt x="95" y="69"/>
                    </a:lnTo>
                    <a:lnTo>
                      <a:pt x="95" y="68"/>
                    </a:lnTo>
                    <a:lnTo>
                      <a:pt x="97" y="66"/>
                    </a:lnTo>
                    <a:lnTo>
                      <a:pt x="97" y="64"/>
                    </a:lnTo>
                    <a:lnTo>
                      <a:pt x="98" y="63"/>
                    </a:lnTo>
                    <a:lnTo>
                      <a:pt x="98" y="60"/>
                    </a:lnTo>
                    <a:lnTo>
                      <a:pt x="98" y="60"/>
                    </a:lnTo>
                    <a:lnTo>
                      <a:pt x="98" y="50"/>
                    </a:lnTo>
                  </a:path>
                </a:pathLst>
              </a:custGeom>
              <a:grpFill/>
              <a:ln w="0">
                <a:solidFill>
                  <a:srgbClr val="000000"/>
                </a:solidFill>
                <a:prstDash val="solid"/>
                <a:round/>
                <a:headEnd/>
                <a:tailEnd/>
              </a:ln>
              <a:extLst/>
            </p:spPr>
            <p:txBody>
              <a:bodyPr/>
              <a:lstStyle/>
              <a:p>
                <a:pPr>
                  <a:defRPr/>
                </a:pPr>
                <a:endParaRPr lang="en-US"/>
              </a:p>
            </p:txBody>
          </p:sp>
          <p:sp>
            <p:nvSpPr>
              <p:cNvPr id="17929" name="Line 521"/>
              <p:cNvSpPr>
                <a:spLocks noChangeShapeType="1"/>
              </p:cNvSpPr>
              <p:nvPr/>
            </p:nvSpPr>
            <p:spPr bwMode="auto">
              <a:xfrm flipH="1">
                <a:off x="3666" y="3109"/>
                <a:ext cx="36" cy="1"/>
              </a:xfrm>
              <a:prstGeom prst="line">
                <a:avLst/>
              </a:prstGeom>
              <a:grpFill/>
              <a:ln w="0">
                <a:solidFill>
                  <a:srgbClr val="000000"/>
                </a:solidFill>
                <a:round/>
                <a:headEnd/>
                <a:tailEnd/>
              </a:ln>
              <a:extLst/>
            </p:spPr>
            <p:txBody>
              <a:bodyPr/>
              <a:lstStyle/>
              <a:p>
                <a:pPr>
                  <a:defRPr/>
                </a:pPr>
                <a:endParaRPr lang="en-US"/>
              </a:p>
            </p:txBody>
          </p:sp>
          <p:sp>
            <p:nvSpPr>
              <p:cNvPr id="17930" name="Line 522"/>
              <p:cNvSpPr>
                <a:spLocks noChangeShapeType="1"/>
              </p:cNvSpPr>
              <p:nvPr/>
            </p:nvSpPr>
            <p:spPr bwMode="auto">
              <a:xfrm flipH="1">
                <a:off x="3781" y="2996"/>
                <a:ext cx="361" cy="1"/>
              </a:xfrm>
              <a:prstGeom prst="line">
                <a:avLst/>
              </a:prstGeom>
              <a:grpFill/>
              <a:ln w="0">
                <a:solidFill>
                  <a:srgbClr val="000000"/>
                </a:solidFill>
                <a:round/>
                <a:headEnd/>
                <a:tailEnd/>
              </a:ln>
              <a:extLst/>
            </p:spPr>
            <p:txBody>
              <a:bodyPr/>
              <a:lstStyle/>
              <a:p>
                <a:pPr>
                  <a:defRPr/>
                </a:pPr>
                <a:endParaRPr lang="en-US"/>
              </a:p>
            </p:txBody>
          </p:sp>
          <p:sp>
            <p:nvSpPr>
              <p:cNvPr id="17931" name="Rectangle 523"/>
              <p:cNvSpPr>
                <a:spLocks noChangeArrowheads="1"/>
              </p:cNvSpPr>
              <p:nvPr/>
            </p:nvSpPr>
            <p:spPr bwMode="auto">
              <a:xfrm>
                <a:off x="3931" y="2944"/>
                <a:ext cx="15" cy="36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932" name="Rectangle 524"/>
              <p:cNvSpPr>
                <a:spLocks noChangeArrowheads="1"/>
              </p:cNvSpPr>
              <p:nvPr/>
            </p:nvSpPr>
            <p:spPr bwMode="auto">
              <a:xfrm>
                <a:off x="3943" y="2944"/>
                <a:ext cx="14" cy="36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933" name="Rectangle 525"/>
              <p:cNvSpPr>
                <a:spLocks noChangeArrowheads="1"/>
              </p:cNvSpPr>
              <p:nvPr/>
            </p:nvSpPr>
            <p:spPr bwMode="auto">
              <a:xfrm>
                <a:off x="3954" y="2944"/>
                <a:ext cx="15" cy="36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934" name="Rectangle 526"/>
              <p:cNvSpPr>
                <a:spLocks noChangeArrowheads="1"/>
              </p:cNvSpPr>
              <p:nvPr/>
            </p:nvSpPr>
            <p:spPr bwMode="auto">
              <a:xfrm>
                <a:off x="3965" y="2944"/>
                <a:ext cx="15" cy="36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935" name="Rectangle 527"/>
              <p:cNvSpPr>
                <a:spLocks noChangeArrowheads="1"/>
              </p:cNvSpPr>
              <p:nvPr/>
            </p:nvSpPr>
            <p:spPr bwMode="auto">
              <a:xfrm>
                <a:off x="3977" y="2944"/>
                <a:ext cx="13" cy="36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936" name="Rectangle 528"/>
              <p:cNvSpPr>
                <a:spLocks noChangeArrowheads="1"/>
              </p:cNvSpPr>
              <p:nvPr/>
            </p:nvSpPr>
            <p:spPr bwMode="auto">
              <a:xfrm>
                <a:off x="3931" y="2944"/>
                <a:ext cx="57" cy="363"/>
              </a:xfrm>
              <a:prstGeom prst="rect">
                <a:avLst/>
              </a:prstGeom>
              <a:grpFill/>
              <a:ln w="0">
                <a:solidFill>
                  <a:srgbClr val="000000"/>
                </a:solidFill>
                <a:miter lim="800000"/>
                <a:headEnd/>
                <a:tailEnd/>
              </a:ln>
              <a:extLst/>
            </p:spPr>
            <p:txBody>
              <a:bodyPr/>
              <a:lstStyle/>
              <a:p>
                <a:pPr>
                  <a:defRPr/>
                </a:pPr>
                <a:endParaRPr lang="en-US"/>
              </a:p>
            </p:txBody>
          </p:sp>
          <p:sp>
            <p:nvSpPr>
              <p:cNvPr id="17937" name="Rectangle 529"/>
              <p:cNvSpPr>
                <a:spLocks noChangeArrowheads="1"/>
              </p:cNvSpPr>
              <p:nvPr/>
            </p:nvSpPr>
            <p:spPr bwMode="auto">
              <a:xfrm>
                <a:off x="3918" y="2937"/>
                <a:ext cx="17"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938" name="Rectangle 530"/>
              <p:cNvSpPr>
                <a:spLocks noChangeArrowheads="1"/>
              </p:cNvSpPr>
              <p:nvPr/>
            </p:nvSpPr>
            <p:spPr bwMode="auto">
              <a:xfrm>
                <a:off x="3931" y="2937"/>
                <a:ext cx="17"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939" name="Rectangle 531"/>
              <p:cNvSpPr>
                <a:spLocks noChangeArrowheads="1"/>
              </p:cNvSpPr>
              <p:nvPr/>
            </p:nvSpPr>
            <p:spPr bwMode="auto">
              <a:xfrm>
                <a:off x="3944" y="2937"/>
                <a:ext cx="15"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940" name="Rectangle 532"/>
              <p:cNvSpPr>
                <a:spLocks noChangeArrowheads="1"/>
              </p:cNvSpPr>
              <p:nvPr/>
            </p:nvSpPr>
            <p:spPr bwMode="auto">
              <a:xfrm>
                <a:off x="3956" y="2937"/>
                <a:ext cx="14"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941" name="Rectangle 533"/>
              <p:cNvSpPr>
                <a:spLocks noChangeArrowheads="1"/>
              </p:cNvSpPr>
              <p:nvPr/>
            </p:nvSpPr>
            <p:spPr bwMode="auto">
              <a:xfrm>
                <a:off x="3967" y="2937"/>
                <a:ext cx="14"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942" name="Rectangle 534"/>
              <p:cNvSpPr>
                <a:spLocks noChangeArrowheads="1"/>
              </p:cNvSpPr>
              <p:nvPr/>
            </p:nvSpPr>
            <p:spPr bwMode="auto">
              <a:xfrm>
                <a:off x="3978" y="2937"/>
                <a:ext cx="15"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943" name="Rectangle 535"/>
              <p:cNvSpPr>
                <a:spLocks noChangeArrowheads="1"/>
              </p:cNvSpPr>
              <p:nvPr/>
            </p:nvSpPr>
            <p:spPr bwMode="auto">
              <a:xfrm>
                <a:off x="3990" y="2937"/>
                <a:ext cx="13"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944" name="Rectangle 536"/>
              <p:cNvSpPr>
                <a:spLocks noChangeArrowheads="1"/>
              </p:cNvSpPr>
              <p:nvPr/>
            </p:nvSpPr>
            <p:spPr bwMode="auto">
              <a:xfrm>
                <a:off x="3918" y="2937"/>
                <a:ext cx="83" cy="16"/>
              </a:xfrm>
              <a:prstGeom prst="rect">
                <a:avLst/>
              </a:prstGeom>
              <a:grpFill/>
              <a:ln w="0">
                <a:solidFill>
                  <a:srgbClr val="000000"/>
                </a:solidFill>
                <a:miter lim="800000"/>
                <a:headEnd/>
                <a:tailEnd/>
              </a:ln>
              <a:extLst/>
            </p:spPr>
            <p:txBody>
              <a:bodyPr/>
              <a:lstStyle/>
              <a:p>
                <a:pPr>
                  <a:defRPr/>
                </a:pPr>
                <a:endParaRPr lang="en-US"/>
              </a:p>
            </p:txBody>
          </p:sp>
          <p:sp>
            <p:nvSpPr>
              <p:cNvPr id="17945" name="Rectangle 537"/>
              <p:cNvSpPr>
                <a:spLocks noChangeArrowheads="1"/>
              </p:cNvSpPr>
              <p:nvPr/>
            </p:nvSpPr>
            <p:spPr bwMode="auto">
              <a:xfrm>
                <a:off x="3918" y="2923"/>
                <a:ext cx="17"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946" name="Rectangle 538"/>
              <p:cNvSpPr>
                <a:spLocks noChangeArrowheads="1"/>
              </p:cNvSpPr>
              <p:nvPr/>
            </p:nvSpPr>
            <p:spPr bwMode="auto">
              <a:xfrm>
                <a:off x="3931" y="2923"/>
                <a:ext cx="17"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947" name="Rectangle 539"/>
              <p:cNvSpPr>
                <a:spLocks noChangeArrowheads="1"/>
              </p:cNvSpPr>
              <p:nvPr/>
            </p:nvSpPr>
            <p:spPr bwMode="auto">
              <a:xfrm>
                <a:off x="3944" y="2923"/>
                <a:ext cx="15"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948" name="Rectangle 540"/>
              <p:cNvSpPr>
                <a:spLocks noChangeArrowheads="1"/>
              </p:cNvSpPr>
              <p:nvPr/>
            </p:nvSpPr>
            <p:spPr bwMode="auto">
              <a:xfrm>
                <a:off x="3956" y="2923"/>
                <a:ext cx="14"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949" name="Rectangle 541"/>
              <p:cNvSpPr>
                <a:spLocks noChangeArrowheads="1"/>
              </p:cNvSpPr>
              <p:nvPr/>
            </p:nvSpPr>
            <p:spPr bwMode="auto">
              <a:xfrm>
                <a:off x="3967" y="2923"/>
                <a:ext cx="14"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950" name="Rectangle 542"/>
              <p:cNvSpPr>
                <a:spLocks noChangeArrowheads="1"/>
              </p:cNvSpPr>
              <p:nvPr/>
            </p:nvSpPr>
            <p:spPr bwMode="auto">
              <a:xfrm>
                <a:off x="3978" y="2923"/>
                <a:ext cx="15"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951" name="Rectangle 543"/>
              <p:cNvSpPr>
                <a:spLocks noChangeArrowheads="1"/>
              </p:cNvSpPr>
              <p:nvPr/>
            </p:nvSpPr>
            <p:spPr bwMode="auto">
              <a:xfrm>
                <a:off x="3990" y="2923"/>
                <a:ext cx="13"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952" name="Rectangle 544"/>
              <p:cNvSpPr>
                <a:spLocks noChangeArrowheads="1"/>
              </p:cNvSpPr>
              <p:nvPr/>
            </p:nvSpPr>
            <p:spPr bwMode="auto">
              <a:xfrm>
                <a:off x="3918" y="2923"/>
                <a:ext cx="83" cy="16"/>
              </a:xfrm>
              <a:prstGeom prst="rect">
                <a:avLst/>
              </a:prstGeom>
              <a:grpFill/>
              <a:ln w="0">
                <a:solidFill>
                  <a:srgbClr val="000000"/>
                </a:solidFill>
                <a:miter lim="800000"/>
                <a:headEnd/>
                <a:tailEnd/>
              </a:ln>
              <a:extLst/>
            </p:spPr>
            <p:txBody>
              <a:bodyPr/>
              <a:lstStyle/>
              <a:p>
                <a:pPr>
                  <a:defRPr/>
                </a:pPr>
                <a:endParaRPr lang="en-US"/>
              </a:p>
            </p:txBody>
          </p:sp>
          <p:sp>
            <p:nvSpPr>
              <p:cNvPr id="17953" name="Rectangle 545"/>
              <p:cNvSpPr>
                <a:spLocks noChangeArrowheads="1"/>
              </p:cNvSpPr>
              <p:nvPr/>
            </p:nvSpPr>
            <p:spPr bwMode="auto">
              <a:xfrm>
                <a:off x="3918" y="3312"/>
                <a:ext cx="17"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954" name="Rectangle 546"/>
              <p:cNvSpPr>
                <a:spLocks noChangeArrowheads="1"/>
              </p:cNvSpPr>
              <p:nvPr/>
            </p:nvSpPr>
            <p:spPr bwMode="auto">
              <a:xfrm>
                <a:off x="3931" y="3312"/>
                <a:ext cx="17"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955" name="Rectangle 547"/>
              <p:cNvSpPr>
                <a:spLocks noChangeArrowheads="1"/>
              </p:cNvSpPr>
              <p:nvPr/>
            </p:nvSpPr>
            <p:spPr bwMode="auto">
              <a:xfrm>
                <a:off x="3944" y="3312"/>
                <a:ext cx="15"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956" name="Rectangle 548"/>
              <p:cNvSpPr>
                <a:spLocks noChangeArrowheads="1"/>
              </p:cNvSpPr>
              <p:nvPr/>
            </p:nvSpPr>
            <p:spPr bwMode="auto">
              <a:xfrm>
                <a:off x="3956" y="3312"/>
                <a:ext cx="14"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957" name="Rectangle 549"/>
              <p:cNvSpPr>
                <a:spLocks noChangeArrowheads="1"/>
              </p:cNvSpPr>
              <p:nvPr/>
            </p:nvSpPr>
            <p:spPr bwMode="auto">
              <a:xfrm>
                <a:off x="3967" y="3312"/>
                <a:ext cx="14"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958" name="Rectangle 550"/>
              <p:cNvSpPr>
                <a:spLocks noChangeArrowheads="1"/>
              </p:cNvSpPr>
              <p:nvPr/>
            </p:nvSpPr>
            <p:spPr bwMode="auto">
              <a:xfrm>
                <a:off x="3978" y="3312"/>
                <a:ext cx="15"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959" name="Rectangle 551"/>
              <p:cNvSpPr>
                <a:spLocks noChangeArrowheads="1"/>
              </p:cNvSpPr>
              <p:nvPr/>
            </p:nvSpPr>
            <p:spPr bwMode="auto">
              <a:xfrm>
                <a:off x="3990" y="3312"/>
                <a:ext cx="13"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960" name="Rectangle 552"/>
              <p:cNvSpPr>
                <a:spLocks noChangeArrowheads="1"/>
              </p:cNvSpPr>
              <p:nvPr/>
            </p:nvSpPr>
            <p:spPr bwMode="auto">
              <a:xfrm>
                <a:off x="3918" y="3312"/>
                <a:ext cx="83" cy="16"/>
              </a:xfrm>
              <a:prstGeom prst="rect">
                <a:avLst/>
              </a:prstGeom>
              <a:grpFill/>
              <a:ln w="0">
                <a:solidFill>
                  <a:srgbClr val="000000"/>
                </a:solidFill>
                <a:miter lim="800000"/>
                <a:headEnd/>
                <a:tailEnd/>
              </a:ln>
              <a:extLst/>
            </p:spPr>
            <p:txBody>
              <a:bodyPr/>
              <a:lstStyle/>
              <a:p>
                <a:pPr>
                  <a:defRPr/>
                </a:pPr>
                <a:endParaRPr lang="en-US"/>
              </a:p>
            </p:txBody>
          </p:sp>
          <p:sp>
            <p:nvSpPr>
              <p:cNvPr id="17961" name="Rectangle 553"/>
              <p:cNvSpPr>
                <a:spLocks noChangeArrowheads="1"/>
              </p:cNvSpPr>
              <p:nvPr/>
            </p:nvSpPr>
            <p:spPr bwMode="auto">
              <a:xfrm>
                <a:off x="3918" y="3298"/>
                <a:ext cx="17" cy="1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962" name="Rectangle 554"/>
              <p:cNvSpPr>
                <a:spLocks noChangeArrowheads="1"/>
              </p:cNvSpPr>
              <p:nvPr/>
            </p:nvSpPr>
            <p:spPr bwMode="auto">
              <a:xfrm>
                <a:off x="3931" y="3298"/>
                <a:ext cx="17" cy="1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963" name="Rectangle 555"/>
              <p:cNvSpPr>
                <a:spLocks noChangeArrowheads="1"/>
              </p:cNvSpPr>
              <p:nvPr/>
            </p:nvSpPr>
            <p:spPr bwMode="auto">
              <a:xfrm>
                <a:off x="3944" y="3298"/>
                <a:ext cx="15" cy="1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964" name="Rectangle 556"/>
              <p:cNvSpPr>
                <a:spLocks noChangeArrowheads="1"/>
              </p:cNvSpPr>
              <p:nvPr/>
            </p:nvSpPr>
            <p:spPr bwMode="auto">
              <a:xfrm>
                <a:off x="3956" y="3298"/>
                <a:ext cx="14" cy="1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965" name="Rectangle 557"/>
              <p:cNvSpPr>
                <a:spLocks noChangeArrowheads="1"/>
              </p:cNvSpPr>
              <p:nvPr/>
            </p:nvSpPr>
            <p:spPr bwMode="auto">
              <a:xfrm>
                <a:off x="3967" y="3298"/>
                <a:ext cx="14" cy="1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966" name="Rectangle 558"/>
              <p:cNvSpPr>
                <a:spLocks noChangeArrowheads="1"/>
              </p:cNvSpPr>
              <p:nvPr/>
            </p:nvSpPr>
            <p:spPr bwMode="auto">
              <a:xfrm>
                <a:off x="3978" y="3298"/>
                <a:ext cx="15" cy="1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967" name="Rectangle 559"/>
              <p:cNvSpPr>
                <a:spLocks noChangeArrowheads="1"/>
              </p:cNvSpPr>
              <p:nvPr/>
            </p:nvSpPr>
            <p:spPr bwMode="auto">
              <a:xfrm>
                <a:off x="3990" y="3298"/>
                <a:ext cx="13" cy="1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968" name="Rectangle 560"/>
              <p:cNvSpPr>
                <a:spLocks noChangeArrowheads="1"/>
              </p:cNvSpPr>
              <p:nvPr/>
            </p:nvSpPr>
            <p:spPr bwMode="auto">
              <a:xfrm>
                <a:off x="3918" y="3298"/>
                <a:ext cx="83" cy="16"/>
              </a:xfrm>
              <a:prstGeom prst="rect">
                <a:avLst/>
              </a:prstGeom>
              <a:grpFill/>
              <a:ln w="0">
                <a:solidFill>
                  <a:srgbClr val="000000"/>
                </a:solidFill>
                <a:miter lim="800000"/>
                <a:headEnd/>
                <a:tailEnd/>
              </a:ln>
              <a:extLst/>
            </p:spPr>
            <p:txBody>
              <a:bodyPr/>
              <a:lstStyle/>
              <a:p>
                <a:pPr>
                  <a:defRPr/>
                </a:pPr>
                <a:endParaRPr lang="en-US"/>
              </a:p>
            </p:txBody>
          </p:sp>
          <p:sp>
            <p:nvSpPr>
              <p:cNvPr id="17969" name="Rectangle 561"/>
              <p:cNvSpPr>
                <a:spLocks noChangeArrowheads="1"/>
              </p:cNvSpPr>
              <p:nvPr/>
            </p:nvSpPr>
            <p:spPr bwMode="auto">
              <a:xfrm>
                <a:off x="3920" y="3036"/>
                <a:ext cx="15" cy="5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970" name="Rectangle 562"/>
              <p:cNvSpPr>
                <a:spLocks noChangeArrowheads="1"/>
              </p:cNvSpPr>
              <p:nvPr/>
            </p:nvSpPr>
            <p:spPr bwMode="auto">
              <a:xfrm>
                <a:off x="3931" y="3036"/>
                <a:ext cx="15" cy="5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971" name="Rectangle 563"/>
              <p:cNvSpPr>
                <a:spLocks noChangeArrowheads="1"/>
              </p:cNvSpPr>
              <p:nvPr/>
            </p:nvSpPr>
            <p:spPr bwMode="auto">
              <a:xfrm>
                <a:off x="3943" y="3036"/>
                <a:ext cx="14" cy="5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972" name="Rectangle 564"/>
              <p:cNvSpPr>
                <a:spLocks noChangeArrowheads="1"/>
              </p:cNvSpPr>
              <p:nvPr/>
            </p:nvSpPr>
            <p:spPr bwMode="auto">
              <a:xfrm>
                <a:off x="3954" y="3036"/>
                <a:ext cx="15" cy="5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973" name="Rectangle 565"/>
              <p:cNvSpPr>
                <a:spLocks noChangeArrowheads="1"/>
              </p:cNvSpPr>
              <p:nvPr/>
            </p:nvSpPr>
            <p:spPr bwMode="auto">
              <a:xfrm>
                <a:off x="3965" y="3036"/>
                <a:ext cx="15" cy="5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974" name="Rectangle 566"/>
              <p:cNvSpPr>
                <a:spLocks noChangeArrowheads="1"/>
              </p:cNvSpPr>
              <p:nvPr/>
            </p:nvSpPr>
            <p:spPr bwMode="auto">
              <a:xfrm>
                <a:off x="3977" y="3036"/>
                <a:ext cx="14" cy="5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975" name="Rectangle 567"/>
              <p:cNvSpPr>
                <a:spLocks noChangeArrowheads="1"/>
              </p:cNvSpPr>
              <p:nvPr/>
            </p:nvSpPr>
            <p:spPr bwMode="auto">
              <a:xfrm>
                <a:off x="3988" y="3036"/>
                <a:ext cx="11" cy="5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en-US"/>
              </a:p>
            </p:txBody>
          </p:sp>
          <p:sp>
            <p:nvSpPr>
              <p:cNvPr id="17976" name="Rectangle 568"/>
              <p:cNvSpPr>
                <a:spLocks noChangeArrowheads="1"/>
              </p:cNvSpPr>
              <p:nvPr/>
            </p:nvSpPr>
            <p:spPr bwMode="auto">
              <a:xfrm>
                <a:off x="3920" y="3036"/>
                <a:ext cx="78" cy="56"/>
              </a:xfrm>
              <a:prstGeom prst="rect">
                <a:avLst/>
              </a:prstGeom>
              <a:grpFill/>
              <a:ln w="0">
                <a:solidFill>
                  <a:srgbClr val="000000"/>
                </a:solidFill>
                <a:miter lim="800000"/>
                <a:headEnd/>
                <a:tailEnd/>
              </a:ln>
              <a:extLst/>
            </p:spPr>
            <p:txBody>
              <a:bodyPr/>
              <a:lstStyle/>
              <a:p>
                <a:pPr>
                  <a:defRPr/>
                </a:pPr>
                <a:endParaRPr lang="en-US"/>
              </a:p>
            </p:txBody>
          </p:sp>
          <p:sp>
            <p:nvSpPr>
              <p:cNvPr id="17977" name="Line 569"/>
              <p:cNvSpPr>
                <a:spLocks noChangeShapeType="1"/>
              </p:cNvSpPr>
              <p:nvPr/>
            </p:nvSpPr>
            <p:spPr bwMode="auto">
              <a:xfrm>
                <a:off x="3998" y="2978"/>
                <a:ext cx="1" cy="34"/>
              </a:xfrm>
              <a:prstGeom prst="line">
                <a:avLst/>
              </a:prstGeom>
              <a:grpFill/>
              <a:ln w="0">
                <a:solidFill>
                  <a:srgbClr val="000000"/>
                </a:solidFill>
                <a:round/>
                <a:headEnd/>
                <a:tailEnd/>
              </a:ln>
              <a:extLst/>
            </p:spPr>
            <p:txBody>
              <a:bodyPr/>
              <a:lstStyle/>
              <a:p>
                <a:pPr>
                  <a:defRPr/>
                </a:pPr>
                <a:endParaRPr lang="en-US"/>
              </a:p>
            </p:txBody>
          </p:sp>
          <p:sp>
            <p:nvSpPr>
              <p:cNvPr id="17978" name="Line 570"/>
              <p:cNvSpPr>
                <a:spLocks noChangeShapeType="1"/>
              </p:cNvSpPr>
              <p:nvPr/>
            </p:nvSpPr>
            <p:spPr bwMode="auto">
              <a:xfrm>
                <a:off x="4003" y="2978"/>
                <a:ext cx="1" cy="34"/>
              </a:xfrm>
              <a:prstGeom prst="line">
                <a:avLst/>
              </a:prstGeom>
              <a:grpFill/>
              <a:ln w="0">
                <a:solidFill>
                  <a:srgbClr val="000000"/>
                </a:solidFill>
                <a:round/>
                <a:headEnd/>
                <a:tailEnd/>
              </a:ln>
              <a:extLst/>
            </p:spPr>
            <p:txBody>
              <a:bodyPr/>
              <a:lstStyle/>
              <a:p>
                <a:pPr>
                  <a:defRPr/>
                </a:pPr>
                <a:endParaRPr lang="en-US"/>
              </a:p>
            </p:txBody>
          </p:sp>
          <p:sp>
            <p:nvSpPr>
              <p:cNvPr id="17979" name="Line 571"/>
              <p:cNvSpPr>
                <a:spLocks noChangeShapeType="1"/>
              </p:cNvSpPr>
              <p:nvPr/>
            </p:nvSpPr>
            <p:spPr bwMode="auto">
              <a:xfrm>
                <a:off x="3915" y="2976"/>
                <a:ext cx="1" cy="36"/>
              </a:xfrm>
              <a:prstGeom prst="line">
                <a:avLst/>
              </a:prstGeom>
              <a:grpFill/>
              <a:ln w="0">
                <a:solidFill>
                  <a:srgbClr val="000000"/>
                </a:solidFill>
                <a:round/>
                <a:headEnd/>
                <a:tailEnd/>
              </a:ln>
              <a:extLst/>
            </p:spPr>
            <p:txBody>
              <a:bodyPr/>
              <a:lstStyle/>
              <a:p>
                <a:pPr>
                  <a:defRPr/>
                </a:pPr>
                <a:endParaRPr lang="en-US"/>
              </a:p>
            </p:txBody>
          </p:sp>
          <p:sp>
            <p:nvSpPr>
              <p:cNvPr id="17980" name="Line 572"/>
              <p:cNvSpPr>
                <a:spLocks noChangeShapeType="1"/>
              </p:cNvSpPr>
              <p:nvPr/>
            </p:nvSpPr>
            <p:spPr bwMode="auto">
              <a:xfrm>
                <a:off x="3920" y="2976"/>
                <a:ext cx="1" cy="36"/>
              </a:xfrm>
              <a:prstGeom prst="line">
                <a:avLst/>
              </a:prstGeom>
              <a:grpFill/>
              <a:ln w="0">
                <a:solidFill>
                  <a:srgbClr val="000000"/>
                </a:solidFill>
                <a:round/>
                <a:headEnd/>
                <a:tailEnd/>
              </a:ln>
              <a:extLst/>
            </p:spPr>
            <p:txBody>
              <a:bodyPr/>
              <a:lstStyle/>
              <a:p>
                <a:pPr>
                  <a:defRPr/>
                </a:pPr>
                <a:endParaRPr lang="en-US"/>
              </a:p>
            </p:txBody>
          </p:sp>
          <p:sp>
            <p:nvSpPr>
              <p:cNvPr id="17981" name="Freeform 573"/>
              <p:cNvSpPr>
                <a:spLocks/>
              </p:cNvSpPr>
              <p:nvPr/>
            </p:nvSpPr>
            <p:spPr bwMode="auto">
              <a:xfrm>
                <a:off x="3387" y="3375"/>
                <a:ext cx="148" cy="146"/>
              </a:xfrm>
              <a:custGeom>
                <a:avLst/>
                <a:gdLst>
                  <a:gd name="T0" fmla="*/ 21 w 148"/>
                  <a:gd name="T1" fmla="*/ 7 h 146"/>
                  <a:gd name="T2" fmla="*/ 14 w 148"/>
                  <a:gd name="T3" fmla="*/ 15 h 146"/>
                  <a:gd name="T4" fmla="*/ 4 w 148"/>
                  <a:gd name="T5" fmla="*/ 23 h 146"/>
                  <a:gd name="T6" fmla="*/ 1 w 148"/>
                  <a:gd name="T7" fmla="*/ 31 h 146"/>
                  <a:gd name="T8" fmla="*/ 9 w 148"/>
                  <a:gd name="T9" fmla="*/ 37 h 146"/>
                  <a:gd name="T10" fmla="*/ 17 w 148"/>
                  <a:gd name="T11" fmla="*/ 47 h 146"/>
                  <a:gd name="T12" fmla="*/ 25 w 148"/>
                  <a:gd name="T13" fmla="*/ 54 h 146"/>
                  <a:gd name="T14" fmla="*/ 35 w 148"/>
                  <a:gd name="T15" fmla="*/ 63 h 146"/>
                  <a:gd name="T16" fmla="*/ 43 w 148"/>
                  <a:gd name="T17" fmla="*/ 70 h 146"/>
                  <a:gd name="T18" fmla="*/ 51 w 148"/>
                  <a:gd name="T19" fmla="*/ 79 h 146"/>
                  <a:gd name="T20" fmla="*/ 55 w 148"/>
                  <a:gd name="T21" fmla="*/ 88 h 146"/>
                  <a:gd name="T22" fmla="*/ 48 w 148"/>
                  <a:gd name="T23" fmla="*/ 96 h 146"/>
                  <a:gd name="T24" fmla="*/ 46 w 148"/>
                  <a:gd name="T25" fmla="*/ 100 h 146"/>
                  <a:gd name="T26" fmla="*/ 55 w 148"/>
                  <a:gd name="T27" fmla="*/ 105 h 146"/>
                  <a:gd name="T28" fmla="*/ 64 w 148"/>
                  <a:gd name="T29" fmla="*/ 109 h 146"/>
                  <a:gd name="T30" fmla="*/ 72 w 148"/>
                  <a:gd name="T31" fmla="*/ 113 h 146"/>
                  <a:gd name="T32" fmla="*/ 84 w 148"/>
                  <a:gd name="T33" fmla="*/ 117 h 146"/>
                  <a:gd name="T34" fmla="*/ 90 w 148"/>
                  <a:gd name="T35" fmla="*/ 121 h 146"/>
                  <a:gd name="T36" fmla="*/ 101 w 148"/>
                  <a:gd name="T37" fmla="*/ 125 h 146"/>
                  <a:gd name="T38" fmla="*/ 108 w 148"/>
                  <a:gd name="T39" fmla="*/ 130 h 146"/>
                  <a:gd name="T40" fmla="*/ 119 w 148"/>
                  <a:gd name="T41" fmla="*/ 133 h 146"/>
                  <a:gd name="T42" fmla="*/ 127 w 148"/>
                  <a:gd name="T43" fmla="*/ 138 h 146"/>
                  <a:gd name="T44" fmla="*/ 137 w 148"/>
                  <a:gd name="T45" fmla="*/ 141 h 146"/>
                  <a:gd name="T46" fmla="*/ 145 w 148"/>
                  <a:gd name="T47" fmla="*/ 146 h 146"/>
                  <a:gd name="T48" fmla="*/ 142 w 148"/>
                  <a:gd name="T49" fmla="*/ 133 h 146"/>
                  <a:gd name="T50" fmla="*/ 137 w 148"/>
                  <a:gd name="T51" fmla="*/ 123 h 146"/>
                  <a:gd name="T52" fmla="*/ 134 w 148"/>
                  <a:gd name="T53" fmla="*/ 113 h 146"/>
                  <a:gd name="T54" fmla="*/ 129 w 148"/>
                  <a:gd name="T55" fmla="*/ 105 h 146"/>
                  <a:gd name="T56" fmla="*/ 126 w 148"/>
                  <a:gd name="T57" fmla="*/ 96 h 146"/>
                  <a:gd name="T58" fmla="*/ 121 w 148"/>
                  <a:gd name="T59" fmla="*/ 88 h 146"/>
                  <a:gd name="T60" fmla="*/ 118 w 148"/>
                  <a:gd name="T61" fmla="*/ 76 h 146"/>
                  <a:gd name="T62" fmla="*/ 113 w 148"/>
                  <a:gd name="T63" fmla="*/ 70 h 146"/>
                  <a:gd name="T64" fmla="*/ 110 w 148"/>
                  <a:gd name="T65" fmla="*/ 58 h 146"/>
                  <a:gd name="T66" fmla="*/ 108 w 148"/>
                  <a:gd name="T67" fmla="*/ 71 h 146"/>
                  <a:gd name="T68" fmla="*/ 116 w 148"/>
                  <a:gd name="T69" fmla="*/ 88 h 146"/>
                  <a:gd name="T70" fmla="*/ 121 w 148"/>
                  <a:gd name="T71" fmla="*/ 100 h 146"/>
                  <a:gd name="T72" fmla="*/ 126 w 148"/>
                  <a:gd name="T73" fmla="*/ 107 h 146"/>
                  <a:gd name="T74" fmla="*/ 129 w 148"/>
                  <a:gd name="T75" fmla="*/ 117 h 146"/>
                  <a:gd name="T76" fmla="*/ 134 w 148"/>
                  <a:gd name="T77" fmla="*/ 123 h 146"/>
                  <a:gd name="T78" fmla="*/ 137 w 148"/>
                  <a:gd name="T79" fmla="*/ 133 h 146"/>
                  <a:gd name="T80" fmla="*/ 131 w 148"/>
                  <a:gd name="T81" fmla="*/ 133 h 146"/>
                  <a:gd name="T82" fmla="*/ 122 w 148"/>
                  <a:gd name="T83" fmla="*/ 128 h 146"/>
                  <a:gd name="T84" fmla="*/ 111 w 148"/>
                  <a:gd name="T85" fmla="*/ 125 h 146"/>
                  <a:gd name="T86" fmla="*/ 105 w 148"/>
                  <a:gd name="T87" fmla="*/ 120 h 146"/>
                  <a:gd name="T88" fmla="*/ 92 w 148"/>
                  <a:gd name="T89" fmla="*/ 117 h 146"/>
                  <a:gd name="T90" fmla="*/ 85 w 148"/>
                  <a:gd name="T91" fmla="*/ 112 h 146"/>
                  <a:gd name="T92" fmla="*/ 74 w 148"/>
                  <a:gd name="T93" fmla="*/ 109 h 146"/>
                  <a:gd name="T94" fmla="*/ 66 w 148"/>
                  <a:gd name="T95" fmla="*/ 104 h 146"/>
                  <a:gd name="T96" fmla="*/ 61 w 148"/>
                  <a:gd name="T97" fmla="*/ 99 h 146"/>
                  <a:gd name="T98" fmla="*/ 68 w 148"/>
                  <a:gd name="T99" fmla="*/ 91 h 146"/>
                  <a:gd name="T100" fmla="*/ 63 w 148"/>
                  <a:gd name="T101" fmla="*/ 84 h 146"/>
                  <a:gd name="T102" fmla="*/ 55 w 148"/>
                  <a:gd name="T103" fmla="*/ 75 h 146"/>
                  <a:gd name="T104" fmla="*/ 46 w 148"/>
                  <a:gd name="T105" fmla="*/ 68 h 146"/>
                  <a:gd name="T106" fmla="*/ 37 w 148"/>
                  <a:gd name="T107" fmla="*/ 58 h 146"/>
                  <a:gd name="T108" fmla="*/ 29 w 148"/>
                  <a:gd name="T109" fmla="*/ 52 h 146"/>
                  <a:gd name="T110" fmla="*/ 21 w 148"/>
                  <a:gd name="T111" fmla="*/ 42 h 146"/>
                  <a:gd name="T112" fmla="*/ 13 w 148"/>
                  <a:gd name="T113" fmla="*/ 36 h 146"/>
                  <a:gd name="T114" fmla="*/ 17 w 148"/>
                  <a:gd name="T115" fmla="*/ 26 h 146"/>
                  <a:gd name="T116" fmla="*/ 27 w 148"/>
                  <a:gd name="T117" fmla="*/ 18 h 146"/>
                  <a:gd name="T118" fmla="*/ 42 w 148"/>
                  <a:gd name="T119" fmla="*/ 12 h 146"/>
                  <a:gd name="T120" fmla="*/ 35 w 148"/>
                  <a:gd name="T121" fmla="*/ 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48" h="146">
                    <a:moveTo>
                      <a:pt x="27" y="0"/>
                    </a:moveTo>
                    <a:lnTo>
                      <a:pt x="27" y="2"/>
                    </a:lnTo>
                    <a:lnTo>
                      <a:pt x="24" y="3"/>
                    </a:lnTo>
                    <a:lnTo>
                      <a:pt x="24" y="5"/>
                    </a:lnTo>
                    <a:lnTo>
                      <a:pt x="21" y="7"/>
                    </a:lnTo>
                    <a:lnTo>
                      <a:pt x="21" y="8"/>
                    </a:lnTo>
                    <a:lnTo>
                      <a:pt x="17" y="10"/>
                    </a:lnTo>
                    <a:lnTo>
                      <a:pt x="17" y="12"/>
                    </a:lnTo>
                    <a:lnTo>
                      <a:pt x="14" y="13"/>
                    </a:lnTo>
                    <a:lnTo>
                      <a:pt x="14" y="15"/>
                    </a:lnTo>
                    <a:lnTo>
                      <a:pt x="11" y="16"/>
                    </a:lnTo>
                    <a:lnTo>
                      <a:pt x="11" y="18"/>
                    </a:lnTo>
                    <a:lnTo>
                      <a:pt x="8" y="20"/>
                    </a:lnTo>
                    <a:lnTo>
                      <a:pt x="8" y="21"/>
                    </a:lnTo>
                    <a:lnTo>
                      <a:pt x="4" y="23"/>
                    </a:lnTo>
                    <a:lnTo>
                      <a:pt x="4" y="24"/>
                    </a:lnTo>
                    <a:lnTo>
                      <a:pt x="1" y="26"/>
                    </a:lnTo>
                    <a:lnTo>
                      <a:pt x="1" y="28"/>
                    </a:lnTo>
                    <a:lnTo>
                      <a:pt x="0" y="28"/>
                    </a:lnTo>
                    <a:lnTo>
                      <a:pt x="1" y="31"/>
                    </a:lnTo>
                    <a:lnTo>
                      <a:pt x="3" y="31"/>
                    </a:lnTo>
                    <a:lnTo>
                      <a:pt x="4" y="34"/>
                    </a:lnTo>
                    <a:lnTo>
                      <a:pt x="6" y="34"/>
                    </a:lnTo>
                    <a:lnTo>
                      <a:pt x="8" y="37"/>
                    </a:lnTo>
                    <a:lnTo>
                      <a:pt x="9" y="37"/>
                    </a:lnTo>
                    <a:lnTo>
                      <a:pt x="11" y="41"/>
                    </a:lnTo>
                    <a:lnTo>
                      <a:pt x="13" y="41"/>
                    </a:lnTo>
                    <a:lnTo>
                      <a:pt x="14" y="44"/>
                    </a:lnTo>
                    <a:lnTo>
                      <a:pt x="16" y="44"/>
                    </a:lnTo>
                    <a:lnTo>
                      <a:pt x="17" y="47"/>
                    </a:lnTo>
                    <a:lnTo>
                      <a:pt x="19" y="47"/>
                    </a:lnTo>
                    <a:lnTo>
                      <a:pt x="21" y="50"/>
                    </a:lnTo>
                    <a:lnTo>
                      <a:pt x="22" y="50"/>
                    </a:lnTo>
                    <a:lnTo>
                      <a:pt x="24" y="54"/>
                    </a:lnTo>
                    <a:lnTo>
                      <a:pt x="25" y="54"/>
                    </a:lnTo>
                    <a:lnTo>
                      <a:pt x="27" y="57"/>
                    </a:lnTo>
                    <a:lnTo>
                      <a:pt x="30" y="57"/>
                    </a:lnTo>
                    <a:lnTo>
                      <a:pt x="32" y="60"/>
                    </a:lnTo>
                    <a:lnTo>
                      <a:pt x="34" y="60"/>
                    </a:lnTo>
                    <a:lnTo>
                      <a:pt x="35" y="63"/>
                    </a:lnTo>
                    <a:lnTo>
                      <a:pt x="37" y="63"/>
                    </a:lnTo>
                    <a:lnTo>
                      <a:pt x="38" y="67"/>
                    </a:lnTo>
                    <a:lnTo>
                      <a:pt x="40" y="67"/>
                    </a:lnTo>
                    <a:lnTo>
                      <a:pt x="42" y="70"/>
                    </a:lnTo>
                    <a:lnTo>
                      <a:pt x="43" y="70"/>
                    </a:lnTo>
                    <a:lnTo>
                      <a:pt x="45" y="73"/>
                    </a:lnTo>
                    <a:lnTo>
                      <a:pt x="46" y="73"/>
                    </a:lnTo>
                    <a:lnTo>
                      <a:pt x="48" y="76"/>
                    </a:lnTo>
                    <a:lnTo>
                      <a:pt x="50" y="76"/>
                    </a:lnTo>
                    <a:lnTo>
                      <a:pt x="51" y="79"/>
                    </a:lnTo>
                    <a:lnTo>
                      <a:pt x="53" y="79"/>
                    </a:lnTo>
                    <a:lnTo>
                      <a:pt x="55" y="83"/>
                    </a:lnTo>
                    <a:lnTo>
                      <a:pt x="56" y="83"/>
                    </a:lnTo>
                    <a:lnTo>
                      <a:pt x="58" y="86"/>
                    </a:lnTo>
                    <a:lnTo>
                      <a:pt x="55" y="88"/>
                    </a:lnTo>
                    <a:lnTo>
                      <a:pt x="55" y="89"/>
                    </a:lnTo>
                    <a:lnTo>
                      <a:pt x="51" y="91"/>
                    </a:lnTo>
                    <a:lnTo>
                      <a:pt x="51" y="92"/>
                    </a:lnTo>
                    <a:lnTo>
                      <a:pt x="48" y="94"/>
                    </a:lnTo>
                    <a:lnTo>
                      <a:pt x="48" y="96"/>
                    </a:lnTo>
                    <a:lnTo>
                      <a:pt x="45" y="97"/>
                    </a:lnTo>
                    <a:lnTo>
                      <a:pt x="45" y="99"/>
                    </a:lnTo>
                    <a:lnTo>
                      <a:pt x="43" y="99"/>
                    </a:lnTo>
                    <a:lnTo>
                      <a:pt x="43" y="100"/>
                    </a:lnTo>
                    <a:lnTo>
                      <a:pt x="46" y="100"/>
                    </a:lnTo>
                    <a:lnTo>
                      <a:pt x="46" y="102"/>
                    </a:lnTo>
                    <a:lnTo>
                      <a:pt x="50" y="102"/>
                    </a:lnTo>
                    <a:lnTo>
                      <a:pt x="50" y="104"/>
                    </a:lnTo>
                    <a:lnTo>
                      <a:pt x="55" y="104"/>
                    </a:lnTo>
                    <a:lnTo>
                      <a:pt x="55" y="105"/>
                    </a:lnTo>
                    <a:lnTo>
                      <a:pt x="58" y="105"/>
                    </a:lnTo>
                    <a:lnTo>
                      <a:pt x="58" y="107"/>
                    </a:lnTo>
                    <a:lnTo>
                      <a:pt x="61" y="107"/>
                    </a:lnTo>
                    <a:lnTo>
                      <a:pt x="61" y="109"/>
                    </a:lnTo>
                    <a:lnTo>
                      <a:pt x="64" y="109"/>
                    </a:lnTo>
                    <a:lnTo>
                      <a:pt x="64" y="110"/>
                    </a:lnTo>
                    <a:lnTo>
                      <a:pt x="69" y="110"/>
                    </a:lnTo>
                    <a:lnTo>
                      <a:pt x="69" y="112"/>
                    </a:lnTo>
                    <a:lnTo>
                      <a:pt x="72" y="112"/>
                    </a:lnTo>
                    <a:lnTo>
                      <a:pt x="72" y="113"/>
                    </a:lnTo>
                    <a:lnTo>
                      <a:pt x="76" y="113"/>
                    </a:lnTo>
                    <a:lnTo>
                      <a:pt x="76" y="115"/>
                    </a:lnTo>
                    <a:lnTo>
                      <a:pt x="79" y="115"/>
                    </a:lnTo>
                    <a:lnTo>
                      <a:pt x="79" y="117"/>
                    </a:lnTo>
                    <a:lnTo>
                      <a:pt x="84" y="117"/>
                    </a:lnTo>
                    <a:lnTo>
                      <a:pt x="84" y="118"/>
                    </a:lnTo>
                    <a:lnTo>
                      <a:pt x="87" y="118"/>
                    </a:lnTo>
                    <a:lnTo>
                      <a:pt x="87" y="120"/>
                    </a:lnTo>
                    <a:lnTo>
                      <a:pt x="90" y="120"/>
                    </a:lnTo>
                    <a:lnTo>
                      <a:pt x="90" y="121"/>
                    </a:lnTo>
                    <a:lnTo>
                      <a:pt x="93" y="121"/>
                    </a:lnTo>
                    <a:lnTo>
                      <a:pt x="93" y="123"/>
                    </a:lnTo>
                    <a:lnTo>
                      <a:pt x="98" y="123"/>
                    </a:lnTo>
                    <a:lnTo>
                      <a:pt x="98" y="125"/>
                    </a:lnTo>
                    <a:lnTo>
                      <a:pt x="101" y="125"/>
                    </a:lnTo>
                    <a:lnTo>
                      <a:pt x="101" y="126"/>
                    </a:lnTo>
                    <a:lnTo>
                      <a:pt x="105" y="126"/>
                    </a:lnTo>
                    <a:lnTo>
                      <a:pt x="105" y="128"/>
                    </a:lnTo>
                    <a:lnTo>
                      <a:pt x="108" y="128"/>
                    </a:lnTo>
                    <a:lnTo>
                      <a:pt x="108" y="130"/>
                    </a:lnTo>
                    <a:lnTo>
                      <a:pt x="113" y="130"/>
                    </a:lnTo>
                    <a:lnTo>
                      <a:pt x="113" y="131"/>
                    </a:lnTo>
                    <a:lnTo>
                      <a:pt x="116" y="131"/>
                    </a:lnTo>
                    <a:lnTo>
                      <a:pt x="116" y="133"/>
                    </a:lnTo>
                    <a:lnTo>
                      <a:pt x="119" y="133"/>
                    </a:lnTo>
                    <a:lnTo>
                      <a:pt x="119" y="134"/>
                    </a:lnTo>
                    <a:lnTo>
                      <a:pt x="122" y="134"/>
                    </a:lnTo>
                    <a:lnTo>
                      <a:pt x="122" y="136"/>
                    </a:lnTo>
                    <a:lnTo>
                      <a:pt x="127" y="136"/>
                    </a:lnTo>
                    <a:lnTo>
                      <a:pt x="127" y="138"/>
                    </a:lnTo>
                    <a:lnTo>
                      <a:pt x="131" y="138"/>
                    </a:lnTo>
                    <a:lnTo>
                      <a:pt x="131" y="139"/>
                    </a:lnTo>
                    <a:lnTo>
                      <a:pt x="134" y="139"/>
                    </a:lnTo>
                    <a:lnTo>
                      <a:pt x="134" y="141"/>
                    </a:lnTo>
                    <a:lnTo>
                      <a:pt x="137" y="141"/>
                    </a:lnTo>
                    <a:lnTo>
                      <a:pt x="137" y="142"/>
                    </a:lnTo>
                    <a:lnTo>
                      <a:pt x="142" y="142"/>
                    </a:lnTo>
                    <a:lnTo>
                      <a:pt x="142" y="144"/>
                    </a:lnTo>
                    <a:lnTo>
                      <a:pt x="145" y="144"/>
                    </a:lnTo>
                    <a:lnTo>
                      <a:pt x="145" y="146"/>
                    </a:lnTo>
                    <a:lnTo>
                      <a:pt x="148" y="146"/>
                    </a:lnTo>
                    <a:lnTo>
                      <a:pt x="147" y="142"/>
                    </a:lnTo>
                    <a:lnTo>
                      <a:pt x="145" y="139"/>
                    </a:lnTo>
                    <a:lnTo>
                      <a:pt x="143" y="136"/>
                    </a:lnTo>
                    <a:lnTo>
                      <a:pt x="142" y="133"/>
                    </a:lnTo>
                    <a:lnTo>
                      <a:pt x="140" y="130"/>
                    </a:lnTo>
                    <a:lnTo>
                      <a:pt x="140" y="126"/>
                    </a:lnTo>
                    <a:lnTo>
                      <a:pt x="139" y="126"/>
                    </a:lnTo>
                    <a:lnTo>
                      <a:pt x="139" y="123"/>
                    </a:lnTo>
                    <a:lnTo>
                      <a:pt x="137" y="123"/>
                    </a:lnTo>
                    <a:lnTo>
                      <a:pt x="137" y="120"/>
                    </a:lnTo>
                    <a:lnTo>
                      <a:pt x="135" y="120"/>
                    </a:lnTo>
                    <a:lnTo>
                      <a:pt x="135" y="117"/>
                    </a:lnTo>
                    <a:lnTo>
                      <a:pt x="134" y="117"/>
                    </a:lnTo>
                    <a:lnTo>
                      <a:pt x="134" y="113"/>
                    </a:lnTo>
                    <a:lnTo>
                      <a:pt x="132" y="113"/>
                    </a:lnTo>
                    <a:lnTo>
                      <a:pt x="132" y="109"/>
                    </a:lnTo>
                    <a:lnTo>
                      <a:pt x="131" y="109"/>
                    </a:lnTo>
                    <a:lnTo>
                      <a:pt x="131" y="105"/>
                    </a:lnTo>
                    <a:lnTo>
                      <a:pt x="129" y="105"/>
                    </a:lnTo>
                    <a:lnTo>
                      <a:pt x="129" y="102"/>
                    </a:lnTo>
                    <a:lnTo>
                      <a:pt x="127" y="102"/>
                    </a:lnTo>
                    <a:lnTo>
                      <a:pt x="127" y="99"/>
                    </a:lnTo>
                    <a:lnTo>
                      <a:pt x="126" y="99"/>
                    </a:lnTo>
                    <a:lnTo>
                      <a:pt x="126" y="96"/>
                    </a:lnTo>
                    <a:lnTo>
                      <a:pt x="124" y="96"/>
                    </a:lnTo>
                    <a:lnTo>
                      <a:pt x="124" y="91"/>
                    </a:lnTo>
                    <a:lnTo>
                      <a:pt x="122" y="91"/>
                    </a:lnTo>
                    <a:lnTo>
                      <a:pt x="122" y="88"/>
                    </a:lnTo>
                    <a:lnTo>
                      <a:pt x="121" y="88"/>
                    </a:lnTo>
                    <a:lnTo>
                      <a:pt x="121" y="84"/>
                    </a:lnTo>
                    <a:lnTo>
                      <a:pt x="119" y="84"/>
                    </a:lnTo>
                    <a:lnTo>
                      <a:pt x="119" y="81"/>
                    </a:lnTo>
                    <a:lnTo>
                      <a:pt x="118" y="81"/>
                    </a:lnTo>
                    <a:lnTo>
                      <a:pt x="118" y="76"/>
                    </a:lnTo>
                    <a:lnTo>
                      <a:pt x="116" y="76"/>
                    </a:lnTo>
                    <a:lnTo>
                      <a:pt x="116" y="73"/>
                    </a:lnTo>
                    <a:lnTo>
                      <a:pt x="114" y="73"/>
                    </a:lnTo>
                    <a:lnTo>
                      <a:pt x="114" y="70"/>
                    </a:lnTo>
                    <a:lnTo>
                      <a:pt x="113" y="70"/>
                    </a:lnTo>
                    <a:lnTo>
                      <a:pt x="113" y="67"/>
                    </a:lnTo>
                    <a:lnTo>
                      <a:pt x="111" y="67"/>
                    </a:lnTo>
                    <a:lnTo>
                      <a:pt x="111" y="63"/>
                    </a:lnTo>
                    <a:lnTo>
                      <a:pt x="110" y="63"/>
                    </a:lnTo>
                    <a:lnTo>
                      <a:pt x="110" y="58"/>
                    </a:lnTo>
                    <a:lnTo>
                      <a:pt x="101" y="58"/>
                    </a:lnTo>
                    <a:lnTo>
                      <a:pt x="103" y="62"/>
                    </a:lnTo>
                    <a:lnTo>
                      <a:pt x="105" y="65"/>
                    </a:lnTo>
                    <a:lnTo>
                      <a:pt x="106" y="68"/>
                    </a:lnTo>
                    <a:lnTo>
                      <a:pt x="108" y="71"/>
                    </a:lnTo>
                    <a:lnTo>
                      <a:pt x="110" y="75"/>
                    </a:lnTo>
                    <a:lnTo>
                      <a:pt x="111" y="78"/>
                    </a:lnTo>
                    <a:lnTo>
                      <a:pt x="113" y="81"/>
                    </a:lnTo>
                    <a:lnTo>
                      <a:pt x="114" y="84"/>
                    </a:lnTo>
                    <a:lnTo>
                      <a:pt x="116" y="88"/>
                    </a:lnTo>
                    <a:lnTo>
                      <a:pt x="118" y="91"/>
                    </a:lnTo>
                    <a:lnTo>
                      <a:pt x="119" y="94"/>
                    </a:lnTo>
                    <a:lnTo>
                      <a:pt x="119" y="97"/>
                    </a:lnTo>
                    <a:lnTo>
                      <a:pt x="121" y="97"/>
                    </a:lnTo>
                    <a:lnTo>
                      <a:pt x="121" y="100"/>
                    </a:lnTo>
                    <a:lnTo>
                      <a:pt x="122" y="100"/>
                    </a:lnTo>
                    <a:lnTo>
                      <a:pt x="122" y="104"/>
                    </a:lnTo>
                    <a:lnTo>
                      <a:pt x="124" y="104"/>
                    </a:lnTo>
                    <a:lnTo>
                      <a:pt x="124" y="107"/>
                    </a:lnTo>
                    <a:lnTo>
                      <a:pt x="126" y="107"/>
                    </a:lnTo>
                    <a:lnTo>
                      <a:pt x="126" y="110"/>
                    </a:lnTo>
                    <a:lnTo>
                      <a:pt x="127" y="110"/>
                    </a:lnTo>
                    <a:lnTo>
                      <a:pt x="127" y="113"/>
                    </a:lnTo>
                    <a:lnTo>
                      <a:pt x="129" y="113"/>
                    </a:lnTo>
                    <a:lnTo>
                      <a:pt x="129" y="117"/>
                    </a:lnTo>
                    <a:lnTo>
                      <a:pt x="131" y="117"/>
                    </a:lnTo>
                    <a:lnTo>
                      <a:pt x="131" y="120"/>
                    </a:lnTo>
                    <a:lnTo>
                      <a:pt x="132" y="120"/>
                    </a:lnTo>
                    <a:lnTo>
                      <a:pt x="132" y="123"/>
                    </a:lnTo>
                    <a:lnTo>
                      <a:pt x="134" y="123"/>
                    </a:lnTo>
                    <a:lnTo>
                      <a:pt x="134" y="126"/>
                    </a:lnTo>
                    <a:lnTo>
                      <a:pt x="135" y="126"/>
                    </a:lnTo>
                    <a:lnTo>
                      <a:pt x="135" y="130"/>
                    </a:lnTo>
                    <a:lnTo>
                      <a:pt x="137" y="130"/>
                    </a:lnTo>
                    <a:lnTo>
                      <a:pt x="137" y="133"/>
                    </a:lnTo>
                    <a:lnTo>
                      <a:pt x="139" y="133"/>
                    </a:lnTo>
                    <a:lnTo>
                      <a:pt x="139" y="134"/>
                    </a:lnTo>
                    <a:lnTo>
                      <a:pt x="135" y="134"/>
                    </a:lnTo>
                    <a:lnTo>
                      <a:pt x="135" y="133"/>
                    </a:lnTo>
                    <a:lnTo>
                      <a:pt x="131" y="133"/>
                    </a:lnTo>
                    <a:lnTo>
                      <a:pt x="131" y="131"/>
                    </a:lnTo>
                    <a:lnTo>
                      <a:pt x="127" y="131"/>
                    </a:lnTo>
                    <a:lnTo>
                      <a:pt x="127" y="130"/>
                    </a:lnTo>
                    <a:lnTo>
                      <a:pt x="122" y="130"/>
                    </a:lnTo>
                    <a:lnTo>
                      <a:pt x="122" y="128"/>
                    </a:lnTo>
                    <a:lnTo>
                      <a:pt x="119" y="128"/>
                    </a:lnTo>
                    <a:lnTo>
                      <a:pt x="119" y="126"/>
                    </a:lnTo>
                    <a:lnTo>
                      <a:pt x="116" y="126"/>
                    </a:lnTo>
                    <a:lnTo>
                      <a:pt x="116" y="125"/>
                    </a:lnTo>
                    <a:lnTo>
                      <a:pt x="111" y="125"/>
                    </a:lnTo>
                    <a:lnTo>
                      <a:pt x="111" y="123"/>
                    </a:lnTo>
                    <a:lnTo>
                      <a:pt x="108" y="123"/>
                    </a:lnTo>
                    <a:lnTo>
                      <a:pt x="108" y="121"/>
                    </a:lnTo>
                    <a:lnTo>
                      <a:pt x="105" y="121"/>
                    </a:lnTo>
                    <a:lnTo>
                      <a:pt x="105" y="120"/>
                    </a:lnTo>
                    <a:lnTo>
                      <a:pt x="100" y="120"/>
                    </a:lnTo>
                    <a:lnTo>
                      <a:pt x="100" y="118"/>
                    </a:lnTo>
                    <a:lnTo>
                      <a:pt x="97" y="118"/>
                    </a:lnTo>
                    <a:lnTo>
                      <a:pt x="97" y="117"/>
                    </a:lnTo>
                    <a:lnTo>
                      <a:pt x="92" y="117"/>
                    </a:lnTo>
                    <a:lnTo>
                      <a:pt x="92" y="115"/>
                    </a:lnTo>
                    <a:lnTo>
                      <a:pt x="89" y="115"/>
                    </a:lnTo>
                    <a:lnTo>
                      <a:pt x="89" y="113"/>
                    </a:lnTo>
                    <a:lnTo>
                      <a:pt x="85" y="113"/>
                    </a:lnTo>
                    <a:lnTo>
                      <a:pt x="85" y="112"/>
                    </a:lnTo>
                    <a:lnTo>
                      <a:pt x="80" y="112"/>
                    </a:lnTo>
                    <a:lnTo>
                      <a:pt x="80" y="110"/>
                    </a:lnTo>
                    <a:lnTo>
                      <a:pt x="77" y="110"/>
                    </a:lnTo>
                    <a:lnTo>
                      <a:pt x="77" y="109"/>
                    </a:lnTo>
                    <a:lnTo>
                      <a:pt x="74" y="109"/>
                    </a:lnTo>
                    <a:lnTo>
                      <a:pt x="74" y="107"/>
                    </a:lnTo>
                    <a:lnTo>
                      <a:pt x="69" y="107"/>
                    </a:lnTo>
                    <a:lnTo>
                      <a:pt x="69" y="105"/>
                    </a:lnTo>
                    <a:lnTo>
                      <a:pt x="66" y="105"/>
                    </a:lnTo>
                    <a:lnTo>
                      <a:pt x="66" y="104"/>
                    </a:lnTo>
                    <a:lnTo>
                      <a:pt x="61" y="104"/>
                    </a:lnTo>
                    <a:lnTo>
                      <a:pt x="61" y="102"/>
                    </a:lnTo>
                    <a:lnTo>
                      <a:pt x="58" y="102"/>
                    </a:lnTo>
                    <a:lnTo>
                      <a:pt x="58" y="100"/>
                    </a:lnTo>
                    <a:lnTo>
                      <a:pt x="61" y="99"/>
                    </a:lnTo>
                    <a:lnTo>
                      <a:pt x="61" y="97"/>
                    </a:lnTo>
                    <a:lnTo>
                      <a:pt x="64" y="96"/>
                    </a:lnTo>
                    <a:lnTo>
                      <a:pt x="64" y="94"/>
                    </a:lnTo>
                    <a:lnTo>
                      <a:pt x="68" y="92"/>
                    </a:lnTo>
                    <a:lnTo>
                      <a:pt x="68" y="91"/>
                    </a:lnTo>
                    <a:lnTo>
                      <a:pt x="69" y="91"/>
                    </a:lnTo>
                    <a:lnTo>
                      <a:pt x="68" y="88"/>
                    </a:lnTo>
                    <a:lnTo>
                      <a:pt x="66" y="88"/>
                    </a:lnTo>
                    <a:lnTo>
                      <a:pt x="64" y="84"/>
                    </a:lnTo>
                    <a:lnTo>
                      <a:pt x="63" y="84"/>
                    </a:lnTo>
                    <a:lnTo>
                      <a:pt x="61" y="81"/>
                    </a:lnTo>
                    <a:lnTo>
                      <a:pt x="59" y="81"/>
                    </a:lnTo>
                    <a:lnTo>
                      <a:pt x="58" y="78"/>
                    </a:lnTo>
                    <a:lnTo>
                      <a:pt x="56" y="78"/>
                    </a:lnTo>
                    <a:lnTo>
                      <a:pt x="55" y="75"/>
                    </a:lnTo>
                    <a:lnTo>
                      <a:pt x="53" y="75"/>
                    </a:lnTo>
                    <a:lnTo>
                      <a:pt x="51" y="71"/>
                    </a:lnTo>
                    <a:lnTo>
                      <a:pt x="50" y="71"/>
                    </a:lnTo>
                    <a:lnTo>
                      <a:pt x="48" y="68"/>
                    </a:lnTo>
                    <a:lnTo>
                      <a:pt x="46" y="68"/>
                    </a:lnTo>
                    <a:lnTo>
                      <a:pt x="45" y="65"/>
                    </a:lnTo>
                    <a:lnTo>
                      <a:pt x="43" y="65"/>
                    </a:lnTo>
                    <a:lnTo>
                      <a:pt x="42" y="62"/>
                    </a:lnTo>
                    <a:lnTo>
                      <a:pt x="38" y="62"/>
                    </a:lnTo>
                    <a:lnTo>
                      <a:pt x="37" y="58"/>
                    </a:lnTo>
                    <a:lnTo>
                      <a:pt x="35" y="58"/>
                    </a:lnTo>
                    <a:lnTo>
                      <a:pt x="34" y="55"/>
                    </a:lnTo>
                    <a:lnTo>
                      <a:pt x="32" y="55"/>
                    </a:lnTo>
                    <a:lnTo>
                      <a:pt x="30" y="52"/>
                    </a:lnTo>
                    <a:lnTo>
                      <a:pt x="29" y="52"/>
                    </a:lnTo>
                    <a:lnTo>
                      <a:pt x="27" y="49"/>
                    </a:lnTo>
                    <a:lnTo>
                      <a:pt x="25" y="49"/>
                    </a:lnTo>
                    <a:lnTo>
                      <a:pt x="24" y="46"/>
                    </a:lnTo>
                    <a:lnTo>
                      <a:pt x="22" y="46"/>
                    </a:lnTo>
                    <a:lnTo>
                      <a:pt x="21" y="42"/>
                    </a:lnTo>
                    <a:lnTo>
                      <a:pt x="19" y="42"/>
                    </a:lnTo>
                    <a:lnTo>
                      <a:pt x="17" y="39"/>
                    </a:lnTo>
                    <a:lnTo>
                      <a:pt x="16" y="39"/>
                    </a:lnTo>
                    <a:lnTo>
                      <a:pt x="14" y="36"/>
                    </a:lnTo>
                    <a:lnTo>
                      <a:pt x="13" y="36"/>
                    </a:lnTo>
                    <a:lnTo>
                      <a:pt x="11" y="33"/>
                    </a:lnTo>
                    <a:lnTo>
                      <a:pt x="14" y="31"/>
                    </a:lnTo>
                    <a:lnTo>
                      <a:pt x="14" y="29"/>
                    </a:lnTo>
                    <a:lnTo>
                      <a:pt x="17" y="28"/>
                    </a:lnTo>
                    <a:lnTo>
                      <a:pt x="17" y="26"/>
                    </a:lnTo>
                    <a:lnTo>
                      <a:pt x="21" y="24"/>
                    </a:lnTo>
                    <a:lnTo>
                      <a:pt x="21" y="23"/>
                    </a:lnTo>
                    <a:lnTo>
                      <a:pt x="24" y="21"/>
                    </a:lnTo>
                    <a:lnTo>
                      <a:pt x="24" y="20"/>
                    </a:lnTo>
                    <a:lnTo>
                      <a:pt x="27" y="18"/>
                    </a:lnTo>
                    <a:lnTo>
                      <a:pt x="27" y="16"/>
                    </a:lnTo>
                    <a:lnTo>
                      <a:pt x="30" y="15"/>
                    </a:lnTo>
                    <a:lnTo>
                      <a:pt x="30" y="13"/>
                    </a:lnTo>
                    <a:lnTo>
                      <a:pt x="34" y="12"/>
                    </a:lnTo>
                    <a:lnTo>
                      <a:pt x="42" y="12"/>
                    </a:lnTo>
                    <a:lnTo>
                      <a:pt x="40" y="8"/>
                    </a:lnTo>
                    <a:lnTo>
                      <a:pt x="38" y="8"/>
                    </a:lnTo>
                    <a:lnTo>
                      <a:pt x="37" y="5"/>
                    </a:lnTo>
                    <a:lnTo>
                      <a:pt x="35" y="5"/>
                    </a:lnTo>
                    <a:lnTo>
                      <a:pt x="35" y="3"/>
                    </a:lnTo>
                    <a:lnTo>
                      <a:pt x="32" y="3"/>
                    </a:lnTo>
                    <a:lnTo>
                      <a:pt x="30" y="0"/>
                    </a:lnTo>
                    <a:lnTo>
                      <a:pt x="2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7982" name="Freeform 574"/>
              <p:cNvSpPr>
                <a:spLocks/>
              </p:cNvSpPr>
              <p:nvPr/>
            </p:nvSpPr>
            <p:spPr bwMode="auto">
              <a:xfrm>
                <a:off x="3422" y="3387"/>
                <a:ext cx="73" cy="55"/>
              </a:xfrm>
              <a:custGeom>
                <a:avLst/>
                <a:gdLst>
                  <a:gd name="T0" fmla="*/ 2 w 73"/>
                  <a:gd name="T1" fmla="*/ 3 h 55"/>
                  <a:gd name="T2" fmla="*/ 5 w 73"/>
                  <a:gd name="T3" fmla="*/ 6 h 55"/>
                  <a:gd name="T4" fmla="*/ 8 w 73"/>
                  <a:gd name="T5" fmla="*/ 9 h 55"/>
                  <a:gd name="T6" fmla="*/ 11 w 73"/>
                  <a:gd name="T7" fmla="*/ 12 h 55"/>
                  <a:gd name="T8" fmla="*/ 15 w 73"/>
                  <a:gd name="T9" fmla="*/ 16 h 55"/>
                  <a:gd name="T10" fmla="*/ 18 w 73"/>
                  <a:gd name="T11" fmla="*/ 19 h 55"/>
                  <a:gd name="T12" fmla="*/ 21 w 73"/>
                  <a:gd name="T13" fmla="*/ 22 h 55"/>
                  <a:gd name="T14" fmla="*/ 24 w 73"/>
                  <a:gd name="T15" fmla="*/ 25 h 55"/>
                  <a:gd name="T16" fmla="*/ 28 w 73"/>
                  <a:gd name="T17" fmla="*/ 29 h 55"/>
                  <a:gd name="T18" fmla="*/ 31 w 73"/>
                  <a:gd name="T19" fmla="*/ 32 h 55"/>
                  <a:gd name="T20" fmla="*/ 34 w 73"/>
                  <a:gd name="T21" fmla="*/ 35 h 55"/>
                  <a:gd name="T22" fmla="*/ 37 w 73"/>
                  <a:gd name="T23" fmla="*/ 38 h 55"/>
                  <a:gd name="T24" fmla="*/ 41 w 73"/>
                  <a:gd name="T25" fmla="*/ 42 h 55"/>
                  <a:gd name="T26" fmla="*/ 44 w 73"/>
                  <a:gd name="T27" fmla="*/ 45 h 55"/>
                  <a:gd name="T28" fmla="*/ 47 w 73"/>
                  <a:gd name="T29" fmla="*/ 48 h 55"/>
                  <a:gd name="T30" fmla="*/ 50 w 73"/>
                  <a:gd name="T31" fmla="*/ 51 h 55"/>
                  <a:gd name="T32" fmla="*/ 54 w 73"/>
                  <a:gd name="T33" fmla="*/ 55 h 55"/>
                  <a:gd name="T34" fmla="*/ 57 w 73"/>
                  <a:gd name="T35" fmla="*/ 53 h 55"/>
                  <a:gd name="T36" fmla="*/ 63 w 73"/>
                  <a:gd name="T37" fmla="*/ 50 h 55"/>
                  <a:gd name="T38" fmla="*/ 66 w 73"/>
                  <a:gd name="T39" fmla="*/ 46 h 55"/>
                  <a:gd name="T40" fmla="*/ 73 w 73"/>
                  <a:gd name="T41" fmla="*/ 43 h 55"/>
                  <a:gd name="T42" fmla="*/ 71 w 73"/>
                  <a:gd name="T43" fmla="*/ 40 h 55"/>
                  <a:gd name="T44" fmla="*/ 70 w 73"/>
                  <a:gd name="T45" fmla="*/ 37 h 55"/>
                  <a:gd name="T46" fmla="*/ 68 w 73"/>
                  <a:gd name="T47" fmla="*/ 34 h 55"/>
                  <a:gd name="T48" fmla="*/ 66 w 73"/>
                  <a:gd name="T49" fmla="*/ 32 h 55"/>
                  <a:gd name="T50" fmla="*/ 63 w 73"/>
                  <a:gd name="T51" fmla="*/ 35 h 55"/>
                  <a:gd name="T52" fmla="*/ 60 w 73"/>
                  <a:gd name="T53" fmla="*/ 38 h 55"/>
                  <a:gd name="T54" fmla="*/ 57 w 73"/>
                  <a:gd name="T55" fmla="*/ 42 h 55"/>
                  <a:gd name="T56" fmla="*/ 54 w 73"/>
                  <a:gd name="T57" fmla="*/ 45 h 55"/>
                  <a:gd name="T58" fmla="*/ 49 w 73"/>
                  <a:gd name="T59" fmla="*/ 42 h 55"/>
                  <a:gd name="T60" fmla="*/ 45 w 73"/>
                  <a:gd name="T61" fmla="*/ 38 h 55"/>
                  <a:gd name="T62" fmla="*/ 42 w 73"/>
                  <a:gd name="T63" fmla="*/ 35 h 55"/>
                  <a:gd name="T64" fmla="*/ 39 w 73"/>
                  <a:gd name="T65" fmla="*/ 32 h 55"/>
                  <a:gd name="T66" fmla="*/ 36 w 73"/>
                  <a:gd name="T67" fmla="*/ 29 h 55"/>
                  <a:gd name="T68" fmla="*/ 33 w 73"/>
                  <a:gd name="T69" fmla="*/ 25 h 55"/>
                  <a:gd name="T70" fmla="*/ 29 w 73"/>
                  <a:gd name="T71" fmla="*/ 22 h 55"/>
                  <a:gd name="T72" fmla="*/ 26 w 73"/>
                  <a:gd name="T73" fmla="*/ 19 h 55"/>
                  <a:gd name="T74" fmla="*/ 23 w 73"/>
                  <a:gd name="T75" fmla="*/ 16 h 55"/>
                  <a:gd name="T76" fmla="*/ 20 w 73"/>
                  <a:gd name="T77" fmla="*/ 12 h 55"/>
                  <a:gd name="T78" fmla="*/ 16 w 73"/>
                  <a:gd name="T79" fmla="*/ 9 h 55"/>
                  <a:gd name="T80" fmla="*/ 13 w 73"/>
                  <a:gd name="T81" fmla="*/ 6 h 55"/>
                  <a:gd name="T82" fmla="*/ 10 w 73"/>
                  <a:gd name="T83" fmla="*/ 3 h 55"/>
                  <a:gd name="T84" fmla="*/ 0 w 73"/>
                  <a:gd name="T85" fmla="*/ 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73" h="55">
                    <a:moveTo>
                      <a:pt x="0" y="0"/>
                    </a:moveTo>
                    <a:lnTo>
                      <a:pt x="2" y="3"/>
                    </a:lnTo>
                    <a:lnTo>
                      <a:pt x="3" y="3"/>
                    </a:lnTo>
                    <a:lnTo>
                      <a:pt x="5" y="6"/>
                    </a:lnTo>
                    <a:lnTo>
                      <a:pt x="7" y="6"/>
                    </a:lnTo>
                    <a:lnTo>
                      <a:pt x="8" y="9"/>
                    </a:lnTo>
                    <a:lnTo>
                      <a:pt x="10" y="9"/>
                    </a:lnTo>
                    <a:lnTo>
                      <a:pt x="11" y="12"/>
                    </a:lnTo>
                    <a:lnTo>
                      <a:pt x="13" y="12"/>
                    </a:lnTo>
                    <a:lnTo>
                      <a:pt x="15" y="16"/>
                    </a:lnTo>
                    <a:lnTo>
                      <a:pt x="16" y="16"/>
                    </a:lnTo>
                    <a:lnTo>
                      <a:pt x="18" y="19"/>
                    </a:lnTo>
                    <a:lnTo>
                      <a:pt x="20" y="19"/>
                    </a:lnTo>
                    <a:lnTo>
                      <a:pt x="21" y="22"/>
                    </a:lnTo>
                    <a:lnTo>
                      <a:pt x="23" y="22"/>
                    </a:lnTo>
                    <a:lnTo>
                      <a:pt x="24" y="25"/>
                    </a:lnTo>
                    <a:lnTo>
                      <a:pt x="26" y="25"/>
                    </a:lnTo>
                    <a:lnTo>
                      <a:pt x="28" y="29"/>
                    </a:lnTo>
                    <a:lnTo>
                      <a:pt x="29" y="29"/>
                    </a:lnTo>
                    <a:lnTo>
                      <a:pt x="31" y="32"/>
                    </a:lnTo>
                    <a:lnTo>
                      <a:pt x="33" y="32"/>
                    </a:lnTo>
                    <a:lnTo>
                      <a:pt x="34" y="35"/>
                    </a:lnTo>
                    <a:lnTo>
                      <a:pt x="36" y="35"/>
                    </a:lnTo>
                    <a:lnTo>
                      <a:pt x="37" y="38"/>
                    </a:lnTo>
                    <a:lnTo>
                      <a:pt x="39" y="38"/>
                    </a:lnTo>
                    <a:lnTo>
                      <a:pt x="41" y="42"/>
                    </a:lnTo>
                    <a:lnTo>
                      <a:pt x="42" y="42"/>
                    </a:lnTo>
                    <a:lnTo>
                      <a:pt x="44" y="45"/>
                    </a:lnTo>
                    <a:lnTo>
                      <a:pt x="45" y="45"/>
                    </a:lnTo>
                    <a:lnTo>
                      <a:pt x="47" y="48"/>
                    </a:lnTo>
                    <a:lnTo>
                      <a:pt x="49" y="48"/>
                    </a:lnTo>
                    <a:lnTo>
                      <a:pt x="50" y="51"/>
                    </a:lnTo>
                    <a:lnTo>
                      <a:pt x="52" y="51"/>
                    </a:lnTo>
                    <a:lnTo>
                      <a:pt x="54" y="55"/>
                    </a:lnTo>
                    <a:lnTo>
                      <a:pt x="57" y="55"/>
                    </a:lnTo>
                    <a:lnTo>
                      <a:pt x="57" y="53"/>
                    </a:lnTo>
                    <a:lnTo>
                      <a:pt x="60" y="51"/>
                    </a:lnTo>
                    <a:lnTo>
                      <a:pt x="63" y="50"/>
                    </a:lnTo>
                    <a:lnTo>
                      <a:pt x="63" y="48"/>
                    </a:lnTo>
                    <a:lnTo>
                      <a:pt x="66" y="46"/>
                    </a:lnTo>
                    <a:lnTo>
                      <a:pt x="73" y="46"/>
                    </a:lnTo>
                    <a:lnTo>
                      <a:pt x="73" y="43"/>
                    </a:lnTo>
                    <a:lnTo>
                      <a:pt x="71" y="43"/>
                    </a:lnTo>
                    <a:lnTo>
                      <a:pt x="71" y="40"/>
                    </a:lnTo>
                    <a:lnTo>
                      <a:pt x="70" y="40"/>
                    </a:lnTo>
                    <a:lnTo>
                      <a:pt x="70" y="37"/>
                    </a:lnTo>
                    <a:lnTo>
                      <a:pt x="68" y="37"/>
                    </a:lnTo>
                    <a:lnTo>
                      <a:pt x="68" y="34"/>
                    </a:lnTo>
                    <a:lnTo>
                      <a:pt x="66" y="34"/>
                    </a:lnTo>
                    <a:lnTo>
                      <a:pt x="66" y="32"/>
                    </a:lnTo>
                    <a:lnTo>
                      <a:pt x="63" y="34"/>
                    </a:lnTo>
                    <a:lnTo>
                      <a:pt x="63" y="35"/>
                    </a:lnTo>
                    <a:lnTo>
                      <a:pt x="60" y="37"/>
                    </a:lnTo>
                    <a:lnTo>
                      <a:pt x="60" y="38"/>
                    </a:lnTo>
                    <a:lnTo>
                      <a:pt x="57" y="40"/>
                    </a:lnTo>
                    <a:lnTo>
                      <a:pt x="57" y="42"/>
                    </a:lnTo>
                    <a:lnTo>
                      <a:pt x="54" y="43"/>
                    </a:lnTo>
                    <a:lnTo>
                      <a:pt x="54" y="45"/>
                    </a:lnTo>
                    <a:lnTo>
                      <a:pt x="50" y="45"/>
                    </a:lnTo>
                    <a:lnTo>
                      <a:pt x="49" y="42"/>
                    </a:lnTo>
                    <a:lnTo>
                      <a:pt x="47" y="42"/>
                    </a:lnTo>
                    <a:lnTo>
                      <a:pt x="45" y="38"/>
                    </a:lnTo>
                    <a:lnTo>
                      <a:pt x="44" y="38"/>
                    </a:lnTo>
                    <a:lnTo>
                      <a:pt x="42" y="35"/>
                    </a:lnTo>
                    <a:lnTo>
                      <a:pt x="41" y="35"/>
                    </a:lnTo>
                    <a:lnTo>
                      <a:pt x="39" y="32"/>
                    </a:lnTo>
                    <a:lnTo>
                      <a:pt x="37" y="32"/>
                    </a:lnTo>
                    <a:lnTo>
                      <a:pt x="36" y="29"/>
                    </a:lnTo>
                    <a:lnTo>
                      <a:pt x="34" y="29"/>
                    </a:lnTo>
                    <a:lnTo>
                      <a:pt x="33" y="25"/>
                    </a:lnTo>
                    <a:lnTo>
                      <a:pt x="31" y="25"/>
                    </a:lnTo>
                    <a:lnTo>
                      <a:pt x="29" y="22"/>
                    </a:lnTo>
                    <a:lnTo>
                      <a:pt x="28" y="22"/>
                    </a:lnTo>
                    <a:lnTo>
                      <a:pt x="26" y="19"/>
                    </a:lnTo>
                    <a:lnTo>
                      <a:pt x="24" y="16"/>
                    </a:lnTo>
                    <a:lnTo>
                      <a:pt x="23" y="16"/>
                    </a:lnTo>
                    <a:lnTo>
                      <a:pt x="21" y="12"/>
                    </a:lnTo>
                    <a:lnTo>
                      <a:pt x="20" y="12"/>
                    </a:lnTo>
                    <a:lnTo>
                      <a:pt x="18" y="9"/>
                    </a:lnTo>
                    <a:lnTo>
                      <a:pt x="16" y="9"/>
                    </a:lnTo>
                    <a:lnTo>
                      <a:pt x="15" y="6"/>
                    </a:lnTo>
                    <a:lnTo>
                      <a:pt x="13" y="6"/>
                    </a:lnTo>
                    <a:lnTo>
                      <a:pt x="11" y="3"/>
                    </a:lnTo>
                    <a:lnTo>
                      <a:pt x="10" y="3"/>
                    </a:lnTo>
                    <a:lnTo>
                      <a:pt x="8"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7983" name="Freeform 575"/>
              <p:cNvSpPr>
                <a:spLocks/>
              </p:cNvSpPr>
              <p:nvPr/>
            </p:nvSpPr>
            <p:spPr bwMode="auto">
              <a:xfrm>
                <a:off x="3398" y="3385"/>
                <a:ext cx="128" cy="124"/>
              </a:xfrm>
              <a:custGeom>
                <a:avLst/>
                <a:gdLst>
                  <a:gd name="T0" fmla="*/ 23 w 128"/>
                  <a:gd name="T1" fmla="*/ 0 h 124"/>
                  <a:gd name="T2" fmla="*/ 79 w 128"/>
                  <a:gd name="T3" fmla="*/ 57 h 124"/>
                  <a:gd name="T4" fmla="*/ 90 w 128"/>
                  <a:gd name="T5" fmla="*/ 47 h 124"/>
                  <a:gd name="T6" fmla="*/ 128 w 128"/>
                  <a:gd name="T7" fmla="*/ 124 h 124"/>
                  <a:gd name="T8" fmla="*/ 47 w 128"/>
                  <a:gd name="T9" fmla="*/ 90 h 124"/>
                  <a:gd name="T10" fmla="*/ 58 w 128"/>
                  <a:gd name="T11" fmla="*/ 79 h 124"/>
                  <a:gd name="T12" fmla="*/ 0 w 128"/>
                  <a:gd name="T13" fmla="*/ 23 h 124"/>
                  <a:gd name="T14" fmla="*/ 23 w 128"/>
                  <a:gd name="T15" fmla="*/ 0 h 1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8" h="124">
                    <a:moveTo>
                      <a:pt x="23" y="0"/>
                    </a:moveTo>
                    <a:lnTo>
                      <a:pt x="79" y="57"/>
                    </a:lnTo>
                    <a:lnTo>
                      <a:pt x="90" y="47"/>
                    </a:lnTo>
                    <a:lnTo>
                      <a:pt x="128" y="124"/>
                    </a:lnTo>
                    <a:lnTo>
                      <a:pt x="47" y="90"/>
                    </a:lnTo>
                    <a:lnTo>
                      <a:pt x="58" y="79"/>
                    </a:lnTo>
                    <a:lnTo>
                      <a:pt x="0" y="23"/>
                    </a:lnTo>
                    <a:lnTo>
                      <a:pt x="23" y="0"/>
                    </a:lnTo>
                  </a:path>
                </a:pathLst>
              </a:custGeom>
              <a:grpFill/>
              <a:ln w="0">
                <a:solidFill>
                  <a:srgbClr val="000000"/>
                </a:solidFill>
                <a:prstDash val="solid"/>
                <a:round/>
                <a:headEnd/>
                <a:tailEnd/>
              </a:ln>
              <a:extLst/>
            </p:spPr>
            <p:txBody>
              <a:bodyPr/>
              <a:lstStyle/>
              <a:p>
                <a:pPr>
                  <a:defRPr/>
                </a:pPr>
                <a:endParaRPr lang="en-US"/>
              </a:p>
            </p:txBody>
          </p:sp>
          <p:sp>
            <p:nvSpPr>
              <p:cNvPr id="17984" name="Freeform 576"/>
              <p:cNvSpPr>
                <a:spLocks/>
              </p:cNvSpPr>
              <p:nvPr/>
            </p:nvSpPr>
            <p:spPr bwMode="auto">
              <a:xfrm>
                <a:off x="3387" y="3374"/>
                <a:ext cx="148" cy="147"/>
              </a:xfrm>
              <a:custGeom>
                <a:avLst/>
                <a:gdLst>
                  <a:gd name="T0" fmla="*/ 37 w 148"/>
                  <a:gd name="T1" fmla="*/ 6 h 147"/>
                  <a:gd name="T2" fmla="*/ 87 w 148"/>
                  <a:gd name="T3" fmla="*/ 58 h 147"/>
                  <a:gd name="T4" fmla="*/ 101 w 148"/>
                  <a:gd name="T5" fmla="*/ 43 h 147"/>
                  <a:gd name="T6" fmla="*/ 148 w 148"/>
                  <a:gd name="T7" fmla="*/ 147 h 147"/>
                  <a:gd name="T8" fmla="*/ 43 w 148"/>
                  <a:gd name="T9" fmla="*/ 100 h 147"/>
                  <a:gd name="T10" fmla="*/ 58 w 148"/>
                  <a:gd name="T11" fmla="*/ 85 h 147"/>
                  <a:gd name="T12" fmla="*/ 0 w 148"/>
                  <a:gd name="T13" fmla="*/ 29 h 147"/>
                  <a:gd name="T14" fmla="*/ 29 w 148"/>
                  <a:gd name="T15" fmla="*/ 0 h 147"/>
                  <a:gd name="T16" fmla="*/ 37 w 148"/>
                  <a:gd name="T17" fmla="*/ 6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8" h="147">
                    <a:moveTo>
                      <a:pt x="37" y="6"/>
                    </a:moveTo>
                    <a:lnTo>
                      <a:pt x="87" y="58"/>
                    </a:lnTo>
                    <a:lnTo>
                      <a:pt x="101" y="43"/>
                    </a:lnTo>
                    <a:lnTo>
                      <a:pt x="148" y="147"/>
                    </a:lnTo>
                    <a:lnTo>
                      <a:pt x="43" y="100"/>
                    </a:lnTo>
                    <a:lnTo>
                      <a:pt x="58" y="85"/>
                    </a:lnTo>
                    <a:lnTo>
                      <a:pt x="0" y="29"/>
                    </a:lnTo>
                    <a:lnTo>
                      <a:pt x="29" y="0"/>
                    </a:lnTo>
                    <a:lnTo>
                      <a:pt x="37" y="6"/>
                    </a:lnTo>
                  </a:path>
                </a:pathLst>
              </a:custGeom>
              <a:grpFill/>
              <a:ln w="0">
                <a:solidFill>
                  <a:srgbClr val="000000"/>
                </a:solidFill>
                <a:prstDash val="solid"/>
                <a:round/>
                <a:headEnd/>
                <a:tailEnd/>
              </a:ln>
              <a:extLst/>
            </p:spPr>
            <p:txBody>
              <a:bodyPr/>
              <a:lstStyle/>
              <a:p>
                <a:pPr>
                  <a:defRPr/>
                </a:pPr>
                <a:endParaRPr lang="en-US"/>
              </a:p>
            </p:txBody>
          </p:sp>
          <p:sp>
            <p:nvSpPr>
              <p:cNvPr id="17985" name="Freeform 577"/>
              <p:cNvSpPr>
                <a:spLocks/>
              </p:cNvSpPr>
              <p:nvPr/>
            </p:nvSpPr>
            <p:spPr bwMode="auto">
              <a:xfrm>
                <a:off x="3488" y="1913"/>
                <a:ext cx="149" cy="145"/>
              </a:xfrm>
              <a:custGeom>
                <a:avLst/>
                <a:gdLst>
                  <a:gd name="T0" fmla="*/ 110 w 149"/>
                  <a:gd name="T1" fmla="*/ 10 h 145"/>
                  <a:gd name="T2" fmla="*/ 101 w 149"/>
                  <a:gd name="T3" fmla="*/ 21 h 145"/>
                  <a:gd name="T4" fmla="*/ 88 w 149"/>
                  <a:gd name="T5" fmla="*/ 32 h 145"/>
                  <a:gd name="T6" fmla="*/ 75 w 149"/>
                  <a:gd name="T7" fmla="*/ 43 h 145"/>
                  <a:gd name="T8" fmla="*/ 65 w 149"/>
                  <a:gd name="T9" fmla="*/ 55 h 145"/>
                  <a:gd name="T10" fmla="*/ 52 w 149"/>
                  <a:gd name="T11" fmla="*/ 47 h 145"/>
                  <a:gd name="T12" fmla="*/ 44 w 149"/>
                  <a:gd name="T13" fmla="*/ 55 h 145"/>
                  <a:gd name="T14" fmla="*/ 38 w 149"/>
                  <a:gd name="T15" fmla="*/ 64 h 145"/>
                  <a:gd name="T16" fmla="*/ 33 w 149"/>
                  <a:gd name="T17" fmla="*/ 79 h 145"/>
                  <a:gd name="T18" fmla="*/ 26 w 149"/>
                  <a:gd name="T19" fmla="*/ 89 h 145"/>
                  <a:gd name="T20" fmla="*/ 21 w 149"/>
                  <a:gd name="T21" fmla="*/ 103 h 145"/>
                  <a:gd name="T22" fmla="*/ 15 w 149"/>
                  <a:gd name="T23" fmla="*/ 113 h 145"/>
                  <a:gd name="T24" fmla="*/ 10 w 149"/>
                  <a:gd name="T25" fmla="*/ 127 h 145"/>
                  <a:gd name="T26" fmla="*/ 4 w 149"/>
                  <a:gd name="T27" fmla="*/ 137 h 145"/>
                  <a:gd name="T28" fmla="*/ 4 w 149"/>
                  <a:gd name="T29" fmla="*/ 144 h 145"/>
                  <a:gd name="T30" fmla="*/ 18 w 149"/>
                  <a:gd name="T31" fmla="*/ 139 h 145"/>
                  <a:gd name="T32" fmla="*/ 30 w 149"/>
                  <a:gd name="T33" fmla="*/ 132 h 145"/>
                  <a:gd name="T34" fmla="*/ 44 w 149"/>
                  <a:gd name="T35" fmla="*/ 127 h 145"/>
                  <a:gd name="T36" fmla="*/ 55 w 149"/>
                  <a:gd name="T37" fmla="*/ 121 h 145"/>
                  <a:gd name="T38" fmla="*/ 70 w 149"/>
                  <a:gd name="T39" fmla="*/ 116 h 145"/>
                  <a:gd name="T40" fmla="*/ 80 w 149"/>
                  <a:gd name="T41" fmla="*/ 110 h 145"/>
                  <a:gd name="T42" fmla="*/ 94 w 149"/>
                  <a:gd name="T43" fmla="*/ 105 h 145"/>
                  <a:gd name="T44" fmla="*/ 104 w 149"/>
                  <a:gd name="T45" fmla="*/ 97 h 145"/>
                  <a:gd name="T46" fmla="*/ 94 w 149"/>
                  <a:gd name="T47" fmla="*/ 87 h 145"/>
                  <a:gd name="T48" fmla="*/ 102 w 149"/>
                  <a:gd name="T49" fmla="*/ 74 h 145"/>
                  <a:gd name="T50" fmla="*/ 115 w 149"/>
                  <a:gd name="T51" fmla="*/ 63 h 145"/>
                  <a:gd name="T52" fmla="*/ 125 w 149"/>
                  <a:gd name="T53" fmla="*/ 52 h 145"/>
                  <a:gd name="T54" fmla="*/ 138 w 149"/>
                  <a:gd name="T55" fmla="*/ 40 h 145"/>
                  <a:gd name="T56" fmla="*/ 148 w 149"/>
                  <a:gd name="T57" fmla="*/ 29 h 145"/>
                  <a:gd name="T58" fmla="*/ 139 w 149"/>
                  <a:gd name="T59" fmla="*/ 19 h 145"/>
                  <a:gd name="T60" fmla="*/ 120 w 149"/>
                  <a:gd name="T61" fmla="*/ 14 h 145"/>
                  <a:gd name="T62" fmla="*/ 130 w 149"/>
                  <a:gd name="T63" fmla="*/ 24 h 145"/>
                  <a:gd name="T64" fmla="*/ 135 w 149"/>
                  <a:gd name="T65" fmla="*/ 37 h 145"/>
                  <a:gd name="T66" fmla="*/ 122 w 149"/>
                  <a:gd name="T67" fmla="*/ 48 h 145"/>
                  <a:gd name="T68" fmla="*/ 112 w 149"/>
                  <a:gd name="T69" fmla="*/ 60 h 145"/>
                  <a:gd name="T70" fmla="*/ 99 w 149"/>
                  <a:gd name="T71" fmla="*/ 71 h 145"/>
                  <a:gd name="T72" fmla="*/ 89 w 149"/>
                  <a:gd name="T73" fmla="*/ 82 h 145"/>
                  <a:gd name="T74" fmla="*/ 85 w 149"/>
                  <a:gd name="T75" fmla="*/ 92 h 145"/>
                  <a:gd name="T76" fmla="*/ 89 w 149"/>
                  <a:gd name="T77" fmla="*/ 103 h 145"/>
                  <a:gd name="T78" fmla="*/ 73 w 149"/>
                  <a:gd name="T79" fmla="*/ 108 h 145"/>
                  <a:gd name="T80" fmla="*/ 62 w 149"/>
                  <a:gd name="T81" fmla="*/ 115 h 145"/>
                  <a:gd name="T82" fmla="*/ 47 w 149"/>
                  <a:gd name="T83" fmla="*/ 119 h 145"/>
                  <a:gd name="T84" fmla="*/ 36 w 149"/>
                  <a:gd name="T85" fmla="*/ 126 h 145"/>
                  <a:gd name="T86" fmla="*/ 21 w 149"/>
                  <a:gd name="T87" fmla="*/ 131 h 145"/>
                  <a:gd name="T88" fmla="*/ 10 w 149"/>
                  <a:gd name="T89" fmla="*/ 134 h 145"/>
                  <a:gd name="T90" fmla="*/ 17 w 149"/>
                  <a:gd name="T91" fmla="*/ 124 h 145"/>
                  <a:gd name="T92" fmla="*/ 21 w 149"/>
                  <a:gd name="T93" fmla="*/ 111 h 145"/>
                  <a:gd name="T94" fmla="*/ 28 w 149"/>
                  <a:gd name="T95" fmla="*/ 100 h 145"/>
                  <a:gd name="T96" fmla="*/ 33 w 149"/>
                  <a:gd name="T97" fmla="*/ 87 h 145"/>
                  <a:gd name="T98" fmla="*/ 39 w 149"/>
                  <a:gd name="T99" fmla="*/ 76 h 145"/>
                  <a:gd name="T100" fmla="*/ 44 w 149"/>
                  <a:gd name="T101" fmla="*/ 63 h 145"/>
                  <a:gd name="T102" fmla="*/ 72 w 149"/>
                  <a:gd name="T103" fmla="*/ 53 h 145"/>
                  <a:gd name="T104" fmla="*/ 85 w 149"/>
                  <a:gd name="T105" fmla="*/ 42 h 145"/>
                  <a:gd name="T106" fmla="*/ 97 w 149"/>
                  <a:gd name="T107" fmla="*/ 31 h 145"/>
                  <a:gd name="T108" fmla="*/ 107 w 149"/>
                  <a:gd name="T109" fmla="*/ 19 h 145"/>
                  <a:gd name="T110" fmla="*/ 130 w 149"/>
                  <a:gd name="T111" fmla="*/ 8 h 145"/>
                  <a:gd name="T112" fmla="*/ 118 w 149"/>
                  <a:gd name="T113" fmla="*/ 0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49" h="145">
                    <a:moveTo>
                      <a:pt x="118" y="0"/>
                    </a:moveTo>
                    <a:lnTo>
                      <a:pt x="118" y="1"/>
                    </a:lnTo>
                    <a:lnTo>
                      <a:pt x="117" y="1"/>
                    </a:lnTo>
                    <a:lnTo>
                      <a:pt x="117" y="5"/>
                    </a:lnTo>
                    <a:lnTo>
                      <a:pt x="114" y="6"/>
                    </a:lnTo>
                    <a:lnTo>
                      <a:pt x="114" y="8"/>
                    </a:lnTo>
                    <a:lnTo>
                      <a:pt x="110" y="10"/>
                    </a:lnTo>
                    <a:lnTo>
                      <a:pt x="110" y="11"/>
                    </a:lnTo>
                    <a:lnTo>
                      <a:pt x="107" y="13"/>
                    </a:lnTo>
                    <a:lnTo>
                      <a:pt x="107" y="14"/>
                    </a:lnTo>
                    <a:lnTo>
                      <a:pt x="104" y="16"/>
                    </a:lnTo>
                    <a:lnTo>
                      <a:pt x="104" y="18"/>
                    </a:lnTo>
                    <a:lnTo>
                      <a:pt x="101" y="19"/>
                    </a:lnTo>
                    <a:lnTo>
                      <a:pt x="101" y="21"/>
                    </a:lnTo>
                    <a:lnTo>
                      <a:pt x="97" y="22"/>
                    </a:lnTo>
                    <a:lnTo>
                      <a:pt x="97" y="24"/>
                    </a:lnTo>
                    <a:lnTo>
                      <a:pt x="94" y="26"/>
                    </a:lnTo>
                    <a:lnTo>
                      <a:pt x="94" y="27"/>
                    </a:lnTo>
                    <a:lnTo>
                      <a:pt x="91" y="29"/>
                    </a:lnTo>
                    <a:lnTo>
                      <a:pt x="91" y="31"/>
                    </a:lnTo>
                    <a:lnTo>
                      <a:pt x="88" y="32"/>
                    </a:lnTo>
                    <a:lnTo>
                      <a:pt x="85" y="34"/>
                    </a:lnTo>
                    <a:lnTo>
                      <a:pt x="85" y="35"/>
                    </a:lnTo>
                    <a:lnTo>
                      <a:pt x="81" y="37"/>
                    </a:lnTo>
                    <a:lnTo>
                      <a:pt x="81" y="39"/>
                    </a:lnTo>
                    <a:lnTo>
                      <a:pt x="78" y="40"/>
                    </a:lnTo>
                    <a:lnTo>
                      <a:pt x="78" y="42"/>
                    </a:lnTo>
                    <a:lnTo>
                      <a:pt x="75" y="43"/>
                    </a:lnTo>
                    <a:lnTo>
                      <a:pt x="75" y="45"/>
                    </a:lnTo>
                    <a:lnTo>
                      <a:pt x="72" y="47"/>
                    </a:lnTo>
                    <a:lnTo>
                      <a:pt x="72" y="48"/>
                    </a:lnTo>
                    <a:lnTo>
                      <a:pt x="68" y="50"/>
                    </a:lnTo>
                    <a:lnTo>
                      <a:pt x="68" y="52"/>
                    </a:lnTo>
                    <a:lnTo>
                      <a:pt x="65" y="53"/>
                    </a:lnTo>
                    <a:lnTo>
                      <a:pt x="65" y="55"/>
                    </a:lnTo>
                    <a:lnTo>
                      <a:pt x="62" y="56"/>
                    </a:lnTo>
                    <a:lnTo>
                      <a:pt x="60" y="56"/>
                    </a:lnTo>
                    <a:lnTo>
                      <a:pt x="59" y="53"/>
                    </a:lnTo>
                    <a:lnTo>
                      <a:pt x="57" y="53"/>
                    </a:lnTo>
                    <a:lnTo>
                      <a:pt x="55" y="50"/>
                    </a:lnTo>
                    <a:lnTo>
                      <a:pt x="54" y="47"/>
                    </a:lnTo>
                    <a:lnTo>
                      <a:pt x="52" y="47"/>
                    </a:lnTo>
                    <a:lnTo>
                      <a:pt x="51" y="43"/>
                    </a:lnTo>
                    <a:lnTo>
                      <a:pt x="47" y="45"/>
                    </a:lnTo>
                    <a:lnTo>
                      <a:pt x="47" y="48"/>
                    </a:lnTo>
                    <a:lnTo>
                      <a:pt x="46" y="48"/>
                    </a:lnTo>
                    <a:lnTo>
                      <a:pt x="46" y="52"/>
                    </a:lnTo>
                    <a:lnTo>
                      <a:pt x="44" y="52"/>
                    </a:lnTo>
                    <a:lnTo>
                      <a:pt x="44" y="55"/>
                    </a:lnTo>
                    <a:lnTo>
                      <a:pt x="42" y="55"/>
                    </a:lnTo>
                    <a:lnTo>
                      <a:pt x="42" y="58"/>
                    </a:lnTo>
                    <a:lnTo>
                      <a:pt x="41" y="58"/>
                    </a:lnTo>
                    <a:lnTo>
                      <a:pt x="41" y="61"/>
                    </a:lnTo>
                    <a:lnTo>
                      <a:pt x="39" y="61"/>
                    </a:lnTo>
                    <a:lnTo>
                      <a:pt x="39" y="64"/>
                    </a:lnTo>
                    <a:lnTo>
                      <a:pt x="38" y="64"/>
                    </a:lnTo>
                    <a:lnTo>
                      <a:pt x="38" y="68"/>
                    </a:lnTo>
                    <a:lnTo>
                      <a:pt x="36" y="68"/>
                    </a:lnTo>
                    <a:lnTo>
                      <a:pt x="36" y="73"/>
                    </a:lnTo>
                    <a:lnTo>
                      <a:pt x="34" y="73"/>
                    </a:lnTo>
                    <a:lnTo>
                      <a:pt x="34" y="76"/>
                    </a:lnTo>
                    <a:lnTo>
                      <a:pt x="33" y="76"/>
                    </a:lnTo>
                    <a:lnTo>
                      <a:pt x="33" y="79"/>
                    </a:lnTo>
                    <a:lnTo>
                      <a:pt x="31" y="79"/>
                    </a:lnTo>
                    <a:lnTo>
                      <a:pt x="31" y="82"/>
                    </a:lnTo>
                    <a:lnTo>
                      <a:pt x="30" y="82"/>
                    </a:lnTo>
                    <a:lnTo>
                      <a:pt x="30" y="85"/>
                    </a:lnTo>
                    <a:lnTo>
                      <a:pt x="28" y="85"/>
                    </a:lnTo>
                    <a:lnTo>
                      <a:pt x="28" y="89"/>
                    </a:lnTo>
                    <a:lnTo>
                      <a:pt x="26" y="89"/>
                    </a:lnTo>
                    <a:lnTo>
                      <a:pt x="26" y="92"/>
                    </a:lnTo>
                    <a:lnTo>
                      <a:pt x="25" y="92"/>
                    </a:lnTo>
                    <a:lnTo>
                      <a:pt x="25" y="97"/>
                    </a:lnTo>
                    <a:lnTo>
                      <a:pt x="23" y="97"/>
                    </a:lnTo>
                    <a:lnTo>
                      <a:pt x="23" y="100"/>
                    </a:lnTo>
                    <a:lnTo>
                      <a:pt x="21" y="100"/>
                    </a:lnTo>
                    <a:lnTo>
                      <a:pt x="21" y="103"/>
                    </a:lnTo>
                    <a:lnTo>
                      <a:pt x="20" y="103"/>
                    </a:lnTo>
                    <a:lnTo>
                      <a:pt x="20" y="106"/>
                    </a:lnTo>
                    <a:lnTo>
                      <a:pt x="18" y="106"/>
                    </a:lnTo>
                    <a:lnTo>
                      <a:pt x="18" y="110"/>
                    </a:lnTo>
                    <a:lnTo>
                      <a:pt x="17" y="110"/>
                    </a:lnTo>
                    <a:lnTo>
                      <a:pt x="17" y="113"/>
                    </a:lnTo>
                    <a:lnTo>
                      <a:pt x="15" y="113"/>
                    </a:lnTo>
                    <a:lnTo>
                      <a:pt x="15" y="116"/>
                    </a:lnTo>
                    <a:lnTo>
                      <a:pt x="13" y="116"/>
                    </a:lnTo>
                    <a:lnTo>
                      <a:pt x="13" y="119"/>
                    </a:lnTo>
                    <a:lnTo>
                      <a:pt x="12" y="119"/>
                    </a:lnTo>
                    <a:lnTo>
                      <a:pt x="12" y="124"/>
                    </a:lnTo>
                    <a:lnTo>
                      <a:pt x="10" y="124"/>
                    </a:lnTo>
                    <a:lnTo>
                      <a:pt x="10" y="127"/>
                    </a:lnTo>
                    <a:lnTo>
                      <a:pt x="9" y="127"/>
                    </a:lnTo>
                    <a:lnTo>
                      <a:pt x="9" y="131"/>
                    </a:lnTo>
                    <a:lnTo>
                      <a:pt x="7" y="131"/>
                    </a:lnTo>
                    <a:lnTo>
                      <a:pt x="7" y="134"/>
                    </a:lnTo>
                    <a:lnTo>
                      <a:pt x="5" y="134"/>
                    </a:lnTo>
                    <a:lnTo>
                      <a:pt x="5" y="137"/>
                    </a:lnTo>
                    <a:lnTo>
                      <a:pt x="4" y="137"/>
                    </a:lnTo>
                    <a:lnTo>
                      <a:pt x="4" y="140"/>
                    </a:lnTo>
                    <a:lnTo>
                      <a:pt x="2" y="140"/>
                    </a:lnTo>
                    <a:lnTo>
                      <a:pt x="2" y="144"/>
                    </a:lnTo>
                    <a:lnTo>
                      <a:pt x="0" y="144"/>
                    </a:lnTo>
                    <a:lnTo>
                      <a:pt x="0" y="145"/>
                    </a:lnTo>
                    <a:lnTo>
                      <a:pt x="4" y="145"/>
                    </a:lnTo>
                    <a:lnTo>
                      <a:pt x="4" y="144"/>
                    </a:lnTo>
                    <a:lnTo>
                      <a:pt x="7" y="144"/>
                    </a:lnTo>
                    <a:lnTo>
                      <a:pt x="7" y="142"/>
                    </a:lnTo>
                    <a:lnTo>
                      <a:pt x="12" y="142"/>
                    </a:lnTo>
                    <a:lnTo>
                      <a:pt x="12" y="140"/>
                    </a:lnTo>
                    <a:lnTo>
                      <a:pt x="15" y="140"/>
                    </a:lnTo>
                    <a:lnTo>
                      <a:pt x="15" y="139"/>
                    </a:lnTo>
                    <a:lnTo>
                      <a:pt x="18" y="139"/>
                    </a:lnTo>
                    <a:lnTo>
                      <a:pt x="18" y="137"/>
                    </a:lnTo>
                    <a:lnTo>
                      <a:pt x="21" y="137"/>
                    </a:lnTo>
                    <a:lnTo>
                      <a:pt x="21" y="136"/>
                    </a:lnTo>
                    <a:lnTo>
                      <a:pt x="26" y="136"/>
                    </a:lnTo>
                    <a:lnTo>
                      <a:pt x="26" y="134"/>
                    </a:lnTo>
                    <a:lnTo>
                      <a:pt x="30" y="134"/>
                    </a:lnTo>
                    <a:lnTo>
                      <a:pt x="30" y="132"/>
                    </a:lnTo>
                    <a:lnTo>
                      <a:pt x="33" y="132"/>
                    </a:lnTo>
                    <a:lnTo>
                      <a:pt x="33" y="131"/>
                    </a:lnTo>
                    <a:lnTo>
                      <a:pt x="36" y="131"/>
                    </a:lnTo>
                    <a:lnTo>
                      <a:pt x="36" y="129"/>
                    </a:lnTo>
                    <a:lnTo>
                      <a:pt x="41" y="129"/>
                    </a:lnTo>
                    <a:lnTo>
                      <a:pt x="41" y="127"/>
                    </a:lnTo>
                    <a:lnTo>
                      <a:pt x="44" y="127"/>
                    </a:lnTo>
                    <a:lnTo>
                      <a:pt x="44" y="126"/>
                    </a:lnTo>
                    <a:lnTo>
                      <a:pt x="47" y="126"/>
                    </a:lnTo>
                    <a:lnTo>
                      <a:pt x="47" y="124"/>
                    </a:lnTo>
                    <a:lnTo>
                      <a:pt x="51" y="124"/>
                    </a:lnTo>
                    <a:lnTo>
                      <a:pt x="51" y="123"/>
                    </a:lnTo>
                    <a:lnTo>
                      <a:pt x="55" y="123"/>
                    </a:lnTo>
                    <a:lnTo>
                      <a:pt x="55" y="121"/>
                    </a:lnTo>
                    <a:lnTo>
                      <a:pt x="59" y="121"/>
                    </a:lnTo>
                    <a:lnTo>
                      <a:pt x="59" y="119"/>
                    </a:lnTo>
                    <a:lnTo>
                      <a:pt x="62" y="119"/>
                    </a:lnTo>
                    <a:lnTo>
                      <a:pt x="62" y="118"/>
                    </a:lnTo>
                    <a:lnTo>
                      <a:pt x="65" y="118"/>
                    </a:lnTo>
                    <a:lnTo>
                      <a:pt x="65" y="116"/>
                    </a:lnTo>
                    <a:lnTo>
                      <a:pt x="70" y="116"/>
                    </a:lnTo>
                    <a:lnTo>
                      <a:pt x="70" y="115"/>
                    </a:lnTo>
                    <a:lnTo>
                      <a:pt x="73" y="115"/>
                    </a:lnTo>
                    <a:lnTo>
                      <a:pt x="73" y="113"/>
                    </a:lnTo>
                    <a:lnTo>
                      <a:pt x="76" y="113"/>
                    </a:lnTo>
                    <a:lnTo>
                      <a:pt x="76" y="111"/>
                    </a:lnTo>
                    <a:lnTo>
                      <a:pt x="80" y="111"/>
                    </a:lnTo>
                    <a:lnTo>
                      <a:pt x="80" y="110"/>
                    </a:lnTo>
                    <a:lnTo>
                      <a:pt x="85" y="110"/>
                    </a:lnTo>
                    <a:lnTo>
                      <a:pt x="85" y="108"/>
                    </a:lnTo>
                    <a:lnTo>
                      <a:pt x="88" y="108"/>
                    </a:lnTo>
                    <a:lnTo>
                      <a:pt x="88" y="106"/>
                    </a:lnTo>
                    <a:lnTo>
                      <a:pt x="91" y="106"/>
                    </a:lnTo>
                    <a:lnTo>
                      <a:pt x="91" y="105"/>
                    </a:lnTo>
                    <a:lnTo>
                      <a:pt x="94" y="105"/>
                    </a:lnTo>
                    <a:lnTo>
                      <a:pt x="94" y="103"/>
                    </a:lnTo>
                    <a:lnTo>
                      <a:pt x="99" y="103"/>
                    </a:lnTo>
                    <a:lnTo>
                      <a:pt x="99" y="102"/>
                    </a:lnTo>
                    <a:lnTo>
                      <a:pt x="102" y="102"/>
                    </a:lnTo>
                    <a:lnTo>
                      <a:pt x="102" y="100"/>
                    </a:lnTo>
                    <a:lnTo>
                      <a:pt x="106" y="100"/>
                    </a:lnTo>
                    <a:lnTo>
                      <a:pt x="104" y="97"/>
                    </a:lnTo>
                    <a:lnTo>
                      <a:pt x="102" y="97"/>
                    </a:lnTo>
                    <a:lnTo>
                      <a:pt x="101" y="94"/>
                    </a:lnTo>
                    <a:lnTo>
                      <a:pt x="99" y="94"/>
                    </a:lnTo>
                    <a:lnTo>
                      <a:pt x="99" y="90"/>
                    </a:lnTo>
                    <a:lnTo>
                      <a:pt x="97" y="90"/>
                    </a:lnTo>
                    <a:lnTo>
                      <a:pt x="96" y="87"/>
                    </a:lnTo>
                    <a:lnTo>
                      <a:pt x="94" y="87"/>
                    </a:lnTo>
                    <a:lnTo>
                      <a:pt x="93" y="84"/>
                    </a:lnTo>
                    <a:lnTo>
                      <a:pt x="96" y="82"/>
                    </a:lnTo>
                    <a:lnTo>
                      <a:pt x="96" y="81"/>
                    </a:lnTo>
                    <a:lnTo>
                      <a:pt x="99" y="79"/>
                    </a:lnTo>
                    <a:lnTo>
                      <a:pt x="99" y="77"/>
                    </a:lnTo>
                    <a:lnTo>
                      <a:pt x="102" y="76"/>
                    </a:lnTo>
                    <a:lnTo>
                      <a:pt x="102" y="74"/>
                    </a:lnTo>
                    <a:lnTo>
                      <a:pt x="106" y="73"/>
                    </a:lnTo>
                    <a:lnTo>
                      <a:pt x="106" y="71"/>
                    </a:lnTo>
                    <a:lnTo>
                      <a:pt x="109" y="69"/>
                    </a:lnTo>
                    <a:lnTo>
                      <a:pt x="109" y="68"/>
                    </a:lnTo>
                    <a:lnTo>
                      <a:pt x="112" y="66"/>
                    </a:lnTo>
                    <a:lnTo>
                      <a:pt x="112" y="64"/>
                    </a:lnTo>
                    <a:lnTo>
                      <a:pt x="115" y="63"/>
                    </a:lnTo>
                    <a:lnTo>
                      <a:pt x="115" y="61"/>
                    </a:lnTo>
                    <a:lnTo>
                      <a:pt x="118" y="60"/>
                    </a:lnTo>
                    <a:lnTo>
                      <a:pt x="118" y="58"/>
                    </a:lnTo>
                    <a:lnTo>
                      <a:pt x="122" y="56"/>
                    </a:lnTo>
                    <a:lnTo>
                      <a:pt x="122" y="55"/>
                    </a:lnTo>
                    <a:lnTo>
                      <a:pt x="125" y="53"/>
                    </a:lnTo>
                    <a:lnTo>
                      <a:pt x="125" y="52"/>
                    </a:lnTo>
                    <a:lnTo>
                      <a:pt x="128" y="50"/>
                    </a:lnTo>
                    <a:lnTo>
                      <a:pt x="128" y="48"/>
                    </a:lnTo>
                    <a:lnTo>
                      <a:pt x="131" y="47"/>
                    </a:lnTo>
                    <a:lnTo>
                      <a:pt x="131" y="45"/>
                    </a:lnTo>
                    <a:lnTo>
                      <a:pt x="135" y="43"/>
                    </a:lnTo>
                    <a:lnTo>
                      <a:pt x="135" y="42"/>
                    </a:lnTo>
                    <a:lnTo>
                      <a:pt x="138" y="40"/>
                    </a:lnTo>
                    <a:lnTo>
                      <a:pt x="138" y="39"/>
                    </a:lnTo>
                    <a:lnTo>
                      <a:pt x="141" y="37"/>
                    </a:lnTo>
                    <a:lnTo>
                      <a:pt x="141" y="35"/>
                    </a:lnTo>
                    <a:lnTo>
                      <a:pt x="144" y="34"/>
                    </a:lnTo>
                    <a:lnTo>
                      <a:pt x="144" y="32"/>
                    </a:lnTo>
                    <a:lnTo>
                      <a:pt x="148" y="31"/>
                    </a:lnTo>
                    <a:lnTo>
                      <a:pt x="148" y="29"/>
                    </a:lnTo>
                    <a:lnTo>
                      <a:pt x="149" y="29"/>
                    </a:lnTo>
                    <a:lnTo>
                      <a:pt x="148" y="26"/>
                    </a:lnTo>
                    <a:lnTo>
                      <a:pt x="146" y="26"/>
                    </a:lnTo>
                    <a:lnTo>
                      <a:pt x="144" y="22"/>
                    </a:lnTo>
                    <a:lnTo>
                      <a:pt x="143" y="22"/>
                    </a:lnTo>
                    <a:lnTo>
                      <a:pt x="141" y="19"/>
                    </a:lnTo>
                    <a:lnTo>
                      <a:pt x="139" y="19"/>
                    </a:lnTo>
                    <a:lnTo>
                      <a:pt x="138" y="16"/>
                    </a:lnTo>
                    <a:lnTo>
                      <a:pt x="136" y="16"/>
                    </a:lnTo>
                    <a:lnTo>
                      <a:pt x="135" y="13"/>
                    </a:lnTo>
                    <a:lnTo>
                      <a:pt x="133" y="13"/>
                    </a:lnTo>
                    <a:lnTo>
                      <a:pt x="133" y="11"/>
                    </a:lnTo>
                    <a:lnTo>
                      <a:pt x="118" y="11"/>
                    </a:lnTo>
                    <a:lnTo>
                      <a:pt x="120" y="14"/>
                    </a:lnTo>
                    <a:lnTo>
                      <a:pt x="122" y="14"/>
                    </a:lnTo>
                    <a:lnTo>
                      <a:pt x="123" y="18"/>
                    </a:lnTo>
                    <a:lnTo>
                      <a:pt x="125" y="18"/>
                    </a:lnTo>
                    <a:lnTo>
                      <a:pt x="127" y="21"/>
                    </a:lnTo>
                    <a:lnTo>
                      <a:pt x="128" y="21"/>
                    </a:lnTo>
                    <a:lnTo>
                      <a:pt x="128" y="24"/>
                    </a:lnTo>
                    <a:lnTo>
                      <a:pt x="130" y="24"/>
                    </a:lnTo>
                    <a:lnTo>
                      <a:pt x="131" y="27"/>
                    </a:lnTo>
                    <a:lnTo>
                      <a:pt x="133" y="27"/>
                    </a:lnTo>
                    <a:lnTo>
                      <a:pt x="135" y="31"/>
                    </a:lnTo>
                    <a:lnTo>
                      <a:pt x="136" y="31"/>
                    </a:lnTo>
                    <a:lnTo>
                      <a:pt x="138" y="34"/>
                    </a:lnTo>
                    <a:lnTo>
                      <a:pt x="135" y="35"/>
                    </a:lnTo>
                    <a:lnTo>
                      <a:pt x="135" y="37"/>
                    </a:lnTo>
                    <a:lnTo>
                      <a:pt x="131" y="39"/>
                    </a:lnTo>
                    <a:lnTo>
                      <a:pt x="131" y="40"/>
                    </a:lnTo>
                    <a:lnTo>
                      <a:pt x="128" y="42"/>
                    </a:lnTo>
                    <a:lnTo>
                      <a:pt x="128" y="43"/>
                    </a:lnTo>
                    <a:lnTo>
                      <a:pt x="125" y="45"/>
                    </a:lnTo>
                    <a:lnTo>
                      <a:pt x="125" y="47"/>
                    </a:lnTo>
                    <a:lnTo>
                      <a:pt x="122" y="48"/>
                    </a:lnTo>
                    <a:lnTo>
                      <a:pt x="122" y="50"/>
                    </a:lnTo>
                    <a:lnTo>
                      <a:pt x="118" y="52"/>
                    </a:lnTo>
                    <a:lnTo>
                      <a:pt x="118" y="53"/>
                    </a:lnTo>
                    <a:lnTo>
                      <a:pt x="115" y="55"/>
                    </a:lnTo>
                    <a:lnTo>
                      <a:pt x="115" y="56"/>
                    </a:lnTo>
                    <a:lnTo>
                      <a:pt x="112" y="58"/>
                    </a:lnTo>
                    <a:lnTo>
                      <a:pt x="112" y="60"/>
                    </a:lnTo>
                    <a:lnTo>
                      <a:pt x="109" y="61"/>
                    </a:lnTo>
                    <a:lnTo>
                      <a:pt x="109" y="63"/>
                    </a:lnTo>
                    <a:lnTo>
                      <a:pt x="106" y="64"/>
                    </a:lnTo>
                    <a:lnTo>
                      <a:pt x="106" y="66"/>
                    </a:lnTo>
                    <a:lnTo>
                      <a:pt x="102" y="68"/>
                    </a:lnTo>
                    <a:lnTo>
                      <a:pt x="102" y="69"/>
                    </a:lnTo>
                    <a:lnTo>
                      <a:pt x="99" y="71"/>
                    </a:lnTo>
                    <a:lnTo>
                      <a:pt x="99" y="73"/>
                    </a:lnTo>
                    <a:lnTo>
                      <a:pt x="96" y="74"/>
                    </a:lnTo>
                    <a:lnTo>
                      <a:pt x="96" y="76"/>
                    </a:lnTo>
                    <a:lnTo>
                      <a:pt x="93" y="77"/>
                    </a:lnTo>
                    <a:lnTo>
                      <a:pt x="93" y="79"/>
                    </a:lnTo>
                    <a:lnTo>
                      <a:pt x="89" y="81"/>
                    </a:lnTo>
                    <a:lnTo>
                      <a:pt x="89" y="82"/>
                    </a:lnTo>
                    <a:lnTo>
                      <a:pt x="86" y="84"/>
                    </a:lnTo>
                    <a:lnTo>
                      <a:pt x="86" y="85"/>
                    </a:lnTo>
                    <a:lnTo>
                      <a:pt x="83" y="87"/>
                    </a:lnTo>
                    <a:lnTo>
                      <a:pt x="83" y="89"/>
                    </a:lnTo>
                    <a:lnTo>
                      <a:pt x="81" y="89"/>
                    </a:lnTo>
                    <a:lnTo>
                      <a:pt x="83" y="92"/>
                    </a:lnTo>
                    <a:lnTo>
                      <a:pt x="85" y="92"/>
                    </a:lnTo>
                    <a:lnTo>
                      <a:pt x="86" y="95"/>
                    </a:lnTo>
                    <a:lnTo>
                      <a:pt x="88" y="95"/>
                    </a:lnTo>
                    <a:lnTo>
                      <a:pt x="89" y="98"/>
                    </a:lnTo>
                    <a:lnTo>
                      <a:pt x="91" y="98"/>
                    </a:lnTo>
                    <a:lnTo>
                      <a:pt x="93" y="102"/>
                    </a:lnTo>
                    <a:lnTo>
                      <a:pt x="89" y="102"/>
                    </a:lnTo>
                    <a:lnTo>
                      <a:pt x="89" y="103"/>
                    </a:lnTo>
                    <a:lnTo>
                      <a:pt x="85" y="103"/>
                    </a:lnTo>
                    <a:lnTo>
                      <a:pt x="85" y="105"/>
                    </a:lnTo>
                    <a:lnTo>
                      <a:pt x="81" y="105"/>
                    </a:lnTo>
                    <a:lnTo>
                      <a:pt x="81" y="106"/>
                    </a:lnTo>
                    <a:lnTo>
                      <a:pt x="78" y="106"/>
                    </a:lnTo>
                    <a:lnTo>
                      <a:pt x="78" y="108"/>
                    </a:lnTo>
                    <a:lnTo>
                      <a:pt x="73" y="108"/>
                    </a:lnTo>
                    <a:lnTo>
                      <a:pt x="73" y="110"/>
                    </a:lnTo>
                    <a:lnTo>
                      <a:pt x="70" y="110"/>
                    </a:lnTo>
                    <a:lnTo>
                      <a:pt x="70" y="111"/>
                    </a:lnTo>
                    <a:lnTo>
                      <a:pt x="67" y="111"/>
                    </a:lnTo>
                    <a:lnTo>
                      <a:pt x="67" y="113"/>
                    </a:lnTo>
                    <a:lnTo>
                      <a:pt x="62" y="113"/>
                    </a:lnTo>
                    <a:lnTo>
                      <a:pt x="62" y="115"/>
                    </a:lnTo>
                    <a:lnTo>
                      <a:pt x="59" y="115"/>
                    </a:lnTo>
                    <a:lnTo>
                      <a:pt x="59" y="116"/>
                    </a:lnTo>
                    <a:lnTo>
                      <a:pt x="55" y="116"/>
                    </a:lnTo>
                    <a:lnTo>
                      <a:pt x="55" y="118"/>
                    </a:lnTo>
                    <a:lnTo>
                      <a:pt x="52" y="118"/>
                    </a:lnTo>
                    <a:lnTo>
                      <a:pt x="52" y="119"/>
                    </a:lnTo>
                    <a:lnTo>
                      <a:pt x="47" y="119"/>
                    </a:lnTo>
                    <a:lnTo>
                      <a:pt x="47" y="121"/>
                    </a:lnTo>
                    <a:lnTo>
                      <a:pt x="44" y="121"/>
                    </a:lnTo>
                    <a:lnTo>
                      <a:pt x="44" y="123"/>
                    </a:lnTo>
                    <a:lnTo>
                      <a:pt x="41" y="123"/>
                    </a:lnTo>
                    <a:lnTo>
                      <a:pt x="41" y="124"/>
                    </a:lnTo>
                    <a:lnTo>
                      <a:pt x="36" y="124"/>
                    </a:lnTo>
                    <a:lnTo>
                      <a:pt x="36" y="126"/>
                    </a:lnTo>
                    <a:lnTo>
                      <a:pt x="33" y="126"/>
                    </a:lnTo>
                    <a:lnTo>
                      <a:pt x="33" y="127"/>
                    </a:lnTo>
                    <a:lnTo>
                      <a:pt x="30" y="127"/>
                    </a:lnTo>
                    <a:lnTo>
                      <a:pt x="30" y="129"/>
                    </a:lnTo>
                    <a:lnTo>
                      <a:pt x="25" y="129"/>
                    </a:lnTo>
                    <a:lnTo>
                      <a:pt x="25" y="131"/>
                    </a:lnTo>
                    <a:lnTo>
                      <a:pt x="21" y="131"/>
                    </a:lnTo>
                    <a:lnTo>
                      <a:pt x="21" y="132"/>
                    </a:lnTo>
                    <a:lnTo>
                      <a:pt x="18" y="132"/>
                    </a:lnTo>
                    <a:lnTo>
                      <a:pt x="18" y="134"/>
                    </a:lnTo>
                    <a:lnTo>
                      <a:pt x="13" y="134"/>
                    </a:lnTo>
                    <a:lnTo>
                      <a:pt x="13" y="136"/>
                    </a:lnTo>
                    <a:lnTo>
                      <a:pt x="10" y="136"/>
                    </a:lnTo>
                    <a:lnTo>
                      <a:pt x="10" y="134"/>
                    </a:lnTo>
                    <a:lnTo>
                      <a:pt x="12" y="134"/>
                    </a:lnTo>
                    <a:lnTo>
                      <a:pt x="12" y="131"/>
                    </a:lnTo>
                    <a:lnTo>
                      <a:pt x="13" y="131"/>
                    </a:lnTo>
                    <a:lnTo>
                      <a:pt x="13" y="127"/>
                    </a:lnTo>
                    <a:lnTo>
                      <a:pt x="15" y="127"/>
                    </a:lnTo>
                    <a:lnTo>
                      <a:pt x="15" y="124"/>
                    </a:lnTo>
                    <a:lnTo>
                      <a:pt x="17" y="124"/>
                    </a:lnTo>
                    <a:lnTo>
                      <a:pt x="17" y="121"/>
                    </a:lnTo>
                    <a:lnTo>
                      <a:pt x="18" y="121"/>
                    </a:lnTo>
                    <a:lnTo>
                      <a:pt x="18" y="118"/>
                    </a:lnTo>
                    <a:lnTo>
                      <a:pt x="20" y="118"/>
                    </a:lnTo>
                    <a:lnTo>
                      <a:pt x="20" y="115"/>
                    </a:lnTo>
                    <a:lnTo>
                      <a:pt x="21" y="115"/>
                    </a:lnTo>
                    <a:lnTo>
                      <a:pt x="21" y="111"/>
                    </a:lnTo>
                    <a:lnTo>
                      <a:pt x="23" y="111"/>
                    </a:lnTo>
                    <a:lnTo>
                      <a:pt x="23" y="106"/>
                    </a:lnTo>
                    <a:lnTo>
                      <a:pt x="25" y="106"/>
                    </a:lnTo>
                    <a:lnTo>
                      <a:pt x="25" y="103"/>
                    </a:lnTo>
                    <a:lnTo>
                      <a:pt x="26" y="103"/>
                    </a:lnTo>
                    <a:lnTo>
                      <a:pt x="26" y="100"/>
                    </a:lnTo>
                    <a:lnTo>
                      <a:pt x="28" y="100"/>
                    </a:lnTo>
                    <a:lnTo>
                      <a:pt x="28" y="97"/>
                    </a:lnTo>
                    <a:lnTo>
                      <a:pt x="30" y="97"/>
                    </a:lnTo>
                    <a:lnTo>
                      <a:pt x="30" y="94"/>
                    </a:lnTo>
                    <a:lnTo>
                      <a:pt x="31" y="94"/>
                    </a:lnTo>
                    <a:lnTo>
                      <a:pt x="31" y="90"/>
                    </a:lnTo>
                    <a:lnTo>
                      <a:pt x="33" y="90"/>
                    </a:lnTo>
                    <a:lnTo>
                      <a:pt x="33" y="87"/>
                    </a:lnTo>
                    <a:lnTo>
                      <a:pt x="34" y="87"/>
                    </a:lnTo>
                    <a:lnTo>
                      <a:pt x="34" y="82"/>
                    </a:lnTo>
                    <a:lnTo>
                      <a:pt x="36" y="82"/>
                    </a:lnTo>
                    <a:lnTo>
                      <a:pt x="36" y="79"/>
                    </a:lnTo>
                    <a:lnTo>
                      <a:pt x="38" y="79"/>
                    </a:lnTo>
                    <a:lnTo>
                      <a:pt x="38" y="76"/>
                    </a:lnTo>
                    <a:lnTo>
                      <a:pt x="39" y="76"/>
                    </a:lnTo>
                    <a:lnTo>
                      <a:pt x="39" y="73"/>
                    </a:lnTo>
                    <a:lnTo>
                      <a:pt x="41" y="73"/>
                    </a:lnTo>
                    <a:lnTo>
                      <a:pt x="41" y="69"/>
                    </a:lnTo>
                    <a:lnTo>
                      <a:pt x="42" y="69"/>
                    </a:lnTo>
                    <a:lnTo>
                      <a:pt x="42" y="66"/>
                    </a:lnTo>
                    <a:lnTo>
                      <a:pt x="44" y="66"/>
                    </a:lnTo>
                    <a:lnTo>
                      <a:pt x="44" y="63"/>
                    </a:lnTo>
                    <a:lnTo>
                      <a:pt x="46" y="63"/>
                    </a:lnTo>
                    <a:lnTo>
                      <a:pt x="46" y="60"/>
                    </a:lnTo>
                    <a:lnTo>
                      <a:pt x="49" y="58"/>
                    </a:lnTo>
                    <a:lnTo>
                      <a:pt x="68" y="58"/>
                    </a:lnTo>
                    <a:lnTo>
                      <a:pt x="68" y="56"/>
                    </a:lnTo>
                    <a:lnTo>
                      <a:pt x="72" y="55"/>
                    </a:lnTo>
                    <a:lnTo>
                      <a:pt x="72" y="53"/>
                    </a:lnTo>
                    <a:lnTo>
                      <a:pt x="75" y="52"/>
                    </a:lnTo>
                    <a:lnTo>
                      <a:pt x="75" y="50"/>
                    </a:lnTo>
                    <a:lnTo>
                      <a:pt x="78" y="48"/>
                    </a:lnTo>
                    <a:lnTo>
                      <a:pt x="78" y="47"/>
                    </a:lnTo>
                    <a:lnTo>
                      <a:pt x="81" y="45"/>
                    </a:lnTo>
                    <a:lnTo>
                      <a:pt x="81" y="43"/>
                    </a:lnTo>
                    <a:lnTo>
                      <a:pt x="85" y="42"/>
                    </a:lnTo>
                    <a:lnTo>
                      <a:pt x="85" y="40"/>
                    </a:lnTo>
                    <a:lnTo>
                      <a:pt x="88" y="39"/>
                    </a:lnTo>
                    <a:lnTo>
                      <a:pt x="91" y="37"/>
                    </a:lnTo>
                    <a:lnTo>
                      <a:pt x="91" y="35"/>
                    </a:lnTo>
                    <a:lnTo>
                      <a:pt x="94" y="34"/>
                    </a:lnTo>
                    <a:lnTo>
                      <a:pt x="94" y="32"/>
                    </a:lnTo>
                    <a:lnTo>
                      <a:pt x="97" y="31"/>
                    </a:lnTo>
                    <a:lnTo>
                      <a:pt x="97" y="29"/>
                    </a:lnTo>
                    <a:lnTo>
                      <a:pt x="101" y="27"/>
                    </a:lnTo>
                    <a:lnTo>
                      <a:pt x="101" y="26"/>
                    </a:lnTo>
                    <a:lnTo>
                      <a:pt x="104" y="24"/>
                    </a:lnTo>
                    <a:lnTo>
                      <a:pt x="104" y="22"/>
                    </a:lnTo>
                    <a:lnTo>
                      <a:pt x="107" y="21"/>
                    </a:lnTo>
                    <a:lnTo>
                      <a:pt x="107" y="19"/>
                    </a:lnTo>
                    <a:lnTo>
                      <a:pt x="110" y="18"/>
                    </a:lnTo>
                    <a:lnTo>
                      <a:pt x="110" y="16"/>
                    </a:lnTo>
                    <a:lnTo>
                      <a:pt x="114" y="14"/>
                    </a:lnTo>
                    <a:lnTo>
                      <a:pt x="114" y="13"/>
                    </a:lnTo>
                    <a:lnTo>
                      <a:pt x="117" y="11"/>
                    </a:lnTo>
                    <a:lnTo>
                      <a:pt x="131" y="11"/>
                    </a:lnTo>
                    <a:lnTo>
                      <a:pt x="130" y="8"/>
                    </a:lnTo>
                    <a:lnTo>
                      <a:pt x="128" y="8"/>
                    </a:lnTo>
                    <a:lnTo>
                      <a:pt x="127" y="5"/>
                    </a:lnTo>
                    <a:lnTo>
                      <a:pt x="125" y="5"/>
                    </a:lnTo>
                    <a:lnTo>
                      <a:pt x="123" y="1"/>
                    </a:lnTo>
                    <a:lnTo>
                      <a:pt x="122" y="1"/>
                    </a:lnTo>
                    <a:lnTo>
                      <a:pt x="122" y="0"/>
                    </a:lnTo>
                    <a:lnTo>
                      <a:pt x="11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7986" name="Freeform 578"/>
              <p:cNvSpPr>
                <a:spLocks/>
              </p:cNvSpPr>
              <p:nvPr/>
            </p:nvSpPr>
            <p:spPr bwMode="auto">
              <a:xfrm>
                <a:off x="3537" y="1971"/>
                <a:ext cx="18" cy="8"/>
              </a:xfrm>
              <a:custGeom>
                <a:avLst/>
                <a:gdLst>
                  <a:gd name="T0" fmla="*/ 0 w 18"/>
                  <a:gd name="T1" fmla="*/ 0 h 8"/>
                  <a:gd name="T2" fmla="*/ 2 w 18"/>
                  <a:gd name="T3" fmla="*/ 3 h 8"/>
                  <a:gd name="T4" fmla="*/ 5 w 18"/>
                  <a:gd name="T5" fmla="*/ 3 h 8"/>
                  <a:gd name="T6" fmla="*/ 6 w 18"/>
                  <a:gd name="T7" fmla="*/ 6 h 8"/>
                  <a:gd name="T8" fmla="*/ 8 w 18"/>
                  <a:gd name="T9" fmla="*/ 6 h 8"/>
                  <a:gd name="T10" fmla="*/ 8 w 18"/>
                  <a:gd name="T11" fmla="*/ 8 h 8"/>
                  <a:gd name="T12" fmla="*/ 11 w 18"/>
                  <a:gd name="T13" fmla="*/ 8 h 8"/>
                  <a:gd name="T14" fmla="*/ 11 w 18"/>
                  <a:gd name="T15" fmla="*/ 6 h 8"/>
                  <a:gd name="T16" fmla="*/ 15 w 18"/>
                  <a:gd name="T17" fmla="*/ 5 h 8"/>
                  <a:gd name="T18" fmla="*/ 15 w 18"/>
                  <a:gd name="T19" fmla="*/ 3 h 8"/>
                  <a:gd name="T20" fmla="*/ 18 w 18"/>
                  <a:gd name="T21" fmla="*/ 2 h 8"/>
                  <a:gd name="T22" fmla="*/ 18 w 18"/>
                  <a:gd name="T23" fmla="*/ 0 h 8"/>
                  <a:gd name="T24" fmla="*/ 0 w 18"/>
                  <a:gd name="T25"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8">
                    <a:moveTo>
                      <a:pt x="0" y="0"/>
                    </a:moveTo>
                    <a:lnTo>
                      <a:pt x="2" y="3"/>
                    </a:lnTo>
                    <a:lnTo>
                      <a:pt x="5" y="3"/>
                    </a:lnTo>
                    <a:lnTo>
                      <a:pt x="6" y="6"/>
                    </a:lnTo>
                    <a:lnTo>
                      <a:pt x="8" y="6"/>
                    </a:lnTo>
                    <a:lnTo>
                      <a:pt x="8" y="8"/>
                    </a:lnTo>
                    <a:lnTo>
                      <a:pt x="11" y="8"/>
                    </a:lnTo>
                    <a:lnTo>
                      <a:pt x="11" y="6"/>
                    </a:lnTo>
                    <a:lnTo>
                      <a:pt x="15" y="5"/>
                    </a:lnTo>
                    <a:lnTo>
                      <a:pt x="15" y="3"/>
                    </a:lnTo>
                    <a:lnTo>
                      <a:pt x="18" y="2"/>
                    </a:lnTo>
                    <a:lnTo>
                      <a:pt x="18"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grpSp>
        <p:sp>
          <p:nvSpPr>
            <p:cNvPr id="17988" name="Freeform 580"/>
            <p:cNvSpPr>
              <a:spLocks/>
            </p:cNvSpPr>
            <p:nvPr/>
          </p:nvSpPr>
          <p:spPr bwMode="auto">
            <a:xfrm>
              <a:off x="3498" y="1923"/>
              <a:ext cx="128" cy="126"/>
            </a:xfrm>
            <a:custGeom>
              <a:avLst/>
              <a:gdLst>
                <a:gd name="T0" fmla="*/ 107 w 128"/>
                <a:gd name="T1" fmla="*/ 0 h 126"/>
                <a:gd name="T2" fmla="*/ 49 w 128"/>
                <a:gd name="T3" fmla="*/ 56 h 126"/>
                <a:gd name="T4" fmla="*/ 37 w 128"/>
                <a:gd name="T5" fmla="*/ 46 h 126"/>
                <a:gd name="T6" fmla="*/ 0 w 128"/>
                <a:gd name="T7" fmla="*/ 126 h 126"/>
                <a:gd name="T8" fmla="*/ 83 w 128"/>
                <a:gd name="T9" fmla="*/ 90 h 126"/>
                <a:gd name="T10" fmla="*/ 71 w 128"/>
                <a:gd name="T11" fmla="*/ 79 h 126"/>
                <a:gd name="T12" fmla="*/ 128 w 128"/>
                <a:gd name="T13" fmla="*/ 22 h 126"/>
                <a:gd name="T14" fmla="*/ 107 w 128"/>
                <a:gd name="T15" fmla="*/ 0 h 12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8" h="126">
                  <a:moveTo>
                    <a:pt x="107" y="0"/>
                  </a:moveTo>
                  <a:lnTo>
                    <a:pt x="49" y="56"/>
                  </a:lnTo>
                  <a:lnTo>
                    <a:pt x="37" y="46"/>
                  </a:lnTo>
                  <a:lnTo>
                    <a:pt x="0" y="126"/>
                  </a:lnTo>
                  <a:lnTo>
                    <a:pt x="83" y="90"/>
                  </a:lnTo>
                  <a:lnTo>
                    <a:pt x="71" y="79"/>
                  </a:lnTo>
                  <a:lnTo>
                    <a:pt x="128" y="22"/>
                  </a:lnTo>
                  <a:lnTo>
                    <a:pt x="107" y="0"/>
                  </a:lnTo>
                </a:path>
              </a:pathLst>
            </a:custGeom>
            <a:grpFill/>
            <a:ln w="0">
              <a:solidFill>
                <a:srgbClr val="000000"/>
              </a:solidFill>
              <a:prstDash val="solid"/>
              <a:round/>
              <a:headEnd/>
              <a:tailEnd/>
            </a:ln>
            <a:extLst/>
          </p:spPr>
          <p:txBody>
            <a:bodyPr/>
            <a:lstStyle/>
            <a:p>
              <a:pPr>
                <a:defRPr/>
              </a:pPr>
              <a:endParaRPr lang="en-US"/>
            </a:p>
          </p:txBody>
        </p:sp>
        <p:sp>
          <p:nvSpPr>
            <p:cNvPr id="17989" name="Freeform 581"/>
            <p:cNvSpPr>
              <a:spLocks/>
            </p:cNvSpPr>
            <p:nvPr/>
          </p:nvSpPr>
          <p:spPr bwMode="auto">
            <a:xfrm>
              <a:off x="3488" y="1911"/>
              <a:ext cx="149" cy="147"/>
            </a:xfrm>
            <a:custGeom>
              <a:avLst/>
              <a:gdLst>
                <a:gd name="T0" fmla="*/ 114 w 149"/>
                <a:gd name="T1" fmla="*/ 8 h 147"/>
                <a:gd name="T2" fmla="*/ 62 w 149"/>
                <a:gd name="T3" fmla="*/ 58 h 147"/>
                <a:gd name="T4" fmla="*/ 49 w 149"/>
                <a:gd name="T5" fmla="*/ 44 h 147"/>
                <a:gd name="T6" fmla="*/ 0 w 149"/>
                <a:gd name="T7" fmla="*/ 147 h 147"/>
                <a:gd name="T8" fmla="*/ 106 w 149"/>
                <a:gd name="T9" fmla="*/ 100 h 147"/>
                <a:gd name="T10" fmla="*/ 93 w 149"/>
                <a:gd name="T11" fmla="*/ 86 h 147"/>
                <a:gd name="T12" fmla="*/ 149 w 149"/>
                <a:gd name="T13" fmla="*/ 29 h 147"/>
                <a:gd name="T14" fmla="*/ 120 w 149"/>
                <a:gd name="T15" fmla="*/ 0 h 147"/>
                <a:gd name="T16" fmla="*/ 114 w 149"/>
                <a:gd name="T17" fmla="*/ 8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 h="147">
                  <a:moveTo>
                    <a:pt x="114" y="8"/>
                  </a:moveTo>
                  <a:lnTo>
                    <a:pt x="62" y="58"/>
                  </a:lnTo>
                  <a:lnTo>
                    <a:pt x="49" y="44"/>
                  </a:lnTo>
                  <a:lnTo>
                    <a:pt x="0" y="147"/>
                  </a:lnTo>
                  <a:lnTo>
                    <a:pt x="106" y="100"/>
                  </a:lnTo>
                  <a:lnTo>
                    <a:pt x="93" y="86"/>
                  </a:lnTo>
                  <a:lnTo>
                    <a:pt x="149" y="29"/>
                  </a:lnTo>
                  <a:lnTo>
                    <a:pt x="120" y="0"/>
                  </a:lnTo>
                  <a:lnTo>
                    <a:pt x="114" y="8"/>
                  </a:lnTo>
                </a:path>
              </a:pathLst>
            </a:custGeom>
            <a:grpFill/>
            <a:ln w="0">
              <a:solidFill>
                <a:srgbClr val="000000"/>
              </a:solidFill>
              <a:prstDash val="solid"/>
              <a:round/>
              <a:headEnd/>
              <a:tailEnd/>
            </a:ln>
            <a:extLst/>
          </p:spPr>
          <p:txBody>
            <a:bodyPr/>
            <a:lstStyle/>
            <a:p>
              <a:pPr>
                <a:defRPr/>
              </a:pPr>
              <a:endParaRPr lang="en-US"/>
            </a:p>
          </p:txBody>
        </p:sp>
        <p:sp>
          <p:nvSpPr>
            <p:cNvPr id="17990" name="Freeform 582"/>
            <p:cNvSpPr>
              <a:spLocks/>
            </p:cNvSpPr>
            <p:nvPr/>
          </p:nvSpPr>
          <p:spPr bwMode="auto">
            <a:xfrm>
              <a:off x="3337" y="2383"/>
              <a:ext cx="148" cy="146"/>
            </a:xfrm>
            <a:custGeom>
              <a:avLst/>
              <a:gdLst>
                <a:gd name="T0" fmla="*/ 134 w 148"/>
                <a:gd name="T1" fmla="*/ 5 h 146"/>
                <a:gd name="T2" fmla="*/ 122 w 148"/>
                <a:gd name="T3" fmla="*/ 11 h 146"/>
                <a:gd name="T4" fmla="*/ 108 w 148"/>
                <a:gd name="T5" fmla="*/ 16 h 146"/>
                <a:gd name="T6" fmla="*/ 98 w 148"/>
                <a:gd name="T7" fmla="*/ 23 h 146"/>
                <a:gd name="T8" fmla="*/ 84 w 148"/>
                <a:gd name="T9" fmla="*/ 28 h 146"/>
                <a:gd name="T10" fmla="*/ 72 w 148"/>
                <a:gd name="T11" fmla="*/ 34 h 146"/>
                <a:gd name="T12" fmla="*/ 58 w 148"/>
                <a:gd name="T13" fmla="*/ 39 h 146"/>
                <a:gd name="T14" fmla="*/ 46 w 148"/>
                <a:gd name="T15" fmla="*/ 45 h 146"/>
                <a:gd name="T16" fmla="*/ 53 w 148"/>
                <a:gd name="T17" fmla="*/ 55 h 146"/>
                <a:gd name="T18" fmla="*/ 51 w 148"/>
                <a:gd name="T19" fmla="*/ 68 h 146"/>
                <a:gd name="T20" fmla="*/ 38 w 148"/>
                <a:gd name="T21" fmla="*/ 79 h 146"/>
                <a:gd name="T22" fmla="*/ 25 w 148"/>
                <a:gd name="T23" fmla="*/ 91 h 146"/>
                <a:gd name="T24" fmla="*/ 16 w 148"/>
                <a:gd name="T25" fmla="*/ 102 h 146"/>
                <a:gd name="T26" fmla="*/ 3 w 148"/>
                <a:gd name="T27" fmla="*/ 113 h 146"/>
                <a:gd name="T28" fmla="*/ 8 w 148"/>
                <a:gd name="T29" fmla="*/ 126 h 146"/>
                <a:gd name="T30" fmla="*/ 19 w 148"/>
                <a:gd name="T31" fmla="*/ 136 h 146"/>
                <a:gd name="T32" fmla="*/ 30 w 148"/>
                <a:gd name="T33" fmla="*/ 144 h 146"/>
                <a:gd name="T34" fmla="*/ 43 w 148"/>
                <a:gd name="T35" fmla="*/ 133 h 146"/>
                <a:gd name="T36" fmla="*/ 53 w 148"/>
                <a:gd name="T37" fmla="*/ 121 h 146"/>
                <a:gd name="T38" fmla="*/ 66 w 148"/>
                <a:gd name="T39" fmla="*/ 110 h 146"/>
                <a:gd name="T40" fmla="*/ 75 w 148"/>
                <a:gd name="T41" fmla="*/ 99 h 146"/>
                <a:gd name="T42" fmla="*/ 108 w 148"/>
                <a:gd name="T43" fmla="*/ 89 h 146"/>
                <a:gd name="T44" fmla="*/ 113 w 148"/>
                <a:gd name="T45" fmla="*/ 76 h 146"/>
                <a:gd name="T46" fmla="*/ 119 w 148"/>
                <a:gd name="T47" fmla="*/ 65 h 146"/>
                <a:gd name="T48" fmla="*/ 124 w 148"/>
                <a:gd name="T49" fmla="*/ 52 h 146"/>
                <a:gd name="T50" fmla="*/ 130 w 148"/>
                <a:gd name="T51" fmla="*/ 40 h 146"/>
                <a:gd name="T52" fmla="*/ 135 w 148"/>
                <a:gd name="T53" fmla="*/ 26 h 146"/>
                <a:gd name="T54" fmla="*/ 142 w 148"/>
                <a:gd name="T55" fmla="*/ 15 h 146"/>
                <a:gd name="T56" fmla="*/ 137 w 148"/>
                <a:gd name="T57" fmla="*/ 15 h 146"/>
                <a:gd name="T58" fmla="*/ 130 w 148"/>
                <a:gd name="T59" fmla="*/ 26 h 146"/>
                <a:gd name="T60" fmla="*/ 126 w 148"/>
                <a:gd name="T61" fmla="*/ 39 h 146"/>
                <a:gd name="T62" fmla="*/ 119 w 148"/>
                <a:gd name="T63" fmla="*/ 50 h 146"/>
                <a:gd name="T64" fmla="*/ 114 w 148"/>
                <a:gd name="T65" fmla="*/ 65 h 146"/>
                <a:gd name="T66" fmla="*/ 108 w 148"/>
                <a:gd name="T67" fmla="*/ 76 h 146"/>
                <a:gd name="T68" fmla="*/ 100 w 148"/>
                <a:gd name="T69" fmla="*/ 84 h 146"/>
                <a:gd name="T70" fmla="*/ 87 w 148"/>
                <a:gd name="T71" fmla="*/ 82 h 146"/>
                <a:gd name="T72" fmla="*/ 77 w 148"/>
                <a:gd name="T73" fmla="*/ 94 h 146"/>
                <a:gd name="T74" fmla="*/ 64 w 148"/>
                <a:gd name="T75" fmla="*/ 105 h 146"/>
                <a:gd name="T76" fmla="*/ 54 w 148"/>
                <a:gd name="T77" fmla="*/ 115 h 146"/>
                <a:gd name="T78" fmla="*/ 42 w 148"/>
                <a:gd name="T79" fmla="*/ 126 h 146"/>
                <a:gd name="T80" fmla="*/ 30 w 148"/>
                <a:gd name="T81" fmla="*/ 131 h 146"/>
                <a:gd name="T82" fmla="*/ 19 w 148"/>
                <a:gd name="T83" fmla="*/ 121 h 146"/>
                <a:gd name="T84" fmla="*/ 14 w 148"/>
                <a:gd name="T85" fmla="*/ 108 h 146"/>
                <a:gd name="T86" fmla="*/ 27 w 148"/>
                <a:gd name="T87" fmla="*/ 97 h 146"/>
                <a:gd name="T88" fmla="*/ 37 w 148"/>
                <a:gd name="T89" fmla="*/ 86 h 146"/>
                <a:gd name="T90" fmla="*/ 50 w 148"/>
                <a:gd name="T91" fmla="*/ 74 h 146"/>
                <a:gd name="T92" fmla="*/ 63 w 148"/>
                <a:gd name="T93" fmla="*/ 63 h 146"/>
                <a:gd name="T94" fmla="*/ 64 w 148"/>
                <a:gd name="T95" fmla="*/ 50 h 146"/>
                <a:gd name="T96" fmla="*/ 66 w 148"/>
                <a:gd name="T97" fmla="*/ 42 h 146"/>
                <a:gd name="T98" fmla="*/ 75 w 148"/>
                <a:gd name="T99" fmla="*/ 36 h 146"/>
                <a:gd name="T100" fmla="*/ 90 w 148"/>
                <a:gd name="T101" fmla="*/ 31 h 146"/>
                <a:gd name="T102" fmla="*/ 101 w 148"/>
                <a:gd name="T103" fmla="*/ 24 h 146"/>
                <a:gd name="T104" fmla="*/ 116 w 148"/>
                <a:gd name="T105" fmla="*/ 19 h 146"/>
                <a:gd name="T106" fmla="*/ 127 w 148"/>
                <a:gd name="T107" fmla="*/ 13 h 146"/>
                <a:gd name="T108" fmla="*/ 145 w 148"/>
                <a:gd name="T109" fmla="*/ 8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8" h="146">
                  <a:moveTo>
                    <a:pt x="145" y="0"/>
                  </a:moveTo>
                  <a:lnTo>
                    <a:pt x="145" y="2"/>
                  </a:lnTo>
                  <a:lnTo>
                    <a:pt x="142" y="2"/>
                  </a:lnTo>
                  <a:lnTo>
                    <a:pt x="142" y="3"/>
                  </a:lnTo>
                  <a:lnTo>
                    <a:pt x="137" y="3"/>
                  </a:lnTo>
                  <a:lnTo>
                    <a:pt x="137" y="5"/>
                  </a:lnTo>
                  <a:lnTo>
                    <a:pt x="134" y="5"/>
                  </a:lnTo>
                  <a:lnTo>
                    <a:pt x="134" y="7"/>
                  </a:lnTo>
                  <a:lnTo>
                    <a:pt x="130" y="7"/>
                  </a:lnTo>
                  <a:lnTo>
                    <a:pt x="130" y="8"/>
                  </a:lnTo>
                  <a:lnTo>
                    <a:pt x="127" y="8"/>
                  </a:lnTo>
                  <a:lnTo>
                    <a:pt x="127" y="10"/>
                  </a:lnTo>
                  <a:lnTo>
                    <a:pt x="122" y="10"/>
                  </a:lnTo>
                  <a:lnTo>
                    <a:pt x="122" y="11"/>
                  </a:lnTo>
                  <a:lnTo>
                    <a:pt x="119" y="11"/>
                  </a:lnTo>
                  <a:lnTo>
                    <a:pt x="119" y="13"/>
                  </a:lnTo>
                  <a:lnTo>
                    <a:pt x="116" y="13"/>
                  </a:lnTo>
                  <a:lnTo>
                    <a:pt x="116" y="15"/>
                  </a:lnTo>
                  <a:lnTo>
                    <a:pt x="113" y="15"/>
                  </a:lnTo>
                  <a:lnTo>
                    <a:pt x="113" y="16"/>
                  </a:lnTo>
                  <a:lnTo>
                    <a:pt x="108" y="16"/>
                  </a:lnTo>
                  <a:lnTo>
                    <a:pt x="108" y="18"/>
                  </a:lnTo>
                  <a:lnTo>
                    <a:pt x="105" y="18"/>
                  </a:lnTo>
                  <a:lnTo>
                    <a:pt x="105" y="19"/>
                  </a:lnTo>
                  <a:lnTo>
                    <a:pt x="101" y="19"/>
                  </a:lnTo>
                  <a:lnTo>
                    <a:pt x="101" y="21"/>
                  </a:lnTo>
                  <a:lnTo>
                    <a:pt x="98" y="21"/>
                  </a:lnTo>
                  <a:lnTo>
                    <a:pt x="98" y="23"/>
                  </a:lnTo>
                  <a:lnTo>
                    <a:pt x="93" y="23"/>
                  </a:lnTo>
                  <a:lnTo>
                    <a:pt x="93" y="24"/>
                  </a:lnTo>
                  <a:lnTo>
                    <a:pt x="90" y="24"/>
                  </a:lnTo>
                  <a:lnTo>
                    <a:pt x="90" y="26"/>
                  </a:lnTo>
                  <a:lnTo>
                    <a:pt x="87" y="26"/>
                  </a:lnTo>
                  <a:lnTo>
                    <a:pt x="87" y="28"/>
                  </a:lnTo>
                  <a:lnTo>
                    <a:pt x="84" y="28"/>
                  </a:lnTo>
                  <a:lnTo>
                    <a:pt x="84" y="29"/>
                  </a:lnTo>
                  <a:lnTo>
                    <a:pt x="79" y="29"/>
                  </a:lnTo>
                  <a:lnTo>
                    <a:pt x="79" y="31"/>
                  </a:lnTo>
                  <a:lnTo>
                    <a:pt x="75" y="31"/>
                  </a:lnTo>
                  <a:lnTo>
                    <a:pt x="75" y="32"/>
                  </a:lnTo>
                  <a:lnTo>
                    <a:pt x="72" y="32"/>
                  </a:lnTo>
                  <a:lnTo>
                    <a:pt x="72" y="34"/>
                  </a:lnTo>
                  <a:lnTo>
                    <a:pt x="69" y="34"/>
                  </a:lnTo>
                  <a:lnTo>
                    <a:pt x="69" y="36"/>
                  </a:lnTo>
                  <a:lnTo>
                    <a:pt x="64" y="36"/>
                  </a:lnTo>
                  <a:lnTo>
                    <a:pt x="64" y="37"/>
                  </a:lnTo>
                  <a:lnTo>
                    <a:pt x="61" y="37"/>
                  </a:lnTo>
                  <a:lnTo>
                    <a:pt x="61" y="39"/>
                  </a:lnTo>
                  <a:lnTo>
                    <a:pt x="58" y="39"/>
                  </a:lnTo>
                  <a:lnTo>
                    <a:pt x="58" y="40"/>
                  </a:lnTo>
                  <a:lnTo>
                    <a:pt x="54" y="40"/>
                  </a:lnTo>
                  <a:lnTo>
                    <a:pt x="54" y="42"/>
                  </a:lnTo>
                  <a:lnTo>
                    <a:pt x="50" y="42"/>
                  </a:lnTo>
                  <a:lnTo>
                    <a:pt x="50" y="44"/>
                  </a:lnTo>
                  <a:lnTo>
                    <a:pt x="46" y="44"/>
                  </a:lnTo>
                  <a:lnTo>
                    <a:pt x="46" y="45"/>
                  </a:lnTo>
                  <a:lnTo>
                    <a:pt x="43" y="45"/>
                  </a:lnTo>
                  <a:lnTo>
                    <a:pt x="45" y="49"/>
                  </a:lnTo>
                  <a:lnTo>
                    <a:pt x="46" y="49"/>
                  </a:lnTo>
                  <a:lnTo>
                    <a:pt x="48" y="52"/>
                  </a:lnTo>
                  <a:lnTo>
                    <a:pt x="50" y="52"/>
                  </a:lnTo>
                  <a:lnTo>
                    <a:pt x="51" y="55"/>
                  </a:lnTo>
                  <a:lnTo>
                    <a:pt x="53" y="55"/>
                  </a:lnTo>
                  <a:lnTo>
                    <a:pt x="54" y="58"/>
                  </a:lnTo>
                  <a:lnTo>
                    <a:pt x="56" y="58"/>
                  </a:lnTo>
                  <a:lnTo>
                    <a:pt x="58" y="61"/>
                  </a:lnTo>
                  <a:lnTo>
                    <a:pt x="54" y="63"/>
                  </a:lnTo>
                  <a:lnTo>
                    <a:pt x="54" y="65"/>
                  </a:lnTo>
                  <a:lnTo>
                    <a:pt x="51" y="66"/>
                  </a:lnTo>
                  <a:lnTo>
                    <a:pt x="51" y="68"/>
                  </a:lnTo>
                  <a:lnTo>
                    <a:pt x="48" y="70"/>
                  </a:lnTo>
                  <a:lnTo>
                    <a:pt x="48" y="71"/>
                  </a:lnTo>
                  <a:lnTo>
                    <a:pt x="45" y="73"/>
                  </a:lnTo>
                  <a:lnTo>
                    <a:pt x="45" y="74"/>
                  </a:lnTo>
                  <a:lnTo>
                    <a:pt x="42" y="76"/>
                  </a:lnTo>
                  <a:lnTo>
                    <a:pt x="42" y="78"/>
                  </a:lnTo>
                  <a:lnTo>
                    <a:pt x="38" y="79"/>
                  </a:lnTo>
                  <a:lnTo>
                    <a:pt x="38" y="81"/>
                  </a:lnTo>
                  <a:lnTo>
                    <a:pt x="35" y="82"/>
                  </a:lnTo>
                  <a:lnTo>
                    <a:pt x="35" y="84"/>
                  </a:lnTo>
                  <a:lnTo>
                    <a:pt x="32" y="86"/>
                  </a:lnTo>
                  <a:lnTo>
                    <a:pt x="32" y="87"/>
                  </a:lnTo>
                  <a:lnTo>
                    <a:pt x="29" y="89"/>
                  </a:lnTo>
                  <a:lnTo>
                    <a:pt x="25" y="91"/>
                  </a:lnTo>
                  <a:lnTo>
                    <a:pt x="25" y="92"/>
                  </a:lnTo>
                  <a:lnTo>
                    <a:pt x="22" y="94"/>
                  </a:lnTo>
                  <a:lnTo>
                    <a:pt x="22" y="95"/>
                  </a:lnTo>
                  <a:lnTo>
                    <a:pt x="19" y="97"/>
                  </a:lnTo>
                  <a:lnTo>
                    <a:pt x="19" y="99"/>
                  </a:lnTo>
                  <a:lnTo>
                    <a:pt x="16" y="100"/>
                  </a:lnTo>
                  <a:lnTo>
                    <a:pt x="16" y="102"/>
                  </a:lnTo>
                  <a:lnTo>
                    <a:pt x="12" y="103"/>
                  </a:lnTo>
                  <a:lnTo>
                    <a:pt x="12" y="105"/>
                  </a:lnTo>
                  <a:lnTo>
                    <a:pt x="9" y="107"/>
                  </a:lnTo>
                  <a:lnTo>
                    <a:pt x="9" y="108"/>
                  </a:lnTo>
                  <a:lnTo>
                    <a:pt x="6" y="110"/>
                  </a:lnTo>
                  <a:lnTo>
                    <a:pt x="6" y="112"/>
                  </a:lnTo>
                  <a:lnTo>
                    <a:pt x="3" y="113"/>
                  </a:lnTo>
                  <a:lnTo>
                    <a:pt x="3" y="115"/>
                  </a:lnTo>
                  <a:lnTo>
                    <a:pt x="0" y="116"/>
                  </a:lnTo>
                  <a:lnTo>
                    <a:pt x="1" y="120"/>
                  </a:lnTo>
                  <a:lnTo>
                    <a:pt x="3" y="120"/>
                  </a:lnTo>
                  <a:lnTo>
                    <a:pt x="4" y="123"/>
                  </a:lnTo>
                  <a:lnTo>
                    <a:pt x="6" y="123"/>
                  </a:lnTo>
                  <a:lnTo>
                    <a:pt x="8" y="126"/>
                  </a:lnTo>
                  <a:lnTo>
                    <a:pt x="9" y="126"/>
                  </a:lnTo>
                  <a:lnTo>
                    <a:pt x="11" y="129"/>
                  </a:lnTo>
                  <a:lnTo>
                    <a:pt x="12" y="129"/>
                  </a:lnTo>
                  <a:lnTo>
                    <a:pt x="14" y="133"/>
                  </a:lnTo>
                  <a:lnTo>
                    <a:pt x="16" y="133"/>
                  </a:lnTo>
                  <a:lnTo>
                    <a:pt x="17" y="136"/>
                  </a:lnTo>
                  <a:lnTo>
                    <a:pt x="19" y="136"/>
                  </a:lnTo>
                  <a:lnTo>
                    <a:pt x="21" y="139"/>
                  </a:lnTo>
                  <a:lnTo>
                    <a:pt x="22" y="139"/>
                  </a:lnTo>
                  <a:lnTo>
                    <a:pt x="24" y="142"/>
                  </a:lnTo>
                  <a:lnTo>
                    <a:pt x="25" y="142"/>
                  </a:lnTo>
                  <a:lnTo>
                    <a:pt x="27" y="146"/>
                  </a:lnTo>
                  <a:lnTo>
                    <a:pt x="30" y="146"/>
                  </a:lnTo>
                  <a:lnTo>
                    <a:pt x="30" y="144"/>
                  </a:lnTo>
                  <a:lnTo>
                    <a:pt x="33" y="142"/>
                  </a:lnTo>
                  <a:lnTo>
                    <a:pt x="33" y="141"/>
                  </a:lnTo>
                  <a:lnTo>
                    <a:pt x="37" y="139"/>
                  </a:lnTo>
                  <a:lnTo>
                    <a:pt x="37" y="137"/>
                  </a:lnTo>
                  <a:lnTo>
                    <a:pt x="40" y="136"/>
                  </a:lnTo>
                  <a:lnTo>
                    <a:pt x="40" y="134"/>
                  </a:lnTo>
                  <a:lnTo>
                    <a:pt x="43" y="133"/>
                  </a:lnTo>
                  <a:lnTo>
                    <a:pt x="43" y="131"/>
                  </a:lnTo>
                  <a:lnTo>
                    <a:pt x="46" y="129"/>
                  </a:lnTo>
                  <a:lnTo>
                    <a:pt x="46" y="128"/>
                  </a:lnTo>
                  <a:lnTo>
                    <a:pt x="50" y="126"/>
                  </a:lnTo>
                  <a:lnTo>
                    <a:pt x="50" y="124"/>
                  </a:lnTo>
                  <a:lnTo>
                    <a:pt x="53" y="123"/>
                  </a:lnTo>
                  <a:lnTo>
                    <a:pt x="53" y="121"/>
                  </a:lnTo>
                  <a:lnTo>
                    <a:pt x="56" y="120"/>
                  </a:lnTo>
                  <a:lnTo>
                    <a:pt x="56" y="118"/>
                  </a:lnTo>
                  <a:lnTo>
                    <a:pt x="59" y="116"/>
                  </a:lnTo>
                  <a:lnTo>
                    <a:pt x="59" y="115"/>
                  </a:lnTo>
                  <a:lnTo>
                    <a:pt x="63" y="113"/>
                  </a:lnTo>
                  <a:lnTo>
                    <a:pt x="63" y="112"/>
                  </a:lnTo>
                  <a:lnTo>
                    <a:pt x="66" y="110"/>
                  </a:lnTo>
                  <a:lnTo>
                    <a:pt x="66" y="108"/>
                  </a:lnTo>
                  <a:lnTo>
                    <a:pt x="69" y="107"/>
                  </a:lnTo>
                  <a:lnTo>
                    <a:pt x="69" y="105"/>
                  </a:lnTo>
                  <a:lnTo>
                    <a:pt x="72" y="103"/>
                  </a:lnTo>
                  <a:lnTo>
                    <a:pt x="72" y="102"/>
                  </a:lnTo>
                  <a:lnTo>
                    <a:pt x="75" y="100"/>
                  </a:lnTo>
                  <a:lnTo>
                    <a:pt x="75" y="99"/>
                  </a:lnTo>
                  <a:lnTo>
                    <a:pt x="79" y="97"/>
                  </a:lnTo>
                  <a:lnTo>
                    <a:pt x="79" y="95"/>
                  </a:lnTo>
                  <a:lnTo>
                    <a:pt x="82" y="94"/>
                  </a:lnTo>
                  <a:lnTo>
                    <a:pt x="82" y="92"/>
                  </a:lnTo>
                  <a:lnTo>
                    <a:pt x="85" y="91"/>
                  </a:lnTo>
                  <a:lnTo>
                    <a:pt x="85" y="89"/>
                  </a:lnTo>
                  <a:lnTo>
                    <a:pt x="108" y="89"/>
                  </a:lnTo>
                  <a:lnTo>
                    <a:pt x="108" y="87"/>
                  </a:lnTo>
                  <a:lnTo>
                    <a:pt x="109" y="87"/>
                  </a:lnTo>
                  <a:lnTo>
                    <a:pt x="109" y="82"/>
                  </a:lnTo>
                  <a:lnTo>
                    <a:pt x="111" y="82"/>
                  </a:lnTo>
                  <a:lnTo>
                    <a:pt x="111" y="79"/>
                  </a:lnTo>
                  <a:lnTo>
                    <a:pt x="113" y="79"/>
                  </a:lnTo>
                  <a:lnTo>
                    <a:pt x="113" y="76"/>
                  </a:lnTo>
                  <a:lnTo>
                    <a:pt x="114" y="76"/>
                  </a:lnTo>
                  <a:lnTo>
                    <a:pt x="114" y="73"/>
                  </a:lnTo>
                  <a:lnTo>
                    <a:pt x="116" y="73"/>
                  </a:lnTo>
                  <a:lnTo>
                    <a:pt x="116" y="70"/>
                  </a:lnTo>
                  <a:lnTo>
                    <a:pt x="118" y="70"/>
                  </a:lnTo>
                  <a:lnTo>
                    <a:pt x="118" y="65"/>
                  </a:lnTo>
                  <a:lnTo>
                    <a:pt x="119" y="65"/>
                  </a:lnTo>
                  <a:lnTo>
                    <a:pt x="119" y="61"/>
                  </a:lnTo>
                  <a:lnTo>
                    <a:pt x="121" y="61"/>
                  </a:lnTo>
                  <a:lnTo>
                    <a:pt x="121" y="58"/>
                  </a:lnTo>
                  <a:lnTo>
                    <a:pt x="122" y="58"/>
                  </a:lnTo>
                  <a:lnTo>
                    <a:pt x="122" y="55"/>
                  </a:lnTo>
                  <a:lnTo>
                    <a:pt x="124" y="55"/>
                  </a:lnTo>
                  <a:lnTo>
                    <a:pt x="124" y="52"/>
                  </a:lnTo>
                  <a:lnTo>
                    <a:pt x="126" y="52"/>
                  </a:lnTo>
                  <a:lnTo>
                    <a:pt x="126" y="47"/>
                  </a:lnTo>
                  <a:lnTo>
                    <a:pt x="127" y="47"/>
                  </a:lnTo>
                  <a:lnTo>
                    <a:pt x="127" y="44"/>
                  </a:lnTo>
                  <a:lnTo>
                    <a:pt x="129" y="44"/>
                  </a:lnTo>
                  <a:lnTo>
                    <a:pt x="129" y="40"/>
                  </a:lnTo>
                  <a:lnTo>
                    <a:pt x="130" y="40"/>
                  </a:lnTo>
                  <a:lnTo>
                    <a:pt x="130" y="37"/>
                  </a:lnTo>
                  <a:lnTo>
                    <a:pt x="132" y="37"/>
                  </a:lnTo>
                  <a:lnTo>
                    <a:pt x="132" y="32"/>
                  </a:lnTo>
                  <a:lnTo>
                    <a:pt x="134" y="32"/>
                  </a:lnTo>
                  <a:lnTo>
                    <a:pt x="134" y="29"/>
                  </a:lnTo>
                  <a:lnTo>
                    <a:pt x="135" y="29"/>
                  </a:lnTo>
                  <a:lnTo>
                    <a:pt x="135" y="26"/>
                  </a:lnTo>
                  <a:lnTo>
                    <a:pt x="137" y="26"/>
                  </a:lnTo>
                  <a:lnTo>
                    <a:pt x="137" y="23"/>
                  </a:lnTo>
                  <a:lnTo>
                    <a:pt x="139" y="23"/>
                  </a:lnTo>
                  <a:lnTo>
                    <a:pt x="139" y="19"/>
                  </a:lnTo>
                  <a:lnTo>
                    <a:pt x="140" y="19"/>
                  </a:lnTo>
                  <a:lnTo>
                    <a:pt x="140" y="15"/>
                  </a:lnTo>
                  <a:lnTo>
                    <a:pt x="142" y="15"/>
                  </a:lnTo>
                  <a:lnTo>
                    <a:pt x="142" y="11"/>
                  </a:lnTo>
                  <a:lnTo>
                    <a:pt x="143" y="11"/>
                  </a:lnTo>
                  <a:lnTo>
                    <a:pt x="143" y="10"/>
                  </a:lnTo>
                  <a:lnTo>
                    <a:pt x="139" y="10"/>
                  </a:lnTo>
                  <a:lnTo>
                    <a:pt x="139" y="11"/>
                  </a:lnTo>
                  <a:lnTo>
                    <a:pt x="137" y="11"/>
                  </a:lnTo>
                  <a:lnTo>
                    <a:pt x="137" y="15"/>
                  </a:lnTo>
                  <a:lnTo>
                    <a:pt x="135" y="15"/>
                  </a:lnTo>
                  <a:lnTo>
                    <a:pt x="135" y="18"/>
                  </a:lnTo>
                  <a:lnTo>
                    <a:pt x="134" y="18"/>
                  </a:lnTo>
                  <a:lnTo>
                    <a:pt x="134" y="21"/>
                  </a:lnTo>
                  <a:lnTo>
                    <a:pt x="132" y="21"/>
                  </a:lnTo>
                  <a:lnTo>
                    <a:pt x="132" y="26"/>
                  </a:lnTo>
                  <a:lnTo>
                    <a:pt x="130" y="26"/>
                  </a:lnTo>
                  <a:lnTo>
                    <a:pt x="130" y="29"/>
                  </a:lnTo>
                  <a:lnTo>
                    <a:pt x="129" y="29"/>
                  </a:lnTo>
                  <a:lnTo>
                    <a:pt x="129" y="32"/>
                  </a:lnTo>
                  <a:lnTo>
                    <a:pt x="127" y="32"/>
                  </a:lnTo>
                  <a:lnTo>
                    <a:pt x="127" y="36"/>
                  </a:lnTo>
                  <a:lnTo>
                    <a:pt x="126" y="36"/>
                  </a:lnTo>
                  <a:lnTo>
                    <a:pt x="126" y="39"/>
                  </a:lnTo>
                  <a:lnTo>
                    <a:pt x="124" y="39"/>
                  </a:lnTo>
                  <a:lnTo>
                    <a:pt x="124" y="44"/>
                  </a:lnTo>
                  <a:lnTo>
                    <a:pt x="122" y="44"/>
                  </a:lnTo>
                  <a:lnTo>
                    <a:pt x="122" y="47"/>
                  </a:lnTo>
                  <a:lnTo>
                    <a:pt x="121" y="47"/>
                  </a:lnTo>
                  <a:lnTo>
                    <a:pt x="121" y="50"/>
                  </a:lnTo>
                  <a:lnTo>
                    <a:pt x="119" y="50"/>
                  </a:lnTo>
                  <a:lnTo>
                    <a:pt x="119" y="53"/>
                  </a:lnTo>
                  <a:lnTo>
                    <a:pt x="118" y="53"/>
                  </a:lnTo>
                  <a:lnTo>
                    <a:pt x="118" y="58"/>
                  </a:lnTo>
                  <a:lnTo>
                    <a:pt x="116" y="58"/>
                  </a:lnTo>
                  <a:lnTo>
                    <a:pt x="116" y="61"/>
                  </a:lnTo>
                  <a:lnTo>
                    <a:pt x="114" y="61"/>
                  </a:lnTo>
                  <a:lnTo>
                    <a:pt x="114" y="65"/>
                  </a:lnTo>
                  <a:lnTo>
                    <a:pt x="113" y="65"/>
                  </a:lnTo>
                  <a:lnTo>
                    <a:pt x="113" y="68"/>
                  </a:lnTo>
                  <a:lnTo>
                    <a:pt x="111" y="68"/>
                  </a:lnTo>
                  <a:lnTo>
                    <a:pt x="111" y="71"/>
                  </a:lnTo>
                  <a:lnTo>
                    <a:pt x="109" y="71"/>
                  </a:lnTo>
                  <a:lnTo>
                    <a:pt x="109" y="76"/>
                  </a:lnTo>
                  <a:lnTo>
                    <a:pt x="108" y="76"/>
                  </a:lnTo>
                  <a:lnTo>
                    <a:pt x="108" y="79"/>
                  </a:lnTo>
                  <a:lnTo>
                    <a:pt x="106" y="79"/>
                  </a:lnTo>
                  <a:lnTo>
                    <a:pt x="106" y="82"/>
                  </a:lnTo>
                  <a:lnTo>
                    <a:pt x="105" y="82"/>
                  </a:lnTo>
                  <a:lnTo>
                    <a:pt x="105" y="86"/>
                  </a:lnTo>
                  <a:lnTo>
                    <a:pt x="101" y="87"/>
                  </a:lnTo>
                  <a:lnTo>
                    <a:pt x="100" y="84"/>
                  </a:lnTo>
                  <a:lnTo>
                    <a:pt x="96" y="84"/>
                  </a:lnTo>
                  <a:lnTo>
                    <a:pt x="95" y="81"/>
                  </a:lnTo>
                  <a:lnTo>
                    <a:pt x="93" y="81"/>
                  </a:lnTo>
                  <a:lnTo>
                    <a:pt x="93" y="79"/>
                  </a:lnTo>
                  <a:lnTo>
                    <a:pt x="90" y="79"/>
                  </a:lnTo>
                  <a:lnTo>
                    <a:pt x="90" y="81"/>
                  </a:lnTo>
                  <a:lnTo>
                    <a:pt x="87" y="82"/>
                  </a:lnTo>
                  <a:lnTo>
                    <a:pt x="87" y="84"/>
                  </a:lnTo>
                  <a:lnTo>
                    <a:pt x="84" y="86"/>
                  </a:lnTo>
                  <a:lnTo>
                    <a:pt x="84" y="87"/>
                  </a:lnTo>
                  <a:lnTo>
                    <a:pt x="80" y="89"/>
                  </a:lnTo>
                  <a:lnTo>
                    <a:pt x="80" y="91"/>
                  </a:lnTo>
                  <a:lnTo>
                    <a:pt x="77" y="92"/>
                  </a:lnTo>
                  <a:lnTo>
                    <a:pt x="77" y="94"/>
                  </a:lnTo>
                  <a:lnTo>
                    <a:pt x="74" y="95"/>
                  </a:lnTo>
                  <a:lnTo>
                    <a:pt x="74" y="97"/>
                  </a:lnTo>
                  <a:lnTo>
                    <a:pt x="71" y="99"/>
                  </a:lnTo>
                  <a:lnTo>
                    <a:pt x="71" y="100"/>
                  </a:lnTo>
                  <a:lnTo>
                    <a:pt x="67" y="102"/>
                  </a:lnTo>
                  <a:lnTo>
                    <a:pt x="67" y="103"/>
                  </a:lnTo>
                  <a:lnTo>
                    <a:pt x="64" y="105"/>
                  </a:lnTo>
                  <a:lnTo>
                    <a:pt x="64" y="107"/>
                  </a:lnTo>
                  <a:lnTo>
                    <a:pt x="61" y="107"/>
                  </a:lnTo>
                  <a:lnTo>
                    <a:pt x="61" y="108"/>
                  </a:lnTo>
                  <a:lnTo>
                    <a:pt x="58" y="110"/>
                  </a:lnTo>
                  <a:lnTo>
                    <a:pt x="58" y="112"/>
                  </a:lnTo>
                  <a:lnTo>
                    <a:pt x="54" y="113"/>
                  </a:lnTo>
                  <a:lnTo>
                    <a:pt x="54" y="115"/>
                  </a:lnTo>
                  <a:lnTo>
                    <a:pt x="51" y="116"/>
                  </a:lnTo>
                  <a:lnTo>
                    <a:pt x="51" y="118"/>
                  </a:lnTo>
                  <a:lnTo>
                    <a:pt x="48" y="120"/>
                  </a:lnTo>
                  <a:lnTo>
                    <a:pt x="48" y="121"/>
                  </a:lnTo>
                  <a:lnTo>
                    <a:pt x="45" y="123"/>
                  </a:lnTo>
                  <a:lnTo>
                    <a:pt x="45" y="124"/>
                  </a:lnTo>
                  <a:lnTo>
                    <a:pt x="42" y="126"/>
                  </a:lnTo>
                  <a:lnTo>
                    <a:pt x="42" y="128"/>
                  </a:lnTo>
                  <a:lnTo>
                    <a:pt x="38" y="129"/>
                  </a:lnTo>
                  <a:lnTo>
                    <a:pt x="38" y="131"/>
                  </a:lnTo>
                  <a:lnTo>
                    <a:pt x="35" y="133"/>
                  </a:lnTo>
                  <a:lnTo>
                    <a:pt x="35" y="134"/>
                  </a:lnTo>
                  <a:lnTo>
                    <a:pt x="32" y="134"/>
                  </a:lnTo>
                  <a:lnTo>
                    <a:pt x="30" y="131"/>
                  </a:lnTo>
                  <a:lnTo>
                    <a:pt x="29" y="131"/>
                  </a:lnTo>
                  <a:lnTo>
                    <a:pt x="27" y="128"/>
                  </a:lnTo>
                  <a:lnTo>
                    <a:pt x="25" y="128"/>
                  </a:lnTo>
                  <a:lnTo>
                    <a:pt x="24" y="124"/>
                  </a:lnTo>
                  <a:lnTo>
                    <a:pt x="22" y="124"/>
                  </a:lnTo>
                  <a:lnTo>
                    <a:pt x="21" y="121"/>
                  </a:lnTo>
                  <a:lnTo>
                    <a:pt x="19" y="121"/>
                  </a:lnTo>
                  <a:lnTo>
                    <a:pt x="17" y="118"/>
                  </a:lnTo>
                  <a:lnTo>
                    <a:pt x="16" y="118"/>
                  </a:lnTo>
                  <a:lnTo>
                    <a:pt x="14" y="115"/>
                  </a:lnTo>
                  <a:lnTo>
                    <a:pt x="12" y="115"/>
                  </a:lnTo>
                  <a:lnTo>
                    <a:pt x="11" y="112"/>
                  </a:lnTo>
                  <a:lnTo>
                    <a:pt x="14" y="110"/>
                  </a:lnTo>
                  <a:lnTo>
                    <a:pt x="14" y="108"/>
                  </a:lnTo>
                  <a:lnTo>
                    <a:pt x="17" y="107"/>
                  </a:lnTo>
                  <a:lnTo>
                    <a:pt x="17" y="105"/>
                  </a:lnTo>
                  <a:lnTo>
                    <a:pt x="21" y="103"/>
                  </a:lnTo>
                  <a:lnTo>
                    <a:pt x="21" y="102"/>
                  </a:lnTo>
                  <a:lnTo>
                    <a:pt x="24" y="100"/>
                  </a:lnTo>
                  <a:lnTo>
                    <a:pt x="24" y="99"/>
                  </a:lnTo>
                  <a:lnTo>
                    <a:pt x="27" y="97"/>
                  </a:lnTo>
                  <a:lnTo>
                    <a:pt x="27" y="95"/>
                  </a:lnTo>
                  <a:lnTo>
                    <a:pt x="30" y="94"/>
                  </a:lnTo>
                  <a:lnTo>
                    <a:pt x="30" y="92"/>
                  </a:lnTo>
                  <a:lnTo>
                    <a:pt x="33" y="91"/>
                  </a:lnTo>
                  <a:lnTo>
                    <a:pt x="33" y="89"/>
                  </a:lnTo>
                  <a:lnTo>
                    <a:pt x="37" y="87"/>
                  </a:lnTo>
                  <a:lnTo>
                    <a:pt x="37" y="86"/>
                  </a:lnTo>
                  <a:lnTo>
                    <a:pt x="40" y="84"/>
                  </a:lnTo>
                  <a:lnTo>
                    <a:pt x="43" y="82"/>
                  </a:lnTo>
                  <a:lnTo>
                    <a:pt x="43" y="81"/>
                  </a:lnTo>
                  <a:lnTo>
                    <a:pt x="46" y="79"/>
                  </a:lnTo>
                  <a:lnTo>
                    <a:pt x="46" y="78"/>
                  </a:lnTo>
                  <a:lnTo>
                    <a:pt x="50" y="76"/>
                  </a:lnTo>
                  <a:lnTo>
                    <a:pt x="50" y="74"/>
                  </a:lnTo>
                  <a:lnTo>
                    <a:pt x="53" y="73"/>
                  </a:lnTo>
                  <a:lnTo>
                    <a:pt x="53" y="71"/>
                  </a:lnTo>
                  <a:lnTo>
                    <a:pt x="56" y="70"/>
                  </a:lnTo>
                  <a:lnTo>
                    <a:pt x="56" y="68"/>
                  </a:lnTo>
                  <a:lnTo>
                    <a:pt x="59" y="66"/>
                  </a:lnTo>
                  <a:lnTo>
                    <a:pt x="59" y="65"/>
                  </a:lnTo>
                  <a:lnTo>
                    <a:pt x="63" y="63"/>
                  </a:lnTo>
                  <a:lnTo>
                    <a:pt x="63" y="61"/>
                  </a:lnTo>
                  <a:lnTo>
                    <a:pt x="66" y="60"/>
                  </a:lnTo>
                  <a:lnTo>
                    <a:pt x="66" y="58"/>
                  </a:lnTo>
                  <a:lnTo>
                    <a:pt x="69" y="57"/>
                  </a:lnTo>
                  <a:lnTo>
                    <a:pt x="67" y="53"/>
                  </a:lnTo>
                  <a:lnTo>
                    <a:pt x="66" y="53"/>
                  </a:lnTo>
                  <a:lnTo>
                    <a:pt x="64" y="50"/>
                  </a:lnTo>
                  <a:lnTo>
                    <a:pt x="63" y="50"/>
                  </a:lnTo>
                  <a:lnTo>
                    <a:pt x="61" y="47"/>
                  </a:lnTo>
                  <a:lnTo>
                    <a:pt x="59" y="47"/>
                  </a:lnTo>
                  <a:lnTo>
                    <a:pt x="58" y="44"/>
                  </a:lnTo>
                  <a:lnTo>
                    <a:pt x="61" y="44"/>
                  </a:lnTo>
                  <a:lnTo>
                    <a:pt x="61" y="42"/>
                  </a:lnTo>
                  <a:lnTo>
                    <a:pt x="66" y="42"/>
                  </a:lnTo>
                  <a:lnTo>
                    <a:pt x="66" y="40"/>
                  </a:lnTo>
                  <a:lnTo>
                    <a:pt x="69" y="40"/>
                  </a:lnTo>
                  <a:lnTo>
                    <a:pt x="69" y="39"/>
                  </a:lnTo>
                  <a:lnTo>
                    <a:pt x="72" y="39"/>
                  </a:lnTo>
                  <a:lnTo>
                    <a:pt x="72" y="37"/>
                  </a:lnTo>
                  <a:lnTo>
                    <a:pt x="75" y="37"/>
                  </a:lnTo>
                  <a:lnTo>
                    <a:pt x="75" y="36"/>
                  </a:lnTo>
                  <a:lnTo>
                    <a:pt x="80" y="36"/>
                  </a:lnTo>
                  <a:lnTo>
                    <a:pt x="80" y="34"/>
                  </a:lnTo>
                  <a:lnTo>
                    <a:pt x="84" y="34"/>
                  </a:lnTo>
                  <a:lnTo>
                    <a:pt x="84" y="32"/>
                  </a:lnTo>
                  <a:lnTo>
                    <a:pt x="87" y="32"/>
                  </a:lnTo>
                  <a:lnTo>
                    <a:pt x="87" y="31"/>
                  </a:lnTo>
                  <a:lnTo>
                    <a:pt x="90" y="31"/>
                  </a:lnTo>
                  <a:lnTo>
                    <a:pt x="90" y="29"/>
                  </a:lnTo>
                  <a:lnTo>
                    <a:pt x="95" y="29"/>
                  </a:lnTo>
                  <a:lnTo>
                    <a:pt x="95" y="28"/>
                  </a:lnTo>
                  <a:lnTo>
                    <a:pt x="98" y="28"/>
                  </a:lnTo>
                  <a:lnTo>
                    <a:pt x="98" y="26"/>
                  </a:lnTo>
                  <a:lnTo>
                    <a:pt x="101" y="26"/>
                  </a:lnTo>
                  <a:lnTo>
                    <a:pt x="101" y="24"/>
                  </a:lnTo>
                  <a:lnTo>
                    <a:pt x="106" y="24"/>
                  </a:lnTo>
                  <a:lnTo>
                    <a:pt x="106" y="23"/>
                  </a:lnTo>
                  <a:lnTo>
                    <a:pt x="109" y="23"/>
                  </a:lnTo>
                  <a:lnTo>
                    <a:pt x="109" y="21"/>
                  </a:lnTo>
                  <a:lnTo>
                    <a:pt x="113" y="21"/>
                  </a:lnTo>
                  <a:lnTo>
                    <a:pt x="113" y="19"/>
                  </a:lnTo>
                  <a:lnTo>
                    <a:pt x="116" y="19"/>
                  </a:lnTo>
                  <a:lnTo>
                    <a:pt x="116" y="18"/>
                  </a:lnTo>
                  <a:lnTo>
                    <a:pt x="121" y="18"/>
                  </a:lnTo>
                  <a:lnTo>
                    <a:pt x="121" y="16"/>
                  </a:lnTo>
                  <a:lnTo>
                    <a:pt x="124" y="16"/>
                  </a:lnTo>
                  <a:lnTo>
                    <a:pt x="124" y="15"/>
                  </a:lnTo>
                  <a:lnTo>
                    <a:pt x="127" y="15"/>
                  </a:lnTo>
                  <a:lnTo>
                    <a:pt x="127" y="13"/>
                  </a:lnTo>
                  <a:lnTo>
                    <a:pt x="130" y="13"/>
                  </a:lnTo>
                  <a:lnTo>
                    <a:pt x="130" y="11"/>
                  </a:lnTo>
                  <a:lnTo>
                    <a:pt x="135" y="11"/>
                  </a:lnTo>
                  <a:lnTo>
                    <a:pt x="135" y="10"/>
                  </a:lnTo>
                  <a:lnTo>
                    <a:pt x="143" y="10"/>
                  </a:lnTo>
                  <a:lnTo>
                    <a:pt x="143" y="8"/>
                  </a:lnTo>
                  <a:lnTo>
                    <a:pt x="145" y="8"/>
                  </a:lnTo>
                  <a:lnTo>
                    <a:pt x="145" y="5"/>
                  </a:lnTo>
                  <a:lnTo>
                    <a:pt x="147" y="5"/>
                  </a:lnTo>
                  <a:lnTo>
                    <a:pt x="147" y="2"/>
                  </a:lnTo>
                  <a:lnTo>
                    <a:pt x="148" y="2"/>
                  </a:lnTo>
                  <a:lnTo>
                    <a:pt x="148" y="0"/>
                  </a:lnTo>
                  <a:lnTo>
                    <a:pt x="14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7991" name="Freeform 583"/>
            <p:cNvSpPr>
              <a:spLocks/>
            </p:cNvSpPr>
            <p:nvPr/>
          </p:nvSpPr>
          <p:spPr bwMode="auto">
            <a:xfrm>
              <a:off x="3425" y="2472"/>
              <a:ext cx="20" cy="13"/>
            </a:xfrm>
            <a:custGeom>
              <a:avLst/>
              <a:gdLst>
                <a:gd name="T0" fmla="*/ 0 w 20"/>
                <a:gd name="T1" fmla="*/ 0 h 13"/>
                <a:gd name="T2" fmla="*/ 2 w 20"/>
                <a:gd name="T3" fmla="*/ 3 h 13"/>
                <a:gd name="T4" fmla="*/ 4 w 20"/>
                <a:gd name="T5" fmla="*/ 3 h 13"/>
                <a:gd name="T6" fmla="*/ 5 w 20"/>
                <a:gd name="T7" fmla="*/ 6 h 13"/>
                <a:gd name="T8" fmla="*/ 7 w 20"/>
                <a:gd name="T9" fmla="*/ 6 h 13"/>
                <a:gd name="T10" fmla="*/ 8 w 20"/>
                <a:gd name="T11" fmla="*/ 10 h 13"/>
                <a:gd name="T12" fmla="*/ 10 w 20"/>
                <a:gd name="T13" fmla="*/ 10 h 13"/>
                <a:gd name="T14" fmla="*/ 12 w 20"/>
                <a:gd name="T15" fmla="*/ 13 h 13"/>
                <a:gd name="T16" fmla="*/ 15 w 20"/>
                <a:gd name="T17" fmla="*/ 11 h 13"/>
                <a:gd name="T18" fmla="*/ 15 w 20"/>
                <a:gd name="T19" fmla="*/ 8 h 13"/>
                <a:gd name="T20" fmla="*/ 17 w 20"/>
                <a:gd name="T21" fmla="*/ 8 h 13"/>
                <a:gd name="T22" fmla="*/ 17 w 20"/>
                <a:gd name="T23" fmla="*/ 5 h 13"/>
                <a:gd name="T24" fmla="*/ 18 w 20"/>
                <a:gd name="T25" fmla="*/ 5 h 13"/>
                <a:gd name="T26" fmla="*/ 18 w 20"/>
                <a:gd name="T27" fmla="*/ 2 h 13"/>
                <a:gd name="T28" fmla="*/ 20 w 20"/>
                <a:gd name="T29" fmla="*/ 2 h 13"/>
                <a:gd name="T30" fmla="*/ 20 w 20"/>
                <a:gd name="T31" fmla="*/ 0 h 13"/>
                <a:gd name="T32" fmla="*/ 0 w 20"/>
                <a:gd name="T33"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0" h="13">
                  <a:moveTo>
                    <a:pt x="0" y="0"/>
                  </a:moveTo>
                  <a:lnTo>
                    <a:pt x="2" y="3"/>
                  </a:lnTo>
                  <a:lnTo>
                    <a:pt x="4" y="3"/>
                  </a:lnTo>
                  <a:lnTo>
                    <a:pt x="5" y="6"/>
                  </a:lnTo>
                  <a:lnTo>
                    <a:pt x="7" y="6"/>
                  </a:lnTo>
                  <a:lnTo>
                    <a:pt x="8" y="10"/>
                  </a:lnTo>
                  <a:lnTo>
                    <a:pt x="10" y="10"/>
                  </a:lnTo>
                  <a:lnTo>
                    <a:pt x="12" y="13"/>
                  </a:lnTo>
                  <a:lnTo>
                    <a:pt x="15" y="11"/>
                  </a:lnTo>
                  <a:lnTo>
                    <a:pt x="15" y="8"/>
                  </a:lnTo>
                  <a:lnTo>
                    <a:pt x="17" y="8"/>
                  </a:lnTo>
                  <a:lnTo>
                    <a:pt x="17" y="5"/>
                  </a:lnTo>
                  <a:lnTo>
                    <a:pt x="18" y="5"/>
                  </a:lnTo>
                  <a:lnTo>
                    <a:pt x="18" y="2"/>
                  </a:lnTo>
                  <a:lnTo>
                    <a:pt x="20" y="2"/>
                  </a:lnTo>
                  <a:lnTo>
                    <a:pt x="2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7992" name="Freeform 584"/>
            <p:cNvSpPr>
              <a:spLocks/>
            </p:cNvSpPr>
            <p:nvPr/>
          </p:nvSpPr>
          <p:spPr bwMode="auto">
            <a:xfrm>
              <a:off x="3348" y="2391"/>
              <a:ext cx="128" cy="126"/>
            </a:xfrm>
            <a:custGeom>
              <a:avLst/>
              <a:gdLst>
                <a:gd name="T0" fmla="*/ 22 w 128"/>
                <a:gd name="T1" fmla="*/ 126 h 126"/>
                <a:gd name="T2" fmla="*/ 81 w 128"/>
                <a:gd name="T3" fmla="*/ 70 h 126"/>
                <a:gd name="T4" fmla="*/ 92 w 128"/>
                <a:gd name="T5" fmla="*/ 79 h 126"/>
                <a:gd name="T6" fmla="*/ 128 w 128"/>
                <a:gd name="T7" fmla="*/ 0 h 126"/>
                <a:gd name="T8" fmla="*/ 47 w 128"/>
                <a:gd name="T9" fmla="*/ 36 h 126"/>
                <a:gd name="T10" fmla="*/ 58 w 128"/>
                <a:gd name="T11" fmla="*/ 47 h 126"/>
                <a:gd name="T12" fmla="*/ 0 w 128"/>
                <a:gd name="T13" fmla="*/ 104 h 126"/>
                <a:gd name="T14" fmla="*/ 22 w 128"/>
                <a:gd name="T15" fmla="*/ 126 h 12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8" h="126">
                  <a:moveTo>
                    <a:pt x="22" y="126"/>
                  </a:moveTo>
                  <a:lnTo>
                    <a:pt x="81" y="70"/>
                  </a:lnTo>
                  <a:lnTo>
                    <a:pt x="92" y="79"/>
                  </a:lnTo>
                  <a:lnTo>
                    <a:pt x="128" y="0"/>
                  </a:lnTo>
                  <a:lnTo>
                    <a:pt x="47" y="36"/>
                  </a:lnTo>
                  <a:lnTo>
                    <a:pt x="58" y="47"/>
                  </a:lnTo>
                  <a:lnTo>
                    <a:pt x="0" y="104"/>
                  </a:lnTo>
                  <a:lnTo>
                    <a:pt x="22" y="126"/>
                  </a:lnTo>
                </a:path>
              </a:pathLst>
            </a:custGeom>
            <a:grpFill/>
            <a:ln w="0">
              <a:solidFill>
                <a:srgbClr val="000000"/>
              </a:solidFill>
              <a:prstDash val="solid"/>
              <a:round/>
              <a:headEnd/>
              <a:tailEnd/>
            </a:ln>
            <a:extLst/>
          </p:spPr>
          <p:txBody>
            <a:bodyPr/>
            <a:lstStyle/>
            <a:p>
              <a:pPr>
                <a:defRPr/>
              </a:pPr>
              <a:endParaRPr lang="en-US"/>
            </a:p>
          </p:txBody>
        </p:sp>
        <p:sp>
          <p:nvSpPr>
            <p:cNvPr id="17993" name="Freeform 585"/>
            <p:cNvSpPr>
              <a:spLocks/>
            </p:cNvSpPr>
            <p:nvPr/>
          </p:nvSpPr>
          <p:spPr bwMode="auto">
            <a:xfrm>
              <a:off x="3337" y="2381"/>
              <a:ext cx="148" cy="148"/>
            </a:xfrm>
            <a:custGeom>
              <a:avLst/>
              <a:gdLst>
                <a:gd name="T0" fmla="*/ 37 w 148"/>
                <a:gd name="T1" fmla="*/ 139 h 148"/>
                <a:gd name="T2" fmla="*/ 87 w 148"/>
                <a:gd name="T3" fmla="*/ 89 h 148"/>
                <a:gd name="T4" fmla="*/ 101 w 148"/>
                <a:gd name="T5" fmla="*/ 104 h 148"/>
                <a:gd name="T6" fmla="*/ 148 w 148"/>
                <a:gd name="T7" fmla="*/ 0 h 148"/>
                <a:gd name="T8" fmla="*/ 43 w 148"/>
                <a:gd name="T9" fmla="*/ 47 h 148"/>
                <a:gd name="T10" fmla="*/ 58 w 148"/>
                <a:gd name="T11" fmla="*/ 62 h 148"/>
                <a:gd name="T12" fmla="*/ 0 w 148"/>
                <a:gd name="T13" fmla="*/ 118 h 148"/>
                <a:gd name="T14" fmla="*/ 29 w 148"/>
                <a:gd name="T15" fmla="*/ 148 h 148"/>
                <a:gd name="T16" fmla="*/ 37 w 148"/>
                <a:gd name="T17" fmla="*/ 139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8" h="148">
                  <a:moveTo>
                    <a:pt x="37" y="139"/>
                  </a:moveTo>
                  <a:lnTo>
                    <a:pt x="87" y="89"/>
                  </a:lnTo>
                  <a:lnTo>
                    <a:pt x="101" y="104"/>
                  </a:lnTo>
                  <a:lnTo>
                    <a:pt x="148" y="0"/>
                  </a:lnTo>
                  <a:lnTo>
                    <a:pt x="43" y="47"/>
                  </a:lnTo>
                  <a:lnTo>
                    <a:pt x="58" y="62"/>
                  </a:lnTo>
                  <a:lnTo>
                    <a:pt x="0" y="118"/>
                  </a:lnTo>
                  <a:lnTo>
                    <a:pt x="29" y="148"/>
                  </a:lnTo>
                  <a:lnTo>
                    <a:pt x="37" y="139"/>
                  </a:lnTo>
                </a:path>
              </a:pathLst>
            </a:custGeom>
            <a:grpFill/>
            <a:ln w="0">
              <a:solidFill>
                <a:srgbClr val="000000"/>
              </a:solidFill>
              <a:prstDash val="solid"/>
              <a:round/>
              <a:headEnd/>
              <a:tailEnd/>
            </a:ln>
            <a:extLst/>
          </p:spPr>
          <p:txBody>
            <a:bodyPr/>
            <a:lstStyle/>
            <a:p>
              <a:pPr>
                <a:defRPr/>
              </a:pPr>
              <a:endParaRPr lang="en-US"/>
            </a:p>
          </p:txBody>
        </p:sp>
        <p:sp>
          <p:nvSpPr>
            <p:cNvPr id="17994" name="Rectangle 586"/>
            <p:cNvSpPr>
              <a:spLocks noChangeArrowheads="1"/>
            </p:cNvSpPr>
            <p:nvPr/>
          </p:nvSpPr>
          <p:spPr bwMode="auto">
            <a:xfrm>
              <a:off x="2496" y="898"/>
              <a:ext cx="2" cy="2"/>
            </a:xfrm>
            <a:prstGeom prst="rect">
              <a:avLst/>
            </a:prstGeom>
            <a:grpFill/>
            <a:ln w="0">
              <a:solidFill>
                <a:srgbClr val="000000"/>
              </a:solidFill>
              <a:miter lim="800000"/>
              <a:headEnd/>
              <a:tailEnd/>
            </a:ln>
          </p:spPr>
          <p:txBody>
            <a:bodyPr/>
            <a:lstStyle/>
            <a:p>
              <a:pPr>
                <a:defRPr/>
              </a:pPr>
              <a:endParaRPr lang="en-US"/>
            </a:p>
          </p:txBody>
        </p:sp>
        <p:sp>
          <p:nvSpPr>
            <p:cNvPr id="17995" name="Rectangle 587"/>
            <p:cNvSpPr>
              <a:spLocks noChangeArrowheads="1"/>
            </p:cNvSpPr>
            <p:nvPr/>
          </p:nvSpPr>
          <p:spPr bwMode="auto">
            <a:xfrm>
              <a:off x="2672" y="871"/>
              <a:ext cx="20" cy="11"/>
            </a:xfrm>
            <a:prstGeom prst="rect">
              <a:avLst/>
            </a:prstGeom>
            <a:grpFill/>
            <a:ln w="0">
              <a:solidFill>
                <a:srgbClr val="000000"/>
              </a:solidFill>
              <a:miter lim="800000"/>
              <a:headEnd/>
              <a:tailEnd/>
            </a:ln>
          </p:spPr>
          <p:txBody>
            <a:bodyPr/>
            <a:lstStyle/>
            <a:p>
              <a:pPr>
                <a:defRPr/>
              </a:pPr>
              <a:endParaRPr lang="en-US"/>
            </a:p>
          </p:txBody>
        </p:sp>
        <p:sp>
          <p:nvSpPr>
            <p:cNvPr id="17996" name="Rectangle 588"/>
            <p:cNvSpPr>
              <a:spLocks noChangeArrowheads="1"/>
            </p:cNvSpPr>
            <p:nvPr/>
          </p:nvSpPr>
          <p:spPr bwMode="auto">
            <a:xfrm>
              <a:off x="2661" y="874"/>
              <a:ext cx="40" cy="19"/>
            </a:xfrm>
            <a:prstGeom prst="rect">
              <a:avLst/>
            </a:prstGeom>
            <a:grpFill/>
            <a:ln w="0">
              <a:solidFill>
                <a:srgbClr val="000000"/>
              </a:solidFill>
              <a:miter lim="800000"/>
              <a:headEnd/>
              <a:tailEnd/>
            </a:ln>
          </p:spPr>
          <p:txBody>
            <a:bodyPr/>
            <a:lstStyle/>
            <a:p>
              <a:pPr>
                <a:defRPr/>
              </a:pPr>
              <a:endParaRPr lang="en-US"/>
            </a:p>
          </p:txBody>
        </p:sp>
        <p:sp>
          <p:nvSpPr>
            <p:cNvPr id="17997" name="Rectangle 589"/>
            <p:cNvSpPr>
              <a:spLocks noChangeArrowheads="1"/>
            </p:cNvSpPr>
            <p:nvPr/>
          </p:nvSpPr>
          <p:spPr bwMode="auto">
            <a:xfrm>
              <a:off x="2643" y="885"/>
              <a:ext cx="76" cy="49"/>
            </a:xfrm>
            <a:prstGeom prst="rect">
              <a:avLst/>
            </a:prstGeom>
            <a:grpFill/>
            <a:ln w="0">
              <a:solidFill>
                <a:srgbClr val="000000"/>
              </a:solidFill>
              <a:miter lim="800000"/>
              <a:headEnd/>
              <a:tailEnd/>
            </a:ln>
          </p:spPr>
          <p:txBody>
            <a:bodyPr/>
            <a:lstStyle/>
            <a:p>
              <a:pPr>
                <a:defRPr/>
              </a:pPr>
              <a:endParaRPr lang="en-US"/>
            </a:p>
          </p:txBody>
        </p:sp>
        <p:sp>
          <p:nvSpPr>
            <p:cNvPr id="17998" name="Rectangle 590"/>
            <p:cNvSpPr>
              <a:spLocks noChangeArrowheads="1"/>
            </p:cNvSpPr>
            <p:nvPr/>
          </p:nvSpPr>
          <p:spPr bwMode="auto">
            <a:xfrm>
              <a:off x="2158" y="903"/>
              <a:ext cx="479" cy="11"/>
            </a:xfrm>
            <a:prstGeom prst="rect">
              <a:avLst/>
            </a:prstGeom>
            <a:grpFill/>
            <a:ln w="0">
              <a:solidFill>
                <a:srgbClr val="000000"/>
              </a:solidFill>
              <a:miter lim="800000"/>
              <a:headEnd/>
              <a:tailEnd/>
            </a:ln>
          </p:spPr>
          <p:txBody>
            <a:bodyPr/>
            <a:lstStyle/>
            <a:p>
              <a:pPr>
                <a:defRPr/>
              </a:pPr>
              <a:endParaRPr lang="en-US"/>
            </a:p>
          </p:txBody>
        </p:sp>
        <p:sp>
          <p:nvSpPr>
            <p:cNvPr id="17999" name="Rectangle 591"/>
            <p:cNvSpPr>
              <a:spLocks noChangeArrowheads="1"/>
            </p:cNvSpPr>
            <p:nvPr/>
          </p:nvSpPr>
          <p:spPr bwMode="auto">
            <a:xfrm>
              <a:off x="2641" y="946"/>
              <a:ext cx="75" cy="157"/>
            </a:xfrm>
            <a:prstGeom prst="rect">
              <a:avLst/>
            </a:prstGeom>
            <a:grpFill/>
            <a:ln w="0">
              <a:solidFill>
                <a:srgbClr val="000000"/>
              </a:solidFill>
              <a:miter lim="800000"/>
              <a:headEnd/>
              <a:tailEnd/>
            </a:ln>
          </p:spPr>
          <p:txBody>
            <a:bodyPr/>
            <a:lstStyle/>
            <a:p>
              <a:pPr>
                <a:defRPr/>
              </a:pPr>
              <a:endParaRPr lang="en-US"/>
            </a:p>
          </p:txBody>
        </p:sp>
        <p:sp>
          <p:nvSpPr>
            <p:cNvPr id="18000" name="Rectangle 592"/>
            <p:cNvSpPr>
              <a:spLocks noChangeArrowheads="1"/>
            </p:cNvSpPr>
            <p:nvPr/>
          </p:nvSpPr>
          <p:spPr bwMode="auto">
            <a:xfrm>
              <a:off x="2628" y="940"/>
              <a:ext cx="107" cy="11"/>
            </a:xfrm>
            <a:prstGeom prst="rect">
              <a:avLst/>
            </a:prstGeom>
            <a:grpFill/>
            <a:ln w="0">
              <a:solidFill>
                <a:srgbClr val="000000"/>
              </a:solidFill>
              <a:miter lim="800000"/>
              <a:headEnd/>
              <a:tailEnd/>
            </a:ln>
          </p:spPr>
          <p:txBody>
            <a:bodyPr/>
            <a:lstStyle/>
            <a:p>
              <a:pPr>
                <a:defRPr/>
              </a:pPr>
              <a:endParaRPr lang="en-US"/>
            </a:p>
          </p:txBody>
        </p:sp>
        <p:sp>
          <p:nvSpPr>
            <p:cNvPr id="18001" name="Rectangle 593"/>
            <p:cNvSpPr>
              <a:spLocks noChangeArrowheads="1"/>
            </p:cNvSpPr>
            <p:nvPr/>
          </p:nvSpPr>
          <p:spPr bwMode="auto">
            <a:xfrm>
              <a:off x="2628" y="927"/>
              <a:ext cx="107" cy="13"/>
            </a:xfrm>
            <a:prstGeom prst="rect">
              <a:avLst/>
            </a:prstGeom>
            <a:grpFill/>
            <a:ln w="0">
              <a:solidFill>
                <a:srgbClr val="000000"/>
              </a:solidFill>
              <a:miter lim="800000"/>
              <a:headEnd/>
              <a:tailEnd/>
            </a:ln>
          </p:spPr>
          <p:txBody>
            <a:bodyPr/>
            <a:lstStyle/>
            <a:p>
              <a:pPr>
                <a:defRPr/>
              </a:pPr>
              <a:endParaRPr lang="en-US"/>
            </a:p>
          </p:txBody>
        </p:sp>
        <p:sp>
          <p:nvSpPr>
            <p:cNvPr id="18002" name="Rectangle 594"/>
            <p:cNvSpPr>
              <a:spLocks noChangeArrowheads="1"/>
            </p:cNvSpPr>
            <p:nvPr/>
          </p:nvSpPr>
          <p:spPr bwMode="auto">
            <a:xfrm>
              <a:off x="2635" y="901"/>
              <a:ext cx="10" cy="16"/>
            </a:xfrm>
            <a:prstGeom prst="rect">
              <a:avLst/>
            </a:prstGeom>
            <a:grpFill/>
            <a:ln w="0">
              <a:solidFill>
                <a:srgbClr val="000000"/>
              </a:solidFill>
              <a:miter lim="800000"/>
              <a:headEnd/>
              <a:tailEnd/>
            </a:ln>
          </p:spPr>
          <p:txBody>
            <a:bodyPr/>
            <a:lstStyle/>
            <a:p>
              <a:pPr>
                <a:defRPr/>
              </a:pPr>
              <a:endParaRPr lang="en-US"/>
            </a:p>
          </p:txBody>
        </p:sp>
        <p:sp>
          <p:nvSpPr>
            <p:cNvPr id="18003" name="Rectangle 595"/>
            <p:cNvSpPr>
              <a:spLocks noChangeArrowheads="1"/>
            </p:cNvSpPr>
            <p:nvPr/>
          </p:nvSpPr>
          <p:spPr bwMode="auto">
            <a:xfrm>
              <a:off x="1445" y="856"/>
              <a:ext cx="348" cy="10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th-TH" altLang="en-US" sz="1100" b="1">
                  <a:latin typeface="Century Schoolbook" panose="02040604050505020304" pitchFamily="18" charset="0"/>
                </a:rPr>
                <a:t>WL and</a:t>
              </a:r>
              <a:endParaRPr lang="th-TH" altLang="en-US" sz="1600">
                <a:latin typeface="Century Schoolbook" panose="02040604050505020304" pitchFamily="18" charset="0"/>
              </a:endParaRPr>
            </a:p>
          </p:txBody>
        </p:sp>
        <p:sp>
          <p:nvSpPr>
            <p:cNvPr id="18004" name="Rectangle 596"/>
            <p:cNvSpPr>
              <a:spLocks noChangeArrowheads="1"/>
            </p:cNvSpPr>
            <p:nvPr/>
          </p:nvSpPr>
          <p:spPr bwMode="auto">
            <a:xfrm>
              <a:off x="1445" y="980"/>
              <a:ext cx="388" cy="10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th-TH" altLang="en-US" sz="1100" b="1">
                  <a:latin typeface="Century Schoolbook" panose="02040604050505020304" pitchFamily="18" charset="0"/>
                </a:rPr>
                <a:t>Chips In</a:t>
              </a:r>
              <a:endParaRPr lang="th-TH" altLang="en-US" sz="1600">
                <a:latin typeface="Century Schoolbook" panose="02040604050505020304" pitchFamily="18" charset="0"/>
              </a:endParaRPr>
            </a:p>
          </p:txBody>
        </p:sp>
        <p:sp>
          <p:nvSpPr>
            <p:cNvPr id="18005" name="Freeform 597"/>
            <p:cNvSpPr>
              <a:spLocks/>
            </p:cNvSpPr>
            <p:nvPr/>
          </p:nvSpPr>
          <p:spPr bwMode="auto">
            <a:xfrm>
              <a:off x="1846" y="879"/>
              <a:ext cx="189" cy="79"/>
            </a:xfrm>
            <a:custGeom>
              <a:avLst/>
              <a:gdLst>
                <a:gd name="T0" fmla="*/ 97 w 189"/>
                <a:gd name="T1" fmla="*/ 8 h 79"/>
                <a:gd name="T2" fmla="*/ 100 w 189"/>
                <a:gd name="T3" fmla="*/ 11 h 79"/>
                <a:gd name="T4" fmla="*/ 110 w 189"/>
                <a:gd name="T5" fmla="*/ 13 h 79"/>
                <a:gd name="T6" fmla="*/ 113 w 189"/>
                <a:gd name="T7" fmla="*/ 16 h 79"/>
                <a:gd name="T8" fmla="*/ 121 w 189"/>
                <a:gd name="T9" fmla="*/ 17 h 79"/>
                <a:gd name="T10" fmla="*/ 126 w 189"/>
                <a:gd name="T11" fmla="*/ 21 h 79"/>
                <a:gd name="T12" fmla="*/ 134 w 189"/>
                <a:gd name="T13" fmla="*/ 22 h 79"/>
                <a:gd name="T14" fmla="*/ 139 w 189"/>
                <a:gd name="T15" fmla="*/ 25 h 79"/>
                <a:gd name="T16" fmla="*/ 147 w 189"/>
                <a:gd name="T17" fmla="*/ 27 h 79"/>
                <a:gd name="T18" fmla="*/ 152 w 189"/>
                <a:gd name="T19" fmla="*/ 30 h 79"/>
                <a:gd name="T20" fmla="*/ 160 w 189"/>
                <a:gd name="T21" fmla="*/ 32 h 79"/>
                <a:gd name="T22" fmla="*/ 165 w 189"/>
                <a:gd name="T23" fmla="*/ 35 h 79"/>
                <a:gd name="T24" fmla="*/ 173 w 189"/>
                <a:gd name="T25" fmla="*/ 37 h 79"/>
                <a:gd name="T26" fmla="*/ 170 w 189"/>
                <a:gd name="T27" fmla="*/ 40 h 79"/>
                <a:gd name="T28" fmla="*/ 162 w 189"/>
                <a:gd name="T29" fmla="*/ 42 h 79"/>
                <a:gd name="T30" fmla="*/ 157 w 189"/>
                <a:gd name="T31" fmla="*/ 45 h 79"/>
                <a:gd name="T32" fmla="*/ 150 w 189"/>
                <a:gd name="T33" fmla="*/ 46 h 79"/>
                <a:gd name="T34" fmla="*/ 146 w 189"/>
                <a:gd name="T35" fmla="*/ 50 h 79"/>
                <a:gd name="T36" fmla="*/ 139 w 189"/>
                <a:gd name="T37" fmla="*/ 51 h 79"/>
                <a:gd name="T38" fmla="*/ 134 w 189"/>
                <a:gd name="T39" fmla="*/ 55 h 79"/>
                <a:gd name="T40" fmla="*/ 126 w 189"/>
                <a:gd name="T41" fmla="*/ 56 h 79"/>
                <a:gd name="T42" fmla="*/ 123 w 189"/>
                <a:gd name="T43" fmla="*/ 59 h 79"/>
                <a:gd name="T44" fmla="*/ 115 w 189"/>
                <a:gd name="T45" fmla="*/ 61 h 79"/>
                <a:gd name="T46" fmla="*/ 112 w 189"/>
                <a:gd name="T47" fmla="*/ 64 h 79"/>
                <a:gd name="T48" fmla="*/ 104 w 189"/>
                <a:gd name="T49" fmla="*/ 66 h 79"/>
                <a:gd name="T50" fmla="*/ 100 w 189"/>
                <a:gd name="T51" fmla="*/ 69 h 79"/>
                <a:gd name="T52" fmla="*/ 92 w 189"/>
                <a:gd name="T53" fmla="*/ 71 h 79"/>
                <a:gd name="T54" fmla="*/ 10 w 189"/>
                <a:gd name="T55" fmla="*/ 24 h 79"/>
                <a:gd name="T56" fmla="*/ 81 w 189"/>
                <a:gd name="T57" fmla="*/ 8 h 79"/>
                <a:gd name="T58" fmla="*/ 0 w 189"/>
                <a:gd name="T59" fmla="*/ 59 h 79"/>
                <a:gd name="T60" fmla="*/ 86 w 189"/>
                <a:gd name="T61" fmla="*/ 79 h 79"/>
                <a:gd name="T62" fmla="*/ 89 w 189"/>
                <a:gd name="T63" fmla="*/ 76 h 79"/>
                <a:gd name="T64" fmla="*/ 97 w 189"/>
                <a:gd name="T65" fmla="*/ 74 h 79"/>
                <a:gd name="T66" fmla="*/ 102 w 189"/>
                <a:gd name="T67" fmla="*/ 71 h 79"/>
                <a:gd name="T68" fmla="*/ 110 w 189"/>
                <a:gd name="T69" fmla="*/ 69 h 79"/>
                <a:gd name="T70" fmla="*/ 115 w 189"/>
                <a:gd name="T71" fmla="*/ 66 h 79"/>
                <a:gd name="T72" fmla="*/ 123 w 189"/>
                <a:gd name="T73" fmla="*/ 64 h 79"/>
                <a:gd name="T74" fmla="*/ 126 w 189"/>
                <a:gd name="T75" fmla="*/ 61 h 79"/>
                <a:gd name="T76" fmla="*/ 134 w 189"/>
                <a:gd name="T77" fmla="*/ 59 h 79"/>
                <a:gd name="T78" fmla="*/ 139 w 189"/>
                <a:gd name="T79" fmla="*/ 56 h 79"/>
                <a:gd name="T80" fmla="*/ 147 w 189"/>
                <a:gd name="T81" fmla="*/ 55 h 79"/>
                <a:gd name="T82" fmla="*/ 152 w 189"/>
                <a:gd name="T83" fmla="*/ 51 h 79"/>
                <a:gd name="T84" fmla="*/ 160 w 189"/>
                <a:gd name="T85" fmla="*/ 50 h 79"/>
                <a:gd name="T86" fmla="*/ 165 w 189"/>
                <a:gd name="T87" fmla="*/ 46 h 79"/>
                <a:gd name="T88" fmla="*/ 173 w 189"/>
                <a:gd name="T89" fmla="*/ 45 h 79"/>
                <a:gd name="T90" fmla="*/ 176 w 189"/>
                <a:gd name="T91" fmla="*/ 42 h 79"/>
                <a:gd name="T92" fmla="*/ 184 w 189"/>
                <a:gd name="T93" fmla="*/ 40 h 79"/>
                <a:gd name="T94" fmla="*/ 189 w 189"/>
                <a:gd name="T95" fmla="*/ 37 h 79"/>
                <a:gd name="T96" fmla="*/ 179 w 189"/>
                <a:gd name="T97" fmla="*/ 35 h 79"/>
                <a:gd name="T98" fmla="*/ 176 w 189"/>
                <a:gd name="T99" fmla="*/ 32 h 79"/>
                <a:gd name="T100" fmla="*/ 167 w 189"/>
                <a:gd name="T101" fmla="*/ 30 h 79"/>
                <a:gd name="T102" fmla="*/ 162 w 189"/>
                <a:gd name="T103" fmla="*/ 27 h 79"/>
                <a:gd name="T104" fmla="*/ 154 w 189"/>
                <a:gd name="T105" fmla="*/ 25 h 79"/>
                <a:gd name="T106" fmla="*/ 149 w 189"/>
                <a:gd name="T107" fmla="*/ 22 h 79"/>
                <a:gd name="T108" fmla="*/ 139 w 189"/>
                <a:gd name="T109" fmla="*/ 21 h 79"/>
                <a:gd name="T110" fmla="*/ 134 w 189"/>
                <a:gd name="T111" fmla="*/ 17 h 79"/>
                <a:gd name="T112" fmla="*/ 126 w 189"/>
                <a:gd name="T113" fmla="*/ 16 h 79"/>
                <a:gd name="T114" fmla="*/ 121 w 189"/>
                <a:gd name="T115" fmla="*/ 13 h 79"/>
                <a:gd name="T116" fmla="*/ 113 w 189"/>
                <a:gd name="T117" fmla="*/ 11 h 79"/>
                <a:gd name="T118" fmla="*/ 108 w 189"/>
                <a:gd name="T119" fmla="*/ 8 h 79"/>
                <a:gd name="T120" fmla="*/ 99 w 189"/>
                <a:gd name="T121" fmla="*/ 6 h 79"/>
                <a:gd name="T122" fmla="*/ 94 w 189"/>
                <a:gd name="T123" fmla="*/ 3 h 79"/>
                <a:gd name="T124" fmla="*/ 86 w 189"/>
                <a:gd name="T125" fmla="*/ 1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89" h="79">
                  <a:moveTo>
                    <a:pt x="81" y="0"/>
                  </a:moveTo>
                  <a:lnTo>
                    <a:pt x="81" y="8"/>
                  </a:lnTo>
                  <a:lnTo>
                    <a:pt x="97" y="8"/>
                  </a:lnTo>
                  <a:lnTo>
                    <a:pt x="97" y="9"/>
                  </a:lnTo>
                  <a:lnTo>
                    <a:pt x="100" y="9"/>
                  </a:lnTo>
                  <a:lnTo>
                    <a:pt x="100" y="11"/>
                  </a:lnTo>
                  <a:lnTo>
                    <a:pt x="105" y="11"/>
                  </a:lnTo>
                  <a:lnTo>
                    <a:pt x="105" y="13"/>
                  </a:lnTo>
                  <a:lnTo>
                    <a:pt x="110" y="13"/>
                  </a:lnTo>
                  <a:lnTo>
                    <a:pt x="110" y="14"/>
                  </a:lnTo>
                  <a:lnTo>
                    <a:pt x="113" y="14"/>
                  </a:lnTo>
                  <a:lnTo>
                    <a:pt x="113" y="16"/>
                  </a:lnTo>
                  <a:lnTo>
                    <a:pt x="118" y="16"/>
                  </a:lnTo>
                  <a:lnTo>
                    <a:pt x="118" y="17"/>
                  </a:lnTo>
                  <a:lnTo>
                    <a:pt x="121" y="17"/>
                  </a:lnTo>
                  <a:lnTo>
                    <a:pt x="121" y="19"/>
                  </a:lnTo>
                  <a:lnTo>
                    <a:pt x="126" y="19"/>
                  </a:lnTo>
                  <a:lnTo>
                    <a:pt x="126" y="21"/>
                  </a:lnTo>
                  <a:lnTo>
                    <a:pt x="131" y="21"/>
                  </a:lnTo>
                  <a:lnTo>
                    <a:pt x="131" y="22"/>
                  </a:lnTo>
                  <a:lnTo>
                    <a:pt x="134" y="22"/>
                  </a:lnTo>
                  <a:lnTo>
                    <a:pt x="134" y="24"/>
                  </a:lnTo>
                  <a:lnTo>
                    <a:pt x="139" y="24"/>
                  </a:lnTo>
                  <a:lnTo>
                    <a:pt x="139" y="25"/>
                  </a:lnTo>
                  <a:lnTo>
                    <a:pt x="144" y="25"/>
                  </a:lnTo>
                  <a:lnTo>
                    <a:pt x="144" y="27"/>
                  </a:lnTo>
                  <a:lnTo>
                    <a:pt x="147" y="27"/>
                  </a:lnTo>
                  <a:lnTo>
                    <a:pt x="147" y="29"/>
                  </a:lnTo>
                  <a:lnTo>
                    <a:pt x="152" y="29"/>
                  </a:lnTo>
                  <a:lnTo>
                    <a:pt x="152" y="30"/>
                  </a:lnTo>
                  <a:lnTo>
                    <a:pt x="155" y="30"/>
                  </a:lnTo>
                  <a:lnTo>
                    <a:pt x="155" y="32"/>
                  </a:lnTo>
                  <a:lnTo>
                    <a:pt x="160" y="32"/>
                  </a:lnTo>
                  <a:lnTo>
                    <a:pt x="160" y="34"/>
                  </a:lnTo>
                  <a:lnTo>
                    <a:pt x="165" y="34"/>
                  </a:lnTo>
                  <a:lnTo>
                    <a:pt x="165" y="35"/>
                  </a:lnTo>
                  <a:lnTo>
                    <a:pt x="168" y="35"/>
                  </a:lnTo>
                  <a:lnTo>
                    <a:pt x="168" y="37"/>
                  </a:lnTo>
                  <a:lnTo>
                    <a:pt x="173" y="37"/>
                  </a:lnTo>
                  <a:lnTo>
                    <a:pt x="173" y="38"/>
                  </a:lnTo>
                  <a:lnTo>
                    <a:pt x="170" y="38"/>
                  </a:lnTo>
                  <a:lnTo>
                    <a:pt x="170" y="40"/>
                  </a:lnTo>
                  <a:lnTo>
                    <a:pt x="165" y="40"/>
                  </a:lnTo>
                  <a:lnTo>
                    <a:pt x="165" y="42"/>
                  </a:lnTo>
                  <a:lnTo>
                    <a:pt x="162" y="42"/>
                  </a:lnTo>
                  <a:lnTo>
                    <a:pt x="162" y="43"/>
                  </a:lnTo>
                  <a:lnTo>
                    <a:pt x="157" y="43"/>
                  </a:lnTo>
                  <a:lnTo>
                    <a:pt x="157" y="45"/>
                  </a:lnTo>
                  <a:lnTo>
                    <a:pt x="154" y="45"/>
                  </a:lnTo>
                  <a:lnTo>
                    <a:pt x="154" y="46"/>
                  </a:lnTo>
                  <a:lnTo>
                    <a:pt x="150" y="46"/>
                  </a:lnTo>
                  <a:lnTo>
                    <a:pt x="150" y="48"/>
                  </a:lnTo>
                  <a:lnTo>
                    <a:pt x="146" y="48"/>
                  </a:lnTo>
                  <a:lnTo>
                    <a:pt x="146" y="50"/>
                  </a:lnTo>
                  <a:lnTo>
                    <a:pt x="142" y="50"/>
                  </a:lnTo>
                  <a:lnTo>
                    <a:pt x="142" y="51"/>
                  </a:lnTo>
                  <a:lnTo>
                    <a:pt x="139" y="51"/>
                  </a:lnTo>
                  <a:lnTo>
                    <a:pt x="139" y="53"/>
                  </a:lnTo>
                  <a:lnTo>
                    <a:pt x="134" y="53"/>
                  </a:lnTo>
                  <a:lnTo>
                    <a:pt x="134" y="55"/>
                  </a:lnTo>
                  <a:lnTo>
                    <a:pt x="131" y="55"/>
                  </a:lnTo>
                  <a:lnTo>
                    <a:pt x="131" y="56"/>
                  </a:lnTo>
                  <a:lnTo>
                    <a:pt x="126" y="56"/>
                  </a:lnTo>
                  <a:lnTo>
                    <a:pt x="126" y="58"/>
                  </a:lnTo>
                  <a:lnTo>
                    <a:pt x="123" y="58"/>
                  </a:lnTo>
                  <a:lnTo>
                    <a:pt x="123" y="59"/>
                  </a:lnTo>
                  <a:lnTo>
                    <a:pt x="120" y="59"/>
                  </a:lnTo>
                  <a:lnTo>
                    <a:pt x="120" y="61"/>
                  </a:lnTo>
                  <a:lnTo>
                    <a:pt x="115" y="61"/>
                  </a:lnTo>
                  <a:lnTo>
                    <a:pt x="115" y="63"/>
                  </a:lnTo>
                  <a:lnTo>
                    <a:pt x="112" y="63"/>
                  </a:lnTo>
                  <a:lnTo>
                    <a:pt x="112" y="64"/>
                  </a:lnTo>
                  <a:lnTo>
                    <a:pt x="108" y="64"/>
                  </a:lnTo>
                  <a:lnTo>
                    <a:pt x="108" y="66"/>
                  </a:lnTo>
                  <a:lnTo>
                    <a:pt x="104" y="66"/>
                  </a:lnTo>
                  <a:lnTo>
                    <a:pt x="104" y="67"/>
                  </a:lnTo>
                  <a:lnTo>
                    <a:pt x="100" y="67"/>
                  </a:lnTo>
                  <a:lnTo>
                    <a:pt x="100" y="69"/>
                  </a:lnTo>
                  <a:lnTo>
                    <a:pt x="95" y="69"/>
                  </a:lnTo>
                  <a:lnTo>
                    <a:pt x="95" y="71"/>
                  </a:lnTo>
                  <a:lnTo>
                    <a:pt x="92" y="71"/>
                  </a:lnTo>
                  <a:lnTo>
                    <a:pt x="92" y="55"/>
                  </a:lnTo>
                  <a:lnTo>
                    <a:pt x="10" y="55"/>
                  </a:lnTo>
                  <a:lnTo>
                    <a:pt x="10" y="24"/>
                  </a:lnTo>
                  <a:lnTo>
                    <a:pt x="92" y="24"/>
                  </a:lnTo>
                  <a:lnTo>
                    <a:pt x="92" y="8"/>
                  </a:lnTo>
                  <a:lnTo>
                    <a:pt x="81" y="8"/>
                  </a:lnTo>
                  <a:lnTo>
                    <a:pt x="81" y="19"/>
                  </a:lnTo>
                  <a:lnTo>
                    <a:pt x="0" y="19"/>
                  </a:lnTo>
                  <a:lnTo>
                    <a:pt x="0" y="59"/>
                  </a:lnTo>
                  <a:lnTo>
                    <a:pt x="81" y="59"/>
                  </a:lnTo>
                  <a:lnTo>
                    <a:pt x="81" y="79"/>
                  </a:lnTo>
                  <a:lnTo>
                    <a:pt x="86" y="79"/>
                  </a:lnTo>
                  <a:lnTo>
                    <a:pt x="86" y="77"/>
                  </a:lnTo>
                  <a:lnTo>
                    <a:pt x="89" y="77"/>
                  </a:lnTo>
                  <a:lnTo>
                    <a:pt x="89" y="76"/>
                  </a:lnTo>
                  <a:lnTo>
                    <a:pt x="94" y="76"/>
                  </a:lnTo>
                  <a:lnTo>
                    <a:pt x="94" y="74"/>
                  </a:lnTo>
                  <a:lnTo>
                    <a:pt x="97" y="74"/>
                  </a:lnTo>
                  <a:lnTo>
                    <a:pt x="97" y="72"/>
                  </a:lnTo>
                  <a:lnTo>
                    <a:pt x="102" y="72"/>
                  </a:lnTo>
                  <a:lnTo>
                    <a:pt x="102" y="71"/>
                  </a:lnTo>
                  <a:lnTo>
                    <a:pt x="105" y="71"/>
                  </a:lnTo>
                  <a:lnTo>
                    <a:pt x="105" y="69"/>
                  </a:lnTo>
                  <a:lnTo>
                    <a:pt x="110" y="69"/>
                  </a:lnTo>
                  <a:lnTo>
                    <a:pt x="110" y="67"/>
                  </a:lnTo>
                  <a:lnTo>
                    <a:pt x="115" y="67"/>
                  </a:lnTo>
                  <a:lnTo>
                    <a:pt x="115" y="66"/>
                  </a:lnTo>
                  <a:lnTo>
                    <a:pt x="118" y="66"/>
                  </a:lnTo>
                  <a:lnTo>
                    <a:pt x="118" y="64"/>
                  </a:lnTo>
                  <a:lnTo>
                    <a:pt x="123" y="64"/>
                  </a:lnTo>
                  <a:lnTo>
                    <a:pt x="123" y="63"/>
                  </a:lnTo>
                  <a:lnTo>
                    <a:pt x="126" y="63"/>
                  </a:lnTo>
                  <a:lnTo>
                    <a:pt x="126" y="61"/>
                  </a:lnTo>
                  <a:lnTo>
                    <a:pt x="131" y="61"/>
                  </a:lnTo>
                  <a:lnTo>
                    <a:pt x="131" y="59"/>
                  </a:lnTo>
                  <a:lnTo>
                    <a:pt x="134" y="59"/>
                  </a:lnTo>
                  <a:lnTo>
                    <a:pt x="134" y="58"/>
                  </a:lnTo>
                  <a:lnTo>
                    <a:pt x="139" y="58"/>
                  </a:lnTo>
                  <a:lnTo>
                    <a:pt x="139" y="56"/>
                  </a:lnTo>
                  <a:lnTo>
                    <a:pt x="144" y="56"/>
                  </a:lnTo>
                  <a:lnTo>
                    <a:pt x="144" y="55"/>
                  </a:lnTo>
                  <a:lnTo>
                    <a:pt x="147" y="55"/>
                  </a:lnTo>
                  <a:lnTo>
                    <a:pt x="147" y="53"/>
                  </a:lnTo>
                  <a:lnTo>
                    <a:pt x="152" y="53"/>
                  </a:lnTo>
                  <a:lnTo>
                    <a:pt x="152" y="51"/>
                  </a:lnTo>
                  <a:lnTo>
                    <a:pt x="155" y="51"/>
                  </a:lnTo>
                  <a:lnTo>
                    <a:pt x="155" y="50"/>
                  </a:lnTo>
                  <a:lnTo>
                    <a:pt x="160" y="50"/>
                  </a:lnTo>
                  <a:lnTo>
                    <a:pt x="160" y="48"/>
                  </a:lnTo>
                  <a:lnTo>
                    <a:pt x="165" y="48"/>
                  </a:lnTo>
                  <a:lnTo>
                    <a:pt x="165" y="46"/>
                  </a:lnTo>
                  <a:lnTo>
                    <a:pt x="168" y="46"/>
                  </a:lnTo>
                  <a:lnTo>
                    <a:pt x="168" y="45"/>
                  </a:lnTo>
                  <a:lnTo>
                    <a:pt x="173" y="45"/>
                  </a:lnTo>
                  <a:lnTo>
                    <a:pt x="173" y="43"/>
                  </a:lnTo>
                  <a:lnTo>
                    <a:pt x="176" y="43"/>
                  </a:lnTo>
                  <a:lnTo>
                    <a:pt x="176" y="42"/>
                  </a:lnTo>
                  <a:lnTo>
                    <a:pt x="181" y="42"/>
                  </a:lnTo>
                  <a:lnTo>
                    <a:pt x="181" y="40"/>
                  </a:lnTo>
                  <a:lnTo>
                    <a:pt x="184" y="40"/>
                  </a:lnTo>
                  <a:lnTo>
                    <a:pt x="184" y="38"/>
                  </a:lnTo>
                  <a:lnTo>
                    <a:pt x="189" y="38"/>
                  </a:lnTo>
                  <a:lnTo>
                    <a:pt x="189" y="37"/>
                  </a:lnTo>
                  <a:lnTo>
                    <a:pt x="184" y="37"/>
                  </a:lnTo>
                  <a:lnTo>
                    <a:pt x="184" y="35"/>
                  </a:lnTo>
                  <a:lnTo>
                    <a:pt x="179" y="35"/>
                  </a:lnTo>
                  <a:lnTo>
                    <a:pt x="179" y="34"/>
                  </a:lnTo>
                  <a:lnTo>
                    <a:pt x="176" y="34"/>
                  </a:lnTo>
                  <a:lnTo>
                    <a:pt x="176" y="32"/>
                  </a:lnTo>
                  <a:lnTo>
                    <a:pt x="171" y="32"/>
                  </a:lnTo>
                  <a:lnTo>
                    <a:pt x="171" y="30"/>
                  </a:lnTo>
                  <a:lnTo>
                    <a:pt x="167" y="30"/>
                  </a:lnTo>
                  <a:lnTo>
                    <a:pt x="167" y="29"/>
                  </a:lnTo>
                  <a:lnTo>
                    <a:pt x="162" y="29"/>
                  </a:lnTo>
                  <a:lnTo>
                    <a:pt x="162" y="27"/>
                  </a:lnTo>
                  <a:lnTo>
                    <a:pt x="157" y="27"/>
                  </a:lnTo>
                  <a:lnTo>
                    <a:pt x="157" y="25"/>
                  </a:lnTo>
                  <a:lnTo>
                    <a:pt x="154" y="25"/>
                  </a:lnTo>
                  <a:lnTo>
                    <a:pt x="154" y="24"/>
                  </a:lnTo>
                  <a:lnTo>
                    <a:pt x="149" y="24"/>
                  </a:lnTo>
                  <a:lnTo>
                    <a:pt x="149" y="22"/>
                  </a:lnTo>
                  <a:lnTo>
                    <a:pt x="144" y="22"/>
                  </a:lnTo>
                  <a:lnTo>
                    <a:pt x="144" y="21"/>
                  </a:lnTo>
                  <a:lnTo>
                    <a:pt x="139" y="21"/>
                  </a:lnTo>
                  <a:lnTo>
                    <a:pt x="139" y="19"/>
                  </a:lnTo>
                  <a:lnTo>
                    <a:pt x="134" y="19"/>
                  </a:lnTo>
                  <a:lnTo>
                    <a:pt x="134" y="17"/>
                  </a:lnTo>
                  <a:lnTo>
                    <a:pt x="131" y="17"/>
                  </a:lnTo>
                  <a:lnTo>
                    <a:pt x="131" y="16"/>
                  </a:lnTo>
                  <a:lnTo>
                    <a:pt x="126" y="16"/>
                  </a:lnTo>
                  <a:lnTo>
                    <a:pt x="126" y="14"/>
                  </a:lnTo>
                  <a:lnTo>
                    <a:pt x="121" y="14"/>
                  </a:lnTo>
                  <a:lnTo>
                    <a:pt x="121" y="13"/>
                  </a:lnTo>
                  <a:lnTo>
                    <a:pt x="116" y="13"/>
                  </a:lnTo>
                  <a:lnTo>
                    <a:pt x="116" y="11"/>
                  </a:lnTo>
                  <a:lnTo>
                    <a:pt x="113" y="11"/>
                  </a:lnTo>
                  <a:lnTo>
                    <a:pt x="113" y="9"/>
                  </a:lnTo>
                  <a:lnTo>
                    <a:pt x="108" y="9"/>
                  </a:lnTo>
                  <a:lnTo>
                    <a:pt x="108" y="8"/>
                  </a:lnTo>
                  <a:lnTo>
                    <a:pt x="104" y="8"/>
                  </a:lnTo>
                  <a:lnTo>
                    <a:pt x="104" y="6"/>
                  </a:lnTo>
                  <a:lnTo>
                    <a:pt x="99" y="6"/>
                  </a:lnTo>
                  <a:lnTo>
                    <a:pt x="99" y="4"/>
                  </a:lnTo>
                  <a:lnTo>
                    <a:pt x="94" y="4"/>
                  </a:lnTo>
                  <a:lnTo>
                    <a:pt x="94" y="3"/>
                  </a:lnTo>
                  <a:lnTo>
                    <a:pt x="91" y="3"/>
                  </a:lnTo>
                  <a:lnTo>
                    <a:pt x="91" y="1"/>
                  </a:lnTo>
                  <a:lnTo>
                    <a:pt x="86" y="1"/>
                  </a:lnTo>
                  <a:lnTo>
                    <a:pt x="86" y="0"/>
                  </a:lnTo>
                  <a:lnTo>
                    <a:pt x="8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p>
          </p:txBody>
        </p:sp>
        <p:sp>
          <p:nvSpPr>
            <p:cNvPr id="18006" name="Freeform 598"/>
            <p:cNvSpPr>
              <a:spLocks/>
            </p:cNvSpPr>
            <p:nvPr/>
          </p:nvSpPr>
          <p:spPr bwMode="auto">
            <a:xfrm>
              <a:off x="1856" y="885"/>
              <a:ext cx="163" cy="65"/>
            </a:xfrm>
            <a:custGeom>
              <a:avLst/>
              <a:gdLst>
                <a:gd name="T0" fmla="*/ 0 w 163"/>
                <a:gd name="T1" fmla="*/ 16 h 65"/>
                <a:gd name="T2" fmla="*/ 82 w 163"/>
                <a:gd name="T3" fmla="*/ 16 h 65"/>
                <a:gd name="T4" fmla="*/ 82 w 163"/>
                <a:gd name="T5" fmla="*/ 0 h 65"/>
                <a:gd name="T6" fmla="*/ 163 w 163"/>
                <a:gd name="T7" fmla="*/ 31 h 65"/>
                <a:gd name="T8" fmla="*/ 82 w 163"/>
                <a:gd name="T9" fmla="*/ 65 h 65"/>
                <a:gd name="T10" fmla="*/ 82 w 163"/>
                <a:gd name="T11" fmla="*/ 49 h 65"/>
                <a:gd name="T12" fmla="*/ 0 w 163"/>
                <a:gd name="T13" fmla="*/ 49 h 65"/>
                <a:gd name="T14" fmla="*/ 0 w 163"/>
                <a:gd name="T15" fmla="*/ 16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3" h="65">
                  <a:moveTo>
                    <a:pt x="0" y="16"/>
                  </a:moveTo>
                  <a:lnTo>
                    <a:pt x="82" y="16"/>
                  </a:lnTo>
                  <a:lnTo>
                    <a:pt x="82" y="0"/>
                  </a:lnTo>
                  <a:lnTo>
                    <a:pt x="163" y="31"/>
                  </a:lnTo>
                  <a:lnTo>
                    <a:pt x="82" y="65"/>
                  </a:lnTo>
                  <a:lnTo>
                    <a:pt x="82" y="49"/>
                  </a:lnTo>
                  <a:lnTo>
                    <a:pt x="0" y="49"/>
                  </a:lnTo>
                  <a:lnTo>
                    <a:pt x="0" y="16"/>
                  </a:lnTo>
                </a:path>
              </a:pathLst>
            </a:custGeom>
            <a:grpFill/>
            <a:ln w="0">
              <a:solidFill>
                <a:srgbClr val="000000"/>
              </a:solidFill>
              <a:prstDash val="solid"/>
              <a:round/>
              <a:headEnd/>
              <a:tailEnd/>
            </a:ln>
            <a:extLst/>
          </p:spPr>
          <p:txBody>
            <a:bodyPr/>
            <a:lstStyle/>
            <a:p>
              <a:pPr>
                <a:defRPr/>
              </a:pPr>
              <a:endParaRPr lang="en-US"/>
            </a:p>
          </p:txBody>
        </p:sp>
        <p:sp>
          <p:nvSpPr>
            <p:cNvPr id="18007" name="Freeform 599"/>
            <p:cNvSpPr>
              <a:spLocks/>
            </p:cNvSpPr>
            <p:nvPr/>
          </p:nvSpPr>
          <p:spPr bwMode="auto">
            <a:xfrm>
              <a:off x="1846" y="877"/>
              <a:ext cx="189" cy="81"/>
            </a:xfrm>
            <a:custGeom>
              <a:avLst/>
              <a:gdLst>
                <a:gd name="T0" fmla="*/ 10 w 189"/>
                <a:gd name="T1" fmla="*/ 21 h 81"/>
                <a:gd name="T2" fmla="*/ 81 w 189"/>
                <a:gd name="T3" fmla="*/ 21 h 81"/>
                <a:gd name="T4" fmla="*/ 81 w 189"/>
                <a:gd name="T5" fmla="*/ 0 h 81"/>
                <a:gd name="T6" fmla="*/ 189 w 189"/>
                <a:gd name="T7" fmla="*/ 39 h 81"/>
                <a:gd name="T8" fmla="*/ 81 w 189"/>
                <a:gd name="T9" fmla="*/ 81 h 81"/>
                <a:gd name="T10" fmla="*/ 81 w 189"/>
                <a:gd name="T11" fmla="*/ 60 h 81"/>
                <a:gd name="T12" fmla="*/ 0 w 189"/>
                <a:gd name="T13" fmla="*/ 60 h 81"/>
                <a:gd name="T14" fmla="*/ 0 w 189"/>
                <a:gd name="T15" fmla="*/ 21 h 81"/>
                <a:gd name="T16" fmla="*/ 10 w 189"/>
                <a:gd name="T17" fmla="*/ 2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9" h="81">
                  <a:moveTo>
                    <a:pt x="10" y="21"/>
                  </a:moveTo>
                  <a:lnTo>
                    <a:pt x="81" y="21"/>
                  </a:lnTo>
                  <a:lnTo>
                    <a:pt x="81" y="0"/>
                  </a:lnTo>
                  <a:lnTo>
                    <a:pt x="189" y="39"/>
                  </a:lnTo>
                  <a:lnTo>
                    <a:pt x="81" y="81"/>
                  </a:lnTo>
                  <a:lnTo>
                    <a:pt x="81" y="60"/>
                  </a:lnTo>
                  <a:lnTo>
                    <a:pt x="0" y="60"/>
                  </a:lnTo>
                  <a:lnTo>
                    <a:pt x="0" y="21"/>
                  </a:lnTo>
                  <a:lnTo>
                    <a:pt x="10" y="21"/>
                  </a:lnTo>
                </a:path>
              </a:pathLst>
            </a:custGeom>
            <a:grpFill/>
            <a:ln w="0">
              <a:solidFill>
                <a:srgbClr val="000000"/>
              </a:solidFill>
              <a:prstDash val="solid"/>
              <a:round/>
              <a:headEnd/>
              <a:tailEnd/>
            </a:ln>
            <a:extLst/>
          </p:spPr>
          <p:txBody>
            <a:bodyPr/>
            <a:lstStyle/>
            <a:p>
              <a:pPr>
                <a:defRPr/>
              </a:pPr>
              <a:endParaRPr lang="en-US"/>
            </a:p>
          </p:txBody>
        </p:sp>
        <p:sp>
          <p:nvSpPr>
            <p:cNvPr id="18008" name="Freeform 600"/>
            <p:cNvSpPr>
              <a:spLocks/>
            </p:cNvSpPr>
            <p:nvPr/>
          </p:nvSpPr>
          <p:spPr bwMode="auto">
            <a:xfrm>
              <a:off x="2653" y="1039"/>
              <a:ext cx="53" cy="22"/>
            </a:xfrm>
            <a:custGeom>
              <a:avLst/>
              <a:gdLst>
                <a:gd name="T0" fmla="*/ 0 w 53"/>
                <a:gd name="T1" fmla="*/ 22 h 22"/>
                <a:gd name="T2" fmla="*/ 29 w 53"/>
                <a:gd name="T3" fmla="*/ 0 h 22"/>
                <a:gd name="T4" fmla="*/ 53 w 53"/>
                <a:gd name="T5" fmla="*/ 21 h 22"/>
              </a:gdLst>
              <a:ahLst/>
              <a:cxnLst>
                <a:cxn ang="0">
                  <a:pos x="T0" y="T1"/>
                </a:cxn>
                <a:cxn ang="0">
                  <a:pos x="T2" y="T3"/>
                </a:cxn>
                <a:cxn ang="0">
                  <a:pos x="T4" y="T5"/>
                </a:cxn>
              </a:cxnLst>
              <a:rect l="0" t="0" r="r" b="b"/>
              <a:pathLst>
                <a:path w="53" h="22">
                  <a:moveTo>
                    <a:pt x="0" y="22"/>
                  </a:moveTo>
                  <a:lnTo>
                    <a:pt x="29" y="0"/>
                  </a:lnTo>
                  <a:lnTo>
                    <a:pt x="53" y="21"/>
                  </a:lnTo>
                </a:path>
              </a:pathLst>
            </a:custGeom>
            <a:grpFill/>
            <a:ln w="0">
              <a:solidFill>
                <a:srgbClr val="000000"/>
              </a:solidFill>
              <a:prstDash val="solid"/>
              <a:round/>
              <a:headEnd/>
              <a:tailEnd/>
            </a:ln>
            <a:extLst/>
          </p:spPr>
          <p:txBody>
            <a:bodyPr/>
            <a:lstStyle/>
            <a:p>
              <a:pPr>
                <a:defRPr/>
              </a:pPr>
              <a:endParaRPr lang="en-US"/>
            </a:p>
          </p:txBody>
        </p:sp>
        <p:sp>
          <p:nvSpPr>
            <p:cNvPr id="18009" name="Rectangle 601"/>
            <p:cNvSpPr>
              <a:spLocks noChangeArrowheads="1"/>
            </p:cNvSpPr>
            <p:nvPr/>
          </p:nvSpPr>
          <p:spPr bwMode="auto">
            <a:xfrm>
              <a:off x="2704" y="1063"/>
              <a:ext cx="138" cy="11"/>
            </a:xfrm>
            <a:prstGeom prst="rect">
              <a:avLst/>
            </a:prstGeom>
            <a:grpFill/>
            <a:ln w="0">
              <a:solidFill>
                <a:srgbClr val="000000"/>
              </a:solidFill>
              <a:miter lim="800000"/>
              <a:headEnd/>
              <a:tailEnd/>
            </a:ln>
          </p:spPr>
          <p:txBody>
            <a:bodyPr/>
            <a:lstStyle/>
            <a:p>
              <a:pPr>
                <a:defRPr/>
              </a:pPr>
              <a:endParaRPr lang="en-US"/>
            </a:p>
          </p:txBody>
        </p:sp>
        <p:sp>
          <p:nvSpPr>
            <p:cNvPr id="18010" name="Rectangle 602"/>
            <p:cNvSpPr>
              <a:spLocks noChangeArrowheads="1"/>
            </p:cNvSpPr>
            <p:nvPr/>
          </p:nvSpPr>
          <p:spPr bwMode="auto">
            <a:xfrm>
              <a:off x="2685" y="1098"/>
              <a:ext cx="139" cy="10"/>
            </a:xfrm>
            <a:prstGeom prst="rect">
              <a:avLst/>
            </a:prstGeom>
            <a:grpFill/>
            <a:ln w="0">
              <a:solidFill>
                <a:srgbClr val="000000"/>
              </a:solidFill>
              <a:miter lim="800000"/>
              <a:headEnd/>
              <a:tailEnd/>
            </a:ln>
          </p:spPr>
          <p:txBody>
            <a:bodyPr/>
            <a:lstStyle/>
            <a:p>
              <a:pPr>
                <a:defRPr/>
              </a:pPr>
              <a:endParaRPr lang="en-US"/>
            </a:p>
          </p:txBody>
        </p:sp>
        <p:sp>
          <p:nvSpPr>
            <p:cNvPr id="18011" name="Rectangle 603"/>
            <p:cNvSpPr>
              <a:spLocks noChangeArrowheads="1"/>
            </p:cNvSpPr>
            <p:nvPr/>
          </p:nvSpPr>
          <p:spPr bwMode="auto">
            <a:xfrm>
              <a:off x="2646" y="958"/>
              <a:ext cx="63" cy="74"/>
            </a:xfrm>
            <a:prstGeom prst="rect">
              <a:avLst/>
            </a:prstGeom>
            <a:grpFill/>
            <a:ln w="0">
              <a:solidFill>
                <a:srgbClr val="000000"/>
              </a:solidFill>
              <a:miter lim="800000"/>
              <a:headEnd/>
              <a:tailEnd/>
            </a:ln>
          </p:spPr>
          <p:txBody>
            <a:bodyPr/>
            <a:lstStyle/>
            <a:p>
              <a:pPr>
                <a:defRPr/>
              </a:pPr>
              <a:endParaRPr lang="en-US"/>
            </a:p>
          </p:txBody>
        </p:sp>
        <p:sp>
          <p:nvSpPr>
            <p:cNvPr id="18012" name="Rectangle 604"/>
            <p:cNvSpPr>
              <a:spLocks noChangeArrowheads="1"/>
            </p:cNvSpPr>
            <p:nvPr/>
          </p:nvSpPr>
          <p:spPr bwMode="auto">
            <a:xfrm>
              <a:off x="2546" y="1085"/>
              <a:ext cx="15" cy="12"/>
            </a:xfrm>
            <a:prstGeom prst="rect">
              <a:avLst/>
            </a:prstGeom>
            <a:grpFill/>
            <a:ln w="0">
              <a:solidFill>
                <a:srgbClr val="000000"/>
              </a:solidFill>
              <a:miter lim="800000"/>
              <a:headEnd/>
              <a:tailEnd/>
            </a:ln>
          </p:spPr>
          <p:txBody>
            <a:bodyPr/>
            <a:lstStyle/>
            <a:p>
              <a:pPr>
                <a:defRPr/>
              </a:pPr>
              <a:endParaRPr lang="en-US"/>
            </a:p>
          </p:txBody>
        </p:sp>
        <p:sp>
          <p:nvSpPr>
            <p:cNvPr id="18013" name="Rectangle 605"/>
            <p:cNvSpPr>
              <a:spLocks noChangeArrowheads="1"/>
            </p:cNvSpPr>
            <p:nvPr/>
          </p:nvSpPr>
          <p:spPr bwMode="auto">
            <a:xfrm>
              <a:off x="2540" y="1079"/>
              <a:ext cx="8" cy="24"/>
            </a:xfrm>
            <a:prstGeom prst="rect">
              <a:avLst/>
            </a:prstGeom>
            <a:grpFill/>
            <a:ln w="0">
              <a:solidFill>
                <a:srgbClr val="000000"/>
              </a:solidFill>
              <a:miter lim="800000"/>
              <a:headEnd/>
              <a:tailEnd/>
            </a:ln>
          </p:spPr>
          <p:txBody>
            <a:bodyPr/>
            <a:lstStyle/>
            <a:p>
              <a:pPr>
                <a:defRPr/>
              </a:pPr>
              <a:endParaRPr lang="en-US"/>
            </a:p>
          </p:txBody>
        </p:sp>
        <p:sp>
          <p:nvSpPr>
            <p:cNvPr id="18014" name="Rectangle 606"/>
            <p:cNvSpPr>
              <a:spLocks noChangeArrowheads="1"/>
            </p:cNvSpPr>
            <p:nvPr/>
          </p:nvSpPr>
          <p:spPr bwMode="auto">
            <a:xfrm>
              <a:off x="2544" y="1527"/>
              <a:ext cx="272" cy="79"/>
            </a:xfrm>
            <a:prstGeom prst="rect">
              <a:avLst/>
            </a:prstGeom>
            <a:grpFill/>
            <a:ln w="0">
              <a:solidFill>
                <a:srgbClr val="000000"/>
              </a:solidFill>
              <a:miter lim="800000"/>
              <a:headEnd/>
              <a:tailEnd/>
            </a:ln>
          </p:spPr>
          <p:txBody>
            <a:bodyPr/>
            <a:lstStyle/>
            <a:p>
              <a:pPr>
                <a:defRPr/>
              </a:pPr>
              <a:endParaRPr lang="en-US"/>
            </a:p>
          </p:txBody>
        </p:sp>
        <p:sp>
          <p:nvSpPr>
            <p:cNvPr id="18015" name="Rectangle 607"/>
            <p:cNvSpPr>
              <a:spLocks noChangeArrowheads="1"/>
            </p:cNvSpPr>
            <p:nvPr/>
          </p:nvSpPr>
          <p:spPr bwMode="auto">
            <a:xfrm>
              <a:off x="2544" y="1617"/>
              <a:ext cx="272" cy="79"/>
            </a:xfrm>
            <a:prstGeom prst="rect">
              <a:avLst/>
            </a:prstGeom>
            <a:grpFill/>
            <a:ln w="0">
              <a:solidFill>
                <a:srgbClr val="000000"/>
              </a:solidFill>
              <a:miter lim="800000"/>
              <a:headEnd/>
              <a:tailEnd/>
            </a:ln>
          </p:spPr>
          <p:txBody>
            <a:bodyPr/>
            <a:lstStyle/>
            <a:p>
              <a:pPr>
                <a:defRPr/>
              </a:pPr>
              <a:endParaRPr lang="en-US"/>
            </a:p>
          </p:txBody>
        </p:sp>
        <p:sp>
          <p:nvSpPr>
            <p:cNvPr id="18016" name="Line 608"/>
            <p:cNvSpPr>
              <a:spLocks noChangeShapeType="1"/>
            </p:cNvSpPr>
            <p:nvPr/>
          </p:nvSpPr>
          <p:spPr bwMode="auto">
            <a:xfrm>
              <a:off x="2540" y="1525"/>
              <a:ext cx="1" cy="171"/>
            </a:xfrm>
            <a:prstGeom prst="line">
              <a:avLst/>
            </a:prstGeom>
            <a:grpFill/>
            <a:ln w="0">
              <a:solidFill>
                <a:srgbClr val="000000"/>
              </a:solidFill>
              <a:round/>
              <a:headEnd/>
              <a:tailEnd/>
            </a:ln>
            <a:extLst/>
          </p:spPr>
          <p:txBody>
            <a:bodyPr/>
            <a:lstStyle/>
            <a:p>
              <a:pPr>
                <a:defRPr/>
              </a:pPr>
              <a:endParaRPr lang="en-US"/>
            </a:p>
          </p:txBody>
        </p:sp>
        <p:sp>
          <p:nvSpPr>
            <p:cNvPr id="18017" name="Line 609"/>
            <p:cNvSpPr>
              <a:spLocks noChangeShapeType="1"/>
            </p:cNvSpPr>
            <p:nvPr/>
          </p:nvSpPr>
          <p:spPr bwMode="auto">
            <a:xfrm>
              <a:off x="2821" y="1527"/>
              <a:ext cx="1" cy="171"/>
            </a:xfrm>
            <a:prstGeom prst="line">
              <a:avLst/>
            </a:prstGeom>
            <a:grpFill/>
            <a:ln w="0">
              <a:solidFill>
                <a:srgbClr val="000000"/>
              </a:solidFill>
              <a:round/>
              <a:headEnd/>
              <a:tailEnd/>
            </a:ln>
            <a:extLst/>
          </p:spPr>
          <p:txBody>
            <a:bodyPr/>
            <a:lstStyle/>
            <a:p>
              <a:pPr>
                <a:defRPr/>
              </a:pPr>
              <a:endParaRPr lang="en-US"/>
            </a:p>
          </p:txBody>
        </p:sp>
        <p:sp>
          <p:nvSpPr>
            <p:cNvPr id="18018" name="Line 610"/>
            <p:cNvSpPr>
              <a:spLocks noChangeShapeType="1"/>
            </p:cNvSpPr>
            <p:nvPr/>
          </p:nvSpPr>
          <p:spPr bwMode="auto">
            <a:xfrm flipV="1">
              <a:off x="2540" y="1480"/>
              <a:ext cx="8" cy="37"/>
            </a:xfrm>
            <a:prstGeom prst="line">
              <a:avLst/>
            </a:prstGeom>
            <a:grpFill/>
            <a:ln w="0">
              <a:solidFill>
                <a:srgbClr val="000000"/>
              </a:solidFill>
              <a:round/>
              <a:headEnd/>
              <a:tailEnd/>
            </a:ln>
            <a:extLst/>
          </p:spPr>
          <p:txBody>
            <a:bodyPr/>
            <a:lstStyle/>
            <a:p>
              <a:pPr>
                <a:defRPr/>
              </a:pPr>
              <a:endParaRPr lang="en-US"/>
            </a:p>
          </p:txBody>
        </p:sp>
        <p:sp>
          <p:nvSpPr>
            <p:cNvPr id="18019" name="Line 611"/>
            <p:cNvSpPr>
              <a:spLocks noChangeShapeType="1"/>
            </p:cNvSpPr>
            <p:nvPr/>
          </p:nvSpPr>
          <p:spPr bwMode="auto">
            <a:xfrm flipH="1" flipV="1">
              <a:off x="2805" y="1464"/>
              <a:ext cx="19" cy="61"/>
            </a:xfrm>
            <a:prstGeom prst="line">
              <a:avLst/>
            </a:prstGeom>
            <a:grpFill/>
            <a:ln w="0">
              <a:solidFill>
                <a:srgbClr val="000000"/>
              </a:solidFill>
              <a:round/>
              <a:headEnd/>
              <a:tailEnd/>
            </a:ln>
            <a:extLst/>
          </p:spPr>
          <p:txBody>
            <a:bodyPr/>
            <a:lstStyle/>
            <a:p>
              <a:pPr>
                <a:defRPr/>
              </a:pPr>
              <a:endParaRPr lang="en-US"/>
            </a:p>
          </p:txBody>
        </p:sp>
        <p:sp>
          <p:nvSpPr>
            <p:cNvPr id="18020" name="Rectangle 612"/>
            <p:cNvSpPr>
              <a:spLocks noChangeArrowheads="1"/>
            </p:cNvSpPr>
            <p:nvPr/>
          </p:nvSpPr>
          <p:spPr bwMode="auto">
            <a:xfrm>
              <a:off x="2544" y="1607"/>
              <a:ext cx="350" cy="15"/>
            </a:xfrm>
            <a:prstGeom prst="rect">
              <a:avLst/>
            </a:prstGeom>
            <a:grpFill/>
            <a:ln w="0">
              <a:solidFill>
                <a:srgbClr val="000000"/>
              </a:solidFill>
              <a:miter lim="800000"/>
              <a:headEnd/>
              <a:tailEnd/>
            </a:ln>
          </p:spPr>
          <p:txBody>
            <a:bodyPr/>
            <a:lstStyle/>
            <a:p>
              <a:pPr>
                <a:defRPr/>
              </a:pPr>
              <a:endParaRPr lang="en-US"/>
            </a:p>
          </p:txBody>
        </p:sp>
        <p:sp>
          <p:nvSpPr>
            <p:cNvPr id="18021" name="Line 613"/>
            <p:cNvSpPr>
              <a:spLocks noChangeShapeType="1"/>
            </p:cNvSpPr>
            <p:nvPr/>
          </p:nvSpPr>
          <p:spPr bwMode="auto">
            <a:xfrm>
              <a:off x="2897" y="1604"/>
              <a:ext cx="1" cy="23"/>
            </a:xfrm>
            <a:prstGeom prst="line">
              <a:avLst/>
            </a:prstGeom>
            <a:grpFill/>
            <a:ln w="0">
              <a:solidFill>
                <a:srgbClr val="000000"/>
              </a:solidFill>
              <a:round/>
              <a:headEnd/>
              <a:tailEnd/>
            </a:ln>
            <a:extLst/>
          </p:spPr>
          <p:txBody>
            <a:bodyPr/>
            <a:lstStyle/>
            <a:p>
              <a:pPr>
                <a:defRPr/>
              </a:pPr>
              <a:endParaRPr lang="en-US"/>
            </a:p>
          </p:txBody>
        </p:sp>
        <p:sp>
          <p:nvSpPr>
            <p:cNvPr id="18022" name="Line 614"/>
            <p:cNvSpPr>
              <a:spLocks noChangeShapeType="1"/>
            </p:cNvSpPr>
            <p:nvPr/>
          </p:nvSpPr>
          <p:spPr bwMode="auto">
            <a:xfrm>
              <a:off x="2902" y="1604"/>
              <a:ext cx="1" cy="23"/>
            </a:xfrm>
            <a:prstGeom prst="line">
              <a:avLst/>
            </a:prstGeom>
            <a:grpFill/>
            <a:ln w="0">
              <a:solidFill>
                <a:srgbClr val="000000"/>
              </a:solidFill>
              <a:round/>
              <a:headEnd/>
              <a:tailEnd/>
            </a:ln>
            <a:extLst/>
          </p:spPr>
          <p:txBody>
            <a:bodyPr/>
            <a:lstStyle/>
            <a:p>
              <a:pPr>
                <a:defRPr/>
              </a:pPr>
              <a:endParaRPr lang="en-US"/>
            </a:p>
          </p:txBody>
        </p:sp>
        <p:sp>
          <p:nvSpPr>
            <p:cNvPr id="18023" name="Line 615"/>
            <p:cNvSpPr>
              <a:spLocks noChangeShapeType="1"/>
            </p:cNvSpPr>
            <p:nvPr/>
          </p:nvSpPr>
          <p:spPr bwMode="auto">
            <a:xfrm>
              <a:off x="2897" y="1693"/>
              <a:ext cx="1" cy="23"/>
            </a:xfrm>
            <a:prstGeom prst="line">
              <a:avLst/>
            </a:prstGeom>
            <a:grpFill/>
            <a:ln w="0">
              <a:solidFill>
                <a:srgbClr val="000000"/>
              </a:solidFill>
              <a:round/>
              <a:headEnd/>
              <a:tailEnd/>
            </a:ln>
            <a:extLst/>
          </p:spPr>
          <p:txBody>
            <a:bodyPr/>
            <a:lstStyle/>
            <a:p>
              <a:pPr>
                <a:defRPr/>
              </a:pPr>
              <a:endParaRPr lang="en-US"/>
            </a:p>
          </p:txBody>
        </p:sp>
        <p:sp>
          <p:nvSpPr>
            <p:cNvPr id="18024" name="Line 616"/>
            <p:cNvSpPr>
              <a:spLocks noChangeShapeType="1"/>
            </p:cNvSpPr>
            <p:nvPr/>
          </p:nvSpPr>
          <p:spPr bwMode="auto">
            <a:xfrm>
              <a:off x="2902" y="1693"/>
              <a:ext cx="1" cy="23"/>
            </a:xfrm>
            <a:prstGeom prst="line">
              <a:avLst/>
            </a:prstGeom>
            <a:grpFill/>
            <a:ln w="0">
              <a:solidFill>
                <a:srgbClr val="000000"/>
              </a:solidFill>
              <a:round/>
              <a:headEnd/>
              <a:tailEnd/>
            </a:ln>
            <a:extLst/>
          </p:spPr>
          <p:txBody>
            <a:bodyPr/>
            <a:lstStyle/>
            <a:p>
              <a:pPr>
                <a:defRPr/>
              </a:pPr>
              <a:endParaRPr lang="en-US"/>
            </a:p>
          </p:txBody>
        </p:sp>
        <p:sp>
          <p:nvSpPr>
            <p:cNvPr id="18025" name="Rectangle 617"/>
            <p:cNvSpPr>
              <a:spLocks noChangeArrowheads="1"/>
            </p:cNvSpPr>
            <p:nvPr/>
          </p:nvSpPr>
          <p:spPr bwMode="auto">
            <a:xfrm>
              <a:off x="2544" y="1698"/>
              <a:ext cx="350" cy="13"/>
            </a:xfrm>
            <a:prstGeom prst="rect">
              <a:avLst/>
            </a:prstGeom>
            <a:grpFill/>
            <a:ln w="0">
              <a:solidFill>
                <a:srgbClr val="000000"/>
              </a:solidFill>
              <a:miter lim="800000"/>
              <a:headEnd/>
              <a:tailEnd/>
            </a:ln>
          </p:spPr>
          <p:txBody>
            <a:bodyPr/>
            <a:lstStyle/>
            <a:p>
              <a:pPr>
                <a:defRPr/>
              </a:pPr>
              <a:endParaRPr lang="en-US"/>
            </a:p>
          </p:txBody>
        </p:sp>
        <p:sp>
          <p:nvSpPr>
            <p:cNvPr id="18026" name="Freeform 618"/>
            <p:cNvSpPr>
              <a:spLocks/>
            </p:cNvSpPr>
            <p:nvPr/>
          </p:nvSpPr>
          <p:spPr bwMode="auto">
            <a:xfrm>
              <a:off x="2902" y="1609"/>
              <a:ext cx="93" cy="103"/>
            </a:xfrm>
            <a:custGeom>
              <a:avLst/>
              <a:gdLst>
                <a:gd name="T0" fmla="*/ 0 w 93"/>
                <a:gd name="T1" fmla="*/ 0 h 103"/>
                <a:gd name="T2" fmla="*/ 93 w 93"/>
                <a:gd name="T3" fmla="*/ 0 h 103"/>
                <a:gd name="T4" fmla="*/ 93 w 93"/>
                <a:gd name="T5" fmla="*/ 103 h 103"/>
                <a:gd name="T6" fmla="*/ 0 w 93"/>
                <a:gd name="T7" fmla="*/ 103 h 103"/>
              </a:gdLst>
              <a:ahLst/>
              <a:cxnLst>
                <a:cxn ang="0">
                  <a:pos x="T0" y="T1"/>
                </a:cxn>
                <a:cxn ang="0">
                  <a:pos x="T2" y="T3"/>
                </a:cxn>
                <a:cxn ang="0">
                  <a:pos x="T4" y="T5"/>
                </a:cxn>
                <a:cxn ang="0">
                  <a:pos x="T6" y="T7"/>
                </a:cxn>
              </a:cxnLst>
              <a:rect l="0" t="0" r="r" b="b"/>
              <a:pathLst>
                <a:path w="93" h="103">
                  <a:moveTo>
                    <a:pt x="0" y="0"/>
                  </a:moveTo>
                  <a:lnTo>
                    <a:pt x="93" y="0"/>
                  </a:lnTo>
                  <a:lnTo>
                    <a:pt x="93" y="103"/>
                  </a:lnTo>
                  <a:lnTo>
                    <a:pt x="0" y="103"/>
                  </a:lnTo>
                </a:path>
              </a:pathLst>
            </a:custGeom>
            <a:grpFill/>
            <a:ln w="0">
              <a:solidFill>
                <a:srgbClr val="000000"/>
              </a:solidFill>
              <a:prstDash val="solid"/>
              <a:round/>
              <a:headEnd/>
              <a:tailEnd/>
            </a:ln>
            <a:extLst/>
          </p:spPr>
          <p:txBody>
            <a:bodyPr/>
            <a:lstStyle/>
            <a:p>
              <a:pPr>
                <a:defRPr/>
              </a:pPr>
              <a:endParaRPr lang="en-US"/>
            </a:p>
          </p:txBody>
        </p:sp>
        <p:sp>
          <p:nvSpPr>
            <p:cNvPr id="18027" name="Rectangle 619"/>
            <p:cNvSpPr>
              <a:spLocks noChangeArrowheads="1"/>
            </p:cNvSpPr>
            <p:nvPr/>
          </p:nvSpPr>
          <p:spPr bwMode="auto">
            <a:xfrm>
              <a:off x="2656" y="1061"/>
              <a:ext cx="50" cy="1188"/>
            </a:xfrm>
            <a:prstGeom prst="rect">
              <a:avLst/>
            </a:prstGeom>
            <a:grpFill/>
            <a:ln w="0">
              <a:solidFill>
                <a:srgbClr val="000000"/>
              </a:solidFill>
              <a:miter lim="800000"/>
              <a:headEnd/>
              <a:tailEnd/>
            </a:ln>
          </p:spPr>
          <p:txBody>
            <a:bodyPr/>
            <a:lstStyle/>
            <a:p>
              <a:pPr>
                <a:defRPr/>
              </a:pPr>
              <a:endParaRPr lang="en-US"/>
            </a:p>
          </p:txBody>
        </p:sp>
        <p:sp>
          <p:nvSpPr>
            <p:cNvPr id="18028" name="Rectangle 620"/>
            <p:cNvSpPr>
              <a:spLocks noChangeArrowheads="1"/>
            </p:cNvSpPr>
            <p:nvPr/>
          </p:nvSpPr>
          <p:spPr bwMode="auto">
            <a:xfrm>
              <a:off x="2675" y="1098"/>
              <a:ext cx="10" cy="2460"/>
            </a:xfrm>
            <a:prstGeom prst="rect">
              <a:avLst/>
            </a:prstGeom>
            <a:grpFill/>
            <a:ln w="0">
              <a:solidFill>
                <a:srgbClr val="000000"/>
              </a:solidFill>
              <a:miter lim="800000"/>
              <a:headEnd/>
              <a:tailEnd/>
            </a:ln>
          </p:spPr>
          <p:txBody>
            <a:bodyPr/>
            <a:lstStyle/>
            <a:p>
              <a:pPr>
                <a:defRPr/>
              </a:pPr>
              <a:endParaRPr lang="en-US"/>
            </a:p>
          </p:txBody>
        </p:sp>
        <p:sp>
          <p:nvSpPr>
            <p:cNvPr id="18029" name="Rectangle 621"/>
            <p:cNvSpPr>
              <a:spLocks noChangeArrowheads="1"/>
            </p:cNvSpPr>
            <p:nvPr/>
          </p:nvSpPr>
          <p:spPr bwMode="auto">
            <a:xfrm>
              <a:off x="1502" y="1313"/>
              <a:ext cx="906" cy="10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th-TH" altLang="en-US" sz="1100" b="1">
                  <a:latin typeface="Century Schoolbook" panose="02040604050505020304" pitchFamily="18" charset="0"/>
                </a:rPr>
                <a:t>Impregnation Zone </a:t>
              </a:r>
              <a:endParaRPr lang="th-TH" altLang="en-US" sz="1600">
                <a:latin typeface="Century Schoolbook" panose="02040604050505020304" pitchFamily="18" charset="0"/>
              </a:endParaRPr>
            </a:p>
          </p:txBody>
        </p:sp>
        <p:sp>
          <p:nvSpPr>
            <p:cNvPr id="18030" name="Rectangle 622"/>
            <p:cNvSpPr>
              <a:spLocks noChangeArrowheads="1"/>
            </p:cNvSpPr>
            <p:nvPr/>
          </p:nvSpPr>
          <p:spPr bwMode="auto">
            <a:xfrm>
              <a:off x="1502" y="1607"/>
              <a:ext cx="744" cy="10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th-TH" altLang="en-US" sz="1100" b="1">
                  <a:latin typeface="Century Schoolbook" panose="02040604050505020304" pitchFamily="18" charset="0"/>
                </a:rPr>
                <a:t>Counter-current</a:t>
              </a:r>
              <a:endParaRPr lang="th-TH" altLang="en-US" sz="1600">
                <a:latin typeface="Century Schoolbook" panose="02040604050505020304" pitchFamily="18" charset="0"/>
              </a:endParaRPr>
            </a:p>
          </p:txBody>
        </p:sp>
        <p:sp>
          <p:nvSpPr>
            <p:cNvPr id="18031" name="Rectangle 623"/>
            <p:cNvSpPr>
              <a:spLocks noChangeArrowheads="1"/>
            </p:cNvSpPr>
            <p:nvPr/>
          </p:nvSpPr>
          <p:spPr bwMode="auto">
            <a:xfrm>
              <a:off x="1502" y="1732"/>
              <a:ext cx="748" cy="10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th-TH" altLang="en-US" sz="1100" b="1">
                  <a:latin typeface="Century Schoolbook" panose="02040604050505020304" pitchFamily="18" charset="0"/>
                </a:rPr>
                <a:t>heating/washing</a:t>
              </a:r>
              <a:endParaRPr lang="th-TH" altLang="en-US" sz="1600">
                <a:latin typeface="Century Schoolbook" panose="02040604050505020304" pitchFamily="18" charset="0"/>
              </a:endParaRPr>
            </a:p>
          </p:txBody>
        </p:sp>
        <p:sp>
          <p:nvSpPr>
            <p:cNvPr id="18032" name="Rectangle 624"/>
            <p:cNvSpPr>
              <a:spLocks noChangeArrowheads="1"/>
            </p:cNvSpPr>
            <p:nvPr/>
          </p:nvSpPr>
          <p:spPr bwMode="auto">
            <a:xfrm>
              <a:off x="1502" y="1856"/>
              <a:ext cx="582" cy="10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th-TH" altLang="en-US" sz="1100" b="1">
                  <a:latin typeface="Century Schoolbook" panose="02040604050505020304" pitchFamily="18" charset="0"/>
                </a:rPr>
                <a:t>(start of bulk</a:t>
              </a:r>
              <a:endParaRPr lang="th-TH" altLang="en-US" sz="1600">
                <a:latin typeface="Century Schoolbook" panose="02040604050505020304" pitchFamily="18" charset="0"/>
              </a:endParaRPr>
            </a:p>
          </p:txBody>
        </p:sp>
        <p:sp>
          <p:nvSpPr>
            <p:cNvPr id="18033" name="Rectangle 625"/>
            <p:cNvSpPr>
              <a:spLocks noChangeArrowheads="1"/>
            </p:cNvSpPr>
            <p:nvPr/>
          </p:nvSpPr>
          <p:spPr bwMode="auto">
            <a:xfrm>
              <a:off x="1502" y="1981"/>
              <a:ext cx="719" cy="10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th-TH" altLang="en-US" sz="1100" b="1">
                  <a:latin typeface="Century Schoolbook" panose="02040604050505020304" pitchFamily="18" charset="0"/>
                </a:rPr>
                <a:t>delignification) </a:t>
              </a:r>
              <a:endParaRPr lang="th-TH" altLang="en-US" sz="1600">
                <a:latin typeface="Century Schoolbook" panose="02040604050505020304" pitchFamily="18" charset="0"/>
              </a:endParaRPr>
            </a:p>
          </p:txBody>
        </p:sp>
        <p:sp>
          <p:nvSpPr>
            <p:cNvPr id="18034" name="Rectangle 626"/>
            <p:cNvSpPr>
              <a:spLocks noChangeArrowheads="1"/>
            </p:cNvSpPr>
            <p:nvPr/>
          </p:nvSpPr>
          <p:spPr bwMode="auto">
            <a:xfrm>
              <a:off x="1502" y="2267"/>
              <a:ext cx="243" cy="10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th-TH" altLang="en-US" sz="1100" b="1">
                  <a:latin typeface="Century Schoolbook" panose="02040604050505020304" pitchFamily="18" charset="0"/>
                </a:rPr>
                <a:t>Bulk </a:t>
              </a:r>
              <a:endParaRPr lang="th-TH" altLang="en-US" sz="1600">
                <a:latin typeface="Century Schoolbook" panose="02040604050505020304" pitchFamily="18" charset="0"/>
              </a:endParaRPr>
            </a:p>
          </p:txBody>
        </p:sp>
        <p:sp>
          <p:nvSpPr>
            <p:cNvPr id="18035" name="Rectangle 627"/>
            <p:cNvSpPr>
              <a:spLocks noChangeArrowheads="1"/>
            </p:cNvSpPr>
            <p:nvPr/>
          </p:nvSpPr>
          <p:spPr bwMode="auto">
            <a:xfrm>
              <a:off x="1502" y="2391"/>
              <a:ext cx="714" cy="10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th-TH" altLang="en-US" sz="1100" b="1">
                  <a:latin typeface="Century Schoolbook" panose="02040604050505020304" pitchFamily="18" charset="0"/>
                </a:rPr>
                <a:t>Delignification </a:t>
              </a:r>
              <a:endParaRPr lang="th-TH" altLang="en-US" sz="1600">
                <a:latin typeface="Century Schoolbook" panose="02040604050505020304" pitchFamily="18" charset="0"/>
              </a:endParaRPr>
            </a:p>
          </p:txBody>
        </p:sp>
        <p:sp>
          <p:nvSpPr>
            <p:cNvPr id="18036" name="Rectangle 628"/>
            <p:cNvSpPr>
              <a:spLocks noChangeArrowheads="1"/>
            </p:cNvSpPr>
            <p:nvPr/>
          </p:nvSpPr>
          <p:spPr bwMode="auto">
            <a:xfrm>
              <a:off x="1502" y="2889"/>
              <a:ext cx="744" cy="10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th-TH" altLang="en-US" sz="1100" b="1">
                  <a:latin typeface="Century Schoolbook" panose="02040604050505020304" pitchFamily="18" charset="0"/>
                </a:rPr>
                <a:t>Counter-current</a:t>
              </a:r>
              <a:endParaRPr lang="th-TH" altLang="en-US" sz="1600">
                <a:latin typeface="Century Schoolbook" panose="02040604050505020304" pitchFamily="18" charset="0"/>
              </a:endParaRPr>
            </a:p>
          </p:txBody>
        </p:sp>
        <p:sp>
          <p:nvSpPr>
            <p:cNvPr id="18037" name="Rectangle 629"/>
            <p:cNvSpPr>
              <a:spLocks noChangeArrowheads="1"/>
            </p:cNvSpPr>
            <p:nvPr/>
          </p:nvSpPr>
          <p:spPr bwMode="auto">
            <a:xfrm>
              <a:off x="1502" y="3013"/>
              <a:ext cx="748" cy="10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th-TH" altLang="en-US" sz="1100" b="1">
                  <a:latin typeface="Century Schoolbook" panose="02040604050505020304" pitchFamily="18" charset="0"/>
                </a:rPr>
                <a:t>heating/washing</a:t>
              </a:r>
              <a:endParaRPr lang="th-TH" altLang="en-US" sz="1600">
                <a:latin typeface="Century Schoolbook" panose="02040604050505020304" pitchFamily="18" charset="0"/>
              </a:endParaRPr>
            </a:p>
          </p:txBody>
        </p:sp>
        <p:sp>
          <p:nvSpPr>
            <p:cNvPr id="18038" name="Rectangle 630"/>
            <p:cNvSpPr>
              <a:spLocks noChangeArrowheads="1"/>
            </p:cNvSpPr>
            <p:nvPr/>
          </p:nvSpPr>
          <p:spPr bwMode="auto">
            <a:xfrm>
              <a:off x="1502" y="3138"/>
              <a:ext cx="397" cy="10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th-TH" altLang="en-US" sz="1100" b="1">
                  <a:latin typeface="Century Schoolbook" panose="02040604050505020304" pitchFamily="18" charset="0"/>
                </a:rPr>
                <a:t>(residual</a:t>
              </a:r>
              <a:endParaRPr lang="th-TH" altLang="en-US" sz="1600">
                <a:latin typeface="Century Schoolbook" panose="02040604050505020304" pitchFamily="18" charset="0"/>
              </a:endParaRPr>
            </a:p>
          </p:txBody>
        </p:sp>
        <p:sp>
          <p:nvSpPr>
            <p:cNvPr id="18039" name="Rectangle 631"/>
            <p:cNvSpPr>
              <a:spLocks noChangeArrowheads="1"/>
            </p:cNvSpPr>
            <p:nvPr/>
          </p:nvSpPr>
          <p:spPr bwMode="auto">
            <a:xfrm>
              <a:off x="1502" y="3262"/>
              <a:ext cx="694" cy="10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th-TH" altLang="en-US" sz="1100" b="1">
                  <a:latin typeface="Century Schoolbook" panose="02040604050505020304" pitchFamily="18" charset="0"/>
                </a:rPr>
                <a:t>delignification)</a:t>
              </a:r>
              <a:endParaRPr lang="th-TH" altLang="en-US" sz="1600">
                <a:latin typeface="Century Schoolbook" panose="02040604050505020304" pitchFamily="18" charset="0"/>
              </a:endParaRPr>
            </a:p>
          </p:txBody>
        </p:sp>
      </p:grpSp>
    </p:spTree>
  </p:cSld>
  <p:clrMapOvr>
    <a:masterClrMapping/>
  </p:clrMapOvr>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5" name="Rectangle 3"/>
          <p:cNvSpPr>
            <a:spLocks noChangeArrowheads="1"/>
          </p:cNvSpPr>
          <p:nvPr/>
        </p:nvSpPr>
        <p:spPr bwMode="auto">
          <a:xfrm>
            <a:off x="681038" y="1622425"/>
            <a:ext cx="4395787" cy="4111625"/>
          </a:xfrm>
          <a:prstGeom prst="rect">
            <a:avLst/>
          </a:prstGeom>
          <a:noFill/>
          <a:ln>
            <a:noFill/>
          </a:ln>
          <a:effectLst>
            <a:outerShdw dist="107763"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90488" tIns="47625" rIns="90488" bIns="47625"/>
          <a:lstStyle>
            <a:lvl1pPr marL="342900" indent="-342900">
              <a:spcBef>
                <a:spcPct val="20000"/>
              </a:spcBef>
              <a:buClr>
                <a:schemeClr val="hlink"/>
              </a:buClr>
              <a:buChar char="•"/>
              <a:defRPr sz="3200">
                <a:solidFill>
                  <a:schemeClr val="tx1"/>
                </a:solidFill>
                <a:effectLst>
                  <a:outerShdw blurRad="38100" dist="38100" dir="2700000" algn="tl">
                    <a:srgbClr val="000000"/>
                  </a:outerShdw>
                </a:effectLst>
                <a:latin typeface="Garamond" panose="02020404030301010803" pitchFamily="18" charset="0"/>
                <a:cs typeface="Angsana New" panose="02020603050405020304" pitchFamily="18" charset="-34"/>
              </a:defRPr>
            </a:lvl1pPr>
            <a:lvl2pPr marL="742950" indent="-285750">
              <a:spcBef>
                <a:spcPct val="20000"/>
              </a:spcBef>
              <a:buChar char="–"/>
              <a:defRPr sz="2800">
                <a:solidFill>
                  <a:schemeClr val="tx1"/>
                </a:solidFill>
                <a:effectLst>
                  <a:outerShdw blurRad="38100" dist="38100" dir="2700000" algn="tl">
                    <a:srgbClr val="000000"/>
                  </a:outerShdw>
                </a:effectLst>
                <a:latin typeface="Garamond" panose="02020404030301010803" pitchFamily="18" charset="0"/>
                <a:cs typeface="Angsana New" panose="02020603050405020304" pitchFamily="18" charset="-34"/>
              </a:defRPr>
            </a:lvl2pPr>
            <a:lvl3pPr marL="1143000" indent="-228600">
              <a:spcBef>
                <a:spcPct val="20000"/>
              </a:spcBef>
              <a:buClr>
                <a:schemeClr val="tx2"/>
              </a:buClr>
              <a:buChar char="•"/>
              <a:defRPr sz="2400">
                <a:solidFill>
                  <a:schemeClr val="tx1"/>
                </a:solidFill>
                <a:effectLst>
                  <a:outerShdw blurRad="38100" dist="38100" dir="2700000" algn="tl">
                    <a:srgbClr val="000000"/>
                  </a:outerShdw>
                </a:effectLst>
                <a:latin typeface="Garamond" panose="02020404030301010803" pitchFamily="18" charset="0"/>
                <a:cs typeface="Angsana New" panose="02020603050405020304" pitchFamily="18" charset="-34"/>
              </a:defRPr>
            </a:lvl3pPr>
            <a:lvl4pPr marL="1600200" indent="-228600">
              <a:spcBef>
                <a:spcPct val="20000"/>
              </a:spcBef>
              <a:buChar char="–"/>
              <a:defRPr sz="2000">
                <a:solidFill>
                  <a:schemeClr val="tx1"/>
                </a:solidFill>
                <a:effectLst>
                  <a:outerShdw blurRad="38100" dist="38100" dir="2700000" algn="tl">
                    <a:srgbClr val="000000"/>
                  </a:outerShdw>
                </a:effectLst>
                <a:latin typeface="Garamond" panose="02020404030301010803" pitchFamily="18" charset="0"/>
                <a:cs typeface="Angsana New" panose="02020603050405020304" pitchFamily="18" charset="-34"/>
              </a:defRPr>
            </a:lvl4pPr>
            <a:lvl5pPr marL="2057400" indent="-228600">
              <a:spcBef>
                <a:spcPct val="20000"/>
              </a:spcBef>
              <a:buClr>
                <a:schemeClr val="folHlink"/>
              </a:buClr>
              <a:buChar char="•"/>
              <a:defRPr sz="2000">
                <a:solidFill>
                  <a:schemeClr val="tx1"/>
                </a:solidFill>
                <a:effectLst>
                  <a:outerShdw blurRad="38100" dist="38100" dir="2700000" algn="tl">
                    <a:srgbClr val="000000"/>
                  </a:outerShdw>
                </a:effectLst>
                <a:latin typeface="Garamond" panose="02020404030301010803" pitchFamily="18" charset="0"/>
                <a:cs typeface="Angsana New" panose="02020603050405020304" pitchFamily="18" charset="-34"/>
              </a:defRPr>
            </a:lvl5pPr>
            <a:lvl6pPr marL="2514600" indent="-228600" fontAlgn="base">
              <a:spcBef>
                <a:spcPct val="20000"/>
              </a:spcBef>
              <a:spcAft>
                <a:spcPct val="0"/>
              </a:spcAft>
              <a:buClr>
                <a:schemeClr val="folHlink"/>
              </a:buClr>
              <a:buChar char="•"/>
              <a:defRPr sz="2000">
                <a:solidFill>
                  <a:schemeClr val="tx1"/>
                </a:solidFill>
                <a:effectLst>
                  <a:outerShdw blurRad="38100" dist="38100" dir="2700000" algn="tl">
                    <a:srgbClr val="000000"/>
                  </a:outerShdw>
                </a:effectLst>
                <a:latin typeface="Garamond" panose="02020404030301010803" pitchFamily="18" charset="0"/>
                <a:cs typeface="Angsana New" panose="02020603050405020304" pitchFamily="18" charset="-34"/>
              </a:defRPr>
            </a:lvl6pPr>
            <a:lvl7pPr marL="2971800" indent="-228600" fontAlgn="base">
              <a:spcBef>
                <a:spcPct val="20000"/>
              </a:spcBef>
              <a:spcAft>
                <a:spcPct val="0"/>
              </a:spcAft>
              <a:buClr>
                <a:schemeClr val="folHlink"/>
              </a:buClr>
              <a:buChar char="•"/>
              <a:defRPr sz="2000">
                <a:solidFill>
                  <a:schemeClr val="tx1"/>
                </a:solidFill>
                <a:effectLst>
                  <a:outerShdw blurRad="38100" dist="38100" dir="2700000" algn="tl">
                    <a:srgbClr val="000000"/>
                  </a:outerShdw>
                </a:effectLst>
                <a:latin typeface="Garamond" panose="02020404030301010803" pitchFamily="18" charset="0"/>
                <a:cs typeface="Angsana New" panose="02020603050405020304" pitchFamily="18" charset="-34"/>
              </a:defRPr>
            </a:lvl7pPr>
            <a:lvl8pPr marL="3429000" indent="-228600" fontAlgn="base">
              <a:spcBef>
                <a:spcPct val="20000"/>
              </a:spcBef>
              <a:spcAft>
                <a:spcPct val="0"/>
              </a:spcAft>
              <a:buClr>
                <a:schemeClr val="folHlink"/>
              </a:buClr>
              <a:buChar char="•"/>
              <a:defRPr sz="2000">
                <a:solidFill>
                  <a:schemeClr val="tx1"/>
                </a:solidFill>
                <a:effectLst>
                  <a:outerShdw blurRad="38100" dist="38100" dir="2700000" algn="tl">
                    <a:srgbClr val="000000"/>
                  </a:outerShdw>
                </a:effectLst>
                <a:latin typeface="Garamond" panose="02020404030301010803" pitchFamily="18" charset="0"/>
                <a:cs typeface="Angsana New" panose="02020603050405020304" pitchFamily="18" charset="-34"/>
              </a:defRPr>
            </a:lvl8pPr>
            <a:lvl9pPr marL="3886200" indent="-228600" fontAlgn="base">
              <a:spcBef>
                <a:spcPct val="20000"/>
              </a:spcBef>
              <a:spcAft>
                <a:spcPct val="0"/>
              </a:spcAft>
              <a:buClr>
                <a:schemeClr val="folHlink"/>
              </a:buClr>
              <a:buChar char="•"/>
              <a:defRPr sz="2000">
                <a:solidFill>
                  <a:schemeClr val="tx1"/>
                </a:solidFill>
                <a:effectLst>
                  <a:outerShdw blurRad="38100" dist="38100" dir="2700000" algn="tl">
                    <a:srgbClr val="000000"/>
                  </a:outerShdw>
                </a:effectLst>
                <a:latin typeface="Garamond" panose="02020404030301010803" pitchFamily="18" charset="0"/>
                <a:cs typeface="Angsana New" panose="02020603050405020304" pitchFamily="18" charset="-34"/>
              </a:defRPr>
            </a:lvl9pPr>
          </a:lstStyle>
          <a:p>
            <a:pPr>
              <a:defRPr/>
            </a:pPr>
            <a:r>
              <a:rPr lang="en-US" altLang="en-US" sz="2800" smtClean="0">
                <a:solidFill>
                  <a:schemeClr val="tx2"/>
                </a:solidFill>
              </a:rPr>
              <a:t>Controlled Variables</a:t>
            </a:r>
          </a:p>
          <a:p>
            <a:pPr lvl="1">
              <a:defRPr/>
            </a:pPr>
            <a:r>
              <a:rPr lang="en-US" altLang="en-US" sz="2400" smtClean="0"/>
              <a:t>Outlet kappa</a:t>
            </a:r>
          </a:p>
          <a:p>
            <a:pPr lvl="1">
              <a:defRPr/>
            </a:pPr>
            <a:r>
              <a:rPr lang="en-US" altLang="en-US" sz="2400" smtClean="0"/>
              <a:t>EA in various sections of digester</a:t>
            </a:r>
          </a:p>
          <a:p>
            <a:pPr lvl="1">
              <a:defRPr/>
            </a:pPr>
            <a:r>
              <a:rPr lang="en-US" altLang="en-US" sz="2400" smtClean="0"/>
              <a:t>Chip level</a:t>
            </a:r>
          </a:p>
          <a:p>
            <a:pPr>
              <a:defRPr/>
            </a:pPr>
            <a:r>
              <a:rPr lang="en-US" altLang="en-US" sz="2800" smtClean="0">
                <a:solidFill>
                  <a:schemeClr val="tx2"/>
                </a:solidFill>
              </a:rPr>
              <a:t>Manipulated Variables</a:t>
            </a:r>
          </a:p>
          <a:p>
            <a:pPr lvl="1">
              <a:defRPr/>
            </a:pPr>
            <a:r>
              <a:rPr lang="en-US" altLang="en-US" sz="2400" smtClean="0"/>
              <a:t>Lower heater temperature</a:t>
            </a:r>
          </a:p>
          <a:p>
            <a:pPr lvl="1">
              <a:defRPr/>
            </a:pPr>
            <a:r>
              <a:rPr lang="en-US" altLang="en-US" sz="2400" smtClean="0"/>
              <a:t>White liquor charge</a:t>
            </a:r>
          </a:p>
          <a:p>
            <a:pPr lvl="1">
              <a:defRPr/>
            </a:pPr>
            <a:r>
              <a:rPr lang="en-US" altLang="en-US" sz="2400" smtClean="0"/>
              <a:t>Chip flow rate</a:t>
            </a:r>
          </a:p>
          <a:p>
            <a:pPr lvl="1">
              <a:defRPr/>
            </a:pPr>
            <a:endParaRPr lang="en-US" altLang="en-US" sz="2400" smtClean="0"/>
          </a:p>
        </p:txBody>
      </p:sp>
      <p:pic>
        <p:nvPicPr>
          <p:cNvPr id="276483"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9350" y="1711325"/>
            <a:ext cx="3500438" cy="474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1559" name="Text Box 7"/>
          <p:cNvSpPr txBox="1">
            <a:spLocks noChangeArrowheads="1"/>
          </p:cNvSpPr>
          <p:nvPr/>
        </p:nvSpPr>
        <p:spPr bwMode="auto">
          <a:xfrm>
            <a:off x="611188" y="200025"/>
            <a:ext cx="5145087" cy="1068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3600" b="1" dirty="0">
                <a:solidFill>
                  <a:srgbClr val="FF0000"/>
                </a:solidFill>
                <a:effectLst>
                  <a:outerShdw blurRad="38100" dist="38100" dir="2700000" algn="tl">
                    <a:srgbClr val="000000"/>
                  </a:outerShdw>
                </a:effectLst>
                <a:latin typeface="Century Schoolbook" panose="02040604050505020304" pitchFamily="18" charset="0"/>
              </a:rPr>
              <a:t>Continuous digester </a:t>
            </a:r>
          </a:p>
          <a:p>
            <a:pPr>
              <a:defRPr/>
            </a:pPr>
            <a:r>
              <a:rPr lang="en-US" altLang="en-US" sz="2800" b="1" dirty="0">
                <a:effectLst>
                  <a:outerShdw blurRad="38100" dist="38100" dir="2700000" algn="tl">
                    <a:srgbClr val="000000"/>
                  </a:outerShdw>
                </a:effectLst>
                <a:latin typeface="Century Schoolbook" panose="02040604050505020304" pitchFamily="18" charset="0"/>
              </a:rPr>
              <a:t>Cooking part</a:t>
            </a:r>
          </a:p>
        </p:txBody>
      </p:sp>
    </p:spTree>
  </p:cSld>
  <p:clrMapOvr>
    <a:masterClrMapping/>
  </p:clrMapOvr>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Text Box 4"/>
          <p:cNvSpPr txBox="1">
            <a:spLocks noChangeArrowheads="1"/>
          </p:cNvSpPr>
          <p:nvPr/>
        </p:nvSpPr>
        <p:spPr bwMode="auto">
          <a:xfrm>
            <a:off x="684213" y="1844675"/>
            <a:ext cx="7273925" cy="3743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a:solidFill>
                  <a:schemeClr val="tx1"/>
                </a:solidFill>
                <a:latin typeface="Calibri" panose="020F0502020204030204" pitchFamily="34" charset="0"/>
              </a:defRPr>
            </a:lvl1pPr>
            <a:lvl2pPr marL="914400" indent="-457200">
              <a:defRPr>
                <a:solidFill>
                  <a:schemeClr val="tx1"/>
                </a:solidFill>
                <a:latin typeface="Calibri" panose="020F0502020204030204" pitchFamily="34" charset="0"/>
              </a:defRPr>
            </a:lvl2pPr>
            <a:lvl3pPr marL="1371600" indent="-457200">
              <a:defRPr>
                <a:solidFill>
                  <a:schemeClr val="tx1"/>
                </a:solidFill>
                <a:latin typeface="Calibri" panose="020F0502020204030204" pitchFamily="34" charset="0"/>
              </a:defRPr>
            </a:lvl3pPr>
            <a:lvl4pPr marL="1828800" indent="-457200">
              <a:defRPr>
                <a:solidFill>
                  <a:schemeClr val="tx1"/>
                </a:solidFill>
                <a:latin typeface="Calibri" panose="020F0502020204030204" pitchFamily="34" charset="0"/>
              </a:defRPr>
            </a:lvl4pPr>
            <a:lvl5pPr marL="2286000" indent="-457200">
              <a:defRPr>
                <a:solidFill>
                  <a:schemeClr val="tx1"/>
                </a:solidFill>
                <a:latin typeface="Calibri" panose="020F0502020204030204" pitchFamily="34" charset="0"/>
              </a:defRPr>
            </a:lvl5pPr>
            <a:lvl6pPr marL="2743200" indent="-457200" eaLnBrk="0" fontAlgn="base" hangingPunct="0">
              <a:spcBef>
                <a:spcPct val="0"/>
              </a:spcBef>
              <a:spcAft>
                <a:spcPct val="0"/>
              </a:spcAft>
              <a:defRPr>
                <a:solidFill>
                  <a:schemeClr val="tx1"/>
                </a:solidFill>
                <a:latin typeface="Calibri" panose="020F0502020204030204" pitchFamily="34" charset="0"/>
              </a:defRPr>
            </a:lvl6pPr>
            <a:lvl7pPr marL="3200400" indent="-457200" eaLnBrk="0" fontAlgn="base" hangingPunct="0">
              <a:spcBef>
                <a:spcPct val="0"/>
              </a:spcBef>
              <a:spcAft>
                <a:spcPct val="0"/>
              </a:spcAft>
              <a:defRPr>
                <a:solidFill>
                  <a:schemeClr val="tx1"/>
                </a:solidFill>
                <a:latin typeface="Calibri" panose="020F0502020204030204" pitchFamily="34" charset="0"/>
              </a:defRPr>
            </a:lvl7pPr>
            <a:lvl8pPr marL="3657600" indent="-457200" eaLnBrk="0" fontAlgn="base" hangingPunct="0">
              <a:spcBef>
                <a:spcPct val="0"/>
              </a:spcBef>
              <a:spcAft>
                <a:spcPct val="0"/>
              </a:spcAft>
              <a:defRPr>
                <a:solidFill>
                  <a:schemeClr val="tx1"/>
                </a:solidFill>
                <a:latin typeface="Calibri" panose="020F0502020204030204" pitchFamily="34" charset="0"/>
              </a:defRPr>
            </a:lvl8pPr>
            <a:lvl9pPr marL="4114800" indent="-457200" eaLnBrk="0" fontAlgn="base" hangingPunct="0">
              <a:spcBef>
                <a:spcPct val="0"/>
              </a:spcBef>
              <a:spcAft>
                <a:spcPct val="0"/>
              </a:spcAft>
              <a:defRPr>
                <a:solidFill>
                  <a:schemeClr val="tx1"/>
                </a:solidFill>
                <a:latin typeface="Calibri" panose="020F0502020204030204" pitchFamily="34" charset="0"/>
              </a:defRPr>
            </a:lvl9pPr>
          </a:lstStyle>
          <a:p>
            <a:pPr>
              <a:buFontTx/>
              <a:buAutoNum type="arabicPeriod"/>
            </a:pPr>
            <a:r>
              <a:rPr lang="en-US" altLang="en-US" sz="2400" b="1">
                <a:latin typeface="Century Schoolbook" panose="02040604050505020304" pitchFamily="18" charset="0"/>
                <a:cs typeface="Arial" panose="020B0604020202020204" pitchFamily="34" charset="0"/>
              </a:rPr>
              <a:t>Top separator (C40)</a:t>
            </a:r>
          </a:p>
          <a:p>
            <a:pPr>
              <a:buFontTx/>
              <a:buAutoNum type="arabicPeriod"/>
            </a:pPr>
            <a:r>
              <a:rPr lang="en-US" altLang="en-US" sz="2400" b="1">
                <a:latin typeface="Century Schoolbook" panose="02040604050505020304" pitchFamily="18" charset="0"/>
                <a:cs typeface="Arial" panose="020B0604020202020204" pitchFamily="34" charset="0"/>
              </a:rPr>
              <a:t>Cooking liquor in Digester</a:t>
            </a:r>
          </a:p>
          <a:p>
            <a:pPr>
              <a:buFontTx/>
              <a:buAutoNum type="arabicPeriod"/>
            </a:pPr>
            <a:r>
              <a:rPr lang="en-US" altLang="en-US" sz="2400" b="1">
                <a:latin typeface="Century Schoolbook" panose="02040604050505020304" pitchFamily="18" charset="0"/>
                <a:cs typeface="Arial" panose="020B0604020202020204" pitchFamily="34" charset="0"/>
              </a:rPr>
              <a:t>Hi-Heat washing</a:t>
            </a:r>
          </a:p>
          <a:p>
            <a:pPr>
              <a:buFontTx/>
              <a:buAutoNum type="arabicPeriod"/>
            </a:pPr>
            <a:r>
              <a:rPr lang="en-US" altLang="en-US" sz="2400" b="1">
                <a:latin typeface="Century Schoolbook" panose="02040604050505020304" pitchFamily="18" charset="0"/>
                <a:cs typeface="Arial" panose="020B0604020202020204" pitchFamily="34" charset="0"/>
              </a:rPr>
              <a:t>The cooking zones and circulation</a:t>
            </a:r>
          </a:p>
          <a:p>
            <a:pPr>
              <a:buFontTx/>
              <a:buAutoNum type="arabicPeriod"/>
            </a:pPr>
            <a:r>
              <a:rPr lang="en-US" altLang="en-US" sz="2400" b="1">
                <a:latin typeface="Century Schoolbook" panose="02040604050505020304" pitchFamily="18" charset="0"/>
                <a:cs typeface="Arial" panose="020B0604020202020204" pitchFamily="34" charset="0"/>
              </a:rPr>
              <a:t>The trim circulation (C6)</a:t>
            </a:r>
          </a:p>
          <a:p>
            <a:pPr>
              <a:buFontTx/>
              <a:buAutoNum type="arabicPeriod"/>
            </a:pPr>
            <a:r>
              <a:rPr lang="en-US" altLang="en-US" sz="2400" b="1">
                <a:latin typeface="Century Schoolbook" panose="02040604050505020304" pitchFamily="18" charset="0"/>
                <a:cs typeface="Arial" panose="020B0604020202020204" pitchFamily="34" charset="0"/>
              </a:rPr>
              <a:t>Liquor extraction</a:t>
            </a:r>
          </a:p>
          <a:p>
            <a:pPr>
              <a:buFontTx/>
              <a:buAutoNum type="arabicPeriod"/>
            </a:pPr>
            <a:r>
              <a:rPr lang="en-US" altLang="en-US" sz="2400" b="1">
                <a:latin typeface="Century Schoolbook" panose="02040604050505020304" pitchFamily="18" charset="0"/>
                <a:cs typeface="Arial" panose="020B0604020202020204" pitchFamily="34" charset="0"/>
              </a:rPr>
              <a:t>The wash circulation (C8)</a:t>
            </a:r>
          </a:p>
          <a:p>
            <a:pPr>
              <a:buFontTx/>
              <a:buAutoNum type="arabicPeriod"/>
            </a:pPr>
            <a:r>
              <a:rPr lang="en-US" altLang="en-US" sz="2400" b="1">
                <a:latin typeface="Century Schoolbook" panose="02040604050505020304" pitchFamily="18" charset="0"/>
                <a:cs typeface="Arial" panose="020B0604020202020204" pitchFamily="34" charset="0"/>
              </a:rPr>
              <a:t>Outlet device (C42)</a:t>
            </a:r>
          </a:p>
          <a:p>
            <a:pPr>
              <a:buFontTx/>
              <a:buAutoNum type="arabicPeriod"/>
            </a:pPr>
            <a:r>
              <a:rPr lang="en-US" altLang="en-US" sz="2400" b="1">
                <a:latin typeface="Century Schoolbook" panose="02040604050505020304" pitchFamily="18" charset="0"/>
                <a:cs typeface="Arial" panose="020B0604020202020204" pitchFamily="34" charset="0"/>
              </a:rPr>
              <a:t>The flash cyclone</a:t>
            </a:r>
          </a:p>
          <a:p>
            <a:pPr>
              <a:buFontTx/>
              <a:buAutoNum type="arabicPeriod"/>
            </a:pPr>
            <a:r>
              <a:rPr lang="en-US" altLang="en-US" sz="2400" b="1">
                <a:latin typeface="Century Schoolbook" panose="02040604050505020304" pitchFamily="18" charset="0"/>
                <a:cs typeface="Arial" panose="020B0604020202020204" pitchFamily="34" charset="0"/>
              </a:rPr>
              <a:t>The condensate system</a:t>
            </a:r>
            <a:endParaRPr lang="th-TH" altLang="en-US" sz="2400" b="1">
              <a:latin typeface="Century Schoolbook" panose="02040604050505020304" pitchFamily="18" charset="0"/>
              <a:cs typeface="Arial" panose="020B0604020202020204" pitchFamily="34" charset="0"/>
            </a:endParaRPr>
          </a:p>
        </p:txBody>
      </p:sp>
      <p:sp>
        <p:nvSpPr>
          <p:cNvPr id="188422" name="Text Box 6"/>
          <p:cNvSpPr txBox="1">
            <a:spLocks noChangeArrowheads="1"/>
          </p:cNvSpPr>
          <p:nvPr/>
        </p:nvSpPr>
        <p:spPr bwMode="auto">
          <a:xfrm>
            <a:off x="611188" y="200025"/>
            <a:ext cx="5145087" cy="1068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3600" b="1" dirty="0">
                <a:solidFill>
                  <a:srgbClr val="FF0000"/>
                </a:solidFill>
                <a:effectLst>
                  <a:outerShdw blurRad="38100" dist="38100" dir="2700000" algn="tl">
                    <a:srgbClr val="000000"/>
                  </a:outerShdw>
                </a:effectLst>
                <a:latin typeface="Century Schoolbook" panose="02040604050505020304" pitchFamily="18" charset="0"/>
              </a:rPr>
              <a:t>Continuous digester </a:t>
            </a:r>
          </a:p>
          <a:p>
            <a:pPr>
              <a:defRPr/>
            </a:pPr>
            <a:r>
              <a:rPr lang="en-US" altLang="en-US" sz="2800" b="1" dirty="0">
                <a:effectLst>
                  <a:outerShdw blurRad="38100" dist="38100" dir="2700000" algn="tl">
                    <a:srgbClr val="000000"/>
                  </a:outerShdw>
                </a:effectLst>
                <a:latin typeface="Century Schoolbook" panose="02040604050505020304" pitchFamily="18" charset="0"/>
              </a:rPr>
              <a:t>Cooking part</a:t>
            </a:r>
          </a:p>
        </p:txBody>
      </p:sp>
    </p:spTree>
  </p:cSld>
  <p:clrMapOvr>
    <a:masterClrMapping/>
  </p:clrMapOvr>
  <p:transition/>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Text Box 2"/>
          <p:cNvSpPr txBox="1">
            <a:spLocks noChangeArrowheads="1"/>
          </p:cNvSpPr>
          <p:nvPr/>
        </p:nvSpPr>
        <p:spPr bwMode="auto">
          <a:xfrm>
            <a:off x="611188" y="306388"/>
            <a:ext cx="563245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3600" b="1" dirty="0">
                <a:solidFill>
                  <a:srgbClr val="FF0000"/>
                </a:solidFill>
                <a:effectLst>
                  <a:outerShdw blurRad="38100" dist="38100" dir="2700000" algn="tl">
                    <a:srgbClr val="000000"/>
                  </a:outerShdw>
                </a:effectLst>
                <a:latin typeface="Century Schoolbook" panose="02040604050505020304" pitchFamily="18" charset="0"/>
              </a:rPr>
              <a:t>Kraft Pulping</a:t>
            </a:r>
          </a:p>
          <a:p>
            <a:pPr>
              <a:defRPr/>
            </a:pPr>
            <a:r>
              <a:rPr lang="en-US" altLang="en-US" sz="2400" b="1" dirty="0">
                <a:effectLst>
                  <a:outerShdw blurRad="38100" dist="38100" dir="2700000" algn="tl">
                    <a:srgbClr val="000000"/>
                  </a:outerShdw>
                </a:effectLst>
                <a:latin typeface="Century Schoolbook" panose="02040604050505020304" pitchFamily="18" charset="0"/>
              </a:rPr>
              <a:t>Basic concept for lower Kappa No.</a:t>
            </a:r>
            <a:endParaRPr lang="th-TH" altLang="en-US" sz="2400" b="1" dirty="0">
              <a:effectLst>
                <a:outerShdw blurRad="38100" dist="38100" dir="2700000" algn="tl">
                  <a:srgbClr val="000000"/>
                </a:outerShdw>
              </a:effectLst>
              <a:latin typeface="Century Schoolbook" panose="02040604050505020304" pitchFamily="18" charset="0"/>
            </a:endParaRPr>
          </a:p>
        </p:txBody>
      </p:sp>
      <p:sp>
        <p:nvSpPr>
          <p:cNvPr id="164867" name="Text Box 3"/>
          <p:cNvSpPr txBox="1">
            <a:spLocks noChangeArrowheads="1"/>
          </p:cNvSpPr>
          <p:nvPr/>
        </p:nvSpPr>
        <p:spPr bwMode="auto">
          <a:xfrm>
            <a:off x="611188" y="1679575"/>
            <a:ext cx="8478837" cy="445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533400" indent="-533400">
              <a:defRPr sz="2800">
                <a:solidFill>
                  <a:schemeClr val="tx1"/>
                </a:solidFill>
                <a:latin typeface="Arial" panose="020B0604020202020204" pitchFamily="34" charset="0"/>
                <a:cs typeface="Angsana New" panose="02020603050405020304" pitchFamily="18" charset="-34"/>
              </a:defRPr>
            </a:lvl1pPr>
            <a:lvl2pPr marL="990600" indent="-533400">
              <a:defRPr sz="2800">
                <a:solidFill>
                  <a:schemeClr val="tx1"/>
                </a:solidFill>
                <a:latin typeface="Arial" panose="020B0604020202020204" pitchFamily="34" charset="0"/>
                <a:cs typeface="Angsana New" panose="02020603050405020304" pitchFamily="18" charset="-34"/>
              </a:defRPr>
            </a:lvl2pPr>
            <a:lvl3pPr marL="1447800" indent="-533400">
              <a:defRPr sz="2800">
                <a:solidFill>
                  <a:schemeClr val="tx1"/>
                </a:solidFill>
                <a:latin typeface="Arial" panose="020B0604020202020204" pitchFamily="34" charset="0"/>
                <a:cs typeface="Angsana New" panose="02020603050405020304" pitchFamily="18" charset="-34"/>
              </a:defRPr>
            </a:lvl3pPr>
            <a:lvl4pPr marL="1905000" indent="-533400">
              <a:defRPr sz="2800">
                <a:solidFill>
                  <a:schemeClr val="tx1"/>
                </a:solidFill>
                <a:latin typeface="Arial" panose="020B0604020202020204" pitchFamily="34" charset="0"/>
                <a:cs typeface="Angsana New" panose="02020603050405020304" pitchFamily="18" charset="-34"/>
              </a:defRPr>
            </a:lvl4pPr>
            <a:lvl5pPr marL="2362200" indent="-533400">
              <a:defRPr sz="2800">
                <a:solidFill>
                  <a:schemeClr val="tx1"/>
                </a:solidFill>
                <a:latin typeface="Arial" panose="020B0604020202020204" pitchFamily="34" charset="0"/>
                <a:cs typeface="Angsana New" panose="02020603050405020304" pitchFamily="18" charset="-34"/>
              </a:defRPr>
            </a:lvl5pPr>
            <a:lvl6pPr marL="2819400" indent="-533400" fontAlgn="base">
              <a:spcBef>
                <a:spcPct val="0"/>
              </a:spcBef>
              <a:spcAft>
                <a:spcPct val="0"/>
              </a:spcAft>
              <a:defRPr sz="2800">
                <a:solidFill>
                  <a:schemeClr val="tx1"/>
                </a:solidFill>
                <a:latin typeface="Arial" panose="020B0604020202020204" pitchFamily="34" charset="0"/>
                <a:cs typeface="Angsana New" panose="02020603050405020304" pitchFamily="18" charset="-34"/>
              </a:defRPr>
            </a:lvl6pPr>
            <a:lvl7pPr marL="3276600" indent="-533400" fontAlgn="base">
              <a:spcBef>
                <a:spcPct val="0"/>
              </a:spcBef>
              <a:spcAft>
                <a:spcPct val="0"/>
              </a:spcAft>
              <a:defRPr sz="2800">
                <a:solidFill>
                  <a:schemeClr val="tx1"/>
                </a:solidFill>
                <a:latin typeface="Arial" panose="020B0604020202020204" pitchFamily="34" charset="0"/>
                <a:cs typeface="Angsana New" panose="02020603050405020304" pitchFamily="18" charset="-34"/>
              </a:defRPr>
            </a:lvl7pPr>
            <a:lvl8pPr marL="3733800" indent="-533400" fontAlgn="base">
              <a:spcBef>
                <a:spcPct val="0"/>
              </a:spcBef>
              <a:spcAft>
                <a:spcPct val="0"/>
              </a:spcAft>
              <a:defRPr sz="2800">
                <a:solidFill>
                  <a:schemeClr val="tx1"/>
                </a:solidFill>
                <a:latin typeface="Arial" panose="020B0604020202020204" pitchFamily="34" charset="0"/>
                <a:cs typeface="Angsana New" panose="02020603050405020304" pitchFamily="18" charset="-34"/>
              </a:defRPr>
            </a:lvl8pPr>
            <a:lvl9pPr marL="4191000" indent="-533400" fontAlgn="base">
              <a:spcBef>
                <a:spcPct val="0"/>
              </a:spcBef>
              <a:spcAft>
                <a:spcPct val="0"/>
              </a:spcAft>
              <a:defRPr sz="2800">
                <a:solidFill>
                  <a:schemeClr val="tx1"/>
                </a:solidFill>
                <a:latin typeface="Arial" panose="020B0604020202020204" pitchFamily="34" charset="0"/>
                <a:cs typeface="Angsana New" panose="02020603050405020304" pitchFamily="18" charset="-34"/>
              </a:defRPr>
            </a:lvl9pPr>
          </a:lstStyle>
          <a:p>
            <a:pPr>
              <a:defRPr/>
            </a:pPr>
            <a:r>
              <a:rPr lang="en-US" altLang="en-US" sz="1800" smtClean="0">
                <a:solidFill>
                  <a:schemeClr val="tx2"/>
                </a:solidFill>
                <a:effectLst>
                  <a:outerShdw blurRad="38100" dist="38100" dir="2700000" algn="tl">
                    <a:srgbClr val="000000"/>
                  </a:outerShdw>
                </a:effectLst>
                <a:latin typeface="Century Schoolbook" panose="02040604050505020304" pitchFamily="18" charset="0"/>
              </a:rPr>
              <a:t>1. Alkali concentration </a:t>
            </a:r>
            <a:r>
              <a:rPr lang="th-TH" altLang="en-US" sz="1800" smtClean="0">
                <a:solidFill>
                  <a:schemeClr val="tx2"/>
                </a:solidFill>
                <a:effectLst>
                  <a:outerShdw blurRad="38100" dist="38100" dir="2700000" algn="tl">
                    <a:srgbClr val="000000"/>
                  </a:outerShdw>
                </a:effectLst>
                <a:latin typeface="Century Schoolbook" panose="02040604050505020304" pitchFamily="18" charset="0"/>
              </a:rPr>
              <a:t>(</a:t>
            </a:r>
            <a:r>
              <a:rPr lang="en-US" altLang="en-US" sz="1800" smtClean="0">
                <a:solidFill>
                  <a:schemeClr val="tx2"/>
                </a:solidFill>
                <a:effectLst>
                  <a:outerShdw blurRad="38100" dist="38100" dir="2700000" algn="tl">
                    <a:srgbClr val="000000"/>
                  </a:outerShdw>
                </a:effectLst>
                <a:latin typeface="Century Schoolbook" panose="02040604050505020304" pitchFamily="18" charset="0"/>
              </a:rPr>
              <a:t>NaOH and Na</a:t>
            </a:r>
            <a:r>
              <a:rPr lang="th-TH" altLang="en-US" sz="1800" smtClean="0">
                <a:solidFill>
                  <a:schemeClr val="tx2"/>
                </a:solidFill>
                <a:effectLst>
                  <a:outerShdw blurRad="38100" dist="38100" dir="2700000" algn="tl">
                    <a:srgbClr val="000000"/>
                  </a:outerShdw>
                </a:effectLst>
                <a:latin typeface="Century Schoolbook" panose="02040604050505020304" pitchFamily="18" charset="0"/>
              </a:rPr>
              <a:t>2</a:t>
            </a:r>
            <a:r>
              <a:rPr lang="en-US" altLang="en-US" sz="1800" smtClean="0">
                <a:solidFill>
                  <a:schemeClr val="tx2"/>
                </a:solidFill>
                <a:effectLst>
                  <a:outerShdw blurRad="38100" dist="38100" dir="2700000" algn="tl">
                    <a:srgbClr val="000000"/>
                  </a:outerShdw>
                </a:effectLst>
                <a:latin typeface="Century Schoolbook" panose="02040604050505020304" pitchFamily="18" charset="0"/>
              </a:rPr>
              <a:t>S</a:t>
            </a:r>
            <a:r>
              <a:rPr lang="th-TH" altLang="en-US" sz="1800" smtClean="0">
                <a:solidFill>
                  <a:schemeClr val="tx2"/>
                </a:solidFill>
                <a:effectLst>
                  <a:outerShdw blurRad="38100" dist="38100" dir="2700000" algn="tl">
                    <a:srgbClr val="000000"/>
                  </a:outerShdw>
                </a:effectLst>
                <a:latin typeface="Century Schoolbook" panose="02040604050505020304" pitchFamily="18" charset="0"/>
              </a:rPr>
              <a:t>) </a:t>
            </a:r>
            <a:r>
              <a:rPr lang="en-US" altLang="en-US" sz="1800" smtClean="0">
                <a:solidFill>
                  <a:schemeClr val="tx2"/>
                </a:solidFill>
                <a:effectLst>
                  <a:outerShdw blurRad="38100" dist="38100" dir="2700000" algn="tl">
                    <a:srgbClr val="000000"/>
                  </a:outerShdw>
                </a:effectLst>
                <a:latin typeface="Century Schoolbook" panose="02040604050505020304" pitchFamily="18" charset="0"/>
              </a:rPr>
              <a:t>should be low in the beginning of </a:t>
            </a:r>
          </a:p>
          <a:p>
            <a:pPr>
              <a:defRPr/>
            </a:pPr>
            <a:r>
              <a:rPr lang="en-US" altLang="en-US" sz="1800" smtClean="0">
                <a:solidFill>
                  <a:schemeClr val="tx2"/>
                </a:solidFill>
                <a:effectLst>
                  <a:outerShdw blurRad="38100" dist="38100" dir="2700000" algn="tl">
                    <a:srgbClr val="000000"/>
                  </a:outerShdw>
                </a:effectLst>
                <a:latin typeface="Century Schoolbook" panose="02040604050505020304" pitchFamily="18" charset="0"/>
              </a:rPr>
              <a:t>cook and stay consistent during it</a:t>
            </a:r>
            <a:r>
              <a:rPr lang="th-TH" altLang="en-US" sz="1600" smtClean="0">
                <a:solidFill>
                  <a:srgbClr val="FFFF00"/>
                </a:solidFill>
                <a:effectLst>
                  <a:outerShdw blurRad="38100" dist="38100" dir="2700000" algn="tl">
                    <a:srgbClr val="000000"/>
                  </a:outerShdw>
                </a:effectLst>
                <a:latin typeface="Century Schoolbook" panose="02040604050505020304" pitchFamily="18" charset="0"/>
              </a:rPr>
              <a:t>.</a:t>
            </a:r>
            <a:r>
              <a:rPr lang="th-TH" altLang="en-US" sz="1600" smtClean="0">
                <a:latin typeface="Century Schoolbook" panose="02040604050505020304" pitchFamily="18" charset="0"/>
              </a:rPr>
              <a:t> </a:t>
            </a:r>
            <a:r>
              <a:rPr lang="en-US" altLang="en-US" sz="1600" smtClean="0">
                <a:latin typeface="Century Schoolbook" panose="02040604050505020304" pitchFamily="18" charset="0"/>
              </a:rPr>
              <a:t>High alkali concentration in the beginning </a:t>
            </a:r>
          </a:p>
          <a:p>
            <a:pPr>
              <a:defRPr/>
            </a:pPr>
            <a:r>
              <a:rPr lang="en-US" altLang="en-US" sz="1600" smtClean="0">
                <a:latin typeface="Century Schoolbook" panose="02040604050505020304" pitchFamily="18" charset="0"/>
              </a:rPr>
              <a:t>increases cellulose degradation and consumes alkali unnecessarily</a:t>
            </a:r>
            <a:r>
              <a:rPr lang="th-TH" altLang="en-US" sz="1600" smtClean="0">
                <a:latin typeface="Century Schoolbook" panose="02040604050505020304" pitchFamily="18" charset="0"/>
              </a:rPr>
              <a:t>.</a:t>
            </a:r>
            <a:r>
              <a:rPr lang="en-US" altLang="en-US" sz="1600" smtClean="0">
                <a:latin typeface="Century Schoolbook" panose="02040604050505020304" pitchFamily="18" charset="0"/>
              </a:rPr>
              <a:t/>
            </a:r>
            <a:br>
              <a:rPr lang="en-US" altLang="en-US" sz="1600" smtClean="0">
                <a:latin typeface="Century Schoolbook" panose="02040604050505020304" pitchFamily="18" charset="0"/>
              </a:rPr>
            </a:br>
            <a:endParaRPr lang="th-TH" altLang="en-US" sz="1600" smtClean="0">
              <a:latin typeface="Century Schoolbook" panose="02040604050505020304" pitchFamily="18" charset="0"/>
            </a:endParaRPr>
          </a:p>
          <a:p>
            <a:pPr>
              <a:defRPr/>
            </a:pPr>
            <a:r>
              <a:rPr lang="en-US" altLang="en-US" sz="1800" smtClean="0">
                <a:solidFill>
                  <a:schemeClr val="tx2"/>
                </a:solidFill>
                <a:effectLst>
                  <a:outerShdw blurRad="38100" dist="38100" dir="2700000" algn="tl">
                    <a:srgbClr val="000000"/>
                  </a:outerShdw>
                </a:effectLst>
                <a:latin typeface="Century Schoolbook" panose="02040604050505020304" pitchFamily="18" charset="0"/>
              </a:rPr>
              <a:t>2. </a:t>
            </a:r>
            <a:r>
              <a:rPr lang="th-TH" altLang="en-US" sz="1800" smtClean="0">
                <a:solidFill>
                  <a:schemeClr val="tx2"/>
                </a:solidFill>
                <a:effectLst>
                  <a:outerShdw blurRad="38100" dist="38100" dir="2700000" algn="tl">
                    <a:srgbClr val="000000"/>
                  </a:outerShdw>
                </a:effectLst>
                <a:latin typeface="Century Schoolbook" panose="02040604050505020304" pitchFamily="18" charset="0"/>
              </a:rPr>
              <a:t>Hydrogen sulfide concentration (HS-, forms when Na</a:t>
            </a:r>
            <a:r>
              <a:rPr lang="en-US" altLang="en-US" sz="1800" smtClean="0">
                <a:solidFill>
                  <a:schemeClr val="tx2"/>
                </a:solidFill>
                <a:effectLst>
                  <a:outerShdw blurRad="38100" dist="38100" dir="2700000" algn="tl">
                    <a:srgbClr val="000000"/>
                  </a:outerShdw>
                </a:effectLst>
                <a:latin typeface="Century Schoolbook" panose="02040604050505020304" pitchFamily="18" charset="0"/>
              </a:rPr>
              <a:t>2</a:t>
            </a:r>
            <a:r>
              <a:rPr lang="th-TH" altLang="en-US" sz="1800" smtClean="0">
                <a:solidFill>
                  <a:schemeClr val="tx2"/>
                </a:solidFill>
                <a:effectLst>
                  <a:outerShdw blurRad="38100" dist="38100" dir="2700000" algn="tl">
                    <a:srgbClr val="000000"/>
                  </a:outerShdw>
                </a:effectLst>
                <a:latin typeface="Century Schoolbook" panose="02040604050505020304" pitchFamily="18" charset="0"/>
              </a:rPr>
              <a:t>S dissolves and reacts </a:t>
            </a:r>
          </a:p>
          <a:p>
            <a:pPr>
              <a:defRPr/>
            </a:pPr>
            <a:r>
              <a:rPr lang="th-TH" altLang="en-US" sz="1800" smtClean="0">
                <a:solidFill>
                  <a:schemeClr val="tx2"/>
                </a:solidFill>
                <a:effectLst>
                  <a:outerShdw blurRad="38100" dist="38100" dir="2700000" algn="tl">
                    <a:srgbClr val="000000"/>
                  </a:outerShdw>
                </a:effectLst>
                <a:latin typeface="Century Schoolbook" panose="02040604050505020304" pitchFamily="18" charset="0"/>
              </a:rPr>
              <a:t>with wood  must be as high as possible</a:t>
            </a:r>
            <a:r>
              <a:rPr lang="th-TH" altLang="en-US" sz="1800" smtClean="0">
                <a:effectLst>
                  <a:outerShdw blurRad="38100" dist="38100" dir="2700000" algn="tl">
                    <a:srgbClr val="000000"/>
                  </a:outerShdw>
                </a:effectLst>
                <a:latin typeface="Century Schoolbook" panose="02040604050505020304" pitchFamily="18" charset="0"/>
              </a:rPr>
              <a:t> </a:t>
            </a:r>
            <a:r>
              <a:rPr lang="th-TH" altLang="en-US" sz="1800" smtClean="0">
                <a:solidFill>
                  <a:schemeClr val="tx2"/>
                </a:solidFill>
                <a:effectLst>
                  <a:outerShdw blurRad="38100" dist="38100" dir="2700000" algn="tl">
                    <a:srgbClr val="000000"/>
                  </a:outerShdw>
                </a:effectLst>
                <a:latin typeface="Century Schoolbook" panose="02040604050505020304" pitchFamily="18" charset="0"/>
              </a:rPr>
              <a:t>in the beginning of the cook</a:t>
            </a:r>
            <a:r>
              <a:rPr lang="th-TH" altLang="en-US" sz="1800" smtClean="0">
                <a:effectLst>
                  <a:outerShdw blurRad="38100" dist="38100" dir="2700000" algn="tl">
                    <a:srgbClr val="000000"/>
                  </a:outerShdw>
                </a:effectLst>
                <a:latin typeface="Century Schoolbook" panose="02040604050505020304" pitchFamily="18" charset="0"/>
              </a:rPr>
              <a:t>.</a:t>
            </a:r>
            <a:r>
              <a:rPr lang="th-TH" altLang="en-US" sz="1800" smtClean="0">
                <a:latin typeface="Century Schoolbook" panose="02040604050505020304" pitchFamily="18" charset="0"/>
              </a:rPr>
              <a:t> </a:t>
            </a:r>
            <a:r>
              <a:rPr lang="th-TH" altLang="en-US" sz="1600" smtClean="0">
                <a:latin typeface="Century Schoolbook" panose="02040604050505020304" pitchFamily="18" charset="0"/>
              </a:rPr>
              <a:t>Hydrogen </a:t>
            </a:r>
          </a:p>
          <a:p>
            <a:pPr>
              <a:defRPr/>
            </a:pPr>
            <a:r>
              <a:rPr lang="th-TH" altLang="en-US" sz="1600" smtClean="0">
                <a:latin typeface="Century Schoolbook" panose="02040604050505020304" pitchFamily="18" charset="0"/>
              </a:rPr>
              <a:t>sulfide increases lignin dissolval rate and it doesn't degradate cellulose in the </a:t>
            </a:r>
          </a:p>
          <a:p>
            <a:pPr>
              <a:defRPr/>
            </a:pPr>
            <a:r>
              <a:rPr lang="th-TH" altLang="en-US" sz="1600" smtClean="0">
                <a:latin typeface="Century Schoolbook" panose="02040604050505020304" pitchFamily="18" charset="0"/>
              </a:rPr>
              <a:t>beginning of cooking like sodium hydroxide does.</a:t>
            </a:r>
            <a:br>
              <a:rPr lang="th-TH" altLang="en-US" sz="1600" smtClean="0">
                <a:latin typeface="Century Schoolbook" panose="02040604050505020304" pitchFamily="18" charset="0"/>
              </a:rPr>
            </a:br>
            <a:endParaRPr lang="en-US" altLang="en-US" sz="1600" smtClean="0">
              <a:latin typeface="Century Schoolbook" panose="02040604050505020304" pitchFamily="18" charset="0"/>
            </a:endParaRPr>
          </a:p>
          <a:p>
            <a:pPr>
              <a:defRPr/>
            </a:pPr>
            <a:r>
              <a:rPr lang="en-US" altLang="en-US" sz="1800" smtClean="0">
                <a:solidFill>
                  <a:schemeClr val="tx2"/>
                </a:solidFill>
                <a:effectLst>
                  <a:outerShdw blurRad="38100" dist="38100" dir="2700000" algn="tl">
                    <a:srgbClr val="000000"/>
                  </a:outerShdw>
                </a:effectLst>
                <a:latin typeface="Century Schoolbook" panose="02040604050505020304" pitchFamily="18" charset="0"/>
              </a:rPr>
              <a:t>3. Dissolved lignin concentration should be as low as possible, especially in </a:t>
            </a:r>
          </a:p>
          <a:p>
            <a:pPr>
              <a:defRPr/>
            </a:pPr>
            <a:r>
              <a:rPr lang="en-US" altLang="en-US" sz="1800" smtClean="0">
                <a:solidFill>
                  <a:schemeClr val="tx2"/>
                </a:solidFill>
                <a:effectLst>
                  <a:outerShdw blurRad="38100" dist="38100" dir="2700000" algn="tl">
                    <a:srgbClr val="000000"/>
                  </a:outerShdw>
                </a:effectLst>
                <a:latin typeface="Century Schoolbook" panose="02040604050505020304" pitchFamily="18" charset="0"/>
              </a:rPr>
              <a:t>the end of cooking</a:t>
            </a:r>
            <a:r>
              <a:rPr lang="th-TH" altLang="en-US" sz="1800" smtClean="0">
                <a:solidFill>
                  <a:schemeClr val="tx2"/>
                </a:solidFill>
                <a:effectLst>
                  <a:outerShdw blurRad="38100" dist="38100" dir="2700000" algn="tl">
                    <a:srgbClr val="000000"/>
                  </a:outerShdw>
                </a:effectLst>
                <a:latin typeface="Century Schoolbook" panose="02040604050505020304" pitchFamily="18" charset="0"/>
              </a:rPr>
              <a:t>.</a:t>
            </a:r>
            <a:r>
              <a:rPr lang="th-TH" altLang="en-US" sz="1800" smtClean="0">
                <a:latin typeface="Century Schoolbook" panose="02040604050505020304" pitchFamily="18" charset="0"/>
              </a:rPr>
              <a:t> </a:t>
            </a:r>
            <a:r>
              <a:rPr lang="en-US" altLang="en-US" sz="1600" smtClean="0">
                <a:latin typeface="Century Schoolbook" panose="02040604050505020304" pitchFamily="18" charset="0"/>
              </a:rPr>
              <a:t>Dissolved lignin slows delignification reactions</a:t>
            </a:r>
            <a:r>
              <a:rPr lang="th-TH" altLang="en-US" sz="1600" smtClean="0">
                <a:latin typeface="Century Schoolbook" panose="02040604050505020304" pitchFamily="18" charset="0"/>
              </a:rPr>
              <a:t>. </a:t>
            </a:r>
            <a:r>
              <a:rPr lang="en-US" altLang="en-US" sz="1600" smtClean="0">
                <a:latin typeface="Century Schoolbook" panose="02040604050505020304" pitchFamily="18" charset="0"/>
              </a:rPr>
              <a:t>Moreover, </a:t>
            </a:r>
          </a:p>
          <a:p>
            <a:pPr>
              <a:defRPr/>
            </a:pPr>
            <a:r>
              <a:rPr lang="en-US" altLang="en-US" sz="1600" smtClean="0">
                <a:latin typeface="Century Schoolbook" panose="02040604050505020304" pitchFamily="18" charset="0"/>
              </a:rPr>
              <a:t>it may repecipitate on fiber surfaces, especially when alkali concentration </a:t>
            </a:r>
          </a:p>
          <a:p>
            <a:pPr>
              <a:defRPr/>
            </a:pPr>
            <a:r>
              <a:rPr lang="en-US" altLang="en-US" sz="1600" smtClean="0">
                <a:latin typeface="Century Schoolbook" panose="02040604050505020304" pitchFamily="18" charset="0"/>
              </a:rPr>
              <a:t>reduces too much</a:t>
            </a:r>
            <a:r>
              <a:rPr lang="th-TH" altLang="en-US" sz="1600" smtClean="0">
                <a:latin typeface="Century Schoolbook" panose="02040604050505020304" pitchFamily="18" charset="0"/>
              </a:rPr>
              <a:t>. </a:t>
            </a:r>
            <a:r>
              <a:rPr lang="en-US" altLang="en-US" sz="1600" smtClean="0">
                <a:latin typeface="Century Schoolbook" panose="02040604050505020304" pitchFamily="18" charset="0"/>
              </a:rPr>
              <a:t/>
            </a:r>
            <a:br>
              <a:rPr lang="en-US" altLang="en-US" sz="1600" smtClean="0">
                <a:latin typeface="Century Schoolbook" panose="02040604050505020304" pitchFamily="18" charset="0"/>
              </a:rPr>
            </a:br>
            <a:endParaRPr lang="th-TH" altLang="en-US" sz="1600" smtClean="0">
              <a:latin typeface="Century Schoolbook" panose="02040604050505020304" pitchFamily="18" charset="0"/>
            </a:endParaRPr>
          </a:p>
          <a:p>
            <a:pPr>
              <a:defRPr/>
            </a:pPr>
            <a:r>
              <a:rPr lang="en-US" altLang="en-US" sz="1800" smtClean="0">
                <a:solidFill>
                  <a:schemeClr val="tx2"/>
                </a:solidFill>
                <a:effectLst>
                  <a:outerShdw blurRad="38100" dist="38100" dir="2700000" algn="tl">
                    <a:srgbClr val="000000"/>
                  </a:outerShdw>
                </a:effectLst>
                <a:latin typeface="Century Schoolbook" panose="02040604050505020304" pitchFamily="18" charset="0"/>
              </a:rPr>
              <a:t>4. </a:t>
            </a:r>
            <a:r>
              <a:rPr lang="th-TH" altLang="en-US" sz="1800" smtClean="0">
                <a:solidFill>
                  <a:schemeClr val="tx2"/>
                </a:solidFill>
                <a:effectLst>
                  <a:outerShdw blurRad="38100" dist="38100" dir="2700000" algn="tl">
                    <a:srgbClr val="000000"/>
                  </a:outerShdw>
                </a:effectLst>
                <a:latin typeface="Century Schoolbook" panose="02040604050505020304" pitchFamily="18" charset="0"/>
              </a:rPr>
              <a:t>Temperature should be low, especially in the beginning of cooking.</a:t>
            </a:r>
            <a:r>
              <a:rPr lang="th-TH" altLang="en-US" sz="1800" smtClean="0">
                <a:latin typeface="Century Schoolbook" panose="02040604050505020304" pitchFamily="18" charset="0"/>
              </a:rPr>
              <a:t>  </a:t>
            </a:r>
            <a:r>
              <a:rPr lang="th-TH" altLang="en-US" sz="1600" smtClean="0">
                <a:latin typeface="Century Schoolbook" panose="02040604050505020304" pitchFamily="18" charset="0"/>
              </a:rPr>
              <a:t>Low </a:t>
            </a:r>
          </a:p>
          <a:p>
            <a:pPr>
              <a:defRPr/>
            </a:pPr>
            <a:r>
              <a:rPr lang="th-TH" altLang="en-US" sz="1600" smtClean="0">
                <a:latin typeface="Century Schoolbook" panose="02040604050505020304" pitchFamily="18" charset="0"/>
              </a:rPr>
              <a:t>temperature decreases cellulose degradation. This degradation is especially </a:t>
            </a:r>
          </a:p>
          <a:p>
            <a:pPr>
              <a:defRPr/>
            </a:pPr>
            <a:r>
              <a:rPr lang="th-TH" altLang="en-US" sz="1600" smtClean="0">
                <a:latin typeface="Century Schoolbook" panose="02040604050505020304" pitchFamily="18" charset="0"/>
              </a:rPr>
              <a:t>strong in the beginning of cooking. </a:t>
            </a:r>
          </a:p>
        </p:txBody>
      </p:sp>
    </p:spTree>
  </p:cSld>
  <p:clrMapOvr>
    <a:masterClrMapping/>
  </p:clrMapOvr>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8" name="Text Box 4"/>
          <p:cNvSpPr txBox="1">
            <a:spLocks noChangeArrowheads="1"/>
          </p:cNvSpPr>
          <p:nvPr/>
        </p:nvSpPr>
        <p:spPr bwMode="auto">
          <a:xfrm>
            <a:off x="611188" y="200025"/>
            <a:ext cx="6376987" cy="1495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3600" b="1" dirty="0">
                <a:solidFill>
                  <a:srgbClr val="FF0000"/>
                </a:solidFill>
                <a:effectLst>
                  <a:outerShdw blurRad="38100" dist="38100" dir="2700000" algn="tl">
                    <a:srgbClr val="000000"/>
                  </a:outerShdw>
                </a:effectLst>
                <a:latin typeface="Century Schoolbook" panose="02040604050505020304" pitchFamily="18" charset="0"/>
              </a:rPr>
              <a:t>Continuous digester </a:t>
            </a:r>
          </a:p>
          <a:p>
            <a:pPr>
              <a:defRPr/>
            </a:pPr>
            <a:r>
              <a:rPr lang="en-US" altLang="en-US" sz="2800" b="1" dirty="0">
                <a:effectLst>
                  <a:outerShdw blurRad="38100" dist="38100" dir="2700000" algn="tl">
                    <a:srgbClr val="000000"/>
                  </a:outerShdw>
                </a:effectLst>
                <a:latin typeface="Century Schoolbook" panose="02040604050505020304" pitchFamily="18" charset="0"/>
              </a:rPr>
              <a:t>Continuous cooking development</a:t>
            </a:r>
          </a:p>
          <a:p>
            <a:pPr>
              <a:defRPr/>
            </a:pPr>
            <a:r>
              <a:rPr lang="en-US" altLang="en-US" sz="2800" b="1" dirty="0">
                <a:solidFill>
                  <a:srgbClr val="00FF00"/>
                </a:solidFill>
                <a:effectLst>
                  <a:outerShdw blurRad="38100" dist="38100" dir="2700000" algn="tl">
                    <a:srgbClr val="000000"/>
                  </a:outerShdw>
                </a:effectLst>
                <a:latin typeface="Century Schoolbook" panose="02040604050505020304" pitchFamily="18" charset="0"/>
              </a:rPr>
              <a:t>HARDWOOD</a:t>
            </a:r>
          </a:p>
        </p:txBody>
      </p:sp>
      <p:pic>
        <p:nvPicPr>
          <p:cNvPr id="279555" name="Picture 3" descr="ap08^001"/>
          <p:cNvPicPr>
            <a:picLocks noGrp="1" noChangeAspect="1" noChangeArrowheads="1"/>
          </p:cNvPicPr>
          <p:nvPr>
            <p:ph/>
          </p:nvPr>
        </p:nvPicPr>
        <p:blipFill>
          <a:blip r:embed="rId2">
            <a:extLst>
              <a:ext uri="{28A0092B-C50C-407E-A947-70E740481C1C}">
                <a14:useLocalDpi xmlns:a14="http://schemas.microsoft.com/office/drawing/2010/main" val="0"/>
              </a:ext>
            </a:extLst>
          </a:blip>
          <a:srcRect/>
          <a:stretch>
            <a:fillRect/>
          </a:stretch>
        </p:blipFill>
        <p:spPr>
          <a:xfrm>
            <a:off x="323850" y="1844675"/>
            <a:ext cx="8496300" cy="4243388"/>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0578" name="Picture 3" descr="8"/>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619250" y="1916113"/>
            <a:ext cx="5761038" cy="4665662"/>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05829" name="Text Box 5"/>
          <p:cNvSpPr txBox="1">
            <a:spLocks noChangeArrowheads="1"/>
          </p:cNvSpPr>
          <p:nvPr/>
        </p:nvSpPr>
        <p:spPr bwMode="auto">
          <a:xfrm>
            <a:off x="611188" y="200025"/>
            <a:ext cx="6115050" cy="1495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3600" b="1" dirty="0">
                <a:solidFill>
                  <a:srgbClr val="FF0000"/>
                </a:solidFill>
                <a:effectLst>
                  <a:outerShdw blurRad="38100" dist="38100" dir="2700000" algn="tl">
                    <a:srgbClr val="000000"/>
                  </a:outerShdw>
                </a:effectLst>
                <a:latin typeface="Century Schoolbook" panose="02040604050505020304" pitchFamily="18" charset="0"/>
              </a:rPr>
              <a:t>Continuous digester </a:t>
            </a:r>
          </a:p>
          <a:p>
            <a:pPr>
              <a:defRPr/>
            </a:pPr>
            <a:r>
              <a:rPr lang="en-US" altLang="en-US" sz="2800" b="1" dirty="0">
                <a:effectLst>
                  <a:outerShdw blurRad="38100" dist="38100" dir="2700000" algn="tl">
                    <a:srgbClr val="000000"/>
                  </a:outerShdw>
                </a:effectLst>
                <a:latin typeface="Century Schoolbook" panose="02040604050505020304" pitchFamily="18" charset="0"/>
              </a:rPr>
              <a:t>Alkali profile</a:t>
            </a:r>
          </a:p>
          <a:p>
            <a:pPr>
              <a:defRPr/>
            </a:pPr>
            <a:r>
              <a:rPr lang="en-US" altLang="en-US" sz="2800" b="1" dirty="0">
                <a:solidFill>
                  <a:srgbClr val="00FF00"/>
                </a:solidFill>
                <a:effectLst>
                  <a:outerShdw blurRad="38100" dist="38100" dir="2700000" algn="tl">
                    <a:srgbClr val="000000"/>
                  </a:outerShdw>
                </a:effectLst>
                <a:latin typeface="Century Schoolbook" panose="02040604050505020304" pitchFamily="18" charset="0"/>
              </a:rPr>
              <a:t>Conventional and MCC Cooking</a:t>
            </a:r>
          </a:p>
        </p:txBody>
      </p:sp>
    </p:spTree>
  </p:cSld>
  <p:clrMapOvr>
    <a:masterClrMapping/>
  </p:clrMapOvr>
  <p:transition/>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Text Box 5"/>
          <p:cNvSpPr txBox="1">
            <a:spLocks noChangeArrowheads="1"/>
          </p:cNvSpPr>
          <p:nvPr/>
        </p:nvSpPr>
        <p:spPr bwMode="auto">
          <a:xfrm>
            <a:off x="5651500" y="1949450"/>
            <a:ext cx="3241675" cy="3387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i="1">
                <a:latin typeface="Century Schoolbook" panose="02040604050505020304" pitchFamily="18" charset="0"/>
                <a:cs typeface="Arial" panose="020B0604020202020204" pitchFamily="34" charset="0"/>
              </a:rPr>
              <a:t>Concurrent cooking</a:t>
            </a:r>
            <a:r>
              <a:rPr lang="en-US" altLang="en-US" sz="1800">
                <a:latin typeface="Century Schoolbook" panose="02040604050505020304" pitchFamily="18" charset="0"/>
                <a:cs typeface="Arial" panose="020B0604020202020204" pitchFamily="34" charset="0"/>
              </a:rPr>
              <a:t> in the </a:t>
            </a:r>
          </a:p>
          <a:p>
            <a:pPr>
              <a:spcBef>
                <a:spcPct val="0"/>
              </a:spcBef>
              <a:buFontTx/>
              <a:buNone/>
            </a:pPr>
            <a:r>
              <a:rPr lang="en-US" altLang="en-US" sz="1800">
                <a:latin typeface="Century Schoolbook" panose="02040604050505020304" pitchFamily="18" charset="0"/>
                <a:cs typeface="Arial" panose="020B0604020202020204" pitchFamily="34" charset="0"/>
              </a:rPr>
              <a:t>Upper part of the digester is </a:t>
            </a:r>
          </a:p>
          <a:p>
            <a:pPr>
              <a:spcBef>
                <a:spcPct val="0"/>
              </a:spcBef>
              <a:buFontTx/>
              <a:buNone/>
            </a:pPr>
            <a:r>
              <a:rPr lang="en-US" altLang="en-US" sz="1800">
                <a:latin typeface="Century Schoolbook" panose="02040604050505020304" pitchFamily="18" charset="0"/>
                <a:cs typeface="Arial" panose="020B0604020202020204" pitchFamily="34" charset="0"/>
              </a:rPr>
              <a:t>followed by a </a:t>
            </a:r>
            <a:r>
              <a:rPr lang="en-US" altLang="en-US" sz="1800" i="1">
                <a:latin typeface="Century Schoolbook" panose="02040604050505020304" pitchFamily="18" charset="0"/>
                <a:cs typeface="Arial" panose="020B0604020202020204" pitchFamily="34" charset="0"/>
              </a:rPr>
              <a:t>countercurrent </a:t>
            </a:r>
          </a:p>
          <a:p>
            <a:pPr>
              <a:spcBef>
                <a:spcPct val="0"/>
              </a:spcBef>
              <a:buFontTx/>
              <a:buNone/>
            </a:pPr>
            <a:r>
              <a:rPr lang="en-US" altLang="en-US" sz="1800" i="1">
                <a:latin typeface="Century Schoolbook" panose="02040604050505020304" pitchFamily="18" charset="0"/>
                <a:cs typeface="Arial" panose="020B0604020202020204" pitchFamily="34" charset="0"/>
              </a:rPr>
              <a:t>zone</a:t>
            </a:r>
            <a:r>
              <a:rPr lang="en-US" altLang="en-US" sz="1800">
                <a:latin typeface="Century Schoolbook" panose="02040604050505020304" pitchFamily="18" charset="0"/>
                <a:cs typeface="Arial" panose="020B0604020202020204" pitchFamily="34" charset="0"/>
              </a:rPr>
              <a:t> below The extraction </a:t>
            </a:r>
          </a:p>
          <a:p>
            <a:pPr>
              <a:spcBef>
                <a:spcPct val="0"/>
              </a:spcBef>
              <a:buFontTx/>
              <a:buNone/>
            </a:pPr>
            <a:r>
              <a:rPr lang="en-US" altLang="en-US" sz="1800">
                <a:latin typeface="Century Schoolbook" panose="02040604050505020304" pitchFamily="18" charset="0"/>
                <a:cs typeface="Arial" panose="020B0604020202020204" pitchFamily="34" charset="0"/>
              </a:rPr>
              <a:t>screen. Cooking combined </a:t>
            </a:r>
          </a:p>
          <a:p>
            <a:pPr>
              <a:spcBef>
                <a:spcPct val="0"/>
              </a:spcBef>
              <a:buFontTx/>
              <a:buNone/>
            </a:pPr>
            <a:r>
              <a:rPr lang="en-US" altLang="en-US" sz="1800">
                <a:latin typeface="Century Schoolbook" panose="02040604050505020304" pitchFamily="18" charset="0"/>
                <a:cs typeface="Arial" panose="020B0604020202020204" pitchFamily="34" charset="0"/>
              </a:rPr>
              <a:t>with displacement washing </a:t>
            </a:r>
          </a:p>
          <a:p>
            <a:pPr>
              <a:spcBef>
                <a:spcPct val="0"/>
              </a:spcBef>
              <a:buFontTx/>
              <a:buNone/>
            </a:pPr>
            <a:r>
              <a:rPr lang="en-US" altLang="en-US" sz="1800">
                <a:latin typeface="Century Schoolbook" panose="02040604050505020304" pitchFamily="18" charset="0"/>
                <a:cs typeface="Arial" panose="020B0604020202020204" pitchFamily="34" charset="0"/>
              </a:rPr>
              <a:t>continues in the </a:t>
            </a:r>
            <a:r>
              <a:rPr lang="en-US" altLang="en-US" sz="1800" i="1">
                <a:latin typeface="Century Schoolbook" panose="02040604050505020304" pitchFamily="18" charset="0"/>
                <a:cs typeface="Arial" panose="020B0604020202020204" pitchFamily="34" charset="0"/>
              </a:rPr>
              <a:t>ITC zone</a:t>
            </a:r>
            <a:r>
              <a:rPr lang="en-US" altLang="en-US" sz="1800">
                <a:latin typeface="Century Schoolbook" panose="02040604050505020304" pitchFamily="18" charset="0"/>
                <a:cs typeface="Arial" panose="020B0604020202020204" pitchFamily="34" charset="0"/>
              </a:rPr>
              <a:t>. </a:t>
            </a:r>
          </a:p>
          <a:p>
            <a:pPr>
              <a:spcBef>
                <a:spcPct val="0"/>
              </a:spcBef>
              <a:buFontTx/>
              <a:buNone/>
            </a:pPr>
            <a:r>
              <a:rPr lang="en-US" altLang="en-US" sz="1800">
                <a:latin typeface="Century Schoolbook" panose="02040604050505020304" pitchFamily="18" charset="0"/>
                <a:cs typeface="Arial" panose="020B0604020202020204" pitchFamily="34" charset="0"/>
              </a:rPr>
              <a:t>Additional white liquor is </a:t>
            </a:r>
          </a:p>
          <a:p>
            <a:pPr>
              <a:spcBef>
                <a:spcPct val="0"/>
              </a:spcBef>
              <a:buFontTx/>
              <a:buNone/>
            </a:pPr>
            <a:r>
              <a:rPr lang="en-US" altLang="en-US" sz="1800">
                <a:latin typeface="Century Schoolbook" panose="02040604050505020304" pitchFamily="18" charset="0"/>
                <a:cs typeface="Arial" panose="020B0604020202020204" pitchFamily="34" charset="0"/>
              </a:rPr>
              <a:t>charged and heated in the </a:t>
            </a:r>
          </a:p>
          <a:p>
            <a:pPr>
              <a:spcBef>
                <a:spcPct val="0"/>
              </a:spcBef>
              <a:buFontTx/>
              <a:buNone/>
            </a:pPr>
            <a:r>
              <a:rPr lang="en-US" altLang="en-US" sz="1800">
                <a:latin typeface="Century Schoolbook" panose="02040604050505020304" pitchFamily="18" charset="0"/>
                <a:cs typeface="Arial" panose="020B0604020202020204" pitchFamily="34" charset="0"/>
              </a:rPr>
              <a:t>circulation loops for final </a:t>
            </a:r>
          </a:p>
          <a:p>
            <a:pPr>
              <a:spcBef>
                <a:spcPct val="0"/>
              </a:spcBef>
              <a:buFontTx/>
              <a:buNone/>
            </a:pPr>
            <a:r>
              <a:rPr lang="en-US" altLang="en-US" sz="1800">
                <a:latin typeface="Century Schoolbook" panose="02040604050505020304" pitchFamily="18" charset="0"/>
                <a:cs typeface="Arial" panose="020B0604020202020204" pitchFamily="34" charset="0"/>
              </a:rPr>
              <a:t>selective cooking to a low </a:t>
            </a:r>
          </a:p>
          <a:p>
            <a:pPr>
              <a:spcBef>
                <a:spcPct val="0"/>
              </a:spcBef>
              <a:buFontTx/>
              <a:buNone/>
            </a:pPr>
            <a:r>
              <a:rPr lang="en-US" altLang="en-US" sz="1800">
                <a:latin typeface="Century Schoolbook" panose="02040604050505020304" pitchFamily="18" charset="0"/>
                <a:cs typeface="Arial" panose="020B0604020202020204" pitchFamily="34" charset="0"/>
              </a:rPr>
              <a:t>Kappa numbers. </a:t>
            </a:r>
            <a:endParaRPr lang="th-TH" altLang="en-US" sz="1800">
              <a:latin typeface="Century Schoolbook" panose="02040604050505020304" pitchFamily="18" charset="0"/>
              <a:cs typeface="Arial" panose="020B0604020202020204" pitchFamily="34" charset="0"/>
            </a:endParaRPr>
          </a:p>
        </p:txBody>
      </p:sp>
      <p:sp>
        <p:nvSpPr>
          <p:cNvPr id="191495" name="Text Box 7"/>
          <p:cNvSpPr txBox="1">
            <a:spLocks noChangeArrowheads="1"/>
          </p:cNvSpPr>
          <p:nvPr/>
        </p:nvSpPr>
        <p:spPr bwMode="auto">
          <a:xfrm>
            <a:off x="611188" y="200025"/>
            <a:ext cx="5510212" cy="1495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3600" b="1" dirty="0">
                <a:solidFill>
                  <a:srgbClr val="FF0000"/>
                </a:solidFill>
                <a:effectLst>
                  <a:outerShdw blurRad="38100" dist="38100" dir="2700000" algn="tl">
                    <a:srgbClr val="000000"/>
                  </a:outerShdw>
                </a:effectLst>
                <a:latin typeface="Century Schoolbook" panose="02040604050505020304" pitchFamily="18" charset="0"/>
              </a:rPr>
              <a:t>Continuous digester </a:t>
            </a:r>
          </a:p>
          <a:p>
            <a:pPr>
              <a:defRPr/>
            </a:pPr>
            <a:r>
              <a:rPr lang="en-US" altLang="en-US" sz="2800" b="1" dirty="0">
                <a:effectLst>
                  <a:outerShdw blurRad="38100" dist="38100" dir="2700000" algn="tl">
                    <a:srgbClr val="000000"/>
                  </a:outerShdw>
                </a:effectLst>
                <a:latin typeface="Century Schoolbook" panose="02040604050505020304" pitchFamily="18" charset="0"/>
              </a:rPr>
              <a:t>Conventional &amp; ITC Cooking</a:t>
            </a:r>
          </a:p>
          <a:p>
            <a:pPr>
              <a:defRPr/>
            </a:pPr>
            <a:r>
              <a:rPr lang="en-US" altLang="en-US" sz="2800" b="1" dirty="0">
                <a:solidFill>
                  <a:srgbClr val="00FF00"/>
                </a:solidFill>
                <a:effectLst>
                  <a:outerShdw blurRad="38100" dist="38100" dir="2700000" algn="tl">
                    <a:srgbClr val="000000"/>
                  </a:outerShdw>
                </a:effectLst>
                <a:latin typeface="Century Schoolbook" panose="02040604050505020304" pitchFamily="18" charset="0"/>
              </a:rPr>
              <a:t>HARDWOOD</a:t>
            </a:r>
          </a:p>
        </p:txBody>
      </p:sp>
      <p:pic>
        <p:nvPicPr>
          <p:cNvPr id="281604" name="Picture 3" descr="mr12^012"/>
          <p:cNvPicPr>
            <a:picLocks noGrp="1" noChangeAspect="1" noChangeArrowheads="1"/>
          </p:cNvPicPr>
          <p:nvPr>
            <p:ph/>
          </p:nvPr>
        </p:nvPicPr>
        <p:blipFill>
          <a:blip r:embed="rId2">
            <a:extLst>
              <a:ext uri="{28A0092B-C50C-407E-A947-70E740481C1C}">
                <a14:useLocalDpi xmlns:a14="http://schemas.microsoft.com/office/drawing/2010/main" val="0"/>
              </a:ext>
            </a:extLst>
          </a:blip>
          <a:srcRect/>
          <a:stretch>
            <a:fillRect/>
          </a:stretch>
        </p:blipFill>
        <p:spPr>
          <a:xfrm>
            <a:off x="684213" y="1949450"/>
            <a:ext cx="4752975" cy="3856038"/>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82626" name="Picture 2" descr="mr25^003"/>
          <p:cNvPicPr>
            <a:picLocks noGrp="1" noChangeAspect="1" noChangeArrowheads="1"/>
          </p:cNvPicPr>
          <p:nvPr>
            <p:ph/>
          </p:nvPr>
        </p:nvPicPr>
        <p:blipFill>
          <a:blip r:embed="rId2">
            <a:extLst>
              <a:ext uri="{28A0092B-C50C-407E-A947-70E740481C1C}">
                <a14:useLocalDpi xmlns:a14="http://schemas.microsoft.com/office/drawing/2010/main" val="0"/>
              </a:ext>
            </a:extLst>
          </a:blip>
          <a:srcRect/>
          <a:stretch>
            <a:fillRect/>
          </a:stretch>
        </p:blipFill>
        <p:spPr>
          <a:xfrm>
            <a:off x="755650" y="1485900"/>
            <a:ext cx="1951038" cy="5111750"/>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82627" name="Text Box 3"/>
          <p:cNvSpPr txBox="1">
            <a:spLocks noChangeArrowheads="1"/>
          </p:cNvSpPr>
          <p:nvPr/>
        </p:nvSpPr>
        <p:spPr bwMode="auto">
          <a:xfrm>
            <a:off x="7832725" y="4611688"/>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2400">
              <a:latin typeface="Arial" panose="020B0604020202020204" pitchFamily="34" charset="0"/>
              <a:cs typeface="Arial" panose="020B0604020202020204" pitchFamily="34" charset="0"/>
            </a:endParaRPr>
          </a:p>
        </p:txBody>
      </p:sp>
      <p:sp>
        <p:nvSpPr>
          <p:cNvPr id="282628" name="Text Box 5"/>
          <p:cNvSpPr txBox="1">
            <a:spLocks noChangeArrowheads="1"/>
          </p:cNvSpPr>
          <p:nvPr/>
        </p:nvSpPr>
        <p:spPr bwMode="auto">
          <a:xfrm>
            <a:off x="2843213" y="1412875"/>
            <a:ext cx="6049962" cy="51974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400">
                <a:latin typeface="Century Schoolbook" panose="02040604050505020304" pitchFamily="18" charset="0"/>
                <a:cs typeface="Arial" panose="020B0604020202020204" pitchFamily="34" charset="0"/>
              </a:rPr>
              <a:t>Type of digester	Combined steam/liquor phase with </a:t>
            </a:r>
          </a:p>
          <a:p>
            <a:pPr>
              <a:spcBef>
                <a:spcPct val="0"/>
              </a:spcBef>
              <a:buFontTx/>
              <a:buNone/>
            </a:pPr>
            <a:r>
              <a:rPr lang="en-US" altLang="en-US" sz="1400">
                <a:latin typeface="Century Schoolbook" panose="02040604050505020304" pitchFamily="18" charset="0"/>
                <a:cs typeface="Arial" panose="020B0604020202020204" pitchFamily="34" charset="0"/>
              </a:rPr>
              <a:t>		Hi-Heat diffusion washing</a:t>
            </a:r>
          </a:p>
          <a:p>
            <a:pPr>
              <a:spcBef>
                <a:spcPct val="0"/>
              </a:spcBef>
              <a:buFontTx/>
              <a:buNone/>
            </a:pPr>
            <a:endParaRPr lang="en-US" altLang="en-US" sz="1400">
              <a:latin typeface="Century Schoolbook" panose="02040604050505020304" pitchFamily="18" charset="0"/>
              <a:cs typeface="Arial" panose="020B0604020202020204" pitchFamily="34" charset="0"/>
            </a:endParaRPr>
          </a:p>
          <a:p>
            <a:pPr>
              <a:spcBef>
                <a:spcPct val="0"/>
              </a:spcBef>
              <a:buFontTx/>
              <a:buNone/>
            </a:pPr>
            <a:r>
              <a:rPr lang="en-US" altLang="en-US" sz="1400">
                <a:latin typeface="Century Schoolbook" panose="02040604050505020304" pitchFamily="18" charset="0"/>
                <a:cs typeface="Arial" panose="020B0604020202020204" pitchFamily="34" charset="0"/>
              </a:rPr>
              <a:t>Capacity		192 ADMT/24 h in the digester blow line	</a:t>
            </a:r>
          </a:p>
          <a:p>
            <a:pPr>
              <a:spcBef>
                <a:spcPct val="0"/>
              </a:spcBef>
              <a:buFontTx/>
              <a:buNone/>
            </a:pPr>
            <a:endParaRPr lang="en-US" altLang="en-US" sz="1400">
              <a:latin typeface="Century Schoolbook" panose="02040604050505020304" pitchFamily="18" charset="0"/>
              <a:cs typeface="Arial" panose="020B0604020202020204" pitchFamily="34" charset="0"/>
            </a:endParaRPr>
          </a:p>
          <a:p>
            <a:pPr>
              <a:spcBef>
                <a:spcPct val="0"/>
              </a:spcBef>
              <a:buFontTx/>
              <a:buNone/>
            </a:pPr>
            <a:r>
              <a:rPr lang="en-US" altLang="en-US" sz="1400">
                <a:latin typeface="Century Schoolbook" panose="02040604050505020304" pitchFamily="18" charset="0"/>
                <a:cs typeface="Arial" panose="020B0604020202020204" pitchFamily="34" charset="0"/>
              </a:rPr>
              <a:t>Target Kappa No.	Approx. 19 for Bamboo</a:t>
            </a:r>
          </a:p>
          <a:p>
            <a:pPr>
              <a:spcBef>
                <a:spcPct val="0"/>
              </a:spcBef>
              <a:buFontTx/>
              <a:buNone/>
            </a:pPr>
            <a:r>
              <a:rPr lang="en-US" altLang="en-US" sz="1400">
                <a:latin typeface="Century Schoolbook" panose="02040604050505020304" pitchFamily="18" charset="0"/>
                <a:cs typeface="Arial" panose="020B0604020202020204" pitchFamily="34" charset="0"/>
              </a:rPr>
              <a:t>		Approx. 25 for Eucalyptus</a:t>
            </a:r>
          </a:p>
          <a:p>
            <a:pPr>
              <a:spcBef>
                <a:spcPct val="0"/>
              </a:spcBef>
              <a:buFontTx/>
              <a:buNone/>
            </a:pPr>
            <a:endParaRPr lang="en-US" altLang="en-US" sz="1400">
              <a:latin typeface="Century Schoolbook" panose="02040604050505020304" pitchFamily="18" charset="0"/>
              <a:cs typeface="Arial" panose="020B0604020202020204" pitchFamily="34" charset="0"/>
            </a:endParaRPr>
          </a:p>
          <a:p>
            <a:pPr>
              <a:spcBef>
                <a:spcPct val="0"/>
              </a:spcBef>
              <a:buFontTx/>
              <a:buNone/>
            </a:pPr>
            <a:r>
              <a:rPr lang="en-US" altLang="en-US" sz="1400">
                <a:latin typeface="Century Schoolbook" panose="02040604050505020304" pitchFamily="18" charset="0"/>
                <a:cs typeface="Arial" panose="020B0604020202020204" pitchFamily="34" charset="0"/>
              </a:rPr>
              <a:t>Yield		47.5% in digester blow line with Bamboo</a:t>
            </a:r>
          </a:p>
          <a:p>
            <a:pPr>
              <a:spcBef>
                <a:spcPct val="0"/>
              </a:spcBef>
              <a:buFontTx/>
              <a:buNone/>
            </a:pPr>
            <a:r>
              <a:rPr lang="en-US" altLang="en-US" sz="1400">
                <a:latin typeface="Century Schoolbook" panose="02040604050505020304" pitchFamily="18" charset="0"/>
                <a:cs typeface="Arial" panose="020B0604020202020204" pitchFamily="34" charset="0"/>
              </a:rPr>
              <a:t>		43% in digester blow line with</a:t>
            </a:r>
          </a:p>
          <a:p>
            <a:pPr>
              <a:spcBef>
                <a:spcPct val="0"/>
              </a:spcBef>
              <a:buFontTx/>
              <a:buNone/>
            </a:pPr>
            <a:r>
              <a:rPr lang="en-US" altLang="en-US" sz="1400">
                <a:latin typeface="Century Schoolbook" panose="02040604050505020304" pitchFamily="18" charset="0"/>
                <a:cs typeface="Arial" panose="020B0604020202020204" pitchFamily="34" charset="0"/>
              </a:rPr>
              <a:t>		Eucalyptus Camadulensis</a:t>
            </a:r>
          </a:p>
          <a:p>
            <a:pPr>
              <a:spcBef>
                <a:spcPct val="0"/>
              </a:spcBef>
              <a:buFontTx/>
              <a:buNone/>
            </a:pPr>
            <a:endParaRPr lang="en-US" altLang="en-US" sz="1400">
              <a:latin typeface="Century Schoolbook" panose="02040604050505020304" pitchFamily="18" charset="0"/>
              <a:cs typeface="Arial" panose="020B0604020202020204" pitchFamily="34" charset="0"/>
            </a:endParaRPr>
          </a:p>
          <a:p>
            <a:pPr>
              <a:spcBef>
                <a:spcPct val="0"/>
              </a:spcBef>
              <a:buFontTx/>
              <a:buNone/>
            </a:pPr>
            <a:r>
              <a:rPr lang="en-US" altLang="en-US" sz="1400">
                <a:latin typeface="Century Schoolbook" panose="02040604050505020304" pitchFamily="18" charset="0"/>
                <a:cs typeface="Arial" panose="020B0604020202020204" pitchFamily="34" charset="0"/>
              </a:rPr>
              <a:t>Raw material	Bamboo or Eucalyptus</a:t>
            </a:r>
          </a:p>
          <a:p>
            <a:pPr>
              <a:spcBef>
                <a:spcPct val="0"/>
              </a:spcBef>
              <a:buFontTx/>
              <a:buNone/>
            </a:pPr>
            <a:r>
              <a:rPr lang="en-US" altLang="en-US" sz="1400">
                <a:latin typeface="Century Schoolbook" panose="02040604050505020304" pitchFamily="18" charset="0"/>
                <a:cs typeface="Arial" panose="020B0604020202020204" pitchFamily="34" charset="0"/>
              </a:rPr>
              <a:t>Chip weight	185 kg/m</a:t>
            </a:r>
            <a:r>
              <a:rPr lang="en-US" altLang="en-US" sz="1400" baseline="30000">
                <a:latin typeface="Century Schoolbook" panose="02040604050505020304" pitchFamily="18" charset="0"/>
                <a:ea typeface="Arial Unicode MS" panose="020B0604020202020204" pitchFamily="34" charset="-128"/>
                <a:cs typeface="Arial Unicode MS" panose="020B0604020202020204" pitchFamily="34" charset="-128"/>
              </a:rPr>
              <a:t>3</a:t>
            </a:r>
            <a:r>
              <a:rPr lang="en-US" altLang="en-US" sz="1400">
                <a:latin typeface="Century Schoolbook" panose="02040604050505020304" pitchFamily="18" charset="0"/>
                <a:cs typeface="Arial" panose="020B0604020202020204" pitchFamily="34" charset="0"/>
              </a:rPr>
              <a:t> BD for Bamboo</a:t>
            </a:r>
          </a:p>
          <a:p>
            <a:pPr>
              <a:spcBef>
                <a:spcPct val="0"/>
              </a:spcBef>
              <a:buFontTx/>
              <a:buNone/>
            </a:pPr>
            <a:r>
              <a:rPr lang="en-US" altLang="en-US" sz="1400">
                <a:latin typeface="Century Schoolbook" panose="02040604050505020304" pitchFamily="18" charset="0"/>
                <a:cs typeface="Arial" panose="020B0604020202020204" pitchFamily="34" charset="0"/>
              </a:rPr>
              <a:t>		160 kg/m</a:t>
            </a:r>
            <a:r>
              <a:rPr lang="en-US" altLang="en-US" sz="1400" baseline="30000">
                <a:latin typeface="Century Schoolbook" panose="02040604050505020304" pitchFamily="18" charset="0"/>
                <a:ea typeface="Arial Unicode MS" panose="020B0604020202020204" pitchFamily="34" charset="-128"/>
                <a:cs typeface="Arial Unicode MS" panose="020B0604020202020204" pitchFamily="34" charset="-128"/>
              </a:rPr>
              <a:t>3</a:t>
            </a:r>
            <a:r>
              <a:rPr lang="en-US" altLang="en-US" sz="1400">
                <a:latin typeface="Century Schoolbook" panose="02040604050505020304" pitchFamily="18" charset="0"/>
                <a:cs typeface="Arial" panose="020B0604020202020204" pitchFamily="34" charset="0"/>
              </a:rPr>
              <a:t> BD for Eucalyptus</a:t>
            </a:r>
          </a:p>
          <a:p>
            <a:pPr>
              <a:spcBef>
                <a:spcPct val="0"/>
              </a:spcBef>
              <a:buFontTx/>
              <a:buNone/>
            </a:pPr>
            <a:endParaRPr lang="en-US" altLang="en-US" sz="1400">
              <a:latin typeface="Century Schoolbook" panose="02040604050505020304" pitchFamily="18" charset="0"/>
              <a:cs typeface="Arial" panose="020B0604020202020204" pitchFamily="34" charset="0"/>
            </a:endParaRPr>
          </a:p>
          <a:p>
            <a:pPr>
              <a:spcBef>
                <a:spcPct val="0"/>
              </a:spcBef>
              <a:buFontTx/>
              <a:buNone/>
            </a:pPr>
            <a:r>
              <a:rPr lang="en-US" altLang="en-US" sz="1400">
                <a:latin typeface="Century Schoolbook" panose="02040604050505020304" pitchFamily="18" charset="0"/>
                <a:cs typeface="Arial" panose="020B0604020202020204" pitchFamily="34" charset="0"/>
              </a:rPr>
              <a:t>Construction 	- Cladding</a:t>
            </a:r>
          </a:p>
          <a:p>
            <a:pPr>
              <a:spcBef>
                <a:spcPct val="0"/>
              </a:spcBef>
              <a:buFontTx/>
              <a:buNone/>
            </a:pPr>
            <a:r>
              <a:rPr lang="en-US" altLang="en-US" sz="1400">
                <a:latin typeface="Century Schoolbook" panose="02040604050505020304" pitchFamily="18" charset="0"/>
                <a:cs typeface="Arial" panose="020B0604020202020204" pitchFamily="34" charset="0"/>
              </a:rPr>
              <a:t>material		- Carbon steel</a:t>
            </a:r>
          </a:p>
          <a:p>
            <a:pPr>
              <a:spcBef>
                <a:spcPct val="0"/>
              </a:spcBef>
              <a:buFontTx/>
              <a:buNone/>
            </a:pPr>
            <a:r>
              <a:rPr lang="en-US" altLang="en-US" sz="1400">
                <a:latin typeface="Century Schoolbook" panose="02040604050505020304" pitchFamily="18" charset="0"/>
                <a:cs typeface="Arial" panose="020B0604020202020204" pitchFamily="34" charset="0"/>
              </a:rPr>
              <a:t>		- Duplex</a:t>
            </a:r>
          </a:p>
          <a:p>
            <a:pPr>
              <a:spcBef>
                <a:spcPct val="0"/>
              </a:spcBef>
              <a:buFontTx/>
              <a:buNone/>
            </a:pPr>
            <a:r>
              <a:rPr lang="en-US" altLang="en-US" sz="1400">
                <a:latin typeface="Century Schoolbook" panose="02040604050505020304" pitchFamily="18" charset="0"/>
                <a:cs typeface="Arial" panose="020B0604020202020204" pitchFamily="34" charset="0"/>
              </a:rPr>
              <a:t>		- Carbon steel with overlay welding</a:t>
            </a:r>
          </a:p>
          <a:p>
            <a:pPr>
              <a:spcBef>
                <a:spcPct val="0"/>
              </a:spcBef>
              <a:buFontTx/>
              <a:buNone/>
            </a:pPr>
            <a:endParaRPr lang="en-US" altLang="en-US" sz="1400">
              <a:latin typeface="Century Schoolbook" panose="02040604050505020304" pitchFamily="18" charset="0"/>
              <a:cs typeface="Arial" panose="020B0604020202020204" pitchFamily="34" charset="0"/>
            </a:endParaRPr>
          </a:p>
          <a:p>
            <a:pPr>
              <a:spcBef>
                <a:spcPct val="0"/>
              </a:spcBef>
              <a:buFontTx/>
              <a:buNone/>
            </a:pPr>
            <a:r>
              <a:rPr lang="en-US" altLang="en-US" sz="1400">
                <a:latin typeface="Century Schoolbook" panose="02040604050505020304" pitchFamily="18" charset="0"/>
                <a:cs typeface="Arial" panose="020B0604020202020204" pitchFamily="34" charset="0"/>
              </a:rPr>
              <a:t>Volume		40 m3 Upper cooking zone</a:t>
            </a:r>
          </a:p>
          <a:p>
            <a:pPr>
              <a:spcBef>
                <a:spcPct val="0"/>
              </a:spcBef>
              <a:buFontTx/>
              <a:buNone/>
            </a:pPr>
            <a:r>
              <a:rPr lang="en-US" altLang="en-US" sz="1400">
                <a:latin typeface="Century Schoolbook" panose="02040604050505020304" pitchFamily="18" charset="0"/>
                <a:cs typeface="Arial" panose="020B0604020202020204" pitchFamily="34" charset="0"/>
              </a:rPr>
              <a:t>		76 m3 Lower cooking zone</a:t>
            </a:r>
          </a:p>
          <a:p>
            <a:pPr>
              <a:spcBef>
                <a:spcPct val="0"/>
              </a:spcBef>
              <a:buFontTx/>
              <a:buNone/>
            </a:pPr>
            <a:r>
              <a:rPr lang="en-US" altLang="en-US" sz="1400">
                <a:latin typeface="Century Schoolbook" panose="02040604050505020304" pitchFamily="18" charset="0"/>
                <a:cs typeface="Arial" panose="020B0604020202020204" pitchFamily="34" charset="0"/>
              </a:rPr>
              <a:t>		165 m3 Washing  zone		</a:t>
            </a:r>
            <a:endParaRPr lang="th-TH" altLang="en-US" sz="1400">
              <a:latin typeface="Century Schoolbook" panose="02040604050505020304" pitchFamily="18" charset="0"/>
              <a:cs typeface="Arial" panose="020B0604020202020204" pitchFamily="34" charset="0"/>
            </a:endParaRPr>
          </a:p>
        </p:txBody>
      </p:sp>
      <p:sp>
        <p:nvSpPr>
          <p:cNvPr id="192519" name="Text Box 7"/>
          <p:cNvSpPr txBox="1">
            <a:spLocks noChangeArrowheads="1"/>
          </p:cNvSpPr>
          <p:nvPr/>
        </p:nvSpPr>
        <p:spPr bwMode="auto">
          <a:xfrm>
            <a:off x="611188" y="200025"/>
            <a:ext cx="5397500" cy="1068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3600" b="1" dirty="0">
                <a:solidFill>
                  <a:srgbClr val="FF0000"/>
                </a:solidFill>
                <a:effectLst>
                  <a:outerShdw blurRad="38100" dist="38100" dir="2700000" algn="tl">
                    <a:srgbClr val="000000"/>
                  </a:outerShdw>
                </a:effectLst>
                <a:latin typeface="Century Schoolbook" panose="02040604050505020304" pitchFamily="18" charset="0"/>
              </a:rPr>
              <a:t>Continuous digester </a:t>
            </a:r>
          </a:p>
          <a:p>
            <a:pPr>
              <a:defRPr/>
            </a:pPr>
            <a:r>
              <a:rPr lang="en-US" altLang="en-US" sz="2800" b="1" dirty="0" err="1">
                <a:effectLst>
                  <a:outerShdw blurRad="38100" dist="38100" dir="2700000" algn="tl">
                    <a:srgbClr val="000000"/>
                  </a:outerShdw>
                </a:effectLst>
                <a:latin typeface="Century Schoolbook" panose="02040604050505020304" pitchFamily="18" charset="0"/>
              </a:rPr>
              <a:t>Kamyr</a:t>
            </a:r>
            <a:r>
              <a:rPr lang="en-US" altLang="en-US" sz="2800" b="1" dirty="0">
                <a:effectLst>
                  <a:outerShdw blurRad="38100" dist="38100" dir="2700000" algn="tl">
                    <a:srgbClr val="000000"/>
                  </a:outerShdw>
                </a:effectLst>
                <a:latin typeface="Century Schoolbook" panose="02040604050505020304" pitchFamily="18" charset="0"/>
              </a:rPr>
              <a:t> Cooking information</a:t>
            </a:r>
          </a:p>
        </p:txBody>
      </p:sp>
    </p:spTree>
  </p:cSld>
  <p:clrMapOvr>
    <a:masterClrMapping/>
  </p:clrMapOvr>
  <p:transition/>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3650" name="Picture 9" descr="mr25^00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650" y="1485900"/>
            <a:ext cx="1951038" cy="511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3651" name="Picture 4" descr="mr12^010"/>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a:xfrm>
            <a:off x="2771775" y="1484313"/>
            <a:ext cx="2035175" cy="2692400"/>
          </a:xfrm>
          <a:noFill/>
          <a:ln w="28575">
            <a:solidFill>
              <a:schemeClr val="bg2"/>
            </a:solidFill>
            <a:miter lim="800000"/>
            <a:headEnd/>
            <a:tailEnd/>
          </a:ln>
          <a:effectLst>
            <a:outerShdw dist="35921" dir="2700000" algn="ctr" rotWithShape="0">
              <a:srgbClr val="808080"/>
            </a:outerShdw>
          </a:effectLst>
        </p:spPr>
      </p:pic>
      <p:sp>
        <p:nvSpPr>
          <p:cNvPr id="283652" name="Rectangle 5"/>
          <p:cNvSpPr>
            <a:spLocks noChangeArrowheads="1"/>
          </p:cNvSpPr>
          <p:nvPr/>
        </p:nvSpPr>
        <p:spPr bwMode="auto">
          <a:xfrm>
            <a:off x="1116013" y="1628775"/>
            <a:ext cx="1008062" cy="1008063"/>
          </a:xfrm>
          <a:prstGeom prst="rect">
            <a:avLst/>
          </a:prstGeom>
          <a:solidFill>
            <a:srgbClr val="FF0000">
              <a:alpha val="30196"/>
            </a:srgbClr>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195590" name="Text Box 6"/>
          <p:cNvSpPr txBox="1">
            <a:spLocks noChangeArrowheads="1"/>
          </p:cNvSpPr>
          <p:nvPr/>
        </p:nvSpPr>
        <p:spPr bwMode="auto">
          <a:xfrm>
            <a:off x="4876800" y="1428750"/>
            <a:ext cx="4038600" cy="302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accent1"/>
              </a:buClr>
              <a:buFont typeface="Wingdings" panose="05000000000000000000" pitchFamily="2" charset="2"/>
              <a:buChar char="l"/>
              <a:defRPr/>
            </a:pPr>
            <a:r>
              <a:rPr lang="en-US" altLang="en-US" sz="1600" dirty="0">
                <a:latin typeface="Century Schoolbook" panose="02040604050505020304" pitchFamily="18" charset="0"/>
                <a:cs typeface="Arial" panose="020B0604020202020204" pitchFamily="34" charset="0"/>
              </a:rPr>
              <a:t> The Chips</a:t>
            </a:r>
            <a:r>
              <a:rPr lang="en-US" altLang="en-US" sz="1600" b="1" dirty="0">
                <a:effectLst>
                  <a:outerShdw blurRad="38100" dist="38100" dir="2700000" algn="tl">
                    <a:srgbClr val="000000"/>
                  </a:outerShdw>
                </a:effectLst>
                <a:latin typeface="Century Schoolbook" panose="02040604050505020304" pitchFamily="18" charset="0"/>
                <a:cs typeface="Arial" panose="020B0604020202020204" pitchFamily="34" charset="0"/>
              </a:rPr>
              <a:t> </a:t>
            </a:r>
            <a:r>
              <a:rPr lang="en-US" altLang="en-US" sz="1600" dirty="0">
                <a:latin typeface="Century Schoolbook" panose="02040604050505020304" pitchFamily="18" charset="0"/>
                <a:cs typeface="Arial" panose="020B0604020202020204" pitchFamily="34" charset="0"/>
              </a:rPr>
              <a:t> are transported by the top circulation to </a:t>
            </a:r>
            <a:r>
              <a:rPr lang="en-US" altLang="en-US" sz="1600" b="1" i="1" dirty="0">
                <a:solidFill>
                  <a:srgbClr val="FF0000"/>
                </a:solidFill>
                <a:latin typeface="Century Schoolbook" panose="02040604050505020304" pitchFamily="18" charset="0"/>
                <a:cs typeface="Arial" panose="020B0604020202020204" pitchFamily="34" charset="0"/>
              </a:rPr>
              <a:t>TOP SEPARATOR</a:t>
            </a:r>
            <a:r>
              <a:rPr lang="en-US" altLang="en-US" sz="1600" dirty="0">
                <a:solidFill>
                  <a:srgbClr val="FF0000"/>
                </a:solidFill>
                <a:latin typeface="Century Schoolbook" panose="02040604050505020304" pitchFamily="18" charset="0"/>
                <a:cs typeface="Arial" panose="020B0604020202020204" pitchFamily="34" charset="0"/>
              </a:rPr>
              <a:t> </a:t>
            </a:r>
            <a:r>
              <a:rPr lang="en-US" altLang="en-US" sz="1600" dirty="0">
                <a:latin typeface="Century Schoolbook" panose="02040604050505020304" pitchFamily="18" charset="0"/>
                <a:cs typeface="Arial" panose="020B0604020202020204" pitchFamily="34" charset="0"/>
              </a:rPr>
              <a:t>(C40) in the digester. This unit is comprised of a screw which rotates inside a strainer surrounded by a cylindrical inner shell.</a:t>
            </a:r>
          </a:p>
          <a:p>
            <a:pPr>
              <a:buClr>
                <a:schemeClr val="accent1"/>
              </a:buClr>
              <a:buFont typeface="Wingdings" panose="05000000000000000000" pitchFamily="2" charset="2"/>
              <a:buChar char="l"/>
              <a:defRPr/>
            </a:pPr>
            <a:endParaRPr lang="en-US" altLang="en-US" sz="1600" dirty="0">
              <a:latin typeface="Century Schoolbook" panose="02040604050505020304" pitchFamily="18" charset="0"/>
              <a:cs typeface="Arial" panose="020B0604020202020204" pitchFamily="34" charset="0"/>
            </a:endParaRPr>
          </a:p>
          <a:p>
            <a:pPr>
              <a:buClr>
                <a:schemeClr val="accent1"/>
              </a:buClr>
              <a:buFont typeface="Wingdings" panose="05000000000000000000" pitchFamily="2" charset="2"/>
              <a:buChar char="l"/>
              <a:defRPr/>
            </a:pPr>
            <a:r>
              <a:rPr lang="en-US" altLang="en-US" sz="1600" dirty="0">
                <a:latin typeface="Century Schoolbook" panose="02040604050505020304" pitchFamily="18" charset="0"/>
                <a:cs typeface="Arial" panose="020B0604020202020204" pitchFamily="34" charset="0"/>
              </a:rPr>
              <a:t> Between the screw and the strainer there is only a small clearance to keep the strainer free from pin chips and other small projectiles which may plug the screen plate.</a:t>
            </a:r>
          </a:p>
          <a:p>
            <a:pPr>
              <a:buClr>
                <a:schemeClr val="accent1"/>
              </a:buClr>
              <a:buFont typeface="Wingdings" panose="05000000000000000000" pitchFamily="2" charset="2"/>
              <a:buChar char="l"/>
              <a:defRPr/>
            </a:pPr>
            <a:endParaRPr lang="en-US" altLang="en-US" sz="1600" dirty="0">
              <a:latin typeface="Century Schoolbook" panose="02040604050505020304" pitchFamily="18" charset="0"/>
              <a:cs typeface="Arial" panose="020B0604020202020204" pitchFamily="34" charset="0"/>
            </a:endParaRPr>
          </a:p>
        </p:txBody>
      </p:sp>
      <p:sp>
        <p:nvSpPr>
          <p:cNvPr id="283654" name="Text Box 7"/>
          <p:cNvSpPr txBox="1">
            <a:spLocks noChangeArrowheads="1"/>
          </p:cNvSpPr>
          <p:nvPr/>
        </p:nvSpPr>
        <p:spPr bwMode="auto">
          <a:xfrm>
            <a:off x="2798763" y="4235450"/>
            <a:ext cx="6237287" cy="1558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Clr>
                <a:schemeClr val="accent1"/>
              </a:buClr>
              <a:buFont typeface="Wingdings" panose="05000000000000000000" pitchFamily="2" charset="2"/>
              <a:buChar char="l"/>
            </a:pPr>
            <a:endParaRPr lang="en-US" altLang="en-US" sz="1600">
              <a:latin typeface="Century Schoolbook" panose="02040604050505020304" pitchFamily="18" charset="0"/>
              <a:cs typeface="Arial" panose="020B0604020202020204" pitchFamily="34" charset="0"/>
            </a:endParaRPr>
          </a:p>
          <a:p>
            <a:pPr>
              <a:spcBef>
                <a:spcPct val="0"/>
              </a:spcBef>
              <a:buClr>
                <a:schemeClr val="accent1"/>
              </a:buClr>
              <a:buFont typeface="Wingdings" panose="05000000000000000000" pitchFamily="2" charset="2"/>
              <a:buChar char="l"/>
            </a:pPr>
            <a:r>
              <a:rPr lang="en-US" altLang="en-US" sz="1600">
                <a:latin typeface="Century Schoolbook" panose="02040604050505020304" pitchFamily="18" charset="0"/>
                <a:cs typeface="Arial" panose="020B0604020202020204" pitchFamily="34" charset="0"/>
              </a:rPr>
              <a:t> There is,however, a larger space between the strainer and the outer cylinder where the liquor, which has been separated from the chips, collects prior to being returned to the HP feeder by pump C4</a:t>
            </a:r>
          </a:p>
          <a:p>
            <a:pPr>
              <a:spcBef>
                <a:spcPct val="0"/>
              </a:spcBef>
              <a:buClr>
                <a:schemeClr val="accent1"/>
              </a:buClr>
              <a:buFont typeface="Wingdings" panose="05000000000000000000" pitchFamily="2" charset="2"/>
              <a:buChar char="l"/>
            </a:pPr>
            <a:endParaRPr lang="en-US" altLang="en-US" sz="1600">
              <a:latin typeface="Century Schoolbook" panose="02040604050505020304" pitchFamily="18" charset="0"/>
              <a:cs typeface="Arial" panose="020B0604020202020204" pitchFamily="34" charset="0"/>
            </a:endParaRPr>
          </a:p>
        </p:txBody>
      </p:sp>
      <p:sp>
        <p:nvSpPr>
          <p:cNvPr id="195592" name="Text Box 8"/>
          <p:cNvSpPr txBox="1">
            <a:spLocks noChangeArrowheads="1"/>
          </p:cNvSpPr>
          <p:nvPr/>
        </p:nvSpPr>
        <p:spPr bwMode="auto">
          <a:xfrm>
            <a:off x="611188" y="200025"/>
            <a:ext cx="5145087" cy="1068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3600" b="1" dirty="0">
                <a:solidFill>
                  <a:srgbClr val="FF0000"/>
                </a:solidFill>
                <a:effectLst>
                  <a:outerShdw blurRad="38100" dist="38100" dir="2700000" algn="tl">
                    <a:srgbClr val="000000"/>
                  </a:outerShdw>
                </a:effectLst>
                <a:latin typeface="Century Schoolbook" panose="02040604050505020304" pitchFamily="18" charset="0"/>
              </a:rPr>
              <a:t>Continuous digester </a:t>
            </a:r>
          </a:p>
          <a:p>
            <a:pPr>
              <a:defRPr/>
            </a:pPr>
            <a:r>
              <a:rPr lang="en-US" altLang="en-US" sz="2800" b="1" dirty="0">
                <a:effectLst>
                  <a:outerShdw blurRad="38100" dist="38100" dir="2700000" algn="tl">
                    <a:srgbClr val="000000"/>
                  </a:outerShdw>
                </a:effectLst>
                <a:latin typeface="Century Schoolbook" panose="02040604050505020304" pitchFamily="18" charset="0"/>
              </a:rPr>
              <a:t>Top Separator (C40)</a:t>
            </a:r>
          </a:p>
        </p:txBody>
      </p:sp>
    </p:spTree>
  </p:cSld>
  <p:clrMapOvr>
    <a:masterClrMapping/>
  </p:clrMapOvr>
  <p:transition/>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4674" name="Picture 2" descr="mr25^00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650" y="1485900"/>
            <a:ext cx="1951038" cy="511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4675" name="Rectangle 4"/>
          <p:cNvSpPr>
            <a:spLocks noChangeArrowheads="1"/>
          </p:cNvSpPr>
          <p:nvPr/>
        </p:nvSpPr>
        <p:spPr bwMode="auto">
          <a:xfrm>
            <a:off x="1116013" y="2924175"/>
            <a:ext cx="1008062" cy="1296988"/>
          </a:xfrm>
          <a:prstGeom prst="rect">
            <a:avLst/>
          </a:prstGeom>
          <a:solidFill>
            <a:srgbClr val="FF0000">
              <a:alpha val="30196"/>
            </a:srgbClr>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21191" name="Text Box 7"/>
          <p:cNvSpPr txBox="1">
            <a:spLocks noChangeArrowheads="1"/>
          </p:cNvSpPr>
          <p:nvPr/>
        </p:nvSpPr>
        <p:spPr bwMode="auto">
          <a:xfrm>
            <a:off x="611188" y="200025"/>
            <a:ext cx="5145087" cy="1068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3600" b="1" dirty="0">
                <a:solidFill>
                  <a:srgbClr val="FF0000"/>
                </a:solidFill>
                <a:effectLst>
                  <a:outerShdw blurRad="38100" dist="38100" dir="2700000" algn="tl">
                    <a:srgbClr val="000000"/>
                  </a:outerShdw>
                </a:effectLst>
                <a:latin typeface="Century Schoolbook" panose="02040604050505020304" pitchFamily="18" charset="0"/>
              </a:rPr>
              <a:t>Continuous digester </a:t>
            </a:r>
          </a:p>
          <a:p>
            <a:pPr>
              <a:defRPr/>
            </a:pPr>
            <a:r>
              <a:rPr lang="en-US" altLang="en-US" sz="2800" b="1" dirty="0">
                <a:effectLst>
                  <a:outerShdw blurRad="38100" dist="38100" dir="2700000" algn="tl">
                    <a:srgbClr val="000000"/>
                  </a:outerShdw>
                </a:effectLst>
                <a:latin typeface="Century Schoolbook" panose="02040604050505020304" pitchFamily="18" charset="0"/>
              </a:rPr>
              <a:t>Cooking zone</a:t>
            </a:r>
          </a:p>
        </p:txBody>
      </p:sp>
      <p:sp>
        <p:nvSpPr>
          <p:cNvPr id="284677" name="Text Box 9"/>
          <p:cNvSpPr txBox="1">
            <a:spLocks noChangeArrowheads="1"/>
          </p:cNvSpPr>
          <p:nvPr/>
        </p:nvSpPr>
        <p:spPr bwMode="auto">
          <a:xfrm>
            <a:off x="2916238" y="3789363"/>
            <a:ext cx="5832475"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Clr>
                <a:schemeClr val="accent1"/>
              </a:buClr>
              <a:buFont typeface="Wingdings" panose="05000000000000000000" pitchFamily="2" charset="2"/>
              <a:buChar char="l"/>
            </a:pPr>
            <a:r>
              <a:rPr lang="en-US" altLang="en-US" sz="1800">
                <a:latin typeface="Century Schoolbook" panose="02040604050505020304" pitchFamily="18" charset="0"/>
                <a:cs typeface="Arial" panose="020B0604020202020204" pitchFamily="34" charset="0"/>
              </a:rPr>
              <a:t> In a single vessel digester the chips and some of the transport liquor drop into the impregnation zone of the digester vessel. </a:t>
            </a:r>
            <a:r>
              <a:rPr lang="en-US" altLang="en-US" sz="1800" i="1">
                <a:solidFill>
                  <a:srgbClr val="FF0000"/>
                </a:solidFill>
                <a:latin typeface="Century Schoolbook" panose="02040604050505020304" pitchFamily="18" charset="0"/>
                <a:cs typeface="Arial" panose="020B0604020202020204" pitchFamily="34" charset="0"/>
              </a:rPr>
              <a:t>Gravity moves the column of wood chips downwards</a:t>
            </a:r>
            <a:r>
              <a:rPr lang="en-US" altLang="en-US" sz="1800">
                <a:solidFill>
                  <a:srgbClr val="FF0000"/>
                </a:solidFill>
                <a:latin typeface="Century Schoolbook" panose="02040604050505020304" pitchFamily="18" charset="0"/>
                <a:cs typeface="Arial" panose="020B0604020202020204" pitchFamily="34" charset="0"/>
              </a:rPr>
              <a:t>.</a:t>
            </a:r>
          </a:p>
        </p:txBody>
      </p:sp>
      <p:sp>
        <p:nvSpPr>
          <p:cNvPr id="284678" name="Text Box 10"/>
          <p:cNvSpPr txBox="1">
            <a:spLocks noChangeArrowheads="1"/>
          </p:cNvSpPr>
          <p:nvPr/>
        </p:nvSpPr>
        <p:spPr bwMode="auto">
          <a:xfrm>
            <a:off x="2949575" y="5157788"/>
            <a:ext cx="5943600" cy="11906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Clr>
                <a:schemeClr val="accent1"/>
              </a:buClr>
              <a:buFont typeface="Wingdings" panose="05000000000000000000" pitchFamily="2" charset="2"/>
              <a:buChar char="l"/>
            </a:pPr>
            <a:r>
              <a:rPr lang="en-US" altLang="en-US" sz="1800">
                <a:latin typeface="Century Schoolbook" panose="02040604050505020304" pitchFamily="18" charset="0"/>
                <a:cs typeface="Arial" panose="020B0604020202020204" pitchFamily="34" charset="0"/>
              </a:rPr>
              <a:t> Circulation of liquor within the digester begins with extraction through a peripheral screen. The liquor is heated externally in a heat exchanger and returned to the digester center through </a:t>
            </a:r>
            <a:r>
              <a:rPr lang="en-US" altLang="en-US" sz="1800">
                <a:solidFill>
                  <a:srgbClr val="FF0000"/>
                </a:solidFill>
                <a:latin typeface="Century Schoolbook" panose="02040604050505020304" pitchFamily="18" charset="0"/>
                <a:cs typeface="Arial" panose="020B0604020202020204" pitchFamily="34" charset="0"/>
              </a:rPr>
              <a:t>a </a:t>
            </a:r>
            <a:r>
              <a:rPr lang="en-US" altLang="en-US" sz="1800" i="1">
                <a:solidFill>
                  <a:srgbClr val="FF0000"/>
                </a:solidFill>
                <a:latin typeface="Century Schoolbook" panose="02040604050505020304" pitchFamily="18" charset="0"/>
                <a:cs typeface="Arial" panose="020B0604020202020204" pitchFamily="34" charset="0"/>
              </a:rPr>
              <a:t>central pipe.</a:t>
            </a:r>
          </a:p>
        </p:txBody>
      </p:sp>
      <p:pic>
        <p:nvPicPr>
          <p:cNvPr id="284679" name="Picture 11" descr="mr12^005"/>
          <p:cNvPicPr>
            <a:picLocks noGrp="1" noChangeAspect="1" noChangeArrowheads="1"/>
          </p:cNvPicPr>
          <p:nvPr>
            <p:ph sz="half" idx="1"/>
          </p:nvPr>
        </p:nvPicPr>
        <p:blipFill>
          <a:blip r:embed="rId3" cstate="print">
            <a:extLst>
              <a:ext uri="{28A0092B-C50C-407E-A947-70E740481C1C}">
                <a14:useLocalDpi xmlns:a14="http://schemas.microsoft.com/office/drawing/2010/main" val="0"/>
              </a:ext>
            </a:extLst>
          </a:blip>
          <a:srcRect/>
          <a:stretch>
            <a:fillRect/>
          </a:stretch>
        </p:blipFill>
        <p:spPr>
          <a:xfrm>
            <a:off x="2771775" y="1484313"/>
            <a:ext cx="2305050" cy="2209800"/>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5698" name="Picture 2" descr="mr25^00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650" y="1485900"/>
            <a:ext cx="1951038" cy="511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5699" name="Rectangle 4"/>
          <p:cNvSpPr>
            <a:spLocks noChangeArrowheads="1"/>
          </p:cNvSpPr>
          <p:nvPr/>
        </p:nvSpPr>
        <p:spPr bwMode="auto">
          <a:xfrm>
            <a:off x="1116013" y="2997200"/>
            <a:ext cx="1008062" cy="1008063"/>
          </a:xfrm>
          <a:prstGeom prst="rect">
            <a:avLst/>
          </a:prstGeom>
          <a:solidFill>
            <a:srgbClr val="FF0000">
              <a:alpha val="30196"/>
            </a:srgbClr>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17095" name="Text Box 7"/>
          <p:cNvSpPr txBox="1">
            <a:spLocks noChangeArrowheads="1"/>
          </p:cNvSpPr>
          <p:nvPr/>
        </p:nvSpPr>
        <p:spPr bwMode="auto">
          <a:xfrm>
            <a:off x="611188" y="200025"/>
            <a:ext cx="5145087" cy="1068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3600" b="1" dirty="0">
                <a:solidFill>
                  <a:srgbClr val="FF0000"/>
                </a:solidFill>
                <a:effectLst>
                  <a:outerShdw blurRad="38100" dist="38100" dir="2700000" algn="tl">
                    <a:srgbClr val="000000"/>
                  </a:outerShdw>
                </a:effectLst>
                <a:latin typeface="Century Schoolbook" panose="02040604050505020304" pitchFamily="18" charset="0"/>
              </a:rPr>
              <a:t>Continuous digester </a:t>
            </a:r>
          </a:p>
          <a:p>
            <a:pPr>
              <a:defRPr/>
            </a:pPr>
            <a:r>
              <a:rPr lang="en-US" altLang="en-US" sz="2800" b="1" dirty="0">
                <a:effectLst>
                  <a:outerShdw blurRad="38100" dist="38100" dir="2700000" algn="tl">
                    <a:srgbClr val="000000"/>
                  </a:outerShdw>
                </a:effectLst>
                <a:latin typeface="Century Schoolbook" panose="02040604050505020304" pitchFamily="18" charset="0"/>
              </a:rPr>
              <a:t>Trim circulation (C6)</a:t>
            </a:r>
          </a:p>
        </p:txBody>
      </p:sp>
      <p:pic>
        <p:nvPicPr>
          <p:cNvPr id="285701" name="Picture 9" descr="mr12^005"/>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a:xfrm>
            <a:off x="2771775" y="2565400"/>
            <a:ext cx="1973263" cy="1717675"/>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85702" name="Rectangle 10"/>
          <p:cNvSpPr>
            <a:spLocks noChangeArrowheads="1"/>
          </p:cNvSpPr>
          <p:nvPr/>
        </p:nvSpPr>
        <p:spPr bwMode="auto">
          <a:xfrm>
            <a:off x="2843213" y="3141663"/>
            <a:ext cx="792162" cy="719137"/>
          </a:xfrm>
          <a:prstGeom prst="rect">
            <a:avLst/>
          </a:prstGeom>
          <a:solidFill>
            <a:schemeClr val="accent1">
              <a:alpha val="10196"/>
            </a:schemeClr>
          </a:solidFill>
          <a:ln w="2857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17100" name="Text Box 12"/>
          <p:cNvSpPr txBox="1">
            <a:spLocks noChangeArrowheads="1"/>
          </p:cNvSpPr>
          <p:nvPr/>
        </p:nvSpPr>
        <p:spPr bwMode="auto">
          <a:xfrm>
            <a:off x="4932363" y="2592388"/>
            <a:ext cx="4032250" cy="3387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accent1"/>
              </a:buClr>
              <a:buFont typeface="Wingdings" panose="05000000000000000000" pitchFamily="2" charset="2"/>
              <a:buChar char="l"/>
              <a:defRPr/>
            </a:pPr>
            <a:r>
              <a:rPr lang="en-US" altLang="en-US" dirty="0">
                <a:latin typeface="Century Schoolbook" panose="02040604050505020304" pitchFamily="18" charset="0"/>
                <a:cs typeface="Arial" panose="020B0604020202020204" pitchFamily="34" charset="0"/>
              </a:rPr>
              <a:t> </a:t>
            </a:r>
            <a:r>
              <a:rPr lang="en-US" altLang="en-US" b="1" dirty="0">
                <a:solidFill>
                  <a:srgbClr val="FF0000"/>
                </a:solidFill>
                <a:latin typeface="Century Schoolbook" panose="02040604050505020304" pitchFamily="18" charset="0"/>
                <a:cs typeface="Arial" panose="020B0604020202020204" pitchFamily="34" charset="0"/>
              </a:rPr>
              <a:t>The trim cooking circulation </a:t>
            </a:r>
            <a:r>
              <a:rPr lang="en-US" altLang="en-US" dirty="0">
                <a:latin typeface="Century Schoolbook" panose="02040604050505020304" pitchFamily="18" charset="0"/>
                <a:cs typeface="Arial" panose="020B0604020202020204" pitchFamily="34" charset="0"/>
              </a:rPr>
              <a:t>strainers consist of two rings stave type screens with separate headers placed underneath. Sets of time controlled switching </a:t>
            </a:r>
            <a:r>
              <a:rPr lang="en-US" altLang="en-US" dirty="0">
                <a:solidFill>
                  <a:srgbClr val="FF0000"/>
                </a:solidFill>
                <a:latin typeface="Century Schoolbook" panose="02040604050505020304" pitchFamily="18" charset="0"/>
                <a:cs typeface="Arial" panose="020B0604020202020204" pitchFamily="34" charset="0"/>
              </a:rPr>
              <a:t>valve,</a:t>
            </a:r>
            <a:r>
              <a:rPr lang="en-US" altLang="en-US" i="1" dirty="0">
                <a:solidFill>
                  <a:srgbClr val="FF0000"/>
                </a:solidFill>
                <a:effectLst>
                  <a:outerShdw blurRad="38100" dist="38100" dir="2700000" algn="tl">
                    <a:srgbClr val="000000"/>
                  </a:outerShdw>
                </a:effectLst>
                <a:latin typeface="Century Schoolbook" panose="02040604050505020304" pitchFamily="18" charset="0"/>
                <a:cs typeface="Arial" panose="020B0604020202020204" pitchFamily="34" charset="0"/>
              </a:rPr>
              <a:t>KS185 in the trim </a:t>
            </a:r>
            <a:r>
              <a:rPr lang="en-US" altLang="en-US" i="1" dirty="0" err="1">
                <a:solidFill>
                  <a:srgbClr val="FF0000"/>
                </a:solidFill>
                <a:effectLst>
                  <a:outerShdw blurRad="38100" dist="38100" dir="2700000" algn="tl">
                    <a:srgbClr val="000000"/>
                  </a:outerShdw>
                </a:effectLst>
                <a:latin typeface="Century Schoolbook" panose="02040604050505020304" pitchFamily="18" charset="0"/>
                <a:cs typeface="Arial" panose="020B0604020202020204" pitchFamily="34" charset="0"/>
              </a:rPr>
              <a:t>circulation</a:t>
            </a:r>
            <a:r>
              <a:rPr lang="en-US" altLang="en-US" dirty="0" err="1">
                <a:solidFill>
                  <a:srgbClr val="FF0000"/>
                </a:solidFill>
                <a:latin typeface="Century Schoolbook" panose="02040604050505020304" pitchFamily="18" charset="0"/>
                <a:cs typeface="Arial" panose="020B0604020202020204" pitchFamily="34" charset="0"/>
              </a:rPr>
              <a:t>,continuously</a:t>
            </a:r>
            <a:r>
              <a:rPr lang="en-US" altLang="en-US" dirty="0">
                <a:solidFill>
                  <a:srgbClr val="FF0000"/>
                </a:solidFill>
                <a:latin typeface="Century Schoolbook" panose="02040604050505020304" pitchFamily="18" charset="0"/>
                <a:cs typeface="Arial" panose="020B0604020202020204" pitchFamily="34" charset="0"/>
              </a:rPr>
              <a:t> switch </a:t>
            </a:r>
            <a:r>
              <a:rPr lang="en-US" altLang="en-US" dirty="0" err="1">
                <a:solidFill>
                  <a:srgbClr val="FF0000"/>
                </a:solidFill>
                <a:latin typeface="Century Schoolbook" panose="02040604050505020304" pitchFamily="18" charset="0"/>
                <a:cs typeface="Arial" panose="020B0604020202020204" pitchFamily="34" charset="0"/>
              </a:rPr>
              <a:t>strainers,</a:t>
            </a:r>
            <a:r>
              <a:rPr lang="en-US" altLang="en-US" i="1" dirty="0" err="1">
                <a:solidFill>
                  <a:srgbClr val="FF0000"/>
                </a:solidFill>
                <a:effectLst>
                  <a:outerShdw blurRad="38100" dist="38100" dir="2700000" algn="tl">
                    <a:srgbClr val="000000"/>
                  </a:outerShdw>
                </a:effectLst>
                <a:latin typeface="Century Schoolbook" panose="02040604050505020304" pitchFamily="18" charset="0"/>
                <a:cs typeface="Arial" panose="020B0604020202020204" pitchFamily="34" charset="0"/>
              </a:rPr>
              <a:t>at</a:t>
            </a:r>
            <a:r>
              <a:rPr lang="en-US" altLang="en-US" i="1" dirty="0">
                <a:solidFill>
                  <a:srgbClr val="FF0000"/>
                </a:solidFill>
                <a:effectLst>
                  <a:outerShdw blurRad="38100" dist="38100" dir="2700000" algn="tl">
                    <a:srgbClr val="000000"/>
                  </a:outerShdw>
                </a:effectLst>
                <a:latin typeface="Century Schoolbook" panose="02040604050505020304" pitchFamily="18" charset="0"/>
                <a:cs typeface="Arial" panose="020B0604020202020204" pitchFamily="34" charset="0"/>
              </a:rPr>
              <a:t> interval of about 90 seconds</a:t>
            </a:r>
            <a:r>
              <a:rPr lang="en-US" altLang="en-US" dirty="0">
                <a:solidFill>
                  <a:srgbClr val="FF0000"/>
                </a:solidFill>
                <a:latin typeface="Century Schoolbook" panose="02040604050505020304" pitchFamily="18" charset="0"/>
                <a:cs typeface="Arial" panose="020B0604020202020204" pitchFamily="34" charset="0"/>
              </a:rPr>
              <a:t>, </a:t>
            </a:r>
            <a:r>
              <a:rPr lang="en-US" altLang="en-US" dirty="0">
                <a:latin typeface="Century Schoolbook" panose="02040604050505020304" pitchFamily="18" charset="0"/>
                <a:cs typeface="Arial" panose="020B0604020202020204" pitchFamily="34" charset="0"/>
              </a:rPr>
              <a:t>so that liquor is extracted from first the upper ring and then the lower ring. </a:t>
            </a:r>
            <a:r>
              <a:rPr lang="en-US" altLang="en-US" i="1" dirty="0">
                <a:solidFill>
                  <a:srgbClr val="FF0000"/>
                </a:solidFill>
                <a:effectLst>
                  <a:outerShdw blurRad="38100" dist="38100" dir="2700000" algn="tl">
                    <a:srgbClr val="000000"/>
                  </a:outerShdw>
                </a:effectLst>
                <a:latin typeface="Century Schoolbook" panose="02040604050505020304" pitchFamily="18" charset="0"/>
                <a:cs typeface="Arial" panose="020B0604020202020204" pitchFamily="34" charset="0"/>
              </a:rPr>
              <a:t>This procedure prevents the strainers becoming plugged.  </a:t>
            </a:r>
          </a:p>
        </p:txBody>
      </p:sp>
      <p:sp>
        <p:nvSpPr>
          <p:cNvPr id="217101" name="Text Box 13"/>
          <p:cNvSpPr txBox="1">
            <a:spLocks noChangeArrowheads="1"/>
          </p:cNvSpPr>
          <p:nvPr/>
        </p:nvSpPr>
        <p:spPr bwMode="auto">
          <a:xfrm>
            <a:off x="4932363" y="1484313"/>
            <a:ext cx="3810000" cy="915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accent1"/>
              </a:buClr>
              <a:buFont typeface="Wingdings" panose="05000000000000000000" pitchFamily="2" charset="2"/>
              <a:buChar char="l"/>
              <a:defRPr/>
            </a:pPr>
            <a:r>
              <a:rPr lang="en-US" altLang="en-US" dirty="0">
                <a:latin typeface="Century Schoolbook" panose="02040604050505020304" pitchFamily="18" charset="0"/>
                <a:cs typeface="Arial" panose="020B0604020202020204" pitchFamily="34" charset="0"/>
              </a:rPr>
              <a:t> </a:t>
            </a:r>
            <a:r>
              <a:rPr lang="en-US" altLang="en-US" b="1" dirty="0">
                <a:solidFill>
                  <a:srgbClr val="FF0000"/>
                </a:solidFill>
                <a:latin typeface="Century Schoolbook" panose="02040604050505020304" pitchFamily="18" charset="0"/>
                <a:cs typeface="Arial" panose="020B0604020202020204" pitchFamily="34" charset="0"/>
              </a:rPr>
              <a:t>The Purpose of the TRIM circulation</a:t>
            </a:r>
            <a:r>
              <a:rPr lang="en-US" altLang="en-US" b="1" dirty="0">
                <a:solidFill>
                  <a:srgbClr val="FF0000"/>
                </a:solidFill>
                <a:effectLst>
                  <a:outerShdw blurRad="38100" dist="38100" dir="2700000" algn="tl">
                    <a:srgbClr val="000000"/>
                  </a:outerShdw>
                </a:effectLst>
                <a:latin typeface="Century Schoolbook" panose="02040604050505020304" pitchFamily="18" charset="0"/>
                <a:cs typeface="Arial" panose="020B0604020202020204" pitchFamily="34" charset="0"/>
              </a:rPr>
              <a:t> </a:t>
            </a:r>
            <a:r>
              <a:rPr lang="en-US" altLang="en-US" dirty="0">
                <a:latin typeface="Century Schoolbook" panose="02040604050505020304" pitchFamily="18" charset="0"/>
                <a:cs typeface="Arial" panose="020B0604020202020204" pitchFamily="34" charset="0"/>
              </a:rPr>
              <a:t>is to adjust the temperature and alkali charge.</a:t>
            </a:r>
            <a:endParaRPr lang="en-US" altLang="en-US" i="1" dirty="0">
              <a:effectLst>
                <a:outerShdw blurRad="38100" dist="38100" dir="2700000" algn="tl">
                  <a:srgbClr val="000000"/>
                </a:outerShdw>
              </a:effectLst>
              <a:latin typeface="Century Schoolbook" panose="02040604050505020304" pitchFamily="18" charset="0"/>
              <a:cs typeface="Arial" panose="020B0604020202020204" pitchFamily="34" charset="0"/>
            </a:endParaRPr>
          </a:p>
        </p:txBody>
      </p:sp>
    </p:spTree>
  </p:cSld>
  <p:clrMapOvr>
    <a:masterClrMapping/>
  </p:clrMapOvr>
  <p:transition/>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6" name="Text Box 4"/>
          <p:cNvSpPr txBox="1">
            <a:spLocks noChangeArrowheads="1"/>
          </p:cNvSpPr>
          <p:nvPr/>
        </p:nvSpPr>
        <p:spPr bwMode="auto">
          <a:xfrm>
            <a:off x="611188" y="200025"/>
            <a:ext cx="5145087" cy="1495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3600" b="1" dirty="0">
                <a:solidFill>
                  <a:srgbClr val="FF0000"/>
                </a:solidFill>
                <a:effectLst>
                  <a:outerShdw blurRad="38100" dist="38100" dir="2700000" algn="tl">
                    <a:srgbClr val="000000"/>
                  </a:outerShdw>
                </a:effectLst>
                <a:latin typeface="Century Schoolbook" panose="02040604050505020304" pitchFamily="18" charset="0"/>
              </a:rPr>
              <a:t>Continuous digester </a:t>
            </a:r>
          </a:p>
          <a:p>
            <a:pPr>
              <a:defRPr/>
            </a:pPr>
            <a:r>
              <a:rPr lang="en-US" altLang="en-US" sz="2800" b="1" dirty="0">
                <a:effectLst>
                  <a:outerShdw blurRad="38100" dist="38100" dir="2700000" algn="tl">
                    <a:srgbClr val="000000"/>
                  </a:outerShdw>
                </a:effectLst>
                <a:latin typeface="Century Schoolbook" panose="02040604050505020304" pitchFamily="18" charset="0"/>
              </a:rPr>
              <a:t>Trim circulation (C6)</a:t>
            </a:r>
          </a:p>
          <a:p>
            <a:pPr>
              <a:defRPr/>
            </a:pPr>
            <a:r>
              <a:rPr lang="en-US" altLang="en-US" sz="2800" b="1" dirty="0">
                <a:solidFill>
                  <a:srgbClr val="00FF00"/>
                </a:solidFill>
                <a:effectLst>
                  <a:outerShdw blurRad="38100" dist="38100" dir="2700000" algn="tl">
                    <a:srgbClr val="000000"/>
                  </a:outerShdw>
                </a:effectLst>
                <a:latin typeface="Century Schoolbook" panose="02040604050505020304" pitchFamily="18" charset="0"/>
              </a:rPr>
              <a:t>TRIM STRAINER</a:t>
            </a:r>
          </a:p>
        </p:txBody>
      </p:sp>
      <p:sp>
        <p:nvSpPr>
          <p:cNvPr id="218121" name="Text Box 9"/>
          <p:cNvSpPr txBox="1">
            <a:spLocks noChangeArrowheads="1"/>
          </p:cNvSpPr>
          <p:nvPr/>
        </p:nvSpPr>
        <p:spPr bwMode="auto">
          <a:xfrm>
            <a:off x="4859338" y="1689100"/>
            <a:ext cx="4176712"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accent1"/>
              </a:buClr>
              <a:buFont typeface="Wingdings" panose="05000000000000000000" pitchFamily="2" charset="2"/>
              <a:buChar char="l"/>
              <a:defRPr/>
            </a:pPr>
            <a:r>
              <a:rPr lang="en-US" altLang="en-US" dirty="0">
                <a:latin typeface="Century Schoolbook" panose="02040604050505020304" pitchFamily="18" charset="0"/>
                <a:cs typeface="Arial" panose="020B0604020202020204" pitchFamily="34" charset="0"/>
              </a:rPr>
              <a:t> </a:t>
            </a:r>
            <a:r>
              <a:rPr lang="en-US" altLang="en-US" b="1" dirty="0">
                <a:solidFill>
                  <a:srgbClr val="FF0000"/>
                </a:solidFill>
                <a:latin typeface="Century Schoolbook" panose="02040604050505020304" pitchFamily="18" charset="0"/>
                <a:cs typeface="Arial" panose="020B0604020202020204" pitchFamily="34" charset="0"/>
              </a:rPr>
              <a:t>The C6 circulation liquor</a:t>
            </a:r>
            <a:r>
              <a:rPr lang="en-US" altLang="en-US" dirty="0">
                <a:solidFill>
                  <a:srgbClr val="FF0000"/>
                </a:solidFill>
                <a:latin typeface="Century Schoolbook" panose="02040604050505020304" pitchFamily="18" charset="0"/>
                <a:cs typeface="Arial" panose="020B0604020202020204" pitchFamily="34" charset="0"/>
              </a:rPr>
              <a:t> </a:t>
            </a:r>
            <a:r>
              <a:rPr lang="en-US" altLang="en-US" dirty="0">
                <a:latin typeface="Century Schoolbook" panose="02040604050505020304" pitchFamily="18" charset="0"/>
                <a:cs typeface="Arial" panose="020B0604020202020204" pitchFamily="34" charset="0"/>
              </a:rPr>
              <a:t>is pumped, by pump C6, through the trim circulation and returned to the chip column in the digester, via the central pipe witch discharges just above the trim circulation strainers.</a:t>
            </a:r>
            <a:endParaRPr lang="en-US" altLang="en-US" i="1" dirty="0">
              <a:effectLst>
                <a:outerShdw blurRad="38100" dist="38100" dir="2700000" algn="tl">
                  <a:srgbClr val="000000"/>
                </a:outerShdw>
              </a:effectLst>
              <a:latin typeface="Century Schoolbook" panose="02040604050505020304" pitchFamily="18" charset="0"/>
              <a:cs typeface="Arial" panose="020B0604020202020204" pitchFamily="34" charset="0"/>
            </a:endParaRPr>
          </a:p>
        </p:txBody>
      </p:sp>
      <p:sp>
        <p:nvSpPr>
          <p:cNvPr id="218122" name="Text Box 10"/>
          <p:cNvSpPr txBox="1">
            <a:spLocks noChangeArrowheads="1"/>
          </p:cNvSpPr>
          <p:nvPr/>
        </p:nvSpPr>
        <p:spPr bwMode="auto">
          <a:xfrm>
            <a:off x="4859338" y="3548063"/>
            <a:ext cx="4033837" cy="1465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accent1"/>
              </a:buClr>
              <a:buFont typeface="Wingdings" panose="05000000000000000000" pitchFamily="2" charset="2"/>
              <a:buChar char="l"/>
              <a:defRPr/>
            </a:pPr>
            <a:r>
              <a:rPr lang="en-US" altLang="en-US" dirty="0">
                <a:latin typeface="Century Schoolbook" panose="02040604050505020304" pitchFamily="18" charset="0"/>
                <a:cs typeface="Arial" panose="020B0604020202020204" pitchFamily="34" charset="0"/>
              </a:rPr>
              <a:t> </a:t>
            </a:r>
            <a:r>
              <a:rPr lang="en-US" altLang="en-US" b="1" dirty="0">
                <a:solidFill>
                  <a:srgbClr val="FF0000"/>
                </a:solidFill>
                <a:latin typeface="Century Schoolbook" panose="02040604050505020304" pitchFamily="18" charset="0"/>
                <a:cs typeface="Arial" panose="020B0604020202020204" pitchFamily="34" charset="0"/>
              </a:rPr>
              <a:t>The differential pressure</a:t>
            </a:r>
            <a:r>
              <a:rPr lang="en-US" altLang="en-US" dirty="0">
                <a:solidFill>
                  <a:srgbClr val="FF0000"/>
                </a:solidFill>
                <a:latin typeface="Century Schoolbook" panose="02040604050505020304" pitchFamily="18" charset="0"/>
                <a:cs typeface="Arial" panose="020B0604020202020204" pitchFamily="34" charset="0"/>
              </a:rPr>
              <a:t> </a:t>
            </a:r>
            <a:r>
              <a:rPr lang="en-US" altLang="en-US" dirty="0">
                <a:latin typeface="Century Schoolbook" panose="02040604050505020304" pitchFamily="18" charset="0"/>
                <a:cs typeface="Arial" panose="020B0604020202020204" pitchFamily="34" charset="0"/>
              </a:rPr>
              <a:t>,d/p, across the upper strainer ring in the trim circulation is measured by </a:t>
            </a:r>
            <a:r>
              <a:rPr lang="en-US" altLang="en-US" i="1" dirty="0">
                <a:effectLst>
                  <a:outerShdw blurRad="38100" dist="38100" dir="2700000" algn="tl">
                    <a:srgbClr val="000000"/>
                  </a:outerShdw>
                </a:effectLst>
                <a:latin typeface="Century Schoolbook" panose="02040604050505020304" pitchFamily="18" charset="0"/>
                <a:cs typeface="Arial" panose="020B0604020202020204" pitchFamily="34" charset="0"/>
              </a:rPr>
              <a:t>PDIA184</a:t>
            </a:r>
            <a:r>
              <a:rPr lang="en-US" altLang="en-US" dirty="0">
                <a:latin typeface="Century Schoolbook" panose="02040604050505020304" pitchFamily="18" charset="0"/>
                <a:cs typeface="Arial" panose="020B0604020202020204" pitchFamily="34" charset="0"/>
              </a:rPr>
              <a:t> and lower strainer ring is measured by </a:t>
            </a:r>
            <a:r>
              <a:rPr lang="en-US" altLang="en-US" i="1" dirty="0">
                <a:effectLst>
                  <a:outerShdw blurRad="38100" dist="38100" dir="2700000" algn="tl">
                    <a:srgbClr val="000000"/>
                  </a:outerShdw>
                </a:effectLst>
                <a:latin typeface="Century Schoolbook" panose="02040604050505020304" pitchFamily="18" charset="0"/>
                <a:cs typeface="Arial" panose="020B0604020202020204" pitchFamily="34" charset="0"/>
              </a:rPr>
              <a:t>PDIA170.</a:t>
            </a:r>
          </a:p>
        </p:txBody>
      </p:sp>
      <p:sp>
        <p:nvSpPr>
          <p:cNvPr id="218123" name="Text Box 11"/>
          <p:cNvSpPr txBox="1">
            <a:spLocks noChangeArrowheads="1"/>
          </p:cNvSpPr>
          <p:nvPr/>
        </p:nvSpPr>
        <p:spPr bwMode="auto">
          <a:xfrm>
            <a:off x="4859338" y="5203825"/>
            <a:ext cx="3960812" cy="1465263"/>
          </a:xfrm>
          <a:prstGeom prst="rect">
            <a:avLst/>
          </a:prstGeom>
          <a:solidFill>
            <a:schemeClr val="bg1"/>
          </a:solidFill>
          <a:ln>
            <a:noFill/>
          </a:ln>
          <a:effectLst/>
        </p:spPr>
        <p:txBody>
          <a:bodyPr>
            <a:spAutoFit/>
          </a:bodyPr>
          <a:lstStyle/>
          <a:p>
            <a:pPr>
              <a:buClr>
                <a:schemeClr val="accent1"/>
              </a:buClr>
              <a:buFont typeface="Wingdings" panose="05000000000000000000" pitchFamily="2" charset="2"/>
              <a:buChar char="l"/>
              <a:defRPr/>
            </a:pPr>
            <a:r>
              <a:rPr lang="en-US" altLang="en-US" dirty="0">
                <a:latin typeface="Century Schoolbook" panose="02040604050505020304" pitchFamily="18" charset="0"/>
                <a:cs typeface="Arial" panose="020B0604020202020204" pitchFamily="34" charset="0"/>
              </a:rPr>
              <a:t> </a:t>
            </a:r>
            <a:r>
              <a:rPr lang="en-US" altLang="en-US" b="1" dirty="0">
                <a:solidFill>
                  <a:srgbClr val="FF0000"/>
                </a:solidFill>
                <a:latin typeface="Century Schoolbook" panose="02040604050505020304" pitchFamily="18" charset="0"/>
                <a:cs typeface="Arial" panose="020B0604020202020204" pitchFamily="34" charset="0"/>
              </a:rPr>
              <a:t>The flow</a:t>
            </a:r>
            <a:r>
              <a:rPr lang="en-US" altLang="en-US" dirty="0">
                <a:solidFill>
                  <a:srgbClr val="FF0000"/>
                </a:solidFill>
                <a:latin typeface="Century Schoolbook" panose="02040604050505020304" pitchFamily="18" charset="0"/>
                <a:cs typeface="Arial" panose="020B0604020202020204" pitchFamily="34" charset="0"/>
              </a:rPr>
              <a:t> </a:t>
            </a:r>
            <a:r>
              <a:rPr lang="en-US" altLang="en-US" dirty="0">
                <a:latin typeface="Century Schoolbook" panose="02040604050505020304" pitchFamily="18" charset="0"/>
                <a:cs typeface="Arial" panose="020B0604020202020204" pitchFamily="34" charset="0"/>
              </a:rPr>
              <a:t>in the trim circulation at normal </a:t>
            </a:r>
            <a:r>
              <a:rPr lang="en-US" altLang="en-US" dirty="0" err="1">
                <a:latin typeface="Century Schoolbook" panose="02040604050505020304" pitchFamily="18" charset="0"/>
                <a:cs typeface="Arial" panose="020B0604020202020204" pitchFamily="34" charset="0"/>
              </a:rPr>
              <a:t>production,given</a:t>
            </a:r>
            <a:r>
              <a:rPr lang="en-US" altLang="en-US" dirty="0">
                <a:latin typeface="Century Schoolbook" panose="02040604050505020304" pitchFamily="18" charset="0"/>
                <a:cs typeface="Arial" panose="020B0604020202020204" pitchFamily="34" charset="0"/>
              </a:rPr>
              <a:t> in </a:t>
            </a:r>
            <a:r>
              <a:rPr lang="en-US" altLang="en-US" dirty="0" err="1">
                <a:latin typeface="Century Schoolbook" panose="02040604050505020304" pitchFamily="18" charset="0"/>
                <a:cs typeface="Arial" panose="020B0604020202020204" pitchFamily="34" charset="0"/>
              </a:rPr>
              <a:t>lts</a:t>
            </a:r>
            <a:r>
              <a:rPr lang="en-US" altLang="en-US" dirty="0">
                <a:latin typeface="Century Schoolbook" panose="02040604050505020304" pitchFamily="18" charset="0"/>
                <a:cs typeface="Arial" panose="020B0604020202020204" pitchFamily="34" charset="0"/>
              </a:rPr>
              <a:t>/min, is </a:t>
            </a:r>
            <a:r>
              <a:rPr lang="en-US" altLang="en-US" i="1" dirty="0">
                <a:solidFill>
                  <a:srgbClr val="FF0000"/>
                </a:solidFill>
                <a:effectLst>
                  <a:outerShdw blurRad="38100" dist="38100" dir="2700000" algn="tl">
                    <a:srgbClr val="000000"/>
                  </a:outerShdw>
                </a:effectLst>
                <a:latin typeface="Century Schoolbook" panose="02040604050505020304" pitchFamily="18" charset="0"/>
                <a:cs typeface="Arial" panose="020B0604020202020204" pitchFamily="34" charset="0"/>
              </a:rPr>
              <a:t>approximately 3 times the daily pulp production, given in ADT.</a:t>
            </a:r>
            <a:r>
              <a:rPr lang="en-US" altLang="en-US" dirty="0">
                <a:solidFill>
                  <a:srgbClr val="FF0000"/>
                </a:solidFill>
                <a:latin typeface="Century Schoolbook" panose="02040604050505020304" pitchFamily="18" charset="0"/>
                <a:cs typeface="Arial" panose="020B0604020202020204" pitchFamily="34" charset="0"/>
              </a:rPr>
              <a:t> </a:t>
            </a:r>
            <a:endParaRPr lang="en-US" altLang="en-US" i="1" dirty="0">
              <a:solidFill>
                <a:srgbClr val="FF0000"/>
              </a:solidFill>
              <a:effectLst>
                <a:outerShdw blurRad="38100" dist="38100" dir="2700000" algn="tl">
                  <a:srgbClr val="000000"/>
                </a:outerShdw>
              </a:effectLst>
              <a:latin typeface="Century Schoolbook" panose="02040604050505020304" pitchFamily="18" charset="0"/>
              <a:cs typeface="Arial" panose="020B0604020202020204" pitchFamily="34" charset="0"/>
            </a:endParaRPr>
          </a:p>
        </p:txBody>
      </p:sp>
      <p:pic>
        <p:nvPicPr>
          <p:cNvPr id="286726" name="Picture 7" descr="mr18^01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900" y="1695450"/>
            <a:ext cx="4270375" cy="4841875"/>
          </a:xfrm>
          <a:prstGeom prst="rect">
            <a:avLst/>
          </a:prstGeom>
          <a:noFill/>
          <a:ln w="9525">
            <a:solidFill>
              <a:schemeClr val="bg2"/>
            </a:solidFill>
            <a:miter lim="800000"/>
            <a:headEnd/>
            <a:tailEnd/>
          </a:ln>
          <a:effectLst>
            <a:outerShdw dist="35921" dir="2700000" algn="ctr" rotWithShape="0">
              <a:srgbClr val="808080"/>
            </a:outerShdw>
          </a:effectLst>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8770" name="Picture 2" descr="mr25^00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650" y="1485900"/>
            <a:ext cx="1951038" cy="511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8771" name="Rectangle 3"/>
          <p:cNvSpPr>
            <a:spLocks noChangeArrowheads="1"/>
          </p:cNvSpPr>
          <p:nvPr/>
        </p:nvSpPr>
        <p:spPr bwMode="auto">
          <a:xfrm>
            <a:off x="1116013" y="4005263"/>
            <a:ext cx="1008062" cy="1008062"/>
          </a:xfrm>
          <a:prstGeom prst="rect">
            <a:avLst/>
          </a:prstGeom>
          <a:solidFill>
            <a:srgbClr val="FF0000">
              <a:alpha val="30196"/>
            </a:srgbClr>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20164" name="Text Box 4"/>
          <p:cNvSpPr txBox="1">
            <a:spLocks noChangeArrowheads="1"/>
          </p:cNvSpPr>
          <p:nvPr/>
        </p:nvSpPr>
        <p:spPr bwMode="auto">
          <a:xfrm>
            <a:off x="611188" y="200025"/>
            <a:ext cx="5145087" cy="1068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3600" b="1" dirty="0">
                <a:solidFill>
                  <a:srgbClr val="FF0000"/>
                </a:solidFill>
                <a:effectLst>
                  <a:outerShdw blurRad="38100" dist="38100" dir="2700000" algn="tl">
                    <a:srgbClr val="000000"/>
                  </a:outerShdw>
                </a:effectLst>
                <a:latin typeface="Century Schoolbook" panose="02040604050505020304" pitchFamily="18" charset="0"/>
              </a:rPr>
              <a:t>Continuous digester </a:t>
            </a:r>
          </a:p>
          <a:p>
            <a:pPr>
              <a:defRPr/>
            </a:pPr>
            <a:r>
              <a:rPr lang="en-US" altLang="en-US" sz="2800" b="1" dirty="0">
                <a:effectLst>
                  <a:outerShdw blurRad="38100" dist="38100" dir="2700000" algn="tl">
                    <a:srgbClr val="000000"/>
                  </a:outerShdw>
                </a:effectLst>
                <a:latin typeface="Century Schoolbook" panose="02040604050505020304" pitchFamily="18" charset="0"/>
              </a:rPr>
              <a:t>Liquor Extraction</a:t>
            </a:r>
          </a:p>
        </p:txBody>
      </p:sp>
      <p:pic>
        <p:nvPicPr>
          <p:cNvPr id="288773" name="Picture 5" descr="mr12^006"/>
          <p:cNvPicPr>
            <a:picLocks noGrp="1" noChangeAspect="1" noChangeArrowheads="1"/>
          </p:cNvPicPr>
          <p:nvPr>
            <p:ph sz="half" idx="1"/>
          </p:nvPr>
        </p:nvPicPr>
        <p:blipFill>
          <a:blip r:embed="rId3" cstate="print">
            <a:extLst>
              <a:ext uri="{28A0092B-C50C-407E-A947-70E740481C1C}">
                <a14:useLocalDpi xmlns:a14="http://schemas.microsoft.com/office/drawing/2010/main" val="0"/>
              </a:ext>
            </a:extLst>
          </a:blip>
          <a:srcRect/>
          <a:stretch>
            <a:fillRect/>
          </a:stretch>
        </p:blipFill>
        <p:spPr>
          <a:xfrm>
            <a:off x="2771775" y="4475163"/>
            <a:ext cx="3095625" cy="2122487"/>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88774" name="Rectangle 6"/>
          <p:cNvSpPr>
            <a:spLocks noChangeArrowheads="1"/>
          </p:cNvSpPr>
          <p:nvPr/>
        </p:nvSpPr>
        <p:spPr bwMode="auto">
          <a:xfrm>
            <a:off x="3203575" y="4652963"/>
            <a:ext cx="2089150" cy="936625"/>
          </a:xfrm>
          <a:prstGeom prst="rect">
            <a:avLst/>
          </a:prstGeom>
          <a:solidFill>
            <a:schemeClr val="accent1">
              <a:alpha val="10196"/>
            </a:schemeClr>
          </a:solidFill>
          <a:ln w="2857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20169" name="Text Box 9"/>
          <p:cNvSpPr txBox="1">
            <a:spLocks noChangeArrowheads="1"/>
          </p:cNvSpPr>
          <p:nvPr/>
        </p:nvSpPr>
        <p:spPr bwMode="auto">
          <a:xfrm>
            <a:off x="2960688" y="1412875"/>
            <a:ext cx="6003925"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accent1"/>
              </a:buClr>
              <a:buFont typeface="Wingdings" panose="05000000000000000000" pitchFamily="2" charset="2"/>
              <a:buChar char="l"/>
              <a:defRPr/>
            </a:pPr>
            <a:r>
              <a:rPr lang="en-US" altLang="en-US" dirty="0">
                <a:latin typeface="Century Schoolbook" panose="02040604050505020304" pitchFamily="18" charset="0"/>
                <a:cs typeface="Arial" panose="020B0604020202020204" pitchFamily="34" charset="0"/>
              </a:rPr>
              <a:t> The extraction strainers consists of two rings of stave type strainers with headers placed underneath.</a:t>
            </a:r>
          </a:p>
          <a:p>
            <a:pPr>
              <a:buClr>
                <a:schemeClr val="accent1"/>
              </a:buClr>
              <a:buFont typeface="Wingdings" panose="05000000000000000000" pitchFamily="2" charset="2"/>
              <a:buNone/>
              <a:defRPr/>
            </a:pPr>
            <a:r>
              <a:rPr lang="en-US" altLang="en-US" i="1" dirty="0">
                <a:effectLst>
                  <a:outerShdw blurRad="38100" dist="38100" dir="2700000" algn="tl">
                    <a:srgbClr val="000000"/>
                  </a:outerShdw>
                </a:effectLst>
                <a:latin typeface="Century Schoolbook" panose="02040604050505020304" pitchFamily="18" charset="0"/>
                <a:cs typeface="Arial" panose="020B0604020202020204" pitchFamily="34" charset="0"/>
              </a:rPr>
              <a:t> - </a:t>
            </a:r>
            <a:r>
              <a:rPr lang="en-US" altLang="en-US" i="1" dirty="0">
                <a:solidFill>
                  <a:srgbClr val="FF0000"/>
                </a:solidFill>
                <a:effectLst>
                  <a:outerShdw blurRad="38100" dist="38100" dir="2700000" algn="tl">
                    <a:srgbClr val="000000"/>
                  </a:outerShdw>
                </a:effectLst>
                <a:latin typeface="Century Schoolbook" panose="02040604050505020304" pitchFamily="18" charset="0"/>
                <a:cs typeface="Arial" panose="020B0604020202020204" pitchFamily="34" charset="0"/>
              </a:rPr>
              <a:t>60 % of total liquor </a:t>
            </a:r>
            <a:r>
              <a:rPr lang="en-US" altLang="en-US" dirty="0">
                <a:latin typeface="Century Schoolbook" panose="02040604050505020304" pitchFamily="18" charset="0"/>
                <a:cs typeface="Arial" panose="020B0604020202020204" pitchFamily="34" charset="0"/>
              </a:rPr>
              <a:t>through upper </a:t>
            </a:r>
            <a:r>
              <a:rPr lang="en-US" altLang="en-US" dirty="0" err="1">
                <a:latin typeface="Century Schoolbook" panose="02040604050505020304" pitchFamily="18" charset="0"/>
                <a:cs typeface="Arial" panose="020B0604020202020204" pitchFamily="34" charset="0"/>
              </a:rPr>
              <a:t>ring,</a:t>
            </a:r>
            <a:r>
              <a:rPr lang="en-US" altLang="en-US" i="1" dirty="0" err="1">
                <a:effectLst>
                  <a:outerShdw blurRad="38100" dist="38100" dir="2700000" algn="tl">
                    <a:srgbClr val="000000"/>
                  </a:outerShdw>
                </a:effectLst>
                <a:latin typeface="Century Schoolbook" panose="02040604050505020304" pitchFamily="18" charset="0"/>
                <a:cs typeface="Arial" panose="020B0604020202020204" pitchFamily="34" charset="0"/>
              </a:rPr>
              <a:t>adjust</a:t>
            </a:r>
            <a:r>
              <a:rPr lang="en-US" altLang="en-US" i="1" dirty="0">
                <a:effectLst>
                  <a:outerShdw blurRad="38100" dist="38100" dir="2700000" algn="tl">
                    <a:srgbClr val="000000"/>
                  </a:outerShdw>
                </a:effectLst>
                <a:latin typeface="Century Schoolbook" panose="02040604050505020304" pitchFamily="18" charset="0"/>
                <a:cs typeface="Arial" panose="020B0604020202020204" pitchFamily="34" charset="0"/>
              </a:rPr>
              <a:t> with HIC195 </a:t>
            </a:r>
          </a:p>
          <a:p>
            <a:pPr>
              <a:buClr>
                <a:schemeClr val="accent1"/>
              </a:buClr>
              <a:buFont typeface="Wingdings" panose="05000000000000000000" pitchFamily="2" charset="2"/>
              <a:buNone/>
              <a:defRPr/>
            </a:pPr>
            <a:r>
              <a:rPr lang="en-US" altLang="en-US" i="1" dirty="0">
                <a:effectLst>
                  <a:outerShdw blurRad="38100" dist="38100" dir="2700000" algn="tl">
                    <a:srgbClr val="000000"/>
                  </a:outerShdw>
                </a:effectLst>
                <a:latin typeface="Century Schoolbook" panose="02040604050505020304" pitchFamily="18" charset="0"/>
                <a:cs typeface="Arial" panose="020B0604020202020204" pitchFamily="34" charset="0"/>
              </a:rPr>
              <a:t> - </a:t>
            </a:r>
            <a:r>
              <a:rPr lang="en-US" altLang="en-US" i="1" dirty="0">
                <a:solidFill>
                  <a:srgbClr val="FF0000"/>
                </a:solidFill>
                <a:effectLst>
                  <a:outerShdw blurRad="38100" dist="38100" dir="2700000" algn="tl">
                    <a:srgbClr val="000000"/>
                  </a:outerShdw>
                </a:effectLst>
                <a:latin typeface="Century Schoolbook" panose="02040604050505020304" pitchFamily="18" charset="0"/>
                <a:cs typeface="Arial" panose="020B0604020202020204" pitchFamily="34" charset="0"/>
              </a:rPr>
              <a:t>40% of total liquor </a:t>
            </a:r>
            <a:r>
              <a:rPr lang="en-US" altLang="en-US" dirty="0">
                <a:latin typeface="Century Schoolbook" panose="02040604050505020304" pitchFamily="18" charset="0"/>
                <a:cs typeface="Arial" panose="020B0604020202020204" pitchFamily="34" charset="0"/>
              </a:rPr>
              <a:t>through lower ring, </a:t>
            </a:r>
            <a:r>
              <a:rPr lang="en-US" altLang="en-US" i="1" dirty="0">
                <a:effectLst>
                  <a:outerShdw blurRad="38100" dist="38100" dir="2700000" algn="tl">
                    <a:srgbClr val="000000"/>
                  </a:outerShdw>
                </a:effectLst>
                <a:latin typeface="Century Schoolbook" panose="02040604050505020304" pitchFamily="18" charset="0"/>
                <a:cs typeface="Arial" panose="020B0604020202020204" pitchFamily="34" charset="0"/>
              </a:rPr>
              <a:t>adjust with HIC197</a:t>
            </a:r>
            <a:endParaRPr lang="en-US" altLang="en-US" dirty="0">
              <a:latin typeface="Century Schoolbook" panose="02040604050505020304" pitchFamily="18" charset="0"/>
              <a:cs typeface="Arial" panose="020B0604020202020204" pitchFamily="34" charset="0"/>
            </a:endParaRPr>
          </a:p>
        </p:txBody>
      </p:sp>
      <p:sp>
        <p:nvSpPr>
          <p:cNvPr id="220170" name="Text Box 10"/>
          <p:cNvSpPr txBox="1">
            <a:spLocks noChangeArrowheads="1"/>
          </p:cNvSpPr>
          <p:nvPr/>
        </p:nvSpPr>
        <p:spPr bwMode="auto">
          <a:xfrm>
            <a:off x="2987675" y="3284538"/>
            <a:ext cx="5329238" cy="915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accent1"/>
              </a:buClr>
              <a:buFont typeface="Wingdings" panose="05000000000000000000" pitchFamily="2" charset="2"/>
              <a:buChar char="l"/>
              <a:defRPr/>
            </a:pPr>
            <a:r>
              <a:rPr lang="en-US" altLang="en-US">
                <a:latin typeface="Century Schoolbook" panose="02040604050505020304" pitchFamily="18" charset="0"/>
                <a:cs typeface="Arial" panose="020B0604020202020204" pitchFamily="34" charset="0"/>
              </a:rPr>
              <a:t> The differential pressure ,d/p</a:t>
            </a:r>
          </a:p>
          <a:p>
            <a:pPr>
              <a:buClr>
                <a:schemeClr val="accent1"/>
              </a:buClr>
              <a:buFont typeface="Wingdings" panose="05000000000000000000" pitchFamily="2" charset="2"/>
              <a:buNone/>
              <a:defRPr/>
            </a:pPr>
            <a:r>
              <a:rPr lang="en-US" altLang="en-US">
                <a:latin typeface="Century Schoolbook" panose="02040604050505020304" pitchFamily="18" charset="0"/>
                <a:cs typeface="Arial" panose="020B0604020202020204" pitchFamily="34" charset="0"/>
              </a:rPr>
              <a:t>	- Upper ring : </a:t>
            </a:r>
            <a:r>
              <a:rPr lang="en-US" altLang="en-US" i="1">
                <a:effectLst>
                  <a:outerShdw blurRad="38100" dist="38100" dir="2700000" algn="tl">
                    <a:srgbClr val="000000"/>
                  </a:outerShdw>
                </a:effectLst>
                <a:latin typeface="Century Schoolbook" panose="02040604050505020304" pitchFamily="18" charset="0"/>
                <a:cs typeface="Arial" panose="020B0604020202020204" pitchFamily="34" charset="0"/>
              </a:rPr>
              <a:t>PDIA196 </a:t>
            </a:r>
          </a:p>
          <a:p>
            <a:pPr>
              <a:buClr>
                <a:schemeClr val="accent1"/>
              </a:buClr>
              <a:buFont typeface="Wingdings" panose="05000000000000000000" pitchFamily="2" charset="2"/>
              <a:buNone/>
              <a:defRPr/>
            </a:pPr>
            <a:r>
              <a:rPr lang="en-US" altLang="en-US">
                <a:latin typeface="Century Schoolbook" panose="02040604050505020304" pitchFamily="18" charset="0"/>
                <a:cs typeface="Arial" panose="020B0604020202020204" pitchFamily="34" charset="0"/>
              </a:rPr>
              <a:t>	- Lower ring : </a:t>
            </a:r>
            <a:r>
              <a:rPr lang="en-US" altLang="en-US" i="1">
                <a:effectLst>
                  <a:outerShdw blurRad="38100" dist="38100" dir="2700000" algn="tl">
                    <a:srgbClr val="000000"/>
                  </a:outerShdw>
                </a:effectLst>
                <a:latin typeface="Century Schoolbook" panose="02040604050505020304" pitchFamily="18" charset="0"/>
                <a:cs typeface="Arial" panose="020B0604020202020204" pitchFamily="34" charset="0"/>
              </a:rPr>
              <a:t>PDIA217</a:t>
            </a:r>
          </a:p>
        </p:txBody>
      </p:sp>
    </p:spTree>
  </p:cSld>
  <p:clrMapOvr>
    <a:masterClrMapping/>
  </p:clrMapOvr>
  <p:transition/>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7746" name="Picture 2" descr="mr25^00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650" y="1485900"/>
            <a:ext cx="1951038" cy="511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7747" name="Rectangle 3"/>
          <p:cNvSpPr>
            <a:spLocks noChangeArrowheads="1"/>
          </p:cNvSpPr>
          <p:nvPr/>
        </p:nvSpPr>
        <p:spPr bwMode="auto">
          <a:xfrm>
            <a:off x="1116013" y="5084763"/>
            <a:ext cx="1008062" cy="1008062"/>
          </a:xfrm>
          <a:prstGeom prst="rect">
            <a:avLst/>
          </a:prstGeom>
          <a:solidFill>
            <a:srgbClr val="FF0000">
              <a:alpha val="30196"/>
            </a:srgbClr>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19140" name="Text Box 4"/>
          <p:cNvSpPr txBox="1">
            <a:spLocks noChangeArrowheads="1"/>
          </p:cNvSpPr>
          <p:nvPr/>
        </p:nvSpPr>
        <p:spPr bwMode="auto">
          <a:xfrm>
            <a:off x="611188" y="200025"/>
            <a:ext cx="5145087" cy="1068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3600" b="1" dirty="0">
                <a:solidFill>
                  <a:srgbClr val="FF0000"/>
                </a:solidFill>
                <a:effectLst>
                  <a:outerShdw blurRad="38100" dist="38100" dir="2700000" algn="tl">
                    <a:srgbClr val="000000"/>
                  </a:outerShdw>
                </a:effectLst>
                <a:latin typeface="Century Schoolbook" panose="02040604050505020304" pitchFamily="18" charset="0"/>
              </a:rPr>
              <a:t>Continuous digester </a:t>
            </a:r>
          </a:p>
          <a:p>
            <a:pPr>
              <a:defRPr/>
            </a:pPr>
            <a:r>
              <a:rPr lang="en-US" altLang="en-US" sz="2800" b="1" dirty="0">
                <a:effectLst>
                  <a:outerShdw blurRad="38100" dist="38100" dir="2700000" algn="tl">
                    <a:srgbClr val="000000"/>
                  </a:outerShdw>
                </a:effectLst>
                <a:latin typeface="Century Schoolbook" panose="02040604050505020304" pitchFamily="18" charset="0"/>
              </a:rPr>
              <a:t>Wash circulation (C8)</a:t>
            </a:r>
          </a:p>
        </p:txBody>
      </p:sp>
      <p:pic>
        <p:nvPicPr>
          <p:cNvPr id="287749" name="Picture 10" descr="mr12^006"/>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a:xfrm>
            <a:off x="2771775" y="3986213"/>
            <a:ext cx="3810000" cy="2611437"/>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87750" name="Rectangle 11"/>
          <p:cNvSpPr>
            <a:spLocks noChangeArrowheads="1"/>
          </p:cNvSpPr>
          <p:nvPr/>
        </p:nvSpPr>
        <p:spPr bwMode="auto">
          <a:xfrm>
            <a:off x="2792413" y="4292600"/>
            <a:ext cx="1058862" cy="1441450"/>
          </a:xfrm>
          <a:prstGeom prst="rect">
            <a:avLst/>
          </a:prstGeom>
          <a:solidFill>
            <a:schemeClr val="accent1">
              <a:alpha val="10196"/>
            </a:schemeClr>
          </a:solidFill>
          <a:ln w="2857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19148" name="Text Box 12"/>
          <p:cNvSpPr txBox="1">
            <a:spLocks noChangeArrowheads="1"/>
          </p:cNvSpPr>
          <p:nvPr/>
        </p:nvSpPr>
        <p:spPr bwMode="auto">
          <a:xfrm>
            <a:off x="3059113" y="1412875"/>
            <a:ext cx="5761037"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accent1"/>
              </a:buClr>
              <a:buFont typeface="Wingdings" panose="05000000000000000000" pitchFamily="2" charset="2"/>
              <a:buChar char="l"/>
              <a:defRPr/>
            </a:pPr>
            <a:r>
              <a:rPr lang="en-US" altLang="en-US" dirty="0">
                <a:latin typeface="Century Schoolbook" panose="02040604050505020304" pitchFamily="18" charset="0"/>
                <a:cs typeface="Arial" panose="020B0604020202020204" pitchFamily="34" charset="0"/>
              </a:rPr>
              <a:t> </a:t>
            </a:r>
            <a:r>
              <a:rPr lang="en-US" altLang="en-US" dirty="0">
                <a:solidFill>
                  <a:srgbClr val="FF0000"/>
                </a:solidFill>
                <a:latin typeface="Century Schoolbook" panose="02040604050505020304" pitchFamily="18" charset="0"/>
                <a:cs typeface="Arial" panose="020B0604020202020204" pitchFamily="34" charset="0"/>
              </a:rPr>
              <a:t>The wash circulation ,C8,</a:t>
            </a:r>
            <a:r>
              <a:rPr lang="en-US" altLang="en-US" dirty="0">
                <a:latin typeface="Century Schoolbook" panose="02040604050505020304" pitchFamily="18" charset="0"/>
                <a:cs typeface="Arial" panose="020B0604020202020204" pitchFamily="34" charset="0"/>
              </a:rPr>
              <a:t> liquor is circulated by pump C8 through heater C48 where it is heated. It is returned to the digester via the </a:t>
            </a:r>
            <a:r>
              <a:rPr lang="en-US" altLang="en-US" i="1" dirty="0">
                <a:solidFill>
                  <a:srgbClr val="FF0000"/>
                </a:solidFill>
                <a:latin typeface="Century Schoolbook" panose="02040604050505020304" pitchFamily="18" charset="0"/>
                <a:cs typeface="Arial" panose="020B0604020202020204" pitchFamily="34" charset="0"/>
              </a:rPr>
              <a:t>central pipe</a:t>
            </a:r>
            <a:r>
              <a:rPr lang="en-US" altLang="en-US" i="1" dirty="0">
                <a:latin typeface="Century Schoolbook" panose="02040604050505020304" pitchFamily="18" charset="0"/>
                <a:cs typeface="Arial" panose="020B0604020202020204" pitchFamily="34" charset="0"/>
              </a:rPr>
              <a:t>. </a:t>
            </a:r>
            <a:r>
              <a:rPr lang="en-US" altLang="en-US" dirty="0">
                <a:latin typeface="Century Schoolbook" panose="02040604050505020304" pitchFamily="18" charset="0"/>
                <a:cs typeface="Arial" panose="020B0604020202020204" pitchFamily="34" charset="0"/>
              </a:rPr>
              <a:t>The amount of LP steam added, is controlled by </a:t>
            </a:r>
            <a:r>
              <a:rPr lang="en-US" altLang="en-US" i="1" dirty="0">
                <a:effectLst>
                  <a:outerShdw blurRad="38100" dist="38100" dir="2700000" algn="tl">
                    <a:srgbClr val="000000"/>
                  </a:outerShdw>
                </a:effectLst>
                <a:latin typeface="Century Schoolbook" panose="02040604050505020304" pitchFamily="18" charset="0"/>
                <a:cs typeface="Arial" panose="020B0604020202020204" pitchFamily="34" charset="0"/>
              </a:rPr>
              <a:t>TRC212</a:t>
            </a:r>
          </a:p>
        </p:txBody>
      </p:sp>
      <p:sp>
        <p:nvSpPr>
          <p:cNvPr id="219149" name="Text Box 13"/>
          <p:cNvSpPr txBox="1">
            <a:spLocks noChangeArrowheads="1"/>
          </p:cNvSpPr>
          <p:nvPr/>
        </p:nvSpPr>
        <p:spPr bwMode="auto">
          <a:xfrm>
            <a:off x="3059113" y="2708275"/>
            <a:ext cx="588010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accent1"/>
              </a:buClr>
              <a:buFont typeface="Wingdings" panose="05000000000000000000" pitchFamily="2" charset="2"/>
              <a:buChar char="l"/>
              <a:defRPr/>
            </a:pPr>
            <a:r>
              <a:rPr lang="en-US" altLang="en-US" dirty="0">
                <a:latin typeface="Century Schoolbook" panose="02040604050505020304" pitchFamily="18" charset="0"/>
                <a:cs typeface="Arial" panose="020B0604020202020204" pitchFamily="34" charset="0"/>
              </a:rPr>
              <a:t> </a:t>
            </a:r>
            <a:r>
              <a:rPr lang="en-US" altLang="en-US" b="1" dirty="0">
                <a:solidFill>
                  <a:srgbClr val="FF0000"/>
                </a:solidFill>
                <a:latin typeface="Century Schoolbook" panose="02040604050505020304" pitchFamily="18" charset="0"/>
                <a:cs typeface="Arial" panose="020B0604020202020204" pitchFamily="34" charset="0"/>
              </a:rPr>
              <a:t>The flow</a:t>
            </a:r>
            <a:r>
              <a:rPr lang="en-US" altLang="en-US" dirty="0">
                <a:solidFill>
                  <a:srgbClr val="FF0000"/>
                </a:solidFill>
                <a:latin typeface="Century Schoolbook" panose="02040604050505020304" pitchFamily="18" charset="0"/>
                <a:cs typeface="Arial" panose="020B0604020202020204" pitchFamily="34" charset="0"/>
              </a:rPr>
              <a:t> </a:t>
            </a:r>
            <a:r>
              <a:rPr lang="en-US" altLang="en-US" dirty="0">
                <a:latin typeface="Century Schoolbook" panose="02040604050505020304" pitchFamily="18" charset="0"/>
                <a:cs typeface="Arial" panose="020B0604020202020204" pitchFamily="34" charset="0"/>
              </a:rPr>
              <a:t>in the wash circulation at normal </a:t>
            </a:r>
            <a:r>
              <a:rPr lang="en-US" altLang="en-US" dirty="0" err="1">
                <a:latin typeface="Century Schoolbook" panose="02040604050505020304" pitchFamily="18" charset="0"/>
                <a:cs typeface="Arial" panose="020B0604020202020204" pitchFamily="34" charset="0"/>
              </a:rPr>
              <a:t>production,given</a:t>
            </a:r>
            <a:r>
              <a:rPr lang="en-US" altLang="en-US" dirty="0">
                <a:latin typeface="Century Schoolbook" panose="02040604050505020304" pitchFamily="18" charset="0"/>
                <a:cs typeface="Arial" panose="020B0604020202020204" pitchFamily="34" charset="0"/>
              </a:rPr>
              <a:t> in </a:t>
            </a:r>
            <a:r>
              <a:rPr lang="en-US" altLang="en-US" dirty="0" err="1">
                <a:latin typeface="Century Schoolbook" panose="02040604050505020304" pitchFamily="18" charset="0"/>
                <a:cs typeface="Arial" panose="020B0604020202020204" pitchFamily="34" charset="0"/>
              </a:rPr>
              <a:t>lts</a:t>
            </a:r>
            <a:r>
              <a:rPr lang="en-US" altLang="en-US" dirty="0">
                <a:latin typeface="Century Schoolbook" panose="02040604050505020304" pitchFamily="18" charset="0"/>
                <a:cs typeface="Arial" panose="020B0604020202020204" pitchFamily="34" charset="0"/>
              </a:rPr>
              <a:t>/min, is </a:t>
            </a:r>
            <a:r>
              <a:rPr lang="en-US" altLang="en-US" i="1" dirty="0">
                <a:solidFill>
                  <a:srgbClr val="FF0000"/>
                </a:solidFill>
                <a:effectLst>
                  <a:outerShdw blurRad="38100" dist="38100" dir="2700000" algn="tl">
                    <a:srgbClr val="000000"/>
                  </a:outerShdw>
                </a:effectLst>
                <a:latin typeface="Century Schoolbook" panose="02040604050505020304" pitchFamily="18" charset="0"/>
                <a:cs typeface="Arial" panose="020B0604020202020204" pitchFamily="34" charset="0"/>
              </a:rPr>
              <a:t>approximately 2 times the daily pulp production, given in ADT</a:t>
            </a:r>
            <a:r>
              <a:rPr lang="en-US" altLang="en-US" i="1" dirty="0">
                <a:effectLst>
                  <a:outerShdw blurRad="38100" dist="38100" dir="2700000" algn="tl">
                    <a:srgbClr val="000000"/>
                  </a:outerShdw>
                </a:effectLst>
                <a:latin typeface="Century Schoolbook" panose="02040604050505020304" pitchFamily="18" charset="0"/>
                <a:cs typeface="Arial" panose="020B0604020202020204" pitchFamily="34" charset="0"/>
              </a:rPr>
              <a:t>.</a:t>
            </a:r>
            <a:r>
              <a:rPr lang="en-US" altLang="en-US" dirty="0">
                <a:latin typeface="Century Schoolbook" panose="02040604050505020304" pitchFamily="18" charset="0"/>
                <a:cs typeface="Arial" panose="020B0604020202020204" pitchFamily="34" charset="0"/>
              </a:rPr>
              <a:t> The wash circulation flow is set and shown on FI203.</a:t>
            </a:r>
            <a:endParaRPr lang="en-US" altLang="en-US" i="1" dirty="0">
              <a:effectLst>
                <a:outerShdw blurRad="38100" dist="38100" dir="2700000" algn="tl">
                  <a:srgbClr val="000000"/>
                </a:outerShdw>
              </a:effectLst>
              <a:latin typeface="Century Schoolbook" panose="02040604050505020304" pitchFamily="18" charset="0"/>
              <a:cs typeface="Arial" panose="020B0604020202020204" pitchFamily="34" charset="0"/>
            </a:endParaRPr>
          </a:p>
        </p:txBody>
      </p:sp>
    </p:spTree>
  </p:cSld>
  <p:clrMapOvr>
    <a:masterClrMapping/>
  </p:clrMapOvr>
  <p:transition/>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2" name="Text Box 4"/>
          <p:cNvSpPr txBox="1">
            <a:spLocks noChangeArrowheads="1"/>
          </p:cNvSpPr>
          <p:nvPr/>
        </p:nvSpPr>
        <p:spPr bwMode="auto">
          <a:xfrm>
            <a:off x="611188" y="200025"/>
            <a:ext cx="5145087" cy="1068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3600" b="1" dirty="0">
                <a:solidFill>
                  <a:srgbClr val="FF0000"/>
                </a:solidFill>
                <a:effectLst>
                  <a:outerShdw blurRad="38100" dist="38100" dir="2700000" algn="tl">
                    <a:srgbClr val="000000"/>
                  </a:outerShdw>
                </a:effectLst>
                <a:latin typeface="Century Schoolbook" panose="02040604050505020304" pitchFamily="18" charset="0"/>
              </a:rPr>
              <a:t>Continuous digester </a:t>
            </a:r>
          </a:p>
          <a:p>
            <a:pPr>
              <a:defRPr/>
            </a:pPr>
            <a:r>
              <a:rPr lang="en-US" altLang="en-US" sz="2800" b="1" dirty="0">
                <a:effectLst>
                  <a:outerShdw blurRad="38100" dist="38100" dir="2700000" algn="tl">
                    <a:srgbClr val="000000"/>
                  </a:outerShdw>
                </a:effectLst>
                <a:latin typeface="Century Schoolbook" panose="02040604050505020304" pitchFamily="18" charset="0"/>
              </a:rPr>
              <a:t>Flash cyclone (C50, C51)</a:t>
            </a:r>
          </a:p>
        </p:txBody>
      </p:sp>
      <p:pic>
        <p:nvPicPr>
          <p:cNvPr id="289795" name="Picture 10" descr="ap01^01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5650" y="1628775"/>
            <a:ext cx="3095625" cy="453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2220" name="Text Box 12"/>
          <p:cNvSpPr txBox="1">
            <a:spLocks noChangeArrowheads="1"/>
          </p:cNvSpPr>
          <p:nvPr/>
        </p:nvSpPr>
        <p:spPr bwMode="auto">
          <a:xfrm>
            <a:off x="4067175" y="1557338"/>
            <a:ext cx="4824413" cy="915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accent1"/>
              </a:buClr>
              <a:buFont typeface="Wingdings" panose="05000000000000000000" pitchFamily="2" charset="2"/>
              <a:buChar char="l"/>
              <a:defRPr/>
            </a:pPr>
            <a:r>
              <a:rPr lang="en-US" altLang="en-US">
                <a:latin typeface="Century Schoolbook" panose="02040604050505020304" pitchFamily="18" charset="0"/>
                <a:cs typeface="Arial" panose="020B0604020202020204" pitchFamily="34" charset="0"/>
              </a:rPr>
              <a:t> The temperature of the extraction liquor, which is about 150-160</a:t>
            </a:r>
            <a:r>
              <a:rPr lang="en-US" altLang="en-US" baseline="30000">
                <a:latin typeface="Century Schoolbook" panose="02040604050505020304" pitchFamily="18" charset="0"/>
                <a:ea typeface="Arial Unicode MS" panose="020B0604020202020204" pitchFamily="34" charset="-128"/>
                <a:cs typeface="Arial Unicode MS" panose="020B0604020202020204" pitchFamily="34" charset="-128"/>
              </a:rPr>
              <a:t>o</a:t>
            </a:r>
            <a:r>
              <a:rPr lang="en-US" altLang="en-US">
                <a:latin typeface="Century Schoolbook" panose="02040604050505020304" pitchFamily="18" charset="0"/>
                <a:cs typeface="Arial" panose="020B0604020202020204" pitchFamily="34" charset="0"/>
              </a:rPr>
              <a:t>C, is lowered in two stages in two cyclones C50 and C51.</a:t>
            </a:r>
            <a:endParaRPr lang="en-US" altLang="en-US" i="1">
              <a:effectLst>
                <a:outerShdw blurRad="38100" dist="38100" dir="2700000" algn="tl">
                  <a:srgbClr val="000000"/>
                </a:outerShdw>
              </a:effectLst>
              <a:latin typeface="Century Schoolbook" panose="02040604050505020304" pitchFamily="18" charset="0"/>
              <a:cs typeface="Arial" panose="020B0604020202020204" pitchFamily="34" charset="0"/>
            </a:endParaRPr>
          </a:p>
        </p:txBody>
      </p:sp>
      <p:sp>
        <p:nvSpPr>
          <p:cNvPr id="222221" name="Text Box 13"/>
          <p:cNvSpPr txBox="1">
            <a:spLocks noChangeArrowheads="1"/>
          </p:cNvSpPr>
          <p:nvPr/>
        </p:nvSpPr>
        <p:spPr bwMode="auto">
          <a:xfrm>
            <a:off x="4067175" y="4686300"/>
            <a:ext cx="3743325"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accent1"/>
              </a:buClr>
              <a:buFont typeface="Wingdings" panose="05000000000000000000" pitchFamily="2" charset="2"/>
              <a:buChar char="l"/>
              <a:defRPr/>
            </a:pPr>
            <a:r>
              <a:rPr lang="en-US" altLang="en-US">
                <a:latin typeface="Century Schoolbook" panose="02040604050505020304" pitchFamily="18" charset="0"/>
                <a:cs typeface="Arial" panose="020B0604020202020204" pitchFamily="34" charset="0"/>
              </a:rPr>
              <a:t> Steam used :</a:t>
            </a:r>
          </a:p>
          <a:p>
            <a:pPr>
              <a:buClr>
                <a:schemeClr val="accent1"/>
              </a:buClr>
              <a:buFont typeface="Wingdings" panose="05000000000000000000" pitchFamily="2" charset="2"/>
              <a:buNone/>
              <a:defRPr/>
            </a:pPr>
            <a:r>
              <a:rPr lang="en-US" altLang="en-US" i="1">
                <a:effectLst>
                  <a:outerShdw blurRad="38100" dist="38100" dir="2700000" algn="tl">
                    <a:srgbClr val="000000"/>
                  </a:outerShdw>
                </a:effectLst>
                <a:latin typeface="Century Schoolbook" panose="02040604050505020304" pitchFamily="18" charset="0"/>
                <a:cs typeface="Arial" panose="020B0604020202020204" pitchFamily="34" charset="0"/>
              </a:rPr>
              <a:t>   - First flash to steaming vessel</a:t>
            </a:r>
          </a:p>
          <a:p>
            <a:pPr>
              <a:buClr>
                <a:schemeClr val="accent1"/>
              </a:buClr>
              <a:buFont typeface="Wingdings" panose="05000000000000000000" pitchFamily="2" charset="2"/>
              <a:buNone/>
              <a:defRPr/>
            </a:pPr>
            <a:r>
              <a:rPr lang="en-US" altLang="en-US" i="1">
                <a:effectLst>
                  <a:outerShdw blurRad="38100" dist="38100" dir="2700000" algn="tl">
                    <a:srgbClr val="000000"/>
                  </a:outerShdw>
                </a:effectLst>
                <a:latin typeface="Century Schoolbook" panose="02040604050505020304" pitchFamily="18" charset="0"/>
                <a:cs typeface="Arial" panose="020B0604020202020204" pitchFamily="34" charset="0"/>
              </a:rPr>
              <a:t>   - Second flash to vibra bin or </a:t>
            </a:r>
          </a:p>
          <a:p>
            <a:pPr>
              <a:buClr>
                <a:schemeClr val="accent1"/>
              </a:buClr>
              <a:buFont typeface="Wingdings" panose="05000000000000000000" pitchFamily="2" charset="2"/>
              <a:buNone/>
              <a:defRPr/>
            </a:pPr>
            <a:r>
              <a:rPr lang="en-US" altLang="en-US" i="1">
                <a:effectLst>
                  <a:outerShdw blurRad="38100" dist="38100" dir="2700000" algn="tl">
                    <a:srgbClr val="000000"/>
                  </a:outerShdw>
                </a:effectLst>
                <a:latin typeface="Century Schoolbook" panose="02040604050505020304" pitchFamily="18" charset="0"/>
                <a:cs typeface="Arial" panose="020B0604020202020204" pitchFamily="34" charset="0"/>
              </a:rPr>
              <a:t>     condenser system</a:t>
            </a:r>
          </a:p>
        </p:txBody>
      </p:sp>
      <p:sp>
        <p:nvSpPr>
          <p:cNvPr id="222222" name="Text Box 14"/>
          <p:cNvSpPr txBox="1">
            <a:spLocks noChangeArrowheads="1"/>
          </p:cNvSpPr>
          <p:nvPr/>
        </p:nvSpPr>
        <p:spPr bwMode="auto">
          <a:xfrm>
            <a:off x="4067175" y="3665538"/>
            <a:ext cx="3203575" cy="915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accent1"/>
              </a:buClr>
              <a:buFont typeface="Wingdings" panose="05000000000000000000" pitchFamily="2" charset="2"/>
              <a:buChar char="l"/>
              <a:defRPr/>
            </a:pPr>
            <a:r>
              <a:rPr lang="en-US" altLang="en-US">
                <a:latin typeface="Century Schoolbook" panose="02040604050505020304" pitchFamily="18" charset="0"/>
                <a:cs typeface="Arial" panose="020B0604020202020204" pitchFamily="34" charset="0"/>
              </a:rPr>
              <a:t> Pressure range</a:t>
            </a:r>
          </a:p>
          <a:p>
            <a:pPr>
              <a:buClr>
                <a:schemeClr val="accent1"/>
              </a:buClr>
              <a:buFont typeface="Wingdings" panose="05000000000000000000" pitchFamily="2" charset="2"/>
              <a:buNone/>
              <a:defRPr/>
            </a:pPr>
            <a:r>
              <a:rPr lang="en-US" altLang="en-US" i="1">
                <a:effectLst>
                  <a:outerShdw blurRad="38100" dist="38100" dir="2700000" algn="tl">
                    <a:srgbClr val="000000"/>
                  </a:outerShdw>
                </a:effectLst>
                <a:latin typeface="Century Schoolbook" panose="02040604050505020304" pitchFamily="18" charset="0"/>
                <a:cs typeface="Arial" panose="020B0604020202020204" pitchFamily="34" charset="0"/>
              </a:rPr>
              <a:t>    - First flash 1.0-1.3 bar</a:t>
            </a:r>
          </a:p>
          <a:p>
            <a:pPr>
              <a:buClr>
                <a:schemeClr val="accent1"/>
              </a:buClr>
              <a:buFont typeface="Wingdings" panose="05000000000000000000" pitchFamily="2" charset="2"/>
              <a:buNone/>
              <a:defRPr/>
            </a:pPr>
            <a:r>
              <a:rPr lang="en-US" altLang="en-US" i="1">
                <a:effectLst>
                  <a:outerShdw blurRad="38100" dist="38100" dir="2700000" algn="tl">
                    <a:srgbClr val="000000"/>
                  </a:outerShdw>
                </a:effectLst>
                <a:latin typeface="Century Schoolbook" panose="02040604050505020304" pitchFamily="18" charset="0"/>
                <a:cs typeface="Arial" panose="020B0604020202020204" pitchFamily="34" charset="0"/>
              </a:rPr>
              <a:t>    - Second flash 0.3-0.5 bar</a:t>
            </a:r>
          </a:p>
        </p:txBody>
      </p:sp>
      <p:sp>
        <p:nvSpPr>
          <p:cNvPr id="222223" name="Text Box 15"/>
          <p:cNvSpPr txBox="1">
            <a:spLocks noChangeArrowheads="1"/>
          </p:cNvSpPr>
          <p:nvPr/>
        </p:nvSpPr>
        <p:spPr bwMode="auto">
          <a:xfrm>
            <a:off x="4067175" y="2657475"/>
            <a:ext cx="3382963"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accent1"/>
              </a:buClr>
              <a:buFont typeface="Wingdings" panose="05000000000000000000" pitchFamily="2" charset="2"/>
              <a:buChar char="l"/>
              <a:defRPr/>
            </a:pPr>
            <a:r>
              <a:rPr lang="en-US" altLang="en-US">
                <a:latin typeface="Century Schoolbook" panose="02040604050505020304" pitchFamily="18" charset="0"/>
                <a:cs typeface="Arial" panose="020B0604020202020204" pitchFamily="34" charset="0"/>
              </a:rPr>
              <a:t> Level control</a:t>
            </a:r>
          </a:p>
          <a:p>
            <a:pPr>
              <a:buClr>
                <a:schemeClr val="accent1"/>
              </a:buClr>
              <a:buFont typeface="Wingdings" panose="05000000000000000000" pitchFamily="2" charset="2"/>
              <a:buNone/>
              <a:defRPr/>
            </a:pPr>
            <a:r>
              <a:rPr lang="en-US" altLang="en-US" i="1">
                <a:effectLst>
                  <a:outerShdw blurRad="38100" dist="38100" dir="2700000" algn="tl">
                    <a:srgbClr val="000000"/>
                  </a:outerShdw>
                </a:effectLst>
                <a:latin typeface="Century Schoolbook" panose="02040604050505020304" pitchFamily="18" charset="0"/>
                <a:cs typeface="Arial" panose="020B0604020202020204" pitchFamily="34" charset="0"/>
              </a:rPr>
              <a:t>    - First flash LIC218</a:t>
            </a:r>
          </a:p>
          <a:p>
            <a:pPr>
              <a:buClr>
                <a:schemeClr val="accent1"/>
              </a:buClr>
              <a:buFont typeface="Wingdings" panose="05000000000000000000" pitchFamily="2" charset="2"/>
              <a:buNone/>
              <a:defRPr/>
            </a:pPr>
            <a:r>
              <a:rPr lang="en-US" altLang="en-US" i="1">
                <a:effectLst>
                  <a:outerShdw blurRad="38100" dist="38100" dir="2700000" algn="tl">
                    <a:srgbClr val="000000"/>
                  </a:outerShdw>
                </a:effectLst>
                <a:latin typeface="Century Schoolbook" panose="02040604050505020304" pitchFamily="18" charset="0"/>
                <a:cs typeface="Arial" panose="020B0604020202020204" pitchFamily="34" charset="0"/>
              </a:rPr>
              <a:t>    - Second flash LIC237</a:t>
            </a:r>
          </a:p>
        </p:txBody>
      </p:sp>
    </p:spTree>
  </p:cSld>
  <p:clrMapOvr>
    <a:masterClrMapping/>
  </p:clrMapOvr>
  <p:transition/>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0818" name="Group 3"/>
          <p:cNvGrpSpPr>
            <a:grpSpLocks/>
          </p:cNvGrpSpPr>
          <p:nvPr/>
        </p:nvGrpSpPr>
        <p:grpSpPr bwMode="auto">
          <a:xfrm>
            <a:off x="395288" y="1484313"/>
            <a:ext cx="8304212" cy="5145087"/>
            <a:chOff x="144" y="722"/>
            <a:chExt cx="5472" cy="3454"/>
          </a:xfrm>
        </p:grpSpPr>
        <p:pic>
          <p:nvPicPr>
            <p:cNvPr id="290820" name="Picture 4" descr="mr25^00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 y="722"/>
              <a:ext cx="5472" cy="3454"/>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290821" name="Text Box 5"/>
            <p:cNvSpPr txBox="1">
              <a:spLocks noChangeArrowheads="1"/>
            </p:cNvSpPr>
            <p:nvPr/>
          </p:nvSpPr>
          <p:spPr bwMode="auto">
            <a:xfrm>
              <a:off x="510" y="3475"/>
              <a:ext cx="251" cy="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b="1">
                  <a:solidFill>
                    <a:srgbClr val="FF0000"/>
                  </a:solidFill>
                  <a:latin typeface="Arial" panose="020B0604020202020204" pitchFamily="34" charset="0"/>
                  <a:cs typeface="Arial" panose="020B0604020202020204" pitchFamily="34" charset="0"/>
                </a:rPr>
                <a:t>C1</a:t>
              </a:r>
              <a:endParaRPr lang="th-TH" altLang="en-US" sz="1200" b="1">
                <a:solidFill>
                  <a:srgbClr val="FF0000"/>
                </a:solidFill>
                <a:latin typeface="Arial" panose="020B0604020202020204" pitchFamily="34" charset="0"/>
                <a:cs typeface="Arial" panose="020B0604020202020204" pitchFamily="34" charset="0"/>
              </a:endParaRPr>
            </a:p>
          </p:txBody>
        </p:sp>
        <p:sp>
          <p:nvSpPr>
            <p:cNvPr id="290822" name="Text Box 6"/>
            <p:cNvSpPr txBox="1">
              <a:spLocks noChangeArrowheads="1"/>
            </p:cNvSpPr>
            <p:nvPr/>
          </p:nvSpPr>
          <p:spPr bwMode="auto">
            <a:xfrm>
              <a:off x="787" y="3475"/>
              <a:ext cx="394" cy="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b="1">
                  <a:solidFill>
                    <a:srgbClr val="FF0000"/>
                  </a:solidFill>
                  <a:latin typeface="Arial" panose="020B0604020202020204" pitchFamily="34" charset="0"/>
                  <a:cs typeface="Arial" panose="020B0604020202020204" pitchFamily="34" charset="0"/>
                </a:rPr>
                <a:t>C20-1</a:t>
              </a:r>
            </a:p>
            <a:p>
              <a:pPr>
                <a:spcBef>
                  <a:spcPct val="0"/>
                </a:spcBef>
                <a:buFontTx/>
                <a:buNone/>
              </a:pPr>
              <a:r>
                <a:rPr lang="en-US" altLang="en-US" sz="1200" b="1">
                  <a:solidFill>
                    <a:srgbClr val="FF0000"/>
                  </a:solidFill>
                  <a:latin typeface="Arial" panose="020B0604020202020204" pitchFamily="34" charset="0"/>
                  <a:cs typeface="Arial" panose="020B0604020202020204" pitchFamily="34" charset="0"/>
                </a:rPr>
                <a:t>C20-2</a:t>
              </a:r>
              <a:endParaRPr lang="th-TH" altLang="en-US" sz="1200" b="1">
                <a:solidFill>
                  <a:srgbClr val="FF0000"/>
                </a:solidFill>
                <a:latin typeface="Arial" panose="020B0604020202020204" pitchFamily="34" charset="0"/>
                <a:cs typeface="Arial" panose="020B0604020202020204" pitchFamily="34" charset="0"/>
              </a:endParaRPr>
            </a:p>
          </p:txBody>
        </p:sp>
        <p:grpSp>
          <p:nvGrpSpPr>
            <p:cNvPr id="290823" name="Group 7"/>
            <p:cNvGrpSpPr>
              <a:grpSpLocks/>
            </p:cNvGrpSpPr>
            <p:nvPr/>
          </p:nvGrpSpPr>
          <p:grpSpPr bwMode="auto">
            <a:xfrm>
              <a:off x="1701" y="3385"/>
              <a:ext cx="91" cy="136"/>
              <a:chOff x="1293" y="3203"/>
              <a:chExt cx="90" cy="227"/>
            </a:xfrm>
          </p:grpSpPr>
          <p:grpSp>
            <p:nvGrpSpPr>
              <p:cNvPr id="290947" name="Group 8"/>
              <p:cNvGrpSpPr>
                <a:grpSpLocks/>
              </p:cNvGrpSpPr>
              <p:nvPr/>
            </p:nvGrpSpPr>
            <p:grpSpPr bwMode="auto">
              <a:xfrm>
                <a:off x="1293" y="3339"/>
                <a:ext cx="90" cy="91"/>
                <a:chOff x="1292" y="3339"/>
                <a:chExt cx="92" cy="46"/>
              </a:xfrm>
            </p:grpSpPr>
            <p:sp>
              <p:nvSpPr>
                <p:cNvPr id="290950" name="AutoShape 9"/>
                <p:cNvSpPr>
                  <a:spLocks noChangeArrowheads="1"/>
                </p:cNvSpPr>
                <p:nvPr/>
              </p:nvSpPr>
              <p:spPr bwMode="auto">
                <a:xfrm rot="-5400000">
                  <a:off x="1292" y="3339"/>
                  <a:ext cx="46" cy="46"/>
                </a:xfrm>
                <a:prstGeom prst="flowChartMerge">
                  <a:avLst/>
                </a:prstGeom>
                <a:solidFill>
                  <a:schemeClr val="accent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solidFill>
                      <a:srgbClr val="FF0000"/>
                    </a:solidFill>
                  </a:endParaRPr>
                </a:p>
              </p:txBody>
            </p:sp>
            <p:sp>
              <p:nvSpPr>
                <p:cNvPr id="290951" name="AutoShape 10"/>
                <p:cNvSpPr>
                  <a:spLocks noChangeArrowheads="1"/>
                </p:cNvSpPr>
                <p:nvPr/>
              </p:nvSpPr>
              <p:spPr bwMode="auto">
                <a:xfrm rot="5400000">
                  <a:off x="1338" y="3339"/>
                  <a:ext cx="46" cy="46"/>
                </a:xfrm>
                <a:prstGeom prst="flowChartMerge">
                  <a:avLst/>
                </a:prstGeom>
                <a:solidFill>
                  <a:schemeClr val="accent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solidFill>
                      <a:srgbClr val="FF0000"/>
                    </a:solidFill>
                  </a:endParaRPr>
                </a:p>
              </p:txBody>
            </p:sp>
          </p:grpSp>
          <p:sp>
            <p:nvSpPr>
              <p:cNvPr id="290948" name="AutoShape 11"/>
              <p:cNvSpPr>
                <a:spLocks noChangeArrowheads="1"/>
              </p:cNvSpPr>
              <p:nvPr/>
            </p:nvSpPr>
            <p:spPr bwMode="auto">
              <a:xfrm rot="-5400000">
                <a:off x="1293" y="3203"/>
                <a:ext cx="90" cy="90"/>
              </a:xfrm>
              <a:prstGeom prst="flowChartDelay">
                <a:avLst/>
              </a:prstGeom>
              <a:solidFill>
                <a:schemeClr val="accent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solidFill>
                    <a:srgbClr val="FF0000"/>
                  </a:solidFill>
                </a:endParaRPr>
              </a:p>
            </p:txBody>
          </p:sp>
          <p:sp>
            <p:nvSpPr>
              <p:cNvPr id="290949" name="Line 12"/>
              <p:cNvSpPr>
                <a:spLocks noChangeShapeType="1"/>
              </p:cNvSpPr>
              <p:nvPr/>
            </p:nvSpPr>
            <p:spPr bwMode="auto">
              <a:xfrm>
                <a:off x="1338" y="3294"/>
                <a:ext cx="0" cy="91"/>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290824" name="Text Box 13"/>
            <p:cNvSpPr txBox="1">
              <a:spLocks noChangeArrowheads="1"/>
            </p:cNvSpPr>
            <p:nvPr/>
          </p:nvSpPr>
          <p:spPr bwMode="auto">
            <a:xfrm>
              <a:off x="1576" y="3566"/>
              <a:ext cx="494" cy="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b="1">
                  <a:solidFill>
                    <a:srgbClr val="FF0000"/>
                  </a:solidFill>
                  <a:latin typeface="Arial" panose="020B0604020202020204" pitchFamily="34" charset="0"/>
                  <a:cs typeface="Arial" panose="020B0604020202020204" pitchFamily="34" charset="0"/>
                </a:rPr>
                <a:t>FRC153</a:t>
              </a:r>
              <a:endParaRPr lang="th-TH" altLang="en-US" sz="1200" b="1">
                <a:solidFill>
                  <a:srgbClr val="FF0000"/>
                </a:solidFill>
                <a:latin typeface="Arial" panose="020B0604020202020204" pitchFamily="34" charset="0"/>
                <a:cs typeface="Arial" panose="020B0604020202020204" pitchFamily="34" charset="0"/>
              </a:endParaRPr>
            </a:p>
          </p:txBody>
        </p:sp>
        <p:grpSp>
          <p:nvGrpSpPr>
            <p:cNvPr id="290825" name="Group 14"/>
            <p:cNvGrpSpPr>
              <a:grpSpLocks/>
            </p:cNvGrpSpPr>
            <p:nvPr/>
          </p:nvGrpSpPr>
          <p:grpSpPr bwMode="auto">
            <a:xfrm>
              <a:off x="2698" y="3384"/>
              <a:ext cx="91" cy="136"/>
              <a:chOff x="1293" y="3203"/>
              <a:chExt cx="90" cy="227"/>
            </a:xfrm>
          </p:grpSpPr>
          <p:grpSp>
            <p:nvGrpSpPr>
              <p:cNvPr id="290942" name="Group 15"/>
              <p:cNvGrpSpPr>
                <a:grpSpLocks/>
              </p:cNvGrpSpPr>
              <p:nvPr/>
            </p:nvGrpSpPr>
            <p:grpSpPr bwMode="auto">
              <a:xfrm>
                <a:off x="1293" y="3339"/>
                <a:ext cx="90" cy="91"/>
                <a:chOff x="1292" y="3339"/>
                <a:chExt cx="92" cy="46"/>
              </a:xfrm>
            </p:grpSpPr>
            <p:sp>
              <p:nvSpPr>
                <p:cNvPr id="290945" name="AutoShape 16"/>
                <p:cNvSpPr>
                  <a:spLocks noChangeArrowheads="1"/>
                </p:cNvSpPr>
                <p:nvPr/>
              </p:nvSpPr>
              <p:spPr bwMode="auto">
                <a:xfrm rot="-5400000">
                  <a:off x="1292" y="3339"/>
                  <a:ext cx="46" cy="46"/>
                </a:xfrm>
                <a:prstGeom prst="flowChartMerge">
                  <a:avLst/>
                </a:prstGeom>
                <a:solidFill>
                  <a:schemeClr val="accent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solidFill>
                      <a:srgbClr val="FF0000"/>
                    </a:solidFill>
                  </a:endParaRPr>
                </a:p>
              </p:txBody>
            </p:sp>
            <p:sp>
              <p:nvSpPr>
                <p:cNvPr id="290946" name="AutoShape 17"/>
                <p:cNvSpPr>
                  <a:spLocks noChangeArrowheads="1"/>
                </p:cNvSpPr>
                <p:nvPr/>
              </p:nvSpPr>
              <p:spPr bwMode="auto">
                <a:xfrm rot="5400000">
                  <a:off x="1338" y="3339"/>
                  <a:ext cx="46" cy="46"/>
                </a:xfrm>
                <a:prstGeom prst="flowChartMerge">
                  <a:avLst/>
                </a:prstGeom>
                <a:solidFill>
                  <a:schemeClr val="accent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solidFill>
                      <a:srgbClr val="FF0000"/>
                    </a:solidFill>
                  </a:endParaRPr>
                </a:p>
              </p:txBody>
            </p:sp>
          </p:grpSp>
          <p:sp>
            <p:nvSpPr>
              <p:cNvPr id="290943" name="AutoShape 18"/>
              <p:cNvSpPr>
                <a:spLocks noChangeArrowheads="1"/>
              </p:cNvSpPr>
              <p:nvPr/>
            </p:nvSpPr>
            <p:spPr bwMode="auto">
              <a:xfrm rot="-5400000">
                <a:off x="1293" y="3203"/>
                <a:ext cx="90" cy="90"/>
              </a:xfrm>
              <a:prstGeom prst="flowChartDelay">
                <a:avLst/>
              </a:prstGeom>
              <a:solidFill>
                <a:schemeClr val="accent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solidFill>
                    <a:srgbClr val="FF0000"/>
                  </a:solidFill>
                </a:endParaRPr>
              </a:p>
            </p:txBody>
          </p:sp>
          <p:sp>
            <p:nvSpPr>
              <p:cNvPr id="290944" name="Line 19"/>
              <p:cNvSpPr>
                <a:spLocks noChangeShapeType="1"/>
              </p:cNvSpPr>
              <p:nvPr/>
            </p:nvSpPr>
            <p:spPr bwMode="auto">
              <a:xfrm>
                <a:off x="1338" y="3294"/>
                <a:ext cx="0" cy="91"/>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290826" name="Text Box 20"/>
            <p:cNvSpPr txBox="1">
              <a:spLocks noChangeArrowheads="1"/>
            </p:cNvSpPr>
            <p:nvPr/>
          </p:nvSpPr>
          <p:spPr bwMode="auto">
            <a:xfrm>
              <a:off x="2472" y="3249"/>
              <a:ext cx="498" cy="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b="1">
                  <a:solidFill>
                    <a:srgbClr val="FF0000"/>
                  </a:solidFill>
                  <a:latin typeface="Arial" panose="020B0604020202020204" pitchFamily="34" charset="0"/>
                  <a:cs typeface="Arial" panose="020B0604020202020204" pitchFamily="34" charset="0"/>
                </a:rPr>
                <a:t>FRC198</a:t>
              </a:r>
              <a:endParaRPr lang="th-TH" altLang="en-US" sz="1200" b="1">
                <a:solidFill>
                  <a:srgbClr val="FF0000"/>
                </a:solidFill>
                <a:latin typeface="Arial" panose="020B0604020202020204" pitchFamily="34" charset="0"/>
                <a:cs typeface="Arial" panose="020B0604020202020204" pitchFamily="34" charset="0"/>
              </a:endParaRPr>
            </a:p>
          </p:txBody>
        </p:sp>
        <p:sp>
          <p:nvSpPr>
            <p:cNvPr id="290827" name="Text Box 21"/>
            <p:cNvSpPr txBox="1">
              <a:spLocks noChangeArrowheads="1"/>
            </p:cNvSpPr>
            <p:nvPr/>
          </p:nvSpPr>
          <p:spPr bwMode="auto">
            <a:xfrm>
              <a:off x="2472" y="3666"/>
              <a:ext cx="498" cy="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b="1">
                  <a:solidFill>
                    <a:srgbClr val="FF0000"/>
                  </a:solidFill>
                  <a:latin typeface="Arial" panose="020B0604020202020204" pitchFamily="34" charset="0"/>
                  <a:cs typeface="Arial" panose="020B0604020202020204" pitchFamily="34" charset="0"/>
                </a:rPr>
                <a:t>FRC199</a:t>
              </a:r>
              <a:endParaRPr lang="th-TH" altLang="en-US" sz="1200" b="1">
                <a:solidFill>
                  <a:srgbClr val="FF0000"/>
                </a:solidFill>
                <a:latin typeface="Arial" panose="020B0604020202020204" pitchFamily="34" charset="0"/>
                <a:cs typeface="Arial" panose="020B0604020202020204" pitchFamily="34" charset="0"/>
              </a:endParaRPr>
            </a:p>
          </p:txBody>
        </p:sp>
        <p:sp>
          <p:nvSpPr>
            <p:cNvPr id="290828" name="Text Box 22"/>
            <p:cNvSpPr txBox="1">
              <a:spLocks noChangeArrowheads="1"/>
            </p:cNvSpPr>
            <p:nvPr/>
          </p:nvSpPr>
          <p:spPr bwMode="auto">
            <a:xfrm>
              <a:off x="1575" y="4003"/>
              <a:ext cx="1081"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000">
                  <a:solidFill>
                    <a:srgbClr val="FF0000"/>
                  </a:solidFill>
                  <a:latin typeface="Arial" panose="020B0604020202020204" pitchFamily="34" charset="0"/>
                  <a:cs typeface="Arial" panose="020B0604020202020204" pitchFamily="34" charset="0"/>
                </a:rPr>
                <a:t>Wash liquor from washing</a:t>
              </a:r>
              <a:endParaRPr lang="th-TH" altLang="en-US" sz="1000">
                <a:solidFill>
                  <a:srgbClr val="FF0000"/>
                </a:solidFill>
                <a:latin typeface="Arial" panose="020B0604020202020204" pitchFamily="34" charset="0"/>
                <a:cs typeface="Arial" panose="020B0604020202020204" pitchFamily="34" charset="0"/>
              </a:endParaRPr>
            </a:p>
          </p:txBody>
        </p:sp>
        <p:sp>
          <p:nvSpPr>
            <p:cNvPr id="290829" name="Freeform 23"/>
            <p:cNvSpPr>
              <a:spLocks/>
            </p:cNvSpPr>
            <p:nvPr/>
          </p:nvSpPr>
          <p:spPr bwMode="auto">
            <a:xfrm>
              <a:off x="2196" y="3585"/>
              <a:ext cx="1185" cy="360"/>
            </a:xfrm>
            <a:custGeom>
              <a:avLst/>
              <a:gdLst>
                <a:gd name="T0" fmla="*/ 3 w 1185"/>
                <a:gd name="T1" fmla="*/ 0 h 360"/>
                <a:gd name="T2" fmla="*/ 0 w 1185"/>
                <a:gd name="T3" fmla="*/ 360 h 360"/>
                <a:gd name="T4" fmla="*/ 1185 w 1185"/>
                <a:gd name="T5" fmla="*/ 357 h 360"/>
                <a:gd name="T6" fmla="*/ 1185 w 1185"/>
                <a:gd name="T7" fmla="*/ 84 h 3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85" h="360">
                  <a:moveTo>
                    <a:pt x="3" y="0"/>
                  </a:moveTo>
                  <a:lnTo>
                    <a:pt x="0" y="360"/>
                  </a:lnTo>
                  <a:lnTo>
                    <a:pt x="1185" y="357"/>
                  </a:lnTo>
                  <a:lnTo>
                    <a:pt x="1185" y="84"/>
                  </a:lnTo>
                </a:path>
              </a:pathLst>
            </a:custGeom>
            <a:noFill/>
            <a:ln w="9525">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90830" name="Line 24"/>
            <p:cNvSpPr>
              <a:spLocks noChangeShapeType="1"/>
            </p:cNvSpPr>
            <p:nvPr/>
          </p:nvSpPr>
          <p:spPr bwMode="auto">
            <a:xfrm flipV="1">
              <a:off x="3379" y="3430"/>
              <a:ext cx="0" cy="136"/>
            </a:xfrm>
            <a:prstGeom prst="line">
              <a:avLst/>
            </a:prstGeom>
            <a:noFill/>
            <a:ln w="952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nvGrpSpPr>
            <p:cNvPr id="290831" name="Group 25"/>
            <p:cNvGrpSpPr>
              <a:grpSpLocks/>
            </p:cNvGrpSpPr>
            <p:nvPr/>
          </p:nvGrpSpPr>
          <p:grpSpPr bwMode="auto">
            <a:xfrm>
              <a:off x="3152" y="3838"/>
              <a:ext cx="91" cy="136"/>
              <a:chOff x="1293" y="3203"/>
              <a:chExt cx="90" cy="227"/>
            </a:xfrm>
          </p:grpSpPr>
          <p:grpSp>
            <p:nvGrpSpPr>
              <p:cNvPr id="290937" name="Group 26"/>
              <p:cNvGrpSpPr>
                <a:grpSpLocks/>
              </p:cNvGrpSpPr>
              <p:nvPr/>
            </p:nvGrpSpPr>
            <p:grpSpPr bwMode="auto">
              <a:xfrm>
                <a:off x="1293" y="3339"/>
                <a:ext cx="90" cy="91"/>
                <a:chOff x="1292" y="3339"/>
                <a:chExt cx="92" cy="46"/>
              </a:xfrm>
            </p:grpSpPr>
            <p:sp>
              <p:nvSpPr>
                <p:cNvPr id="290940" name="AutoShape 27"/>
                <p:cNvSpPr>
                  <a:spLocks noChangeArrowheads="1"/>
                </p:cNvSpPr>
                <p:nvPr/>
              </p:nvSpPr>
              <p:spPr bwMode="auto">
                <a:xfrm rot="-5400000">
                  <a:off x="1292" y="3339"/>
                  <a:ext cx="46" cy="46"/>
                </a:xfrm>
                <a:prstGeom prst="flowChartMerge">
                  <a:avLst/>
                </a:prstGeom>
                <a:solidFill>
                  <a:schemeClr val="accent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solidFill>
                      <a:srgbClr val="FF0000"/>
                    </a:solidFill>
                  </a:endParaRPr>
                </a:p>
              </p:txBody>
            </p:sp>
            <p:sp>
              <p:nvSpPr>
                <p:cNvPr id="290941" name="AutoShape 28"/>
                <p:cNvSpPr>
                  <a:spLocks noChangeArrowheads="1"/>
                </p:cNvSpPr>
                <p:nvPr/>
              </p:nvSpPr>
              <p:spPr bwMode="auto">
                <a:xfrm rot="5400000">
                  <a:off x="1338" y="3339"/>
                  <a:ext cx="46" cy="46"/>
                </a:xfrm>
                <a:prstGeom prst="flowChartMerge">
                  <a:avLst/>
                </a:prstGeom>
                <a:solidFill>
                  <a:schemeClr val="accent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solidFill>
                      <a:srgbClr val="FF0000"/>
                    </a:solidFill>
                  </a:endParaRPr>
                </a:p>
              </p:txBody>
            </p:sp>
          </p:grpSp>
          <p:sp>
            <p:nvSpPr>
              <p:cNvPr id="290938" name="AutoShape 29"/>
              <p:cNvSpPr>
                <a:spLocks noChangeArrowheads="1"/>
              </p:cNvSpPr>
              <p:nvPr/>
            </p:nvSpPr>
            <p:spPr bwMode="auto">
              <a:xfrm rot="-5400000">
                <a:off x="1293" y="3203"/>
                <a:ext cx="90" cy="90"/>
              </a:xfrm>
              <a:prstGeom prst="flowChartDelay">
                <a:avLst/>
              </a:prstGeom>
              <a:solidFill>
                <a:schemeClr val="accent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solidFill>
                    <a:srgbClr val="FF0000"/>
                  </a:solidFill>
                </a:endParaRPr>
              </a:p>
            </p:txBody>
          </p:sp>
          <p:sp>
            <p:nvSpPr>
              <p:cNvPr id="290939" name="Line 30"/>
              <p:cNvSpPr>
                <a:spLocks noChangeShapeType="1"/>
              </p:cNvSpPr>
              <p:nvPr/>
            </p:nvSpPr>
            <p:spPr bwMode="auto">
              <a:xfrm>
                <a:off x="1338" y="3294"/>
                <a:ext cx="0" cy="91"/>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290832" name="Freeform 31"/>
            <p:cNvSpPr>
              <a:spLocks/>
            </p:cNvSpPr>
            <p:nvPr/>
          </p:nvSpPr>
          <p:spPr bwMode="auto">
            <a:xfrm>
              <a:off x="2598" y="3495"/>
              <a:ext cx="327" cy="117"/>
            </a:xfrm>
            <a:custGeom>
              <a:avLst/>
              <a:gdLst>
                <a:gd name="T0" fmla="*/ 0 w 327"/>
                <a:gd name="T1" fmla="*/ 0 h 117"/>
                <a:gd name="T2" fmla="*/ 3 w 327"/>
                <a:gd name="T3" fmla="*/ 114 h 117"/>
                <a:gd name="T4" fmla="*/ 327 w 327"/>
                <a:gd name="T5" fmla="*/ 117 h 117"/>
                <a:gd name="T6" fmla="*/ 327 w 327"/>
                <a:gd name="T7" fmla="*/ 71 h 1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27" h="117">
                  <a:moveTo>
                    <a:pt x="0" y="0"/>
                  </a:moveTo>
                  <a:lnTo>
                    <a:pt x="3" y="114"/>
                  </a:lnTo>
                  <a:lnTo>
                    <a:pt x="327" y="117"/>
                  </a:lnTo>
                  <a:lnTo>
                    <a:pt x="327" y="71"/>
                  </a:lnTo>
                </a:path>
              </a:pathLst>
            </a:custGeom>
            <a:noFill/>
            <a:ln w="3810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90833" name="Freeform 32"/>
            <p:cNvSpPr>
              <a:spLocks/>
            </p:cNvSpPr>
            <p:nvPr/>
          </p:nvSpPr>
          <p:spPr bwMode="auto">
            <a:xfrm>
              <a:off x="2562" y="3489"/>
              <a:ext cx="363" cy="186"/>
            </a:xfrm>
            <a:custGeom>
              <a:avLst/>
              <a:gdLst>
                <a:gd name="T0" fmla="*/ 0 w 363"/>
                <a:gd name="T1" fmla="*/ 0 h 186"/>
                <a:gd name="T2" fmla="*/ 0 w 363"/>
                <a:gd name="T3" fmla="*/ 186 h 186"/>
                <a:gd name="T4" fmla="*/ 315 w 363"/>
                <a:gd name="T5" fmla="*/ 186 h 186"/>
                <a:gd name="T6" fmla="*/ 363 w 363"/>
                <a:gd name="T7" fmla="*/ 93 h 18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63" h="186">
                  <a:moveTo>
                    <a:pt x="0" y="0"/>
                  </a:moveTo>
                  <a:lnTo>
                    <a:pt x="0" y="186"/>
                  </a:lnTo>
                  <a:lnTo>
                    <a:pt x="315" y="186"/>
                  </a:lnTo>
                  <a:lnTo>
                    <a:pt x="363" y="93"/>
                  </a:lnTo>
                </a:path>
              </a:pathLst>
            </a:custGeom>
            <a:noFill/>
            <a:ln w="9525">
              <a:solidFill>
                <a:schemeClr val="bg2"/>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nvGrpSpPr>
            <p:cNvPr id="290834" name="Group 33"/>
            <p:cNvGrpSpPr>
              <a:grpSpLocks/>
            </p:cNvGrpSpPr>
            <p:nvPr/>
          </p:nvGrpSpPr>
          <p:grpSpPr bwMode="auto">
            <a:xfrm>
              <a:off x="2699" y="3566"/>
              <a:ext cx="91" cy="136"/>
              <a:chOff x="1293" y="3203"/>
              <a:chExt cx="90" cy="227"/>
            </a:xfrm>
          </p:grpSpPr>
          <p:grpSp>
            <p:nvGrpSpPr>
              <p:cNvPr id="290932" name="Group 34"/>
              <p:cNvGrpSpPr>
                <a:grpSpLocks/>
              </p:cNvGrpSpPr>
              <p:nvPr/>
            </p:nvGrpSpPr>
            <p:grpSpPr bwMode="auto">
              <a:xfrm>
                <a:off x="1293" y="3339"/>
                <a:ext cx="90" cy="91"/>
                <a:chOff x="1292" y="3339"/>
                <a:chExt cx="92" cy="46"/>
              </a:xfrm>
            </p:grpSpPr>
            <p:sp>
              <p:nvSpPr>
                <p:cNvPr id="290935" name="AutoShape 35"/>
                <p:cNvSpPr>
                  <a:spLocks noChangeArrowheads="1"/>
                </p:cNvSpPr>
                <p:nvPr/>
              </p:nvSpPr>
              <p:spPr bwMode="auto">
                <a:xfrm rot="-5400000">
                  <a:off x="1292" y="3339"/>
                  <a:ext cx="46" cy="46"/>
                </a:xfrm>
                <a:prstGeom prst="flowChartMerge">
                  <a:avLst/>
                </a:prstGeom>
                <a:solidFill>
                  <a:schemeClr val="accent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solidFill>
                      <a:srgbClr val="FF0000"/>
                    </a:solidFill>
                  </a:endParaRPr>
                </a:p>
              </p:txBody>
            </p:sp>
            <p:sp>
              <p:nvSpPr>
                <p:cNvPr id="290936" name="AutoShape 36"/>
                <p:cNvSpPr>
                  <a:spLocks noChangeArrowheads="1"/>
                </p:cNvSpPr>
                <p:nvPr/>
              </p:nvSpPr>
              <p:spPr bwMode="auto">
                <a:xfrm rot="5400000">
                  <a:off x="1338" y="3339"/>
                  <a:ext cx="46" cy="46"/>
                </a:xfrm>
                <a:prstGeom prst="flowChartMerge">
                  <a:avLst/>
                </a:prstGeom>
                <a:solidFill>
                  <a:schemeClr val="accent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solidFill>
                      <a:srgbClr val="FF0000"/>
                    </a:solidFill>
                  </a:endParaRPr>
                </a:p>
              </p:txBody>
            </p:sp>
          </p:grpSp>
          <p:sp>
            <p:nvSpPr>
              <p:cNvPr id="290933" name="AutoShape 37"/>
              <p:cNvSpPr>
                <a:spLocks noChangeArrowheads="1"/>
              </p:cNvSpPr>
              <p:nvPr/>
            </p:nvSpPr>
            <p:spPr bwMode="auto">
              <a:xfrm rot="-5400000">
                <a:off x="1293" y="3203"/>
                <a:ext cx="90" cy="90"/>
              </a:xfrm>
              <a:prstGeom prst="flowChartDelay">
                <a:avLst/>
              </a:prstGeom>
              <a:solidFill>
                <a:schemeClr val="accent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solidFill>
                    <a:srgbClr val="FF0000"/>
                  </a:solidFill>
                </a:endParaRPr>
              </a:p>
            </p:txBody>
          </p:sp>
          <p:sp>
            <p:nvSpPr>
              <p:cNvPr id="290934" name="Line 38"/>
              <p:cNvSpPr>
                <a:spLocks noChangeShapeType="1"/>
              </p:cNvSpPr>
              <p:nvPr/>
            </p:nvSpPr>
            <p:spPr bwMode="auto">
              <a:xfrm>
                <a:off x="1338" y="3294"/>
                <a:ext cx="0" cy="91"/>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290835" name="Text Box 39"/>
            <p:cNvSpPr txBox="1">
              <a:spLocks noChangeArrowheads="1"/>
            </p:cNvSpPr>
            <p:nvPr/>
          </p:nvSpPr>
          <p:spPr bwMode="auto">
            <a:xfrm>
              <a:off x="2834" y="3937"/>
              <a:ext cx="605" cy="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b="1">
                  <a:solidFill>
                    <a:srgbClr val="FF0000"/>
                  </a:solidFill>
                  <a:latin typeface="Arial" panose="020B0604020202020204" pitchFamily="34" charset="0"/>
                  <a:cs typeface="Arial" panose="020B0604020202020204" pitchFamily="34" charset="0"/>
                </a:rPr>
                <a:t>21FRC301</a:t>
              </a:r>
              <a:endParaRPr lang="th-TH" altLang="en-US" sz="1200" b="1">
                <a:solidFill>
                  <a:srgbClr val="FF0000"/>
                </a:solidFill>
                <a:latin typeface="Arial" panose="020B0604020202020204" pitchFamily="34" charset="0"/>
                <a:cs typeface="Arial" panose="020B0604020202020204" pitchFamily="34" charset="0"/>
              </a:endParaRPr>
            </a:p>
          </p:txBody>
        </p:sp>
        <p:sp>
          <p:nvSpPr>
            <p:cNvPr id="290836" name="Text Box 40"/>
            <p:cNvSpPr txBox="1">
              <a:spLocks noChangeArrowheads="1"/>
            </p:cNvSpPr>
            <p:nvPr/>
          </p:nvSpPr>
          <p:spPr bwMode="auto">
            <a:xfrm>
              <a:off x="1429" y="2985"/>
              <a:ext cx="251" cy="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b="1">
                  <a:solidFill>
                    <a:srgbClr val="FF0000"/>
                  </a:solidFill>
                  <a:latin typeface="Arial" panose="020B0604020202020204" pitchFamily="34" charset="0"/>
                  <a:cs typeface="Arial" panose="020B0604020202020204" pitchFamily="34" charset="0"/>
                </a:rPr>
                <a:t>C3</a:t>
              </a:r>
              <a:endParaRPr lang="th-TH" altLang="en-US" sz="1200" b="1">
                <a:solidFill>
                  <a:srgbClr val="FF0000"/>
                </a:solidFill>
                <a:latin typeface="Arial" panose="020B0604020202020204" pitchFamily="34" charset="0"/>
                <a:cs typeface="Arial" panose="020B0604020202020204" pitchFamily="34" charset="0"/>
              </a:endParaRPr>
            </a:p>
          </p:txBody>
        </p:sp>
        <p:sp>
          <p:nvSpPr>
            <p:cNvPr id="290837" name="Text Box 41"/>
            <p:cNvSpPr txBox="1">
              <a:spLocks noChangeArrowheads="1"/>
            </p:cNvSpPr>
            <p:nvPr/>
          </p:nvSpPr>
          <p:spPr bwMode="auto">
            <a:xfrm>
              <a:off x="2052" y="2803"/>
              <a:ext cx="249" cy="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b="1">
                  <a:solidFill>
                    <a:srgbClr val="FF0000"/>
                  </a:solidFill>
                  <a:latin typeface="Arial" panose="020B0604020202020204" pitchFamily="34" charset="0"/>
                  <a:cs typeface="Arial" panose="020B0604020202020204" pitchFamily="34" charset="0"/>
                </a:rPr>
                <a:t>C4</a:t>
              </a:r>
              <a:endParaRPr lang="th-TH" altLang="en-US" sz="1200" b="1">
                <a:solidFill>
                  <a:srgbClr val="FF0000"/>
                </a:solidFill>
                <a:latin typeface="Arial" panose="020B0604020202020204" pitchFamily="34" charset="0"/>
                <a:cs typeface="Arial" panose="020B0604020202020204" pitchFamily="34" charset="0"/>
              </a:endParaRPr>
            </a:p>
          </p:txBody>
        </p:sp>
        <p:sp>
          <p:nvSpPr>
            <p:cNvPr id="290838" name="Text Box 42"/>
            <p:cNvSpPr txBox="1">
              <a:spLocks noChangeArrowheads="1"/>
            </p:cNvSpPr>
            <p:nvPr/>
          </p:nvSpPr>
          <p:spPr bwMode="auto">
            <a:xfrm>
              <a:off x="2064" y="3076"/>
              <a:ext cx="249" cy="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b="1">
                  <a:solidFill>
                    <a:srgbClr val="FF0000"/>
                  </a:solidFill>
                  <a:latin typeface="Arial" panose="020B0604020202020204" pitchFamily="34" charset="0"/>
                  <a:cs typeface="Arial" panose="020B0604020202020204" pitchFamily="34" charset="0"/>
                </a:rPr>
                <a:t>C2</a:t>
              </a:r>
              <a:endParaRPr lang="th-TH" altLang="en-US" sz="1200" b="1">
                <a:solidFill>
                  <a:srgbClr val="FF0000"/>
                </a:solidFill>
                <a:latin typeface="Arial" panose="020B0604020202020204" pitchFamily="34" charset="0"/>
                <a:cs typeface="Arial" panose="020B0604020202020204" pitchFamily="34" charset="0"/>
              </a:endParaRPr>
            </a:p>
          </p:txBody>
        </p:sp>
        <p:sp>
          <p:nvSpPr>
            <p:cNvPr id="290839" name="Text Box 43"/>
            <p:cNvSpPr txBox="1">
              <a:spLocks noChangeArrowheads="1"/>
            </p:cNvSpPr>
            <p:nvPr/>
          </p:nvSpPr>
          <p:spPr bwMode="auto">
            <a:xfrm>
              <a:off x="2064" y="3257"/>
              <a:ext cx="304" cy="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b="1">
                  <a:solidFill>
                    <a:srgbClr val="FF0000"/>
                  </a:solidFill>
                  <a:latin typeface="Arial" panose="020B0604020202020204" pitchFamily="34" charset="0"/>
                  <a:cs typeface="Arial" panose="020B0604020202020204" pitchFamily="34" charset="0"/>
                </a:rPr>
                <a:t>C16</a:t>
              </a:r>
              <a:endParaRPr lang="th-TH" altLang="en-US" sz="1200" b="1">
                <a:solidFill>
                  <a:srgbClr val="FF0000"/>
                </a:solidFill>
                <a:latin typeface="Arial" panose="020B0604020202020204" pitchFamily="34" charset="0"/>
                <a:cs typeface="Arial" panose="020B0604020202020204" pitchFamily="34" charset="0"/>
              </a:endParaRPr>
            </a:p>
          </p:txBody>
        </p:sp>
        <p:sp>
          <p:nvSpPr>
            <p:cNvPr id="290840" name="Text Box 44"/>
            <p:cNvSpPr txBox="1">
              <a:spLocks noChangeArrowheads="1"/>
            </p:cNvSpPr>
            <p:nvPr/>
          </p:nvSpPr>
          <p:spPr bwMode="auto">
            <a:xfrm>
              <a:off x="2064" y="3439"/>
              <a:ext cx="251" cy="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b="1">
                  <a:solidFill>
                    <a:srgbClr val="FF0000"/>
                  </a:solidFill>
                  <a:latin typeface="Arial" panose="020B0604020202020204" pitchFamily="34" charset="0"/>
                  <a:cs typeface="Arial" panose="020B0604020202020204" pitchFamily="34" charset="0"/>
                </a:rPr>
                <a:t>C9</a:t>
              </a:r>
              <a:endParaRPr lang="th-TH" altLang="en-US" sz="1200" b="1">
                <a:solidFill>
                  <a:srgbClr val="FF0000"/>
                </a:solidFill>
                <a:latin typeface="Arial" panose="020B0604020202020204" pitchFamily="34" charset="0"/>
                <a:cs typeface="Arial" panose="020B0604020202020204" pitchFamily="34" charset="0"/>
              </a:endParaRPr>
            </a:p>
          </p:txBody>
        </p:sp>
        <p:sp>
          <p:nvSpPr>
            <p:cNvPr id="290841" name="Text Box 45"/>
            <p:cNvSpPr txBox="1">
              <a:spLocks noChangeArrowheads="1"/>
            </p:cNvSpPr>
            <p:nvPr/>
          </p:nvSpPr>
          <p:spPr bwMode="auto">
            <a:xfrm>
              <a:off x="2336" y="1987"/>
              <a:ext cx="251" cy="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b="1">
                  <a:solidFill>
                    <a:srgbClr val="FF0000"/>
                  </a:solidFill>
                  <a:latin typeface="Arial" panose="020B0604020202020204" pitchFamily="34" charset="0"/>
                  <a:cs typeface="Arial" panose="020B0604020202020204" pitchFamily="34" charset="0"/>
                </a:rPr>
                <a:t>C6</a:t>
              </a:r>
              <a:endParaRPr lang="th-TH" altLang="en-US" sz="1200" b="1">
                <a:solidFill>
                  <a:srgbClr val="FF0000"/>
                </a:solidFill>
                <a:latin typeface="Arial" panose="020B0604020202020204" pitchFamily="34" charset="0"/>
                <a:cs typeface="Arial" panose="020B0604020202020204" pitchFamily="34" charset="0"/>
              </a:endParaRPr>
            </a:p>
          </p:txBody>
        </p:sp>
        <p:sp>
          <p:nvSpPr>
            <p:cNvPr id="290842" name="Text Box 46"/>
            <p:cNvSpPr txBox="1">
              <a:spLocks noChangeArrowheads="1"/>
            </p:cNvSpPr>
            <p:nvPr/>
          </p:nvSpPr>
          <p:spPr bwMode="auto">
            <a:xfrm>
              <a:off x="3335" y="3257"/>
              <a:ext cx="251" cy="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b="1">
                  <a:solidFill>
                    <a:srgbClr val="FF0000"/>
                  </a:solidFill>
                  <a:latin typeface="Arial" panose="020B0604020202020204" pitchFamily="34" charset="0"/>
                  <a:cs typeface="Arial" panose="020B0604020202020204" pitchFamily="34" charset="0"/>
                </a:rPr>
                <a:t>C8</a:t>
              </a:r>
              <a:endParaRPr lang="th-TH" altLang="en-US" sz="1200" b="1">
                <a:solidFill>
                  <a:srgbClr val="FF0000"/>
                </a:solidFill>
                <a:latin typeface="Arial" panose="020B0604020202020204" pitchFamily="34" charset="0"/>
                <a:cs typeface="Arial" panose="020B0604020202020204" pitchFamily="34" charset="0"/>
              </a:endParaRPr>
            </a:p>
          </p:txBody>
        </p:sp>
        <p:sp>
          <p:nvSpPr>
            <p:cNvPr id="290843" name="Text Box 47"/>
            <p:cNvSpPr txBox="1">
              <a:spLocks noChangeArrowheads="1"/>
            </p:cNvSpPr>
            <p:nvPr/>
          </p:nvSpPr>
          <p:spPr bwMode="auto">
            <a:xfrm>
              <a:off x="4105" y="2296"/>
              <a:ext cx="307" cy="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b="1">
                  <a:solidFill>
                    <a:srgbClr val="FF0000"/>
                  </a:solidFill>
                  <a:latin typeface="Arial" panose="020B0604020202020204" pitchFamily="34" charset="0"/>
                  <a:cs typeface="Arial" panose="020B0604020202020204" pitchFamily="34" charset="0"/>
                </a:rPr>
                <a:t>C12</a:t>
              </a:r>
              <a:endParaRPr lang="th-TH" altLang="en-US" sz="1200" b="1">
                <a:solidFill>
                  <a:srgbClr val="FF0000"/>
                </a:solidFill>
                <a:latin typeface="Arial" panose="020B0604020202020204" pitchFamily="34" charset="0"/>
                <a:cs typeface="Arial" panose="020B0604020202020204" pitchFamily="34" charset="0"/>
              </a:endParaRPr>
            </a:p>
          </p:txBody>
        </p:sp>
        <p:sp>
          <p:nvSpPr>
            <p:cNvPr id="290844" name="Text Box 48"/>
            <p:cNvSpPr txBox="1">
              <a:spLocks noChangeArrowheads="1"/>
            </p:cNvSpPr>
            <p:nvPr/>
          </p:nvSpPr>
          <p:spPr bwMode="auto">
            <a:xfrm>
              <a:off x="3674" y="3409"/>
              <a:ext cx="405" cy="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900" b="1">
                  <a:solidFill>
                    <a:srgbClr val="FF0000"/>
                  </a:solidFill>
                  <a:latin typeface="Arial" panose="020B0604020202020204" pitchFamily="34" charset="0"/>
                  <a:cs typeface="Arial" panose="020B0604020202020204" pitchFamily="34" charset="0"/>
                </a:rPr>
                <a:t>FRC219</a:t>
              </a:r>
              <a:endParaRPr lang="th-TH" altLang="en-US" sz="900" b="1">
                <a:solidFill>
                  <a:srgbClr val="FF0000"/>
                </a:solidFill>
                <a:latin typeface="Arial" panose="020B0604020202020204" pitchFamily="34" charset="0"/>
                <a:cs typeface="Arial" panose="020B0604020202020204" pitchFamily="34" charset="0"/>
              </a:endParaRPr>
            </a:p>
          </p:txBody>
        </p:sp>
        <p:sp>
          <p:nvSpPr>
            <p:cNvPr id="290845" name="Text Box 49"/>
            <p:cNvSpPr txBox="1">
              <a:spLocks noChangeArrowheads="1"/>
            </p:cNvSpPr>
            <p:nvPr/>
          </p:nvSpPr>
          <p:spPr bwMode="auto">
            <a:xfrm>
              <a:off x="3696" y="3817"/>
              <a:ext cx="405" cy="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900" b="1">
                  <a:solidFill>
                    <a:srgbClr val="FF0000"/>
                  </a:solidFill>
                  <a:latin typeface="Arial" panose="020B0604020202020204" pitchFamily="34" charset="0"/>
                  <a:cs typeface="Arial" panose="020B0604020202020204" pitchFamily="34" charset="0"/>
                </a:rPr>
                <a:t>FRC220</a:t>
              </a:r>
              <a:endParaRPr lang="th-TH" altLang="en-US" sz="900" b="1">
                <a:solidFill>
                  <a:srgbClr val="FF0000"/>
                </a:solidFill>
                <a:latin typeface="Arial" panose="020B0604020202020204" pitchFamily="34" charset="0"/>
                <a:cs typeface="Arial" panose="020B0604020202020204" pitchFamily="34" charset="0"/>
              </a:endParaRPr>
            </a:p>
          </p:txBody>
        </p:sp>
        <p:sp>
          <p:nvSpPr>
            <p:cNvPr id="290846" name="Line 50"/>
            <p:cNvSpPr>
              <a:spLocks noChangeShapeType="1"/>
            </p:cNvSpPr>
            <p:nvPr/>
          </p:nvSpPr>
          <p:spPr bwMode="auto">
            <a:xfrm flipV="1">
              <a:off x="3923" y="3521"/>
              <a:ext cx="0" cy="91"/>
            </a:xfrm>
            <a:prstGeom prst="line">
              <a:avLst/>
            </a:prstGeom>
            <a:noFill/>
            <a:ln w="9525">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90847" name="Line 51"/>
            <p:cNvSpPr>
              <a:spLocks noChangeShapeType="1"/>
            </p:cNvSpPr>
            <p:nvPr/>
          </p:nvSpPr>
          <p:spPr bwMode="auto">
            <a:xfrm flipV="1">
              <a:off x="3923" y="3702"/>
              <a:ext cx="0" cy="136"/>
            </a:xfrm>
            <a:prstGeom prst="line">
              <a:avLst/>
            </a:prstGeom>
            <a:noFill/>
            <a:ln w="9525">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90848" name="Text Box 52"/>
            <p:cNvSpPr txBox="1">
              <a:spLocks noChangeArrowheads="1"/>
            </p:cNvSpPr>
            <p:nvPr/>
          </p:nvSpPr>
          <p:spPr bwMode="auto">
            <a:xfrm>
              <a:off x="3260" y="2205"/>
              <a:ext cx="31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900" b="1">
                  <a:solidFill>
                    <a:srgbClr val="FF0000"/>
                  </a:solidFill>
                  <a:latin typeface="Arial" panose="020B0604020202020204" pitchFamily="34" charset="0"/>
                  <a:cs typeface="Arial" panose="020B0604020202020204" pitchFamily="34" charset="0"/>
                </a:rPr>
                <a:t>TI212</a:t>
              </a:r>
              <a:endParaRPr lang="th-TH" altLang="en-US" sz="900" b="1">
                <a:solidFill>
                  <a:srgbClr val="FF0000"/>
                </a:solidFill>
                <a:latin typeface="Arial" panose="020B0604020202020204" pitchFamily="34" charset="0"/>
                <a:cs typeface="Arial" panose="020B0604020202020204" pitchFamily="34" charset="0"/>
              </a:endParaRPr>
            </a:p>
          </p:txBody>
        </p:sp>
        <p:grpSp>
          <p:nvGrpSpPr>
            <p:cNvPr id="290849" name="Group 53"/>
            <p:cNvGrpSpPr>
              <a:grpSpLocks/>
            </p:cNvGrpSpPr>
            <p:nvPr/>
          </p:nvGrpSpPr>
          <p:grpSpPr bwMode="auto">
            <a:xfrm>
              <a:off x="2381" y="2886"/>
              <a:ext cx="145" cy="91"/>
              <a:chOff x="2381" y="2886"/>
              <a:chExt cx="145" cy="91"/>
            </a:xfrm>
          </p:grpSpPr>
          <p:grpSp>
            <p:nvGrpSpPr>
              <p:cNvPr id="290926" name="Group 54"/>
              <p:cNvGrpSpPr>
                <a:grpSpLocks/>
              </p:cNvGrpSpPr>
              <p:nvPr/>
            </p:nvGrpSpPr>
            <p:grpSpPr bwMode="auto">
              <a:xfrm>
                <a:off x="2381" y="2886"/>
                <a:ext cx="145" cy="91"/>
                <a:chOff x="2608" y="2886"/>
                <a:chExt cx="145" cy="91"/>
              </a:xfrm>
            </p:grpSpPr>
            <p:grpSp>
              <p:nvGrpSpPr>
                <p:cNvPr id="290928" name="Group 55"/>
                <p:cNvGrpSpPr>
                  <a:grpSpLocks/>
                </p:cNvGrpSpPr>
                <p:nvPr/>
              </p:nvGrpSpPr>
              <p:grpSpPr bwMode="auto">
                <a:xfrm rot="5400000">
                  <a:off x="2590" y="2904"/>
                  <a:ext cx="91" cy="55"/>
                  <a:chOff x="1292" y="3339"/>
                  <a:chExt cx="92" cy="46"/>
                </a:xfrm>
              </p:grpSpPr>
              <p:sp>
                <p:nvSpPr>
                  <p:cNvPr id="290930" name="AutoShape 56"/>
                  <p:cNvSpPr>
                    <a:spLocks noChangeArrowheads="1"/>
                  </p:cNvSpPr>
                  <p:nvPr/>
                </p:nvSpPr>
                <p:spPr bwMode="auto">
                  <a:xfrm rot="-5400000">
                    <a:off x="1292" y="3339"/>
                    <a:ext cx="46" cy="46"/>
                  </a:xfrm>
                  <a:prstGeom prst="flowChartMerge">
                    <a:avLst/>
                  </a:prstGeom>
                  <a:solidFill>
                    <a:schemeClr val="accent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solidFill>
                        <a:srgbClr val="FF0000"/>
                      </a:solidFill>
                    </a:endParaRPr>
                  </a:p>
                </p:txBody>
              </p:sp>
              <p:sp>
                <p:nvSpPr>
                  <p:cNvPr id="290931" name="AutoShape 57"/>
                  <p:cNvSpPr>
                    <a:spLocks noChangeArrowheads="1"/>
                  </p:cNvSpPr>
                  <p:nvPr/>
                </p:nvSpPr>
                <p:spPr bwMode="auto">
                  <a:xfrm rot="5400000">
                    <a:off x="1338" y="3339"/>
                    <a:ext cx="46" cy="46"/>
                  </a:xfrm>
                  <a:prstGeom prst="flowChartMerge">
                    <a:avLst/>
                  </a:prstGeom>
                  <a:solidFill>
                    <a:schemeClr val="accent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solidFill>
                        <a:srgbClr val="FF0000"/>
                      </a:solidFill>
                    </a:endParaRPr>
                  </a:p>
                </p:txBody>
              </p:sp>
            </p:grpSp>
            <p:sp>
              <p:nvSpPr>
                <p:cNvPr id="290929" name="AutoShape 58"/>
                <p:cNvSpPr>
                  <a:spLocks noChangeArrowheads="1"/>
                </p:cNvSpPr>
                <p:nvPr/>
              </p:nvSpPr>
              <p:spPr bwMode="auto">
                <a:xfrm>
                  <a:off x="2699" y="2886"/>
                  <a:ext cx="54" cy="91"/>
                </a:xfrm>
                <a:prstGeom prst="flowChartDelay">
                  <a:avLst/>
                </a:prstGeom>
                <a:solidFill>
                  <a:schemeClr val="accent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solidFill>
                      <a:srgbClr val="FF0000"/>
                    </a:solidFill>
                  </a:endParaRPr>
                </a:p>
              </p:txBody>
            </p:sp>
          </p:grpSp>
          <p:sp>
            <p:nvSpPr>
              <p:cNvPr id="290927" name="Freeform 59"/>
              <p:cNvSpPr>
                <a:spLocks/>
              </p:cNvSpPr>
              <p:nvPr/>
            </p:nvSpPr>
            <p:spPr bwMode="auto">
              <a:xfrm>
                <a:off x="2409" y="2931"/>
                <a:ext cx="63" cy="1"/>
              </a:xfrm>
              <a:custGeom>
                <a:avLst/>
                <a:gdLst>
                  <a:gd name="T0" fmla="*/ 63 w 63"/>
                  <a:gd name="T1" fmla="*/ 0 h 1"/>
                  <a:gd name="T2" fmla="*/ 0 w 63"/>
                  <a:gd name="T3" fmla="*/ 0 h 1"/>
                  <a:gd name="T4" fmla="*/ 0 60000 65536"/>
                  <a:gd name="T5" fmla="*/ 0 60000 65536"/>
                </a:gdLst>
                <a:ahLst/>
                <a:cxnLst>
                  <a:cxn ang="T4">
                    <a:pos x="T0" y="T1"/>
                  </a:cxn>
                  <a:cxn ang="T5">
                    <a:pos x="T2" y="T3"/>
                  </a:cxn>
                </a:cxnLst>
                <a:rect l="0" t="0" r="r" b="b"/>
                <a:pathLst>
                  <a:path w="63" h="1">
                    <a:moveTo>
                      <a:pt x="63" y="0"/>
                    </a:moveTo>
                    <a:lnTo>
                      <a:pt x="0" y="0"/>
                    </a:lnTo>
                  </a:path>
                </a:pathLst>
              </a:custGeom>
              <a:noFill/>
              <a:ln w="9525">
                <a:solidFill>
                  <a:schemeClr val="bg2"/>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290850" name="Text Box 60"/>
            <p:cNvSpPr txBox="1">
              <a:spLocks noChangeArrowheads="1"/>
            </p:cNvSpPr>
            <p:nvPr/>
          </p:nvSpPr>
          <p:spPr bwMode="auto">
            <a:xfrm>
              <a:off x="2483" y="2840"/>
              <a:ext cx="498" cy="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b="1">
                  <a:solidFill>
                    <a:srgbClr val="FF0000"/>
                  </a:solidFill>
                  <a:latin typeface="Arial" panose="020B0604020202020204" pitchFamily="34" charset="0"/>
                  <a:cs typeface="Arial" panose="020B0604020202020204" pitchFamily="34" charset="0"/>
                </a:rPr>
                <a:t>FRC163</a:t>
              </a:r>
              <a:endParaRPr lang="th-TH" altLang="en-US" sz="1200" b="1">
                <a:solidFill>
                  <a:srgbClr val="FF0000"/>
                </a:solidFill>
                <a:latin typeface="Arial" panose="020B0604020202020204" pitchFamily="34" charset="0"/>
                <a:cs typeface="Arial" panose="020B0604020202020204" pitchFamily="34" charset="0"/>
              </a:endParaRPr>
            </a:p>
          </p:txBody>
        </p:sp>
        <p:grpSp>
          <p:nvGrpSpPr>
            <p:cNvPr id="290851" name="Group 61"/>
            <p:cNvGrpSpPr>
              <a:grpSpLocks/>
            </p:cNvGrpSpPr>
            <p:nvPr/>
          </p:nvGrpSpPr>
          <p:grpSpPr bwMode="auto">
            <a:xfrm>
              <a:off x="1193" y="3204"/>
              <a:ext cx="145" cy="91"/>
              <a:chOff x="2381" y="2886"/>
              <a:chExt cx="145" cy="91"/>
            </a:xfrm>
          </p:grpSpPr>
          <p:grpSp>
            <p:nvGrpSpPr>
              <p:cNvPr id="290920" name="Group 62"/>
              <p:cNvGrpSpPr>
                <a:grpSpLocks/>
              </p:cNvGrpSpPr>
              <p:nvPr/>
            </p:nvGrpSpPr>
            <p:grpSpPr bwMode="auto">
              <a:xfrm>
                <a:off x="2381" y="2886"/>
                <a:ext cx="145" cy="91"/>
                <a:chOff x="2608" y="2886"/>
                <a:chExt cx="145" cy="91"/>
              </a:xfrm>
            </p:grpSpPr>
            <p:grpSp>
              <p:nvGrpSpPr>
                <p:cNvPr id="290922" name="Group 63"/>
                <p:cNvGrpSpPr>
                  <a:grpSpLocks/>
                </p:cNvGrpSpPr>
                <p:nvPr/>
              </p:nvGrpSpPr>
              <p:grpSpPr bwMode="auto">
                <a:xfrm rot="5400000">
                  <a:off x="2590" y="2904"/>
                  <a:ext cx="91" cy="55"/>
                  <a:chOff x="1292" y="3339"/>
                  <a:chExt cx="92" cy="46"/>
                </a:xfrm>
              </p:grpSpPr>
              <p:sp>
                <p:nvSpPr>
                  <p:cNvPr id="290924" name="AutoShape 64"/>
                  <p:cNvSpPr>
                    <a:spLocks noChangeArrowheads="1"/>
                  </p:cNvSpPr>
                  <p:nvPr/>
                </p:nvSpPr>
                <p:spPr bwMode="auto">
                  <a:xfrm rot="-5400000">
                    <a:off x="1292" y="3339"/>
                    <a:ext cx="46" cy="46"/>
                  </a:xfrm>
                  <a:prstGeom prst="flowChartMerge">
                    <a:avLst/>
                  </a:prstGeom>
                  <a:solidFill>
                    <a:schemeClr val="accent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solidFill>
                        <a:srgbClr val="FF0000"/>
                      </a:solidFill>
                    </a:endParaRPr>
                  </a:p>
                </p:txBody>
              </p:sp>
              <p:sp>
                <p:nvSpPr>
                  <p:cNvPr id="290925" name="AutoShape 65"/>
                  <p:cNvSpPr>
                    <a:spLocks noChangeArrowheads="1"/>
                  </p:cNvSpPr>
                  <p:nvPr/>
                </p:nvSpPr>
                <p:spPr bwMode="auto">
                  <a:xfrm rot="5400000">
                    <a:off x="1338" y="3339"/>
                    <a:ext cx="46" cy="46"/>
                  </a:xfrm>
                  <a:prstGeom prst="flowChartMerge">
                    <a:avLst/>
                  </a:prstGeom>
                  <a:solidFill>
                    <a:schemeClr val="accent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solidFill>
                        <a:srgbClr val="FF0000"/>
                      </a:solidFill>
                    </a:endParaRPr>
                  </a:p>
                </p:txBody>
              </p:sp>
            </p:grpSp>
            <p:sp>
              <p:nvSpPr>
                <p:cNvPr id="290923" name="AutoShape 66"/>
                <p:cNvSpPr>
                  <a:spLocks noChangeArrowheads="1"/>
                </p:cNvSpPr>
                <p:nvPr/>
              </p:nvSpPr>
              <p:spPr bwMode="auto">
                <a:xfrm>
                  <a:off x="2699" y="2886"/>
                  <a:ext cx="54" cy="91"/>
                </a:xfrm>
                <a:prstGeom prst="flowChartDelay">
                  <a:avLst/>
                </a:prstGeom>
                <a:solidFill>
                  <a:schemeClr val="accent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solidFill>
                      <a:srgbClr val="FF0000"/>
                    </a:solidFill>
                  </a:endParaRPr>
                </a:p>
              </p:txBody>
            </p:sp>
          </p:grpSp>
          <p:sp>
            <p:nvSpPr>
              <p:cNvPr id="290921" name="Freeform 67"/>
              <p:cNvSpPr>
                <a:spLocks/>
              </p:cNvSpPr>
              <p:nvPr/>
            </p:nvSpPr>
            <p:spPr bwMode="auto">
              <a:xfrm>
                <a:off x="2409" y="2931"/>
                <a:ext cx="63" cy="1"/>
              </a:xfrm>
              <a:custGeom>
                <a:avLst/>
                <a:gdLst>
                  <a:gd name="T0" fmla="*/ 63 w 63"/>
                  <a:gd name="T1" fmla="*/ 0 h 1"/>
                  <a:gd name="T2" fmla="*/ 0 w 63"/>
                  <a:gd name="T3" fmla="*/ 0 h 1"/>
                  <a:gd name="T4" fmla="*/ 0 60000 65536"/>
                  <a:gd name="T5" fmla="*/ 0 60000 65536"/>
                </a:gdLst>
                <a:ahLst/>
                <a:cxnLst>
                  <a:cxn ang="T4">
                    <a:pos x="T0" y="T1"/>
                  </a:cxn>
                  <a:cxn ang="T5">
                    <a:pos x="T2" y="T3"/>
                  </a:cxn>
                </a:cxnLst>
                <a:rect l="0" t="0" r="r" b="b"/>
                <a:pathLst>
                  <a:path w="63" h="1">
                    <a:moveTo>
                      <a:pt x="63" y="0"/>
                    </a:moveTo>
                    <a:lnTo>
                      <a:pt x="0" y="0"/>
                    </a:lnTo>
                  </a:path>
                </a:pathLst>
              </a:custGeom>
              <a:noFill/>
              <a:ln w="9525">
                <a:solidFill>
                  <a:schemeClr val="bg2"/>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290852" name="Text Box 68"/>
            <p:cNvSpPr txBox="1">
              <a:spLocks noChangeArrowheads="1"/>
            </p:cNvSpPr>
            <p:nvPr/>
          </p:nvSpPr>
          <p:spPr bwMode="auto">
            <a:xfrm>
              <a:off x="1292" y="3158"/>
              <a:ext cx="493" cy="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b="1">
                  <a:solidFill>
                    <a:srgbClr val="FF0000"/>
                  </a:solidFill>
                  <a:latin typeface="Arial" panose="020B0604020202020204" pitchFamily="34" charset="0"/>
                  <a:cs typeface="Arial" panose="020B0604020202020204" pitchFamily="34" charset="0"/>
                </a:rPr>
                <a:t>FRC111</a:t>
              </a:r>
              <a:endParaRPr lang="th-TH" altLang="en-US" sz="1200" b="1">
                <a:solidFill>
                  <a:srgbClr val="FF0000"/>
                </a:solidFill>
                <a:latin typeface="Arial" panose="020B0604020202020204" pitchFamily="34" charset="0"/>
                <a:cs typeface="Arial" panose="020B0604020202020204" pitchFamily="34" charset="0"/>
              </a:endParaRPr>
            </a:p>
          </p:txBody>
        </p:sp>
        <p:grpSp>
          <p:nvGrpSpPr>
            <p:cNvPr id="290853" name="Group 69"/>
            <p:cNvGrpSpPr>
              <a:grpSpLocks/>
            </p:cNvGrpSpPr>
            <p:nvPr/>
          </p:nvGrpSpPr>
          <p:grpSpPr bwMode="auto">
            <a:xfrm>
              <a:off x="1837" y="2885"/>
              <a:ext cx="145" cy="91"/>
              <a:chOff x="2381" y="2886"/>
              <a:chExt cx="145" cy="91"/>
            </a:xfrm>
          </p:grpSpPr>
          <p:grpSp>
            <p:nvGrpSpPr>
              <p:cNvPr id="290914" name="Group 70"/>
              <p:cNvGrpSpPr>
                <a:grpSpLocks/>
              </p:cNvGrpSpPr>
              <p:nvPr/>
            </p:nvGrpSpPr>
            <p:grpSpPr bwMode="auto">
              <a:xfrm>
                <a:off x="2381" y="2886"/>
                <a:ext cx="145" cy="91"/>
                <a:chOff x="2608" y="2886"/>
                <a:chExt cx="145" cy="91"/>
              </a:xfrm>
            </p:grpSpPr>
            <p:grpSp>
              <p:nvGrpSpPr>
                <p:cNvPr id="290916" name="Group 71"/>
                <p:cNvGrpSpPr>
                  <a:grpSpLocks/>
                </p:cNvGrpSpPr>
                <p:nvPr/>
              </p:nvGrpSpPr>
              <p:grpSpPr bwMode="auto">
                <a:xfrm rot="5400000">
                  <a:off x="2590" y="2904"/>
                  <a:ext cx="91" cy="55"/>
                  <a:chOff x="1292" y="3339"/>
                  <a:chExt cx="92" cy="46"/>
                </a:xfrm>
              </p:grpSpPr>
              <p:sp>
                <p:nvSpPr>
                  <p:cNvPr id="290918" name="AutoShape 72"/>
                  <p:cNvSpPr>
                    <a:spLocks noChangeArrowheads="1"/>
                  </p:cNvSpPr>
                  <p:nvPr/>
                </p:nvSpPr>
                <p:spPr bwMode="auto">
                  <a:xfrm rot="-5400000">
                    <a:off x="1292" y="3339"/>
                    <a:ext cx="46" cy="46"/>
                  </a:xfrm>
                  <a:prstGeom prst="flowChartMerge">
                    <a:avLst/>
                  </a:prstGeom>
                  <a:solidFill>
                    <a:schemeClr val="accent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solidFill>
                        <a:srgbClr val="FF0000"/>
                      </a:solidFill>
                    </a:endParaRPr>
                  </a:p>
                </p:txBody>
              </p:sp>
              <p:sp>
                <p:nvSpPr>
                  <p:cNvPr id="290919" name="AutoShape 73"/>
                  <p:cNvSpPr>
                    <a:spLocks noChangeArrowheads="1"/>
                  </p:cNvSpPr>
                  <p:nvPr/>
                </p:nvSpPr>
                <p:spPr bwMode="auto">
                  <a:xfrm rot="5400000">
                    <a:off x="1338" y="3339"/>
                    <a:ext cx="46" cy="46"/>
                  </a:xfrm>
                  <a:prstGeom prst="flowChartMerge">
                    <a:avLst/>
                  </a:prstGeom>
                  <a:solidFill>
                    <a:schemeClr val="accent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solidFill>
                        <a:srgbClr val="FF0000"/>
                      </a:solidFill>
                    </a:endParaRPr>
                  </a:p>
                </p:txBody>
              </p:sp>
            </p:grpSp>
            <p:sp>
              <p:nvSpPr>
                <p:cNvPr id="290917" name="AutoShape 74"/>
                <p:cNvSpPr>
                  <a:spLocks noChangeArrowheads="1"/>
                </p:cNvSpPr>
                <p:nvPr/>
              </p:nvSpPr>
              <p:spPr bwMode="auto">
                <a:xfrm>
                  <a:off x="2699" y="2886"/>
                  <a:ext cx="54" cy="91"/>
                </a:xfrm>
                <a:prstGeom prst="flowChartDelay">
                  <a:avLst/>
                </a:prstGeom>
                <a:solidFill>
                  <a:schemeClr val="accent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solidFill>
                      <a:srgbClr val="FF0000"/>
                    </a:solidFill>
                  </a:endParaRPr>
                </a:p>
              </p:txBody>
            </p:sp>
          </p:grpSp>
          <p:sp>
            <p:nvSpPr>
              <p:cNvPr id="290915" name="Freeform 75"/>
              <p:cNvSpPr>
                <a:spLocks/>
              </p:cNvSpPr>
              <p:nvPr/>
            </p:nvSpPr>
            <p:spPr bwMode="auto">
              <a:xfrm>
                <a:off x="2409" y="2931"/>
                <a:ext cx="63" cy="1"/>
              </a:xfrm>
              <a:custGeom>
                <a:avLst/>
                <a:gdLst>
                  <a:gd name="T0" fmla="*/ 63 w 63"/>
                  <a:gd name="T1" fmla="*/ 0 h 1"/>
                  <a:gd name="T2" fmla="*/ 0 w 63"/>
                  <a:gd name="T3" fmla="*/ 0 h 1"/>
                  <a:gd name="T4" fmla="*/ 0 60000 65536"/>
                  <a:gd name="T5" fmla="*/ 0 60000 65536"/>
                </a:gdLst>
                <a:ahLst/>
                <a:cxnLst>
                  <a:cxn ang="T4">
                    <a:pos x="T0" y="T1"/>
                  </a:cxn>
                  <a:cxn ang="T5">
                    <a:pos x="T2" y="T3"/>
                  </a:cxn>
                </a:cxnLst>
                <a:rect l="0" t="0" r="r" b="b"/>
                <a:pathLst>
                  <a:path w="63" h="1">
                    <a:moveTo>
                      <a:pt x="63" y="0"/>
                    </a:moveTo>
                    <a:lnTo>
                      <a:pt x="0" y="0"/>
                    </a:lnTo>
                  </a:path>
                </a:pathLst>
              </a:custGeom>
              <a:noFill/>
              <a:ln w="9525">
                <a:solidFill>
                  <a:schemeClr val="bg2"/>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290854" name="Text Box 76"/>
            <p:cNvSpPr txBox="1">
              <a:spLocks noChangeArrowheads="1"/>
            </p:cNvSpPr>
            <p:nvPr/>
          </p:nvSpPr>
          <p:spPr bwMode="auto">
            <a:xfrm>
              <a:off x="1818" y="2940"/>
              <a:ext cx="498" cy="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b="1">
                  <a:solidFill>
                    <a:srgbClr val="FF0000"/>
                  </a:solidFill>
                  <a:latin typeface="Arial" panose="020B0604020202020204" pitchFamily="34" charset="0"/>
                  <a:cs typeface="Arial" panose="020B0604020202020204" pitchFamily="34" charset="0"/>
                </a:rPr>
                <a:t>FRC155</a:t>
              </a:r>
              <a:endParaRPr lang="th-TH" altLang="en-US" sz="1200" b="1">
                <a:solidFill>
                  <a:srgbClr val="FF0000"/>
                </a:solidFill>
                <a:latin typeface="Arial" panose="020B0604020202020204" pitchFamily="34" charset="0"/>
                <a:cs typeface="Arial" panose="020B0604020202020204" pitchFamily="34" charset="0"/>
              </a:endParaRPr>
            </a:p>
          </p:txBody>
        </p:sp>
        <p:sp>
          <p:nvSpPr>
            <p:cNvPr id="290855" name="Text Box 77"/>
            <p:cNvSpPr txBox="1">
              <a:spLocks noChangeArrowheads="1"/>
            </p:cNvSpPr>
            <p:nvPr/>
          </p:nvSpPr>
          <p:spPr bwMode="auto">
            <a:xfrm>
              <a:off x="2272" y="1524"/>
              <a:ext cx="493" cy="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b="1">
                  <a:solidFill>
                    <a:srgbClr val="FF0000"/>
                  </a:solidFill>
                  <a:latin typeface="Arial" panose="020B0604020202020204" pitchFamily="34" charset="0"/>
                  <a:cs typeface="Arial" panose="020B0604020202020204" pitchFamily="34" charset="0"/>
                </a:rPr>
                <a:t>FRC178</a:t>
              </a:r>
              <a:endParaRPr lang="th-TH" altLang="en-US" sz="1200" b="1">
                <a:solidFill>
                  <a:srgbClr val="FF0000"/>
                </a:solidFill>
                <a:latin typeface="Arial" panose="020B0604020202020204" pitchFamily="34" charset="0"/>
                <a:cs typeface="Arial" panose="020B0604020202020204" pitchFamily="34" charset="0"/>
              </a:endParaRPr>
            </a:p>
          </p:txBody>
        </p:sp>
        <p:sp>
          <p:nvSpPr>
            <p:cNvPr id="290856" name="Text Box 78"/>
            <p:cNvSpPr txBox="1">
              <a:spLocks noChangeArrowheads="1"/>
            </p:cNvSpPr>
            <p:nvPr/>
          </p:nvSpPr>
          <p:spPr bwMode="auto">
            <a:xfrm>
              <a:off x="1927" y="1640"/>
              <a:ext cx="316" cy="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900" b="1">
                  <a:solidFill>
                    <a:srgbClr val="FF0000"/>
                  </a:solidFill>
                  <a:latin typeface="Arial" panose="020B0604020202020204" pitchFamily="34" charset="0"/>
                  <a:cs typeface="Arial" panose="020B0604020202020204" pitchFamily="34" charset="0"/>
                </a:rPr>
                <a:t>TI180</a:t>
              </a:r>
              <a:endParaRPr lang="th-TH" altLang="en-US" sz="900" b="1">
                <a:solidFill>
                  <a:srgbClr val="FF0000"/>
                </a:solidFill>
                <a:latin typeface="Arial" panose="020B0604020202020204" pitchFamily="34" charset="0"/>
                <a:cs typeface="Arial" panose="020B0604020202020204" pitchFamily="34" charset="0"/>
              </a:endParaRPr>
            </a:p>
          </p:txBody>
        </p:sp>
        <p:sp>
          <p:nvSpPr>
            <p:cNvPr id="290857" name="Text Box 79"/>
            <p:cNvSpPr txBox="1">
              <a:spLocks noChangeArrowheads="1"/>
            </p:cNvSpPr>
            <p:nvPr/>
          </p:nvSpPr>
          <p:spPr bwMode="auto">
            <a:xfrm>
              <a:off x="2699" y="1776"/>
              <a:ext cx="375"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000" b="1">
                  <a:solidFill>
                    <a:srgbClr val="FF0000"/>
                  </a:solidFill>
                  <a:latin typeface="Arial" panose="020B0604020202020204" pitchFamily="34" charset="0"/>
                  <a:cs typeface="Arial" panose="020B0604020202020204" pitchFamily="34" charset="0"/>
                </a:rPr>
                <a:t>HS179</a:t>
              </a:r>
              <a:endParaRPr lang="th-TH" altLang="en-US" sz="1000" b="1">
                <a:solidFill>
                  <a:srgbClr val="FF0000"/>
                </a:solidFill>
                <a:latin typeface="Arial" panose="020B0604020202020204" pitchFamily="34" charset="0"/>
                <a:cs typeface="Arial" panose="020B0604020202020204" pitchFamily="34" charset="0"/>
              </a:endParaRPr>
            </a:p>
          </p:txBody>
        </p:sp>
        <p:grpSp>
          <p:nvGrpSpPr>
            <p:cNvPr id="290858" name="Group 80"/>
            <p:cNvGrpSpPr>
              <a:grpSpLocks/>
            </p:cNvGrpSpPr>
            <p:nvPr/>
          </p:nvGrpSpPr>
          <p:grpSpPr bwMode="auto">
            <a:xfrm>
              <a:off x="2789" y="1979"/>
              <a:ext cx="91" cy="55"/>
              <a:chOff x="1292" y="3339"/>
              <a:chExt cx="92" cy="46"/>
            </a:xfrm>
          </p:grpSpPr>
          <p:sp>
            <p:nvSpPr>
              <p:cNvPr id="290912" name="AutoShape 81"/>
              <p:cNvSpPr>
                <a:spLocks noChangeArrowheads="1"/>
              </p:cNvSpPr>
              <p:nvPr/>
            </p:nvSpPr>
            <p:spPr bwMode="auto">
              <a:xfrm rot="-5400000">
                <a:off x="1292" y="3339"/>
                <a:ext cx="46" cy="46"/>
              </a:xfrm>
              <a:prstGeom prst="flowChartMerge">
                <a:avLst/>
              </a:prstGeom>
              <a:solidFill>
                <a:schemeClr val="accent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solidFill>
                    <a:srgbClr val="FF0000"/>
                  </a:solidFill>
                </a:endParaRPr>
              </a:p>
            </p:txBody>
          </p:sp>
          <p:sp>
            <p:nvSpPr>
              <p:cNvPr id="290913" name="AutoShape 82"/>
              <p:cNvSpPr>
                <a:spLocks noChangeArrowheads="1"/>
              </p:cNvSpPr>
              <p:nvPr/>
            </p:nvSpPr>
            <p:spPr bwMode="auto">
              <a:xfrm rot="5400000">
                <a:off x="1338" y="3339"/>
                <a:ext cx="46" cy="46"/>
              </a:xfrm>
              <a:prstGeom prst="flowChartMerge">
                <a:avLst/>
              </a:prstGeom>
              <a:solidFill>
                <a:schemeClr val="accent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solidFill>
                    <a:srgbClr val="FF0000"/>
                  </a:solidFill>
                </a:endParaRPr>
              </a:p>
            </p:txBody>
          </p:sp>
        </p:grpSp>
        <p:sp>
          <p:nvSpPr>
            <p:cNvPr id="290859" name="Text Box 83"/>
            <p:cNvSpPr txBox="1">
              <a:spLocks noChangeArrowheads="1"/>
            </p:cNvSpPr>
            <p:nvPr/>
          </p:nvSpPr>
          <p:spPr bwMode="auto">
            <a:xfrm>
              <a:off x="2699" y="2003"/>
              <a:ext cx="375"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000" b="1">
                  <a:solidFill>
                    <a:srgbClr val="FF0000"/>
                  </a:solidFill>
                  <a:latin typeface="Arial" panose="020B0604020202020204" pitchFamily="34" charset="0"/>
                  <a:cs typeface="Arial" panose="020B0604020202020204" pitchFamily="34" charset="0"/>
                </a:rPr>
                <a:t>HS185</a:t>
              </a:r>
              <a:endParaRPr lang="th-TH" altLang="en-US" sz="1000" b="1">
                <a:solidFill>
                  <a:srgbClr val="FF0000"/>
                </a:solidFill>
                <a:latin typeface="Arial" panose="020B0604020202020204" pitchFamily="34" charset="0"/>
                <a:cs typeface="Arial" panose="020B0604020202020204" pitchFamily="34" charset="0"/>
              </a:endParaRPr>
            </a:p>
          </p:txBody>
        </p:sp>
        <p:grpSp>
          <p:nvGrpSpPr>
            <p:cNvPr id="290860" name="Group 84"/>
            <p:cNvGrpSpPr>
              <a:grpSpLocks/>
            </p:cNvGrpSpPr>
            <p:nvPr/>
          </p:nvGrpSpPr>
          <p:grpSpPr bwMode="auto">
            <a:xfrm>
              <a:off x="2789" y="2160"/>
              <a:ext cx="91" cy="55"/>
              <a:chOff x="1292" y="3339"/>
              <a:chExt cx="92" cy="46"/>
            </a:xfrm>
          </p:grpSpPr>
          <p:sp>
            <p:nvSpPr>
              <p:cNvPr id="290910" name="AutoShape 85"/>
              <p:cNvSpPr>
                <a:spLocks noChangeArrowheads="1"/>
              </p:cNvSpPr>
              <p:nvPr/>
            </p:nvSpPr>
            <p:spPr bwMode="auto">
              <a:xfrm rot="-5400000">
                <a:off x="1292" y="3339"/>
                <a:ext cx="46" cy="46"/>
              </a:xfrm>
              <a:prstGeom prst="flowChartMerge">
                <a:avLst/>
              </a:prstGeom>
              <a:solidFill>
                <a:schemeClr val="accent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solidFill>
                    <a:srgbClr val="FF0000"/>
                  </a:solidFill>
                </a:endParaRPr>
              </a:p>
            </p:txBody>
          </p:sp>
          <p:sp>
            <p:nvSpPr>
              <p:cNvPr id="290911" name="AutoShape 86"/>
              <p:cNvSpPr>
                <a:spLocks noChangeArrowheads="1"/>
              </p:cNvSpPr>
              <p:nvPr/>
            </p:nvSpPr>
            <p:spPr bwMode="auto">
              <a:xfrm rot="5400000">
                <a:off x="1338" y="3339"/>
                <a:ext cx="46" cy="46"/>
              </a:xfrm>
              <a:prstGeom prst="flowChartMerge">
                <a:avLst/>
              </a:prstGeom>
              <a:solidFill>
                <a:schemeClr val="accent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solidFill>
                    <a:srgbClr val="FF0000"/>
                  </a:solidFill>
                </a:endParaRPr>
              </a:p>
            </p:txBody>
          </p:sp>
        </p:grpSp>
        <p:sp>
          <p:nvSpPr>
            <p:cNvPr id="290861" name="Text Box 87"/>
            <p:cNvSpPr txBox="1">
              <a:spLocks noChangeArrowheads="1"/>
            </p:cNvSpPr>
            <p:nvPr/>
          </p:nvSpPr>
          <p:spPr bwMode="auto">
            <a:xfrm>
              <a:off x="2699" y="2184"/>
              <a:ext cx="375"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000" b="1">
                  <a:solidFill>
                    <a:srgbClr val="FF0000"/>
                  </a:solidFill>
                  <a:latin typeface="Arial" panose="020B0604020202020204" pitchFamily="34" charset="0"/>
                  <a:cs typeface="Arial" panose="020B0604020202020204" pitchFamily="34" charset="0"/>
                </a:rPr>
                <a:t>HS185</a:t>
              </a:r>
              <a:endParaRPr lang="th-TH" altLang="en-US" sz="1000" b="1">
                <a:solidFill>
                  <a:srgbClr val="FF0000"/>
                </a:solidFill>
                <a:latin typeface="Arial" panose="020B0604020202020204" pitchFamily="34" charset="0"/>
                <a:cs typeface="Arial" panose="020B0604020202020204" pitchFamily="34" charset="0"/>
              </a:endParaRPr>
            </a:p>
          </p:txBody>
        </p:sp>
        <p:grpSp>
          <p:nvGrpSpPr>
            <p:cNvPr id="290862" name="Group 88"/>
            <p:cNvGrpSpPr>
              <a:grpSpLocks/>
            </p:cNvGrpSpPr>
            <p:nvPr/>
          </p:nvGrpSpPr>
          <p:grpSpPr bwMode="auto">
            <a:xfrm>
              <a:off x="3152" y="1570"/>
              <a:ext cx="91" cy="55"/>
              <a:chOff x="1292" y="3339"/>
              <a:chExt cx="92" cy="46"/>
            </a:xfrm>
          </p:grpSpPr>
          <p:sp>
            <p:nvSpPr>
              <p:cNvPr id="290908" name="AutoShape 89"/>
              <p:cNvSpPr>
                <a:spLocks noChangeArrowheads="1"/>
              </p:cNvSpPr>
              <p:nvPr/>
            </p:nvSpPr>
            <p:spPr bwMode="auto">
              <a:xfrm rot="-5400000">
                <a:off x="1292" y="3339"/>
                <a:ext cx="46" cy="46"/>
              </a:xfrm>
              <a:prstGeom prst="flowChartMerge">
                <a:avLst/>
              </a:prstGeom>
              <a:solidFill>
                <a:schemeClr val="accent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solidFill>
                    <a:srgbClr val="FF0000"/>
                  </a:solidFill>
                </a:endParaRPr>
              </a:p>
            </p:txBody>
          </p:sp>
          <p:sp>
            <p:nvSpPr>
              <p:cNvPr id="290909" name="AutoShape 90"/>
              <p:cNvSpPr>
                <a:spLocks noChangeArrowheads="1"/>
              </p:cNvSpPr>
              <p:nvPr/>
            </p:nvSpPr>
            <p:spPr bwMode="auto">
              <a:xfrm rot="5400000">
                <a:off x="1338" y="3339"/>
                <a:ext cx="46" cy="46"/>
              </a:xfrm>
              <a:prstGeom prst="flowChartMerge">
                <a:avLst/>
              </a:prstGeom>
              <a:solidFill>
                <a:schemeClr val="accent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solidFill>
                    <a:srgbClr val="FF0000"/>
                  </a:solidFill>
                </a:endParaRPr>
              </a:p>
            </p:txBody>
          </p:sp>
        </p:grpSp>
        <p:sp>
          <p:nvSpPr>
            <p:cNvPr id="290863" name="Text Box 91"/>
            <p:cNvSpPr txBox="1">
              <a:spLocks noChangeArrowheads="1"/>
            </p:cNvSpPr>
            <p:nvPr/>
          </p:nvSpPr>
          <p:spPr bwMode="auto">
            <a:xfrm>
              <a:off x="3153" y="1450"/>
              <a:ext cx="375"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000" b="1">
                  <a:solidFill>
                    <a:srgbClr val="FF0000"/>
                  </a:solidFill>
                  <a:latin typeface="Arial" panose="020B0604020202020204" pitchFamily="34" charset="0"/>
                  <a:cs typeface="Arial" panose="020B0604020202020204" pitchFamily="34" charset="0"/>
                </a:rPr>
                <a:t>HS191</a:t>
              </a:r>
              <a:endParaRPr lang="th-TH" altLang="en-US" sz="1000" b="1">
                <a:solidFill>
                  <a:srgbClr val="FF0000"/>
                </a:solidFill>
                <a:latin typeface="Arial" panose="020B0604020202020204" pitchFamily="34" charset="0"/>
                <a:cs typeface="Arial" panose="020B0604020202020204" pitchFamily="34" charset="0"/>
              </a:endParaRPr>
            </a:p>
          </p:txBody>
        </p:sp>
        <p:sp>
          <p:nvSpPr>
            <p:cNvPr id="290864" name="Text Box 92"/>
            <p:cNvSpPr txBox="1">
              <a:spLocks noChangeArrowheads="1"/>
            </p:cNvSpPr>
            <p:nvPr/>
          </p:nvSpPr>
          <p:spPr bwMode="auto">
            <a:xfrm>
              <a:off x="3244" y="1760"/>
              <a:ext cx="498" cy="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b="1">
                  <a:solidFill>
                    <a:srgbClr val="FF0000"/>
                  </a:solidFill>
                  <a:latin typeface="Arial" panose="020B0604020202020204" pitchFamily="34" charset="0"/>
                  <a:cs typeface="Arial" panose="020B0604020202020204" pitchFamily="34" charset="0"/>
                </a:rPr>
                <a:t>FRC203</a:t>
              </a:r>
              <a:endParaRPr lang="th-TH" altLang="en-US" sz="1200" b="1">
                <a:solidFill>
                  <a:srgbClr val="FF0000"/>
                </a:solidFill>
                <a:latin typeface="Arial" panose="020B0604020202020204" pitchFamily="34" charset="0"/>
                <a:cs typeface="Arial" panose="020B0604020202020204" pitchFamily="34" charset="0"/>
              </a:endParaRPr>
            </a:p>
          </p:txBody>
        </p:sp>
        <p:grpSp>
          <p:nvGrpSpPr>
            <p:cNvPr id="290865" name="Group 93"/>
            <p:cNvGrpSpPr>
              <a:grpSpLocks/>
            </p:cNvGrpSpPr>
            <p:nvPr/>
          </p:nvGrpSpPr>
          <p:grpSpPr bwMode="auto">
            <a:xfrm>
              <a:off x="3333" y="2524"/>
              <a:ext cx="91" cy="55"/>
              <a:chOff x="1292" y="3339"/>
              <a:chExt cx="92" cy="46"/>
            </a:xfrm>
          </p:grpSpPr>
          <p:sp>
            <p:nvSpPr>
              <p:cNvPr id="290906" name="AutoShape 94"/>
              <p:cNvSpPr>
                <a:spLocks noChangeArrowheads="1"/>
              </p:cNvSpPr>
              <p:nvPr/>
            </p:nvSpPr>
            <p:spPr bwMode="auto">
              <a:xfrm rot="-5400000">
                <a:off x="1292" y="3339"/>
                <a:ext cx="46" cy="46"/>
              </a:xfrm>
              <a:prstGeom prst="flowChartMerge">
                <a:avLst/>
              </a:prstGeom>
              <a:solidFill>
                <a:schemeClr val="accent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solidFill>
                    <a:srgbClr val="FF0000"/>
                  </a:solidFill>
                </a:endParaRPr>
              </a:p>
            </p:txBody>
          </p:sp>
          <p:sp>
            <p:nvSpPr>
              <p:cNvPr id="290907" name="AutoShape 95"/>
              <p:cNvSpPr>
                <a:spLocks noChangeArrowheads="1"/>
              </p:cNvSpPr>
              <p:nvPr/>
            </p:nvSpPr>
            <p:spPr bwMode="auto">
              <a:xfrm rot="5400000">
                <a:off x="1338" y="3339"/>
                <a:ext cx="46" cy="46"/>
              </a:xfrm>
              <a:prstGeom prst="flowChartMerge">
                <a:avLst/>
              </a:prstGeom>
              <a:solidFill>
                <a:schemeClr val="accent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solidFill>
                    <a:srgbClr val="FF0000"/>
                  </a:solidFill>
                </a:endParaRPr>
              </a:p>
            </p:txBody>
          </p:sp>
        </p:grpSp>
        <p:sp>
          <p:nvSpPr>
            <p:cNvPr id="290866" name="Text Box 96"/>
            <p:cNvSpPr txBox="1">
              <a:spLocks noChangeArrowheads="1"/>
            </p:cNvSpPr>
            <p:nvPr/>
          </p:nvSpPr>
          <p:spPr bwMode="auto">
            <a:xfrm>
              <a:off x="3244" y="2403"/>
              <a:ext cx="375"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000" b="1">
                  <a:solidFill>
                    <a:srgbClr val="FF0000"/>
                  </a:solidFill>
                  <a:latin typeface="Arial" panose="020B0604020202020204" pitchFamily="34" charset="0"/>
                  <a:cs typeface="Arial" panose="020B0604020202020204" pitchFamily="34" charset="0"/>
                </a:rPr>
                <a:t>HS195</a:t>
              </a:r>
              <a:endParaRPr lang="th-TH" altLang="en-US" sz="1000" b="1">
                <a:solidFill>
                  <a:srgbClr val="FF0000"/>
                </a:solidFill>
                <a:latin typeface="Arial" panose="020B0604020202020204" pitchFamily="34" charset="0"/>
                <a:cs typeface="Arial" panose="020B0604020202020204" pitchFamily="34" charset="0"/>
              </a:endParaRPr>
            </a:p>
          </p:txBody>
        </p:sp>
        <p:grpSp>
          <p:nvGrpSpPr>
            <p:cNvPr id="290867" name="Group 97"/>
            <p:cNvGrpSpPr>
              <a:grpSpLocks/>
            </p:cNvGrpSpPr>
            <p:nvPr/>
          </p:nvGrpSpPr>
          <p:grpSpPr bwMode="auto">
            <a:xfrm>
              <a:off x="3333" y="2740"/>
              <a:ext cx="91" cy="55"/>
              <a:chOff x="1292" y="3339"/>
              <a:chExt cx="92" cy="46"/>
            </a:xfrm>
          </p:grpSpPr>
          <p:sp>
            <p:nvSpPr>
              <p:cNvPr id="290904" name="AutoShape 98"/>
              <p:cNvSpPr>
                <a:spLocks noChangeArrowheads="1"/>
              </p:cNvSpPr>
              <p:nvPr/>
            </p:nvSpPr>
            <p:spPr bwMode="auto">
              <a:xfrm rot="-5400000">
                <a:off x="1292" y="3339"/>
                <a:ext cx="46" cy="46"/>
              </a:xfrm>
              <a:prstGeom prst="flowChartMerge">
                <a:avLst/>
              </a:prstGeom>
              <a:solidFill>
                <a:schemeClr val="accent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solidFill>
                    <a:srgbClr val="FF0000"/>
                  </a:solidFill>
                </a:endParaRPr>
              </a:p>
            </p:txBody>
          </p:sp>
          <p:sp>
            <p:nvSpPr>
              <p:cNvPr id="290905" name="AutoShape 99"/>
              <p:cNvSpPr>
                <a:spLocks noChangeArrowheads="1"/>
              </p:cNvSpPr>
              <p:nvPr/>
            </p:nvSpPr>
            <p:spPr bwMode="auto">
              <a:xfrm rot="5400000">
                <a:off x="1338" y="3339"/>
                <a:ext cx="46" cy="46"/>
              </a:xfrm>
              <a:prstGeom prst="flowChartMerge">
                <a:avLst/>
              </a:prstGeom>
              <a:solidFill>
                <a:schemeClr val="accent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solidFill>
                    <a:srgbClr val="FF0000"/>
                  </a:solidFill>
                </a:endParaRPr>
              </a:p>
            </p:txBody>
          </p:sp>
        </p:grpSp>
        <p:sp>
          <p:nvSpPr>
            <p:cNvPr id="290868" name="Text Box 100"/>
            <p:cNvSpPr txBox="1">
              <a:spLocks noChangeArrowheads="1"/>
            </p:cNvSpPr>
            <p:nvPr/>
          </p:nvSpPr>
          <p:spPr bwMode="auto">
            <a:xfrm>
              <a:off x="3244" y="2630"/>
              <a:ext cx="375"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000" b="1">
                  <a:solidFill>
                    <a:srgbClr val="FF0000"/>
                  </a:solidFill>
                  <a:latin typeface="Arial" panose="020B0604020202020204" pitchFamily="34" charset="0"/>
                  <a:cs typeface="Arial" panose="020B0604020202020204" pitchFamily="34" charset="0"/>
                </a:rPr>
                <a:t>HS197</a:t>
              </a:r>
              <a:endParaRPr lang="th-TH" altLang="en-US" sz="1000" b="1">
                <a:solidFill>
                  <a:srgbClr val="FF0000"/>
                </a:solidFill>
                <a:latin typeface="Arial" panose="020B0604020202020204" pitchFamily="34" charset="0"/>
                <a:cs typeface="Arial" panose="020B0604020202020204" pitchFamily="34" charset="0"/>
              </a:endParaRPr>
            </a:p>
          </p:txBody>
        </p:sp>
        <p:grpSp>
          <p:nvGrpSpPr>
            <p:cNvPr id="290869" name="Group 101"/>
            <p:cNvGrpSpPr>
              <a:grpSpLocks/>
            </p:cNvGrpSpPr>
            <p:nvPr/>
          </p:nvGrpSpPr>
          <p:grpSpPr bwMode="auto">
            <a:xfrm>
              <a:off x="2472" y="2387"/>
              <a:ext cx="145" cy="91"/>
              <a:chOff x="2381" y="2886"/>
              <a:chExt cx="145" cy="91"/>
            </a:xfrm>
          </p:grpSpPr>
          <p:grpSp>
            <p:nvGrpSpPr>
              <p:cNvPr id="290898" name="Group 102"/>
              <p:cNvGrpSpPr>
                <a:grpSpLocks/>
              </p:cNvGrpSpPr>
              <p:nvPr/>
            </p:nvGrpSpPr>
            <p:grpSpPr bwMode="auto">
              <a:xfrm>
                <a:off x="2381" y="2886"/>
                <a:ext cx="145" cy="91"/>
                <a:chOff x="2608" y="2886"/>
                <a:chExt cx="145" cy="91"/>
              </a:xfrm>
            </p:grpSpPr>
            <p:grpSp>
              <p:nvGrpSpPr>
                <p:cNvPr id="290900" name="Group 103"/>
                <p:cNvGrpSpPr>
                  <a:grpSpLocks/>
                </p:cNvGrpSpPr>
                <p:nvPr/>
              </p:nvGrpSpPr>
              <p:grpSpPr bwMode="auto">
                <a:xfrm rot="5400000">
                  <a:off x="2590" y="2904"/>
                  <a:ext cx="91" cy="55"/>
                  <a:chOff x="1292" y="3339"/>
                  <a:chExt cx="92" cy="46"/>
                </a:xfrm>
              </p:grpSpPr>
              <p:sp>
                <p:nvSpPr>
                  <p:cNvPr id="290902" name="AutoShape 104"/>
                  <p:cNvSpPr>
                    <a:spLocks noChangeArrowheads="1"/>
                  </p:cNvSpPr>
                  <p:nvPr/>
                </p:nvSpPr>
                <p:spPr bwMode="auto">
                  <a:xfrm rot="-5400000">
                    <a:off x="1292" y="3339"/>
                    <a:ext cx="46" cy="46"/>
                  </a:xfrm>
                  <a:prstGeom prst="flowChartMerge">
                    <a:avLst/>
                  </a:prstGeom>
                  <a:solidFill>
                    <a:schemeClr val="accent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solidFill>
                        <a:srgbClr val="FF0000"/>
                      </a:solidFill>
                    </a:endParaRPr>
                  </a:p>
                </p:txBody>
              </p:sp>
              <p:sp>
                <p:nvSpPr>
                  <p:cNvPr id="290903" name="AutoShape 105"/>
                  <p:cNvSpPr>
                    <a:spLocks noChangeArrowheads="1"/>
                  </p:cNvSpPr>
                  <p:nvPr/>
                </p:nvSpPr>
                <p:spPr bwMode="auto">
                  <a:xfrm rot="5400000">
                    <a:off x="1338" y="3339"/>
                    <a:ext cx="46" cy="46"/>
                  </a:xfrm>
                  <a:prstGeom prst="flowChartMerge">
                    <a:avLst/>
                  </a:prstGeom>
                  <a:solidFill>
                    <a:schemeClr val="accent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solidFill>
                        <a:srgbClr val="FF0000"/>
                      </a:solidFill>
                    </a:endParaRPr>
                  </a:p>
                </p:txBody>
              </p:sp>
            </p:grpSp>
            <p:sp>
              <p:nvSpPr>
                <p:cNvPr id="290901" name="AutoShape 106"/>
                <p:cNvSpPr>
                  <a:spLocks noChangeArrowheads="1"/>
                </p:cNvSpPr>
                <p:nvPr/>
              </p:nvSpPr>
              <p:spPr bwMode="auto">
                <a:xfrm>
                  <a:off x="2699" y="2886"/>
                  <a:ext cx="54" cy="91"/>
                </a:xfrm>
                <a:prstGeom prst="flowChartDelay">
                  <a:avLst/>
                </a:prstGeom>
                <a:solidFill>
                  <a:schemeClr val="accent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solidFill>
                      <a:srgbClr val="FF0000"/>
                    </a:solidFill>
                  </a:endParaRPr>
                </a:p>
              </p:txBody>
            </p:sp>
          </p:grpSp>
          <p:sp>
            <p:nvSpPr>
              <p:cNvPr id="290899" name="Freeform 107"/>
              <p:cNvSpPr>
                <a:spLocks/>
              </p:cNvSpPr>
              <p:nvPr/>
            </p:nvSpPr>
            <p:spPr bwMode="auto">
              <a:xfrm>
                <a:off x="2409" y="2931"/>
                <a:ext cx="63" cy="1"/>
              </a:xfrm>
              <a:custGeom>
                <a:avLst/>
                <a:gdLst>
                  <a:gd name="T0" fmla="*/ 63 w 63"/>
                  <a:gd name="T1" fmla="*/ 0 h 1"/>
                  <a:gd name="T2" fmla="*/ 0 w 63"/>
                  <a:gd name="T3" fmla="*/ 0 h 1"/>
                  <a:gd name="T4" fmla="*/ 0 60000 65536"/>
                  <a:gd name="T5" fmla="*/ 0 60000 65536"/>
                </a:gdLst>
                <a:ahLst/>
                <a:cxnLst>
                  <a:cxn ang="T4">
                    <a:pos x="T0" y="T1"/>
                  </a:cxn>
                  <a:cxn ang="T5">
                    <a:pos x="T2" y="T3"/>
                  </a:cxn>
                </a:cxnLst>
                <a:rect l="0" t="0" r="r" b="b"/>
                <a:pathLst>
                  <a:path w="63" h="1">
                    <a:moveTo>
                      <a:pt x="63" y="0"/>
                    </a:moveTo>
                    <a:lnTo>
                      <a:pt x="0" y="0"/>
                    </a:lnTo>
                  </a:path>
                </a:pathLst>
              </a:custGeom>
              <a:noFill/>
              <a:ln w="9525">
                <a:solidFill>
                  <a:schemeClr val="bg2"/>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290870" name="Text Box 108"/>
            <p:cNvSpPr txBox="1">
              <a:spLocks noChangeArrowheads="1"/>
            </p:cNvSpPr>
            <p:nvPr/>
          </p:nvSpPr>
          <p:spPr bwMode="auto">
            <a:xfrm>
              <a:off x="2289" y="2441"/>
              <a:ext cx="498" cy="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b="1">
                  <a:solidFill>
                    <a:srgbClr val="FF0000"/>
                  </a:solidFill>
                  <a:latin typeface="Arial" panose="020B0604020202020204" pitchFamily="34" charset="0"/>
                  <a:cs typeface="Arial" panose="020B0604020202020204" pitchFamily="34" charset="0"/>
                </a:rPr>
                <a:t>FRC183</a:t>
              </a:r>
              <a:endParaRPr lang="th-TH" altLang="en-US" sz="1200" b="1">
                <a:solidFill>
                  <a:srgbClr val="FF0000"/>
                </a:solidFill>
                <a:latin typeface="Arial" panose="020B0604020202020204" pitchFamily="34" charset="0"/>
                <a:cs typeface="Arial" panose="020B0604020202020204" pitchFamily="34" charset="0"/>
              </a:endParaRPr>
            </a:p>
          </p:txBody>
        </p:sp>
        <p:sp>
          <p:nvSpPr>
            <p:cNvPr id="290871" name="Text Box 109"/>
            <p:cNvSpPr txBox="1">
              <a:spLocks noChangeArrowheads="1"/>
            </p:cNvSpPr>
            <p:nvPr/>
          </p:nvSpPr>
          <p:spPr bwMode="auto">
            <a:xfrm>
              <a:off x="2699" y="1558"/>
              <a:ext cx="316" cy="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900" b="1">
                  <a:solidFill>
                    <a:srgbClr val="FF0000"/>
                  </a:solidFill>
                  <a:latin typeface="Arial" panose="020B0604020202020204" pitchFamily="34" charset="0"/>
                  <a:cs typeface="Arial" panose="020B0604020202020204" pitchFamily="34" charset="0"/>
                </a:rPr>
                <a:t>TI173</a:t>
              </a:r>
              <a:endParaRPr lang="th-TH" altLang="en-US" sz="900" b="1">
                <a:solidFill>
                  <a:srgbClr val="FF0000"/>
                </a:solidFill>
                <a:latin typeface="Arial" panose="020B0604020202020204" pitchFamily="34" charset="0"/>
                <a:cs typeface="Arial" panose="020B0604020202020204" pitchFamily="34" charset="0"/>
              </a:endParaRPr>
            </a:p>
          </p:txBody>
        </p:sp>
        <p:sp>
          <p:nvSpPr>
            <p:cNvPr id="290872" name="Freeform 110"/>
            <p:cNvSpPr>
              <a:spLocks/>
            </p:cNvSpPr>
            <p:nvPr/>
          </p:nvSpPr>
          <p:spPr bwMode="auto">
            <a:xfrm>
              <a:off x="2034" y="1766"/>
              <a:ext cx="1038" cy="2"/>
            </a:xfrm>
            <a:custGeom>
              <a:avLst/>
              <a:gdLst>
                <a:gd name="T0" fmla="*/ 0 w 1038"/>
                <a:gd name="T1" fmla="*/ 2 h 2"/>
                <a:gd name="T2" fmla="*/ 1038 w 1038"/>
                <a:gd name="T3" fmla="*/ 0 h 2"/>
                <a:gd name="T4" fmla="*/ 0 60000 65536"/>
                <a:gd name="T5" fmla="*/ 0 60000 65536"/>
              </a:gdLst>
              <a:ahLst/>
              <a:cxnLst>
                <a:cxn ang="T4">
                  <a:pos x="T0" y="T1"/>
                </a:cxn>
                <a:cxn ang="T5">
                  <a:pos x="T2" y="T3"/>
                </a:cxn>
              </a:cxnLst>
              <a:rect l="0" t="0" r="r" b="b"/>
              <a:pathLst>
                <a:path w="1038" h="2">
                  <a:moveTo>
                    <a:pt x="0" y="2"/>
                  </a:moveTo>
                  <a:lnTo>
                    <a:pt x="1038" y="0"/>
                  </a:lnTo>
                </a:path>
              </a:pathLst>
            </a:custGeom>
            <a:noFill/>
            <a:ln w="9525">
              <a:solidFill>
                <a:schemeClr val="bg2"/>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90873" name="Freeform 111"/>
            <p:cNvSpPr>
              <a:spLocks/>
            </p:cNvSpPr>
            <p:nvPr/>
          </p:nvSpPr>
          <p:spPr bwMode="auto">
            <a:xfrm>
              <a:off x="2034" y="1746"/>
              <a:ext cx="1026" cy="9"/>
            </a:xfrm>
            <a:custGeom>
              <a:avLst/>
              <a:gdLst>
                <a:gd name="T0" fmla="*/ 0 w 1026"/>
                <a:gd name="T1" fmla="*/ 9 h 9"/>
                <a:gd name="T2" fmla="*/ 1026 w 1026"/>
                <a:gd name="T3" fmla="*/ 0 h 9"/>
                <a:gd name="T4" fmla="*/ 0 60000 65536"/>
                <a:gd name="T5" fmla="*/ 0 60000 65536"/>
              </a:gdLst>
              <a:ahLst/>
              <a:cxnLst>
                <a:cxn ang="T4">
                  <a:pos x="T0" y="T1"/>
                </a:cxn>
                <a:cxn ang="T5">
                  <a:pos x="T2" y="T3"/>
                </a:cxn>
              </a:cxnLst>
              <a:rect l="0" t="0" r="r" b="b"/>
              <a:pathLst>
                <a:path w="1026" h="9">
                  <a:moveTo>
                    <a:pt x="0" y="9"/>
                  </a:moveTo>
                  <a:lnTo>
                    <a:pt x="1026" y="0"/>
                  </a:lnTo>
                </a:path>
              </a:pathLst>
            </a:custGeom>
            <a:noFill/>
            <a:ln w="28575" cmpd="sng">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nvGrpSpPr>
            <p:cNvPr id="290874" name="Group 112"/>
            <p:cNvGrpSpPr>
              <a:grpSpLocks/>
            </p:cNvGrpSpPr>
            <p:nvPr/>
          </p:nvGrpSpPr>
          <p:grpSpPr bwMode="auto">
            <a:xfrm>
              <a:off x="2471" y="1661"/>
              <a:ext cx="91" cy="136"/>
              <a:chOff x="1293" y="3203"/>
              <a:chExt cx="90" cy="227"/>
            </a:xfrm>
          </p:grpSpPr>
          <p:grpSp>
            <p:nvGrpSpPr>
              <p:cNvPr id="290893" name="Group 113"/>
              <p:cNvGrpSpPr>
                <a:grpSpLocks/>
              </p:cNvGrpSpPr>
              <p:nvPr/>
            </p:nvGrpSpPr>
            <p:grpSpPr bwMode="auto">
              <a:xfrm>
                <a:off x="1293" y="3339"/>
                <a:ext cx="90" cy="91"/>
                <a:chOff x="1292" y="3339"/>
                <a:chExt cx="92" cy="46"/>
              </a:xfrm>
            </p:grpSpPr>
            <p:sp>
              <p:nvSpPr>
                <p:cNvPr id="290896" name="AutoShape 114"/>
                <p:cNvSpPr>
                  <a:spLocks noChangeArrowheads="1"/>
                </p:cNvSpPr>
                <p:nvPr/>
              </p:nvSpPr>
              <p:spPr bwMode="auto">
                <a:xfrm rot="-5400000">
                  <a:off x="1292" y="3339"/>
                  <a:ext cx="46" cy="46"/>
                </a:xfrm>
                <a:prstGeom prst="flowChartMerge">
                  <a:avLst/>
                </a:prstGeom>
                <a:solidFill>
                  <a:schemeClr val="accent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solidFill>
                      <a:srgbClr val="FF0000"/>
                    </a:solidFill>
                  </a:endParaRPr>
                </a:p>
              </p:txBody>
            </p:sp>
            <p:sp>
              <p:nvSpPr>
                <p:cNvPr id="290897" name="AutoShape 115"/>
                <p:cNvSpPr>
                  <a:spLocks noChangeArrowheads="1"/>
                </p:cNvSpPr>
                <p:nvPr/>
              </p:nvSpPr>
              <p:spPr bwMode="auto">
                <a:xfrm rot="5400000">
                  <a:off x="1338" y="3339"/>
                  <a:ext cx="46" cy="46"/>
                </a:xfrm>
                <a:prstGeom prst="flowChartMerge">
                  <a:avLst/>
                </a:prstGeom>
                <a:solidFill>
                  <a:schemeClr val="accent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solidFill>
                      <a:srgbClr val="FF0000"/>
                    </a:solidFill>
                  </a:endParaRPr>
                </a:p>
              </p:txBody>
            </p:sp>
          </p:grpSp>
          <p:sp>
            <p:nvSpPr>
              <p:cNvPr id="290894" name="AutoShape 116"/>
              <p:cNvSpPr>
                <a:spLocks noChangeArrowheads="1"/>
              </p:cNvSpPr>
              <p:nvPr/>
            </p:nvSpPr>
            <p:spPr bwMode="auto">
              <a:xfrm rot="-5400000">
                <a:off x="1293" y="3203"/>
                <a:ext cx="90" cy="90"/>
              </a:xfrm>
              <a:prstGeom prst="flowChartDelay">
                <a:avLst/>
              </a:prstGeom>
              <a:solidFill>
                <a:schemeClr val="accent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solidFill>
                    <a:srgbClr val="FF0000"/>
                  </a:solidFill>
                </a:endParaRPr>
              </a:p>
            </p:txBody>
          </p:sp>
          <p:sp>
            <p:nvSpPr>
              <p:cNvPr id="290895" name="Line 117"/>
              <p:cNvSpPr>
                <a:spLocks noChangeShapeType="1"/>
              </p:cNvSpPr>
              <p:nvPr/>
            </p:nvSpPr>
            <p:spPr bwMode="auto">
              <a:xfrm>
                <a:off x="1338" y="3294"/>
                <a:ext cx="0" cy="91"/>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290875" name="Group 118"/>
            <p:cNvGrpSpPr>
              <a:grpSpLocks/>
            </p:cNvGrpSpPr>
            <p:nvPr/>
          </p:nvGrpSpPr>
          <p:grpSpPr bwMode="auto">
            <a:xfrm>
              <a:off x="2789" y="1742"/>
              <a:ext cx="91" cy="55"/>
              <a:chOff x="1292" y="3339"/>
              <a:chExt cx="92" cy="46"/>
            </a:xfrm>
          </p:grpSpPr>
          <p:sp>
            <p:nvSpPr>
              <p:cNvPr id="290891" name="AutoShape 119"/>
              <p:cNvSpPr>
                <a:spLocks noChangeArrowheads="1"/>
              </p:cNvSpPr>
              <p:nvPr/>
            </p:nvSpPr>
            <p:spPr bwMode="auto">
              <a:xfrm rot="-5400000">
                <a:off x="1292" y="3339"/>
                <a:ext cx="46" cy="46"/>
              </a:xfrm>
              <a:prstGeom prst="flowChartMerge">
                <a:avLst/>
              </a:prstGeom>
              <a:solidFill>
                <a:schemeClr val="accent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solidFill>
                    <a:srgbClr val="FF0000"/>
                  </a:solidFill>
                </a:endParaRPr>
              </a:p>
            </p:txBody>
          </p:sp>
          <p:sp>
            <p:nvSpPr>
              <p:cNvPr id="290892" name="AutoShape 120"/>
              <p:cNvSpPr>
                <a:spLocks noChangeArrowheads="1"/>
              </p:cNvSpPr>
              <p:nvPr/>
            </p:nvSpPr>
            <p:spPr bwMode="auto">
              <a:xfrm rot="5400000">
                <a:off x="1338" y="3339"/>
                <a:ext cx="46" cy="46"/>
              </a:xfrm>
              <a:prstGeom prst="flowChartMerge">
                <a:avLst/>
              </a:prstGeom>
              <a:solidFill>
                <a:schemeClr val="accent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solidFill>
                    <a:srgbClr val="FF0000"/>
                  </a:solidFill>
                </a:endParaRPr>
              </a:p>
            </p:txBody>
          </p:sp>
        </p:grpSp>
        <p:sp>
          <p:nvSpPr>
            <p:cNvPr id="290876" name="Freeform 121"/>
            <p:cNvSpPr>
              <a:spLocks/>
            </p:cNvSpPr>
            <p:nvPr/>
          </p:nvSpPr>
          <p:spPr bwMode="auto">
            <a:xfrm>
              <a:off x="3084" y="1766"/>
              <a:ext cx="418" cy="4"/>
            </a:xfrm>
            <a:custGeom>
              <a:avLst/>
              <a:gdLst>
                <a:gd name="T0" fmla="*/ 0 w 418"/>
                <a:gd name="T1" fmla="*/ 0 h 4"/>
                <a:gd name="T2" fmla="*/ 418 w 418"/>
                <a:gd name="T3" fmla="*/ 4 h 4"/>
                <a:gd name="T4" fmla="*/ 0 60000 65536"/>
                <a:gd name="T5" fmla="*/ 0 60000 65536"/>
              </a:gdLst>
              <a:ahLst/>
              <a:cxnLst>
                <a:cxn ang="T4">
                  <a:pos x="T0" y="T1"/>
                </a:cxn>
                <a:cxn ang="T5">
                  <a:pos x="T2" y="T3"/>
                </a:cxn>
              </a:cxnLst>
              <a:rect l="0" t="0" r="r" b="b"/>
              <a:pathLst>
                <a:path w="418" h="4">
                  <a:moveTo>
                    <a:pt x="0" y="0"/>
                  </a:moveTo>
                  <a:lnTo>
                    <a:pt x="418" y="4"/>
                  </a:lnTo>
                </a:path>
              </a:pathLst>
            </a:custGeom>
            <a:noFill/>
            <a:ln w="9525">
              <a:solidFill>
                <a:schemeClr val="bg2"/>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90877" name="Freeform 122"/>
            <p:cNvSpPr>
              <a:spLocks/>
            </p:cNvSpPr>
            <p:nvPr/>
          </p:nvSpPr>
          <p:spPr bwMode="auto">
            <a:xfrm>
              <a:off x="3086" y="1742"/>
              <a:ext cx="412" cy="1"/>
            </a:xfrm>
            <a:custGeom>
              <a:avLst/>
              <a:gdLst>
                <a:gd name="T0" fmla="*/ 0 w 412"/>
                <a:gd name="T1" fmla="*/ 0 h 1"/>
                <a:gd name="T2" fmla="*/ 412 w 412"/>
                <a:gd name="T3" fmla="*/ 0 h 1"/>
                <a:gd name="T4" fmla="*/ 0 60000 65536"/>
                <a:gd name="T5" fmla="*/ 0 60000 65536"/>
              </a:gdLst>
              <a:ahLst/>
              <a:cxnLst>
                <a:cxn ang="T4">
                  <a:pos x="T0" y="T1"/>
                </a:cxn>
                <a:cxn ang="T5">
                  <a:pos x="T2" y="T3"/>
                </a:cxn>
              </a:cxnLst>
              <a:rect l="0" t="0" r="r" b="b"/>
              <a:pathLst>
                <a:path w="412" h="1">
                  <a:moveTo>
                    <a:pt x="0" y="0"/>
                  </a:moveTo>
                  <a:lnTo>
                    <a:pt x="412" y="0"/>
                  </a:lnTo>
                </a:path>
              </a:pathLst>
            </a:custGeom>
            <a:noFill/>
            <a:ln w="28575" cmpd="sng">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nvGrpSpPr>
            <p:cNvPr id="290878" name="Group 123"/>
            <p:cNvGrpSpPr>
              <a:grpSpLocks/>
            </p:cNvGrpSpPr>
            <p:nvPr/>
          </p:nvGrpSpPr>
          <p:grpSpPr bwMode="auto">
            <a:xfrm>
              <a:off x="3378" y="1661"/>
              <a:ext cx="91" cy="136"/>
              <a:chOff x="1293" y="3203"/>
              <a:chExt cx="90" cy="227"/>
            </a:xfrm>
          </p:grpSpPr>
          <p:grpSp>
            <p:nvGrpSpPr>
              <p:cNvPr id="290886" name="Group 124"/>
              <p:cNvGrpSpPr>
                <a:grpSpLocks/>
              </p:cNvGrpSpPr>
              <p:nvPr/>
            </p:nvGrpSpPr>
            <p:grpSpPr bwMode="auto">
              <a:xfrm>
                <a:off x="1293" y="3339"/>
                <a:ext cx="90" cy="91"/>
                <a:chOff x="1292" y="3339"/>
                <a:chExt cx="92" cy="46"/>
              </a:xfrm>
            </p:grpSpPr>
            <p:sp>
              <p:nvSpPr>
                <p:cNvPr id="290889" name="AutoShape 125"/>
                <p:cNvSpPr>
                  <a:spLocks noChangeArrowheads="1"/>
                </p:cNvSpPr>
                <p:nvPr/>
              </p:nvSpPr>
              <p:spPr bwMode="auto">
                <a:xfrm rot="-5400000">
                  <a:off x="1292" y="3339"/>
                  <a:ext cx="46" cy="46"/>
                </a:xfrm>
                <a:prstGeom prst="flowChartMerge">
                  <a:avLst/>
                </a:prstGeom>
                <a:solidFill>
                  <a:schemeClr val="accent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solidFill>
                      <a:srgbClr val="FF0000"/>
                    </a:solidFill>
                  </a:endParaRPr>
                </a:p>
              </p:txBody>
            </p:sp>
            <p:sp>
              <p:nvSpPr>
                <p:cNvPr id="290890" name="AutoShape 126"/>
                <p:cNvSpPr>
                  <a:spLocks noChangeArrowheads="1"/>
                </p:cNvSpPr>
                <p:nvPr/>
              </p:nvSpPr>
              <p:spPr bwMode="auto">
                <a:xfrm rot="5400000">
                  <a:off x="1338" y="3339"/>
                  <a:ext cx="46" cy="46"/>
                </a:xfrm>
                <a:prstGeom prst="flowChartMerge">
                  <a:avLst/>
                </a:prstGeom>
                <a:solidFill>
                  <a:schemeClr val="accent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solidFill>
                      <a:srgbClr val="FF0000"/>
                    </a:solidFill>
                  </a:endParaRPr>
                </a:p>
              </p:txBody>
            </p:sp>
          </p:grpSp>
          <p:sp>
            <p:nvSpPr>
              <p:cNvPr id="290887" name="AutoShape 127"/>
              <p:cNvSpPr>
                <a:spLocks noChangeArrowheads="1"/>
              </p:cNvSpPr>
              <p:nvPr/>
            </p:nvSpPr>
            <p:spPr bwMode="auto">
              <a:xfrm rot="-5400000">
                <a:off x="1293" y="3203"/>
                <a:ext cx="90" cy="90"/>
              </a:xfrm>
              <a:prstGeom prst="flowChartDelay">
                <a:avLst/>
              </a:prstGeom>
              <a:solidFill>
                <a:schemeClr val="accent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solidFill>
                    <a:srgbClr val="FF0000"/>
                  </a:solidFill>
                </a:endParaRPr>
              </a:p>
            </p:txBody>
          </p:sp>
          <p:sp>
            <p:nvSpPr>
              <p:cNvPr id="290888" name="Line 128"/>
              <p:cNvSpPr>
                <a:spLocks noChangeShapeType="1"/>
              </p:cNvSpPr>
              <p:nvPr/>
            </p:nvSpPr>
            <p:spPr bwMode="auto">
              <a:xfrm>
                <a:off x="1338" y="3294"/>
                <a:ext cx="0" cy="91"/>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290879" name="Freeform 129"/>
            <p:cNvSpPr>
              <a:spLocks/>
            </p:cNvSpPr>
            <p:nvPr/>
          </p:nvSpPr>
          <p:spPr bwMode="auto">
            <a:xfrm>
              <a:off x="1973" y="1706"/>
              <a:ext cx="1043" cy="635"/>
            </a:xfrm>
            <a:custGeom>
              <a:avLst/>
              <a:gdLst>
                <a:gd name="T0" fmla="*/ 1190 w 998"/>
                <a:gd name="T1" fmla="*/ 0 h 499"/>
                <a:gd name="T2" fmla="*/ 0 w 998"/>
                <a:gd name="T3" fmla="*/ 0 h 499"/>
                <a:gd name="T4" fmla="*/ 0 w 998"/>
                <a:gd name="T5" fmla="*/ 1308 h 499"/>
                <a:gd name="T6" fmla="*/ 1190 w 998"/>
                <a:gd name="T7" fmla="*/ 1308 h 499"/>
                <a:gd name="T8" fmla="*/ 1190 w 998"/>
                <a:gd name="T9" fmla="*/ 0 h 49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8" h="499">
                  <a:moveTo>
                    <a:pt x="998" y="0"/>
                  </a:moveTo>
                  <a:lnTo>
                    <a:pt x="0" y="0"/>
                  </a:lnTo>
                  <a:lnTo>
                    <a:pt x="0" y="499"/>
                  </a:lnTo>
                  <a:lnTo>
                    <a:pt x="998" y="499"/>
                  </a:lnTo>
                  <a:lnTo>
                    <a:pt x="998" y="0"/>
                  </a:lnTo>
                  <a:close/>
                </a:path>
              </a:pathLst>
            </a:custGeom>
            <a:solidFill>
              <a:srgbClr val="FFFF00">
                <a:alpha val="30196"/>
              </a:srgbClr>
            </a:solidFill>
            <a:ln w="19050"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90880" name="Freeform 130"/>
            <p:cNvSpPr>
              <a:spLocks/>
            </p:cNvSpPr>
            <p:nvPr/>
          </p:nvSpPr>
          <p:spPr bwMode="auto">
            <a:xfrm>
              <a:off x="1565" y="2478"/>
              <a:ext cx="771" cy="453"/>
            </a:xfrm>
            <a:custGeom>
              <a:avLst/>
              <a:gdLst>
                <a:gd name="T0" fmla="*/ 355 w 998"/>
                <a:gd name="T1" fmla="*/ 0 h 499"/>
                <a:gd name="T2" fmla="*/ 0 w 998"/>
                <a:gd name="T3" fmla="*/ 0 h 499"/>
                <a:gd name="T4" fmla="*/ 0 w 998"/>
                <a:gd name="T5" fmla="*/ 339 h 499"/>
                <a:gd name="T6" fmla="*/ 355 w 998"/>
                <a:gd name="T7" fmla="*/ 339 h 499"/>
                <a:gd name="T8" fmla="*/ 355 w 998"/>
                <a:gd name="T9" fmla="*/ 0 h 49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8" h="499">
                  <a:moveTo>
                    <a:pt x="998" y="0"/>
                  </a:moveTo>
                  <a:lnTo>
                    <a:pt x="0" y="0"/>
                  </a:lnTo>
                  <a:lnTo>
                    <a:pt x="0" y="499"/>
                  </a:lnTo>
                  <a:lnTo>
                    <a:pt x="998" y="499"/>
                  </a:lnTo>
                  <a:lnTo>
                    <a:pt x="998" y="0"/>
                  </a:lnTo>
                  <a:close/>
                </a:path>
              </a:pathLst>
            </a:custGeom>
            <a:solidFill>
              <a:srgbClr val="FF0000">
                <a:alpha val="30196"/>
              </a:srgbClr>
            </a:solidFill>
            <a:ln w="19050"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90881" name="Freeform 131"/>
            <p:cNvSpPr>
              <a:spLocks/>
            </p:cNvSpPr>
            <p:nvPr/>
          </p:nvSpPr>
          <p:spPr bwMode="auto">
            <a:xfrm>
              <a:off x="3198" y="1616"/>
              <a:ext cx="408" cy="1905"/>
            </a:xfrm>
            <a:custGeom>
              <a:avLst/>
              <a:gdLst>
                <a:gd name="T0" fmla="*/ 45 w 408"/>
                <a:gd name="T1" fmla="*/ 1678 h 1905"/>
                <a:gd name="T2" fmla="*/ 226 w 408"/>
                <a:gd name="T3" fmla="*/ 1678 h 1905"/>
                <a:gd name="T4" fmla="*/ 226 w 408"/>
                <a:gd name="T5" fmla="*/ 317 h 1905"/>
                <a:gd name="T6" fmla="*/ 0 w 408"/>
                <a:gd name="T7" fmla="*/ 317 h 1905"/>
                <a:gd name="T8" fmla="*/ 0 w 408"/>
                <a:gd name="T9" fmla="*/ 0 h 1905"/>
                <a:gd name="T10" fmla="*/ 408 w 408"/>
                <a:gd name="T11" fmla="*/ 0 h 1905"/>
                <a:gd name="T12" fmla="*/ 408 w 408"/>
                <a:gd name="T13" fmla="*/ 1905 h 1905"/>
                <a:gd name="T14" fmla="*/ 45 w 408"/>
                <a:gd name="T15" fmla="*/ 1905 h 1905"/>
                <a:gd name="T16" fmla="*/ 45 w 408"/>
                <a:gd name="T17" fmla="*/ 1678 h 190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08" h="1905">
                  <a:moveTo>
                    <a:pt x="45" y="1678"/>
                  </a:moveTo>
                  <a:lnTo>
                    <a:pt x="226" y="1678"/>
                  </a:lnTo>
                  <a:lnTo>
                    <a:pt x="226" y="317"/>
                  </a:lnTo>
                  <a:lnTo>
                    <a:pt x="0" y="317"/>
                  </a:lnTo>
                  <a:lnTo>
                    <a:pt x="0" y="0"/>
                  </a:lnTo>
                  <a:lnTo>
                    <a:pt x="408" y="0"/>
                  </a:lnTo>
                  <a:lnTo>
                    <a:pt x="408" y="1905"/>
                  </a:lnTo>
                  <a:lnTo>
                    <a:pt x="45" y="1905"/>
                  </a:lnTo>
                  <a:lnTo>
                    <a:pt x="45" y="1678"/>
                  </a:lnTo>
                  <a:close/>
                </a:path>
              </a:pathLst>
            </a:custGeom>
            <a:solidFill>
              <a:srgbClr val="0000FF">
                <a:alpha val="30196"/>
              </a:srgbClr>
            </a:solidFill>
            <a:ln w="19050"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90882" name="Text Box 132"/>
            <p:cNvSpPr txBox="1">
              <a:spLocks noChangeArrowheads="1"/>
            </p:cNvSpPr>
            <p:nvPr/>
          </p:nvSpPr>
          <p:spPr bwMode="auto">
            <a:xfrm>
              <a:off x="3648" y="1824"/>
              <a:ext cx="498" cy="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b="1">
                  <a:solidFill>
                    <a:srgbClr val="FF0000"/>
                  </a:solidFill>
                  <a:latin typeface="Arial" panose="020B0604020202020204" pitchFamily="34" charset="0"/>
                  <a:cs typeface="Arial" panose="020B0604020202020204" pitchFamily="34" charset="0"/>
                </a:rPr>
                <a:t>FRC214</a:t>
              </a:r>
              <a:endParaRPr lang="th-TH" altLang="en-US" sz="1200" b="1">
                <a:solidFill>
                  <a:srgbClr val="FF0000"/>
                </a:solidFill>
                <a:latin typeface="Arial" panose="020B0604020202020204" pitchFamily="34" charset="0"/>
                <a:cs typeface="Arial" panose="020B0604020202020204" pitchFamily="34" charset="0"/>
              </a:endParaRPr>
            </a:p>
          </p:txBody>
        </p:sp>
        <p:sp>
          <p:nvSpPr>
            <p:cNvPr id="290883" name="Text Box 133"/>
            <p:cNvSpPr txBox="1">
              <a:spLocks noChangeArrowheads="1"/>
            </p:cNvSpPr>
            <p:nvPr/>
          </p:nvSpPr>
          <p:spPr bwMode="auto">
            <a:xfrm>
              <a:off x="3648" y="2208"/>
              <a:ext cx="464" cy="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b="1">
                  <a:solidFill>
                    <a:srgbClr val="FF0000"/>
                  </a:solidFill>
                  <a:latin typeface="Arial" panose="020B0604020202020204" pitchFamily="34" charset="0"/>
                  <a:cs typeface="Arial" panose="020B0604020202020204" pitchFamily="34" charset="0"/>
                </a:rPr>
                <a:t>HIC215</a:t>
              </a:r>
              <a:endParaRPr lang="th-TH" altLang="en-US" sz="1200" b="1">
                <a:solidFill>
                  <a:srgbClr val="FF0000"/>
                </a:solidFill>
                <a:latin typeface="Arial" panose="020B0604020202020204" pitchFamily="34" charset="0"/>
                <a:cs typeface="Arial" panose="020B0604020202020204" pitchFamily="34" charset="0"/>
              </a:endParaRPr>
            </a:p>
          </p:txBody>
        </p:sp>
        <p:sp>
          <p:nvSpPr>
            <p:cNvPr id="290884" name="Freeform 134"/>
            <p:cNvSpPr>
              <a:spLocks/>
            </p:cNvSpPr>
            <p:nvPr/>
          </p:nvSpPr>
          <p:spPr bwMode="auto">
            <a:xfrm>
              <a:off x="3648" y="1968"/>
              <a:ext cx="96" cy="96"/>
            </a:xfrm>
            <a:custGeom>
              <a:avLst/>
              <a:gdLst>
                <a:gd name="T0" fmla="*/ 0 w 96"/>
                <a:gd name="T1" fmla="*/ 96 h 96"/>
                <a:gd name="T2" fmla="*/ 0 w 96"/>
                <a:gd name="T3" fmla="*/ 0 h 96"/>
                <a:gd name="T4" fmla="*/ 96 w 96"/>
                <a:gd name="T5" fmla="*/ 0 h 96"/>
                <a:gd name="T6" fmla="*/ 0 60000 65536"/>
                <a:gd name="T7" fmla="*/ 0 60000 65536"/>
                <a:gd name="T8" fmla="*/ 0 60000 65536"/>
              </a:gdLst>
              <a:ahLst/>
              <a:cxnLst>
                <a:cxn ang="T6">
                  <a:pos x="T0" y="T1"/>
                </a:cxn>
                <a:cxn ang="T7">
                  <a:pos x="T2" y="T3"/>
                </a:cxn>
                <a:cxn ang="T8">
                  <a:pos x="T4" y="T5"/>
                </a:cxn>
              </a:cxnLst>
              <a:rect l="0" t="0" r="r" b="b"/>
              <a:pathLst>
                <a:path w="96" h="96">
                  <a:moveTo>
                    <a:pt x="0" y="96"/>
                  </a:moveTo>
                  <a:lnTo>
                    <a:pt x="0" y="0"/>
                  </a:lnTo>
                  <a:lnTo>
                    <a:pt x="96" y="0"/>
                  </a:lnTo>
                </a:path>
              </a:pathLst>
            </a:custGeom>
            <a:noFill/>
            <a:ln w="19050" cap="flat" cmpd="sng">
              <a:solidFill>
                <a:schemeClr val="bg2"/>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90885" name="Freeform 135"/>
            <p:cNvSpPr>
              <a:spLocks/>
            </p:cNvSpPr>
            <p:nvPr/>
          </p:nvSpPr>
          <p:spPr bwMode="auto">
            <a:xfrm>
              <a:off x="3648" y="2064"/>
              <a:ext cx="48" cy="240"/>
            </a:xfrm>
            <a:custGeom>
              <a:avLst/>
              <a:gdLst>
                <a:gd name="T0" fmla="*/ 0 w 48"/>
                <a:gd name="T1" fmla="*/ 0 h 240"/>
                <a:gd name="T2" fmla="*/ 0 w 48"/>
                <a:gd name="T3" fmla="*/ 240 h 240"/>
                <a:gd name="T4" fmla="*/ 48 w 48"/>
                <a:gd name="T5" fmla="*/ 240 h 240"/>
                <a:gd name="T6" fmla="*/ 0 60000 65536"/>
                <a:gd name="T7" fmla="*/ 0 60000 65536"/>
                <a:gd name="T8" fmla="*/ 0 60000 65536"/>
              </a:gdLst>
              <a:ahLst/>
              <a:cxnLst>
                <a:cxn ang="T6">
                  <a:pos x="T0" y="T1"/>
                </a:cxn>
                <a:cxn ang="T7">
                  <a:pos x="T2" y="T3"/>
                </a:cxn>
                <a:cxn ang="T8">
                  <a:pos x="T4" y="T5"/>
                </a:cxn>
              </a:cxnLst>
              <a:rect l="0" t="0" r="r" b="b"/>
              <a:pathLst>
                <a:path w="48" h="240">
                  <a:moveTo>
                    <a:pt x="0" y="0"/>
                  </a:moveTo>
                  <a:lnTo>
                    <a:pt x="0" y="240"/>
                  </a:lnTo>
                  <a:lnTo>
                    <a:pt x="48" y="240"/>
                  </a:lnTo>
                </a:path>
              </a:pathLst>
            </a:custGeom>
            <a:noFill/>
            <a:ln w="19050" cap="flat" cmpd="sng">
              <a:solidFill>
                <a:schemeClr val="bg2"/>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204936" name="Text Box 136"/>
          <p:cNvSpPr txBox="1">
            <a:spLocks noChangeArrowheads="1"/>
          </p:cNvSpPr>
          <p:nvPr/>
        </p:nvSpPr>
        <p:spPr bwMode="auto">
          <a:xfrm>
            <a:off x="611188" y="200025"/>
            <a:ext cx="5145087" cy="1068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3600" b="1" dirty="0">
                <a:solidFill>
                  <a:srgbClr val="FF0000"/>
                </a:solidFill>
                <a:effectLst>
                  <a:outerShdw blurRad="38100" dist="38100" dir="2700000" algn="tl">
                    <a:srgbClr val="000000"/>
                  </a:outerShdw>
                </a:effectLst>
                <a:latin typeface="Century Schoolbook" panose="02040604050505020304" pitchFamily="18" charset="0"/>
              </a:rPr>
              <a:t>Continuous digester </a:t>
            </a:r>
          </a:p>
          <a:p>
            <a:pPr>
              <a:defRPr/>
            </a:pPr>
            <a:r>
              <a:rPr lang="en-US" altLang="en-US" sz="2800" b="1" dirty="0">
                <a:effectLst>
                  <a:outerShdw blurRad="38100" dist="38100" dir="2700000" algn="tl">
                    <a:srgbClr val="000000"/>
                  </a:outerShdw>
                </a:effectLst>
                <a:latin typeface="Century Schoolbook" panose="02040604050505020304" pitchFamily="18" charset="0"/>
              </a:rPr>
              <a:t>Liquor circulation</a:t>
            </a:r>
          </a:p>
        </p:txBody>
      </p:sp>
    </p:spTree>
  </p:cSld>
  <p:clrMapOvr>
    <a:masterClrMapping/>
  </p:clrMapOvr>
  <p:transition/>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1842" name="Picture 10" descr="mr25^00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650" y="1485900"/>
            <a:ext cx="1951038" cy="511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7635" name="Text Box 3"/>
          <p:cNvSpPr txBox="1">
            <a:spLocks noChangeArrowheads="1"/>
          </p:cNvSpPr>
          <p:nvPr/>
        </p:nvSpPr>
        <p:spPr bwMode="auto">
          <a:xfrm>
            <a:off x="2743200" y="1446213"/>
            <a:ext cx="594360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accent1"/>
              </a:buClr>
              <a:buFont typeface="Wingdings" panose="05000000000000000000" pitchFamily="2" charset="2"/>
              <a:buChar char="l"/>
              <a:defRPr/>
            </a:pPr>
            <a:r>
              <a:rPr lang="en-US" altLang="en-US" dirty="0">
                <a:latin typeface="Century Schoolbook" panose="02040604050505020304" pitchFamily="18" charset="0"/>
                <a:cs typeface="Arial" panose="020B0604020202020204" pitchFamily="34" charset="0"/>
              </a:rPr>
              <a:t> </a:t>
            </a:r>
            <a:r>
              <a:rPr lang="en-US" altLang="en-US" b="1" dirty="0">
                <a:latin typeface="Century Schoolbook" panose="02040604050505020304" pitchFamily="18" charset="0"/>
                <a:cs typeface="Arial" panose="020B0604020202020204" pitchFamily="34" charset="0"/>
              </a:rPr>
              <a:t>The chip level</a:t>
            </a:r>
            <a:r>
              <a:rPr lang="en-US" altLang="en-US" dirty="0">
                <a:latin typeface="Century Schoolbook" panose="02040604050505020304" pitchFamily="18" charset="0"/>
                <a:cs typeface="Arial" panose="020B0604020202020204" pitchFamily="34" charset="0"/>
              </a:rPr>
              <a:t> in digester is recorded on </a:t>
            </a:r>
            <a:r>
              <a:rPr lang="en-US" altLang="en-US" i="1" dirty="0">
                <a:solidFill>
                  <a:srgbClr val="FF0000"/>
                </a:solidFill>
                <a:effectLst>
                  <a:outerShdw blurRad="38100" dist="38100" dir="2700000" algn="tl">
                    <a:srgbClr val="000000"/>
                  </a:outerShdw>
                </a:effectLst>
                <a:latin typeface="Century Schoolbook" panose="02040604050505020304" pitchFamily="18" charset="0"/>
                <a:cs typeface="Arial" panose="020B0604020202020204" pitchFamily="34" charset="0"/>
              </a:rPr>
              <a:t>LRA188</a:t>
            </a:r>
            <a:r>
              <a:rPr lang="en-US" altLang="en-US" dirty="0">
                <a:latin typeface="Century Schoolbook" panose="02040604050505020304" pitchFamily="18" charset="0"/>
                <a:cs typeface="Arial" panose="020B0604020202020204" pitchFamily="34" charset="0"/>
              </a:rPr>
              <a:t>. Under normal conditions it is maintained in the middle of the top cylindrical section </a:t>
            </a:r>
            <a:r>
              <a:rPr lang="en-US" altLang="en-US" u="sng" dirty="0">
                <a:solidFill>
                  <a:srgbClr val="FF0000"/>
                </a:solidFill>
                <a:latin typeface="Century Schoolbook" panose="02040604050505020304" pitchFamily="18" charset="0"/>
                <a:cs typeface="Arial" panose="020B0604020202020204" pitchFamily="34" charset="0"/>
              </a:rPr>
              <a:t>approx. 2 meters below the top separator</a:t>
            </a:r>
            <a:r>
              <a:rPr lang="en-US" altLang="en-US" dirty="0">
                <a:solidFill>
                  <a:srgbClr val="FF0000"/>
                </a:solidFill>
                <a:latin typeface="Century Schoolbook" panose="02040604050505020304" pitchFamily="18" charset="0"/>
                <a:cs typeface="Arial" panose="020B0604020202020204" pitchFamily="34" charset="0"/>
              </a:rPr>
              <a:t>.</a:t>
            </a:r>
          </a:p>
        </p:txBody>
      </p:sp>
      <p:sp>
        <p:nvSpPr>
          <p:cNvPr id="197636" name="Text Box 4"/>
          <p:cNvSpPr txBox="1">
            <a:spLocks noChangeArrowheads="1"/>
          </p:cNvSpPr>
          <p:nvPr/>
        </p:nvSpPr>
        <p:spPr bwMode="auto">
          <a:xfrm>
            <a:off x="2771775" y="5408613"/>
            <a:ext cx="5943600" cy="915987"/>
          </a:xfrm>
          <a:prstGeom prst="rect">
            <a:avLst/>
          </a:prstGeom>
          <a:solidFill>
            <a:schemeClr val="bg1"/>
          </a:solidFill>
          <a:ln>
            <a:noFill/>
          </a:ln>
          <a:effectLst/>
        </p:spPr>
        <p:txBody>
          <a:bodyPr>
            <a:spAutoFit/>
          </a:bodyPr>
          <a:lstStyle/>
          <a:p>
            <a:pPr>
              <a:buClr>
                <a:schemeClr val="accent1"/>
              </a:buClr>
              <a:buFont typeface="Wingdings" panose="05000000000000000000" pitchFamily="2" charset="2"/>
              <a:buChar char="l"/>
              <a:defRPr/>
            </a:pPr>
            <a:r>
              <a:rPr lang="en-US" altLang="en-US">
                <a:latin typeface="Century Schoolbook" panose="02040604050505020304" pitchFamily="18" charset="0"/>
                <a:cs typeface="Arial" panose="020B0604020202020204" pitchFamily="34" charset="0"/>
              </a:rPr>
              <a:t> The chip level is also recorded by </a:t>
            </a:r>
            <a:r>
              <a:rPr lang="en-US" altLang="en-US" i="1">
                <a:solidFill>
                  <a:schemeClr val="tx2"/>
                </a:solidFill>
                <a:latin typeface="Century Schoolbook" panose="02040604050505020304" pitchFamily="18" charset="0"/>
                <a:cs typeface="Arial" panose="020B0604020202020204" pitchFamily="34" charset="0"/>
              </a:rPr>
              <a:t>two mechanical chip level indicators</a:t>
            </a:r>
            <a:r>
              <a:rPr lang="en-US" altLang="en-US">
                <a:latin typeface="Century Schoolbook" panose="02040604050505020304" pitchFamily="18" charset="0"/>
                <a:cs typeface="Arial" panose="020B0604020202020204" pitchFamily="34" charset="0"/>
              </a:rPr>
              <a:t>, </a:t>
            </a:r>
            <a:r>
              <a:rPr lang="en-US" altLang="en-US" i="1">
                <a:effectLst>
                  <a:outerShdw blurRad="38100" dist="38100" dir="2700000" algn="tl">
                    <a:srgbClr val="000000"/>
                  </a:outerShdw>
                </a:effectLst>
                <a:latin typeface="Century Schoolbook" panose="02040604050505020304" pitchFamily="18" charset="0"/>
                <a:cs typeface="Arial" panose="020B0604020202020204" pitchFamily="34" charset="0"/>
              </a:rPr>
              <a:t>LR189 and LR190</a:t>
            </a:r>
            <a:r>
              <a:rPr lang="en-US" altLang="en-US">
                <a:latin typeface="Century Schoolbook" panose="02040604050505020304" pitchFamily="18" charset="0"/>
                <a:cs typeface="Arial" panose="020B0604020202020204" pitchFamily="34" charset="0"/>
              </a:rPr>
              <a:t>, which are mounted on the wall of top section of vessel.</a:t>
            </a:r>
            <a:endParaRPr lang="en-US" altLang="en-US" i="1">
              <a:latin typeface="Century Schoolbook" panose="02040604050505020304" pitchFamily="18" charset="0"/>
              <a:cs typeface="Arial" panose="020B0604020202020204" pitchFamily="34" charset="0"/>
            </a:endParaRPr>
          </a:p>
        </p:txBody>
      </p:sp>
      <p:pic>
        <p:nvPicPr>
          <p:cNvPr id="291845" name="Picture 6" descr="mr18^0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79838" y="2724150"/>
            <a:ext cx="3886200" cy="2576513"/>
          </a:xfrm>
          <a:prstGeom prst="rect">
            <a:avLst/>
          </a:prstGeom>
          <a:noFill/>
          <a:ln>
            <a:noFill/>
          </a:ln>
          <a:effectLst>
            <a:outerShdw dist="35921" dir="2700000" algn="ctr" rotWithShape="0">
              <a:srgbClr val="80808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1846" name="Rectangle 7"/>
          <p:cNvSpPr>
            <a:spLocks noChangeArrowheads="1"/>
          </p:cNvSpPr>
          <p:nvPr/>
        </p:nvSpPr>
        <p:spPr bwMode="auto">
          <a:xfrm>
            <a:off x="1619250" y="2349500"/>
            <a:ext cx="304800" cy="609600"/>
          </a:xfrm>
          <a:prstGeom prst="rect">
            <a:avLst/>
          </a:prstGeom>
          <a:solidFill>
            <a:schemeClr val="accent1">
              <a:alpha val="10196"/>
            </a:schemeClr>
          </a:solidFill>
          <a:ln w="2857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197641" name="Text Box 9"/>
          <p:cNvSpPr txBox="1">
            <a:spLocks noChangeArrowheads="1"/>
          </p:cNvSpPr>
          <p:nvPr/>
        </p:nvSpPr>
        <p:spPr bwMode="auto">
          <a:xfrm>
            <a:off x="611188" y="200025"/>
            <a:ext cx="5145087" cy="1068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3600" b="1" dirty="0">
                <a:solidFill>
                  <a:srgbClr val="FF0000"/>
                </a:solidFill>
                <a:effectLst>
                  <a:outerShdw blurRad="38100" dist="38100" dir="2700000" algn="tl">
                    <a:srgbClr val="000000"/>
                  </a:outerShdw>
                </a:effectLst>
                <a:latin typeface="Century Schoolbook" panose="02040604050505020304" pitchFamily="18" charset="0"/>
              </a:rPr>
              <a:t>Continuous digester </a:t>
            </a:r>
          </a:p>
          <a:p>
            <a:pPr>
              <a:defRPr/>
            </a:pPr>
            <a:r>
              <a:rPr lang="en-US" altLang="en-US" sz="2800" b="1" dirty="0">
                <a:effectLst>
                  <a:outerShdw blurRad="38100" dist="38100" dir="2700000" algn="tl">
                    <a:srgbClr val="000000"/>
                  </a:outerShdw>
                </a:effectLst>
                <a:latin typeface="Century Schoolbook" panose="02040604050505020304" pitchFamily="18" charset="0"/>
              </a:rPr>
              <a:t>Chip level control</a:t>
            </a:r>
          </a:p>
        </p:txBody>
      </p:sp>
    </p:spTree>
  </p:cSld>
  <p:clrMapOvr>
    <a:masterClrMapping/>
  </p:clrMapOvr>
  <p:transition/>
  <p:timing>
    <p:tnLst>
      <p:par>
        <p:cTn id="1" dur="indefinite" restart="never" nodeType="tmRoot"/>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2866" name="Picture 9" descr="mr25^00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650" y="1485900"/>
            <a:ext cx="1951038" cy="511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8659" name="Text Box 3"/>
          <p:cNvSpPr txBox="1">
            <a:spLocks noChangeArrowheads="1"/>
          </p:cNvSpPr>
          <p:nvPr/>
        </p:nvSpPr>
        <p:spPr bwMode="auto">
          <a:xfrm>
            <a:off x="2895600" y="1454150"/>
            <a:ext cx="5853113"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accent1"/>
              </a:buClr>
              <a:buFont typeface="Wingdings" panose="05000000000000000000" pitchFamily="2" charset="2"/>
              <a:buChar char="l"/>
              <a:defRPr/>
            </a:pPr>
            <a:r>
              <a:rPr lang="en-US" altLang="en-US" dirty="0">
                <a:solidFill>
                  <a:srgbClr val="FFFF00"/>
                </a:solidFill>
                <a:latin typeface="Century Schoolbook" panose="02040604050505020304" pitchFamily="18" charset="0"/>
                <a:cs typeface="Arial" panose="020B0604020202020204" pitchFamily="34" charset="0"/>
              </a:rPr>
              <a:t> </a:t>
            </a:r>
            <a:r>
              <a:rPr lang="en-US" altLang="en-US" b="1" dirty="0">
                <a:solidFill>
                  <a:srgbClr val="FF0000"/>
                </a:solidFill>
                <a:latin typeface="Century Schoolbook" panose="02040604050505020304" pitchFamily="18" charset="0"/>
                <a:cs typeface="Arial" panose="020B0604020202020204" pitchFamily="34" charset="0"/>
              </a:rPr>
              <a:t>The liquor level</a:t>
            </a:r>
            <a:r>
              <a:rPr lang="en-US" altLang="en-US" dirty="0">
                <a:solidFill>
                  <a:srgbClr val="FF0000"/>
                </a:solidFill>
                <a:latin typeface="Century Schoolbook" panose="02040604050505020304" pitchFamily="18" charset="0"/>
                <a:cs typeface="Arial" panose="020B0604020202020204" pitchFamily="34" charset="0"/>
              </a:rPr>
              <a:t> </a:t>
            </a:r>
            <a:r>
              <a:rPr lang="en-US" altLang="en-US" dirty="0">
                <a:latin typeface="Century Schoolbook" panose="02040604050505020304" pitchFamily="18" charset="0"/>
                <a:cs typeface="Arial" panose="020B0604020202020204" pitchFamily="34" charset="0"/>
              </a:rPr>
              <a:t>in maintained </a:t>
            </a:r>
            <a:r>
              <a:rPr lang="en-US" altLang="en-US" i="1" dirty="0">
                <a:effectLst>
                  <a:outerShdw blurRad="38100" dist="38100" dir="2700000" algn="tl">
                    <a:srgbClr val="000000"/>
                  </a:outerShdw>
                </a:effectLst>
                <a:latin typeface="Century Schoolbook" panose="02040604050505020304" pitchFamily="18" charset="0"/>
                <a:cs typeface="Arial" panose="020B0604020202020204" pitchFamily="34" charset="0"/>
              </a:rPr>
              <a:t>about 1 m below the chip level</a:t>
            </a:r>
            <a:r>
              <a:rPr lang="en-US" altLang="en-US" dirty="0">
                <a:latin typeface="Century Schoolbook" panose="02040604050505020304" pitchFamily="18" charset="0"/>
                <a:cs typeface="Arial" panose="020B0604020202020204" pitchFamily="34" charset="0"/>
              </a:rPr>
              <a:t> and is adjusted with</a:t>
            </a:r>
            <a:r>
              <a:rPr lang="en-US" altLang="en-US" b="1" i="1" dirty="0">
                <a:effectLst>
                  <a:outerShdw blurRad="38100" dist="38100" dir="2700000" algn="tl">
                    <a:srgbClr val="000000"/>
                  </a:outerShdw>
                </a:effectLst>
                <a:latin typeface="Century Schoolbook" panose="02040604050505020304" pitchFamily="18" charset="0"/>
                <a:cs typeface="Arial" panose="020B0604020202020204" pitchFamily="34" charset="0"/>
              </a:rPr>
              <a:t> </a:t>
            </a:r>
            <a:r>
              <a:rPr lang="en-US" altLang="en-US" i="1" dirty="0">
                <a:solidFill>
                  <a:srgbClr val="FF0000"/>
                </a:solidFill>
                <a:effectLst>
                  <a:outerShdw blurRad="38100" dist="38100" dir="2700000" algn="tl">
                    <a:srgbClr val="000000"/>
                  </a:outerShdw>
                </a:effectLst>
                <a:latin typeface="Century Schoolbook" panose="02040604050505020304" pitchFamily="18" charset="0"/>
                <a:cs typeface="Arial" panose="020B0604020202020204" pitchFamily="34" charset="0"/>
              </a:rPr>
              <a:t>LRC213</a:t>
            </a:r>
            <a:r>
              <a:rPr lang="en-US" altLang="en-US" dirty="0">
                <a:latin typeface="Century Schoolbook" panose="02040604050505020304" pitchFamily="18" charset="0"/>
                <a:cs typeface="Arial" panose="020B0604020202020204" pitchFamily="34" charset="0"/>
              </a:rPr>
              <a:t>, which in turn controls flow controller </a:t>
            </a:r>
            <a:r>
              <a:rPr lang="en-US" altLang="en-US" i="1" dirty="0">
                <a:solidFill>
                  <a:srgbClr val="FF0000"/>
                </a:solidFill>
                <a:effectLst>
                  <a:outerShdw blurRad="38100" dist="38100" dir="2700000" algn="tl">
                    <a:srgbClr val="000000"/>
                  </a:outerShdw>
                </a:effectLst>
                <a:latin typeface="Century Schoolbook" panose="02040604050505020304" pitchFamily="18" charset="0"/>
                <a:cs typeface="Arial" panose="020B0604020202020204" pitchFamily="34" charset="0"/>
              </a:rPr>
              <a:t>FRC214,HIC215</a:t>
            </a:r>
            <a:r>
              <a:rPr lang="en-US" altLang="en-US" dirty="0">
                <a:latin typeface="Century Schoolbook" panose="02040604050505020304" pitchFamily="18" charset="0"/>
                <a:cs typeface="Arial" panose="020B0604020202020204" pitchFamily="34" charset="0"/>
              </a:rPr>
              <a:t> for the flow of extraction liquor to flash cyclone.</a:t>
            </a:r>
          </a:p>
        </p:txBody>
      </p:sp>
      <p:sp>
        <p:nvSpPr>
          <p:cNvPr id="198661" name="Text Box 5"/>
          <p:cNvSpPr txBox="1">
            <a:spLocks noChangeArrowheads="1"/>
          </p:cNvSpPr>
          <p:nvPr/>
        </p:nvSpPr>
        <p:spPr bwMode="auto">
          <a:xfrm>
            <a:off x="2895600" y="3036888"/>
            <a:ext cx="6069013" cy="1465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accent1"/>
              </a:buClr>
              <a:buFont typeface="Wingdings" panose="05000000000000000000" pitchFamily="2" charset="2"/>
              <a:buChar char="l"/>
              <a:defRPr/>
            </a:pPr>
            <a:r>
              <a:rPr lang="en-US" altLang="en-US" dirty="0">
                <a:latin typeface="Century Schoolbook" panose="02040604050505020304" pitchFamily="18" charset="0"/>
                <a:cs typeface="Arial" panose="020B0604020202020204" pitchFamily="34" charset="0"/>
              </a:rPr>
              <a:t> At the</a:t>
            </a:r>
            <a:r>
              <a:rPr lang="en-US" altLang="en-US" b="1" dirty="0">
                <a:latin typeface="Century Schoolbook" panose="02040604050505020304" pitchFamily="18" charset="0"/>
                <a:cs typeface="Arial" panose="020B0604020202020204" pitchFamily="34" charset="0"/>
              </a:rPr>
              <a:t> </a:t>
            </a:r>
            <a:r>
              <a:rPr lang="en-US" altLang="en-US" dirty="0">
                <a:latin typeface="Century Schoolbook" panose="02040604050505020304" pitchFamily="18" charset="0"/>
                <a:cs typeface="Arial" panose="020B0604020202020204" pitchFamily="34" charset="0"/>
              </a:rPr>
              <a:t>top of the digester there is a relief line to the steaming vessel incorporating </a:t>
            </a:r>
            <a:r>
              <a:rPr lang="en-US" altLang="en-US" b="1" dirty="0">
                <a:solidFill>
                  <a:srgbClr val="FF0000"/>
                </a:solidFill>
                <a:latin typeface="Century Schoolbook" panose="02040604050505020304" pitchFamily="18" charset="0"/>
                <a:cs typeface="Arial" panose="020B0604020202020204" pitchFamily="34" charset="0"/>
              </a:rPr>
              <a:t>pressure controller</a:t>
            </a:r>
            <a:r>
              <a:rPr lang="en-US" altLang="en-US" dirty="0">
                <a:solidFill>
                  <a:srgbClr val="FF0000"/>
                </a:solidFill>
                <a:latin typeface="Century Schoolbook" panose="02040604050505020304" pitchFamily="18" charset="0"/>
                <a:cs typeface="Arial" panose="020B0604020202020204" pitchFamily="34" charset="0"/>
              </a:rPr>
              <a:t> </a:t>
            </a:r>
            <a:r>
              <a:rPr lang="en-US" altLang="en-US" i="1" dirty="0">
                <a:solidFill>
                  <a:srgbClr val="FF0000"/>
                </a:solidFill>
                <a:effectLst>
                  <a:outerShdw blurRad="38100" dist="38100" dir="2700000" algn="tl">
                    <a:srgbClr val="000000"/>
                  </a:outerShdw>
                </a:effectLst>
                <a:latin typeface="Century Schoolbook" panose="02040604050505020304" pitchFamily="18" charset="0"/>
                <a:cs typeface="Arial" panose="020B0604020202020204" pitchFamily="34" charset="0"/>
              </a:rPr>
              <a:t>PRCA192</a:t>
            </a:r>
            <a:r>
              <a:rPr lang="en-US" altLang="en-US" dirty="0">
                <a:latin typeface="Century Schoolbook" panose="02040604050505020304" pitchFamily="18" charset="0"/>
                <a:cs typeface="Arial" panose="020B0604020202020204" pitchFamily="34" charset="0"/>
              </a:rPr>
              <a:t>, which open if the digester pressure is too high. If the pressure is too low compressed air will be added from </a:t>
            </a:r>
            <a:r>
              <a:rPr lang="en-US" altLang="en-US" dirty="0">
                <a:solidFill>
                  <a:srgbClr val="FF0000"/>
                </a:solidFill>
                <a:latin typeface="Century Schoolbook" panose="02040604050505020304" pitchFamily="18" charset="0"/>
                <a:cs typeface="Arial" panose="020B0604020202020204" pitchFamily="34" charset="0"/>
              </a:rPr>
              <a:t>compressor C58, </a:t>
            </a:r>
            <a:r>
              <a:rPr lang="en-US" altLang="en-US" i="1" dirty="0">
                <a:solidFill>
                  <a:srgbClr val="FF0000"/>
                </a:solidFill>
                <a:effectLst>
                  <a:outerShdw blurRad="38100" dist="38100" dir="2700000" algn="tl">
                    <a:srgbClr val="000000"/>
                  </a:outerShdw>
                </a:effectLst>
                <a:latin typeface="Century Schoolbook" panose="02040604050505020304" pitchFamily="18" charset="0"/>
                <a:cs typeface="Arial" panose="020B0604020202020204" pitchFamily="34" charset="0"/>
              </a:rPr>
              <a:t>PIC193 </a:t>
            </a:r>
          </a:p>
        </p:txBody>
      </p:sp>
      <p:sp>
        <p:nvSpPr>
          <p:cNvPr id="198662" name="Text Box 6"/>
          <p:cNvSpPr txBox="1">
            <a:spLocks noChangeArrowheads="1"/>
          </p:cNvSpPr>
          <p:nvPr/>
        </p:nvSpPr>
        <p:spPr bwMode="auto">
          <a:xfrm>
            <a:off x="2895600" y="4759325"/>
            <a:ext cx="5780088"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accent1"/>
              </a:buClr>
              <a:buFont typeface="Wingdings" panose="05000000000000000000" pitchFamily="2" charset="2"/>
              <a:buChar char="l"/>
              <a:defRPr/>
            </a:pPr>
            <a:r>
              <a:rPr lang="en-US" altLang="en-US" dirty="0">
                <a:latin typeface="Century Schoolbook" panose="02040604050505020304" pitchFamily="18" charset="0"/>
                <a:cs typeface="Arial" panose="020B0604020202020204" pitchFamily="34" charset="0"/>
              </a:rPr>
              <a:t> </a:t>
            </a:r>
            <a:r>
              <a:rPr lang="en-US" altLang="en-US" b="1" dirty="0">
                <a:solidFill>
                  <a:srgbClr val="FF0000"/>
                </a:solidFill>
                <a:latin typeface="Century Schoolbook" panose="02040604050505020304" pitchFamily="18" charset="0"/>
                <a:cs typeface="Arial" panose="020B0604020202020204" pitchFamily="34" charset="0"/>
              </a:rPr>
              <a:t>The temperature</a:t>
            </a:r>
            <a:r>
              <a:rPr lang="en-US" altLang="en-US" dirty="0">
                <a:solidFill>
                  <a:srgbClr val="FF0000"/>
                </a:solidFill>
                <a:latin typeface="Century Schoolbook" panose="02040604050505020304" pitchFamily="18" charset="0"/>
                <a:cs typeface="Arial" panose="020B0604020202020204" pitchFamily="34" charset="0"/>
              </a:rPr>
              <a:t> </a:t>
            </a:r>
            <a:r>
              <a:rPr lang="en-US" altLang="en-US" dirty="0">
                <a:latin typeface="Century Schoolbook" panose="02040604050505020304" pitchFamily="18" charset="0"/>
                <a:cs typeface="Arial" panose="020B0604020202020204" pitchFamily="34" charset="0"/>
              </a:rPr>
              <a:t>at the top of the digester is controlled by </a:t>
            </a:r>
            <a:r>
              <a:rPr lang="en-US" altLang="en-US" i="1" dirty="0">
                <a:solidFill>
                  <a:schemeClr val="tx2"/>
                </a:solidFill>
                <a:effectLst>
                  <a:outerShdw blurRad="38100" dist="38100" dir="2700000" algn="tl">
                    <a:srgbClr val="000000"/>
                  </a:outerShdw>
                </a:effectLst>
                <a:latin typeface="Century Schoolbook" panose="02040604050505020304" pitchFamily="18" charset="0"/>
                <a:cs typeface="Arial" panose="020B0604020202020204" pitchFamily="34" charset="0"/>
              </a:rPr>
              <a:t>TRC173</a:t>
            </a:r>
            <a:r>
              <a:rPr lang="en-US" altLang="en-US" i="1" dirty="0">
                <a:effectLst>
                  <a:outerShdw blurRad="38100" dist="38100" dir="2700000" algn="tl">
                    <a:srgbClr val="000000"/>
                  </a:outerShdw>
                </a:effectLst>
                <a:latin typeface="Century Schoolbook" panose="02040604050505020304" pitchFamily="18" charset="0"/>
                <a:cs typeface="Arial" panose="020B0604020202020204" pitchFamily="34" charset="0"/>
              </a:rPr>
              <a:t>,</a:t>
            </a:r>
            <a:r>
              <a:rPr lang="en-US" altLang="en-US" dirty="0">
                <a:latin typeface="Century Schoolbook" panose="02040604050505020304" pitchFamily="18" charset="0"/>
                <a:cs typeface="Arial" panose="020B0604020202020204" pitchFamily="34" charset="0"/>
              </a:rPr>
              <a:t> which in turn controls the flow of medium pressure steam,</a:t>
            </a:r>
            <a:r>
              <a:rPr lang="en-US" altLang="en-US" i="1" dirty="0">
                <a:solidFill>
                  <a:schemeClr val="tx2"/>
                </a:solidFill>
                <a:effectLst>
                  <a:outerShdw blurRad="38100" dist="38100" dir="2700000" algn="tl">
                    <a:srgbClr val="000000"/>
                  </a:outerShdw>
                </a:effectLst>
                <a:latin typeface="Century Schoolbook" panose="02040604050505020304" pitchFamily="18" charset="0"/>
                <a:cs typeface="Arial" panose="020B0604020202020204" pitchFamily="34" charset="0"/>
              </a:rPr>
              <a:t>FRC172</a:t>
            </a:r>
            <a:r>
              <a:rPr lang="en-US" altLang="en-US" dirty="0">
                <a:latin typeface="Century Schoolbook" panose="02040604050505020304" pitchFamily="18" charset="0"/>
                <a:cs typeface="Arial" panose="020B0604020202020204" pitchFamily="34" charset="0"/>
              </a:rPr>
              <a:t>, to the top of the digester.</a:t>
            </a:r>
            <a:endParaRPr lang="en-US" altLang="en-US" i="1" dirty="0">
              <a:effectLst>
                <a:outerShdw blurRad="38100" dist="38100" dir="2700000" algn="tl">
                  <a:srgbClr val="000000"/>
                </a:outerShdw>
              </a:effectLst>
              <a:latin typeface="Century Schoolbook" panose="02040604050505020304" pitchFamily="18" charset="0"/>
              <a:cs typeface="Arial" panose="020B0604020202020204" pitchFamily="34" charset="0"/>
            </a:endParaRPr>
          </a:p>
        </p:txBody>
      </p:sp>
      <p:sp>
        <p:nvSpPr>
          <p:cNvPr id="292870" name="Rectangle 7"/>
          <p:cNvSpPr>
            <a:spLocks noChangeArrowheads="1"/>
          </p:cNvSpPr>
          <p:nvPr/>
        </p:nvSpPr>
        <p:spPr bwMode="auto">
          <a:xfrm>
            <a:off x="1763713" y="1844675"/>
            <a:ext cx="762000" cy="4343400"/>
          </a:xfrm>
          <a:prstGeom prst="rect">
            <a:avLst/>
          </a:prstGeom>
          <a:solidFill>
            <a:schemeClr val="accent1">
              <a:alpha val="10196"/>
            </a:schemeClr>
          </a:solidFill>
          <a:ln w="2857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198664" name="Text Box 8"/>
          <p:cNvSpPr txBox="1">
            <a:spLocks noChangeArrowheads="1"/>
          </p:cNvSpPr>
          <p:nvPr/>
        </p:nvSpPr>
        <p:spPr bwMode="auto">
          <a:xfrm>
            <a:off x="611188" y="200025"/>
            <a:ext cx="8443912" cy="1068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3600" b="1" dirty="0">
                <a:solidFill>
                  <a:srgbClr val="FF0000"/>
                </a:solidFill>
                <a:effectLst>
                  <a:outerShdw blurRad="38100" dist="38100" dir="2700000" algn="tl">
                    <a:srgbClr val="000000"/>
                  </a:outerShdw>
                </a:effectLst>
                <a:latin typeface="Century Schoolbook" panose="02040604050505020304" pitchFamily="18" charset="0"/>
              </a:rPr>
              <a:t>Continuous digester </a:t>
            </a:r>
          </a:p>
          <a:p>
            <a:pPr>
              <a:defRPr/>
            </a:pPr>
            <a:r>
              <a:rPr lang="en-US" altLang="en-US" sz="2800" b="1" dirty="0">
                <a:effectLst>
                  <a:outerShdw blurRad="38100" dist="38100" dir="2700000" algn="tl">
                    <a:srgbClr val="000000"/>
                  </a:outerShdw>
                </a:effectLst>
                <a:latin typeface="Century Schoolbook" panose="02040604050505020304" pitchFamily="18" charset="0"/>
              </a:rPr>
              <a:t>Liquor level, Pressure,  Temperature control</a:t>
            </a:r>
          </a:p>
        </p:txBody>
      </p:sp>
    </p:spTree>
  </p:cSld>
  <p:clrMapOvr>
    <a:masterClrMapping/>
  </p:clrMapOvr>
  <p:transition/>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3890" name="Picture 13" descr="mr25^00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650" y="1485900"/>
            <a:ext cx="1951038" cy="511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3891" name="Rectangle 3"/>
          <p:cNvSpPr>
            <a:spLocks noChangeArrowheads="1"/>
          </p:cNvSpPr>
          <p:nvPr/>
        </p:nvSpPr>
        <p:spPr bwMode="auto">
          <a:xfrm>
            <a:off x="1116013" y="4508500"/>
            <a:ext cx="914400" cy="1543050"/>
          </a:xfrm>
          <a:prstGeom prst="rect">
            <a:avLst/>
          </a:prstGeom>
          <a:solidFill>
            <a:schemeClr val="accent1">
              <a:alpha val="10196"/>
            </a:schemeClr>
          </a:solidFill>
          <a:ln w="2857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pic>
        <p:nvPicPr>
          <p:cNvPr id="293892" name="Picture 4" descr="mr12^006"/>
          <p:cNvPicPr>
            <a:picLocks noGrp="1" noChangeAspect="1" noChangeArrowheads="1"/>
          </p:cNvPicPr>
          <p:nvPr>
            <p:ph sz="half" idx="1"/>
          </p:nvPr>
        </p:nvPicPr>
        <p:blipFill>
          <a:blip r:embed="rId3" cstate="print">
            <a:extLst>
              <a:ext uri="{28A0092B-C50C-407E-A947-70E740481C1C}">
                <a14:useLocalDpi xmlns:a14="http://schemas.microsoft.com/office/drawing/2010/main" val="0"/>
              </a:ext>
            </a:extLst>
          </a:blip>
          <a:srcRect/>
          <a:stretch>
            <a:fillRect/>
          </a:stretch>
        </p:blipFill>
        <p:spPr>
          <a:xfrm>
            <a:off x="2771775" y="4198938"/>
            <a:ext cx="2447925" cy="1677987"/>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01734" name="Text Box 6"/>
          <p:cNvSpPr txBox="1">
            <a:spLocks noChangeArrowheads="1"/>
          </p:cNvSpPr>
          <p:nvPr/>
        </p:nvSpPr>
        <p:spPr bwMode="auto">
          <a:xfrm>
            <a:off x="2771775" y="1446213"/>
            <a:ext cx="6408738"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accent1"/>
              </a:buClr>
              <a:buFont typeface="Wingdings" panose="05000000000000000000" pitchFamily="2" charset="2"/>
              <a:buChar char="l"/>
              <a:defRPr/>
            </a:pPr>
            <a:r>
              <a:rPr lang="en-US" altLang="en-US" dirty="0">
                <a:latin typeface="Century Schoolbook" panose="02040604050505020304" pitchFamily="18" charset="0"/>
                <a:cs typeface="Arial" panose="020B0604020202020204" pitchFamily="34" charset="0"/>
              </a:rPr>
              <a:t> The liquor in the pulp is displaced with weaker wash liquor. The wash liquor is pumped ,by </a:t>
            </a:r>
            <a:r>
              <a:rPr lang="en-US" altLang="en-US" dirty="0">
                <a:solidFill>
                  <a:srgbClr val="FF0000"/>
                </a:solidFill>
                <a:latin typeface="Century Schoolbook" panose="02040604050505020304" pitchFamily="18" charset="0"/>
                <a:cs typeface="Arial" panose="020B0604020202020204" pitchFamily="34" charset="0"/>
              </a:rPr>
              <a:t>pump C9</a:t>
            </a:r>
            <a:r>
              <a:rPr lang="en-US" altLang="en-US" dirty="0">
                <a:latin typeface="Century Schoolbook" panose="02040604050505020304" pitchFamily="18" charset="0"/>
                <a:cs typeface="Arial" panose="020B0604020202020204" pitchFamily="34" charset="0"/>
              </a:rPr>
              <a:t>, into the digester via nozzles at the bottom. The flow of wash liquor to the nozzles is controlled by </a:t>
            </a:r>
            <a:r>
              <a:rPr lang="en-US" altLang="en-US" i="1" dirty="0">
                <a:solidFill>
                  <a:srgbClr val="FF0000"/>
                </a:solidFill>
                <a:effectLst>
                  <a:outerShdw blurRad="38100" dist="38100" dir="2700000" algn="tl">
                    <a:srgbClr val="000000"/>
                  </a:outerShdw>
                </a:effectLst>
                <a:latin typeface="Century Schoolbook" panose="02040604050505020304" pitchFamily="18" charset="0"/>
                <a:cs typeface="Arial" panose="020B0604020202020204" pitchFamily="34" charset="0"/>
              </a:rPr>
              <a:t>FRC198</a:t>
            </a:r>
            <a:r>
              <a:rPr lang="en-US" altLang="en-US" dirty="0">
                <a:solidFill>
                  <a:srgbClr val="FF0000"/>
                </a:solidFill>
                <a:latin typeface="Century Schoolbook" panose="02040604050505020304" pitchFamily="18" charset="0"/>
                <a:cs typeface="Arial" panose="020B0604020202020204" pitchFamily="34" charset="0"/>
              </a:rPr>
              <a:t> and </a:t>
            </a:r>
            <a:r>
              <a:rPr lang="en-US" altLang="en-US" i="1" dirty="0">
                <a:solidFill>
                  <a:srgbClr val="FF0000"/>
                </a:solidFill>
                <a:effectLst>
                  <a:outerShdw blurRad="38100" dist="38100" dir="2700000" algn="tl">
                    <a:srgbClr val="000000"/>
                  </a:outerShdw>
                </a:effectLst>
                <a:latin typeface="Century Schoolbook" panose="02040604050505020304" pitchFamily="18" charset="0"/>
                <a:cs typeface="Arial" panose="020B0604020202020204" pitchFamily="34" charset="0"/>
              </a:rPr>
              <a:t>FRC199</a:t>
            </a:r>
          </a:p>
        </p:txBody>
      </p:sp>
      <p:sp>
        <p:nvSpPr>
          <p:cNvPr id="201735" name="Text Box 7"/>
          <p:cNvSpPr txBox="1">
            <a:spLocks noChangeArrowheads="1"/>
          </p:cNvSpPr>
          <p:nvPr/>
        </p:nvSpPr>
        <p:spPr bwMode="auto">
          <a:xfrm>
            <a:off x="2808288" y="2852738"/>
            <a:ext cx="6227762" cy="915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accent1"/>
              </a:buClr>
              <a:buFont typeface="Wingdings" panose="05000000000000000000" pitchFamily="2" charset="2"/>
              <a:buChar char="l"/>
              <a:defRPr/>
            </a:pPr>
            <a:r>
              <a:rPr lang="en-US" altLang="en-US">
                <a:latin typeface="Century Schoolbook" panose="02040604050505020304" pitchFamily="18" charset="0"/>
                <a:cs typeface="Arial" panose="020B0604020202020204" pitchFamily="34" charset="0"/>
              </a:rPr>
              <a:t> </a:t>
            </a:r>
            <a:r>
              <a:rPr lang="en-US" altLang="en-US">
                <a:solidFill>
                  <a:schemeClr val="tx2"/>
                </a:solidFill>
                <a:latin typeface="Century Schoolbook" panose="02040604050505020304" pitchFamily="18" charset="0"/>
                <a:cs typeface="Arial" panose="020B0604020202020204" pitchFamily="34" charset="0"/>
              </a:rPr>
              <a:t>From the bottom of the digester, the displacement liquor flows upwards and displaces the cooking liquor in the pulp.</a:t>
            </a:r>
            <a:endParaRPr lang="en-US" altLang="en-US" i="1">
              <a:solidFill>
                <a:schemeClr val="tx2"/>
              </a:solidFill>
              <a:effectLst>
                <a:outerShdw blurRad="38100" dist="38100" dir="2700000" algn="tl">
                  <a:srgbClr val="000000"/>
                </a:outerShdw>
              </a:effectLst>
              <a:latin typeface="Century Schoolbook" panose="02040604050505020304" pitchFamily="18" charset="0"/>
              <a:cs typeface="Arial" panose="020B0604020202020204" pitchFamily="34" charset="0"/>
            </a:endParaRPr>
          </a:p>
        </p:txBody>
      </p:sp>
      <p:sp>
        <p:nvSpPr>
          <p:cNvPr id="201736" name="Text Box 8"/>
          <p:cNvSpPr txBox="1">
            <a:spLocks noChangeArrowheads="1"/>
          </p:cNvSpPr>
          <p:nvPr/>
        </p:nvSpPr>
        <p:spPr bwMode="auto">
          <a:xfrm>
            <a:off x="5219700" y="4076700"/>
            <a:ext cx="3887788"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accent1"/>
              </a:buClr>
              <a:buFont typeface="Wingdings" panose="05000000000000000000" pitchFamily="2" charset="2"/>
              <a:buChar char="l"/>
              <a:defRPr/>
            </a:pPr>
            <a:r>
              <a:rPr lang="en-US" altLang="en-US">
                <a:latin typeface="Century Schoolbook" panose="02040604050505020304" pitchFamily="18" charset="0"/>
                <a:cs typeface="Arial" panose="020B0604020202020204" pitchFamily="34" charset="0"/>
              </a:rPr>
              <a:t> The cooking liquor is extracted through the extraction strainers to the flash system and on to the evaporator plant.</a:t>
            </a:r>
            <a:endParaRPr lang="en-US" altLang="en-US" i="1">
              <a:effectLst>
                <a:outerShdw blurRad="38100" dist="38100" dir="2700000" algn="tl">
                  <a:srgbClr val="000000"/>
                </a:outerShdw>
              </a:effectLst>
              <a:latin typeface="Century Schoolbook" panose="02040604050505020304" pitchFamily="18" charset="0"/>
              <a:cs typeface="Arial" panose="020B0604020202020204" pitchFamily="34" charset="0"/>
            </a:endParaRPr>
          </a:p>
        </p:txBody>
      </p:sp>
      <p:sp>
        <p:nvSpPr>
          <p:cNvPr id="201737" name="Text Box 9"/>
          <p:cNvSpPr txBox="1">
            <a:spLocks noChangeArrowheads="1"/>
          </p:cNvSpPr>
          <p:nvPr/>
        </p:nvSpPr>
        <p:spPr bwMode="auto">
          <a:xfrm>
            <a:off x="2771775" y="5876925"/>
            <a:ext cx="5414963" cy="641350"/>
          </a:xfrm>
          <a:prstGeom prst="rect">
            <a:avLst/>
          </a:prstGeom>
          <a:solidFill>
            <a:schemeClr val="bg1"/>
          </a:solidFill>
          <a:ln>
            <a:noFill/>
          </a:ln>
          <a:effectLst/>
        </p:spPr>
        <p:txBody>
          <a:bodyPr>
            <a:spAutoFit/>
          </a:bodyPr>
          <a:lstStyle/>
          <a:p>
            <a:pPr>
              <a:buClr>
                <a:schemeClr val="accent1"/>
              </a:buClr>
              <a:buFont typeface="Wingdings" panose="05000000000000000000" pitchFamily="2" charset="2"/>
              <a:buChar char="l"/>
              <a:defRPr/>
            </a:pPr>
            <a:r>
              <a:rPr lang="en-US" altLang="en-US" dirty="0">
                <a:latin typeface="Century Schoolbook" panose="02040604050505020304" pitchFamily="18" charset="0"/>
                <a:cs typeface="Arial" panose="020B0604020202020204" pitchFamily="34" charset="0"/>
              </a:rPr>
              <a:t> Optimize temperature of blow pulp = 75-85</a:t>
            </a:r>
            <a:r>
              <a:rPr lang="en-US" altLang="en-US" baseline="30000" dirty="0">
                <a:latin typeface="Century Schoolbook" panose="02040604050505020304" pitchFamily="18" charset="0"/>
                <a:cs typeface="Arial" panose="020B0604020202020204" pitchFamily="34" charset="0"/>
              </a:rPr>
              <a:t>o</a:t>
            </a:r>
            <a:r>
              <a:rPr lang="en-US" altLang="en-US" dirty="0">
                <a:latin typeface="Century Schoolbook" panose="02040604050505020304" pitchFamily="18" charset="0"/>
                <a:cs typeface="Arial" panose="020B0604020202020204" pitchFamily="34" charset="0"/>
              </a:rPr>
              <a:t>C </a:t>
            </a:r>
          </a:p>
          <a:p>
            <a:pPr>
              <a:buClr>
                <a:schemeClr val="accent1"/>
              </a:buClr>
              <a:buFont typeface="Wingdings" panose="05000000000000000000" pitchFamily="2" charset="2"/>
              <a:buNone/>
              <a:defRPr/>
            </a:pPr>
            <a:r>
              <a:rPr lang="en-US" altLang="en-US" dirty="0">
                <a:latin typeface="Century Schoolbook" panose="02040604050505020304" pitchFamily="18" charset="0"/>
                <a:cs typeface="Arial" panose="020B0604020202020204" pitchFamily="34" charset="0"/>
              </a:rPr>
              <a:t>    (not effect to pulp strength)</a:t>
            </a:r>
            <a:endParaRPr lang="en-US" altLang="en-US" i="1" dirty="0">
              <a:effectLst>
                <a:outerShdw blurRad="38100" dist="38100" dir="2700000" algn="tl">
                  <a:srgbClr val="000000"/>
                </a:outerShdw>
              </a:effectLst>
              <a:latin typeface="Century Schoolbook" panose="02040604050505020304" pitchFamily="18" charset="0"/>
              <a:cs typeface="Arial" panose="020B0604020202020204" pitchFamily="34" charset="0"/>
            </a:endParaRPr>
          </a:p>
        </p:txBody>
      </p:sp>
      <p:sp>
        <p:nvSpPr>
          <p:cNvPr id="293897" name="Rectangle 10"/>
          <p:cNvSpPr>
            <a:spLocks noChangeArrowheads="1"/>
          </p:cNvSpPr>
          <p:nvPr/>
        </p:nvSpPr>
        <p:spPr bwMode="auto">
          <a:xfrm>
            <a:off x="2771775" y="5300663"/>
            <a:ext cx="720725" cy="504825"/>
          </a:xfrm>
          <a:prstGeom prst="rect">
            <a:avLst/>
          </a:prstGeom>
          <a:solidFill>
            <a:schemeClr val="accent1">
              <a:alpha val="10196"/>
            </a:schemeClr>
          </a:solidFill>
          <a:ln w="2857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201739" name="Text Box 11"/>
          <p:cNvSpPr txBox="1">
            <a:spLocks noChangeArrowheads="1"/>
          </p:cNvSpPr>
          <p:nvPr/>
        </p:nvSpPr>
        <p:spPr bwMode="auto">
          <a:xfrm>
            <a:off x="611188" y="200025"/>
            <a:ext cx="5145087" cy="1068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3600" b="1" dirty="0">
                <a:solidFill>
                  <a:srgbClr val="FF0000"/>
                </a:solidFill>
                <a:effectLst>
                  <a:outerShdw blurRad="38100" dist="38100" dir="2700000" algn="tl">
                    <a:srgbClr val="000000"/>
                  </a:outerShdw>
                </a:effectLst>
                <a:latin typeface="Century Schoolbook" panose="02040604050505020304" pitchFamily="18" charset="0"/>
              </a:rPr>
              <a:t>Continuous digester </a:t>
            </a:r>
          </a:p>
          <a:p>
            <a:pPr>
              <a:defRPr/>
            </a:pPr>
            <a:r>
              <a:rPr lang="en-US" altLang="en-US" sz="2800" b="1" dirty="0">
                <a:effectLst>
                  <a:outerShdw blurRad="38100" dist="38100" dir="2700000" algn="tl">
                    <a:srgbClr val="000000"/>
                  </a:outerShdw>
                </a:effectLst>
                <a:latin typeface="Century Schoolbook" panose="02040604050505020304" pitchFamily="18" charset="0"/>
              </a:rPr>
              <a:t>Hi-Heat Washing</a:t>
            </a:r>
          </a:p>
        </p:txBody>
      </p:sp>
    </p:spTree>
  </p:cSld>
  <p:clrMapOvr>
    <a:masterClrMapping/>
  </p:clrMapOvr>
  <p:transition/>
  <p:timing>
    <p:tnLst>
      <p:par>
        <p:cTn id="1" dur="indefinite" restart="never" nodeType="tmRoot"/>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4914" name="Picture 11" descr="mr25^00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650" y="1485900"/>
            <a:ext cx="1951038" cy="511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4915" name="Rectangle 4"/>
          <p:cNvSpPr>
            <a:spLocks noChangeArrowheads="1"/>
          </p:cNvSpPr>
          <p:nvPr/>
        </p:nvSpPr>
        <p:spPr bwMode="auto">
          <a:xfrm>
            <a:off x="1116013" y="5734050"/>
            <a:ext cx="1008062" cy="503238"/>
          </a:xfrm>
          <a:prstGeom prst="rect">
            <a:avLst/>
          </a:prstGeom>
          <a:solidFill>
            <a:schemeClr val="accent1">
              <a:alpha val="10196"/>
            </a:schemeClr>
          </a:solidFill>
          <a:ln w="2857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pic>
        <p:nvPicPr>
          <p:cNvPr id="294916" name="Picture 5" descr="mr31^007"/>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2771775" y="4508500"/>
            <a:ext cx="1522413" cy="2089150"/>
          </a:xfrm>
          <a:noFill/>
          <a:ln w="28575">
            <a:solidFill>
              <a:schemeClr val="bg2"/>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94917" name="Picture 6" descr="ap01^01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427538" y="4535488"/>
            <a:ext cx="2520950" cy="2046287"/>
          </a:xfrm>
          <a:prstGeom prst="rect">
            <a:avLst/>
          </a:prstGeom>
          <a:noFill/>
          <a:ln w="9525">
            <a:solidFill>
              <a:srgbClr val="808080"/>
            </a:solidFill>
            <a:miter lim="800000"/>
            <a:headEnd/>
            <a:tailEnd/>
          </a:ln>
          <a:effectLst>
            <a:outerShdw dist="35921" dir="2700000" algn="ctr" rotWithShape="0">
              <a:srgbClr val="808080"/>
            </a:outerShdw>
          </a:effectLst>
          <a:extLst>
            <a:ext uri="{909E8E84-426E-40DD-AFC4-6F175D3DCCD1}">
              <a14:hiddenFill xmlns:a14="http://schemas.microsoft.com/office/drawing/2010/main">
                <a:solidFill>
                  <a:srgbClr val="FFFFFF"/>
                </a:solidFill>
              </a14:hiddenFill>
            </a:ext>
          </a:extLst>
        </p:spPr>
      </p:pic>
      <p:sp>
        <p:nvSpPr>
          <p:cNvPr id="206855" name="Text Box 7"/>
          <p:cNvSpPr txBox="1">
            <a:spLocks noChangeArrowheads="1"/>
          </p:cNvSpPr>
          <p:nvPr/>
        </p:nvSpPr>
        <p:spPr bwMode="auto">
          <a:xfrm>
            <a:off x="2916238" y="1484313"/>
            <a:ext cx="6048375"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accent1"/>
              </a:buClr>
              <a:buFont typeface="Wingdings" panose="05000000000000000000" pitchFamily="2" charset="2"/>
              <a:buChar char="l"/>
              <a:defRPr/>
            </a:pPr>
            <a:r>
              <a:rPr lang="en-US" altLang="en-US" sz="1600" dirty="0">
                <a:latin typeface="Century Schoolbook" panose="02040604050505020304" pitchFamily="18" charset="0"/>
                <a:cs typeface="Arial" panose="020B0604020202020204" pitchFamily="34" charset="0"/>
              </a:rPr>
              <a:t> Rotating outlet device, C42, is mounted in the bottom of the digester. </a:t>
            </a:r>
            <a:r>
              <a:rPr lang="en-US" altLang="en-US" sz="1600" b="1" dirty="0">
                <a:solidFill>
                  <a:srgbClr val="FF0000"/>
                </a:solidFill>
                <a:latin typeface="Century Schoolbook" panose="02040604050505020304" pitchFamily="18" charset="0"/>
                <a:cs typeface="Arial" panose="020B0604020202020204" pitchFamily="34" charset="0"/>
              </a:rPr>
              <a:t>To obtain a uniform pulp quality</a:t>
            </a:r>
            <a:r>
              <a:rPr lang="en-US" altLang="en-US" sz="1600" dirty="0">
                <a:latin typeface="Century Schoolbook" panose="02040604050505020304" pitchFamily="18" charset="0"/>
                <a:cs typeface="Arial" panose="020B0604020202020204" pitchFamily="34" charset="0"/>
              </a:rPr>
              <a:t>. The speed of the scrapper is adjustable from </a:t>
            </a:r>
            <a:r>
              <a:rPr lang="en-US" altLang="en-US" sz="1600" i="1" dirty="0">
                <a:effectLst>
                  <a:outerShdw blurRad="38100" dist="38100" dir="2700000" algn="tl">
                    <a:srgbClr val="000000"/>
                  </a:outerShdw>
                </a:effectLst>
                <a:latin typeface="Century Schoolbook" panose="02040604050505020304" pitchFamily="18" charset="0"/>
                <a:cs typeface="Arial" panose="020B0604020202020204" pitchFamily="34" charset="0"/>
              </a:rPr>
              <a:t>3 – 7.5 rpm.</a:t>
            </a:r>
          </a:p>
        </p:txBody>
      </p:sp>
      <p:sp>
        <p:nvSpPr>
          <p:cNvPr id="206856" name="Text Box 8"/>
          <p:cNvSpPr txBox="1">
            <a:spLocks noChangeArrowheads="1"/>
          </p:cNvSpPr>
          <p:nvPr/>
        </p:nvSpPr>
        <p:spPr bwMode="auto">
          <a:xfrm>
            <a:off x="2916238" y="3711575"/>
            <a:ext cx="5976937"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accent1"/>
              </a:buClr>
              <a:buFont typeface="Wingdings" panose="05000000000000000000" pitchFamily="2" charset="2"/>
              <a:buChar char="l"/>
              <a:defRPr/>
            </a:pPr>
            <a:r>
              <a:rPr lang="en-US" altLang="en-US" sz="1600" dirty="0">
                <a:latin typeface="Century Schoolbook" panose="02040604050505020304" pitchFamily="18" charset="0"/>
                <a:cs typeface="Arial" panose="020B0604020202020204" pitchFamily="34" charset="0"/>
              </a:rPr>
              <a:t> </a:t>
            </a:r>
            <a:r>
              <a:rPr lang="en-US" altLang="en-US" sz="1600" dirty="0">
                <a:solidFill>
                  <a:srgbClr val="FF0000"/>
                </a:solidFill>
                <a:latin typeface="Century Schoolbook" panose="02040604050505020304" pitchFamily="18" charset="0"/>
                <a:cs typeface="Arial" panose="020B0604020202020204" pitchFamily="34" charset="0"/>
              </a:rPr>
              <a:t>The speed of the scrapper effects </a:t>
            </a:r>
            <a:r>
              <a:rPr lang="en-US" altLang="en-US" sz="1600" dirty="0">
                <a:latin typeface="Century Schoolbook" panose="02040604050505020304" pitchFamily="18" charset="0"/>
                <a:cs typeface="Arial" panose="020B0604020202020204" pitchFamily="34" charset="0"/>
              </a:rPr>
              <a:t>both the concentration of the pulp being fed out and the chip level in the digester</a:t>
            </a:r>
            <a:endParaRPr lang="en-US" altLang="en-US" sz="1600" i="1" dirty="0">
              <a:effectLst>
                <a:outerShdw blurRad="38100" dist="38100" dir="2700000" algn="tl">
                  <a:srgbClr val="000000"/>
                </a:outerShdw>
              </a:effectLst>
              <a:latin typeface="Century Schoolbook" panose="02040604050505020304" pitchFamily="18" charset="0"/>
              <a:cs typeface="Arial" panose="020B0604020202020204" pitchFamily="34" charset="0"/>
            </a:endParaRPr>
          </a:p>
        </p:txBody>
      </p:sp>
      <p:sp>
        <p:nvSpPr>
          <p:cNvPr id="206857" name="Text Box 9"/>
          <p:cNvSpPr txBox="1">
            <a:spLocks noChangeArrowheads="1"/>
          </p:cNvSpPr>
          <p:nvPr/>
        </p:nvSpPr>
        <p:spPr bwMode="auto">
          <a:xfrm>
            <a:off x="2916238" y="2430463"/>
            <a:ext cx="6048375" cy="1069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accent1"/>
              </a:buClr>
              <a:buFont typeface="Wingdings" panose="05000000000000000000" pitchFamily="2" charset="2"/>
              <a:buChar char="l"/>
              <a:defRPr/>
            </a:pPr>
            <a:r>
              <a:rPr lang="en-US" altLang="en-US" sz="1600" dirty="0">
                <a:latin typeface="Century Schoolbook" panose="02040604050505020304" pitchFamily="18" charset="0"/>
                <a:cs typeface="Arial" panose="020B0604020202020204" pitchFamily="34" charset="0"/>
              </a:rPr>
              <a:t> The pressure difference over outlet device (C42) between the bottom of the digester and the outlet, </a:t>
            </a:r>
            <a:r>
              <a:rPr lang="en-US" altLang="en-US" sz="1600" b="1" i="1" dirty="0">
                <a:solidFill>
                  <a:srgbClr val="FF0000"/>
                </a:solidFill>
                <a:effectLst>
                  <a:outerShdw blurRad="38100" dist="38100" dir="2700000" algn="tl">
                    <a:srgbClr val="000000"/>
                  </a:outerShdw>
                </a:effectLst>
                <a:latin typeface="Century Schoolbook" panose="02040604050505020304" pitchFamily="18" charset="0"/>
                <a:cs typeface="Arial" panose="020B0604020202020204" pitchFamily="34" charset="0"/>
              </a:rPr>
              <a:t>shown on PDIA207</a:t>
            </a:r>
            <a:r>
              <a:rPr lang="en-US" altLang="en-US" sz="1600" dirty="0">
                <a:latin typeface="Century Schoolbook" panose="02040604050505020304" pitchFamily="18" charset="0"/>
                <a:cs typeface="Arial" panose="020B0604020202020204" pitchFamily="34" charset="0"/>
              </a:rPr>
              <a:t>, is a very useful parameter when judging the discharge consistency.  </a:t>
            </a:r>
            <a:endParaRPr lang="en-US" altLang="en-US" sz="1600" i="1" dirty="0">
              <a:effectLst>
                <a:outerShdw blurRad="38100" dist="38100" dir="2700000" algn="tl">
                  <a:srgbClr val="000000"/>
                </a:outerShdw>
              </a:effectLst>
              <a:latin typeface="Century Schoolbook" panose="02040604050505020304" pitchFamily="18" charset="0"/>
              <a:cs typeface="Arial" panose="020B0604020202020204" pitchFamily="34" charset="0"/>
            </a:endParaRPr>
          </a:p>
        </p:txBody>
      </p:sp>
      <p:sp>
        <p:nvSpPr>
          <p:cNvPr id="206858" name="Text Box 10"/>
          <p:cNvSpPr txBox="1">
            <a:spLocks noChangeArrowheads="1"/>
          </p:cNvSpPr>
          <p:nvPr/>
        </p:nvSpPr>
        <p:spPr bwMode="auto">
          <a:xfrm>
            <a:off x="611188" y="200025"/>
            <a:ext cx="5145087" cy="1068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3600" b="1" dirty="0">
                <a:solidFill>
                  <a:srgbClr val="FF0000"/>
                </a:solidFill>
                <a:effectLst>
                  <a:outerShdw blurRad="38100" dist="38100" dir="2700000" algn="tl">
                    <a:srgbClr val="000000"/>
                  </a:outerShdw>
                </a:effectLst>
                <a:latin typeface="Century Schoolbook" panose="02040604050505020304" pitchFamily="18" charset="0"/>
              </a:rPr>
              <a:t>Continuous digester </a:t>
            </a:r>
          </a:p>
          <a:p>
            <a:pPr>
              <a:defRPr/>
            </a:pPr>
            <a:r>
              <a:rPr lang="en-US" altLang="en-US" sz="2800" b="1" dirty="0">
                <a:effectLst>
                  <a:outerShdw blurRad="38100" dist="38100" dir="2700000" algn="tl">
                    <a:srgbClr val="000000"/>
                  </a:outerShdw>
                </a:effectLst>
                <a:latin typeface="Century Schoolbook" panose="02040604050505020304" pitchFamily="18" charset="0"/>
              </a:rPr>
              <a:t>Outlet device (C42)</a:t>
            </a:r>
          </a:p>
        </p:txBody>
      </p:sp>
    </p:spTree>
  </p:cSld>
  <p:clrMapOvr>
    <a:masterClrMapping/>
  </p:clrMapOvr>
  <p:transition/>
  <p:timing>
    <p:tnLst>
      <p:par>
        <p:cTn id="1" dur="indefinite" restart="never" nodeType="tmRoot"/>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5938" name="Picture 4" descr="mr31^011"/>
          <p:cNvPicPr>
            <a:picLocks noGrp="1" noChangeAspect="1" noChangeArrowheads="1"/>
          </p:cNvPicPr>
          <p:nvPr>
            <p:ph/>
          </p:nvPr>
        </p:nvPicPr>
        <p:blipFill>
          <a:blip r:embed="rId2" cstate="print">
            <a:extLst>
              <a:ext uri="{28A0092B-C50C-407E-A947-70E740481C1C}">
                <a14:useLocalDpi xmlns:a14="http://schemas.microsoft.com/office/drawing/2010/main" val="0"/>
              </a:ext>
            </a:extLst>
          </a:blip>
          <a:srcRect/>
          <a:stretch>
            <a:fillRect/>
          </a:stretch>
        </p:blipFill>
        <p:spPr>
          <a:xfrm>
            <a:off x="2771775" y="4286250"/>
            <a:ext cx="2447925" cy="2298700"/>
          </a:xfrm>
          <a:noFill/>
          <a:ln w="28575">
            <a:solidFill>
              <a:schemeClr val="bg2"/>
            </a:solidFill>
            <a:miter lim="800000"/>
            <a:headEnd/>
            <a:tailEnd/>
          </a:ln>
          <a:effectLst>
            <a:outerShdw dist="35921" dir="2700000" algn="ctr" rotWithShape="0">
              <a:srgbClr val="808080"/>
            </a:outerShdw>
          </a:effectLst>
        </p:spPr>
      </p:pic>
      <p:sp>
        <p:nvSpPr>
          <p:cNvPr id="207877" name="Text Box 5"/>
          <p:cNvSpPr txBox="1">
            <a:spLocks noChangeArrowheads="1"/>
          </p:cNvSpPr>
          <p:nvPr/>
        </p:nvSpPr>
        <p:spPr bwMode="auto">
          <a:xfrm>
            <a:off x="2808288" y="1484313"/>
            <a:ext cx="6011862" cy="1465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accent1"/>
              </a:buClr>
              <a:buFont typeface="Wingdings" panose="05000000000000000000" pitchFamily="2" charset="2"/>
              <a:buChar char="l"/>
              <a:defRPr/>
            </a:pPr>
            <a:r>
              <a:rPr lang="en-US" altLang="en-US" dirty="0">
                <a:latin typeface="Century Schoolbook" panose="02040604050505020304" pitchFamily="18" charset="0"/>
                <a:cs typeface="Arial" panose="020B0604020202020204" pitchFamily="34" charset="0"/>
              </a:rPr>
              <a:t> The blow unit is equipped with blow nozzles and an agitator. </a:t>
            </a:r>
            <a:r>
              <a:rPr lang="en-US" altLang="en-US" i="1" dirty="0">
                <a:solidFill>
                  <a:srgbClr val="FF0000"/>
                </a:solidFill>
                <a:effectLst>
                  <a:outerShdw blurRad="38100" dist="38100" dir="2700000" algn="tl">
                    <a:srgbClr val="000000"/>
                  </a:outerShdw>
                </a:effectLst>
                <a:latin typeface="Century Schoolbook" panose="02040604050505020304" pitchFamily="18" charset="0"/>
                <a:cs typeface="Arial" panose="020B0604020202020204" pitchFamily="34" charset="0"/>
              </a:rPr>
              <a:t>The agitator can work as a consistency indicator as amperage of the motor varies with the consistency</a:t>
            </a:r>
            <a:r>
              <a:rPr lang="en-US" altLang="en-US" dirty="0">
                <a:latin typeface="Century Schoolbook" panose="02040604050505020304" pitchFamily="18" charset="0"/>
                <a:cs typeface="Arial" panose="020B0604020202020204" pitchFamily="34" charset="0"/>
              </a:rPr>
              <a:t>. The agitator keeps the blow nozzles clean from agglomerated chips</a:t>
            </a:r>
            <a:endParaRPr lang="en-US" altLang="en-US" i="1" dirty="0">
              <a:effectLst>
                <a:outerShdw blurRad="38100" dist="38100" dir="2700000" algn="tl">
                  <a:srgbClr val="000000"/>
                </a:outerShdw>
              </a:effectLst>
              <a:latin typeface="Century Schoolbook" panose="02040604050505020304" pitchFamily="18" charset="0"/>
              <a:cs typeface="Arial" panose="020B0604020202020204" pitchFamily="34" charset="0"/>
            </a:endParaRPr>
          </a:p>
        </p:txBody>
      </p:sp>
      <p:sp>
        <p:nvSpPr>
          <p:cNvPr id="207878" name="Text Box 6"/>
          <p:cNvSpPr txBox="1">
            <a:spLocks noChangeArrowheads="1"/>
          </p:cNvSpPr>
          <p:nvPr/>
        </p:nvSpPr>
        <p:spPr bwMode="auto">
          <a:xfrm>
            <a:off x="5508625" y="4221163"/>
            <a:ext cx="3384550" cy="2014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accent1"/>
              </a:buClr>
              <a:buFont typeface="Wingdings" panose="05000000000000000000" pitchFamily="2" charset="2"/>
              <a:buChar char="l"/>
              <a:defRPr/>
            </a:pPr>
            <a:r>
              <a:rPr lang="en-US" altLang="en-US" dirty="0">
                <a:latin typeface="Century Schoolbook" panose="02040604050505020304" pitchFamily="18" charset="0"/>
                <a:cs typeface="Arial" panose="020B0604020202020204" pitchFamily="34" charset="0"/>
              </a:rPr>
              <a:t> The pulp discharge is controlled by flow control valves </a:t>
            </a:r>
            <a:r>
              <a:rPr lang="en-US" altLang="en-US" dirty="0">
                <a:solidFill>
                  <a:srgbClr val="FF0000"/>
                </a:solidFill>
                <a:latin typeface="Century Schoolbook" panose="02040604050505020304" pitchFamily="18" charset="0"/>
                <a:cs typeface="Arial" panose="020B0604020202020204" pitchFamily="34" charset="0"/>
              </a:rPr>
              <a:t>FRC219 or FRC220</a:t>
            </a:r>
            <a:r>
              <a:rPr lang="en-US" altLang="en-US" dirty="0">
                <a:latin typeface="Century Schoolbook" panose="02040604050505020304" pitchFamily="18" charset="0"/>
                <a:cs typeface="Arial" panose="020B0604020202020204" pitchFamily="34" charset="0"/>
              </a:rPr>
              <a:t>. The parallel FRC219 and FRC220 can be flushed with high pressure liquor via valves HS222 and HO223.</a:t>
            </a:r>
            <a:endParaRPr lang="en-US" altLang="en-US" i="1" dirty="0">
              <a:effectLst>
                <a:outerShdw blurRad="38100" dist="38100" dir="2700000" algn="tl">
                  <a:srgbClr val="000000"/>
                </a:outerShdw>
              </a:effectLst>
              <a:latin typeface="Century Schoolbook" panose="02040604050505020304" pitchFamily="18" charset="0"/>
              <a:cs typeface="Arial" panose="020B0604020202020204" pitchFamily="34" charset="0"/>
            </a:endParaRPr>
          </a:p>
        </p:txBody>
      </p:sp>
      <p:sp>
        <p:nvSpPr>
          <p:cNvPr id="207879" name="Text Box 7"/>
          <p:cNvSpPr txBox="1">
            <a:spLocks noChangeArrowheads="1"/>
          </p:cNvSpPr>
          <p:nvPr/>
        </p:nvSpPr>
        <p:spPr bwMode="auto">
          <a:xfrm>
            <a:off x="611188" y="200025"/>
            <a:ext cx="5145087" cy="1068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3600" b="1" dirty="0">
                <a:solidFill>
                  <a:srgbClr val="FF0000"/>
                </a:solidFill>
                <a:effectLst>
                  <a:outerShdw blurRad="38100" dist="38100" dir="2700000" algn="tl">
                    <a:srgbClr val="000000"/>
                  </a:outerShdw>
                </a:effectLst>
                <a:latin typeface="Century Schoolbook" panose="02040604050505020304" pitchFamily="18" charset="0"/>
              </a:rPr>
              <a:t>Continuous digester </a:t>
            </a:r>
          </a:p>
          <a:p>
            <a:pPr>
              <a:defRPr/>
            </a:pPr>
            <a:r>
              <a:rPr lang="en-US" altLang="en-US" sz="2800" b="1" dirty="0">
                <a:effectLst>
                  <a:outerShdw blurRad="38100" dist="38100" dir="2700000" algn="tl">
                    <a:srgbClr val="000000"/>
                  </a:outerShdw>
                </a:effectLst>
                <a:latin typeface="Century Schoolbook" panose="02040604050505020304" pitchFamily="18" charset="0"/>
              </a:rPr>
              <a:t>Blow unit (C43)</a:t>
            </a:r>
          </a:p>
        </p:txBody>
      </p:sp>
      <p:pic>
        <p:nvPicPr>
          <p:cNvPr id="295942" name="Picture 8" descr="mr25^00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650" y="1485900"/>
            <a:ext cx="1951038" cy="511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Text Box 2"/>
          <p:cNvSpPr txBox="1">
            <a:spLocks noChangeArrowheads="1"/>
          </p:cNvSpPr>
          <p:nvPr/>
        </p:nvSpPr>
        <p:spPr bwMode="auto">
          <a:xfrm>
            <a:off x="304800" y="533400"/>
            <a:ext cx="8534400"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en-US" altLang="en-US" sz="4000" b="1" dirty="0">
                <a:solidFill>
                  <a:srgbClr val="FF0000"/>
                </a:solidFill>
                <a:cs typeface="Arial" panose="020B0604020202020204" pitchFamily="34" charset="0"/>
              </a:rPr>
              <a:t>PULP SCREENING process</a:t>
            </a:r>
            <a:endParaRPr lang="en-US" altLang="en-US" sz="4000" b="1" u="sng" dirty="0">
              <a:solidFill>
                <a:srgbClr val="FF0000"/>
              </a:solidFill>
              <a:effectLst>
                <a:outerShdw blurRad="38100" dist="38100" dir="2700000" algn="tl">
                  <a:srgbClr val="C0C0C0"/>
                </a:outerShdw>
              </a:effectLst>
              <a:cs typeface="Arial" panose="020B0604020202020204" pitchFamily="34" charset="0"/>
            </a:endParaRPr>
          </a:p>
        </p:txBody>
      </p:sp>
      <p:pic>
        <p:nvPicPr>
          <p:cNvPr id="296963" name="Picture 7" descr="Primary I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8175" y="1484313"/>
            <a:ext cx="5410200" cy="405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7986" name="Group 8"/>
          <p:cNvGrpSpPr>
            <a:grpSpLocks/>
          </p:cNvGrpSpPr>
          <p:nvPr/>
        </p:nvGrpSpPr>
        <p:grpSpPr bwMode="auto">
          <a:xfrm>
            <a:off x="76200" y="1854200"/>
            <a:ext cx="8915400" cy="3022600"/>
            <a:chOff x="-240" y="880"/>
            <a:chExt cx="6609" cy="2560"/>
          </a:xfrm>
        </p:grpSpPr>
        <p:grpSp>
          <p:nvGrpSpPr>
            <p:cNvPr id="297989" name="Group 9"/>
            <p:cNvGrpSpPr>
              <a:grpSpLocks/>
            </p:cNvGrpSpPr>
            <p:nvPr/>
          </p:nvGrpSpPr>
          <p:grpSpPr bwMode="auto">
            <a:xfrm>
              <a:off x="-240" y="880"/>
              <a:ext cx="5760" cy="2560"/>
              <a:chOff x="-240" y="880"/>
              <a:chExt cx="5760" cy="2560"/>
            </a:xfrm>
          </p:grpSpPr>
          <p:graphicFrame>
            <p:nvGraphicFramePr>
              <p:cNvPr id="297991" name="Object 10"/>
              <p:cNvGraphicFramePr>
                <a:graphicFrameLocks noChangeAspect="1"/>
              </p:cNvGraphicFramePr>
              <p:nvPr/>
            </p:nvGraphicFramePr>
            <p:xfrm>
              <a:off x="-240" y="880"/>
              <a:ext cx="3141" cy="2560"/>
            </p:xfrm>
            <a:graphic>
              <a:graphicData uri="http://schemas.openxmlformats.org/presentationml/2006/ole">
                <mc:AlternateContent xmlns:mc="http://schemas.openxmlformats.org/markup-compatibility/2006">
                  <mc:Choice xmlns:v="urn:schemas-microsoft-com:vml" Requires="v">
                    <p:oleObj spid="_x0000_s298017" name="Worksheet" r:id="rId3" imgW="11592151" imgH="9449282" progId="Excel.Sheet.8">
                      <p:embed/>
                    </p:oleObj>
                  </mc:Choice>
                  <mc:Fallback>
                    <p:oleObj name="Worksheet" r:id="rId3" imgW="11592151" imgH="9449282" progId="Excel.Sheet.8">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0" y="880"/>
                            <a:ext cx="3141" cy="2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7992" name="Object 11"/>
              <p:cNvGraphicFramePr>
                <a:graphicFrameLocks noChangeAspect="1"/>
              </p:cNvGraphicFramePr>
              <p:nvPr/>
            </p:nvGraphicFramePr>
            <p:xfrm>
              <a:off x="2901" y="880"/>
              <a:ext cx="2619" cy="2560"/>
            </p:xfrm>
            <a:graphic>
              <a:graphicData uri="http://schemas.openxmlformats.org/presentationml/2006/ole">
                <mc:AlternateContent xmlns:mc="http://schemas.openxmlformats.org/markup-compatibility/2006">
                  <mc:Choice xmlns:v="urn:schemas-microsoft-com:vml" Requires="v">
                    <p:oleObj spid="_x0000_s298018" name="Worksheet" r:id="rId5" imgW="9668372" imgH="9449282" progId="Excel.Sheet.8">
                      <p:embed/>
                    </p:oleObj>
                  </mc:Choice>
                  <mc:Fallback>
                    <p:oleObj name="Worksheet" r:id="rId5" imgW="9668372" imgH="9449282" progId="Excel.Sheet.8">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01" y="880"/>
                            <a:ext cx="2619" cy="2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297990" name="Object 12"/>
            <p:cNvGraphicFramePr>
              <a:graphicFrameLocks noChangeAspect="1"/>
            </p:cNvGraphicFramePr>
            <p:nvPr/>
          </p:nvGraphicFramePr>
          <p:xfrm>
            <a:off x="5520" y="880"/>
            <a:ext cx="849" cy="2560"/>
          </p:xfrm>
          <a:graphic>
            <a:graphicData uri="http://schemas.openxmlformats.org/presentationml/2006/ole">
              <mc:AlternateContent xmlns:mc="http://schemas.openxmlformats.org/markup-compatibility/2006">
                <mc:Choice xmlns:v="urn:schemas-microsoft-com:vml" Requires="v">
                  <p:oleObj spid="_x0000_s298019" name="Worksheet" r:id="rId7" imgW="3133951" imgH="9449282" progId="Excel.Sheet.8">
                    <p:embed/>
                  </p:oleObj>
                </mc:Choice>
                <mc:Fallback>
                  <p:oleObj name="Worksheet" r:id="rId7" imgW="3133951" imgH="9449282" progId="Excel.Sheet.8">
                    <p:embed/>
                    <p:pic>
                      <p:nvPicPr>
                        <p:cNvPr id="0"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20" y="880"/>
                          <a:ext cx="849" cy="2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391184" name="Rectangle 16"/>
          <p:cNvSpPr>
            <a:spLocks noChangeArrowheads="1"/>
          </p:cNvSpPr>
          <p:nvPr/>
        </p:nvSpPr>
        <p:spPr bwMode="auto">
          <a:xfrm>
            <a:off x="1600200" y="1752600"/>
            <a:ext cx="990600" cy="3200400"/>
          </a:xfrm>
          <a:prstGeom prst="rect">
            <a:avLst/>
          </a:prstGeom>
          <a:noFill/>
          <a:ln w="38100">
            <a:solidFill>
              <a:srgbClr val="FF0000"/>
            </a:solidFill>
            <a:miter lim="800000"/>
            <a:headEnd/>
            <a:tailEnd/>
          </a:ln>
          <a:effectLst/>
          <a:extLst>
            <a:ext uri="{909E8E84-426E-40DD-AFC4-6F175D3DCCD1}">
              <a14:hiddenFill xmlns:a14="http://schemas.microsoft.com/office/drawing/2010/main">
                <a:solidFill>
                  <a:schemeClr val="accent1">
                    <a:alpha val="50195"/>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solidFill>
                <a:srgbClr val="FF0000"/>
              </a:solidFill>
            </a:endParaRPr>
          </a:p>
        </p:txBody>
      </p:sp>
      <p:sp>
        <p:nvSpPr>
          <p:cNvPr id="12" name="Text Box 2"/>
          <p:cNvSpPr txBox="1">
            <a:spLocks noChangeArrowheads="1"/>
          </p:cNvSpPr>
          <p:nvPr/>
        </p:nvSpPr>
        <p:spPr bwMode="auto">
          <a:xfrm>
            <a:off x="304800" y="533400"/>
            <a:ext cx="8534400"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en-US" altLang="en-US" sz="4000" b="1" dirty="0">
                <a:solidFill>
                  <a:srgbClr val="FF0000"/>
                </a:solidFill>
                <a:cs typeface="Arial" panose="020B0604020202020204" pitchFamily="34" charset="0"/>
              </a:rPr>
              <a:t>PULP SCREENING process</a:t>
            </a:r>
            <a:endParaRPr lang="en-US" altLang="en-US" sz="4000" b="1" u="sng" dirty="0">
              <a:solidFill>
                <a:srgbClr val="FF0000"/>
              </a:solidFill>
              <a:effectLst>
                <a:outerShdw blurRad="38100" dist="38100" dir="2700000" algn="tl">
                  <a:srgbClr val="C0C0C0"/>
                </a:outerShdw>
              </a:effectLst>
              <a:cs typeface="Arial" panose="020B060402020202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391184"/>
                                        </p:tgtEl>
                                        <p:attrNameLst>
                                          <p:attrName>style.visibility</p:attrName>
                                        </p:attrNameLst>
                                      </p:cBhvr>
                                      <p:to>
                                        <p:strVal val="visible"/>
                                      </p:to>
                                    </p:set>
                                    <p:anim calcmode="lin" valueType="num">
                                      <p:cBhvr>
                                        <p:cTn id="7" dur="500" fill="hold"/>
                                        <p:tgtEl>
                                          <p:spTgt spid="391184"/>
                                        </p:tgtEl>
                                        <p:attrNameLst>
                                          <p:attrName>ppt_w</p:attrName>
                                        </p:attrNameLst>
                                      </p:cBhvr>
                                      <p:tavLst>
                                        <p:tav tm="0">
                                          <p:val>
                                            <p:fltVal val="0"/>
                                          </p:val>
                                        </p:tav>
                                        <p:tav tm="100000">
                                          <p:val>
                                            <p:strVal val="#ppt_w"/>
                                          </p:val>
                                        </p:tav>
                                      </p:tavLst>
                                    </p:anim>
                                    <p:anim calcmode="lin" valueType="num">
                                      <p:cBhvr>
                                        <p:cTn id="8" dur="500" fill="hold"/>
                                        <p:tgtEl>
                                          <p:spTgt spid="39118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1184" grpId="0" animBg="1"/>
    </p:bldLst>
  </p:timing>
</p:sld>
</file>

<file path=ppt/slides/slide1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99010" name="Picture 2" descr="jn17-00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0" y="1268413"/>
            <a:ext cx="7129463" cy="503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4435" name="Text Box 3"/>
          <p:cNvSpPr txBox="1">
            <a:spLocks noChangeArrowheads="1"/>
          </p:cNvSpPr>
          <p:nvPr/>
        </p:nvSpPr>
        <p:spPr bwMode="auto">
          <a:xfrm>
            <a:off x="971550" y="476250"/>
            <a:ext cx="7620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400">
                <a:solidFill>
                  <a:schemeClr val="tx1"/>
                </a:solidFill>
                <a:latin typeface="Times New Roman" panose="02020603050405020304" pitchFamily="18" charset="0"/>
                <a:cs typeface="Angsana New" panose="02020603050405020304" pitchFamily="18" charset="-34"/>
              </a:defRPr>
            </a:lvl1pPr>
            <a:lvl2pPr marL="914400" indent="-457200">
              <a:defRPr sz="2400">
                <a:solidFill>
                  <a:schemeClr val="tx1"/>
                </a:solidFill>
                <a:latin typeface="Times New Roman" panose="02020603050405020304" pitchFamily="18" charset="0"/>
                <a:cs typeface="Angsana New" panose="02020603050405020304" pitchFamily="18" charset="-34"/>
              </a:defRPr>
            </a:lvl2pPr>
            <a:lvl3pPr marL="1371600" indent="-457200">
              <a:defRPr sz="2400">
                <a:solidFill>
                  <a:schemeClr val="tx1"/>
                </a:solidFill>
                <a:latin typeface="Times New Roman" panose="02020603050405020304" pitchFamily="18" charset="0"/>
                <a:cs typeface="Angsana New" panose="02020603050405020304" pitchFamily="18" charset="-34"/>
              </a:defRPr>
            </a:lvl3pPr>
            <a:lvl4pPr marL="1828800" indent="-457200">
              <a:defRPr sz="2400">
                <a:solidFill>
                  <a:schemeClr val="tx1"/>
                </a:solidFill>
                <a:latin typeface="Times New Roman" panose="02020603050405020304" pitchFamily="18" charset="0"/>
                <a:cs typeface="Angsana New" panose="02020603050405020304" pitchFamily="18" charset="-34"/>
              </a:defRPr>
            </a:lvl4pPr>
            <a:lvl5pPr marL="2286000" indent="-457200">
              <a:defRPr sz="2400">
                <a:solidFill>
                  <a:schemeClr val="tx1"/>
                </a:solidFill>
                <a:latin typeface="Times New Roman" panose="02020603050405020304" pitchFamily="18" charset="0"/>
                <a:cs typeface="Angsana New" panose="02020603050405020304" pitchFamily="18" charset="-34"/>
              </a:defRPr>
            </a:lvl5pPr>
            <a:lvl6pPr marL="2743200" indent="-457200" fontAlgn="base">
              <a:spcBef>
                <a:spcPct val="0"/>
              </a:spcBef>
              <a:spcAft>
                <a:spcPct val="0"/>
              </a:spcAft>
              <a:defRPr sz="2400">
                <a:solidFill>
                  <a:schemeClr val="tx1"/>
                </a:solidFill>
                <a:latin typeface="Times New Roman" panose="02020603050405020304" pitchFamily="18" charset="0"/>
                <a:cs typeface="Angsana New" panose="02020603050405020304" pitchFamily="18" charset="-34"/>
              </a:defRPr>
            </a:lvl6pPr>
            <a:lvl7pPr marL="3200400" indent="-457200" fontAlgn="base">
              <a:spcBef>
                <a:spcPct val="0"/>
              </a:spcBef>
              <a:spcAft>
                <a:spcPct val="0"/>
              </a:spcAft>
              <a:defRPr sz="2400">
                <a:solidFill>
                  <a:schemeClr val="tx1"/>
                </a:solidFill>
                <a:latin typeface="Times New Roman" panose="02020603050405020304" pitchFamily="18" charset="0"/>
                <a:cs typeface="Angsana New" panose="02020603050405020304" pitchFamily="18" charset="-34"/>
              </a:defRPr>
            </a:lvl7pPr>
            <a:lvl8pPr marL="3657600" indent="-457200" fontAlgn="base">
              <a:spcBef>
                <a:spcPct val="0"/>
              </a:spcBef>
              <a:spcAft>
                <a:spcPct val="0"/>
              </a:spcAft>
              <a:defRPr sz="2400">
                <a:solidFill>
                  <a:schemeClr val="tx1"/>
                </a:solidFill>
                <a:latin typeface="Times New Roman" panose="02020603050405020304" pitchFamily="18" charset="0"/>
                <a:cs typeface="Angsana New" panose="02020603050405020304" pitchFamily="18" charset="-34"/>
              </a:defRPr>
            </a:lvl8pPr>
            <a:lvl9pPr marL="4114800" indent="-457200" fontAlgn="base">
              <a:spcBef>
                <a:spcPct val="0"/>
              </a:spcBef>
              <a:spcAft>
                <a:spcPct val="0"/>
              </a:spcAft>
              <a:defRPr sz="2400">
                <a:solidFill>
                  <a:schemeClr val="tx1"/>
                </a:solidFill>
                <a:latin typeface="Times New Roman" panose="02020603050405020304" pitchFamily="18" charset="0"/>
                <a:cs typeface="Angsana New" panose="02020603050405020304" pitchFamily="18" charset="-34"/>
              </a:defRPr>
            </a:lvl9pPr>
          </a:lstStyle>
          <a:p>
            <a:pPr>
              <a:defRPr/>
            </a:pPr>
            <a:r>
              <a:rPr lang="en-US" altLang="en-US" sz="3600" b="1" dirty="0" smtClean="0">
                <a:solidFill>
                  <a:srgbClr val="FF0000"/>
                </a:solidFill>
                <a:effectLst>
                  <a:outerShdw blurRad="38100" dist="38100" dir="2700000" algn="tl">
                    <a:srgbClr val="C0C0C0"/>
                  </a:outerShdw>
                </a:effectLst>
                <a:latin typeface="Arial" panose="020B0604020202020204" pitchFamily="34" charset="0"/>
                <a:cs typeface="Arial" panose="020B0604020202020204" pitchFamily="34" charset="0"/>
              </a:rPr>
              <a:t>Screening Control</a:t>
            </a:r>
            <a:endParaRPr lang="en-US" altLang="en-US" sz="1700" dirty="0" smtClean="0">
              <a:solidFill>
                <a:srgbClr val="FF0000"/>
              </a:solidFill>
              <a:latin typeface="Arial" panose="020B0604020202020204" pitchFamily="34" charset="0"/>
              <a:cs typeface="Arial" panose="020B0604020202020204" pitchFamily="34" charset="0"/>
            </a:endParaRPr>
          </a:p>
        </p:txBody>
      </p:sp>
    </p:spTree>
  </p:cSld>
  <p:clrMapOvr>
    <a:masterClrMapping/>
  </p:clrMapOvr>
  <p:transition spd="slow"/>
  <p:timing>
    <p:tnLst>
      <p:par>
        <p:cTn id="1" dur="indefinite" restart="never" nodeType="tmRoot"/>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0034" name="Picture 2" descr="jn17-00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8175" y="1052513"/>
            <a:ext cx="5119688" cy="5281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5459" name="Text Box 3"/>
          <p:cNvSpPr txBox="1">
            <a:spLocks noChangeArrowheads="1"/>
          </p:cNvSpPr>
          <p:nvPr/>
        </p:nvSpPr>
        <p:spPr bwMode="auto">
          <a:xfrm>
            <a:off x="827088" y="404813"/>
            <a:ext cx="78486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400">
                <a:solidFill>
                  <a:schemeClr val="tx1"/>
                </a:solidFill>
                <a:latin typeface="Times New Roman" panose="02020603050405020304" pitchFamily="18" charset="0"/>
                <a:cs typeface="Angsana New" panose="02020603050405020304" pitchFamily="18" charset="-34"/>
              </a:defRPr>
            </a:lvl1pPr>
            <a:lvl2pPr marL="914400" indent="-457200">
              <a:defRPr sz="2400">
                <a:solidFill>
                  <a:schemeClr val="tx1"/>
                </a:solidFill>
                <a:latin typeface="Times New Roman" panose="02020603050405020304" pitchFamily="18" charset="0"/>
                <a:cs typeface="Angsana New" panose="02020603050405020304" pitchFamily="18" charset="-34"/>
              </a:defRPr>
            </a:lvl2pPr>
            <a:lvl3pPr marL="1371600" indent="-457200">
              <a:defRPr sz="2400">
                <a:solidFill>
                  <a:schemeClr val="tx1"/>
                </a:solidFill>
                <a:latin typeface="Times New Roman" panose="02020603050405020304" pitchFamily="18" charset="0"/>
                <a:cs typeface="Angsana New" panose="02020603050405020304" pitchFamily="18" charset="-34"/>
              </a:defRPr>
            </a:lvl3pPr>
            <a:lvl4pPr marL="1828800" indent="-457200">
              <a:defRPr sz="2400">
                <a:solidFill>
                  <a:schemeClr val="tx1"/>
                </a:solidFill>
                <a:latin typeface="Times New Roman" panose="02020603050405020304" pitchFamily="18" charset="0"/>
                <a:cs typeface="Angsana New" panose="02020603050405020304" pitchFamily="18" charset="-34"/>
              </a:defRPr>
            </a:lvl4pPr>
            <a:lvl5pPr marL="2286000" indent="-457200">
              <a:defRPr sz="2400">
                <a:solidFill>
                  <a:schemeClr val="tx1"/>
                </a:solidFill>
                <a:latin typeface="Times New Roman" panose="02020603050405020304" pitchFamily="18" charset="0"/>
                <a:cs typeface="Angsana New" panose="02020603050405020304" pitchFamily="18" charset="-34"/>
              </a:defRPr>
            </a:lvl5pPr>
            <a:lvl6pPr marL="2743200" indent="-457200" fontAlgn="base">
              <a:spcBef>
                <a:spcPct val="0"/>
              </a:spcBef>
              <a:spcAft>
                <a:spcPct val="0"/>
              </a:spcAft>
              <a:defRPr sz="2400">
                <a:solidFill>
                  <a:schemeClr val="tx1"/>
                </a:solidFill>
                <a:latin typeface="Times New Roman" panose="02020603050405020304" pitchFamily="18" charset="0"/>
                <a:cs typeface="Angsana New" panose="02020603050405020304" pitchFamily="18" charset="-34"/>
              </a:defRPr>
            </a:lvl6pPr>
            <a:lvl7pPr marL="3200400" indent="-457200" fontAlgn="base">
              <a:spcBef>
                <a:spcPct val="0"/>
              </a:spcBef>
              <a:spcAft>
                <a:spcPct val="0"/>
              </a:spcAft>
              <a:defRPr sz="2400">
                <a:solidFill>
                  <a:schemeClr val="tx1"/>
                </a:solidFill>
                <a:latin typeface="Times New Roman" panose="02020603050405020304" pitchFamily="18" charset="0"/>
                <a:cs typeface="Angsana New" panose="02020603050405020304" pitchFamily="18" charset="-34"/>
              </a:defRPr>
            </a:lvl7pPr>
            <a:lvl8pPr marL="3657600" indent="-457200" fontAlgn="base">
              <a:spcBef>
                <a:spcPct val="0"/>
              </a:spcBef>
              <a:spcAft>
                <a:spcPct val="0"/>
              </a:spcAft>
              <a:defRPr sz="2400">
                <a:solidFill>
                  <a:schemeClr val="tx1"/>
                </a:solidFill>
                <a:latin typeface="Times New Roman" panose="02020603050405020304" pitchFamily="18" charset="0"/>
                <a:cs typeface="Angsana New" panose="02020603050405020304" pitchFamily="18" charset="-34"/>
              </a:defRPr>
            </a:lvl8pPr>
            <a:lvl9pPr marL="4114800" indent="-457200" fontAlgn="base">
              <a:spcBef>
                <a:spcPct val="0"/>
              </a:spcBef>
              <a:spcAft>
                <a:spcPct val="0"/>
              </a:spcAft>
              <a:defRPr sz="2400">
                <a:solidFill>
                  <a:schemeClr val="tx1"/>
                </a:solidFill>
                <a:latin typeface="Times New Roman" panose="02020603050405020304" pitchFamily="18" charset="0"/>
                <a:cs typeface="Angsana New" panose="02020603050405020304" pitchFamily="18" charset="-34"/>
              </a:defRPr>
            </a:lvl9pPr>
          </a:lstStyle>
          <a:p>
            <a:pPr>
              <a:defRPr/>
            </a:pPr>
            <a:r>
              <a:rPr lang="en-US" altLang="en-US" sz="2800" b="1" dirty="0" smtClean="0">
                <a:solidFill>
                  <a:srgbClr val="FF0000"/>
                </a:solidFill>
                <a:effectLst>
                  <a:outerShdw blurRad="38100" dist="38100" dir="2700000" algn="tl">
                    <a:srgbClr val="C0C0C0"/>
                  </a:outerShdw>
                </a:effectLst>
                <a:latin typeface="Arial" panose="020B0604020202020204" pitchFamily="34" charset="0"/>
                <a:cs typeface="Arial" panose="020B0604020202020204" pitchFamily="34" charset="0"/>
              </a:rPr>
              <a:t>Effect of reject rate on screening Efficiency</a:t>
            </a:r>
            <a:endParaRPr lang="en-US" altLang="en-US" sz="1300" dirty="0" smtClean="0">
              <a:solidFill>
                <a:srgbClr val="FF0000"/>
              </a:solidFill>
              <a:latin typeface="Arial" panose="020B0604020202020204" pitchFamily="34" charset="0"/>
              <a:cs typeface="Arial" panose="020B0604020202020204" pitchFamily="34" charset="0"/>
            </a:endParaRPr>
          </a:p>
        </p:txBody>
      </p:sp>
    </p:spTree>
  </p:cSld>
  <p:clrMapOvr>
    <a:masterClrMapping/>
  </p:clrMapOvr>
  <p:transition spd="slow"/>
  <p:timing>
    <p:tnLst>
      <p:par>
        <p:cTn id="1" dur="indefinite" restart="never" nodeType="tmRoot"/>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Text Box 2"/>
          <p:cNvSpPr txBox="1">
            <a:spLocks noChangeArrowheads="1"/>
          </p:cNvSpPr>
          <p:nvPr/>
        </p:nvSpPr>
        <p:spPr bwMode="auto">
          <a:xfrm>
            <a:off x="1308100" y="922338"/>
            <a:ext cx="6092825" cy="392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4400" b="1" dirty="0">
                <a:solidFill>
                  <a:srgbClr val="FF0000"/>
                </a:solidFill>
                <a:effectLst>
                  <a:outerShdw blurRad="38100" dist="38100" dir="2700000" algn="tl">
                    <a:srgbClr val="C0C0C0"/>
                  </a:outerShdw>
                </a:effectLst>
                <a:latin typeface="Times New Roman" panose="02020603050405020304" pitchFamily="18" charset="0"/>
              </a:rPr>
              <a:t>Screen Plate Parameters</a:t>
            </a:r>
          </a:p>
          <a:p>
            <a:pPr>
              <a:defRPr/>
            </a:pPr>
            <a:endParaRPr lang="en-US" altLang="en-US" sz="3000" b="1" dirty="0">
              <a:solidFill>
                <a:schemeClr val="bg1"/>
              </a:solidFill>
              <a:effectLst>
                <a:outerShdw blurRad="38100" dist="38100" dir="2700000" algn="tl">
                  <a:srgbClr val="C0C0C0"/>
                </a:outerShdw>
              </a:effectLst>
              <a:latin typeface="Times New Roman" panose="02020603050405020304" pitchFamily="18" charset="0"/>
            </a:endParaRPr>
          </a:p>
          <a:p>
            <a:pPr>
              <a:defRPr/>
            </a:pPr>
            <a:r>
              <a:rPr lang="en-US" altLang="en-US" dirty="0">
                <a:solidFill>
                  <a:schemeClr val="bg1"/>
                </a:solidFill>
                <a:effectLst>
                  <a:outerShdw blurRad="38100" dist="38100" dir="2700000" algn="tl">
                    <a:srgbClr val="C0C0C0"/>
                  </a:outerShdw>
                </a:effectLst>
                <a:latin typeface="Times New Roman" panose="02020603050405020304" pitchFamily="18" charset="0"/>
              </a:rPr>
              <a:t>           </a:t>
            </a:r>
            <a:r>
              <a:rPr lang="en-US" altLang="en-US" sz="3500" dirty="0">
                <a:solidFill>
                  <a:srgbClr val="0000CC"/>
                </a:solidFill>
                <a:effectLst>
                  <a:outerShdw blurRad="38100" dist="38100" dir="2700000" algn="tl">
                    <a:srgbClr val="C0C0C0"/>
                  </a:outerShdw>
                </a:effectLst>
              </a:rPr>
              <a:t>Screen Size         </a:t>
            </a:r>
          </a:p>
          <a:p>
            <a:pPr>
              <a:defRPr/>
            </a:pPr>
            <a:r>
              <a:rPr lang="en-US" altLang="en-US" sz="3500" dirty="0">
                <a:solidFill>
                  <a:srgbClr val="0000CC"/>
                </a:solidFill>
                <a:effectLst>
                  <a:outerShdw blurRad="38100" dist="38100" dir="2700000" algn="tl">
                    <a:srgbClr val="C0C0C0"/>
                  </a:outerShdw>
                </a:effectLst>
              </a:rPr>
              <a:t>       Screen Pattern – Slot / Hole</a:t>
            </a:r>
          </a:p>
          <a:p>
            <a:pPr>
              <a:defRPr/>
            </a:pPr>
            <a:r>
              <a:rPr lang="en-US" altLang="en-US" sz="3500" dirty="0">
                <a:solidFill>
                  <a:srgbClr val="0000CC"/>
                </a:solidFill>
                <a:effectLst>
                  <a:outerShdw blurRad="38100" dist="38100" dir="2700000" algn="tl">
                    <a:srgbClr val="C0C0C0"/>
                  </a:outerShdw>
                </a:effectLst>
              </a:rPr>
              <a:t>       Slot / Hole Size</a:t>
            </a:r>
          </a:p>
          <a:p>
            <a:pPr>
              <a:defRPr/>
            </a:pPr>
            <a:r>
              <a:rPr lang="en-US" altLang="en-US" sz="3500" dirty="0">
                <a:solidFill>
                  <a:srgbClr val="0000CC"/>
                </a:solidFill>
                <a:effectLst>
                  <a:outerShdw blurRad="38100" dist="38100" dir="2700000" algn="tl">
                    <a:srgbClr val="C0C0C0"/>
                  </a:outerShdw>
                </a:effectLst>
              </a:rPr>
              <a:t>       Opening area , %</a:t>
            </a:r>
          </a:p>
          <a:p>
            <a:pPr>
              <a:defRPr/>
            </a:pPr>
            <a:r>
              <a:rPr lang="en-US" altLang="en-US" sz="3500" dirty="0">
                <a:solidFill>
                  <a:srgbClr val="0000CC"/>
                </a:solidFill>
                <a:effectLst>
                  <a:outerShdw blurRad="38100" dist="38100" dir="2700000" algn="tl">
                    <a:srgbClr val="C0C0C0"/>
                  </a:outerShdw>
                </a:effectLst>
              </a:rPr>
              <a:t>       Profile</a:t>
            </a:r>
            <a:endParaRPr lang="th-TH" altLang="en-US" sz="3500" dirty="0">
              <a:solidFill>
                <a:srgbClr val="0000CC"/>
              </a:solidFill>
              <a:effectLst>
                <a:outerShdw blurRad="38100" dist="38100" dir="2700000" algn="tl">
                  <a:srgbClr val="C0C0C0"/>
                </a:outerShdw>
              </a:effectLst>
            </a:endParaRPr>
          </a:p>
        </p:txBody>
      </p:sp>
      <p:grpSp>
        <p:nvGrpSpPr>
          <p:cNvPr id="301059" name="Group 3"/>
          <p:cNvGrpSpPr>
            <a:grpSpLocks/>
          </p:cNvGrpSpPr>
          <p:nvPr/>
        </p:nvGrpSpPr>
        <p:grpSpPr bwMode="auto">
          <a:xfrm>
            <a:off x="1619250" y="2205038"/>
            <a:ext cx="304800" cy="2438400"/>
            <a:chOff x="1200" y="1584"/>
            <a:chExt cx="192" cy="1536"/>
          </a:xfrm>
        </p:grpSpPr>
        <p:sp>
          <p:nvSpPr>
            <p:cNvPr id="276484" name="AutoShape 4"/>
            <p:cNvSpPr>
              <a:spLocks noChangeArrowheads="1"/>
            </p:cNvSpPr>
            <p:nvPr/>
          </p:nvSpPr>
          <p:spPr bwMode="auto">
            <a:xfrm>
              <a:off x="1200" y="1584"/>
              <a:ext cx="192" cy="192"/>
            </a:xfrm>
            <a:prstGeom prst="star5">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276485" name="AutoShape 5"/>
            <p:cNvSpPr>
              <a:spLocks noChangeArrowheads="1"/>
            </p:cNvSpPr>
            <p:nvPr/>
          </p:nvSpPr>
          <p:spPr bwMode="auto">
            <a:xfrm>
              <a:off x="1200" y="1920"/>
              <a:ext cx="192" cy="192"/>
            </a:xfrm>
            <a:prstGeom prst="star5">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276486" name="AutoShape 6"/>
            <p:cNvSpPr>
              <a:spLocks noChangeArrowheads="1"/>
            </p:cNvSpPr>
            <p:nvPr/>
          </p:nvSpPr>
          <p:spPr bwMode="auto">
            <a:xfrm>
              <a:off x="1200" y="2256"/>
              <a:ext cx="192" cy="192"/>
            </a:xfrm>
            <a:prstGeom prst="star5">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276487" name="AutoShape 7"/>
            <p:cNvSpPr>
              <a:spLocks noChangeArrowheads="1"/>
            </p:cNvSpPr>
            <p:nvPr/>
          </p:nvSpPr>
          <p:spPr bwMode="auto">
            <a:xfrm>
              <a:off x="1200" y="2592"/>
              <a:ext cx="192" cy="192"/>
            </a:xfrm>
            <a:prstGeom prst="star5">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276488" name="AutoShape 8"/>
            <p:cNvSpPr>
              <a:spLocks noChangeArrowheads="1"/>
            </p:cNvSpPr>
            <p:nvPr/>
          </p:nvSpPr>
          <p:spPr bwMode="auto">
            <a:xfrm>
              <a:off x="1200" y="2928"/>
              <a:ext cx="192" cy="192"/>
            </a:xfrm>
            <a:prstGeom prst="star5">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grpSp>
    </p:spTree>
  </p:cSld>
  <p:clrMapOvr>
    <a:masterClrMapping/>
  </p:clrMapOvr>
  <p:transition spd="slow"/>
  <p:timing>
    <p:tnLst>
      <p:par>
        <p:cTn id="1" dur="indefinite" restart="never" nodeType="tmRoot"/>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2" name="Text Box 2"/>
          <p:cNvSpPr>
            <a:spLocks noGrp="1" noChangeArrowheads="1"/>
          </p:cNvSpPr>
          <p:nvPr>
            <p:ph type="title"/>
          </p:nvPr>
        </p:nvSpPr>
        <p:spPr>
          <a:xfrm>
            <a:off x="684213" y="260350"/>
            <a:ext cx="7772400" cy="1143000"/>
          </a:xfrm>
          <a:noFill/>
        </p:spPr>
        <p:txBody>
          <a:bodyPr/>
          <a:lstStyle/>
          <a:p>
            <a:pPr marL="457200" indent="-457200" algn="l"/>
            <a:r>
              <a:rPr lang="en-US" altLang="en-US" sz="3600" b="1" smtClean="0">
                <a:solidFill>
                  <a:srgbClr val="FF0000"/>
                </a:solidFill>
              </a:rPr>
              <a:t>Screen plate pattern designs</a:t>
            </a:r>
            <a:r>
              <a:rPr lang="en-US" altLang="en-US" sz="3600" b="1" smtClean="0">
                <a:solidFill>
                  <a:schemeClr val="bg1"/>
                </a:solidFill>
              </a:rPr>
              <a:t/>
            </a:r>
            <a:br>
              <a:rPr lang="en-US" altLang="en-US" sz="3600" b="1" smtClean="0">
                <a:solidFill>
                  <a:schemeClr val="bg1"/>
                </a:solidFill>
              </a:rPr>
            </a:br>
            <a:r>
              <a:rPr lang="en-US" altLang="en-US" sz="2800" b="1" smtClean="0">
                <a:solidFill>
                  <a:schemeClr val="hlink"/>
                </a:solidFill>
              </a:rPr>
              <a:t>Hole / Slot / Bar    Profile</a:t>
            </a:r>
          </a:p>
        </p:txBody>
      </p:sp>
      <p:pic>
        <p:nvPicPr>
          <p:cNvPr id="302083" name="Picture 3" descr="jn30-001"/>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684213" y="1484313"/>
            <a:ext cx="3743325" cy="4824412"/>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02084" name="Picture 4" descr="jn30-002"/>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4500563" y="1484313"/>
            <a:ext cx="3844925" cy="4824412"/>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timing>
    <p:tnLst>
      <p:par>
        <p:cTn id="1" dur="indefinite" restart="never" nodeType="tmRoot"/>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3106" name="Picture 2" descr="jn17-00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088" y="1125538"/>
            <a:ext cx="3635375" cy="525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2435" name="Text Box 3"/>
          <p:cNvSpPr txBox="1">
            <a:spLocks noChangeArrowheads="1"/>
          </p:cNvSpPr>
          <p:nvPr/>
        </p:nvSpPr>
        <p:spPr bwMode="auto">
          <a:xfrm>
            <a:off x="827088" y="404813"/>
            <a:ext cx="78486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400">
                <a:solidFill>
                  <a:schemeClr val="tx1"/>
                </a:solidFill>
                <a:latin typeface="Times New Roman" panose="02020603050405020304" pitchFamily="18" charset="0"/>
                <a:cs typeface="Angsana New" panose="02020603050405020304" pitchFamily="18" charset="-34"/>
              </a:defRPr>
            </a:lvl1pPr>
            <a:lvl2pPr marL="914400" indent="-457200">
              <a:defRPr sz="2400">
                <a:solidFill>
                  <a:schemeClr val="tx1"/>
                </a:solidFill>
                <a:latin typeface="Times New Roman" panose="02020603050405020304" pitchFamily="18" charset="0"/>
                <a:cs typeface="Angsana New" panose="02020603050405020304" pitchFamily="18" charset="-34"/>
              </a:defRPr>
            </a:lvl2pPr>
            <a:lvl3pPr marL="1371600" indent="-457200">
              <a:defRPr sz="2400">
                <a:solidFill>
                  <a:schemeClr val="tx1"/>
                </a:solidFill>
                <a:latin typeface="Times New Roman" panose="02020603050405020304" pitchFamily="18" charset="0"/>
                <a:cs typeface="Angsana New" panose="02020603050405020304" pitchFamily="18" charset="-34"/>
              </a:defRPr>
            </a:lvl3pPr>
            <a:lvl4pPr marL="1828800" indent="-457200">
              <a:defRPr sz="2400">
                <a:solidFill>
                  <a:schemeClr val="tx1"/>
                </a:solidFill>
                <a:latin typeface="Times New Roman" panose="02020603050405020304" pitchFamily="18" charset="0"/>
                <a:cs typeface="Angsana New" panose="02020603050405020304" pitchFamily="18" charset="-34"/>
              </a:defRPr>
            </a:lvl4pPr>
            <a:lvl5pPr marL="2286000" indent="-457200">
              <a:defRPr sz="2400">
                <a:solidFill>
                  <a:schemeClr val="tx1"/>
                </a:solidFill>
                <a:latin typeface="Times New Roman" panose="02020603050405020304" pitchFamily="18" charset="0"/>
                <a:cs typeface="Angsana New" panose="02020603050405020304" pitchFamily="18" charset="-34"/>
              </a:defRPr>
            </a:lvl5pPr>
            <a:lvl6pPr marL="2743200" indent="-457200" fontAlgn="base">
              <a:spcBef>
                <a:spcPct val="0"/>
              </a:spcBef>
              <a:spcAft>
                <a:spcPct val="0"/>
              </a:spcAft>
              <a:defRPr sz="2400">
                <a:solidFill>
                  <a:schemeClr val="tx1"/>
                </a:solidFill>
                <a:latin typeface="Times New Roman" panose="02020603050405020304" pitchFamily="18" charset="0"/>
                <a:cs typeface="Angsana New" panose="02020603050405020304" pitchFamily="18" charset="-34"/>
              </a:defRPr>
            </a:lvl6pPr>
            <a:lvl7pPr marL="3200400" indent="-457200" fontAlgn="base">
              <a:spcBef>
                <a:spcPct val="0"/>
              </a:spcBef>
              <a:spcAft>
                <a:spcPct val="0"/>
              </a:spcAft>
              <a:defRPr sz="2400">
                <a:solidFill>
                  <a:schemeClr val="tx1"/>
                </a:solidFill>
                <a:latin typeface="Times New Roman" panose="02020603050405020304" pitchFamily="18" charset="0"/>
                <a:cs typeface="Angsana New" panose="02020603050405020304" pitchFamily="18" charset="-34"/>
              </a:defRPr>
            </a:lvl7pPr>
            <a:lvl8pPr marL="3657600" indent="-457200" fontAlgn="base">
              <a:spcBef>
                <a:spcPct val="0"/>
              </a:spcBef>
              <a:spcAft>
                <a:spcPct val="0"/>
              </a:spcAft>
              <a:defRPr sz="2400">
                <a:solidFill>
                  <a:schemeClr val="tx1"/>
                </a:solidFill>
                <a:latin typeface="Times New Roman" panose="02020603050405020304" pitchFamily="18" charset="0"/>
                <a:cs typeface="Angsana New" panose="02020603050405020304" pitchFamily="18" charset="-34"/>
              </a:defRPr>
            </a:lvl8pPr>
            <a:lvl9pPr marL="4114800" indent="-457200" fontAlgn="base">
              <a:spcBef>
                <a:spcPct val="0"/>
              </a:spcBef>
              <a:spcAft>
                <a:spcPct val="0"/>
              </a:spcAft>
              <a:defRPr sz="2400">
                <a:solidFill>
                  <a:schemeClr val="tx1"/>
                </a:solidFill>
                <a:latin typeface="Times New Roman" panose="02020603050405020304" pitchFamily="18" charset="0"/>
                <a:cs typeface="Angsana New" panose="02020603050405020304" pitchFamily="18" charset="-34"/>
              </a:defRPr>
            </a:lvl9pPr>
          </a:lstStyle>
          <a:p>
            <a:pPr>
              <a:defRPr/>
            </a:pPr>
            <a:r>
              <a:rPr lang="en-US" altLang="en-US" sz="2800" b="1" dirty="0" smtClean="0">
                <a:solidFill>
                  <a:srgbClr val="FF0000"/>
                </a:solidFill>
                <a:effectLst>
                  <a:outerShdw blurRad="38100" dist="38100" dir="2700000" algn="tl">
                    <a:srgbClr val="C0C0C0"/>
                  </a:outerShdw>
                </a:effectLst>
                <a:latin typeface="Arial" panose="020B0604020202020204" pitchFamily="34" charset="0"/>
                <a:cs typeface="Arial" panose="020B0604020202020204" pitchFamily="34" charset="0"/>
              </a:rPr>
              <a:t>Screen plate pattern designs</a:t>
            </a:r>
            <a:endParaRPr lang="en-US" altLang="en-US" sz="1300" dirty="0" smtClean="0">
              <a:solidFill>
                <a:srgbClr val="FF0000"/>
              </a:solidFill>
              <a:latin typeface="Arial" panose="020B0604020202020204" pitchFamily="34" charset="0"/>
              <a:cs typeface="Arial" panose="020B0604020202020204" pitchFamily="34" charset="0"/>
            </a:endParaRPr>
          </a:p>
        </p:txBody>
      </p:sp>
      <p:pic>
        <p:nvPicPr>
          <p:cNvPr id="303108" name="Picture 4" descr="jn17-00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1125538"/>
            <a:ext cx="3960813" cy="525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par>
    </p:tn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458" name="Text Box 2"/>
          <p:cNvSpPr txBox="1">
            <a:spLocks noChangeArrowheads="1"/>
          </p:cNvSpPr>
          <p:nvPr/>
        </p:nvSpPr>
        <p:spPr bwMode="auto">
          <a:xfrm>
            <a:off x="533400" y="533400"/>
            <a:ext cx="79248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400">
                <a:solidFill>
                  <a:schemeClr val="tx1"/>
                </a:solidFill>
                <a:latin typeface="Times New Roman" panose="02020603050405020304" pitchFamily="18" charset="0"/>
                <a:cs typeface="Angsana New" panose="02020603050405020304" pitchFamily="18" charset="-34"/>
              </a:defRPr>
            </a:lvl1pPr>
            <a:lvl2pPr marL="914400" indent="-457200">
              <a:defRPr sz="2400">
                <a:solidFill>
                  <a:schemeClr val="tx1"/>
                </a:solidFill>
                <a:latin typeface="Times New Roman" panose="02020603050405020304" pitchFamily="18" charset="0"/>
                <a:cs typeface="Angsana New" panose="02020603050405020304" pitchFamily="18" charset="-34"/>
              </a:defRPr>
            </a:lvl2pPr>
            <a:lvl3pPr marL="1371600" indent="-457200">
              <a:defRPr sz="2400">
                <a:solidFill>
                  <a:schemeClr val="tx1"/>
                </a:solidFill>
                <a:latin typeface="Times New Roman" panose="02020603050405020304" pitchFamily="18" charset="0"/>
                <a:cs typeface="Angsana New" panose="02020603050405020304" pitchFamily="18" charset="-34"/>
              </a:defRPr>
            </a:lvl3pPr>
            <a:lvl4pPr marL="1828800" indent="-457200">
              <a:defRPr sz="2400">
                <a:solidFill>
                  <a:schemeClr val="tx1"/>
                </a:solidFill>
                <a:latin typeface="Times New Roman" panose="02020603050405020304" pitchFamily="18" charset="0"/>
                <a:cs typeface="Angsana New" panose="02020603050405020304" pitchFamily="18" charset="-34"/>
              </a:defRPr>
            </a:lvl4pPr>
            <a:lvl5pPr marL="2286000" indent="-457200">
              <a:defRPr sz="2400">
                <a:solidFill>
                  <a:schemeClr val="tx1"/>
                </a:solidFill>
                <a:latin typeface="Times New Roman" panose="02020603050405020304" pitchFamily="18" charset="0"/>
                <a:cs typeface="Angsana New" panose="02020603050405020304" pitchFamily="18" charset="-34"/>
              </a:defRPr>
            </a:lvl5pPr>
            <a:lvl6pPr marL="2743200" indent="-457200" fontAlgn="base">
              <a:spcBef>
                <a:spcPct val="0"/>
              </a:spcBef>
              <a:spcAft>
                <a:spcPct val="0"/>
              </a:spcAft>
              <a:defRPr sz="2400">
                <a:solidFill>
                  <a:schemeClr val="tx1"/>
                </a:solidFill>
                <a:latin typeface="Times New Roman" panose="02020603050405020304" pitchFamily="18" charset="0"/>
                <a:cs typeface="Angsana New" panose="02020603050405020304" pitchFamily="18" charset="-34"/>
              </a:defRPr>
            </a:lvl6pPr>
            <a:lvl7pPr marL="3200400" indent="-457200" fontAlgn="base">
              <a:spcBef>
                <a:spcPct val="0"/>
              </a:spcBef>
              <a:spcAft>
                <a:spcPct val="0"/>
              </a:spcAft>
              <a:defRPr sz="2400">
                <a:solidFill>
                  <a:schemeClr val="tx1"/>
                </a:solidFill>
                <a:latin typeface="Times New Roman" panose="02020603050405020304" pitchFamily="18" charset="0"/>
                <a:cs typeface="Angsana New" panose="02020603050405020304" pitchFamily="18" charset="-34"/>
              </a:defRPr>
            </a:lvl7pPr>
            <a:lvl8pPr marL="3657600" indent="-457200" fontAlgn="base">
              <a:spcBef>
                <a:spcPct val="0"/>
              </a:spcBef>
              <a:spcAft>
                <a:spcPct val="0"/>
              </a:spcAft>
              <a:defRPr sz="2400">
                <a:solidFill>
                  <a:schemeClr val="tx1"/>
                </a:solidFill>
                <a:latin typeface="Times New Roman" panose="02020603050405020304" pitchFamily="18" charset="0"/>
                <a:cs typeface="Angsana New" panose="02020603050405020304" pitchFamily="18" charset="-34"/>
              </a:defRPr>
            </a:lvl8pPr>
            <a:lvl9pPr marL="4114800" indent="-457200" fontAlgn="base">
              <a:spcBef>
                <a:spcPct val="0"/>
              </a:spcBef>
              <a:spcAft>
                <a:spcPct val="0"/>
              </a:spcAft>
              <a:defRPr sz="2400">
                <a:solidFill>
                  <a:schemeClr val="tx1"/>
                </a:solidFill>
                <a:latin typeface="Times New Roman" panose="02020603050405020304" pitchFamily="18" charset="0"/>
                <a:cs typeface="Angsana New" panose="02020603050405020304" pitchFamily="18" charset="-34"/>
              </a:defRPr>
            </a:lvl9pPr>
          </a:lstStyle>
          <a:p>
            <a:pPr>
              <a:defRPr/>
            </a:pPr>
            <a:r>
              <a:rPr lang="en-US" altLang="en-US" sz="4400" b="1" dirty="0" smtClean="0">
                <a:solidFill>
                  <a:srgbClr val="FF0000"/>
                </a:solidFill>
                <a:effectLst>
                  <a:outerShdw blurRad="38100" dist="38100" dir="2700000" algn="tl">
                    <a:srgbClr val="C0C0C0"/>
                  </a:outerShdw>
                </a:effectLst>
                <a:latin typeface="Arial" panose="020B0604020202020204" pitchFamily="34" charset="0"/>
                <a:cs typeface="Arial" panose="020B0604020202020204" pitchFamily="34" charset="0"/>
              </a:rPr>
              <a:t>Screen plate pattern designs</a:t>
            </a:r>
            <a:endParaRPr lang="en-US" altLang="en-US" sz="4400" dirty="0" smtClean="0">
              <a:solidFill>
                <a:srgbClr val="FF0000"/>
              </a:solidFill>
              <a:latin typeface="Arial" panose="020B0604020202020204" pitchFamily="34" charset="0"/>
              <a:cs typeface="Arial" panose="020B0604020202020204" pitchFamily="34" charset="0"/>
            </a:endParaRPr>
          </a:p>
        </p:txBody>
      </p:sp>
      <p:pic>
        <p:nvPicPr>
          <p:cNvPr id="304131" name="Picture 3" descr="161_619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2209800"/>
            <a:ext cx="4419600" cy="331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4132" name="Picture 4" descr="161_613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8200" y="2209800"/>
            <a:ext cx="4419600" cy="331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4133" name="Text Box 5"/>
          <p:cNvSpPr txBox="1">
            <a:spLocks noChangeArrowheads="1"/>
          </p:cNvSpPr>
          <p:nvPr/>
        </p:nvSpPr>
        <p:spPr bwMode="auto">
          <a:xfrm>
            <a:off x="1524000" y="5678488"/>
            <a:ext cx="1504950"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400" b="1"/>
              <a:t>SLOT TYPE</a:t>
            </a:r>
            <a:endParaRPr lang="th-TH" altLang="en-US" sz="2400" b="1"/>
          </a:p>
        </p:txBody>
      </p:sp>
      <p:sp>
        <p:nvSpPr>
          <p:cNvPr id="304134" name="Text Box 5"/>
          <p:cNvSpPr txBox="1">
            <a:spLocks noChangeArrowheads="1"/>
          </p:cNvSpPr>
          <p:nvPr/>
        </p:nvSpPr>
        <p:spPr bwMode="auto">
          <a:xfrm>
            <a:off x="5726113" y="5678488"/>
            <a:ext cx="1409700"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400" b="1"/>
              <a:t>BAR TYPE</a:t>
            </a:r>
            <a:endParaRPr lang="th-TH" altLang="en-US" sz="2400" b="1"/>
          </a:p>
        </p:txBody>
      </p:sp>
    </p:spTree>
  </p:cSld>
  <p:clrMapOvr>
    <a:masterClrMapping/>
  </p:clrMapOvr>
  <p:transition spd="slow"/>
  <p:timing>
    <p:tnLst>
      <p:par>
        <p:cTn id="1" dur="indefinite" restart="never" nodeType="tmRoot"/>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Text Box 2"/>
          <p:cNvSpPr txBox="1">
            <a:spLocks noChangeArrowheads="1"/>
          </p:cNvSpPr>
          <p:nvPr/>
        </p:nvSpPr>
        <p:spPr bwMode="auto">
          <a:xfrm>
            <a:off x="381000" y="304800"/>
            <a:ext cx="6102350" cy="954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800" b="1">
                <a:solidFill>
                  <a:srgbClr val="FF0000"/>
                </a:solidFill>
              </a:rPr>
              <a:t>A Basic Guide to Open Area for SCREEN </a:t>
            </a:r>
          </a:p>
          <a:p>
            <a:pPr>
              <a:spcBef>
                <a:spcPct val="0"/>
              </a:spcBef>
              <a:buFontTx/>
              <a:buNone/>
            </a:pPr>
            <a:r>
              <a:rPr lang="en-US" altLang="en-US" sz="2800" b="1">
                <a:solidFill>
                  <a:srgbClr val="0000CC"/>
                </a:solidFill>
              </a:rPr>
              <a:t>Plate/Cylinder Selection</a:t>
            </a:r>
            <a:endParaRPr lang="th-TH" altLang="en-US" sz="2800" b="1">
              <a:solidFill>
                <a:srgbClr val="0000CC"/>
              </a:solidFill>
            </a:endParaRPr>
          </a:p>
        </p:txBody>
      </p:sp>
      <p:sp>
        <p:nvSpPr>
          <p:cNvPr id="305155" name="Text Box 3"/>
          <p:cNvSpPr txBox="1">
            <a:spLocks noChangeArrowheads="1"/>
          </p:cNvSpPr>
          <p:nvPr/>
        </p:nvSpPr>
        <p:spPr bwMode="auto">
          <a:xfrm>
            <a:off x="457200" y="1639888"/>
            <a:ext cx="84582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000" u="sng">
                <a:solidFill>
                  <a:srgbClr val="0000FF"/>
                </a:solidFill>
              </a:rPr>
              <a:t>OPENING AREA Example :</a:t>
            </a:r>
            <a:endParaRPr lang="th-TH" altLang="en-US" sz="2000">
              <a:solidFill>
                <a:schemeClr val="bg2"/>
              </a:solidFill>
            </a:endParaRPr>
          </a:p>
        </p:txBody>
      </p:sp>
      <p:pic>
        <p:nvPicPr>
          <p:cNvPr id="305156" name="Picture 4" descr="162_62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2514600"/>
            <a:ext cx="3733800" cy="280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5157" name="Picture 5" descr="162_620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8200" y="2514600"/>
            <a:ext cx="3810000"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5158" name="Text Box 6"/>
          <p:cNvSpPr txBox="1">
            <a:spLocks noChangeArrowheads="1"/>
          </p:cNvSpPr>
          <p:nvPr/>
        </p:nvSpPr>
        <p:spPr bwMode="auto">
          <a:xfrm>
            <a:off x="1295400" y="5486400"/>
            <a:ext cx="2093913"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400" b="1"/>
              <a:t>Primary screen</a:t>
            </a:r>
            <a:endParaRPr lang="th-TH" altLang="en-US" sz="2400" b="1"/>
          </a:p>
        </p:txBody>
      </p:sp>
      <p:sp>
        <p:nvSpPr>
          <p:cNvPr id="305159" name="Text Box 7"/>
          <p:cNvSpPr txBox="1">
            <a:spLocks noChangeArrowheads="1"/>
          </p:cNvSpPr>
          <p:nvPr/>
        </p:nvSpPr>
        <p:spPr bwMode="auto">
          <a:xfrm>
            <a:off x="6148388" y="5486400"/>
            <a:ext cx="1152525"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400" b="1"/>
              <a:t>Knotter</a:t>
            </a:r>
            <a:endParaRPr lang="th-TH" altLang="en-US" sz="2400" b="1"/>
          </a:p>
        </p:txBody>
      </p:sp>
    </p:spTree>
  </p:cSld>
  <p:clrMapOvr>
    <a:masterClrMapping/>
  </p:clrMapOvr>
  <p:transition spd="slow"/>
  <p:timing>
    <p:tnLst>
      <p:par>
        <p:cTn id="1" dur="indefinite" restart="never" nodeType="tmRoot"/>
      </p:par>
    </p:tn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6178" name="Picture 4" descr="fe16#0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52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02" name="Picture 2" descr="fe16#00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52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226" name="Picture 2" descr="fe16#00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4288"/>
            <a:ext cx="9144000" cy="652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par>
    </p:tn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9250" name="Picture 2" descr="fe16#00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52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Text Box 2"/>
          <p:cNvSpPr txBox="1">
            <a:spLocks noChangeArrowheads="1"/>
          </p:cNvSpPr>
          <p:nvPr/>
        </p:nvSpPr>
        <p:spPr bwMode="auto">
          <a:xfrm>
            <a:off x="304800" y="533400"/>
            <a:ext cx="8534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en-US" altLang="en-US" sz="2800" b="1" dirty="0">
                <a:solidFill>
                  <a:srgbClr val="FF0000"/>
                </a:solidFill>
                <a:cs typeface="Arial" panose="020B0604020202020204" pitchFamily="34" charset="0"/>
              </a:rPr>
              <a:t>PULP WASHING </a:t>
            </a:r>
            <a:r>
              <a:rPr lang="en-US" altLang="en-US" sz="2800" dirty="0">
                <a:solidFill>
                  <a:srgbClr val="FF0000"/>
                </a:solidFill>
                <a:cs typeface="Arial" panose="020B0604020202020204" pitchFamily="34" charset="0"/>
              </a:rPr>
              <a:t>process and control</a:t>
            </a:r>
            <a:endParaRPr lang="en-US" altLang="en-US" sz="4000" b="1" u="sng" dirty="0">
              <a:solidFill>
                <a:srgbClr val="FF0000"/>
              </a:solidFill>
              <a:effectLst>
                <a:outerShdw blurRad="38100" dist="38100" dir="2700000" algn="tl">
                  <a:srgbClr val="C0C0C0"/>
                </a:outerShdw>
              </a:effectLst>
              <a:cs typeface="Arial" panose="020B0604020202020204" pitchFamily="34" charset="0"/>
            </a:endParaRPr>
          </a:p>
        </p:txBody>
      </p:sp>
      <p:pic>
        <p:nvPicPr>
          <p:cNvPr id="310275" name="Picture 4" descr="140_404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2275" y="1484313"/>
            <a:ext cx="5635625" cy="4227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par>
    </p:tn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175" name="Text Box 7"/>
          <p:cNvSpPr txBox="1">
            <a:spLocks noChangeArrowheads="1"/>
          </p:cNvSpPr>
          <p:nvPr/>
        </p:nvSpPr>
        <p:spPr bwMode="auto">
          <a:xfrm>
            <a:off x="304800" y="533400"/>
            <a:ext cx="8534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en-US" altLang="en-US" sz="2800" b="1" dirty="0">
                <a:solidFill>
                  <a:srgbClr val="FF0000"/>
                </a:solidFill>
                <a:cs typeface="Arial" panose="020B0604020202020204" pitchFamily="34" charset="0"/>
              </a:rPr>
              <a:t>PULP WASHING </a:t>
            </a:r>
            <a:r>
              <a:rPr lang="en-US" altLang="en-US" sz="2800" dirty="0">
                <a:solidFill>
                  <a:srgbClr val="FF0000"/>
                </a:solidFill>
                <a:cs typeface="Arial" panose="020B0604020202020204" pitchFamily="34" charset="0"/>
              </a:rPr>
              <a:t>process and control</a:t>
            </a:r>
            <a:endParaRPr lang="en-US" altLang="en-US" sz="4000" b="1" u="sng" dirty="0">
              <a:solidFill>
                <a:srgbClr val="FF0000"/>
              </a:solidFill>
              <a:effectLst>
                <a:outerShdw blurRad="38100" dist="38100" dir="2700000" algn="tl">
                  <a:srgbClr val="C0C0C0"/>
                </a:outerShdw>
              </a:effectLst>
              <a:cs typeface="Arial" panose="020B0604020202020204" pitchFamily="34" charset="0"/>
            </a:endParaRPr>
          </a:p>
        </p:txBody>
      </p:sp>
      <p:grpSp>
        <p:nvGrpSpPr>
          <p:cNvPr id="311299" name="Group 9"/>
          <p:cNvGrpSpPr>
            <a:grpSpLocks/>
          </p:cNvGrpSpPr>
          <p:nvPr/>
        </p:nvGrpSpPr>
        <p:grpSpPr bwMode="auto">
          <a:xfrm>
            <a:off x="76200" y="1854200"/>
            <a:ext cx="8915400" cy="3022600"/>
            <a:chOff x="-240" y="880"/>
            <a:chExt cx="6609" cy="2560"/>
          </a:xfrm>
        </p:grpSpPr>
        <p:grpSp>
          <p:nvGrpSpPr>
            <p:cNvPr id="311301" name="Group 10"/>
            <p:cNvGrpSpPr>
              <a:grpSpLocks/>
            </p:cNvGrpSpPr>
            <p:nvPr/>
          </p:nvGrpSpPr>
          <p:grpSpPr bwMode="auto">
            <a:xfrm>
              <a:off x="-240" y="880"/>
              <a:ext cx="5760" cy="2560"/>
              <a:chOff x="-240" y="880"/>
              <a:chExt cx="5760" cy="2560"/>
            </a:xfrm>
          </p:grpSpPr>
          <p:graphicFrame>
            <p:nvGraphicFramePr>
              <p:cNvPr id="311303" name="Object 11"/>
              <p:cNvGraphicFramePr>
                <a:graphicFrameLocks noChangeAspect="1"/>
              </p:cNvGraphicFramePr>
              <p:nvPr/>
            </p:nvGraphicFramePr>
            <p:xfrm>
              <a:off x="-240" y="880"/>
              <a:ext cx="3141" cy="2560"/>
            </p:xfrm>
            <a:graphic>
              <a:graphicData uri="http://schemas.openxmlformats.org/presentationml/2006/ole">
                <mc:AlternateContent xmlns:mc="http://schemas.openxmlformats.org/markup-compatibility/2006">
                  <mc:Choice xmlns:v="urn:schemas-microsoft-com:vml" Requires="v">
                    <p:oleObj spid="_x0000_s311329" name="Worksheet" r:id="rId3" imgW="11592151" imgH="9449282" progId="Excel.Sheet.8">
                      <p:embed/>
                    </p:oleObj>
                  </mc:Choice>
                  <mc:Fallback>
                    <p:oleObj name="Worksheet" r:id="rId3" imgW="11592151" imgH="9449282" progId="Excel.Sheet.8">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0" y="880"/>
                            <a:ext cx="3141" cy="2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11304" name="Object 12"/>
              <p:cNvGraphicFramePr>
                <a:graphicFrameLocks noChangeAspect="1"/>
              </p:cNvGraphicFramePr>
              <p:nvPr/>
            </p:nvGraphicFramePr>
            <p:xfrm>
              <a:off x="2901" y="880"/>
              <a:ext cx="2619" cy="2560"/>
            </p:xfrm>
            <a:graphic>
              <a:graphicData uri="http://schemas.openxmlformats.org/presentationml/2006/ole">
                <mc:AlternateContent xmlns:mc="http://schemas.openxmlformats.org/markup-compatibility/2006">
                  <mc:Choice xmlns:v="urn:schemas-microsoft-com:vml" Requires="v">
                    <p:oleObj spid="_x0000_s311330" name="Worksheet" r:id="rId5" imgW="9668372" imgH="9449282" progId="Excel.Sheet.8">
                      <p:embed/>
                    </p:oleObj>
                  </mc:Choice>
                  <mc:Fallback>
                    <p:oleObj name="Worksheet" r:id="rId5" imgW="9668372" imgH="9449282" progId="Excel.Sheet.8">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01" y="880"/>
                            <a:ext cx="2619" cy="2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311302" name="Object 13"/>
            <p:cNvGraphicFramePr>
              <a:graphicFrameLocks noChangeAspect="1"/>
            </p:cNvGraphicFramePr>
            <p:nvPr/>
          </p:nvGraphicFramePr>
          <p:xfrm>
            <a:off x="5520" y="880"/>
            <a:ext cx="849" cy="2560"/>
          </p:xfrm>
          <a:graphic>
            <a:graphicData uri="http://schemas.openxmlformats.org/presentationml/2006/ole">
              <mc:AlternateContent xmlns:mc="http://schemas.openxmlformats.org/markup-compatibility/2006">
                <mc:Choice xmlns:v="urn:schemas-microsoft-com:vml" Requires="v">
                  <p:oleObj spid="_x0000_s311331" name="Worksheet" r:id="rId7" imgW="3133951" imgH="9449282" progId="Excel.Sheet.8">
                    <p:embed/>
                  </p:oleObj>
                </mc:Choice>
                <mc:Fallback>
                  <p:oleObj name="Worksheet" r:id="rId7" imgW="3133951" imgH="9449282" progId="Excel.Sheet.8">
                    <p:embed/>
                    <p:pic>
                      <p:nvPicPr>
                        <p:cNvPr id="0"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20" y="880"/>
                          <a:ext cx="849" cy="2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391176" name="Rectangle 8"/>
          <p:cNvSpPr>
            <a:spLocks noChangeArrowheads="1"/>
          </p:cNvSpPr>
          <p:nvPr/>
        </p:nvSpPr>
        <p:spPr bwMode="auto">
          <a:xfrm>
            <a:off x="2255838" y="1765300"/>
            <a:ext cx="2446337" cy="3200400"/>
          </a:xfrm>
          <a:prstGeom prst="rect">
            <a:avLst/>
          </a:prstGeom>
          <a:noFill/>
          <a:ln w="38100">
            <a:solidFill>
              <a:srgbClr val="FF0000"/>
            </a:solidFill>
            <a:miter lim="800000"/>
            <a:headEnd/>
            <a:tailEnd/>
          </a:ln>
          <a:effectLst/>
          <a:extLst>
            <a:ext uri="{909E8E84-426E-40DD-AFC4-6F175D3DCCD1}">
              <a14:hiddenFill xmlns:a14="http://schemas.microsoft.com/office/drawing/2010/main">
                <a:solidFill>
                  <a:schemeClr val="accent1">
                    <a:alpha val="50195"/>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391176"/>
                                        </p:tgtEl>
                                        <p:attrNameLst>
                                          <p:attrName>style.visibility</p:attrName>
                                        </p:attrNameLst>
                                      </p:cBhvr>
                                      <p:to>
                                        <p:strVal val="visible"/>
                                      </p:to>
                                    </p:set>
                                    <p:anim calcmode="lin" valueType="num">
                                      <p:cBhvr>
                                        <p:cTn id="7" dur="500" fill="hold"/>
                                        <p:tgtEl>
                                          <p:spTgt spid="391176"/>
                                        </p:tgtEl>
                                        <p:attrNameLst>
                                          <p:attrName>ppt_w</p:attrName>
                                        </p:attrNameLst>
                                      </p:cBhvr>
                                      <p:tavLst>
                                        <p:tav tm="0">
                                          <p:val>
                                            <p:fltVal val="0"/>
                                          </p:val>
                                        </p:tav>
                                        <p:tav tm="100000">
                                          <p:val>
                                            <p:strVal val="#ppt_w"/>
                                          </p:val>
                                        </p:tav>
                                      </p:tavLst>
                                    </p:anim>
                                    <p:anim calcmode="lin" valueType="num">
                                      <p:cBhvr>
                                        <p:cTn id="8" dur="500" fill="hold"/>
                                        <p:tgtEl>
                                          <p:spTgt spid="39117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1176" grpId="0" animBg="1"/>
    </p:bld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Rectangle 2"/>
          <p:cNvSpPr>
            <a:spLocks noGrp="1" noChangeArrowheads="1"/>
          </p:cNvSpPr>
          <p:nvPr>
            <p:ph type="title"/>
          </p:nvPr>
        </p:nvSpPr>
        <p:spPr/>
        <p:txBody>
          <a:bodyPr/>
          <a:lstStyle/>
          <a:p>
            <a:pPr algn="l"/>
            <a:r>
              <a:rPr lang="en-US" altLang="en-US" b="1" smtClean="0">
                <a:solidFill>
                  <a:schemeClr val="hlink"/>
                </a:solidFill>
              </a:rPr>
              <a:t>Topic outlines</a:t>
            </a:r>
            <a:endParaRPr lang="th-TH" altLang="en-US" b="1" smtClean="0">
              <a:solidFill>
                <a:schemeClr val="hlink"/>
              </a:solidFill>
            </a:endParaRPr>
          </a:p>
        </p:txBody>
      </p:sp>
      <p:sp>
        <p:nvSpPr>
          <p:cNvPr id="206853" name="Rectangle 5"/>
          <p:cNvSpPr>
            <a:spLocks noGrp="1" noChangeArrowheads="1"/>
          </p:cNvSpPr>
          <p:nvPr>
            <p:ph type="body" idx="1"/>
          </p:nvPr>
        </p:nvSpPr>
        <p:spPr>
          <a:xfrm>
            <a:off x="685800" y="1981200"/>
            <a:ext cx="8229600" cy="3657600"/>
          </a:xfrm>
        </p:spPr>
        <p:txBody>
          <a:bodyPr/>
          <a:lstStyle/>
          <a:p>
            <a:pPr marL="609600" indent="-609600">
              <a:buClr>
                <a:schemeClr val="tx1"/>
              </a:buClr>
              <a:buFont typeface="Wingdings" panose="05000000000000000000" pitchFamily="2" charset="2"/>
              <a:buNone/>
              <a:defRPr/>
            </a:pPr>
            <a:r>
              <a:rPr lang="en-US" altLang="en-US" sz="4000" b="1" dirty="0">
                <a:solidFill>
                  <a:srgbClr val="FF0000"/>
                </a:solidFill>
                <a:latin typeface="Arial" panose="020B0604020202020204" pitchFamily="34" charset="0"/>
                <a:cs typeface="Arial" panose="020B0604020202020204" pitchFamily="34" charset="0"/>
              </a:rPr>
              <a:t>1.   Objectives of pulp washing</a:t>
            </a:r>
          </a:p>
          <a:p>
            <a:pPr marL="609600" indent="-609600">
              <a:buClr>
                <a:schemeClr val="tx1"/>
              </a:buClr>
              <a:buFont typeface="Wingdings" panose="05000000000000000000" pitchFamily="2" charset="2"/>
              <a:buNone/>
              <a:defRPr/>
            </a:pPr>
            <a:r>
              <a:rPr lang="en-US" altLang="en-US" dirty="0">
                <a:solidFill>
                  <a:srgbClr val="969696"/>
                </a:solidFill>
                <a:latin typeface="Arial" panose="020B0604020202020204" pitchFamily="34" charset="0"/>
                <a:cs typeface="Arial" panose="020B0604020202020204" pitchFamily="34" charset="0"/>
              </a:rPr>
              <a:t>2.   Principles of pulp washing</a:t>
            </a:r>
          </a:p>
          <a:p>
            <a:pPr marL="609600" indent="-609600">
              <a:buClr>
                <a:schemeClr val="tx1"/>
              </a:buClr>
              <a:buFont typeface="Wingdings" panose="05000000000000000000" pitchFamily="2" charset="2"/>
              <a:buNone/>
              <a:defRPr/>
            </a:pPr>
            <a:r>
              <a:rPr lang="en-US" altLang="en-US" dirty="0">
                <a:solidFill>
                  <a:srgbClr val="969696"/>
                </a:solidFill>
                <a:latin typeface="Arial" panose="020B0604020202020204" pitchFamily="34" charset="0"/>
                <a:cs typeface="Arial" panose="020B0604020202020204" pitchFamily="34" charset="0"/>
              </a:rPr>
              <a:t>3.   Washing </a:t>
            </a:r>
            <a:r>
              <a:rPr lang="en-US" altLang="en-US" dirty="0" err="1">
                <a:solidFill>
                  <a:srgbClr val="969696"/>
                </a:solidFill>
                <a:latin typeface="Arial" panose="020B0604020202020204" pitchFamily="34" charset="0"/>
                <a:cs typeface="Arial" panose="020B0604020202020204" pitchFamily="34" charset="0"/>
              </a:rPr>
              <a:t>equipments</a:t>
            </a:r>
            <a:endParaRPr lang="en-US" altLang="en-US" dirty="0">
              <a:solidFill>
                <a:srgbClr val="969696"/>
              </a:solidFill>
              <a:latin typeface="Arial" panose="020B0604020202020204" pitchFamily="34" charset="0"/>
              <a:cs typeface="Arial" panose="020B0604020202020204" pitchFamily="34" charset="0"/>
            </a:endParaRPr>
          </a:p>
          <a:p>
            <a:pPr marL="609600" indent="-609600">
              <a:buClr>
                <a:schemeClr val="tx1"/>
              </a:buClr>
              <a:buFont typeface="Wingdings" panose="05000000000000000000" pitchFamily="2" charset="2"/>
              <a:buNone/>
              <a:defRPr/>
            </a:pPr>
            <a:r>
              <a:rPr lang="en-US" altLang="en-US" dirty="0">
                <a:solidFill>
                  <a:srgbClr val="969696"/>
                </a:solidFill>
                <a:latin typeface="Arial" panose="020B0604020202020204" pitchFamily="34" charset="0"/>
                <a:cs typeface="Arial" panose="020B0604020202020204" pitchFamily="34" charset="0"/>
              </a:rPr>
              <a:t>4.   Multi-stage counter-current washing</a:t>
            </a:r>
          </a:p>
          <a:p>
            <a:pPr marL="609600" indent="-609600">
              <a:buClr>
                <a:schemeClr val="tx1"/>
              </a:buClr>
              <a:buFont typeface="Wingdings" panose="05000000000000000000" pitchFamily="2" charset="2"/>
              <a:buNone/>
              <a:defRPr/>
            </a:pPr>
            <a:r>
              <a:rPr lang="en-US" altLang="en-US" dirty="0">
                <a:solidFill>
                  <a:srgbClr val="969696"/>
                </a:solidFill>
                <a:latin typeface="Arial" panose="020B0604020202020204" pitchFamily="34" charset="0"/>
                <a:cs typeface="Arial" panose="020B0604020202020204" pitchFamily="34" charset="0"/>
              </a:rPr>
              <a:t>5.   Washing parameters and efficiency</a:t>
            </a:r>
          </a:p>
          <a:p>
            <a:pPr marL="0" indent="0">
              <a:buClr>
                <a:schemeClr val="tx1"/>
              </a:buClr>
              <a:buFont typeface="Arial" panose="020B0604020202020204" pitchFamily="34" charset="0"/>
              <a:buNone/>
              <a:defRPr/>
            </a:pPr>
            <a:endParaRPr lang="en-US" altLang="en-US" dirty="0">
              <a:solidFill>
                <a:srgbClr val="969696"/>
              </a:solidFill>
              <a:latin typeface="Arial" panose="020B0604020202020204" pitchFamily="34" charset="0"/>
              <a:cs typeface="Arial" panose="020B0604020202020204" pitchFamily="34" charset="0"/>
            </a:endParaRPr>
          </a:p>
        </p:txBody>
      </p:sp>
    </p:spTree>
  </p:cSld>
  <p:clrMapOvr>
    <a:masterClrMapping/>
  </p:clrMapOvr>
  <p:transition spd="slow"/>
  <p:timing>
    <p:tnLst>
      <p:par>
        <p:cTn id="1" dur="indefinite" restart="never" nodeType="tmRoot"/>
      </p:par>
    </p:tn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Rectangle 2"/>
          <p:cNvSpPr>
            <a:spLocks noGrp="1" noChangeArrowheads="1"/>
          </p:cNvSpPr>
          <p:nvPr>
            <p:ph type="title"/>
          </p:nvPr>
        </p:nvSpPr>
        <p:spPr>
          <a:xfrm>
            <a:off x="685800" y="254000"/>
            <a:ext cx="7772400" cy="1143000"/>
          </a:xfrm>
        </p:spPr>
        <p:txBody>
          <a:bodyPr/>
          <a:lstStyle/>
          <a:p>
            <a:pPr algn="l"/>
            <a:r>
              <a:rPr lang="en-US" altLang="en-US" b="1" smtClean="0">
                <a:solidFill>
                  <a:schemeClr val="hlink"/>
                </a:solidFill>
              </a:rPr>
              <a:t>Pulp washing Objective</a:t>
            </a:r>
            <a:endParaRPr lang="th-TH" altLang="en-US" b="1" smtClean="0">
              <a:solidFill>
                <a:schemeClr val="hlink"/>
              </a:solidFill>
            </a:endParaRPr>
          </a:p>
        </p:txBody>
      </p:sp>
      <p:sp>
        <p:nvSpPr>
          <p:cNvPr id="313347" name="Rectangle 3"/>
          <p:cNvSpPr>
            <a:spLocks noGrp="1" noChangeArrowheads="1"/>
          </p:cNvSpPr>
          <p:nvPr>
            <p:ph type="body" idx="1"/>
          </p:nvPr>
        </p:nvSpPr>
        <p:spPr>
          <a:xfrm>
            <a:off x="250825" y="1481138"/>
            <a:ext cx="8642350" cy="4608512"/>
          </a:xfrm>
          <a:noFill/>
        </p:spPr>
        <p:txBody>
          <a:bodyPr/>
          <a:lstStyle/>
          <a:p>
            <a:pPr marL="609600" indent="-609600">
              <a:buClr>
                <a:schemeClr val="tx1"/>
              </a:buClr>
            </a:pPr>
            <a:r>
              <a:rPr lang="en-US" altLang="en-US" sz="2000" smtClean="0">
                <a:solidFill>
                  <a:srgbClr val="000066"/>
                </a:solidFill>
                <a:latin typeface="Arial" panose="020B0604020202020204" pitchFamily="34" charset="0"/>
                <a:cs typeface="Arial" panose="020B0604020202020204" pitchFamily="34" charset="0"/>
              </a:rPr>
              <a:t>The purpose of brown stock washing is to displace and remove dissolved solids (both inorganic and organic) from the pulp.  The two primary reasons why we must wash pulp are :</a:t>
            </a:r>
          </a:p>
          <a:p>
            <a:pPr marL="609600" indent="-609600">
              <a:buClr>
                <a:schemeClr val="tx1"/>
              </a:buClr>
              <a:buFont typeface="Wingdings" panose="05000000000000000000" pitchFamily="2" charset="2"/>
              <a:buNone/>
            </a:pPr>
            <a:endParaRPr lang="en-US" altLang="en-US" sz="2000" smtClean="0">
              <a:solidFill>
                <a:srgbClr val="000066"/>
              </a:solidFill>
              <a:latin typeface="Arial" panose="020B0604020202020204" pitchFamily="34" charset="0"/>
              <a:cs typeface="Arial" panose="020B0604020202020204" pitchFamily="34" charset="0"/>
            </a:endParaRPr>
          </a:p>
          <a:p>
            <a:pPr marL="609600" indent="-609600">
              <a:buClr>
                <a:schemeClr val="tx1"/>
              </a:buClr>
              <a:buFont typeface="Wingdings" panose="05000000000000000000" pitchFamily="2" charset="2"/>
              <a:buNone/>
            </a:pPr>
            <a:endParaRPr lang="en-US" altLang="en-US" sz="2000" smtClean="0">
              <a:solidFill>
                <a:srgbClr val="000066"/>
              </a:solidFill>
              <a:latin typeface="Arial" panose="020B0604020202020204" pitchFamily="34" charset="0"/>
              <a:cs typeface="Arial" panose="020B0604020202020204" pitchFamily="34" charset="0"/>
            </a:endParaRPr>
          </a:p>
          <a:p>
            <a:pPr marL="609600" indent="-609600">
              <a:buClr>
                <a:schemeClr val="tx1"/>
              </a:buClr>
              <a:buFont typeface="Wingdings" panose="05000000000000000000" pitchFamily="2" charset="2"/>
              <a:buNone/>
            </a:pPr>
            <a:r>
              <a:rPr lang="en-US" altLang="en-US" sz="2000" smtClean="0">
                <a:solidFill>
                  <a:srgbClr val="000066"/>
                </a:solidFill>
                <a:latin typeface="Arial" panose="020B0604020202020204" pitchFamily="34" charset="0"/>
                <a:cs typeface="Arial" panose="020B0604020202020204" pitchFamily="34" charset="0"/>
              </a:rPr>
              <a:t>	1. Remove residual liquor which would contaminate pulp</a:t>
            </a:r>
          </a:p>
          <a:p>
            <a:pPr marL="609600" indent="-609600">
              <a:buClr>
                <a:schemeClr val="tx1"/>
              </a:buClr>
              <a:buFont typeface="Wingdings" panose="05000000000000000000" pitchFamily="2" charset="2"/>
              <a:buNone/>
            </a:pPr>
            <a:r>
              <a:rPr lang="en-US" altLang="en-US" sz="2000" smtClean="0">
                <a:solidFill>
                  <a:srgbClr val="000066"/>
                </a:solidFill>
                <a:latin typeface="Arial" panose="020B0604020202020204" pitchFamily="34" charset="0"/>
                <a:cs typeface="Arial" panose="020B0604020202020204" pitchFamily="34" charset="0"/>
              </a:rPr>
              <a:t>	    pulp going to Bleaching process</a:t>
            </a:r>
          </a:p>
          <a:p>
            <a:pPr marL="609600" indent="-609600">
              <a:buClr>
                <a:schemeClr val="tx1"/>
              </a:buClr>
              <a:buFont typeface="Wingdings" panose="05000000000000000000" pitchFamily="2" charset="2"/>
              <a:buNone/>
            </a:pPr>
            <a:r>
              <a:rPr lang="en-US" altLang="en-US" sz="2000" smtClean="0">
                <a:solidFill>
                  <a:srgbClr val="000066"/>
                </a:solidFill>
                <a:latin typeface="Arial" panose="020B0604020202020204" pitchFamily="34" charset="0"/>
                <a:cs typeface="Arial" panose="020B0604020202020204" pitchFamily="34" charset="0"/>
              </a:rPr>
              <a:t>	2. Recover the maximum amount of spent cooking    </a:t>
            </a:r>
          </a:p>
          <a:p>
            <a:pPr marL="609600" indent="-609600">
              <a:buClr>
                <a:schemeClr val="tx1"/>
              </a:buClr>
              <a:buFont typeface="Wingdings" panose="05000000000000000000" pitchFamily="2" charset="2"/>
              <a:buNone/>
            </a:pPr>
            <a:r>
              <a:rPr lang="en-US" altLang="en-US" sz="2000" smtClean="0">
                <a:solidFill>
                  <a:srgbClr val="000066"/>
                </a:solidFill>
                <a:latin typeface="Arial" panose="020B0604020202020204" pitchFamily="34" charset="0"/>
                <a:cs typeface="Arial" panose="020B0604020202020204" pitchFamily="34" charset="0"/>
              </a:rPr>
              <a:t>	    chemicals and dissolved wood solids from the fiber</a:t>
            </a:r>
          </a:p>
          <a:p>
            <a:pPr marL="609600" indent="-609600">
              <a:buClr>
                <a:schemeClr val="tx1"/>
              </a:buClr>
              <a:buFont typeface="Wingdings" panose="05000000000000000000" pitchFamily="2" charset="2"/>
              <a:buNone/>
            </a:pPr>
            <a:r>
              <a:rPr lang="en-US" altLang="en-US" sz="2000" smtClean="0">
                <a:solidFill>
                  <a:srgbClr val="000066"/>
                </a:solidFill>
                <a:latin typeface="Arial" panose="020B0604020202020204" pitchFamily="34" charset="0"/>
                <a:cs typeface="Arial" panose="020B0604020202020204" pitchFamily="34" charset="0"/>
              </a:rPr>
              <a:t>	    with minimum dilution, making chemical pulping   </a:t>
            </a:r>
          </a:p>
          <a:p>
            <a:pPr marL="609600" indent="-609600">
              <a:buClr>
                <a:schemeClr val="tx1"/>
              </a:buClr>
              <a:buFont typeface="Wingdings" panose="05000000000000000000" pitchFamily="2" charset="2"/>
              <a:buNone/>
            </a:pPr>
            <a:r>
              <a:rPr lang="en-US" altLang="en-US" sz="2000" smtClean="0">
                <a:solidFill>
                  <a:srgbClr val="000066"/>
                </a:solidFill>
                <a:latin typeface="Arial" panose="020B0604020202020204" pitchFamily="34" charset="0"/>
                <a:cs typeface="Arial" panose="020B0604020202020204" pitchFamily="34" charset="0"/>
              </a:rPr>
              <a:t>           economical.</a:t>
            </a:r>
          </a:p>
        </p:txBody>
      </p:sp>
      <p:sp>
        <p:nvSpPr>
          <p:cNvPr id="313348" name="AutoShape 4"/>
          <p:cNvSpPr>
            <a:spLocks noChangeArrowheads="1"/>
          </p:cNvSpPr>
          <p:nvPr/>
        </p:nvSpPr>
        <p:spPr bwMode="auto">
          <a:xfrm>
            <a:off x="3397250" y="2551113"/>
            <a:ext cx="2951163" cy="503237"/>
          </a:xfrm>
          <a:prstGeom prst="wedgeRoundRectCallout">
            <a:avLst>
              <a:gd name="adj1" fmla="val -70801"/>
              <a:gd name="adj2" fmla="val 103403"/>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a:solidFill>
                  <a:schemeClr val="bg1"/>
                </a:solidFill>
              </a:rPr>
              <a:t>Alkali, Black Liquor</a:t>
            </a:r>
            <a:endParaRPr lang="th-TH" altLang="en-US" sz="2400">
              <a:solidFill>
                <a:schemeClr val="bg1"/>
              </a:solidFill>
            </a:endParaRPr>
          </a:p>
        </p:txBody>
      </p:sp>
      <p:sp>
        <p:nvSpPr>
          <p:cNvPr id="313349" name="AutoShape 5"/>
          <p:cNvSpPr>
            <a:spLocks noChangeArrowheads="1"/>
          </p:cNvSpPr>
          <p:nvPr/>
        </p:nvSpPr>
        <p:spPr bwMode="auto">
          <a:xfrm>
            <a:off x="4572000" y="5356225"/>
            <a:ext cx="3513138" cy="439738"/>
          </a:xfrm>
          <a:prstGeom prst="wedgeRoundRectCallout">
            <a:avLst>
              <a:gd name="adj1" fmla="val -60065"/>
              <a:gd name="adj2" fmla="val -133403"/>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000">
                <a:solidFill>
                  <a:schemeClr val="bg1"/>
                </a:solidFill>
              </a:rPr>
              <a:t>Chemical recovery, Bleaching</a:t>
            </a:r>
            <a:endParaRPr lang="th-TH" altLang="en-US" sz="2000">
              <a:solidFill>
                <a:schemeClr val="bg1"/>
              </a:solidFill>
            </a:endParaRPr>
          </a:p>
        </p:txBody>
      </p:sp>
    </p:spTree>
  </p:cSld>
  <p:clrMapOvr>
    <a:masterClrMapping/>
  </p:clrMapOvr>
  <p:transition spd="slow"/>
  <p:timing>
    <p:tnLst>
      <p:par>
        <p:cTn id="1" dur="indefinite" restart="never" nodeType="tmRoot"/>
      </p:par>
    </p:tn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Rectangle 6"/>
          <p:cNvSpPr>
            <a:spLocks noGrp="1" noChangeArrowheads="1"/>
          </p:cNvSpPr>
          <p:nvPr>
            <p:ph type="title"/>
          </p:nvPr>
        </p:nvSpPr>
        <p:spPr>
          <a:noFill/>
        </p:spPr>
        <p:txBody>
          <a:bodyPr/>
          <a:lstStyle/>
          <a:p>
            <a:pPr algn="l"/>
            <a:r>
              <a:rPr lang="en-US" altLang="en-US" b="1" smtClean="0">
                <a:solidFill>
                  <a:schemeClr val="hlink"/>
                </a:solidFill>
              </a:rPr>
              <a:t>Topic outlines</a:t>
            </a:r>
            <a:endParaRPr lang="th-TH" altLang="en-US" b="1" smtClean="0">
              <a:solidFill>
                <a:schemeClr val="hlink"/>
              </a:solidFill>
            </a:endParaRPr>
          </a:p>
        </p:txBody>
      </p:sp>
      <p:sp>
        <p:nvSpPr>
          <p:cNvPr id="208903" name="Rectangle 7"/>
          <p:cNvSpPr>
            <a:spLocks noGrp="1" noChangeArrowheads="1"/>
          </p:cNvSpPr>
          <p:nvPr>
            <p:ph type="body" idx="1"/>
          </p:nvPr>
        </p:nvSpPr>
        <p:spPr>
          <a:xfrm>
            <a:off x="685800" y="1981200"/>
            <a:ext cx="8229600" cy="3657600"/>
          </a:xfrm>
        </p:spPr>
        <p:txBody>
          <a:bodyPr/>
          <a:lstStyle/>
          <a:p>
            <a:pPr marL="609600" indent="-609600">
              <a:buClr>
                <a:schemeClr val="tx1"/>
              </a:buClr>
              <a:buFont typeface="Wingdings" panose="05000000000000000000" pitchFamily="2" charset="2"/>
              <a:buNone/>
              <a:defRPr/>
            </a:pPr>
            <a:r>
              <a:rPr lang="en-US" altLang="en-US" dirty="0">
                <a:solidFill>
                  <a:srgbClr val="969696"/>
                </a:solidFill>
                <a:latin typeface="Arial" panose="020B0604020202020204" pitchFamily="34" charset="0"/>
                <a:cs typeface="Arial" panose="020B0604020202020204" pitchFamily="34" charset="0"/>
              </a:rPr>
              <a:t>1.   Objectives of pulp washing</a:t>
            </a:r>
          </a:p>
          <a:p>
            <a:pPr marL="609600" indent="-609600">
              <a:buClr>
                <a:schemeClr val="tx1"/>
              </a:buClr>
              <a:buFont typeface="Wingdings" panose="05000000000000000000" pitchFamily="2" charset="2"/>
              <a:buNone/>
              <a:defRPr/>
            </a:pPr>
            <a:r>
              <a:rPr lang="en-US" altLang="en-US" sz="4000" b="1" dirty="0">
                <a:solidFill>
                  <a:srgbClr val="FF0000"/>
                </a:solidFill>
                <a:latin typeface="Arial" panose="020B0604020202020204" pitchFamily="34" charset="0"/>
                <a:cs typeface="Arial" panose="020B0604020202020204" pitchFamily="34" charset="0"/>
              </a:rPr>
              <a:t>2.  Principles of pulp washing</a:t>
            </a:r>
          </a:p>
          <a:p>
            <a:pPr marL="609600" indent="-609600">
              <a:buClr>
                <a:schemeClr val="tx1"/>
              </a:buClr>
              <a:buFont typeface="Wingdings" panose="05000000000000000000" pitchFamily="2" charset="2"/>
              <a:buNone/>
              <a:defRPr/>
            </a:pPr>
            <a:r>
              <a:rPr lang="en-US" altLang="en-US" dirty="0">
                <a:solidFill>
                  <a:srgbClr val="969696"/>
                </a:solidFill>
                <a:latin typeface="Arial" panose="020B0604020202020204" pitchFamily="34" charset="0"/>
                <a:cs typeface="Arial" panose="020B0604020202020204" pitchFamily="34" charset="0"/>
              </a:rPr>
              <a:t>3.   Washing </a:t>
            </a:r>
            <a:r>
              <a:rPr lang="en-US" altLang="en-US" dirty="0" err="1">
                <a:solidFill>
                  <a:srgbClr val="969696"/>
                </a:solidFill>
                <a:latin typeface="Arial" panose="020B0604020202020204" pitchFamily="34" charset="0"/>
                <a:cs typeface="Arial" panose="020B0604020202020204" pitchFamily="34" charset="0"/>
              </a:rPr>
              <a:t>equipments</a:t>
            </a:r>
            <a:endParaRPr lang="en-US" altLang="en-US" dirty="0">
              <a:solidFill>
                <a:srgbClr val="969696"/>
              </a:solidFill>
              <a:latin typeface="Arial" panose="020B0604020202020204" pitchFamily="34" charset="0"/>
              <a:cs typeface="Arial" panose="020B0604020202020204" pitchFamily="34" charset="0"/>
            </a:endParaRPr>
          </a:p>
          <a:p>
            <a:pPr marL="609600" indent="-609600">
              <a:buClr>
                <a:schemeClr val="tx1"/>
              </a:buClr>
              <a:buFont typeface="Wingdings" panose="05000000000000000000" pitchFamily="2" charset="2"/>
              <a:buNone/>
              <a:defRPr/>
            </a:pPr>
            <a:r>
              <a:rPr lang="en-US" altLang="en-US" dirty="0">
                <a:solidFill>
                  <a:srgbClr val="969696"/>
                </a:solidFill>
                <a:latin typeface="Arial" panose="020B0604020202020204" pitchFamily="34" charset="0"/>
                <a:cs typeface="Arial" panose="020B0604020202020204" pitchFamily="34" charset="0"/>
              </a:rPr>
              <a:t>4.   Multi-stage counter-current washing</a:t>
            </a:r>
          </a:p>
          <a:p>
            <a:pPr marL="609600" indent="-609600">
              <a:buClr>
                <a:schemeClr val="tx1"/>
              </a:buClr>
              <a:buFont typeface="Wingdings" panose="05000000000000000000" pitchFamily="2" charset="2"/>
              <a:buNone/>
              <a:defRPr/>
            </a:pPr>
            <a:r>
              <a:rPr lang="en-US" altLang="en-US" dirty="0">
                <a:solidFill>
                  <a:srgbClr val="969696"/>
                </a:solidFill>
                <a:latin typeface="Arial" panose="020B0604020202020204" pitchFamily="34" charset="0"/>
                <a:cs typeface="Arial" panose="020B0604020202020204" pitchFamily="34" charset="0"/>
              </a:rPr>
              <a:t>5.   Washing parameters and efficiency</a:t>
            </a:r>
          </a:p>
          <a:p>
            <a:pPr marL="0" indent="0">
              <a:buClr>
                <a:schemeClr val="tx1"/>
              </a:buClr>
              <a:buFont typeface="Arial" panose="020B0604020202020204" pitchFamily="34" charset="0"/>
              <a:buNone/>
              <a:defRPr/>
            </a:pPr>
            <a:endParaRPr lang="en-US" altLang="en-US" dirty="0">
              <a:solidFill>
                <a:srgbClr val="969696"/>
              </a:solidFill>
              <a:latin typeface="Arial" panose="020B0604020202020204" pitchFamily="34" charset="0"/>
              <a:cs typeface="Arial" panose="020B0604020202020204" pitchFamily="34" charset="0"/>
            </a:endParaRPr>
          </a:p>
        </p:txBody>
      </p:sp>
    </p:spTree>
  </p:cSld>
  <p:clrMapOvr>
    <a:masterClrMapping/>
  </p:clrMapOvr>
  <p:transition spd="slow"/>
  <p:timing>
    <p:tnLst>
      <p:par>
        <p:cTn id="1" dur="indefinite" restart="never" nodeType="tmRoot"/>
      </p:par>
    </p:tn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Text Box 2"/>
          <p:cNvSpPr txBox="1">
            <a:spLocks noChangeArrowheads="1"/>
          </p:cNvSpPr>
          <p:nvPr/>
        </p:nvSpPr>
        <p:spPr bwMode="auto">
          <a:xfrm>
            <a:off x="304800" y="682625"/>
            <a:ext cx="8053388" cy="32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3200" b="1" dirty="0">
                <a:solidFill>
                  <a:srgbClr val="FF0000"/>
                </a:solidFill>
                <a:effectLst>
                  <a:outerShdw blurRad="38100" dist="38100" dir="2700000" algn="tl">
                    <a:srgbClr val="C0C0C0"/>
                  </a:outerShdw>
                </a:effectLst>
                <a:cs typeface="Arial" panose="020B0604020202020204" pitchFamily="34" charset="0"/>
              </a:rPr>
              <a:t>WASHING MECHANISMS</a:t>
            </a:r>
          </a:p>
          <a:p>
            <a:pPr>
              <a:defRPr/>
            </a:pPr>
            <a:endParaRPr lang="en-US" altLang="en-US" sz="1400" b="1" dirty="0">
              <a:solidFill>
                <a:schemeClr val="bg2"/>
              </a:solidFill>
              <a:effectLst>
                <a:outerShdw blurRad="38100" dist="38100" dir="2700000" algn="tl">
                  <a:srgbClr val="C0C0C0"/>
                </a:outerShdw>
              </a:effectLst>
              <a:latin typeface="Times New Roman" panose="02020603050405020304" pitchFamily="18" charset="0"/>
            </a:endParaRPr>
          </a:p>
          <a:p>
            <a:pPr>
              <a:defRPr/>
            </a:pPr>
            <a:r>
              <a:rPr lang="en-US" altLang="en-US" sz="2600" b="1" dirty="0">
                <a:solidFill>
                  <a:schemeClr val="hlink"/>
                </a:solidFill>
                <a:effectLst>
                  <a:outerShdw blurRad="38100" dist="38100" dir="2700000" algn="tl">
                    <a:srgbClr val="C0C0C0"/>
                  </a:outerShdw>
                </a:effectLst>
                <a:cs typeface="Arial" panose="020B0604020202020204" pitchFamily="34" charset="0"/>
              </a:rPr>
              <a:t>Washing   </a:t>
            </a:r>
            <a:r>
              <a:rPr lang="en-US" altLang="en-US" sz="2600" b="1" dirty="0">
                <a:solidFill>
                  <a:srgbClr val="FF0000"/>
                </a:solidFill>
                <a:effectLst>
                  <a:outerShdw blurRad="38100" dist="38100" dir="2700000" algn="tl">
                    <a:srgbClr val="C0C0C0"/>
                  </a:outerShdw>
                </a:effectLst>
                <a:cs typeface="Arial" panose="020B0604020202020204" pitchFamily="34" charset="0"/>
              </a:rPr>
              <a:t>-  </a:t>
            </a:r>
            <a:r>
              <a:rPr lang="en-US" altLang="en-US" sz="2600" dirty="0">
                <a:solidFill>
                  <a:srgbClr val="FF0000"/>
                </a:solidFill>
                <a:effectLst>
                  <a:outerShdw blurRad="38100" dist="38100" dir="2700000" algn="tl">
                    <a:srgbClr val="C0C0C0"/>
                  </a:outerShdw>
                </a:effectLst>
                <a:cs typeface="Arial" panose="020B0604020202020204" pitchFamily="34" charset="0"/>
              </a:rPr>
              <a:t>Simply bulk removal of liquor surrounding the</a:t>
            </a:r>
          </a:p>
          <a:p>
            <a:pPr>
              <a:defRPr/>
            </a:pPr>
            <a:r>
              <a:rPr lang="en-US" altLang="en-US" sz="2600" dirty="0">
                <a:solidFill>
                  <a:srgbClr val="FF0000"/>
                </a:solidFill>
                <a:effectLst>
                  <a:outerShdw blurRad="38100" dist="38100" dir="2700000" algn="tl">
                    <a:srgbClr val="C0C0C0"/>
                  </a:outerShdw>
                </a:effectLst>
                <a:cs typeface="Arial" panose="020B0604020202020204" pitchFamily="34" charset="0"/>
              </a:rPr>
              <a:t>		pulp fibers.</a:t>
            </a:r>
          </a:p>
          <a:p>
            <a:pPr>
              <a:defRPr/>
            </a:pPr>
            <a:endParaRPr lang="en-US" altLang="en-US" sz="2600" dirty="0">
              <a:solidFill>
                <a:schemeClr val="bg2"/>
              </a:solidFill>
              <a:effectLst>
                <a:outerShdw blurRad="38100" dist="38100" dir="2700000" algn="tl">
                  <a:srgbClr val="C0C0C0"/>
                </a:outerShdw>
              </a:effectLst>
              <a:cs typeface="Arial" panose="020B0604020202020204" pitchFamily="34" charset="0"/>
            </a:endParaRPr>
          </a:p>
          <a:p>
            <a:pPr>
              <a:defRPr/>
            </a:pPr>
            <a:r>
              <a:rPr lang="en-US" altLang="en-US" sz="2600" b="1" dirty="0">
                <a:solidFill>
                  <a:schemeClr val="hlink"/>
                </a:solidFill>
                <a:effectLst>
                  <a:outerShdw blurRad="38100" dist="38100" dir="2700000" algn="tl">
                    <a:srgbClr val="C0C0C0"/>
                  </a:outerShdw>
                </a:effectLst>
                <a:cs typeface="Arial" panose="020B0604020202020204" pitchFamily="34" charset="0"/>
              </a:rPr>
              <a:t>Leaching  </a:t>
            </a:r>
            <a:r>
              <a:rPr lang="en-US" altLang="en-US" sz="2600" b="1" dirty="0">
                <a:solidFill>
                  <a:srgbClr val="FF0000"/>
                </a:solidFill>
                <a:effectLst>
                  <a:outerShdw blurRad="38100" dist="38100" dir="2700000" algn="tl">
                    <a:srgbClr val="C0C0C0"/>
                  </a:outerShdw>
                </a:effectLst>
                <a:cs typeface="Arial" panose="020B0604020202020204" pitchFamily="34" charset="0"/>
              </a:rPr>
              <a:t>-  </a:t>
            </a:r>
            <a:r>
              <a:rPr lang="en-US" altLang="en-US" sz="2600" dirty="0">
                <a:solidFill>
                  <a:srgbClr val="FF0000"/>
                </a:solidFill>
                <a:effectLst>
                  <a:outerShdw blurRad="38100" dist="38100" dir="2700000" algn="tl">
                    <a:srgbClr val="C0C0C0"/>
                  </a:outerShdw>
                </a:effectLst>
                <a:cs typeface="Arial" panose="020B0604020202020204" pitchFamily="34" charset="0"/>
              </a:rPr>
              <a:t>Dissolved solids &amp; Chemicals interior of the</a:t>
            </a:r>
          </a:p>
          <a:p>
            <a:pPr>
              <a:defRPr/>
            </a:pPr>
            <a:r>
              <a:rPr lang="en-US" altLang="en-US" sz="2600" dirty="0">
                <a:solidFill>
                  <a:srgbClr val="FF0000"/>
                </a:solidFill>
                <a:effectLst>
                  <a:outerShdw blurRad="38100" dist="38100" dir="2700000" algn="tl">
                    <a:srgbClr val="C0C0C0"/>
                  </a:outerShdw>
                </a:effectLst>
                <a:cs typeface="Arial" panose="020B0604020202020204" pitchFamily="34" charset="0"/>
              </a:rPr>
              <a:t>	          pulp fibers diffuse into the surrounding liquor</a:t>
            </a:r>
          </a:p>
          <a:p>
            <a:pPr>
              <a:defRPr/>
            </a:pPr>
            <a:r>
              <a:rPr lang="en-US" altLang="en-US" sz="2600" dirty="0">
                <a:solidFill>
                  <a:srgbClr val="FF0000"/>
                </a:solidFill>
                <a:effectLst>
                  <a:outerShdw blurRad="38100" dist="38100" dir="2700000" algn="tl">
                    <a:srgbClr val="C0C0C0"/>
                  </a:outerShdw>
                </a:effectLst>
                <a:cs typeface="Arial" panose="020B0604020202020204" pitchFamily="34" charset="0"/>
              </a:rPr>
              <a:t>	          before they can be removed.</a:t>
            </a:r>
            <a:endParaRPr lang="th-TH" altLang="en-US" sz="2600" dirty="0">
              <a:solidFill>
                <a:srgbClr val="FF0000"/>
              </a:solidFill>
              <a:effectLst>
                <a:outerShdw blurRad="38100" dist="38100" dir="2700000" algn="tl">
                  <a:srgbClr val="C0C0C0"/>
                </a:outerShdw>
              </a:effectLst>
              <a:cs typeface="Arial" panose="020B0604020202020204" pitchFamily="34" charset="0"/>
            </a:endParaRPr>
          </a:p>
        </p:txBody>
      </p:sp>
      <p:sp>
        <p:nvSpPr>
          <p:cNvPr id="209923" name="Text Box 3"/>
          <p:cNvSpPr txBox="1">
            <a:spLocks noChangeArrowheads="1"/>
          </p:cNvSpPr>
          <p:nvPr/>
        </p:nvSpPr>
        <p:spPr bwMode="auto">
          <a:xfrm>
            <a:off x="381000" y="4114800"/>
            <a:ext cx="7537450" cy="1814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400">
                <a:solidFill>
                  <a:schemeClr val="tx1"/>
                </a:solidFill>
                <a:latin typeface="Times New Roman" panose="02020603050405020304" pitchFamily="18" charset="0"/>
                <a:cs typeface="Angsana New" panose="02020603050405020304" pitchFamily="18" charset="-34"/>
              </a:defRPr>
            </a:lvl1pPr>
            <a:lvl2pPr marL="914400" indent="-457200">
              <a:defRPr sz="2400">
                <a:solidFill>
                  <a:schemeClr val="tx1"/>
                </a:solidFill>
                <a:latin typeface="Times New Roman" panose="02020603050405020304" pitchFamily="18" charset="0"/>
                <a:cs typeface="Angsana New" panose="02020603050405020304" pitchFamily="18" charset="-34"/>
              </a:defRPr>
            </a:lvl2pPr>
            <a:lvl3pPr marL="1371600" indent="-457200">
              <a:defRPr sz="2400">
                <a:solidFill>
                  <a:schemeClr val="tx1"/>
                </a:solidFill>
                <a:latin typeface="Times New Roman" panose="02020603050405020304" pitchFamily="18" charset="0"/>
                <a:cs typeface="Angsana New" panose="02020603050405020304" pitchFamily="18" charset="-34"/>
              </a:defRPr>
            </a:lvl3pPr>
            <a:lvl4pPr marL="1828800" indent="-457200">
              <a:defRPr sz="2400">
                <a:solidFill>
                  <a:schemeClr val="tx1"/>
                </a:solidFill>
                <a:latin typeface="Times New Roman" panose="02020603050405020304" pitchFamily="18" charset="0"/>
                <a:cs typeface="Angsana New" panose="02020603050405020304" pitchFamily="18" charset="-34"/>
              </a:defRPr>
            </a:lvl4pPr>
            <a:lvl5pPr marL="2286000" indent="-457200">
              <a:defRPr sz="2400">
                <a:solidFill>
                  <a:schemeClr val="tx1"/>
                </a:solidFill>
                <a:latin typeface="Times New Roman" panose="02020603050405020304" pitchFamily="18" charset="0"/>
                <a:cs typeface="Angsana New" panose="02020603050405020304" pitchFamily="18" charset="-34"/>
              </a:defRPr>
            </a:lvl5pPr>
            <a:lvl6pPr marL="2743200" indent="-457200" fontAlgn="base">
              <a:spcBef>
                <a:spcPct val="0"/>
              </a:spcBef>
              <a:spcAft>
                <a:spcPct val="0"/>
              </a:spcAft>
              <a:defRPr sz="2400">
                <a:solidFill>
                  <a:schemeClr val="tx1"/>
                </a:solidFill>
                <a:latin typeface="Times New Roman" panose="02020603050405020304" pitchFamily="18" charset="0"/>
                <a:cs typeface="Angsana New" panose="02020603050405020304" pitchFamily="18" charset="-34"/>
              </a:defRPr>
            </a:lvl6pPr>
            <a:lvl7pPr marL="3200400" indent="-457200" fontAlgn="base">
              <a:spcBef>
                <a:spcPct val="0"/>
              </a:spcBef>
              <a:spcAft>
                <a:spcPct val="0"/>
              </a:spcAft>
              <a:defRPr sz="2400">
                <a:solidFill>
                  <a:schemeClr val="tx1"/>
                </a:solidFill>
                <a:latin typeface="Times New Roman" panose="02020603050405020304" pitchFamily="18" charset="0"/>
                <a:cs typeface="Angsana New" panose="02020603050405020304" pitchFamily="18" charset="-34"/>
              </a:defRPr>
            </a:lvl7pPr>
            <a:lvl8pPr marL="3657600" indent="-457200" fontAlgn="base">
              <a:spcBef>
                <a:spcPct val="0"/>
              </a:spcBef>
              <a:spcAft>
                <a:spcPct val="0"/>
              </a:spcAft>
              <a:defRPr sz="2400">
                <a:solidFill>
                  <a:schemeClr val="tx1"/>
                </a:solidFill>
                <a:latin typeface="Times New Roman" panose="02020603050405020304" pitchFamily="18" charset="0"/>
                <a:cs typeface="Angsana New" panose="02020603050405020304" pitchFamily="18" charset="-34"/>
              </a:defRPr>
            </a:lvl8pPr>
            <a:lvl9pPr marL="4114800" indent="-457200" fontAlgn="base">
              <a:spcBef>
                <a:spcPct val="0"/>
              </a:spcBef>
              <a:spcAft>
                <a:spcPct val="0"/>
              </a:spcAft>
              <a:defRPr sz="2400">
                <a:solidFill>
                  <a:schemeClr val="tx1"/>
                </a:solidFill>
                <a:latin typeface="Times New Roman" panose="02020603050405020304" pitchFamily="18" charset="0"/>
                <a:cs typeface="Angsana New" panose="02020603050405020304" pitchFamily="18" charset="-34"/>
              </a:defRPr>
            </a:lvl9pPr>
          </a:lstStyle>
          <a:p>
            <a:pPr>
              <a:defRPr/>
            </a:pPr>
            <a:r>
              <a:rPr lang="en-US" altLang="en-US" sz="3200" b="1" dirty="0" smtClean="0">
                <a:solidFill>
                  <a:srgbClr val="FF0000"/>
                </a:solidFill>
                <a:effectLst>
                  <a:outerShdw blurRad="38100" dist="38100" dir="2700000" algn="tl">
                    <a:srgbClr val="C0C0C0"/>
                  </a:outerShdw>
                </a:effectLst>
                <a:latin typeface="Arial" panose="020B0604020202020204" pitchFamily="34" charset="0"/>
                <a:cs typeface="Arial" panose="020B0604020202020204" pitchFamily="34" charset="0"/>
              </a:rPr>
              <a:t>WASHING OPERATION</a:t>
            </a:r>
          </a:p>
          <a:p>
            <a:pPr>
              <a:defRPr/>
            </a:pPr>
            <a:endParaRPr lang="en-US" altLang="en-US" sz="900" b="1" dirty="0" smtClean="0">
              <a:solidFill>
                <a:srgbClr val="FF0000"/>
              </a:solidFill>
            </a:endParaRPr>
          </a:p>
          <a:p>
            <a:pPr>
              <a:defRPr/>
            </a:pPr>
            <a:r>
              <a:rPr lang="en-US" altLang="en-US" sz="2800" b="1" dirty="0" smtClean="0">
                <a:solidFill>
                  <a:srgbClr val="FF0000"/>
                </a:solidFill>
                <a:latin typeface="Arial" panose="020B0604020202020204" pitchFamily="34" charset="0"/>
                <a:cs typeface="Arial" panose="020B0604020202020204" pitchFamily="34" charset="0"/>
              </a:rPr>
              <a:t>1. Displacement washing </a:t>
            </a:r>
          </a:p>
          <a:p>
            <a:pPr lvl="2">
              <a:defRPr/>
            </a:pPr>
            <a:endParaRPr lang="en-US" altLang="en-US" sz="1600" b="1" dirty="0" smtClean="0">
              <a:solidFill>
                <a:srgbClr val="FF0000"/>
              </a:solidFill>
              <a:latin typeface="Arial" panose="020B0604020202020204" pitchFamily="34" charset="0"/>
              <a:cs typeface="Arial" panose="020B0604020202020204" pitchFamily="34" charset="0"/>
            </a:endParaRPr>
          </a:p>
          <a:p>
            <a:pPr>
              <a:defRPr/>
            </a:pPr>
            <a:r>
              <a:rPr lang="en-US" altLang="en-US" sz="2800" b="1" dirty="0" smtClean="0">
                <a:solidFill>
                  <a:srgbClr val="FF0000"/>
                </a:solidFill>
                <a:latin typeface="Arial" panose="020B0604020202020204" pitchFamily="34" charset="0"/>
                <a:cs typeface="Arial" panose="020B0604020202020204" pitchFamily="34" charset="0"/>
              </a:rPr>
              <a:t>2. Dilution/Extraction washing</a:t>
            </a:r>
            <a:endParaRPr lang="th-TH" altLang="en-US" sz="2800" b="1" dirty="0" smtClean="0">
              <a:solidFill>
                <a:srgbClr val="FF0000"/>
              </a:solidFill>
              <a:latin typeface="Arial" panose="020B0604020202020204" pitchFamily="34" charset="0"/>
              <a:cs typeface="Arial" panose="020B060402020202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09923"/>
                                        </p:tgtEl>
                                        <p:attrNameLst>
                                          <p:attrName>style.visibility</p:attrName>
                                        </p:attrNameLst>
                                      </p:cBhvr>
                                      <p:to>
                                        <p:strVal val="visible"/>
                                      </p:to>
                                    </p:set>
                                    <p:anim calcmode="lin" valueType="num">
                                      <p:cBhvr additive="base">
                                        <p:cTn id="7" dur="500" fill="hold"/>
                                        <p:tgtEl>
                                          <p:spTgt spid="209923"/>
                                        </p:tgtEl>
                                        <p:attrNameLst>
                                          <p:attrName>ppt_x</p:attrName>
                                        </p:attrNameLst>
                                      </p:cBhvr>
                                      <p:tavLst>
                                        <p:tav tm="0">
                                          <p:val>
                                            <p:strVal val="0-#ppt_w/2"/>
                                          </p:val>
                                        </p:tav>
                                        <p:tav tm="100000">
                                          <p:val>
                                            <p:strVal val="#ppt_x"/>
                                          </p:val>
                                        </p:tav>
                                      </p:tavLst>
                                    </p:anim>
                                    <p:anim calcmode="lin" valueType="num">
                                      <p:cBhvr additive="base">
                                        <p:cTn id="8" dur="500" fill="hold"/>
                                        <p:tgtEl>
                                          <p:spTgt spid="2099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923" grpId="0" autoUpdateAnimBg="0"/>
    </p:bld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2"/>
          <p:cNvSpPr>
            <a:spLocks noChangeArrowheads="1"/>
          </p:cNvSpPr>
          <p:nvPr/>
        </p:nvSpPr>
        <p:spPr bwMode="auto">
          <a:xfrm>
            <a:off x="990600" y="304800"/>
            <a:ext cx="7391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lvl1pPr>
              <a:defRPr sz="2400">
                <a:solidFill>
                  <a:schemeClr val="tx1"/>
                </a:solidFill>
                <a:latin typeface="Times New Roman" panose="02020603050405020304" pitchFamily="18" charset="0"/>
                <a:cs typeface="Angsana New" panose="02020603050405020304" pitchFamily="18" charset="-34"/>
              </a:defRPr>
            </a:lvl1pPr>
            <a:lvl2pPr>
              <a:defRPr sz="2400">
                <a:solidFill>
                  <a:schemeClr val="tx1"/>
                </a:solidFill>
                <a:latin typeface="Times New Roman" panose="02020603050405020304" pitchFamily="18" charset="0"/>
                <a:cs typeface="Angsana New" panose="02020603050405020304" pitchFamily="18" charset="-34"/>
              </a:defRPr>
            </a:lvl2pPr>
            <a:lvl3pPr>
              <a:defRPr sz="2400">
                <a:solidFill>
                  <a:schemeClr val="tx1"/>
                </a:solidFill>
                <a:latin typeface="Times New Roman" panose="02020603050405020304" pitchFamily="18" charset="0"/>
                <a:cs typeface="Angsana New" panose="02020603050405020304" pitchFamily="18" charset="-34"/>
              </a:defRPr>
            </a:lvl3pPr>
            <a:lvl4pPr>
              <a:defRPr sz="2400">
                <a:solidFill>
                  <a:schemeClr val="tx1"/>
                </a:solidFill>
                <a:latin typeface="Times New Roman" panose="02020603050405020304" pitchFamily="18" charset="0"/>
                <a:cs typeface="Angsana New" panose="02020603050405020304" pitchFamily="18" charset="-34"/>
              </a:defRPr>
            </a:lvl4pPr>
            <a:lvl5pPr>
              <a:defRPr sz="2400">
                <a:solidFill>
                  <a:schemeClr val="tx1"/>
                </a:solidFill>
                <a:latin typeface="Times New Roman" panose="02020603050405020304" pitchFamily="18" charset="0"/>
                <a:cs typeface="Angsana New" panose="02020603050405020304" pitchFamily="18" charset="-34"/>
              </a:defRPr>
            </a:lvl5pPr>
            <a:lvl6pPr marL="457200" fontAlgn="base">
              <a:spcBef>
                <a:spcPct val="0"/>
              </a:spcBef>
              <a:spcAft>
                <a:spcPct val="0"/>
              </a:spcAft>
              <a:defRPr sz="2400">
                <a:solidFill>
                  <a:schemeClr val="tx1"/>
                </a:solidFill>
                <a:latin typeface="Times New Roman" panose="02020603050405020304" pitchFamily="18" charset="0"/>
                <a:cs typeface="Angsana New" panose="02020603050405020304" pitchFamily="18" charset="-34"/>
              </a:defRPr>
            </a:lvl6pPr>
            <a:lvl7pPr marL="914400" fontAlgn="base">
              <a:spcBef>
                <a:spcPct val="0"/>
              </a:spcBef>
              <a:spcAft>
                <a:spcPct val="0"/>
              </a:spcAft>
              <a:defRPr sz="2400">
                <a:solidFill>
                  <a:schemeClr val="tx1"/>
                </a:solidFill>
                <a:latin typeface="Times New Roman" panose="02020603050405020304" pitchFamily="18" charset="0"/>
                <a:cs typeface="Angsana New" panose="02020603050405020304" pitchFamily="18" charset="-34"/>
              </a:defRPr>
            </a:lvl7pPr>
            <a:lvl8pPr marL="1371600" fontAlgn="base">
              <a:spcBef>
                <a:spcPct val="0"/>
              </a:spcBef>
              <a:spcAft>
                <a:spcPct val="0"/>
              </a:spcAft>
              <a:defRPr sz="2400">
                <a:solidFill>
                  <a:schemeClr val="tx1"/>
                </a:solidFill>
                <a:latin typeface="Times New Roman" panose="02020603050405020304" pitchFamily="18" charset="0"/>
                <a:cs typeface="Angsana New" panose="02020603050405020304" pitchFamily="18" charset="-34"/>
              </a:defRPr>
            </a:lvl8pPr>
            <a:lvl9pPr marL="1828800" fontAlgn="base">
              <a:spcBef>
                <a:spcPct val="0"/>
              </a:spcBef>
              <a:spcAft>
                <a:spcPct val="0"/>
              </a:spcAft>
              <a:defRPr sz="2400">
                <a:solidFill>
                  <a:schemeClr val="tx1"/>
                </a:solidFill>
                <a:latin typeface="Times New Roman" panose="02020603050405020304" pitchFamily="18" charset="0"/>
                <a:cs typeface="Angsana New" panose="02020603050405020304" pitchFamily="18" charset="-34"/>
              </a:defRPr>
            </a:lvl9pPr>
          </a:lstStyle>
          <a:p>
            <a:pPr>
              <a:defRPr/>
            </a:pPr>
            <a:r>
              <a:rPr lang="en-US" altLang="en-US" sz="3600" dirty="0" smtClean="0">
                <a:solidFill>
                  <a:srgbClr val="FF0000"/>
                </a:solidFill>
                <a:effectLst>
                  <a:outerShdw blurRad="38100" dist="38100" dir="2700000" algn="tl">
                    <a:srgbClr val="C0C0C0"/>
                  </a:outerShdw>
                </a:effectLst>
                <a:latin typeface="Arial" panose="020B0604020202020204" pitchFamily="34" charset="0"/>
                <a:cs typeface="Arial" panose="020B0604020202020204" pitchFamily="34" charset="0"/>
              </a:rPr>
              <a:t>Principle of </a:t>
            </a:r>
            <a:r>
              <a:rPr lang="en-US" altLang="en-US" sz="3600" dirty="0" smtClean="0">
                <a:solidFill>
                  <a:schemeClr val="hlink"/>
                </a:solidFill>
                <a:effectLst>
                  <a:outerShdw blurRad="38100" dist="38100" dir="2700000" algn="tl">
                    <a:srgbClr val="C0C0C0"/>
                  </a:outerShdw>
                </a:effectLst>
                <a:latin typeface="Arial" panose="020B0604020202020204" pitchFamily="34" charset="0"/>
                <a:cs typeface="Arial" panose="020B0604020202020204" pitchFamily="34" charset="0"/>
              </a:rPr>
              <a:t>displacement</a:t>
            </a:r>
            <a:r>
              <a:rPr lang="en-US" altLang="en-US" sz="3600" dirty="0" smtClean="0">
                <a:solidFill>
                  <a:schemeClr val="bg1"/>
                </a:solidFill>
                <a:effectLst>
                  <a:outerShdw blurRad="38100" dist="38100" dir="2700000" algn="tl">
                    <a:srgbClr val="C0C0C0"/>
                  </a:outerShdw>
                </a:effectLst>
                <a:latin typeface="Arial" panose="020B0604020202020204" pitchFamily="34" charset="0"/>
                <a:cs typeface="Arial" panose="020B0604020202020204" pitchFamily="34" charset="0"/>
              </a:rPr>
              <a:t> </a:t>
            </a:r>
            <a:r>
              <a:rPr lang="en-US" altLang="en-US" sz="3600" dirty="0" smtClean="0">
                <a:solidFill>
                  <a:srgbClr val="FF0000"/>
                </a:solidFill>
                <a:effectLst>
                  <a:outerShdw blurRad="38100" dist="38100" dir="2700000" algn="tl">
                    <a:srgbClr val="C0C0C0"/>
                  </a:outerShdw>
                </a:effectLst>
                <a:latin typeface="Arial" panose="020B0604020202020204" pitchFamily="34" charset="0"/>
                <a:cs typeface="Arial" panose="020B0604020202020204" pitchFamily="34" charset="0"/>
              </a:rPr>
              <a:t>washing</a:t>
            </a:r>
            <a:endParaRPr lang="th-TH" altLang="en-US" sz="3600" dirty="0" smtClean="0">
              <a:solidFill>
                <a:srgbClr val="FF0000"/>
              </a:solidFill>
              <a:effectLst>
                <a:outerShdw blurRad="38100" dist="38100" dir="2700000" algn="tl">
                  <a:srgbClr val="C0C0C0"/>
                </a:outerShdw>
              </a:effectLst>
              <a:latin typeface="Arial" panose="020B0604020202020204" pitchFamily="34" charset="0"/>
              <a:cs typeface="Arial" panose="020B0604020202020204" pitchFamily="34" charset="0"/>
            </a:endParaRPr>
          </a:p>
        </p:txBody>
      </p:sp>
      <p:pic>
        <p:nvPicPr>
          <p:cNvPr id="316419" name="Picture 3" descr="jn17-00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447800"/>
            <a:ext cx="7023100" cy="505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6420" name="Rectangle 4" descr="20%"/>
          <p:cNvSpPr>
            <a:spLocks noChangeArrowheads="1"/>
          </p:cNvSpPr>
          <p:nvPr/>
        </p:nvSpPr>
        <p:spPr bwMode="auto">
          <a:xfrm>
            <a:off x="2514600" y="2743200"/>
            <a:ext cx="1295400" cy="609600"/>
          </a:xfrm>
          <a:prstGeom prst="rect">
            <a:avLst/>
          </a:prstGeom>
          <a:pattFill prst="pct20">
            <a:fgClr>
              <a:schemeClr val="tx1"/>
            </a:fgClr>
            <a:bgClr>
              <a:srgbClr val="996600"/>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316421" name="Rectangle 5"/>
          <p:cNvSpPr>
            <a:spLocks noChangeArrowheads="1"/>
          </p:cNvSpPr>
          <p:nvPr/>
        </p:nvSpPr>
        <p:spPr bwMode="auto">
          <a:xfrm>
            <a:off x="4572000" y="2819400"/>
            <a:ext cx="1295400" cy="609600"/>
          </a:xfrm>
          <a:prstGeom prst="rect">
            <a:avLst/>
          </a:prstGeom>
          <a:gradFill rotWithShape="0">
            <a:gsLst>
              <a:gs pos="0">
                <a:schemeClr val="tx2"/>
              </a:gs>
              <a:gs pos="100000">
                <a:srgbClr val="996600"/>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316422" name="Rectangle 6" descr="80%"/>
          <p:cNvSpPr>
            <a:spLocks noChangeArrowheads="1"/>
          </p:cNvSpPr>
          <p:nvPr/>
        </p:nvSpPr>
        <p:spPr bwMode="auto">
          <a:xfrm>
            <a:off x="6629400" y="2819400"/>
            <a:ext cx="1295400" cy="609600"/>
          </a:xfrm>
          <a:prstGeom prst="rect">
            <a:avLst/>
          </a:prstGeom>
          <a:pattFill prst="pct80">
            <a:fgClr>
              <a:schemeClr val="tx2"/>
            </a:fgClr>
            <a:bgClr>
              <a:srgbClr val="FFFFFF"/>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316423" name="Rectangle 7" descr="Wave"/>
          <p:cNvSpPr>
            <a:spLocks noChangeArrowheads="1"/>
          </p:cNvSpPr>
          <p:nvPr/>
        </p:nvSpPr>
        <p:spPr bwMode="auto">
          <a:xfrm>
            <a:off x="6659563" y="4581525"/>
            <a:ext cx="1295400" cy="646113"/>
          </a:xfrm>
          <a:prstGeom prst="rect">
            <a:avLst/>
          </a:prstGeom>
          <a:pattFill prst="wave">
            <a:fgClr>
              <a:srgbClr val="B2B2B2"/>
            </a:fgClr>
            <a:bgClr>
              <a:srgbClr val="333300"/>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316424" name="Rectangle 8" descr="Wave"/>
          <p:cNvSpPr>
            <a:spLocks noChangeArrowheads="1"/>
          </p:cNvSpPr>
          <p:nvPr/>
        </p:nvSpPr>
        <p:spPr bwMode="auto">
          <a:xfrm>
            <a:off x="4572000" y="5013325"/>
            <a:ext cx="1295400" cy="215900"/>
          </a:xfrm>
          <a:prstGeom prst="rect">
            <a:avLst/>
          </a:prstGeom>
          <a:pattFill prst="wave">
            <a:fgClr>
              <a:srgbClr val="B2B2B2"/>
            </a:fgClr>
            <a:bgClr>
              <a:srgbClr val="333300"/>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Tree>
  </p:cSld>
  <p:clrMapOvr>
    <a:masterClrMapping/>
  </p:clrMapOvr>
  <p:transition spd="slow"/>
  <p:timing>
    <p:tnLst>
      <p:par>
        <p:cTn id="1" dur="indefinite" restart="never" nodeType="tmRoot"/>
      </p:par>
    </p:tn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2"/>
          <p:cNvSpPr>
            <a:spLocks noChangeArrowheads="1"/>
          </p:cNvSpPr>
          <p:nvPr/>
        </p:nvSpPr>
        <p:spPr bwMode="auto">
          <a:xfrm>
            <a:off x="685800" y="381000"/>
            <a:ext cx="80772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lvl1pPr>
              <a:defRPr sz="2400">
                <a:solidFill>
                  <a:schemeClr val="tx1"/>
                </a:solidFill>
                <a:latin typeface="Times New Roman" panose="02020603050405020304" pitchFamily="18" charset="0"/>
                <a:cs typeface="Angsana New" panose="02020603050405020304" pitchFamily="18" charset="-34"/>
              </a:defRPr>
            </a:lvl1pPr>
            <a:lvl2pPr>
              <a:defRPr sz="2400">
                <a:solidFill>
                  <a:schemeClr val="tx1"/>
                </a:solidFill>
                <a:latin typeface="Times New Roman" panose="02020603050405020304" pitchFamily="18" charset="0"/>
                <a:cs typeface="Angsana New" panose="02020603050405020304" pitchFamily="18" charset="-34"/>
              </a:defRPr>
            </a:lvl2pPr>
            <a:lvl3pPr>
              <a:defRPr sz="2400">
                <a:solidFill>
                  <a:schemeClr val="tx1"/>
                </a:solidFill>
                <a:latin typeface="Times New Roman" panose="02020603050405020304" pitchFamily="18" charset="0"/>
                <a:cs typeface="Angsana New" panose="02020603050405020304" pitchFamily="18" charset="-34"/>
              </a:defRPr>
            </a:lvl3pPr>
            <a:lvl4pPr>
              <a:defRPr sz="2400">
                <a:solidFill>
                  <a:schemeClr val="tx1"/>
                </a:solidFill>
                <a:latin typeface="Times New Roman" panose="02020603050405020304" pitchFamily="18" charset="0"/>
                <a:cs typeface="Angsana New" panose="02020603050405020304" pitchFamily="18" charset="-34"/>
              </a:defRPr>
            </a:lvl4pPr>
            <a:lvl5pPr>
              <a:defRPr sz="2400">
                <a:solidFill>
                  <a:schemeClr val="tx1"/>
                </a:solidFill>
                <a:latin typeface="Times New Roman" panose="02020603050405020304" pitchFamily="18" charset="0"/>
                <a:cs typeface="Angsana New" panose="02020603050405020304" pitchFamily="18" charset="-34"/>
              </a:defRPr>
            </a:lvl5pPr>
            <a:lvl6pPr marL="457200" fontAlgn="base">
              <a:spcBef>
                <a:spcPct val="0"/>
              </a:spcBef>
              <a:spcAft>
                <a:spcPct val="0"/>
              </a:spcAft>
              <a:defRPr sz="2400">
                <a:solidFill>
                  <a:schemeClr val="tx1"/>
                </a:solidFill>
                <a:latin typeface="Times New Roman" panose="02020603050405020304" pitchFamily="18" charset="0"/>
                <a:cs typeface="Angsana New" panose="02020603050405020304" pitchFamily="18" charset="-34"/>
              </a:defRPr>
            </a:lvl6pPr>
            <a:lvl7pPr marL="914400" fontAlgn="base">
              <a:spcBef>
                <a:spcPct val="0"/>
              </a:spcBef>
              <a:spcAft>
                <a:spcPct val="0"/>
              </a:spcAft>
              <a:defRPr sz="2400">
                <a:solidFill>
                  <a:schemeClr val="tx1"/>
                </a:solidFill>
                <a:latin typeface="Times New Roman" panose="02020603050405020304" pitchFamily="18" charset="0"/>
                <a:cs typeface="Angsana New" panose="02020603050405020304" pitchFamily="18" charset="-34"/>
              </a:defRPr>
            </a:lvl7pPr>
            <a:lvl8pPr marL="1371600" fontAlgn="base">
              <a:spcBef>
                <a:spcPct val="0"/>
              </a:spcBef>
              <a:spcAft>
                <a:spcPct val="0"/>
              </a:spcAft>
              <a:defRPr sz="2400">
                <a:solidFill>
                  <a:schemeClr val="tx1"/>
                </a:solidFill>
                <a:latin typeface="Times New Roman" panose="02020603050405020304" pitchFamily="18" charset="0"/>
                <a:cs typeface="Angsana New" panose="02020603050405020304" pitchFamily="18" charset="-34"/>
              </a:defRPr>
            </a:lvl8pPr>
            <a:lvl9pPr marL="1828800" fontAlgn="base">
              <a:spcBef>
                <a:spcPct val="0"/>
              </a:spcBef>
              <a:spcAft>
                <a:spcPct val="0"/>
              </a:spcAft>
              <a:defRPr sz="2400">
                <a:solidFill>
                  <a:schemeClr val="tx1"/>
                </a:solidFill>
                <a:latin typeface="Times New Roman" panose="02020603050405020304" pitchFamily="18" charset="0"/>
                <a:cs typeface="Angsana New" panose="02020603050405020304" pitchFamily="18" charset="-34"/>
              </a:defRPr>
            </a:lvl9pPr>
          </a:lstStyle>
          <a:p>
            <a:pPr>
              <a:defRPr/>
            </a:pPr>
            <a:r>
              <a:rPr lang="en-US" altLang="en-US" sz="3600" dirty="0" smtClean="0">
                <a:solidFill>
                  <a:srgbClr val="FF0000"/>
                </a:solidFill>
                <a:effectLst>
                  <a:outerShdw blurRad="38100" dist="38100" dir="2700000" algn="tl">
                    <a:srgbClr val="C0C0C0"/>
                  </a:outerShdw>
                </a:effectLst>
                <a:latin typeface="Arial" panose="020B0604020202020204" pitchFamily="34" charset="0"/>
                <a:cs typeface="Arial" panose="020B0604020202020204" pitchFamily="34" charset="0"/>
              </a:rPr>
              <a:t>Principle of </a:t>
            </a:r>
            <a:r>
              <a:rPr lang="en-US" altLang="en-US" sz="3600" dirty="0" smtClean="0">
                <a:solidFill>
                  <a:schemeClr val="hlink"/>
                </a:solidFill>
                <a:effectLst>
                  <a:outerShdw blurRad="38100" dist="38100" dir="2700000" algn="tl">
                    <a:srgbClr val="C0C0C0"/>
                  </a:outerShdw>
                </a:effectLst>
                <a:latin typeface="Arial" panose="020B0604020202020204" pitchFamily="34" charset="0"/>
                <a:cs typeface="Arial" panose="020B0604020202020204" pitchFamily="34" charset="0"/>
              </a:rPr>
              <a:t>dilution/extraction</a:t>
            </a:r>
            <a:r>
              <a:rPr lang="en-US" altLang="en-US" sz="3600" dirty="0" smtClean="0">
                <a:solidFill>
                  <a:schemeClr val="bg1"/>
                </a:solidFill>
                <a:effectLst>
                  <a:outerShdw blurRad="38100" dist="38100" dir="2700000" algn="tl">
                    <a:srgbClr val="C0C0C0"/>
                  </a:outerShdw>
                </a:effectLst>
                <a:latin typeface="Arial" panose="020B0604020202020204" pitchFamily="34" charset="0"/>
                <a:cs typeface="Arial" panose="020B0604020202020204" pitchFamily="34" charset="0"/>
              </a:rPr>
              <a:t> </a:t>
            </a:r>
            <a:r>
              <a:rPr lang="en-US" altLang="en-US" sz="3600" dirty="0" smtClean="0">
                <a:solidFill>
                  <a:srgbClr val="FF0000"/>
                </a:solidFill>
                <a:effectLst>
                  <a:outerShdw blurRad="38100" dist="38100" dir="2700000" algn="tl">
                    <a:srgbClr val="C0C0C0"/>
                  </a:outerShdw>
                </a:effectLst>
                <a:latin typeface="Arial" panose="020B0604020202020204" pitchFamily="34" charset="0"/>
                <a:cs typeface="Arial" panose="020B0604020202020204" pitchFamily="34" charset="0"/>
              </a:rPr>
              <a:t>washing</a:t>
            </a:r>
            <a:endParaRPr lang="th-TH" altLang="en-US" sz="3600" dirty="0" smtClean="0">
              <a:solidFill>
                <a:srgbClr val="FF0000"/>
              </a:solidFill>
              <a:effectLst>
                <a:outerShdw blurRad="38100" dist="38100" dir="2700000" algn="tl">
                  <a:srgbClr val="C0C0C0"/>
                </a:outerShdw>
              </a:effectLst>
              <a:latin typeface="Arial" panose="020B0604020202020204" pitchFamily="34" charset="0"/>
              <a:cs typeface="Arial" panose="020B0604020202020204" pitchFamily="34" charset="0"/>
            </a:endParaRPr>
          </a:p>
        </p:txBody>
      </p:sp>
      <p:grpSp>
        <p:nvGrpSpPr>
          <p:cNvPr id="317443" name="Group 3"/>
          <p:cNvGrpSpPr>
            <a:grpSpLocks/>
          </p:cNvGrpSpPr>
          <p:nvPr/>
        </p:nvGrpSpPr>
        <p:grpSpPr bwMode="auto">
          <a:xfrm>
            <a:off x="838200" y="1570038"/>
            <a:ext cx="7621588" cy="4668837"/>
            <a:chOff x="528" y="989"/>
            <a:chExt cx="4801" cy="2941"/>
          </a:xfrm>
        </p:grpSpPr>
        <p:pic>
          <p:nvPicPr>
            <p:cNvPr id="317444" name="Picture 4" descr="jn17-0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8" y="989"/>
              <a:ext cx="4801" cy="29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45" name="Rectangle 5" descr="Wave"/>
            <p:cNvSpPr>
              <a:spLocks noChangeArrowheads="1"/>
            </p:cNvSpPr>
            <p:nvPr/>
          </p:nvSpPr>
          <p:spPr bwMode="auto">
            <a:xfrm>
              <a:off x="4513" y="2704"/>
              <a:ext cx="771" cy="407"/>
            </a:xfrm>
            <a:prstGeom prst="rect">
              <a:avLst/>
            </a:prstGeom>
            <a:pattFill prst="wave">
              <a:fgClr>
                <a:srgbClr val="B2B2B2"/>
              </a:fgClr>
              <a:bgClr>
                <a:srgbClr val="333300"/>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317446" name="Rectangle 6" descr="Wave"/>
            <p:cNvSpPr>
              <a:spLocks noChangeArrowheads="1"/>
            </p:cNvSpPr>
            <p:nvPr/>
          </p:nvSpPr>
          <p:spPr bwMode="auto">
            <a:xfrm>
              <a:off x="2925" y="2886"/>
              <a:ext cx="726" cy="227"/>
            </a:xfrm>
            <a:prstGeom prst="rect">
              <a:avLst/>
            </a:prstGeom>
            <a:pattFill prst="wave">
              <a:fgClr>
                <a:srgbClr val="B2B2B2"/>
              </a:fgClr>
              <a:bgClr>
                <a:srgbClr val="333300"/>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317447" name="Rectangle 7" descr="80%"/>
            <p:cNvSpPr>
              <a:spLocks noChangeArrowheads="1"/>
            </p:cNvSpPr>
            <p:nvPr/>
          </p:nvSpPr>
          <p:spPr bwMode="auto">
            <a:xfrm>
              <a:off x="2925" y="1797"/>
              <a:ext cx="726" cy="227"/>
            </a:xfrm>
            <a:prstGeom prst="rect">
              <a:avLst/>
            </a:prstGeom>
            <a:pattFill prst="pct80">
              <a:fgClr>
                <a:schemeClr val="tx2"/>
              </a:fgClr>
              <a:bgClr>
                <a:srgbClr val="FFFFFF"/>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317448" name="Rectangle 8" descr="80%"/>
            <p:cNvSpPr>
              <a:spLocks noChangeArrowheads="1"/>
            </p:cNvSpPr>
            <p:nvPr/>
          </p:nvSpPr>
          <p:spPr bwMode="auto">
            <a:xfrm>
              <a:off x="4513" y="1933"/>
              <a:ext cx="726" cy="91"/>
            </a:xfrm>
            <a:prstGeom prst="rect">
              <a:avLst/>
            </a:prstGeom>
            <a:pattFill prst="pct80">
              <a:fgClr>
                <a:schemeClr val="tx2"/>
              </a:fgClr>
              <a:bgClr>
                <a:srgbClr val="FFFFFF"/>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317449" name="Rectangle 9"/>
            <p:cNvSpPr>
              <a:spLocks noChangeArrowheads="1"/>
            </p:cNvSpPr>
            <p:nvPr/>
          </p:nvSpPr>
          <p:spPr bwMode="auto">
            <a:xfrm>
              <a:off x="1565" y="2115"/>
              <a:ext cx="725" cy="589"/>
            </a:xfrm>
            <a:prstGeom prst="rect">
              <a:avLst/>
            </a:prstGeom>
            <a:gradFill rotWithShape="0">
              <a:gsLst>
                <a:gs pos="0">
                  <a:srgbClr val="996600"/>
                </a:gs>
                <a:gs pos="100000">
                  <a:schemeClr val="tx2"/>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317450" name="AutoShape 10"/>
            <p:cNvSpPr>
              <a:spLocks noChangeArrowheads="1"/>
            </p:cNvSpPr>
            <p:nvPr/>
          </p:nvSpPr>
          <p:spPr bwMode="auto">
            <a:xfrm>
              <a:off x="1701" y="2251"/>
              <a:ext cx="318" cy="363"/>
            </a:xfrm>
            <a:prstGeom prst="curvedRightArrow">
              <a:avLst>
                <a:gd name="adj1" fmla="val 20251"/>
                <a:gd name="adj2" fmla="val 43081"/>
                <a:gd name="adj3" fmla="val 33333"/>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grpSp>
          <p:nvGrpSpPr>
            <p:cNvPr id="317451" name="Group 11"/>
            <p:cNvGrpSpPr>
              <a:grpSpLocks/>
            </p:cNvGrpSpPr>
            <p:nvPr/>
          </p:nvGrpSpPr>
          <p:grpSpPr bwMode="auto">
            <a:xfrm>
              <a:off x="1791" y="1752"/>
              <a:ext cx="272" cy="726"/>
              <a:chOff x="1791" y="1752"/>
              <a:chExt cx="272" cy="726"/>
            </a:xfrm>
          </p:grpSpPr>
          <p:sp>
            <p:nvSpPr>
              <p:cNvPr id="317452" name="Oval 12"/>
              <p:cNvSpPr>
                <a:spLocks noChangeArrowheads="1"/>
              </p:cNvSpPr>
              <p:nvPr/>
            </p:nvSpPr>
            <p:spPr bwMode="auto">
              <a:xfrm>
                <a:off x="1791" y="2387"/>
                <a:ext cx="136" cy="91"/>
              </a:xfrm>
              <a:prstGeom prst="ellipse">
                <a:avLst/>
              </a:prstGeom>
              <a:solidFill>
                <a:schemeClr val="bg2"/>
              </a:solidFill>
              <a:ln w="9525">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317453" name="Oval 13"/>
              <p:cNvSpPr>
                <a:spLocks noChangeArrowheads="1"/>
              </p:cNvSpPr>
              <p:nvPr/>
            </p:nvSpPr>
            <p:spPr bwMode="auto">
              <a:xfrm>
                <a:off x="1927" y="2387"/>
                <a:ext cx="136" cy="91"/>
              </a:xfrm>
              <a:prstGeom prst="ellipse">
                <a:avLst/>
              </a:prstGeom>
              <a:solidFill>
                <a:schemeClr val="bg2"/>
              </a:solidFill>
              <a:ln w="9525">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317454" name="Line 14"/>
              <p:cNvSpPr>
                <a:spLocks noChangeShapeType="1"/>
              </p:cNvSpPr>
              <p:nvPr/>
            </p:nvSpPr>
            <p:spPr bwMode="auto">
              <a:xfrm>
                <a:off x="1927" y="1752"/>
                <a:ext cx="0" cy="68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spTree>
  </p:cSld>
  <p:clrMapOvr>
    <a:masterClrMapping/>
  </p:clrMapOvr>
  <p:transition spd="slow"/>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0.5|0.9|0.7"/>
</p:tagLst>
</file>

<file path=ppt/tags/tag2.xml><?xml version="1.0" encoding="utf-8"?>
<p:tagLst xmlns:a="http://schemas.openxmlformats.org/drawingml/2006/main" xmlns:r="http://schemas.openxmlformats.org/officeDocument/2006/relationships" xmlns:p="http://schemas.openxmlformats.org/presentationml/2006/main">
  <p:tag name="TIMING" val="|0.5|0.9|0.7"/>
</p:tagLst>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otalTime>5790</TotalTime>
  <Words>6652</Words>
  <Application>Microsoft Office PowerPoint</Application>
  <PresentationFormat>On-screen Show (4:3)</PresentationFormat>
  <Paragraphs>1481</Paragraphs>
  <Slides>201</Slides>
  <Notes>86</Notes>
  <HiddenSlides>14</HiddenSlides>
  <MMClips>23</MMClips>
  <ScaleCrop>false</ScaleCrop>
  <HeadingPairs>
    <vt:vector size="6" baseType="variant">
      <vt:variant>
        <vt:lpstr>Theme</vt:lpstr>
      </vt:variant>
      <vt:variant>
        <vt:i4>2</vt:i4>
      </vt:variant>
      <vt:variant>
        <vt:lpstr>Embedded OLE Servers</vt:lpstr>
      </vt:variant>
      <vt:variant>
        <vt:i4>3</vt:i4>
      </vt:variant>
      <vt:variant>
        <vt:lpstr>Slide Titles</vt:lpstr>
      </vt:variant>
      <vt:variant>
        <vt:i4>201</vt:i4>
      </vt:variant>
    </vt:vector>
  </HeadingPairs>
  <TitlesOfParts>
    <vt:vector size="206" baseType="lpstr">
      <vt:lpstr>Custom Design</vt:lpstr>
      <vt:lpstr>Office Theme</vt:lpstr>
      <vt:lpstr>Worksheet</vt:lpstr>
      <vt:lpstr>Bitmap Image</vt:lpstr>
      <vt:lpstr>Equation</vt:lpstr>
      <vt:lpstr>PowerPoint Presentation</vt:lpstr>
      <vt:lpstr>Topics</vt:lpstr>
      <vt:lpstr>1. Introduction to Pulp industry </vt:lpstr>
      <vt:lpstr>1. Introduction to Pulp industry </vt:lpstr>
      <vt:lpstr>1. Introduction to Pulp industry </vt:lpstr>
      <vt:lpstr>1. Introduction to Pulp industry </vt:lpstr>
      <vt:lpstr>1. Introduction to Pulp industry </vt:lpstr>
      <vt:lpstr>1. Introduction to Pulp industry </vt:lpstr>
      <vt:lpstr>1. Introduction to Pulp industry </vt:lpstr>
      <vt:lpstr>1. Introduction to Pulp industry </vt:lpstr>
      <vt:lpstr>1. Introduction to Pulp industry </vt:lpstr>
      <vt:lpstr>1. Introduction to Pulp industry </vt:lpstr>
      <vt:lpstr>1. Introduction to Pulp industry </vt:lpstr>
      <vt:lpstr>2. Characteristic of wood and wood pulp </vt:lpstr>
      <vt:lpstr>2. Characteristic of wood and wood pulp </vt:lpstr>
      <vt:lpstr>2. Characteristic of wood and wood pulp </vt:lpstr>
      <vt:lpstr>2. Characteristic of wood and wood pulp </vt:lpstr>
      <vt:lpstr>2. Characteristic of wood and wood pulp </vt:lpstr>
      <vt:lpstr>2. Characteristic of wood and wood pulp </vt:lpstr>
      <vt:lpstr>2. Characteristic of wood and wood pulp </vt:lpstr>
      <vt:lpstr>2. Characteristic of wood and wood pulp </vt:lpstr>
      <vt:lpstr>3. Wood and chip handling sequences </vt:lpstr>
      <vt:lpstr>3. Wood and chip handling </vt:lpstr>
      <vt:lpstr>3. Wood and chip handling </vt:lpstr>
      <vt:lpstr>ยูคาลิปตัส</vt:lpstr>
      <vt:lpstr>PowerPoint Presentation</vt:lpstr>
      <vt:lpstr>ตรวจไม้ที่จุดตรวจ</vt:lpstr>
      <vt:lpstr>PowerPoint Presentation</vt:lpstr>
      <vt:lpstr>สุ่มตรวจไม้ในขณะป้อนไม้เข้าเครื่องลอกเปลือก</vt:lpstr>
      <vt:lpstr>PowerPoint Presentation</vt:lpstr>
      <vt:lpstr>LOG INDEX</vt:lpstr>
      <vt:lpstr>PowerPoint Presentation</vt:lpstr>
      <vt:lpstr>3. Wood and chip handling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3. Wood and chip handling </vt:lpstr>
      <vt:lpstr>3. Wood and chip handling </vt:lpstr>
      <vt:lpstr>PowerPoint Presentation</vt:lpstr>
      <vt:lpstr>3. Wood and chip handling </vt:lpstr>
      <vt:lpstr>PowerPoint Presentation</vt:lpstr>
      <vt:lpstr>PowerPoint Presentation</vt:lpstr>
      <vt:lpstr>PowerPoint Presentation</vt:lpstr>
      <vt:lpstr>PowerPoint Presentation</vt:lpstr>
      <vt:lpstr>PowerPoint Presentation</vt:lpstr>
      <vt:lpstr>3. Wood and chip handling </vt:lpstr>
      <vt:lpstr>PowerPoint Presentation</vt:lpstr>
      <vt:lpstr>3. Wood and chip handling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3. Wood and chip handling </vt:lpstr>
      <vt:lpstr>4. Overview of Pulping methodology </vt:lpstr>
      <vt:lpstr>4. Overview of Pulping methodology </vt:lpstr>
      <vt:lpstr>4. Overview of Pulping methodology </vt:lpstr>
      <vt:lpstr>4. Overview of Pulping methodology </vt:lpstr>
      <vt:lpstr>4. Overview of Pulping methodology </vt:lpstr>
      <vt:lpstr>4. Overview of Pulping methodology </vt:lpstr>
      <vt:lpstr>4. Overview of Pulping methodology </vt:lpstr>
      <vt:lpstr>4. Overview of Pulping methodology </vt:lpstr>
      <vt:lpstr>4. Overview of Pulping methodology </vt:lpstr>
      <vt:lpstr>4. Overview of Pulping methodology </vt:lpstr>
      <vt:lpstr>4. Overview of Pulping methodology </vt:lpstr>
      <vt:lpstr>4. Overview of Pulping methodology </vt:lpstr>
      <vt:lpstr>SCG - SCP Mill</vt:lpstr>
      <vt:lpstr>PowerPoint Presentation</vt:lpstr>
      <vt:lpstr>PowerPoint Presentation</vt:lpstr>
      <vt:lpstr>PowerPoint Presentation</vt:lpstr>
      <vt:lpstr>PowerPoint Presentation</vt:lpstr>
      <vt:lpstr>SCP – Chip Washing</vt:lpstr>
      <vt:lpstr>SCP – Chip Washing</vt:lpstr>
      <vt:lpstr>SCP – Chip Washing</vt:lpstr>
      <vt:lpstr>SCP – Chip Washing</vt:lpstr>
      <vt:lpstr>SCP – Partial Digestion</vt:lpstr>
      <vt:lpstr>SCP – Partial Digestion</vt:lpstr>
      <vt:lpstr>SCP – Partial Digestion</vt:lpstr>
      <vt:lpstr>PowerPoint Presentation</vt:lpstr>
      <vt:lpstr>PowerPoint Presentation</vt:lpstr>
      <vt:lpstr>PowerPoint Presentation</vt:lpstr>
      <vt:lpstr>PowerPoint Presentation</vt:lpstr>
      <vt:lpstr>PowerPoint Presentation</vt:lpstr>
      <vt:lpstr>PowerPoint Presentation</vt:lpstr>
      <vt:lpstr>SCP Pulp Characteristics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4. Overview of Pulping methodology </vt:lpstr>
      <vt:lpstr>4. Overview of Pulping methodology </vt:lpstr>
      <vt:lpstr>4. Overview of Pulping methodology </vt:lpstr>
      <vt:lpstr>4. Overview of Pulping methodology </vt:lpstr>
      <vt:lpstr>4. Overview of Pulping methodology </vt:lpstr>
      <vt:lpstr>4. Overview of Pulping methodology </vt:lpstr>
      <vt:lpstr>4. Overview of Pulping methodology </vt:lpstr>
      <vt:lpstr>4. Overview of Pulping methodology </vt:lpstr>
      <vt:lpstr>4. Overview of Pulping methodology </vt:lpstr>
      <vt:lpstr>4. Overview of Pulping methodology </vt:lpstr>
      <vt:lpstr>4. Overview of Pulping methodology </vt:lpstr>
      <vt:lpstr>4. Overview of Pulping methodology </vt:lpstr>
      <vt:lpstr>4. Overview of Pulping methodology </vt:lpstr>
      <vt:lpstr>4. Overview of Pulping methodology </vt:lpstr>
      <vt:lpstr>4. Overview of Pulping methodology </vt:lpstr>
      <vt:lpstr>4. Overview of Pulping methodology </vt:lpstr>
      <vt:lpstr>4. Overview of Pulping methodology </vt:lpstr>
      <vt:lpstr>SCG - CP Mill</vt:lpstr>
      <vt:lpstr>4. Overview of Pulping methodology </vt:lpstr>
      <vt:lpstr>4. Overview of Pulping methodology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Screen plate pattern designs Hole / Slot / Bar    Profile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Topic outlines</vt:lpstr>
      <vt:lpstr>Pulp washing Objective</vt:lpstr>
      <vt:lpstr>Topic outlines</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Acer</dc:creator>
  <cp:lastModifiedBy>hp</cp:lastModifiedBy>
  <cp:revision>289</cp:revision>
  <dcterms:created xsi:type="dcterms:W3CDTF">2014-06-06T06:55:23Z</dcterms:created>
  <dcterms:modified xsi:type="dcterms:W3CDTF">2016-06-07T07:13:04Z</dcterms:modified>
</cp:coreProperties>
</file>