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60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3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nnawat Puttasanguanporn" userId="b377813c-202c-4acb-8d62-dd179620cbf0" providerId="ADAL" clId="{77DED734-4188-4D2D-B0C0-CAFD9FA4E66C}"/>
    <pc:docChg chg="custSel modSld">
      <pc:chgData name="Chinnawat Puttasanguanporn" userId="b377813c-202c-4acb-8d62-dd179620cbf0" providerId="ADAL" clId="{77DED734-4188-4D2D-B0C0-CAFD9FA4E66C}" dt="2026-10-06T02:05:38.073" v="149" actId="20577"/>
      <pc:docMkLst>
        <pc:docMk/>
      </pc:docMkLst>
      <pc:sldChg chg="modSp">
        <pc:chgData name="Chinnawat Puttasanguanporn" userId="b377813c-202c-4acb-8d62-dd179620cbf0" providerId="ADAL" clId="{77DED734-4188-4D2D-B0C0-CAFD9FA4E66C}" dt="2026-10-06T02:05:38.073" v="149" actId="20577"/>
        <pc:sldMkLst>
          <pc:docMk/>
          <pc:sldMk cId="2439522938" sldId="258"/>
        </pc:sldMkLst>
        <pc:graphicFrameChg chg="mod">
          <ac:chgData name="Chinnawat Puttasanguanporn" userId="b377813c-202c-4acb-8d62-dd179620cbf0" providerId="ADAL" clId="{77DED734-4188-4D2D-B0C0-CAFD9FA4E66C}" dt="2026-10-06T02:05:38.073" v="149" actId="20577"/>
          <ac:graphicFrameMkLst>
            <pc:docMk/>
            <pc:sldMk cId="2439522938" sldId="258"/>
            <ac:graphicFrameMk id="9" creationId="{65C97FC4-D398-49CD-9571-C6D1EB085FBA}"/>
          </ac:graphicFrameMkLst>
        </pc:graphicFrameChg>
      </pc:sldChg>
      <pc:sldChg chg="modSp">
        <pc:chgData name="Chinnawat Puttasanguanporn" userId="b377813c-202c-4acb-8d62-dd179620cbf0" providerId="ADAL" clId="{77DED734-4188-4D2D-B0C0-CAFD9FA4E66C}" dt="2026-09-29T01:33:12.464" v="139" actId="20577"/>
        <pc:sldMkLst>
          <pc:docMk/>
          <pc:sldMk cId="1944359923" sldId="259"/>
        </pc:sldMkLst>
        <pc:graphicFrameChg chg="mod modGraphic">
          <ac:chgData name="Chinnawat Puttasanguanporn" userId="b377813c-202c-4acb-8d62-dd179620cbf0" providerId="ADAL" clId="{77DED734-4188-4D2D-B0C0-CAFD9FA4E66C}" dt="2026-09-29T01:33:12.464" v="139" actId="20577"/>
          <ac:graphicFrameMkLst>
            <pc:docMk/>
            <pc:sldMk cId="1944359923" sldId="259"/>
            <ac:graphicFrameMk id="6" creationId="{BB0AA3A9-131B-4E7C-8EC7-B26F0334E434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F0B23-50F9-4004-B595-BE6926FD6E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F9C28-B829-420A-9365-40804CD46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323B3-6482-440F-9A00-DA147C5BC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2105-6D94-433B-BCE2-1C4724075DF1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FD5DD-7A4F-4BC2-B53E-F09EC2C3A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5D19C-9837-42C1-8ADC-67843C517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67B68-9A23-46E2-89F0-2CDE55EC9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890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E14D8-039B-43F5-994C-AA42242DC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6FA2E-8BA1-4231-8105-964C34E5E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37154-F1E4-4EC8-8FF5-BB2DA2E46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2105-6D94-433B-BCE2-1C4724075DF1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0B782-D8E2-45AF-88A4-9DBCE9972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3C15B-1D9F-4C92-8DFD-AC4FF545E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67B68-9A23-46E2-89F0-2CDE55EC9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474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552E8-C8A0-4AD0-82FD-9C00E6982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A003B-ADC0-444D-B18D-1E43070DF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AB88D-2A5F-4D0E-AA5D-1CA227FE4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2105-6D94-433B-BCE2-1C4724075DF1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F7452-31F4-4065-8BE5-930E4B599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7150D-DE2B-49DF-A563-1ADC91E4B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67B68-9A23-46E2-89F0-2CDE55EC9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313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99A2A-09F0-42C0-A427-A25C1390E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5B883-82F9-46EC-975F-F1F4162B21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17B030-47A9-4824-9C32-461947E64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F6FA80-31AA-4DAE-8131-366377EC5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2105-6D94-433B-BCE2-1C4724075DF1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1CB330-C7F1-439E-ADCC-2AE338CAB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EA350-29A6-42B4-907F-EC7F3EBF9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67B68-9A23-46E2-89F0-2CDE55EC9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273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C7689-033F-4136-8401-09C4CD22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D92945-F392-476F-B745-E10C9F43E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6622A2-E0D5-473D-BC88-FC0B6FD0D4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66264B-3164-4CE8-894D-505C98E4A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D36F40-D599-4CFC-AAB8-F93AAE977C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B8021F-2B47-4634-B9A3-D56C76DC0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2105-6D94-433B-BCE2-1C4724075DF1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76361E-C58E-4A60-A69F-38A1EFE25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E17242-132A-46BF-8C33-558DA3989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67B68-9A23-46E2-89F0-2CDE55EC9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469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23DFA-DF95-4BAA-A929-B841CECA3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C159C8-8657-45F0-8A5B-27717A64D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2105-6D94-433B-BCE2-1C4724075DF1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631AC6-B9E0-4A3A-A729-FEA660DE2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A39541-DFB8-4DCF-AFA9-761F0B0EA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67B68-9A23-46E2-89F0-2CDE55EC9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37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1001BE-FF5D-45C2-95D7-5206E5D0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2105-6D94-433B-BCE2-1C4724075DF1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4FE757-82C7-485F-9420-BDEA4B735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1283B-AB5A-4F20-BB66-7F0B51F22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67B68-9A23-46E2-89F0-2CDE55EC9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361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17C98-FD9E-41FE-9802-8EC4B8500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24354-AD18-4502-A3AE-01BE7F1BE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771C8E-C44A-4946-9FE1-4C1FDE2B9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F5B4F0-C109-4CAD-9A22-5FC9A9EF7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2105-6D94-433B-BCE2-1C4724075DF1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54A981-00A7-4827-AB35-39357F103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0C6D13-20CF-4803-BB2C-C311BF710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67B68-9A23-46E2-89F0-2CDE55EC9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997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EFD5F-62F4-4DD5-B645-7778F023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B94B8A-F8C4-44D4-A5BF-D676ECA9E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2D1B04-19CA-47B6-856B-7FBEE473D7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AED8C-EAFC-409F-966D-8C16796AF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2105-6D94-433B-BCE2-1C4724075DF1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CEE7E-186F-401E-A57D-A9B0FC501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B0A995-0B6B-40AA-BB64-3EA44FC20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67B68-9A23-46E2-89F0-2CDE55EC9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103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80C5A-BE48-4C89-904B-F686E27E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6DB61A-E918-49EE-B715-7B61B48AC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8EF14-3DF1-4393-9B95-D115AA750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2105-6D94-433B-BCE2-1C4724075DF1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1B19D-A1C7-4A52-95AE-FCEDDCF0D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B5DF3-612D-4513-ADC7-2F7D337EB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67B68-9A23-46E2-89F0-2CDE55EC9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91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58AB58-D472-4C70-BD34-81A21A2444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EB5394-2623-4DC1-8218-92A341E1E5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402E3-2569-43A3-8FC1-38A5D9366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2105-6D94-433B-BCE2-1C4724075DF1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E4AE9-7B3F-405C-ACF1-24B98A170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BFAAD-F064-4FC5-A999-0E5E9B013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67B68-9A23-46E2-89F0-2CDE55EC9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144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9F5437-2439-4246-A4F3-05A1CA1E3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3B717-3895-4B5F-A112-2E2989A99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34871-9E4F-4523-9A75-AAEB00C9F9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E2105-6D94-433B-BCE2-1C4724075DF1}" type="datetimeFigureOut">
              <a:rPr lang="en-US" smtClean="0"/>
              <a:t>06-Oct-26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7EE51-67F2-4C31-8AC6-52EE8B9187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92DFE-03C7-41F7-A587-3583090DF6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67B68-9A23-46E2-89F0-2CDE55EC9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603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0" Type="http://schemas.openxmlformats.org/officeDocument/2006/relationships/image" Target="../media/image10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7204BE-14B3-4764-8E64-D88F18A0D1FE}"/>
                  </a:ext>
                </a:extLst>
              </p:cNvPr>
              <p:cNvSpPr txBox="1"/>
              <p:nvPr/>
            </p:nvSpPr>
            <p:spPr>
              <a:xfrm>
                <a:off x="444730" y="303415"/>
                <a:ext cx="10098021" cy="9582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𝑑𝑢𝑟𝑎𝑡𝑖𝑜𝑛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𝑏𝑎𝑡𝑐h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𝑎𝑓𝑡𝑒𝑟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𝑃𝑟𝑒𝑠𝑠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𝑇𝑎𝑛𝑘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𝐿𝑎𝑣𝑒𝑙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𝑃𝑟𝑒𝑠𝑠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1(%)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𝐶𝑎𝑝𝑎𝑐𝑖𝑡𝑦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𝑇𝑎𝑛𝑘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1(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𝐷𝑖𝑠𝑐h𝑎𝑟𝑔𝑒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𝐹𝑙𝑜𝑤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𝑃𝑟𝑒𝑠𝑠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1(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h𝑟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×60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7204BE-14B3-4764-8E64-D88F18A0D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30" y="303415"/>
                <a:ext cx="10098021" cy="95827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7DFCF3-59AD-4464-8BA7-C93FB6609FE3}"/>
              </a:ext>
            </a:extLst>
          </p:cNvPr>
          <p:cNvCxnSpPr/>
          <p:nvPr/>
        </p:nvCxnSpPr>
        <p:spPr>
          <a:xfrm>
            <a:off x="640080" y="2560320"/>
            <a:ext cx="1062366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988DA21-3086-444E-91CE-B8A0A923FF00}"/>
                  </a:ext>
                </a:extLst>
              </p:cNvPr>
              <p:cNvSpPr txBox="1"/>
              <p:nvPr/>
            </p:nvSpPr>
            <p:spPr>
              <a:xfrm>
                <a:off x="444730" y="3411730"/>
                <a:ext cx="9424503" cy="9582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𝑑𝑢𝑟𝑎𝑡𝑖𝑜𝑛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𝑏𝑎𝑡𝑐h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𝑝𝑟𝑒𝑠𝑠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𝑇𝑎𝑛𝑘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𝐿𝑎𝑣𝑒𝑙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𝑃𝑟𝑒𝑠𝑠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3(%)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𝐶𝑎𝑝𝑎𝑐𝑖𝑡𝑦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𝑇𝑎𝑛𝑘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3(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𝐷𝑖𝑠𝑐h𝑎𝑟𝑔𝑒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𝐹𝑙𝑜𝑤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𝑃𝑟𝑒𝑠𝑠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3(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h𝑟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×60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988DA21-3086-444E-91CE-B8A0A923F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30" y="3411730"/>
                <a:ext cx="9424503" cy="95827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64C6780-3A18-47D2-92C5-03C54A7C9F6A}"/>
                  </a:ext>
                </a:extLst>
              </p:cNvPr>
              <p:cNvSpPr txBox="1"/>
              <p:nvPr/>
            </p:nvSpPr>
            <p:spPr>
              <a:xfrm>
                <a:off x="444730" y="1710228"/>
                <a:ext cx="81599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𝑙𝑎𝑔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𝑎𝑓𝑡𝑒𝑟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𝑃𝑟𝑒𝑠𝑠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 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𝑑𝑢𝑟𝑎𝑡𝑖𝑜𝑛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𝑏𝑎𝑡𝑐h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𝑎𝑓𝑡𝑒𝑟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𝑃𝑟𝑒𝑠𝑠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𝐷𝑖𝑠𝑐h𝑎𝑟𝑔𝑒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64C6780-3A18-47D2-92C5-03C54A7C9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30" y="1710228"/>
                <a:ext cx="8159926" cy="276999"/>
              </a:xfrm>
              <a:prstGeom prst="rect">
                <a:avLst/>
              </a:prstGeom>
              <a:blipFill>
                <a:blip r:embed="rId9"/>
                <a:stretch>
                  <a:fillRect l="-224" t="-4444" r="-224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B8D0E2C-D400-4F33-80A4-8C886625943D}"/>
                  </a:ext>
                </a:extLst>
              </p:cNvPr>
              <p:cNvSpPr txBox="1"/>
              <p:nvPr/>
            </p:nvSpPr>
            <p:spPr>
              <a:xfrm>
                <a:off x="444730" y="4818544"/>
                <a:ext cx="77164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𝑙𝑎𝑔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𝑎𝑓𝑡𝑒𝑟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𝑝𝑟𝑒𝑠𝑠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3=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𝑎𝑓𝑡𝑒𝑟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𝑃𝑟𝑒𝑠𝑠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𝑑𝑢𝑟𝑎𝑡𝑖𝑜𝑛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𝑏𝑎𝑡𝑐h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𝑝𝑟𝑒𝑠𝑠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B8D0E2C-D400-4F33-80A4-8C8866259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30" y="4818544"/>
                <a:ext cx="7716407" cy="276999"/>
              </a:xfrm>
              <a:prstGeom prst="rect">
                <a:avLst/>
              </a:prstGeom>
              <a:blipFill>
                <a:blip r:embed="rId10"/>
                <a:stretch>
                  <a:fillRect l="-632" t="-2174" r="-948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2A0B0E07-445F-4D7D-B1A2-4471B60EDA4B}"/>
              </a:ext>
            </a:extLst>
          </p:cNvPr>
          <p:cNvSpPr txBox="1"/>
          <p:nvPr/>
        </p:nvSpPr>
        <p:spPr>
          <a:xfrm flipH="1">
            <a:off x="9869233" y="1197419"/>
            <a:ext cx="289692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CapaTank1 = 800</a:t>
            </a:r>
          </a:p>
          <a:p>
            <a:r>
              <a:rPr lang="en-US" sz="1050" dirty="0"/>
              <a:t>FlowPress1 =</a:t>
            </a:r>
            <a:r>
              <a:rPr lang="th-TH" sz="1050" dirty="0"/>
              <a:t> </a:t>
            </a:r>
            <a:r>
              <a:rPr lang="en-US" sz="1050" dirty="0"/>
              <a:t>PM2.106FIC006:MV</a:t>
            </a:r>
          </a:p>
          <a:p>
            <a:r>
              <a:rPr lang="en-US" sz="1050" dirty="0"/>
              <a:t>LevelPress1 =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1DC731-DC91-4E15-BA28-73D7653BE8DF}"/>
              </a:ext>
            </a:extLst>
          </p:cNvPr>
          <p:cNvSpPr/>
          <p:nvPr/>
        </p:nvSpPr>
        <p:spPr>
          <a:xfrm>
            <a:off x="6505359" y="508103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1DD6F73-DE8C-4868-A72C-21B827516C80}"/>
                  </a:ext>
                </a:extLst>
              </p:cNvPr>
              <p:cNvSpPr txBox="1"/>
              <p:nvPr/>
            </p:nvSpPr>
            <p:spPr>
              <a:xfrm flipH="1">
                <a:off x="8618881" y="2593941"/>
                <a:ext cx="3494052" cy="900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CapaTank3 = O2-tank1 + O2-tank2 + LC chest1 + LC chest2</a:t>
                </a:r>
              </a:p>
              <a:p>
                <a:r>
                  <a:rPr lang="en-US" sz="1050" dirty="0"/>
                  <a:t>CapaTank3 = 95 + 145 + 110 + 125 = 475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5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105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1050" dirty="0"/>
              </a:p>
              <a:p>
                <a:r>
                  <a:rPr lang="en-US" sz="1050" dirty="0"/>
                  <a:t>FlowPress3 =</a:t>
                </a:r>
                <a:r>
                  <a:rPr lang="th-TH" sz="1050" dirty="0"/>
                  <a:t> </a:t>
                </a:r>
                <a:r>
                  <a:rPr lang="en-US" sz="1050" dirty="0"/>
                  <a:t>LCchest2_Outlet_Flow</a:t>
                </a:r>
              </a:p>
              <a:p>
                <a:r>
                  <a:rPr lang="en-US" sz="1050" dirty="0"/>
                  <a:t>	Assume that flow is at steady state</a:t>
                </a:r>
              </a:p>
              <a:p>
                <a:r>
                  <a:rPr lang="en-US" sz="1050" dirty="0"/>
                  <a:t>LevelPress3 =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1DD6F73-DE8C-4868-A72C-21B827516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618881" y="2593941"/>
                <a:ext cx="3494052" cy="900246"/>
              </a:xfrm>
              <a:prstGeom prst="rect">
                <a:avLst/>
              </a:prstGeom>
              <a:blipFill>
                <a:blip r:embed="rId6"/>
                <a:stretch>
                  <a:fillRect b="-3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3384CA7F-D438-418B-857C-9691A884D4EB}"/>
              </a:ext>
            </a:extLst>
          </p:cNvPr>
          <p:cNvSpPr/>
          <p:nvPr/>
        </p:nvSpPr>
        <p:spPr>
          <a:xfrm>
            <a:off x="10459734" y="3424265"/>
            <a:ext cx="159372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1200" dirty="0"/>
              <a:t>Volume tank </a:t>
            </a:r>
          </a:p>
          <a:p>
            <a:r>
              <a:rPr lang="it-IT" sz="1200" dirty="0"/>
              <a:t>O2 -tank 1 : 95 m3 </a:t>
            </a:r>
          </a:p>
          <a:p>
            <a:r>
              <a:rPr lang="it-IT" sz="1200" dirty="0"/>
              <a:t>O2 - tank 2 : 145 m3</a:t>
            </a:r>
          </a:p>
          <a:p>
            <a:r>
              <a:rPr lang="it-IT" sz="1200" dirty="0"/>
              <a:t>LC chest 1 : 110 m3</a:t>
            </a:r>
          </a:p>
          <a:p>
            <a:r>
              <a:rPr lang="it-IT" sz="1200" dirty="0"/>
              <a:t>LC chest 2 : 125 m3</a:t>
            </a:r>
          </a:p>
        </p:txBody>
      </p:sp>
    </p:spTree>
    <p:extLst>
      <p:ext uri="{BB962C8B-B14F-4D97-AF65-F5344CB8AC3E}">
        <p14:creationId xmlns:p14="http://schemas.microsoft.com/office/powerpoint/2010/main" val="2387335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E8B56329-9D82-471B-BE96-93CE094B8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466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296930D-99E7-40F4-80CA-E48BFF62B396}"/>
                  </a:ext>
                </a:extLst>
              </p:cNvPr>
              <p:cNvSpPr/>
              <p:nvPr/>
            </p:nvSpPr>
            <p:spPr>
              <a:xfrm>
                <a:off x="5212079" y="2435630"/>
                <a:ext cx="673331" cy="357448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125</m:t>
                      </m:r>
                      <m:sSup>
                        <m:sSupPr>
                          <m:ctrlPr>
                            <a:rPr lang="en-US" sz="140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14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14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296930D-99E7-40F4-80CA-E48BFF62B3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079" y="2435630"/>
                <a:ext cx="673331" cy="357448"/>
              </a:xfrm>
              <a:prstGeom prst="rect">
                <a:avLst/>
              </a:prstGeom>
              <a:blipFill>
                <a:blip r:embed="rId3"/>
                <a:stretch>
                  <a:fillRect l="-89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E44D16D0-1231-41DF-96BA-9929B34B7A61}"/>
              </a:ext>
            </a:extLst>
          </p:cNvPr>
          <p:cNvSpPr/>
          <p:nvPr/>
        </p:nvSpPr>
        <p:spPr>
          <a:xfrm>
            <a:off x="5693835" y="2133600"/>
            <a:ext cx="140777" cy="1407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BABF395-2A92-4607-A54C-BFD951B95ABD}"/>
              </a:ext>
            </a:extLst>
          </p:cNvPr>
          <p:cNvSpPr/>
          <p:nvPr/>
        </p:nvSpPr>
        <p:spPr>
          <a:xfrm>
            <a:off x="6104467" y="1790700"/>
            <a:ext cx="105834" cy="1058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97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65C97FC4-D398-49CD-9571-C6D1EB085F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9317390"/>
                  </p:ext>
                </p:extLst>
              </p:nvPr>
            </p:nvGraphicFramePr>
            <p:xfrm>
              <a:off x="572193" y="0"/>
              <a:ext cx="11513125" cy="695884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2337261">
                      <a:extLst>
                        <a:ext uri="{9D8B030D-6E8A-4147-A177-3AD203B41FA5}">
                          <a16:colId xmlns:a16="http://schemas.microsoft.com/office/drawing/2014/main" val="749166167"/>
                        </a:ext>
                      </a:extLst>
                    </a:gridCol>
                    <a:gridCol w="1204186">
                      <a:extLst>
                        <a:ext uri="{9D8B030D-6E8A-4147-A177-3AD203B41FA5}">
                          <a16:colId xmlns:a16="http://schemas.microsoft.com/office/drawing/2014/main" val="1954974410"/>
                        </a:ext>
                      </a:extLst>
                    </a:gridCol>
                    <a:gridCol w="4913982">
                      <a:extLst>
                        <a:ext uri="{9D8B030D-6E8A-4147-A177-3AD203B41FA5}">
                          <a16:colId xmlns:a16="http://schemas.microsoft.com/office/drawing/2014/main" val="3916149743"/>
                        </a:ext>
                      </a:extLst>
                    </a:gridCol>
                    <a:gridCol w="3057696">
                      <a:extLst>
                        <a:ext uri="{9D8B030D-6E8A-4147-A177-3AD203B41FA5}">
                          <a16:colId xmlns:a16="http://schemas.microsoft.com/office/drawing/2014/main" val="8714866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Tag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Unit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equation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Meaning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0746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​B1_Discharge_Timestamp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Timestamp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บันทึกเวลาที่ 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​B1_Current_Sequence</a:t>
                          </a: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ข้อความ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:</a:t>
                          </a: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DISCHARGE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เวลาเริ่มระบาย (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T_D)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476123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B1_Wait_Timestamp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Timestamp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บันทึกเวลาที่ 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​B1_Current_Sequence</a:t>
                          </a: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ข้อความ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: WAIT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เวลาเรที่ระบายเสร็จจนถึงสถานะรอ(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T_W)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62147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en-US" sz="1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​B1_Discharge_Timeduration </a:t>
                          </a:r>
                        </a:p>
                        <a:p>
                          <a:pPr algn="l"/>
                          <a:endParaRPr lang="en-US" sz="1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Time(minutes)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B1_Wait_Timestamp - B1_Discharge_Timestamp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ระยะเวลาที่หม้อต้มระบาย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= T_W – T_D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17055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​Time_Duration_Batch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Time(minutes)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>
                                      <m:fPr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𝑇𝑎𝑛𝑘</m:t>
                                        </m:r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𝐿𝑎𝑣𝑒𝑙</m:t>
                                        </m:r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𝑃𝑟𝑒𝑠𝑠</m:t>
                                        </m:r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1(%)</m:t>
                                        </m:r>
                                      </m:num>
                                      <m:den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100</m:t>
                                        </m:r>
                                      </m:den>
                                    </m:f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×</m:t>
                                    </m:r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𝐶𝑎𝑝𝑎𝑐𝑖𝑡𝑦</m:t>
                                    </m:r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𝑇𝑎𝑛𝑘</m:t>
                                    </m:r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1(</m:t>
                                    </m:r>
                                    <m:sSup>
                                      <m:sSupPr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p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𝐷𝑖𝑠𝑐h𝑎𝑟𝑔𝑒</m:t>
                                    </m:r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𝐹𝑙𝑜𝑤</m:t>
                                    </m:r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𝑃𝑟𝑒𝑠𝑠</m:t>
                                    </m:r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1(</m:t>
                                    </m:r>
                                    <m:f>
                                      <m:fPr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en-US" sz="1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p>
                                            <m:r>
                                              <a:rPr lang="en-US" sz="1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h𝑟</m:t>
                                        </m:r>
                                      </m:den>
                                    </m:f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×60(</m:t>
                                </m:r>
                                <m:f>
                                  <m:f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𝑚𝑖𝑛</m:t>
                                    </m:r>
                                  </m:num>
                                  <m:den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h𝑟</m:t>
                                    </m:r>
                                  </m:den>
                                </m:f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เวลาที่ถังระบายจนหมด (</a:t>
                          </a:r>
                          <a:r>
                            <a:rPr lang="el-GR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τ_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tank)(</a:t>
                          </a: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นาที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064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B1Discharge_FinalTimestamp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Timestamp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​B1_Discharge_Timestamp + </a:t>
                          </a:r>
                          <a:r>
                            <a:rPr kumimoji="0" lang="en-US" altLang="en-US" sz="1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​B1_Discharge_Timeduration 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+ Time_Duration_Batch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เวลาที่เยื่อของ 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batch </a:t>
                          </a: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ออกจากถังหมด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(T_F)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89502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B1_Discharge_FinalTime_Status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Status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Identify the status batch class after the Discharge Tank (FIFO)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36001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0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4. </m:t>
                                </m:r>
                                <m:r>
                                  <m:rPr>
                                    <m:nor/>
                                  </m:rPr>
                                  <a:rPr lang="en-US" sz="10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LC</m:t>
                                </m:r>
                                <m:r>
                                  <m:rPr>
                                    <m:nor/>
                                  </m:rPr>
                                  <a:rPr lang="en-US" sz="10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0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Chest</m:t>
                                </m:r>
                                <m:r>
                                  <m:rPr>
                                    <m:nor/>
                                  </m:rPr>
                                  <a:rPr lang="en-US" sz="10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0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Outlet</m:t>
                                </m:r>
                                <m:r>
                                  <m:rPr>
                                    <m:nor/>
                                  </m:rPr>
                                  <a:rPr lang="en-US" sz="10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0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Flow</m:t>
                                </m:r>
                              </m:oMath>
                            </m:oMathPara>
                          </a14:m>
                          <a:endParaRPr lang="en-US" sz="1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A=11. Press 3 Feed Flow#1 (m3/h); B=4. Press 1 Pulp Feed#2;</a:t>
                          </a:r>
                          <a:b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a:b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[A+B]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sz="1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94681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​LC Chest Retention 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Time(minutes)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f>
                                          <m:fPr>
                                            <m:ctrlPr>
                                              <a:rPr lang="en-US" sz="1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𝐿𝐶</m:t>
                                            </m:r>
                                            <m:r>
                                              <a:rPr lang="en-US" sz="1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  <m:r>
                                              <a:rPr lang="en-US" sz="1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𝑐h𝑒𝑠𝑡</m:t>
                                            </m:r>
                                            <m:r>
                                              <a:rPr lang="en-US" sz="1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  <m:r>
                                              <a:rPr lang="en-US" sz="1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𝐿𝑒𝑣𝑒𝑙</m:t>
                                            </m:r>
                                            <m:r>
                                              <a:rPr lang="en-US" sz="1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(%)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100</m:t>
                                            </m:r>
                                          </m:den>
                                        </m:f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× 125 </m:t>
                                        </m:r>
                                        <m:d>
                                          <m:dPr>
                                            <m:ctrlPr>
                                              <a:rPr lang="en-US" sz="1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sz="10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10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𝑚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10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</m:num>
                                      <m:den>
                                        <m:r>
                                          <m:rPr>
                                            <m:nor/>
                                          </m:rPr>
                                          <a:rPr lang="en-US" sz="100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4. 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sz="100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LC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sz="100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sz="100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Chest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sz="100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sz="100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Outlet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sz="100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sz="100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Flow</m:t>
                                        </m:r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d>
                                          <m:dPr>
                                            <m:ctrlPr>
                                              <a:rPr lang="en-US" sz="1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US" sz="10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sSup>
                                                  <m:sSupPr>
                                                    <m:ctrlPr>
                                                      <a:rPr lang="en-US" sz="1000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pPr>
                                                  <m:e>
                                                    <m:r>
                                                      <a:rPr lang="en-US" sz="1000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𝑚</m:t>
                                                    </m:r>
                                                  </m:e>
                                                  <m:sup>
                                                    <m:r>
                                                      <a:rPr lang="en-US" sz="1000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3</m:t>
                                                    </m:r>
                                                  </m:sup>
                                                </m:sSup>
                                              </m:num>
                                              <m:den>
                                                <m:r>
                                                  <a:rPr lang="en-US" sz="10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h𝑟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</m:den>
                                    </m:f>
                                  </m:e>
                                </m:d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×60</m:t>
                                </m:r>
                                <m:d>
                                  <m:d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𝑚𝑖𝑛</m:t>
                                        </m:r>
                                      </m:num>
                                      <m:den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h𝑟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1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Lag time from Discharge Tank to</a:t>
                          </a: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Press 1</a:t>
                          </a:r>
                          <a:b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a:br>
                          <a:endParaRPr lang="en-US" sz="1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capacity of LC tank = </a:t>
                          </a:r>
                          <a14:m>
                            <m:oMath xmlns:m="http://schemas.openxmlformats.org/officeDocument/2006/math"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125</m:t>
                              </m:r>
                              <m:sSup>
                                <m:sSupPr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31442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LC_Chest_RetentionTime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Timestamp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𝐶𝑢𝑟𝑟𝑒𝑛𝑡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𝑇𝑖𝑚𝑒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​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LC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Chest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Retention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Time</m:t>
                                    </m:r>
                                    <m:r>
                                      <a:rPr lang="en-US" sz="10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×60</m:t>
                                    </m:r>
                                  </m:e>
                                </m:d>
                                <m:r>
                                  <a:rPr lang="th-TH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(5 ×60))</m:t>
                                </m:r>
                              </m:oMath>
                            </m:oMathPara>
                          </a14:m>
                          <a:endParaRPr lang="en-US" sz="1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Current Timestamp </a:t>
                          </a: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ที่หัก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LC Chest Retention Time</a:t>
                          </a: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และเวลาเดินในท่อ 5 นาที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เพื่อย้อนไปดู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status</a:t>
                          </a: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ของ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batch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072558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​B1_DischargeStatus_FinalTime_Press1_Status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Status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FirstValue(InterpolatedValues(‘B1_Discharge_FinalTime_Status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’ ,LC_Chest_RetentionTime, LC_Chest_RetentionTime, '-1m'))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ย้อนเวลาไปที่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LC_Chest_RetentionTime</a:t>
                          </a: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เพื่อไปเอาค่าของ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B1_DischargeStatus_FinalTime_Status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024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00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Standpipe</m:t>
                                </m:r>
                                <m:r>
                                  <m:rPr>
                                    <m:nor/>
                                  </m:rPr>
                                  <a:rPr lang="en-US" sz="100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sz="100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Outlet</m:t>
                                </m:r>
                                <m:r>
                                  <m:rPr>
                                    <m:nor/>
                                  </m:rPr>
                                  <a:rPr lang="en-US" sz="100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sz="100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Flow</m:t>
                                </m:r>
                              </m:oMath>
                            </m:oMathPara>
                          </a14:m>
                          <a:endParaRPr lang="th-TH" sz="10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m3/hr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1000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PM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2.105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FIC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208: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MV</m:t>
                                    </m:r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PM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2.105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FIC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238: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MV</m:t>
                                    </m:r>
                                  </m:e>
                                </m:d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 </m:t>
                                </m:r>
                                <m:f>
                                  <m:f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>
                                      <m:fPr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nor/>
                                          </m:rPr>
                                          <a:rPr lang="en-US" sz="1000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PM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sz="1000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2.105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sz="1000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NIC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sz="1000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207: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sz="1000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MV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sz="1000" b="0" i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(%)</m:t>
                                        </m:r>
                                      </m:num>
                                      <m:den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100</m:t>
                                        </m:r>
                                      </m:den>
                                    </m:f>
                                  </m:num>
                                  <m:den>
                                    <m:f>
                                      <m:fPr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num>
                                      <m:den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100</m:t>
                                        </m:r>
                                      </m:den>
                                    </m:f>
                                  </m:den>
                                </m:f>
                                <m:r>
                                  <a:rPr lang="en-US" sz="1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12</m:t>
                                    </m:r>
                                  </m:num>
                                  <m:den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  <m:r>
                                  <a:rPr lang="th-TH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มองว่า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𝑐𝑜𝑛𝑠𝑖𝑠</m:t>
                                </m:r>
                                <m:r>
                                  <a:rPr lang="th-TH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หลัง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𝑝𝑟𝑒𝑠𝑠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th-TH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คงที่</m:t>
                                </m:r>
                              </m:oMath>
                            </m:oMathPara>
                          </a14:m>
                          <a:endParaRPr lang="th-TH" sz="10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th-TH" sz="10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2131350"/>
                      </a:ext>
                    </a:extLst>
                  </a:tr>
                  <a:tr h="42509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ODL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_Tank1_Retention_Time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Time(minutes)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95</m:t>
                                        </m:r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d>
                                          <m:dPr>
                                            <m:ctrlPr>
                                              <a:rPr lang="en-US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sz="10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10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𝑚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10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</m:num>
                                      <m:den>
                                        <m:r>
                                          <m:rPr>
                                            <m:nor/>
                                          </m:rPr>
                                          <a:rPr lang="en-US" sz="1000" kern="12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Standpipe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sz="1000" kern="12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_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sz="1000" kern="12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Outlet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sz="1000" kern="12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_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sz="1000" kern="12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Flow</m:t>
                                        </m:r>
                                        <m:d>
                                          <m:dPr>
                                            <m:ctrlPr>
                                              <a:rPr lang="en-US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US" sz="10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sSup>
                                                  <m:sSupPr>
                                                    <m:ctrlPr>
                                                      <a:rPr lang="en-US" sz="10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pPr>
                                                  <m:e>
                                                    <m:r>
                                                      <a:rPr lang="en-US" sz="10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𝑚</m:t>
                                                    </m:r>
                                                  </m:e>
                                                  <m:sup>
                                                    <m:r>
                                                      <a:rPr lang="en-US" sz="10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3</m:t>
                                                    </m:r>
                                                  </m:sup>
                                                </m:sSup>
                                              </m:num>
                                              <m:den>
                                                <m:r>
                                                  <a:rPr lang="en-US" sz="10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h</m:t>
                                                </m:r>
                                                <m:r>
                                                  <a:rPr lang="en-US" sz="10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</m:den>
                                    </m:f>
                                  </m:e>
                                </m:d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60</m:t>
                                </m:r>
                                <m:d>
                                  <m:d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𝑚𝑖𝑛</m:t>
                                        </m:r>
                                      </m:num>
                                      <m:den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h</m:t>
                                        </m:r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1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capacity of </a:t>
                          </a:r>
                          <a:r>
                            <a:rPr lang="en-US" sz="10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ODL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tank1 = </a:t>
                          </a:r>
                          <a14:m>
                            <m:oMath xmlns:m="http://schemas.openxmlformats.org/officeDocument/2006/math"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95</m:t>
                              </m:r>
                              <m:sSup>
                                <m:sSupPr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</a:p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if Q_O2 &lt;= 0 then NoOutput()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15208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ODL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_Tank1_Retention_Timestamp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Timestamp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𝐶𝑢𝑟𝑟𝑒𝑛𝑡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𝑇𝑖𝑚𝑒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−(</m:t>
                                </m:r>
                                <m:d>
                                  <m:d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100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​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ODL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Tank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Retension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Time</m:t>
                                    </m:r>
                                    <m:r>
                                      <a:rPr lang="en-US" sz="10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60</m:t>
                                    </m:r>
                                  </m:e>
                                </m:d>
                                <m:r>
                                  <a:rPr lang="th-TH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Current Timestamp </a:t>
                          </a: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ที่หัก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sz="10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ODL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_Tank1_Retension_Time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และเวลาเดินในท่อ 5 นาที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เพื่อย้อนไปดู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status</a:t>
                          </a: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ของ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batch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85066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0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B1_ODL_Tank1_Status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Status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TagVal('PPPC_DP_Cooking.B1_Discharge_FinalTime_Press1_Status',TagVal('ODL_Tank1_Retention_Timestamp','*'))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ย้อนเวลาไปที่</a:t>
                          </a:r>
                          <a:r>
                            <a:rPr lang="en-US" sz="10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ODL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_Tank1_Retension_Time</a:t>
                          </a: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เพื่อไปเอาค่าของ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​B1_DischargeStatus_FinalTime_Press1_Status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139256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65C97FC4-D398-49CD-9571-C6D1EB085F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9317390"/>
                  </p:ext>
                </p:extLst>
              </p:nvPr>
            </p:nvGraphicFramePr>
            <p:xfrm>
              <a:off x="572193" y="0"/>
              <a:ext cx="11513125" cy="695884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2337261">
                      <a:extLst>
                        <a:ext uri="{9D8B030D-6E8A-4147-A177-3AD203B41FA5}">
                          <a16:colId xmlns:a16="http://schemas.microsoft.com/office/drawing/2014/main" val="749166167"/>
                        </a:ext>
                      </a:extLst>
                    </a:gridCol>
                    <a:gridCol w="1204186">
                      <a:extLst>
                        <a:ext uri="{9D8B030D-6E8A-4147-A177-3AD203B41FA5}">
                          <a16:colId xmlns:a16="http://schemas.microsoft.com/office/drawing/2014/main" val="1954974410"/>
                        </a:ext>
                      </a:extLst>
                    </a:gridCol>
                    <a:gridCol w="4913982">
                      <a:extLst>
                        <a:ext uri="{9D8B030D-6E8A-4147-A177-3AD203B41FA5}">
                          <a16:colId xmlns:a16="http://schemas.microsoft.com/office/drawing/2014/main" val="3916149743"/>
                        </a:ext>
                      </a:extLst>
                    </a:gridCol>
                    <a:gridCol w="3057696">
                      <a:extLst>
                        <a:ext uri="{9D8B030D-6E8A-4147-A177-3AD203B41FA5}">
                          <a16:colId xmlns:a16="http://schemas.microsoft.com/office/drawing/2014/main" val="8714866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Tag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Unit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equation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Meaning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0746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​B1_Discharge_Timestamp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Timestamp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บันทึกเวลาที่ 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​B1_Current_Sequence</a:t>
                          </a: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ข้อความ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:</a:t>
                          </a: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DISCHARGE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เวลาเริ่มระบาย (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T_D)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476123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B1_Wait_Timestamp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Timestamp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บันทึกเวลาที่ 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​B1_Current_Sequence</a:t>
                          </a: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ข้อความ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: WAIT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เวลาเรที่ระบายเสร็จจนถึงสถานะรอ(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T_W)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621471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en-US" sz="1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​B1_Discharge_Timeduration </a:t>
                          </a:r>
                        </a:p>
                        <a:p>
                          <a:pPr algn="l"/>
                          <a:endParaRPr lang="en-US" sz="1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Time(minutes)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B1_Wait_Timestamp - B1_Discharge_Timestamp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ระยะเวลาที่หม้อต้มระบาย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= T_W – T_D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1705527"/>
                      </a:ext>
                    </a:extLst>
                  </a:tr>
                  <a:tr h="61868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​Time_Duration_Batch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Time(minutes)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2119" t="-247525" r="-62701" b="-787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เวลาที่ถังระบายจนหมด (</a:t>
                          </a:r>
                          <a:r>
                            <a:rPr lang="el-GR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τ_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tank)(</a:t>
                          </a: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นาที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064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B1Discharge_FinalTimestamp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Timestamp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​B1_Discharge_Timestamp + </a:t>
                          </a:r>
                          <a:r>
                            <a:rPr kumimoji="0" lang="en-US" altLang="en-US" sz="1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​B1_Discharge_Timeduration 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+ Time_Duration_Batch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เวลาที่เยื่อของ 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batch </a:t>
                          </a: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ออกจากถังหมด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(T_F)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895028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B1_Discharge_FinalTime_Status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Status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Identify the status batch class after the Discharge Tank (FIFO)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360017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0" t="-733846" r="-393229" b="-9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A=11. Press 3 Feed Flow#1 (m3/h); B=4. Press 1 Pulp Feed#2;</a:t>
                          </a:r>
                          <a:b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a:b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[A+B]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sz="1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9468111"/>
                      </a:ext>
                    </a:extLst>
                  </a:tr>
                  <a:tr h="66605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​LC Chest Retention 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Time(minutes)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2119" t="-497248" r="-62701" b="-454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6693" t="-497248" r="-797" b="-454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314429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LC_Chest_RetentionTime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Timestamp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2119" t="-1001538" r="-62701" b="-66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Current Timestamp </a:t>
                          </a: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ที่หัก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LC Chest Retention Time</a:t>
                          </a: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และเวลาเดินในท่อ 5 นาที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เพื่อย้อนไปดู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status</a:t>
                          </a: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ของ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batch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0725589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​B1_DischargeStatus_FinalTime_Press1_Status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Status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FirstValue(InterpolatedValues(‘B1_Discharge_FinalTime_Status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’ ,LC_Chest_RetentionTime, LC_Chest_RetentionTime, '-1m'))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ย้อนเวลาไปที่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LC_Chest_RetentionTime</a:t>
                          </a: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เพื่อไปเอาค่าของ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B1_DischargeStatus_FinalTime_Status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0248062"/>
                      </a:ext>
                    </a:extLst>
                  </a:tr>
                  <a:tr h="68256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0" t="-697321" r="-393229" b="-2258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m3/hr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2119" t="-697321" r="-62701" b="-2258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6693" t="-697321" r="-797" b="-2258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2131350"/>
                      </a:ext>
                    </a:extLst>
                  </a:tr>
                  <a:tr h="582105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ODL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_Tank1_Retention_Time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Time(minutes)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2119" t="-930208" r="-62701" b="-1635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6693" t="-930208" r="-797" b="-1635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152081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ODL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_Tank1_Retention_Timestamp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Timestamp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2119" t="-1521538" r="-62701" b="-14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Current Timestamp </a:t>
                          </a: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ที่หัก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sz="10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ODL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_Tank1_Retension_Time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และเวลาเดินในท่อ 5 นาที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เพื่อย้อนไปดู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status</a:t>
                          </a: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ของ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batch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8506648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r>
                            <a:rPr lang="en-US" sz="10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B1_ODL_Tank1_Status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Status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TagVal('PPPC_DP_Cooking.B1_Discharge_FinalTime_Press1_Status',TagVal('ODL_Tank1_Retention_Timestamp','*'))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ย้อนเวลาไปที่</a:t>
                          </a:r>
                          <a:r>
                            <a:rPr lang="en-US" sz="10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ODL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_Tank1_Retension_Time</a:t>
                          </a:r>
                          <a:r>
                            <a:rPr lang="th-TH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เพื่อไปเอาค่าของ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​B1_DischargeStatus_FinalTime_Press1_Status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139256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EED45722-D013-4EBD-9519-A47AFA1A5101}"/>
              </a:ext>
            </a:extLst>
          </p:cNvPr>
          <p:cNvSpPr txBox="1"/>
          <p:nvPr/>
        </p:nvSpPr>
        <p:spPr>
          <a:xfrm>
            <a:off x="106682" y="4832456"/>
            <a:ext cx="4708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New</a:t>
            </a:r>
          </a:p>
        </p:txBody>
      </p:sp>
    </p:spTree>
    <p:extLst>
      <p:ext uri="{BB962C8B-B14F-4D97-AF65-F5344CB8AC3E}">
        <p14:creationId xmlns:p14="http://schemas.microsoft.com/office/powerpoint/2010/main" val="2439522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B0AA3A9-131B-4E7C-8EC7-B26F0334E4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0132010"/>
                  </p:ext>
                </p:extLst>
              </p:nvPr>
            </p:nvGraphicFramePr>
            <p:xfrm>
              <a:off x="225246" y="149628"/>
              <a:ext cx="11966754" cy="6339617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2595763">
                      <a:extLst>
                        <a:ext uri="{9D8B030D-6E8A-4147-A177-3AD203B41FA5}">
                          <a16:colId xmlns:a16="http://schemas.microsoft.com/office/drawing/2014/main" val="749166167"/>
                        </a:ext>
                      </a:extLst>
                    </a:gridCol>
                    <a:gridCol w="1144185">
                      <a:extLst>
                        <a:ext uri="{9D8B030D-6E8A-4147-A177-3AD203B41FA5}">
                          <a16:colId xmlns:a16="http://schemas.microsoft.com/office/drawing/2014/main" val="1954974410"/>
                        </a:ext>
                      </a:extLst>
                    </a:gridCol>
                    <a:gridCol w="5020752">
                      <a:extLst>
                        <a:ext uri="{9D8B030D-6E8A-4147-A177-3AD203B41FA5}">
                          <a16:colId xmlns:a16="http://schemas.microsoft.com/office/drawing/2014/main" val="3916149743"/>
                        </a:ext>
                      </a:extLst>
                    </a:gridCol>
                    <a:gridCol w="3206054">
                      <a:extLst>
                        <a:ext uri="{9D8B030D-6E8A-4147-A177-3AD203B41FA5}">
                          <a16:colId xmlns:a16="http://schemas.microsoft.com/office/drawing/2014/main" val="871486692"/>
                        </a:ext>
                      </a:extLst>
                    </a:gridCol>
                  </a:tblGrid>
                  <a:tr h="303478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Tag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Unit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equation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Meaning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59571580"/>
                      </a:ext>
                    </a:extLst>
                  </a:tr>
                  <a:tr h="617762">
                    <a:tc>
                      <a:txBody>
                        <a:bodyPr/>
                        <a:lstStyle/>
                        <a:p>
                          <a:pPr marL="0" indent="0" algn="l">
                            <a:buFont typeface="Wingdings" panose="05000000000000000000" pitchFamily="2" charset="2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ODL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Tank</m:t>
                                </m:r>
                                <m:r>
                                  <m:rPr>
                                    <m:nor/>
                                  </m:rPr>
                                  <a:rPr lang="en-US" sz="10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Retension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Time</m:t>
                                </m:r>
                                <m:r>
                                  <a:rPr lang="en-US" sz="10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000" i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Time(minutes)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000" b="0" i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145</m:t>
                                            </m:r>
                                            <m:r>
                                              <a:rPr lang="en-US" sz="1000" b="0" i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0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p>
                                                  <m:sSupPr>
                                                    <m:ctrlPr>
                                                      <a:rPr lang="en-US" sz="10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pPr>
                                                  <m:e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n-US" sz="1000" b="0" i="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m</m:t>
                                                    </m:r>
                                                  </m:e>
                                                  <m:sup>
                                                    <m:r>
                                                      <a:rPr lang="en-US" sz="1000" b="0" i="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3</m:t>
                                                    </m:r>
                                                  </m:sup>
                                                </m:sSup>
                                              </m:e>
                                            </m:d>
                                          </m:num>
                                          <m:den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sz="1000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Standpipe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sz="1000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_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sz="1000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Outlet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sz="1000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_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sz="1000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Flow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th-TH" sz="1000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0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f>
                                                  <m:fPr>
                                                    <m:ctrlPr>
                                                      <a:rPr lang="en-US" sz="10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sSup>
                                                      <m:sSupPr>
                                                        <m:ctrlPr>
                                                          <a:rPr lang="en-US" sz="10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pPr>
                                                      <m:e>
                                                        <m:r>
                                                          <m:rPr>
                                                            <m:sty m:val="p"/>
                                                          </m:rPr>
                                                          <a:rPr lang="en-US" sz="1000" b="0" i="0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m</m:t>
                                                        </m:r>
                                                      </m:e>
                                                      <m:sup>
                                                        <m:r>
                                                          <a:rPr lang="en-US" sz="1000" b="0" i="0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3</m:t>
                                                        </m:r>
                                                      </m:sup>
                                                    </m:sSup>
                                                  </m:num>
                                                  <m:den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n-US" sz="1000" b="0" i="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hr</m:t>
                                                    </m:r>
                                                  </m:den>
                                                </m:f>
                                              </m:e>
                                            </m:d>
                                          </m:den>
                                        </m:f>
                                      </m:e>
                                    </m:d>
                                    <m:r>
                                      <a:rPr lang="en-US" sz="1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1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60</m:t>
                                    </m:r>
                                    <m:d>
                                      <m:dPr>
                                        <m:ctrlP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000" b="0" i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min</m:t>
                                            </m:r>
                                          </m:num>
                                          <m:den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000" b="0" i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hr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</m:d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0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capacity of </a:t>
                          </a:r>
                          <a:r>
                            <a:rPr lang="en-US" sz="1000" i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ODL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tank2 = </a:t>
                          </a:r>
                          <a14:m>
                            <m:oMath xmlns:m="http://schemas.openxmlformats.org/officeDocument/2006/math">
                              <m:r>
                                <a:rPr lang="en-US" sz="1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145</m:t>
                              </m:r>
                              <m:sSup>
                                <m:sSupPr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0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p>
                                  <m:r>
                                    <a:rPr lang="en-US" sz="10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</a:p>
                        <a:p>
                          <a:pPr algn="l"/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if Q_O2 &lt;= 0 then NoOutput()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1520811"/>
                      </a:ext>
                    </a:extLst>
                  </a:tr>
                  <a:tr h="419041">
                    <a:tc>
                      <a:txBody>
                        <a:bodyPr/>
                        <a:lstStyle/>
                        <a:p>
                          <a:pPr marL="0" indent="0" algn="l">
                            <a:buFont typeface="Wingdings" panose="05000000000000000000" pitchFamily="2" charset="2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ODL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Tank</m:t>
                                </m:r>
                                <m:r>
                                  <m:rPr>
                                    <m:nor/>
                                  </m:rPr>
                                  <a:rPr lang="en-US" sz="10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Retension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Time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0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stamp</m:t>
                                </m:r>
                              </m:oMath>
                            </m:oMathPara>
                          </a14:m>
                          <a:endParaRPr lang="en-US" sz="1000" i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Timestamp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Current</m:t>
                                </m:r>
                                <m:r>
                                  <a:rPr lang="en-US" sz="1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Time</m:t>
                                </m:r>
                                <m:r>
                                  <a:rPr lang="en-US" sz="1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−(</m:t>
                                </m:r>
                                <m:d>
                                  <m:dPr>
                                    <m:ctrlP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1000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​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ODL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Tank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b="0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Retension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Time</m:t>
                                    </m:r>
                                    <m:r>
                                      <a:rPr lang="en-US" sz="1000" b="0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1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1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60</m:t>
                                    </m:r>
                                  </m:e>
                                </m:d>
                                <m:r>
                                  <a:rPr lang="en-US" sz="1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0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Current Timestamp </a:t>
                          </a:r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ที่หัก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sz="1000" i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ODL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_Tank2_Retension_Time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และเวลาเดินในท่อ 5 นาที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เพื่อย้อนไปดู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status</a:t>
                          </a:r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ของ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batch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8506648"/>
                      </a:ext>
                    </a:extLst>
                  </a:tr>
                  <a:tr h="744963">
                    <a:tc>
                      <a:txBody>
                        <a:bodyPr/>
                        <a:lstStyle/>
                        <a:p>
                          <a:pPr marL="0" indent="0" algn="l">
                            <a:buFont typeface="Wingdings" panose="05000000000000000000" pitchFamily="2" charset="2"/>
                            <a:buNone/>
                          </a:pPr>
                          <a:r>
                            <a:rPr lang="en-US" sz="1000" i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B1_ODL_Tank2_Status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Status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TagVal</a:t>
                          </a:r>
                          <a:r>
                            <a:rPr lang="en-US" sz="1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('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B1_DischargeStatus_FinalTime_Press1_Status</a:t>
                          </a:r>
                          <a:r>
                            <a:rPr lang="en-US" sz="1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’),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TagVal</a:t>
                          </a:r>
                          <a:r>
                            <a:rPr lang="en-US" sz="1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(ODL_Tank2_Retension_Timestamp,’*’))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ย้อนเวลาไปที่</a:t>
                          </a:r>
                          <a:r>
                            <a:rPr lang="en-US" sz="1000" i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ODL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_Tank2_Retension_Timestamp</a:t>
                          </a:r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เพื่อไปเอาค่าของ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​​</a:t>
                          </a:r>
                          <a:r>
                            <a:rPr lang="en-US" sz="10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B1_ODL_Tank1_Status</a:t>
                          </a:r>
                          <a:endParaRPr lang="en-US" sz="10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0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1392565"/>
                      </a:ext>
                    </a:extLst>
                  </a:tr>
                  <a:tr h="617762">
                    <a:tc>
                      <a:txBody>
                        <a:bodyPr/>
                        <a:lstStyle/>
                        <a:p>
                          <a:pPr marL="0" indent="0" algn="l">
                            <a:buFont typeface="Wingdings" panose="05000000000000000000" pitchFamily="2" charset="2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LCChest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Tank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Retension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Time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000" i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Time(minutes)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000" b="0" i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110</m:t>
                                            </m:r>
                                            <m:r>
                                              <a:rPr lang="en-US" sz="1000" b="0" i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0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p>
                                                  <m:sSupPr>
                                                    <m:ctrlPr>
                                                      <a:rPr lang="en-US" sz="10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pPr>
                                                  <m:e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n-US" sz="1000" b="0" i="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m</m:t>
                                                    </m:r>
                                                  </m:e>
                                                  <m:sup>
                                                    <m:r>
                                                      <a:rPr lang="en-US" sz="1000" b="0" i="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3</m:t>
                                                    </m:r>
                                                  </m:sup>
                                                </m:sSup>
                                              </m:e>
                                            </m:d>
                                          </m:num>
                                          <m:den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sz="1000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Standpipe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sz="1000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_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sz="1000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Outlet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sz="1000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_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sz="1000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Flow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th-TH" sz="1000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0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f>
                                                  <m:fPr>
                                                    <m:ctrlPr>
                                                      <a:rPr lang="en-US" sz="10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sSup>
                                                      <m:sSupPr>
                                                        <m:ctrlPr>
                                                          <a:rPr lang="en-US" sz="10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pPr>
                                                      <m:e>
                                                        <m:r>
                                                          <m:rPr>
                                                            <m:sty m:val="p"/>
                                                          </m:rPr>
                                                          <a:rPr lang="en-US" sz="1000" b="0" i="0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m</m:t>
                                                        </m:r>
                                                      </m:e>
                                                      <m:sup>
                                                        <m:r>
                                                          <a:rPr lang="en-US" sz="1000" b="0" i="0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3</m:t>
                                                        </m:r>
                                                      </m:sup>
                                                    </m:sSup>
                                                  </m:num>
                                                  <m:den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n-US" sz="1000" b="0" i="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hr</m:t>
                                                    </m:r>
                                                  </m:den>
                                                </m:f>
                                              </m:e>
                                            </m:d>
                                          </m:den>
                                        </m:f>
                                      </m:e>
                                    </m:d>
                                    <m:r>
                                      <a:rPr lang="en-US" sz="1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1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60</m:t>
                                    </m:r>
                                    <m:d>
                                      <m:dPr>
                                        <m:ctrlP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000" b="0" i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min</m:t>
                                            </m:r>
                                          </m:num>
                                          <m:den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000" b="0" i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hr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</m:d>
                                <m:r>
                                  <a:rPr lang="en-US" sz="1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+</m:t>
                                </m:r>
                                <m:r>
                                  <a:rPr lang="en-US" sz="1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0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capacity of LC chest1 tank = </a:t>
                          </a:r>
                          <a14:m>
                            <m:oMath xmlns:m="http://schemas.openxmlformats.org/officeDocument/2006/math">
                              <m:r>
                                <a:rPr lang="en-US" sz="1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110</m:t>
                              </m:r>
                              <m:sSup>
                                <m:sSupPr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0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p>
                                  <m:r>
                                    <a:rPr lang="en-US" sz="10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</a:p>
                        <a:p>
                          <a:pPr algn="l"/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if LC  Chest tank1 &lt;= 0 then NoOutput()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202274"/>
                      </a:ext>
                    </a:extLst>
                  </a:tr>
                  <a:tr h="582001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00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LCChest</m:t>
                                </m:r>
                                <m:r>
                                  <m:rPr>
                                    <m:nor/>
                                  </m:rPr>
                                  <a:rPr lang="en-US" sz="100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sz="100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Tank</m:t>
                                </m:r>
                                <m:r>
                                  <m:rPr>
                                    <m:nor/>
                                  </m:rPr>
                                  <a:rPr lang="en-US" sz="100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sz="100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sz="100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Retention</m:t>
                                </m:r>
                                <m:r>
                                  <m:rPr>
                                    <m:nor/>
                                  </m:rPr>
                                  <a:rPr lang="en-US" sz="100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sz="100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Timestamp</m:t>
                                </m:r>
                              </m:oMath>
                            </m:oMathPara>
                          </a14:m>
                          <a:endParaRPr lang="en-US" sz="10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Timestamp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Current</m:t>
                                </m:r>
                                <m:r>
                                  <a:rPr lang="en-US" sz="1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Time</m:t>
                                </m:r>
                                <m:r>
                                  <a:rPr lang="en-US" sz="1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−(</m:t>
                                </m:r>
                                <m:d>
                                  <m:d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1000" i="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​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i="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LCChest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i="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i="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Tank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i="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i="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i="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Retention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i="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i="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Time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i="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10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10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60</m:t>
                                    </m:r>
                                  </m:e>
                                </m:d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th-TH" sz="1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ODL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Tank</m:t>
                                </m:r>
                                <m:r>
                                  <m:rPr>
                                    <m:nor/>
                                  </m:rPr>
                                  <a:rPr lang="en-US" sz="10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Retension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Time</m:t>
                                </m:r>
                                <m:r>
                                  <a:rPr lang="en-US" sz="10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0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Current Timestamp </a:t>
                          </a:r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ที่หัก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LCChest_Tank1_Retension_Time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และเวลาเดินในท่อ 5 นาที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เพื่อย้อนไปดู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status</a:t>
                          </a:r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ของ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batch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7449092"/>
                      </a:ext>
                    </a:extLst>
                  </a:tr>
                  <a:tr h="879670">
                    <a:tc>
                      <a:txBody>
                        <a:bodyPr/>
                        <a:lstStyle/>
                        <a:p>
                          <a:pPr marL="0" indent="0" algn="l">
                            <a:buFont typeface="Wingdings" panose="05000000000000000000" pitchFamily="2" charset="2"/>
                            <a:buNone/>
                          </a:pPr>
                          <a:r>
                            <a:rPr lang="en-US" sz="10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B1_LCChest_Tank1_Press2_Status</a:t>
                          </a:r>
                          <a:endParaRPr lang="en-US" sz="1000" i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Status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TagVal('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​B1_DischargeStatus_FinalTime_Press1_Status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',TagVal('LCChest_Tank1_Retention_Timestamp','*'))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ย้อนเวลาไปที่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LCChest1_Tank2_Retension_Timestamp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เพื่อไปเอาค่าของ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​​​</a:t>
                          </a:r>
                          <a:r>
                            <a:rPr lang="en-US" sz="1000" i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B1_ODL_Tank2_Status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0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8950104"/>
                      </a:ext>
                    </a:extLst>
                  </a:tr>
                  <a:tr h="407324">
                    <a:tc>
                      <a:txBody>
                        <a:bodyPr/>
                        <a:lstStyle/>
                        <a:p>
                          <a:pPr marL="0" indent="0" algn="l">
                            <a:buFont typeface="Wingdings" panose="05000000000000000000" pitchFamily="2" charset="2"/>
                            <a:buNone/>
                          </a:pPr>
                          <a:r>
                            <a:rPr lang="en-US" sz="1000" i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LCChest_Tank2_Retention_Time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Time(minutes)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000" b="0" i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125</m:t>
                                            </m:r>
                                            <m:r>
                                              <a:rPr lang="en-US" sz="1000" b="0" i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0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p>
                                                  <m:sSupPr>
                                                    <m:ctrlPr>
                                                      <a:rPr lang="en-US" sz="1000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pPr>
                                                  <m:e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n-US" sz="1000" b="0" i="0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m</m:t>
                                                    </m:r>
                                                  </m:e>
                                                  <m:sup>
                                                    <m:r>
                                                      <a:rPr lang="en-US" sz="1000" b="0" i="0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3</m:t>
                                                    </m:r>
                                                  </m:sup>
                                                </m:sSup>
                                              </m:e>
                                            </m:d>
                                          </m:num>
                                          <m:den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sz="1000" i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LC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sz="1000" b="0" i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c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sz="1000" i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hest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sz="1000" b="0" i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sz="1000" b="0" i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_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sz="1000" i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Outlet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sz="1000" b="0" i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_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sz="1000" i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Flow</m:t>
                                            </m:r>
                                            <m:r>
                                              <a:rPr lang="en-US" sz="1000" b="0" i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0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f>
                                                  <m:fPr>
                                                    <m:ctrlPr>
                                                      <a:rPr lang="en-US" sz="10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sSup>
                                                      <m:sSupPr>
                                                        <m:ctrlPr>
                                                          <a:rPr lang="en-US" sz="10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pPr>
                                                      <m:e>
                                                        <m:r>
                                                          <m:rPr>
                                                            <m:sty m:val="p"/>
                                                          </m:rPr>
                                                          <a:rPr lang="en-US" sz="1000" b="0" i="0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m</m:t>
                                                        </m:r>
                                                      </m:e>
                                                      <m:sup>
                                                        <m:r>
                                                          <a:rPr lang="en-US" sz="1000" b="0" i="0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3</m:t>
                                                        </m:r>
                                                      </m:sup>
                                                    </m:sSup>
                                                  </m:num>
                                                  <m:den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n-US" sz="1000" b="0" i="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hr</m:t>
                                                    </m:r>
                                                  </m:den>
                                                </m:f>
                                              </m:e>
                                            </m:d>
                                          </m:den>
                                        </m:f>
                                      </m:e>
                                    </m:d>
                                    <m:r>
                                      <a:rPr lang="en-US" sz="10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10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60</m:t>
                                    </m:r>
                                    <m:d>
                                      <m:dPr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000" b="0" i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min</m:t>
                                            </m:r>
                                          </m:num>
                                          <m:den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000" b="0" i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hr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</m:d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0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capacity of LC chest2 tank = </a:t>
                          </a:r>
                          <a14:m>
                            <m:oMath xmlns:m="http://schemas.openxmlformats.org/officeDocument/2006/math">
                              <m:r>
                                <a:rPr lang="en-US" sz="1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125</m:t>
                              </m:r>
                              <m:sSup>
                                <m:sSupPr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0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p>
                                  <m:r>
                                    <a:rPr lang="en-US" sz="10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</a:p>
                        <a:p>
                          <a:pPr algn="l"/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if LC  Chest tank2 &lt;= 0 then NoOutput()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3334302"/>
                      </a:ext>
                    </a:extLst>
                  </a:tr>
                  <a:tr h="473826">
                    <a:tc>
                      <a:txBody>
                        <a:bodyPr/>
                        <a:lstStyle/>
                        <a:p>
                          <a:pPr marL="0" indent="0" algn="l">
                            <a:buFont typeface="Wingdings" panose="05000000000000000000" pitchFamily="2" charset="2"/>
                            <a:buNone/>
                          </a:pPr>
                          <a:r>
                            <a:rPr lang="en-US" sz="1000" i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LCChest_Tank2_Retention_Timestamp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Timestamp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Current</m:t>
                                </m:r>
                                <m:r>
                                  <a:rPr lang="en-US" sz="1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Time</m:t>
                                </m:r>
                                <m:r>
                                  <a:rPr lang="en-US" sz="1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−(</m:t>
                                </m:r>
                                <m:d>
                                  <m:d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1000" i="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​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i="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LCChest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i="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i="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Tank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b="0" i="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i="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i="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Retention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i="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i="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Time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00" i="0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10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10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60</m:t>
                                    </m:r>
                                  </m:e>
                                </m:d>
                                <m:r>
                                  <a:rPr lang="en-US" sz="1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ODL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Tank</m:t>
                                </m:r>
                                <m:r>
                                  <m:rPr>
                                    <m:nor/>
                                  </m:rPr>
                                  <a:rPr lang="en-US" sz="10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Retension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Time</m:t>
                                </m:r>
                                <m:r>
                                  <a:rPr lang="en-US" sz="10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0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+ 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ODL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Tank</m:t>
                                </m:r>
                                <m:r>
                                  <m:rPr>
                                    <m:nor/>
                                  </m:rPr>
                                  <a:rPr lang="en-US" sz="10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Retension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Tim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0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e</m:t>
                                </m:r>
                                <m:r>
                                  <a:rPr lang="th-TH" sz="1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LCChest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Tank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Retension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sz="1000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Time</m:t>
                                </m:r>
                                <m:r>
                                  <a:rPr lang="en-US" sz="10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0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Current Timestamp </a:t>
                          </a:r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ที่หัก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LCChest_Tank2_Retension_Time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และเวลาเดินในท่อ 5 นาที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เพื่อย้อนไปดู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status</a:t>
                          </a:r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ของ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batch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822872"/>
                      </a:ext>
                    </a:extLst>
                  </a:tr>
                  <a:tr h="879670">
                    <a:tc>
                      <a:txBody>
                        <a:bodyPr/>
                        <a:lstStyle/>
                        <a:p>
                          <a:pPr marL="0" indent="0" algn="l">
                            <a:buFont typeface="Wingdings" panose="05000000000000000000" pitchFamily="2" charset="2"/>
                            <a:buNone/>
                          </a:pPr>
                          <a:r>
                            <a:rPr lang="en-US" sz="1000" i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​B1_LCChest_Tank2_Press3_Status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Status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TagVal('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​B1_DischargeStatus_FinalTime_Press1_Status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',TagVal('LCChest_Tank2_Retention_Timestamp','*'))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ย้อนเวลาไปที่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LCChest1_Tank2_Retension_Timestamp</a:t>
                          </a:r>
                        </a:p>
                        <a:p>
                          <a:pPr marL="0" indent="0" algn="l">
                            <a:buFont typeface="Wingdings" panose="05000000000000000000" pitchFamily="2" charset="2"/>
                            <a:buNone/>
                          </a:pPr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เพื่อไปเอาค่าของ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​​​​</a:t>
                          </a:r>
                          <a:r>
                            <a:rPr lang="en-US" sz="10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B1_LCChest_Tank1_Press2_Status</a:t>
                          </a:r>
                          <a:endParaRPr lang="en-US" sz="1000" i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559614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B0AA3A9-131B-4E7C-8EC7-B26F0334E4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0132010"/>
                  </p:ext>
                </p:extLst>
              </p:nvPr>
            </p:nvGraphicFramePr>
            <p:xfrm>
              <a:off x="225246" y="149628"/>
              <a:ext cx="11966754" cy="6339617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2595763">
                      <a:extLst>
                        <a:ext uri="{9D8B030D-6E8A-4147-A177-3AD203B41FA5}">
                          <a16:colId xmlns:a16="http://schemas.microsoft.com/office/drawing/2014/main" val="749166167"/>
                        </a:ext>
                      </a:extLst>
                    </a:gridCol>
                    <a:gridCol w="1144185">
                      <a:extLst>
                        <a:ext uri="{9D8B030D-6E8A-4147-A177-3AD203B41FA5}">
                          <a16:colId xmlns:a16="http://schemas.microsoft.com/office/drawing/2014/main" val="1954974410"/>
                        </a:ext>
                      </a:extLst>
                    </a:gridCol>
                    <a:gridCol w="5020752">
                      <a:extLst>
                        <a:ext uri="{9D8B030D-6E8A-4147-A177-3AD203B41FA5}">
                          <a16:colId xmlns:a16="http://schemas.microsoft.com/office/drawing/2014/main" val="3916149743"/>
                        </a:ext>
                      </a:extLst>
                    </a:gridCol>
                    <a:gridCol w="3206054">
                      <a:extLst>
                        <a:ext uri="{9D8B030D-6E8A-4147-A177-3AD203B41FA5}">
                          <a16:colId xmlns:a16="http://schemas.microsoft.com/office/drawing/2014/main" val="871486692"/>
                        </a:ext>
                      </a:extLst>
                    </a:gridCol>
                  </a:tblGrid>
                  <a:tr h="303478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Tag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Unit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equation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Meaning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59571580"/>
                      </a:ext>
                    </a:extLst>
                  </a:tr>
                  <a:tr h="66071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5" t="-47222" r="-362207" b="-819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Time(minutes)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4636" t="-47222" r="-64442" b="-819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574" t="-47222" r="-951" b="-819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1520811"/>
                      </a:ext>
                    </a:extLst>
                  </a:tr>
                  <a:tr h="4190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5" t="-230435" r="-362207" b="-118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Timestamp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4636" t="-230435" r="-64442" b="-118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Current Timestamp </a:t>
                          </a:r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ที่หัก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sz="1000" i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ODL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_Tank2_Retension_Time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และเวลาเดินในท่อ 5 นาที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เพื่อย้อนไปดู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status</a:t>
                          </a:r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ของ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batch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8506648"/>
                      </a:ext>
                    </a:extLst>
                  </a:tr>
                  <a:tr h="744963">
                    <a:tc>
                      <a:txBody>
                        <a:bodyPr/>
                        <a:lstStyle/>
                        <a:p>
                          <a:pPr marL="0" indent="0" algn="l">
                            <a:buFont typeface="Wingdings" panose="05000000000000000000" pitchFamily="2" charset="2"/>
                            <a:buNone/>
                          </a:pPr>
                          <a:r>
                            <a:rPr lang="en-US" sz="1000" i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B1_ODL_Tank2_Status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Status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TagVal</a:t>
                          </a:r>
                          <a:r>
                            <a:rPr lang="en-US" sz="1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('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B1_DischargeStatus_FinalTime_Press1_Status</a:t>
                          </a:r>
                          <a:r>
                            <a:rPr lang="en-US" sz="1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’),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TagVal</a:t>
                          </a:r>
                          <a:r>
                            <a:rPr lang="en-US" sz="1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(ODL_Tank2_Retension_Timestamp,’*’))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ย้อนเวลาไปที่</a:t>
                          </a:r>
                          <a:r>
                            <a:rPr lang="en-US" sz="1000" i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ODL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_Tank2_Retension_Timestamp</a:t>
                          </a:r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เพื่อไปเอาค่าของ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​​</a:t>
                          </a:r>
                          <a:r>
                            <a:rPr lang="en-US" sz="10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B1_ODL_Tank1_Status</a:t>
                          </a:r>
                          <a:endParaRPr lang="en-US" sz="10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0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1392565"/>
                      </a:ext>
                    </a:extLst>
                  </a:tr>
                  <a:tr h="66071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5" t="-321101" r="-362207" b="-5366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Time(minutes)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4636" t="-321101" r="-64442" b="-5366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574" t="-321101" r="-951" b="-5366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9202274"/>
                      </a:ext>
                    </a:extLst>
                  </a:tr>
                  <a:tr h="58200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5" t="-478125" r="-362207" b="-50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Timestamp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4636" t="-478125" r="-64442" b="-50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Current Timestamp </a:t>
                          </a:r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ที่หัก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LCChest_Tank1_Retension_Time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และเวลาเดินในท่อ 5 นาที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เพื่อย้อนไปดู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status</a:t>
                          </a:r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ของ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batch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7449092"/>
                      </a:ext>
                    </a:extLst>
                  </a:tr>
                  <a:tr h="879670">
                    <a:tc>
                      <a:txBody>
                        <a:bodyPr/>
                        <a:lstStyle/>
                        <a:p>
                          <a:pPr marL="0" indent="0" algn="l">
                            <a:buFont typeface="Wingdings" panose="05000000000000000000" pitchFamily="2" charset="2"/>
                            <a:buNone/>
                          </a:pPr>
                          <a:r>
                            <a:rPr lang="en-US" sz="10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B1_LCChest_Tank1_Press2_Status</a:t>
                          </a:r>
                          <a:endParaRPr lang="en-US" sz="1000" i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Status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TagVal('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​B1_DischargeStatus_FinalTime_Press1_Status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',TagVal('LCChest_Tank1_Retention_Timestamp','*'))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ย้อนเวลาไปที่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LCChest1_Tank2_Retension_Timestamp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เพื่อไปเอาค่าของ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​​​</a:t>
                          </a:r>
                          <a:r>
                            <a:rPr lang="en-US" sz="1000" i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B1_ODL_Tank2_Status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0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8950104"/>
                      </a:ext>
                    </a:extLst>
                  </a:tr>
                  <a:tr h="660718">
                    <a:tc>
                      <a:txBody>
                        <a:bodyPr/>
                        <a:lstStyle/>
                        <a:p>
                          <a:pPr marL="0" indent="0" algn="l">
                            <a:buFont typeface="Wingdings" panose="05000000000000000000" pitchFamily="2" charset="2"/>
                            <a:buNone/>
                          </a:pPr>
                          <a:r>
                            <a:rPr lang="en-US" sz="1000" i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LCChest_Tank2_Retention_Time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Time(minutes)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4636" t="-647222" r="-64442" b="-219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574" t="-647222" r="-951" b="-219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3334302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indent="0" algn="l">
                            <a:buFont typeface="Wingdings" panose="05000000000000000000" pitchFamily="2" charset="2"/>
                            <a:buNone/>
                          </a:pPr>
                          <a:r>
                            <a:rPr lang="en-US" sz="1000" i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LCChest_Tank2_Retention_Timestamp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Timestamp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4636" t="-886813" r="-64442" b="-1604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Current Timestamp </a:t>
                          </a:r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ที่หัก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LCChest_Tank2_Retension_Time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และเวลาเดินในท่อ 5 นาที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เพื่อย้อนไปดู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status</a:t>
                          </a:r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ของ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batch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822872"/>
                      </a:ext>
                    </a:extLst>
                  </a:tr>
                  <a:tr h="879670">
                    <a:tc>
                      <a:txBody>
                        <a:bodyPr/>
                        <a:lstStyle/>
                        <a:p>
                          <a:pPr marL="0" indent="0" algn="l">
                            <a:buFont typeface="Wingdings" panose="05000000000000000000" pitchFamily="2" charset="2"/>
                            <a:buNone/>
                          </a:pPr>
                          <a:r>
                            <a:rPr lang="en-US" sz="1000" i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​B1_LCChest_Tank2_Press3_Status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Status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TagVal('</a:t>
                          </a:r>
                          <a: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​B1_DischargeStatus_FinalTime_Press1_Status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',TagVal('LCChest_Tank2_Retention_Timestamp','*'))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ย้อนเวลาไปที่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LCChest1_Tank2_Retension_Timestamp</a:t>
                          </a:r>
                        </a:p>
                        <a:p>
                          <a:pPr marL="0" indent="0" algn="l">
                            <a:buFont typeface="Wingdings" panose="05000000000000000000" pitchFamily="2" charset="2"/>
                            <a:buNone/>
                          </a:pPr>
                          <a:r>
                            <a:rPr lang="th-TH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เพื่อไปเอาค่าของ</a:t>
                          </a:r>
                          <a:r>
                            <a:rPr lang="en-US" sz="10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​​​​</a:t>
                          </a:r>
                          <a:r>
                            <a:rPr lang="en-US" sz="10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B1_LCChest_Tank1_Press2_Status</a:t>
                          </a:r>
                          <a:endParaRPr lang="en-US" sz="1000" i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5596149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44359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3CE178B-3117-46FF-AD2D-7A45E8FE1309}"/>
                  </a:ext>
                </a:extLst>
              </p:cNvPr>
              <p:cNvSpPr/>
              <p:nvPr/>
            </p:nvSpPr>
            <p:spPr>
              <a:xfrm>
                <a:off x="362758" y="0"/>
                <a:ext cx="3993111" cy="67403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12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m:t>Standpipe</m:t>
                      </m:r>
                      <m:r>
                        <m:rPr>
                          <m:nor/>
                        </m:rP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m:t>Outlet</m:t>
                      </m:r>
                      <m:r>
                        <m:rPr>
                          <m:nor/>
                        </m:rP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m:t>Flow</m:t>
                      </m:r>
                    </m:oMath>
                  </m:oMathPara>
                </a14:m>
                <a:endParaRPr lang="th-TH" sz="12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ODL_Tank1_Retention_Time</a:t>
                </a:r>
              </a:p>
              <a:p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ODL_Tank1_Retention_Timestamp</a:t>
                </a:r>
              </a:p>
              <a:p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B1_ODL_Tank1_Status</a:t>
                </a:r>
              </a:p>
              <a:p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B2_ODL_Tank1_Status</a:t>
                </a:r>
              </a:p>
              <a:p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B3_ODL_Tank1_Status</a:t>
                </a:r>
              </a:p>
              <a:p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B4_ODL_Tank1_Status</a:t>
                </a:r>
              </a:p>
              <a:p>
                <a:endParaRPr lang="en-US" sz="12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ODL_Tank2_Retension_Time</a:t>
                </a:r>
              </a:p>
              <a:p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ODL_Tank2_Retention_Timestamp</a:t>
                </a:r>
              </a:p>
              <a:p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​B1_ODL_Tank2_Status</a:t>
                </a:r>
              </a:p>
              <a:p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​B2_ODL_Tank2_Status</a:t>
                </a:r>
              </a:p>
              <a:p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​B3_ODL_Tank2_Status</a:t>
                </a:r>
              </a:p>
              <a:p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​B4_ODL_Tank2_Status</a:t>
                </a:r>
              </a:p>
              <a:p>
                <a:endParaRPr lang="en-US" sz="12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LCChest_Tank1_Retention_Time</a:t>
                </a:r>
              </a:p>
              <a:p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LCChest_Tank1_Retention_Timestamp</a:t>
                </a:r>
              </a:p>
              <a:p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​B1_LCChest_Tank1_Press2_Status</a:t>
                </a:r>
              </a:p>
              <a:p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​B2_LCChest_Tank1_Press2_Status</a:t>
                </a:r>
              </a:p>
              <a:p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​B3_LCChest_Tank1_Press2_Status</a:t>
                </a:r>
              </a:p>
              <a:p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​B4_LCChest_Tank1_Press2_Status</a:t>
                </a:r>
              </a:p>
              <a:p>
                <a:endParaRPr lang="en-US" sz="12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LCChest_Tank2_Retention_Time</a:t>
                </a:r>
              </a:p>
              <a:p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LCChest_Tank2_Retention_Timestamp</a:t>
                </a:r>
              </a:p>
              <a:p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​B1_LCChest_Tank2_Press3_Status</a:t>
                </a:r>
              </a:p>
              <a:p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​B2_LCChest_Tank2_Press3_Status</a:t>
                </a:r>
              </a:p>
              <a:p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​B3_LCChest_Tank2_Press3_Status</a:t>
                </a:r>
              </a:p>
              <a:p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​B4_LCChest_Tank2_Press3_Status</a:t>
                </a:r>
              </a:p>
              <a:p>
                <a:endParaRPr lang="en-US" sz="12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PULP-LINE2-PRESS1-ACTIVE-DIGESTER</a:t>
                </a:r>
              </a:p>
              <a:p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PULP-LINE2-ODL1-ACTIVE-DIGESTER</a:t>
                </a:r>
              </a:p>
              <a:p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PULP-LINE2-ODL2-ACTIVE-DIGESTER</a:t>
                </a:r>
              </a:p>
              <a:p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PULP-LINE2-LCCHEST1-ACTIVE-DIGESTER</a:t>
                </a:r>
              </a:p>
              <a:p>
                <a:r>
                  <a:rPr lang="en-US" sz="12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PULP-LINE2-LCCHEST2-ACTIVE-DIGESTER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3CE178B-3117-46FF-AD2D-7A45E8FE13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758" y="0"/>
                <a:ext cx="3993111" cy="6740307"/>
              </a:xfrm>
              <a:prstGeom prst="rect">
                <a:avLst/>
              </a:prstGeom>
              <a:blipFill>
                <a:blip r:embed="rId2"/>
                <a:stretch>
                  <a:fillRect l="-1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7372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871C6F-B199-453D-A5F9-70CDFA97E2DE}"/>
              </a:ext>
            </a:extLst>
          </p:cNvPr>
          <p:cNvSpPr txBox="1"/>
          <p:nvPr/>
        </p:nvSpPr>
        <p:spPr>
          <a:xfrm>
            <a:off x="279400" y="304800"/>
            <a:ext cx="645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F3CAAD5-10A7-4D8E-AEDB-F425A28FA3C0}"/>
                  </a:ext>
                </a:extLst>
              </p:cNvPr>
              <p:cNvSpPr/>
              <p:nvPr/>
            </p:nvSpPr>
            <p:spPr>
              <a:xfrm>
                <a:off x="602116" y="607661"/>
                <a:ext cx="10708957" cy="10668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 smtClean="0">
                        <a:solidFill>
                          <a:srgbClr val="000000"/>
                        </a:solidFill>
                        <a:latin typeface="Consolas" panose="020B0609020204030204" pitchFamily="49" charset="0"/>
                      </a:rPr>
                      <m:t>Standpipe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0000"/>
                        </a:solidFill>
                        <a:latin typeface="Consolas" panose="020B0609020204030204" pitchFamily="49" charset="0"/>
                      </a:rPr>
                      <m:t>_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0000"/>
                        </a:solidFill>
                        <a:latin typeface="Consolas" panose="020B0609020204030204" pitchFamily="49" charset="0"/>
                      </a:rPr>
                      <m:t>Outlet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0000"/>
                        </a:solidFill>
                        <a:latin typeface="Consolas" panose="020B0609020204030204" pitchFamily="49" charset="0"/>
                      </a:rPr>
                      <m:t>_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0000"/>
                        </a:solidFill>
                        <a:latin typeface="Consolas" panose="020B0609020204030204" pitchFamily="49" charset="0"/>
                      </a:rPr>
                      <m:t>Flow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US" dirty="0"/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PM</m:t>
                        </m:r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2.105</m:t>
                        </m:r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FIC</m:t>
                        </m:r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208:</m:t>
                        </m:r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MV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PM</m:t>
                        </m:r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2.105</m:t>
                        </m:r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FIC</m:t>
                        </m:r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238:</m:t>
                        </m:r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MV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PM</m:t>
                            </m:r>
                            <m:r>
                              <m:rPr>
                                <m:nor/>
                              </m:rPr>
                              <a:rPr lang="en-US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2.105</m:t>
                            </m:r>
                            <m:r>
                              <m:rPr>
                                <m:nor/>
                              </m:rPr>
                              <a:rPr lang="en-US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NIC</m:t>
                            </m:r>
                            <m:r>
                              <m:rPr>
                                <m:nor/>
                              </m:rPr>
                              <a:rPr lang="en-US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207:</m:t>
                            </m:r>
                            <m:r>
                              <m:rPr>
                                <m:nor/>
                              </m:rPr>
                              <a:rPr lang="en-US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MV</m:t>
                            </m:r>
                            <m:r>
                              <m:rPr>
                                <m:nor/>
                              </m:rPr>
                              <a:rPr lang="en-US" b="0" i="0" smtClean="0"/>
                              <m:t>(%)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BlowTank_Outlet_Flow(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 = Press 2 Pulp Feed + Press 2 Pulp Feed 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F3CAAD5-10A7-4D8E-AEDB-F425A28FA3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116" y="607661"/>
                <a:ext cx="10708957" cy="1066895"/>
              </a:xfrm>
              <a:prstGeom prst="rect">
                <a:avLst/>
              </a:prstGeom>
              <a:blipFill>
                <a:blip r:embed="rId2"/>
                <a:stretch>
                  <a:fillRect l="-513" b="-7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C6B8EDAF-63EF-427D-AC18-90B538CD71B6}"/>
              </a:ext>
            </a:extLst>
          </p:cNvPr>
          <p:cNvSpPr/>
          <p:nvPr/>
        </p:nvSpPr>
        <p:spPr>
          <a:xfrm>
            <a:off x="279400" y="6122313"/>
            <a:ext cx="80179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BlowTank_Outlet_Flow</a:t>
            </a:r>
            <a:r>
              <a:rPr lang="en-US" sz="11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'PM2.105FIC444:MV' + 'PM2.105FIC408:MV’</a:t>
            </a:r>
          </a:p>
          <a:p>
            <a:r>
              <a:rPr lang="en-US" sz="11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Standpipe_Outlet_Flow</a:t>
            </a:r>
            <a:r>
              <a:rPr lang="en-US" sz="1100" dirty="0">
                <a:latin typeface="Cambria Math" panose="02040503050406030204" pitchFamily="18" charset="0"/>
                <a:ea typeface="Cambria Math" panose="02040503050406030204" pitchFamily="18" charset="0"/>
              </a:rPr>
              <a:t> = (('PM2.105FIC208:MV' + 'PM2.105FIC238:MV') * ( 'PM2.105NIC207:MV'/100))/(12/100)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231CF83-56D5-44B8-A06D-4FA10FE319C6}"/>
                  </a:ext>
                </a:extLst>
              </p:cNvPr>
              <p:cNvSpPr txBox="1"/>
              <p:nvPr/>
            </p:nvSpPr>
            <p:spPr>
              <a:xfrm>
                <a:off x="6983402" y="129463"/>
                <a:ext cx="2404954" cy="3506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𝐹𝑙𝑜𝑤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𝑓𝑙𝑜𝑤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𝑖𝑛𝑙𝑒𝑡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× 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𝑖𝑛𝑙𝑒𝑡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𝑐𝑜𝑛𝑠𝑖𝑠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𝑜𝑢𝑡𝑙𝑒𝑡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𝑐𝑜𝑛𝑠𝑖𝑠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231CF83-56D5-44B8-A06D-4FA10FE31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3402" y="129463"/>
                <a:ext cx="2404954" cy="350673"/>
              </a:xfrm>
              <a:prstGeom prst="rect">
                <a:avLst/>
              </a:prstGeom>
              <a:blipFill>
                <a:blip r:embed="rId3"/>
                <a:stretch>
                  <a:fillRect l="-1269" t="-3448" r="-1015" b="-1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871C64-3F18-4888-AAB1-06D52E2EAA4F}"/>
                  </a:ext>
                </a:extLst>
              </p:cNvPr>
              <p:cNvSpPr txBox="1"/>
              <p:nvPr/>
            </p:nvSpPr>
            <p:spPr>
              <a:xfrm>
                <a:off x="10303854" y="1406442"/>
                <a:ext cx="1888146" cy="4103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th-TH" sz="1100" b="0" i="1" smtClean="0">
                          <a:latin typeface="Cambria Math" panose="02040503050406030204" pitchFamily="18" charset="0"/>
                        </a:rPr>
                        <m:t>มองว่า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𝑐𝑜𝑛𝑠𝑖𝑠</m:t>
                      </m:r>
                      <m:r>
                        <a:rPr lang="th-TH" sz="1100" b="0" i="1" smtClean="0">
                          <a:latin typeface="Cambria Math" panose="02040503050406030204" pitchFamily="18" charset="0"/>
                        </a:rPr>
                        <m:t>หลัง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𝑝𝑟𝑒𝑠𝑠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th-TH" sz="1100" b="0" i="1" smtClean="0">
                          <a:latin typeface="Cambria Math" panose="02040503050406030204" pitchFamily="18" charset="0"/>
                        </a:rPr>
                        <m:t>คงที่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871C64-3F18-4888-AAB1-06D52E2EA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3854" y="1406442"/>
                <a:ext cx="1888146" cy="4103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3054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06C70028B45B4DAC5086CC5446A659" ma:contentTypeVersion="9" ma:contentTypeDescription="Create a new document." ma:contentTypeScope="" ma:versionID="6de4afa4246468dca7be1140f875af38">
  <xsd:schema xmlns:xsd="http://www.w3.org/2001/XMLSchema" xmlns:xs="http://www.w3.org/2001/XMLSchema" xmlns:p="http://schemas.microsoft.com/office/2006/metadata/properties" xmlns:ns3="b94cf041-aaab-412a-bb96-31cfaaf052bf" targetNamespace="http://schemas.microsoft.com/office/2006/metadata/properties" ma:root="true" ma:fieldsID="c693d2305955822813527bf5bf3b038d" ns3:_="">
    <xsd:import namespace="b94cf041-aaab-412a-bb96-31cfaaf052b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4cf041-aaab-412a-bb96-31cfaaf052b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94cf041-aaab-412a-bb96-31cfaaf052b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D4494D-4E5C-4058-B5F2-DD2EE8CF92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4cf041-aaab-412a-bb96-31cfaaf052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7400C72-D2BA-419F-B69C-547A77666631}">
  <ds:schemaRefs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2006/metadata/properties"/>
    <ds:schemaRef ds:uri="b94cf041-aaab-412a-bb96-31cfaaf052bf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C26EB3B-E989-4E0C-B642-5C7C16121F6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1145</TotalTime>
  <Words>1283</Words>
  <Application>Microsoft Office PowerPoint</Application>
  <PresentationFormat>Widescreen</PresentationFormat>
  <Paragraphs>171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Consolas</vt:lpstr>
      <vt:lpstr>Cordia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Chinnawat Puttasanguanporn</dc:creator>
  <cp:lastModifiedBy>Chinnawat Puttasanguanporn</cp:lastModifiedBy>
  <cp:revision>51</cp:revision>
  <dcterms:created xsi:type="dcterms:W3CDTF">2026-09-23T01:57:41Z</dcterms:created>
  <dcterms:modified xsi:type="dcterms:W3CDTF">2026-10-06T02:31:24Z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0x010100DE06C70028B45B4DAC5086CC5446A659</vt:lpwstr>
  </property>
</Properties>
</file>